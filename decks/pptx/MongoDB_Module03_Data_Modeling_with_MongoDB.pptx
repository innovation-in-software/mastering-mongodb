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Data Modeling with MongoDB.</a:t>
            </a:r>
          </a:p>
          <a:p/>
          <a:p>
            <a:r>
              <a:t>The slide says: Effective MongoDB schemas are designed around how an application reads, writes, and changes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Learning Objectives.</a:t>
            </a:r>
          </a:p>
          <a:p/>
          <a:p>
            <a:r>
              <a:t>The slide title is: Module Learning Objectives.</a:t>
            </a:r>
          </a:p>
          <a:p/>
          <a:p>
            <a:r>
              <a:t>The slide says: By the end of this module you will be able to:.</a:t>
            </a:r>
          </a:p>
          <a:p/>
          <a:p>
            <a:r>
              <a:t>Bullet 1 on the slide: Interpret MongoDB document structures.</a:t>
            </a:r>
          </a:p>
          <a:p/>
          <a:p>
            <a:r>
              <a:t>Bullet 2 on the slide: Select appropriate BSON types.</a:t>
            </a:r>
          </a:p>
          <a:p/>
          <a:p>
            <a:r>
              <a:t>Bullet 3 on the slide: Identify common access patterns.</a:t>
            </a:r>
          </a:p>
          <a:p/>
          <a:p>
            <a:r>
              <a:t>Bullet 4 on the slide: Model relationships with embedding or references.</a:t>
            </a:r>
          </a:p>
          <a:p/>
          <a:p>
            <a:r>
              <a:t>Bullet 5 on the slide: Control document and array growth.</a:t>
            </a:r>
          </a:p>
          <a:p/>
          <a:p>
            <a:r>
              <a:t>Bullet 6 on the slide: Apply schema-validation rules.</a:t>
            </a:r>
          </a:p>
          <a:p/>
          <a:p>
            <a:r>
              <a:t>Bullet 7 on the slide: Design the course sample application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modeling determines how application data will be organized, stored, connected and retrieved.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this module, we will use the `training_store` e-commerce application with four business areas: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organizes data using the following hierarchy: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database is a logical container for related collections.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collection contains related documents. It is approximately comparable to a relational table, although documents in a collection can have flexible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`customers` does not exist, MongoDB creates it during the insertion.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 is a set of field-value pairs. It represents a business object such as one product, customer or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field is a named piece of information inside a document: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MongoDB document must have a unique `_id`.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Common BSON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Example with several data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types that represent the business meaning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currency, `Decimal128` is often preferable to floating-point values because it avoids many binary floating-point precision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`training_store`, the main entities are: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2: Identify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access patterns might include: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product categories can contain different specifications.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documents belong in `products`, but their `specifications`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 stores related data inside its parent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Advantages of embedding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Referencing stores related data in separate collections and connects documents using identifiers.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review refers to the customer and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 Limitations of referencing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practical rule 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How to Choose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Orders demonstrate that embedding and referencing can be used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model uses: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 name or price might change later. An order should preserve the values that were applicable when the purchase occurred.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Creating separate collections for every small component can force the application to reconstruct objects using numerous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a product document containing every review: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Duplicating a customer’s current profile in thousands of active records makes updates difficult. Duplicate only the fields that need to remain as a historical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technically valid document model can still perform poorly if it does not support common queries and indexes.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1: Select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run this in a disposable training database: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make later references easy, the lab uses predetermined `ObjectId`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Populate the Products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customer identifiers: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Populate the Customers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Populate the Orders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Reviews are stored separately because their number can grow 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results: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Find electronics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Find products below $50.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customers who have an address in Brampton: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orders containing the wireless mouse: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Find one customer’s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Find reviews for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Retrieve reviews with product information: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Indexes should follow the identified access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Lab Review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Suggested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completing this module, learners should be able to: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Demo 3.1 — Inspect a BSON Document.</a:t>
            </a:r>
          </a:p>
          <a:p/>
          <a:p>
            <a:r>
              <a:t>The slide says: Duration: 10 minutes · instructor mongosh.</a:t>
            </a:r>
          </a:p>
          <a:p/>
          <a:p>
            <a:r>
              <a:t>The slide says: Identify live: _id, strings, numbers, Boolean, Date, array, nested document.</a:t>
            </a:r>
          </a:p>
          <a:p/>
          <a:p>
            <a:r>
              <a:t>The slide says: If the collection is empty, insert the anatomy example first.</a:t>
            </a:r>
          </a:p>
          <a:p/>
          <a:p>
            <a:r>
              <a:t>The code on the slide reads: use training_store db.products.findOne().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3.1 — Identify Document Components.</a:t>
            </a:r>
          </a:p>
          <a:p/>
          <a:p>
            <a:r>
              <a:t>The slide title is: Exercise 3.1 — Identify Document Components.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3.1](../slide-exercises/module-03/exercise-3.1-identify-document-components.md).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10 minutes · pairs.</a:t>
            </a:r>
          </a:p>
          <a:p/>
          <a:p>
            <a:r>
              <a:t>Bullet 2 on the slide: Label every shape on the sample customer.</a:t>
            </a:r>
          </a:p>
          <a:p/>
          <a:p>
            <a:r>
              <a:t>Bullet 3 on the slide: Then list candidate required fields.</a:t>
            </a:r>
          </a:p>
          <a:p/>
          <a:p>
            <a:r>
              <a:t>The figure on this slide is titled: Callouts for _id, scalars, embedded name, tags,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3.1 — Identify Document Components. We have about 10 min for this lab.</a:t>
            </a:r>
          </a:p>
          <a:p/>
          <a:p>
            <a:r>
              <a:t>Label _id, scalars, embedded documents, arrays, booleans, dates, and candidate required fields on a sample customer document.</a:t>
            </a:r>
          </a:p>
          <a:p/>
          <a:p>
            <a:r>
              <a:t>The full lab guide is in slide-exercises/module-03/exercise-3.1-identify-document-components.md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Step 1 — Label identifier, scalars, and the nested name.</a:t>
            </a:r>
          </a:p>
          <a:p/>
          <a:p>
            <a:r>
              <a:t>Step 2 — Label array, Boolean, date, and required fields.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3.1 — Steps 1–2.</a:t>
            </a:r>
          </a:p>
          <a:p/>
          <a:p>
            <a:r>
              <a:t>The slide says: Lab guide: [Exercise 3.1](../slide-exercises/module-03/exercise-3.1-identify-document-components.md).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2 on the slide: Expected: _id is the unique identifier. customerNumber and email are scalars. name is an embedded document with first and last.</a:t>
            </a:r>
          </a:p>
          <a:p/>
          <a:p>
            <a:r>
              <a:t>Bullet 3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4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5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6 on the slide: Expected: _id is the unique identifier. customerNumber and email are scalars. name is an embedded document with first and last.</a:t>
            </a:r>
          </a:p>
          <a:p/>
          <a:p>
            <a:r>
              <a:t>Bullet 7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8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9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10 on the slide: Expected: _id is the unique identifier. customerNumber and email are scalars. name is an embedded document with first and last.</a:t>
            </a:r>
          </a:p>
          <a:p/>
          <a:p>
            <a:r>
              <a:t>Bullet 11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12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13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14 on the slide: Expected: _id is the unique identifier. customerNumber and email are scalars. name is an embedded document with first and last.</a:t>
            </a:r>
          </a:p>
          <a:p/>
          <a:p>
            <a:r>
              <a:t>Bullet 15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16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17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18 on the slide: Expected: _id is the unique identifier. customerNumber and email are scalars. name is an embedded document with first and last.</a:t>
            </a:r>
          </a:p>
          <a:p/>
          <a:p>
            <a:r>
              <a:t>Bullet 19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20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21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22 on the slide: Expected: _id is the unique identifier. customerNumber and email are scalars. name is an embedded document with first and last.</a:t>
            </a:r>
          </a:p>
          <a:p/>
          <a:p>
            <a:r>
              <a:t>Bullet 23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24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25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26 on the slide: Expected: _id is the unique identifier. customerNumber and email are scalars. name is an embedded document with first and last.</a:t>
            </a:r>
          </a:p>
          <a:p/>
          <a:p>
            <a:r>
              <a:t>Bullet 27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28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29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30 on the slide: Expected: _id is the unique identifier. customerNumber and email are scalars. name is an embedded document with first and last.</a:t>
            </a:r>
          </a:p>
          <a:p/>
          <a:p>
            <a:r>
              <a:t>Bullet 31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32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33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34 on the slide: Expected: _id is the unique identifier. customerNumber and email are scalars. name is an embedded document with first and last.</a:t>
            </a:r>
          </a:p>
          <a:p/>
          <a:p>
            <a:r>
              <a:t>Bullet 35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36 on the slide: Expected: You named tags, active, and createdAt correctly. Required-field candidates typically include _id (always), customerNumber, name, email or contact,.</a:t>
            </a:r>
          </a:p>
          <a:p/>
          <a:p>
            <a:r>
              <a:t>Bullet 37 on the slide: Do: On the sample document, mark _id, every scalar field (customerNumber, email), and the embedded name document. Write one sentence: what does _id guarantee inside a collection?.</a:t>
            </a:r>
          </a:p>
          <a:p/>
          <a:p>
            <a:r>
              <a:t>Bullet 38 on the slide: Expected: _id is the unique identifier. customerNumber and email are scalars. name is an embedded document with first and last.</a:t>
            </a:r>
          </a:p>
          <a:p/>
          <a:p>
            <a:r>
              <a:t>Bullet 39 on the slide: Do: Mark tags as an array, active as a Boolean, and createdAt as a Date. Then list candidate required fields for every customer document in this collection.</a:t>
            </a:r>
          </a:p>
          <a:p/>
          <a:p>
            <a:r>
              <a:t>Bullet 40 on the slide: Expected: You named tags, active, and createdAt correctly. Required-field candidates typically include _id, customerNumber, name, contact, active, and createdAt.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Demo 3.2 — Compare Relational and Document Models.</a:t>
            </a:r>
          </a:p>
          <a:p/>
          <a:p>
            <a:r>
              <a:t>The slide title is: Demo 3.2 — Compare Relational and Document Models.</a:t>
            </a:r>
          </a:p>
          <a:p/>
          <a:p>
            <a:r>
              <a:t>The slide says: Duration: 15 minutes.</a:t>
            </a:r>
          </a:p>
          <a:p/>
          <a:p>
            <a:r>
              <a:t>The slide says: Show five tables: customers, orders, order_items, products, addresses.</a:t>
            </a:r>
          </a:p>
          <a:p/>
          <a:p>
            <a:r>
              <a:t>The slide says: Then one order document: customer reference, embedded items, shipping snapshot, status, total.</a:t>
            </a:r>
          </a:p>
          <a:p/>
          <a:p>
            <a:r>
              <a:t>The slide says: Outcome: modeling focuses on aggregates and access patterns, not on 1:1 table copies.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3.2 — Discover Access Patterns.</a:t>
            </a:r>
          </a:p>
          <a:p/>
          <a:p>
            <a:r>
              <a:t>The slide title is: Exercise 3.2 — Discover Access Patterns.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3.2](../slide-exercises/module-03/exercise-3.2-discover-access-patterns.md).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 · requirements analysis.</a:t>
            </a:r>
          </a:p>
          <a:p/>
          <a:p>
            <a:r>
              <a:t>Bullet 2 on the slide: E-commerce: search, PDP, profile, orders, reviews.</a:t>
            </a:r>
          </a:p>
          <a:p/>
          <a:p>
            <a:r>
              <a:t>Bullet 3 on the slide: Fill frequency, required data, modeling implication.</a:t>
            </a:r>
          </a:p>
          <a:p/>
          <a:p>
            <a:r>
              <a:t>The figure on this slide is titled: Access-pattern table with modeling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3.2 — Discover Application Access Patterns. We have about 15 min for this lab.</a:t>
            </a:r>
          </a:p>
          <a:p/>
          <a:p>
            <a:r>
              <a:t>Turn e-commerce requirements into access patterns with frequency, required data, and a modeling implication.</a:t>
            </a:r>
          </a:p>
          <a:p/>
          <a:p>
            <a:r>
              <a:t>The full lab guide is in slide-exercises/module-03/exercise-3.2-discover-access-patterns.md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Step 1 — List the high-frequency reads.</a:t>
            </a:r>
          </a:p>
          <a:p/>
          <a:p>
            <a:r>
              <a:t>Step 2 — Fill the access-pattern table.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3.2 — Steps 1–2.</a:t>
            </a:r>
          </a:p>
          <a:p/>
          <a:p>
            <a:r>
              <a:t>The slide says: Lab guide: [Exercise 3.2](../slide-exercises/module-03/exercise-3.2-discover-access-patterns.md).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Name the three operations you expect to run most often. For each, write the data that must come back in one user-facing response.</a:t>
            </a:r>
          </a:p>
          <a:p/>
          <a:p>
            <a:r>
              <a:t>Bullet 2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3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4 on the slide: Expected: Each row names frequency, the fields returned together, and whether that implies embed, reference, or a snapshot.</a:t>
            </a:r>
          </a:p>
          <a:p/>
          <a:p>
            <a:r>
              <a:t>Bullet 5 on the slide: Do: Name the three operations you expect to run most often. For each, write the data that must come back in one user-facing response.</a:t>
            </a:r>
          </a:p>
          <a:p/>
          <a:p>
            <a:r>
              <a:t>Bullet 6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7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8 on the slide: Expected: Each row names frequency, the fields returned together, and whether that implies embed, reference, or a snapshot.</a:t>
            </a:r>
          </a:p>
          <a:p/>
          <a:p>
            <a:r>
              <a:t>Bullet 9 on the slide: Do: Name the three operations you expect to run most often. For each, write the data that must come back in one user-facing response.</a:t>
            </a:r>
          </a:p>
          <a:p/>
          <a:p>
            <a:r>
              <a:t>Bullet 10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11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12 on the slide: Expected: Each row names frequency, the fields returned together, and whether that implies embed, reference, or a snapshot.</a:t>
            </a:r>
          </a:p>
          <a:p/>
          <a:p>
            <a:r>
              <a:t>Bullet 13 on the slide: Do: Name the three operations you expect to run most often. For each, write the data that must come back in one user-facing response.</a:t>
            </a:r>
          </a:p>
          <a:p/>
          <a:p>
            <a:r>
              <a:t>Bullet 14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15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16 on the slide: Expected: Each row names frequency, the fields returned together, and whether that implies embed, reference, or a snapshot.</a:t>
            </a:r>
          </a:p>
          <a:p/>
          <a:p>
            <a:r>
              <a:t>Bullet 17 on the slide: Do: Name the three operations you expect to run most often. For each, write the data that must come back in one user-facing response.</a:t>
            </a:r>
          </a:p>
          <a:p/>
          <a:p>
            <a:r>
              <a:t>Bullet 18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19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20 on the slide: Expected: Each row names frequency, the fields returned together, and whether that implies embed, reference, or a snapshot.</a:t>
            </a:r>
          </a:p>
          <a:p/>
          <a:p>
            <a:r>
              <a:t>Bullet 21 on the slide: Do: Name the three operations you expect to run most often. For each, write the data that must come back in one user-facing response.</a:t>
            </a:r>
          </a:p>
          <a:p/>
          <a:p>
            <a:r>
              <a:t>Bullet 22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23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24 on the slide: Expected: Each row names frequency, the fields returned together, and whether that implies embed, reference, or a snapshot.</a:t>
            </a:r>
          </a:p>
          <a:p/>
          <a:p>
            <a:r>
              <a:t>Bullet 25 on the slide: Do: Name the three operations you expect to run most often. For each, write the data that must come back in one user-facing response.</a:t>
            </a:r>
          </a:p>
          <a:p/>
          <a:p>
            <a:r>
              <a:t>Bullet 26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27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28 on the slide: Expected: Each row names frequency, the fields returned together, and whether that implies embed, reference, or a snapshot.</a:t>
            </a:r>
          </a:p>
          <a:p/>
          <a:p>
            <a:r>
              <a:t>Bullet 29 on the slide: Do: Name the three operations you expect to run most often. For each, write the data that must come back in one user-facing response.</a:t>
            </a:r>
          </a:p>
          <a:p/>
          <a:p>
            <a:r>
              <a:t>Bullet 30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31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32 on the slide: Expected: Each row names frequency, the fields returned together, and whether that implies embed, reference, or a snapshot.</a:t>
            </a:r>
          </a:p>
          <a:p/>
          <a:p>
            <a:r>
              <a:t>Bullet 33 on the slide: Do: Name the three operations you expect to run most often. For each, write the data that must come back in one user-facing response.</a:t>
            </a:r>
          </a:p>
          <a:p/>
          <a:p>
            <a:r>
              <a:t>Bullet 34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35 on the slide: Do: Complete at least four rows: | Access pattern | Frequency | Required data | Modeling implication | |----------------|----------:|---------------|----------------------| | Find product by SKU | High | Product details | Si.</a:t>
            </a:r>
          </a:p>
          <a:p/>
          <a:p>
            <a:r>
              <a:t>Bullet 36 on the slide: Expected: Each row names frequency, the fields returned together, and whether that implies embed, reference, or a snapshot.</a:t>
            </a:r>
          </a:p>
          <a:p/>
          <a:p>
            <a:r>
              <a:t>Bullet 37 on the slide: Do: Name the three operations you expect to run most often. For each, write the data that must come back in one user-facing response.</a:t>
            </a:r>
          </a:p>
          <a:p/>
          <a:p>
            <a:r>
              <a:t>Bullet 38 on the slide: Expected: Typical high-frequency reads: find product by SKU (full product), retrieve order by order number (items, totals, address, status), load customer profile (name,.</a:t>
            </a:r>
          </a:p>
          <a:p/>
          <a:p>
            <a:r>
              <a:t>Bullet 39 on the slide: Do: Complete at least four rows:.</a:t>
            </a:r>
          </a:p>
          <a:p/>
          <a:p>
            <a:r>
              <a:t>Bullet 40 on the slide: Expected: Each row names frequency, the fields returned together, and whether that implies embed, reference, or a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Demo 3.3 — Model an E-Commerce Order.</a:t>
            </a:r>
          </a:p>
          <a:p/>
          <a:p>
            <a:r>
              <a:t>The slide title is: Demo 3.3 — Model an E-Commerce Order.</a:t>
            </a:r>
          </a:p>
          <a:p/>
          <a:p>
            <a:r>
              <a:t>The slide says: Duration: 15 minutes.</a:t>
            </a:r>
          </a:p>
          <a:p/>
          <a:p>
            <a:r>
              <a:t>The slide says: Access pattern: Retrieve a complete order by order number.</a:t>
            </a:r>
          </a:p>
          <a:p/>
          <a:p>
            <a:r>
              <a:t>The slide says: Build live:.</a:t>
            </a:r>
          </a:p>
          <a:p/>
          <a:p>
            <a:r>
              <a:t>The slide says: 1. Order identity.</a:t>
            </a:r>
          </a:p>
          <a:p/>
          <a:p>
            <a:r>
              <a:t>The slide says: 2. Customer reference.</a:t>
            </a:r>
          </a:p>
          <a:p/>
          <a:p>
            <a:r>
              <a:t>The slide says: 3. Embedded items.</a:t>
            </a:r>
          </a:p>
          <a:p/>
          <a:p>
            <a:r>
              <a:t>The slide says: 4. Purchase-time price.</a:t>
            </a:r>
          </a:p>
          <a:p/>
          <a:p>
            <a:r>
              <a:t>The slide says: 5. Shipping-address snapshot.</a:t>
            </a:r>
          </a:p>
          <a:p/>
          <a:p>
            <a:r>
              <a:t>The slide says: 6. Status and timestamps.</a:t>
            </a:r>
          </a:p>
          <a:p/>
          <a:p>
            <a:r>
              <a:t>The slide says: 7. Monetary totals.</a:t>
            </a:r>
          </a:p>
          <a:p/>
          <a:p>
            <a:r>
              <a:t>Number 1 on the slide: Order identity.</a:t>
            </a:r>
          </a:p>
          <a:p/>
          <a:p>
            <a:r>
              <a:t>Number 2 on the slide: Customer reference.</a:t>
            </a:r>
          </a:p>
          <a:p/>
          <a:p>
            <a:r>
              <a:t>Number 3 on the slide: Embedded items.</a:t>
            </a:r>
          </a:p>
          <a:p/>
          <a:p>
            <a:r>
              <a:t>Number 4 on the slide: Purchase-time price.</a:t>
            </a:r>
          </a:p>
          <a:p/>
          <a:p>
            <a:r>
              <a:t>Number 5 on the slide: Shipping-address snapshot.</a:t>
            </a:r>
          </a:p>
          <a:p/>
          <a:p>
            <a:r>
              <a:t>Number 6 on the slide: Status and timestamps.</a:t>
            </a:r>
          </a:p>
          <a:p/>
          <a:p>
            <a:r>
              <a:t>Number 7 on the slide: Monetary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3.4 — Embed and Reference Related Data.</a:t>
            </a:r>
          </a:p>
          <a:p/>
          <a:p>
            <a:r>
              <a:t>The slide title is: Demo 3.4 — Embed and Reference Related Data.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Address on customer → embed.</a:t>
            </a:r>
          </a:p>
          <a:p/>
          <a:p>
            <a:r>
              <a:t>Bullet 2 on the slide: Orders for a customer → reference.</a:t>
            </a:r>
          </a:p>
          <a:p/>
          <a:p>
            <a:r>
              <a:t>Bullet 3 on the slide: Items on an order → embed.</a:t>
            </a:r>
          </a:p>
          <a:p/>
          <a:p>
            <a:r>
              <a:t>Bullet 4 on the slide: Reviews for a product → reference.</a:t>
            </a:r>
          </a:p>
          <a:p/>
          <a:p>
            <a:r>
              <a:t>The figure on this slide is titled: Four relationships with embed or reference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3.3 — Embed or Reference?.</a:t>
            </a:r>
          </a:p>
          <a:p/>
          <a:p>
            <a:r>
              <a:t>The slide title is: Exercise 3.3 — Embed or Reference?.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3.3](../slide-exercises/module-03/exercise-3.3-embed-or-reference.md).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 · eight relationships.</a:t>
            </a:r>
          </a:p>
          <a:p/>
          <a:p>
            <a:r>
              <a:t>Bullet 2 on the slide: Justify with ownership, cardinality, growth.</a:t>
            </a:r>
          </a:p>
          <a:p/>
          <a:p>
            <a:r>
              <a:t>Bullet 3 on the slide: Only office address is a true ‘it depends’.</a:t>
            </a:r>
          </a:p>
          <a:p/>
          <a:p>
            <a:r>
              <a:t>The figure on this slide is titled: Expected embed versus reference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3.3 — Embed or Reference?. We have about 15 min for this lab.</a:t>
            </a:r>
          </a:p>
          <a:p/>
          <a:p>
            <a:r>
              <a:t>Choose embedding or referencing for eight relationships and justify each choice from ownership, cardinality, and growth.</a:t>
            </a:r>
          </a:p>
          <a:p/>
          <a:p>
            <a:r>
              <a:t>The full lab guide is in slide-exercises/module-03/exercise-3.3-embed-or-reference.md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Step 1 — Decide relationships 1–4.</a:t>
            </a:r>
          </a:p>
          <a:p/>
          <a:p>
            <a:r>
              <a:t>Step 2 — Decide relationships 5–8.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3.3 — Steps 1–2.</a:t>
            </a:r>
          </a:p>
          <a:p/>
          <a:p>
            <a:r>
              <a:t>The slide says: Lab guide: [Exercise 3.3](../slide-exercises/module-03/exercise-3.3-embed-or-reference.md).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2 on the slide: Expected: (1) Embed (2) Reference (3) Embed (4) Reference. The justification mentions bound vs unbounded, not only “it feels nested.”.</a:t>
            </a:r>
          </a:p>
          <a:p/>
          <a:p>
            <a:r>
              <a:t>Bullet 3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4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5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6 on the slide: Expected: (1) Embed (2) Reference (3) Embed (4) Reference. The justification mentions bound vs unbounded, not only “it feels nested.”.</a:t>
            </a:r>
          </a:p>
          <a:p/>
          <a:p>
            <a:r>
              <a:t>Bullet 7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8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9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10 on the slide: Expected: (1) Embed (2) Reference (3) Embed (4) Reference. The justification mentions bound vs unbounded, not only “it feels nested.”.</a:t>
            </a:r>
          </a:p>
          <a:p/>
          <a:p>
            <a:r>
              <a:t>Bullet 11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12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13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14 on the slide: Expected: (1) Embed (2) Reference (3) Embed (4) Reference. The justification mentions bound vs unbounded, not only “it feels nested.”.</a:t>
            </a:r>
          </a:p>
          <a:p/>
          <a:p>
            <a:r>
              <a:t>Bullet 15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16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17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18 on the slide: Expected: (1) Embed (2) Reference (3) Embed (4) Reference. The justification mentions bound vs unbounded, not only “it feels nested.”.</a:t>
            </a:r>
          </a:p>
          <a:p/>
          <a:p>
            <a:r>
              <a:t>Bullet 19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20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21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22 on the slide: Expected: (1) Embed (2) Reference (3) Embed (4) Reference. The justification mentions bound vs unbounded, not only “it feels nested.”.</a:t>
            </a:r>
          </a:p>
          <a:p/>
          <a:p>
            <a:r>
              <a:t>Bullet 23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24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25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26 on the slide: Expected: (1) Embed (2) Reference (3) Embed (4) Reference. The justification mentions bound vs unbounded, not only “it feels nested.”.</a:t>
            </a:r>
          </a:p>
          <a:p/>
          <a:p>
            <a:r>
              <a:t>Bullet 27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28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29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30 on the slide: Expected: (1) Embed (2) Reference (3) Embed (4) Reference. The justification mentions bound vs unbounded, not only “it feels nested.”.</a:t>
            </a:r>
          </a:p>
          <a:p/>
          <a:p>
            <a:r>
              <a:t>Bullet 31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32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33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34 on the slide: Expected: (1) Embed (2) Reference (3) Embed (4) Reference. The justification mentions bound vs unbounded, not only “it feels nested.”.</a:t>
            </a:r>
          </a:p>
          <a:p/>
          <a:p>
            <a:r>
              <a:t>Bullet 35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36 on the slide: Expected: (5) Embed or reference depending on reuse across employees (6) Embed (7) Embed as a snapshot (8) Reference. You can explain why (5) is the only “it depends.”.</a:t>
            </a:r>
          </a:p>
          <a:p/>
          <a:p>
            <a:r>
              <a:t>Bullet 37 on the slide: Do: For each, write Embed or Reference and a one-line why (ownership, size, or growth). 1. Customer’s primary contact information 2. Customer’s complete order history 3. Order line items 4. Product’s millions of reviews.</a:t>
            </a:r>
          </a:p>
          <a:p/>
          <a:p>
            <a:r>
              <a:t>Bullet 38 on the slide: Expected: (1) Embed (2) Reference (3) Embed (4) Reference. The justification mentions bound vs unbounded, not only “it feels nested.”.</a:t>
            </a:r>
          </a:p>
          <a:p/>
          <a:p>
            <a:r>
              <a:t>Bullet 39 on the slide: Do: Repeat for: 5. Employee’s office address 6. Blog post tags 7. Purchase-time product price 8. Account’s complete transaction history Then compare with the instructor table.</a:t>
            </a:r>
          </a:p>
          <a:p/>
          <a:p>
            <a:r>
              <a:t>Bullet 40 on the slide: Expected: (5) Embed or reference depending on reuse across employees (6) Embed (7) Embed as a snapshot (8) Reference. You can explain why (5) is the only “it depends.”.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3.4 — Model a Product Catalog.</a:t>
            </a:r>
          </a:p>
          <a:p/>
          <a:p>
            <a:r>
              <a:t>The slide title is: Exercise 3.4 — Model a Product Catalog.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3.4](../slide-exercises/module-03/exercise-3.4-model-a-product-catalog.md).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 · laptop, shoe, book.</a:t>
            </a:r>
          </a:p>
          <a:p/>
          <a:p>
            <a:r>
              <a:t>Bullet 2 on the slide: Same core fields, different attributes.</a:t>
            </a:r>
          </a:p>
          <a:p/>
          <a:p>
            <a:r>
              <a:t>Bullet 3 on the slide: One products collection.</a:t>
            </a:r>
          </a:p>
          <a:p/>
          <a:p>
            <a:r>
              <a:t>The figure on this slide is titled: Three product types sharing a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3.4 — Flexible Product Catalog.</a:t>
            </a:r>
          </a:p>
          <a:p/>
          <a:p>
            <a:r>
              <a:t>The slide title is: Exercise 3.4 — Flexible Product Catalog.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Laptop, shoe, book — one collection.</a:t>
            </a:r>
          </a:p>
          <a:p/>
          <a:p>
            <a:r>
              <a:t>Bullet 2 on the slide: Identical core field names.</a:t>
            </a:r>
          </a:p>
          <a:p/>
          <a:p>
            <a:r>
              <a:t>Bullet 3 on the slide: Type-specific data under attributes.</a:t>
            </a:r>
          </a:p>
          <a:p/>
          <a:p>
            <a:r>
              <a:t>The figure on this slide is titled: Laptop, shoe, and book schemas sharing common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3.4 — Model a Product Catalog. We have about 20 min for this lab.</a:t>
            </a:r>
          </a:p>
          <a:p/>
          <a:p>
            <a:r>
              <a:t>Design three product types in one collection with a shared core and category-specific attributes.</a:t>
            </a:r>
          </a:p>
          <a:p/>
          <a:p>
            <a:r>
              <a:t>The full lab guide is in slide-exercises/module-03/exercise-3.4-model-a-product-catalog.md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Step 1 — Design the shared core.</a:t>
            </a:r>
          </a:p>
          <a:p/>
          <a:p>
            <a:r>
              <a:t>Step 2 — Write three documents.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3.4 — Steps 1–2.</a:t>
            </a:r>
          </a:p>
          <a:p/>
          <a:p>
            <a:r>
              <a:t>The slide says: Lab guide: [Exercise 3.4](../slide-exercises/module-03/exercise-3.4-model-a-product-catalog.md).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2 on the slide: Expected: One core field list used by all three products. You did not invent productPrice on one document and price on another.</a:t>
            </a:r>
          </a:p>
          <a:p/>
          <a:p>
            <a:r>
              <a:t>Bullet 3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4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5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6 on the slide: Expected: One core field list used by all three products. You did not invent productPrice on one document and price on another.</a:t>
            </a:r>
          </a:p>
          <a:p/>
          <a:p>
            <a:r>
              <a:t>Bullet 7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8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9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10 on the slide: Expected: One core field list used by all three products. You did not invent productPrice on one document and price on another.</a:t>
            </a:r>
          </a:p>
          <a:p/>
          <a:p>
            <a:r>
              <a:t>Bullet 11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12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13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14 on the slide: Expected: One core field list used by all three products. You did not invent productPrice on one document and price on another.</a:t>
            </a:r>
          </a:p>
          <a:p/>
          <a:p>
            <a:r>
              <a:t>Bullet 15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16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17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18 on the slide: Expected: One core field list used by all three products. You did not invent productPrice on one document and price on another.</a:t>
            </a:r>
          </a:p>
          <a:p/>
          <a:p>
            <a:r>
              <a:t>Bullet 19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20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21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22 on the slide: Expected: One core field list used by all three products. You did not invent productPrice on one document and price on another.</a:t>
            </a:r>
          </a:p>
          <a:p/>
          <a:p>
            <a:r>
              <a:t>Bullet 23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24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25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26 on the slide: Expected: One core field list used by all three products. You did not invent productPrice on one document and price on another.</a:t>
            </a:r>
          </a:p>
          <a:p/>
          <a:p>
            <a:r>
              <a:t>Bullet 27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28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29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30 on the slide: Expected: One core field list used by all three products. You did not invent productPrice on one document and price on another.</a:t>
            </a:r>
          </a:p>
          <a:p/>
          <a:p>
            <a:r>
              <a:t>Bullet 31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32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33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34 on the slide: Expected: One core field list used by all three products. You did not invent productPrice on one document and price on another.</a:t>
            </a:r>
          </a:p>
          <a:p/>
          <a:p>
            <a:r>
              <a:t>Bullet 35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36 on the slide: Expected: Three documents that a later find({ category: "LAPTOP" }) and find({ "attributes.isbn": ... }) could use. Category-specific fields do not appear as required.</a:t>
            </a:r>
          </a:p>
          <a:p/>
          <a:p>
            <a:r>
              <a:t>Bullet 37 on the slide: Do: List the common field names and BSON types (sku string, price Decimal128, active Boolean, createdAt Date). Decide whether category-specific fields live at the top level or under attributes.</a:t>
            </a:r>
          </a:p>
          <a:p/>
          <a:p>
            <a:r>
              <a:t>Bullet 38 on the slide: Expected: One core field list used by all three products. You did not invent productPrice on one document and price on another.</a:t>
            </a:r>
          </a:p>
          <a:p/>
          <a:p>
            <a:r>
              <a:t>Bullet 39 on the slide: Do: Draft one laptop, one shoe, and one book in the same products collection. Keep the core identical. Put type-specific data in attributes (or an equivalent nested object).</a:t>
            </a:r>
          </a:p>
          <a:p/>
          <a:p>
            <a:r>
              <a:t>Bullet 40 on the slide: Expected: Three documents that a later find({ category: "LAPTOP" }) and find({ "attributes.isbn": ... }) could use. Category-specific fields do not appear as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3.5 — Model an Order Document.</a:t>
            </a:r>
          </a:p>
          <a:p/>
          <a:p>
            <a:r>
              <a:t>The slide title is: Exercise 3.5 — Model an Order Document.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3.5](../slide-exercises/module-03/exercise-3.5-model-an-order-document.md).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20 minutes · one aggregate.</a:t>
            </a:r>
          </a:p>
          <a:p/>
          <a:p>
            <a:r>
              <a:t>Bullet 2 on the slide: Find by order number; list by customer.</a:t>
            </a:r>
          </a:p>
          <a:p/>
          <a:p>
            <a:r>
              <a:t>Bullet 3 on the slide: Preserve purchase-time prices and ship-to address.</a:t>
            </a:r>
          </a:p>
          <a:p/>
          <a:p>
            <a:r>
              <a:t>The figure on this slide is titled: Order aggregate with embedded items and referenced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3.5 — Build an Order Aggregate.</a:t>
            </a:r>
          </a:p>
          <a:p/>
          <a:p>
            <a:r>
              <a:t>The slide title is: Exercise 3.5 — Build an Order Aggregate.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Reference the customer.</a:t>
            </a:r>
          </a:p>
          <a:p/>
          <a:p>
            <a:r>
              <a:t>Bullet 2 on the slide: Embed items, prices, and ship-to.</a:t>
            </a:r>
          </a:p>
          <a:p/>
          <a:p>
            <a:r>
              <a:t>Bullet 3 on the slide: That is the Lab 3.4 shape.</a:t>
            </a:r>
          </a:p>
          <a:p/>
          <a:p>
            <a:r>
              <a:t>The figure on this slide is titled: Customer, product, address, and payment arranged into an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3.5 — Model an Order Document. We have about 20 min for this lab.</a:t>
            </a:r>
          </a:p>
          <a:p/>
          <a:p>
            <a:r>
              <a:t>Design one order aggregate with embedded snapshots, a customer reference, required fields, and BSON types.</a:t>
            </a:r>
          </a:p>
          <a:p/>
          <a:p>
            <a:r>
              <a:t>The full lab guide is in slide-exercises/module-03/exercise-3.5-model-an-order-document.md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Step 1 — Decide embed versus reference.</a:t>
            </a:r>
          </a:p>
          <a:p/>
          <a:p>
            <a:r>
              <a:t>Step 2 — Write the document and required fields.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3.5 — Steps 1–2.</a:t>
            </a:r>
          </a:p>
          <a:p/>
          <a:p>
            <a:r>
              <a:t>The slide says: Lab guide: [Exercise 3.5](../slide-exercises/module-03/exercise-3.5-model-an-order-document.md).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Write four decisions: line items, purchase-time price, shipping address, customer. Mark which of those are historical snapshots.</a:t>
            </a:r>
          </a:p>
          <a:p/>
          <a:p>
            <a:r>
              <a:t>Bullet 2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3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4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5 on the slide: Do: Write four decisions: line items, purchase-time price, shipping address, customer. Mark which of those are historical snapshots.</a:t>
            </a:r>
          </a:p>
          <a:p/>
          <a:p>
            <a:r>
              <a:t>Bullet 6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7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8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9 on the slide: Do: Write four decisions: line items, purchase-time price, shipping address, customer. Mark which of those are historical snapshots.</a:t>
            </a:r>
          </a:p>
          <a:p/>
          <a:p>
            <a:r>
              <a:t>Bullet 10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11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12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13 on the slide: Do: Write four decisions: line items, purchase-time price, shipping address, customer. Mark which of those are historical snapshots.</a:t>
            </a:r>
          </a:p>
          <a:p/>
          <a:p>
            <a:r>
              <a:t>Bullet 14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15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16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17 on the slide: Do: Write four decisions: line items, purchase-time price, shipping address, customer. Mark which of those are historical snapshots.</a:t>
            </a:r>
          </a:p>
          <a:p/>
          <a:p>
            <a:r>
              <a:t>Bullet 18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19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20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21 on the slide: Do: Write four decisions: line items, purchase-time price, shipping address, customer. Mark which of those are historical snapshots.</a:t>
            </a:r>
          </a:p>
          <a:p/>
          <a:p>
            <a:r>
              <a:t>Bullet 22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23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24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25 on the slide: Do: Write four decisions: line items, purchase-time price, shipping address, customer. Mark which of those are historical snapshots.</a:t>
            </a:r>
          </a:p>
          <a:p/>
          <a:p>
            <a:r>
              <a:t>Bullet 26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27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28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29 on the slide: Do: Write four decisions: line items, purchase-time price, shipping address, customer. Mark which of those are historical snapshots.</a:t>
            </a:r>
          </a:p>
          <a:p/>
          <a:p>
            <a:r>
              <a:t>Bullet 30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31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32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33 on the slide: Do: Write four decisions: line items, purchase-time price, shipping address, customer. Mark which of those are historical snapshots.</a:t>
            </a:r>
          </a:p>
          <a:p/>
          <a:p>
            <a:r>
              <a:t>Bullet 34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35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36 on the slide: Expected: A complete order JSON-like object plus a short justification: one read by order number, customer orders via customerId, prices never silently follow the catal.</a:t>
            </a:r>
          </a:p>
          <a:p/>
          <a:p>
            <a:r>
              <a:t>Bullet 37 on the slide: Do: Write four decisions: line items, purchase-time price, shipping address, customer. Mark which of those are historical snapshots.</a:t>
            </a:r>
          </a:p>
          <a:p/>
          <a:p>
            <a:r>
              <a:t>Bullet 38 on the slide: Expected: Items, prices, and shipping address are embedded snapshots. Customer is a reference (customerId). Current product catalog is not copied in full.</a:t>
            </a:r>
          </a:p>
          <a:p/>
          <a:p>
            <a:r>
              <a:t>Bullet 39 on the slide: Do: Draft one order document including orderNumber, customerId, items[] (sku, name, quantity, unitPrice), shippingAddress, statuses, monetary totals as Decimal128, and createdAt. List required fields.</a:t>
            </a:r>
          </a:p>
          <a:p/>
          <a:p>
            <a:r>
              <a:t>Bullet 40 on the slide: Expected: A complete order JSON-like object plus a short justification: one read by order number, customer orders via customerId, prices never silently follow the catal.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Demo 3.5 — Create a Collection with Validation.</a:t>
            </a:r>
          </a:p>
          <a:p/>
          <a:p>
            <a:r>
              <a:t>The slide title is: Demo 3.5 — Create a Collection with Validation.</a:t>
            </a:r>
          </a:p>
          <a:p/>
          <a:p>
            <a:r>
              <a:t>The slide says: Duration: 15 minutes.</a:t>
            </a:r>
          </a:p>
          <a:p/>
          <a:p>
            <a:r>
              <a:t>The slide says: Create products_validated with required sku, name, category, price.</a:t>
            </a:r>
          </a:p>
          <a:p/>
          <a:p>
            <a:r>
              <a:t>Bullet 1 on the slide: Insert a valid document → success.</a:t>
            </a:r>
          </a:p>
          <a:p/>
          <a:p>
            <a:r>
              <a:t>Bullet 2 on the slide: Insert price as a string → rejected.</a:t>
            </a:r>
          </a:p>
          <a:p/>
          <a:p>
            <a:r>
              <a:t>Bullet 3 on the slide: Read the validation error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3.6 — Evolve a Document Schema.</a:t>
            </a:r>
          </a:p>
          <a:p/>
          <a:p>
            <a:r>
              <a:t>The slide title is: Demo 3.6 — Evolve a Document Schema.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v1: price as Decimal128.</a:t>
            </a:r>
          </a:p>
          <a:p/>
          <a:p>
            <a:r>
              <a:t>Bullet 2 on the slide: v2: price: { amount, currency } plus schemaVersion.</a:t>
            </a:r>
          </a:p>
          <a:p/>
          <a:p>
            <a:r>
              <a:t>Bullet 3 on the slide: Keep old documents readable.</a:t>
            </a:r>
          </a:p>
          <a:p/>
          <a:p>
            <a:r>
              <a:t>The figure on this slide is titled: Price field evolving from scalar to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3.6 — Find and Correct Anti-Patterns.</a:t>
            </a:r>
          </a:p>
          <a:p/>
          <a:p>
            <a:r>
              <a:t>The slide title is: Exercise 3.6 — Find and Correct Anti-Patterns.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3.6](../slide-exercises/module-03/exercise-3.6-correct-schema-anti-patterns.md).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 · flawed product document.</a:t>
            </a:r>
          </a:p>
          <a:p/>
          <a:p>
            <a:r>
              <a:t>Bullet 2 on the slide: String price, text Boolean, unbounded reviews, string date.</a:t>
            </a:r>
          </a:p>
          <a:p/>
          <a:p>
            <a:r>
              <a:t>The figure on this slide is titled: Anti-pattern grid used as a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3.6 — Find the Anti-Patterns.</a:t>
            </a:r>
          </a:p>
          <a:p/>
          <a:p>
            <a:r>
              <a:t>The slide title is: Exercise 3.6 — Find the Anti-Patterns.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String price, text Boolean.</a:t>
            </a:r>
          </a:p>
          <a:p/>
          <a:p>
            <a:r>
              <a:t>Bullet 2 on the slide: Unbounded reviews, display date.</a:t>
            </a:r>
          </a:p>
          <a:p/>
          <a:p>
            <a:r>
              <a:t>The figure on this slide is titled: Problematic document with inconsistent types and unbounded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3.6 — Find and Correct Schema Anti-Patterns. We have about 15 min for this lab.</a:t>
            </a:r>
          </a:p>
          <a:p/>
          <a:p>
            <a:r>
              <a:t>Spot string prices, text booleans, unbounded arrays, and nonstandard dates, then rewrite the document.</a:t>
            </a:r>
          </a:p>
          <a:p/>
          <a:p>
            <a:r>
              <a:t>The full lab guide is in slide-exercises/module-03/exercise-3.6-correct-schema-anti-patterns.md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Step 1 — Name the problems.</a:t>
            </a:r>
          </a:p>
          <a:p/>
          <a:p>
            <a:r>
              <a:t>Step 2 — Rewrite the document.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3.6 — Steps 1–2.</a:t>
            </a:r>
          </a:p>
          <a:p/>
          <a:p>
            <a:r>
              <a:t>The slide says: Lab guide: [Exercise 3.6](../slide-exercises/module-03/exercise-3.6-correct-schema-anti-patterns.md).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List every issue you can see: types, growth, naming, identifier strategy.</a:t>
            </a:r>
          </a:p>
          <a:p/>
          <a:p>
            <a:r>
              <a:t>Bullet 2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3 on the slide: Do: Produce a corrected document. Move reviews out (reference). Use Decimal128, Boolean, Date, and a clear _id/sku convention.</a:t>
            </a:r>
          </a:p>
          <a:p/>
          <a:p>
            <a:r>
              <a:t>Bullet 4 on the slide: Expected: Something like sku/_id, price: Decimal128("49.99"), active: true, createdAt: ISODate(...), and no allReviews array.</a:t>
            </a:r>
          </a:p>
          <a:p/>
          <a:p>
            <a:r>
              <a:t>Bullet 5 on the slide: Do: List every issue you can see: types, growth, naming, identifier strategy.</a:t>
            </a:r>
          </a:p>
          <a:p/>
          <a:p>
            <a:r>
              <a:t>Bullet 6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7 on the slide: Do: Produce a corrected document. Move reviews out (reference). Use Decimal128, Boolean, Date, and a clear _id/sku convention.</a:t>
            </a:r>
          </a:p>
          <a:p/>
          <a:p>
            <a:r>
              <a:t>Bullet 8 on the slide: Expected: Something like sku/_id, price: Decimal128("49.99"), active: true, createdAt: ISODate(...), and no allReviews array.</a:t>
            </a:r>
          </a:p>
          <a:p/>
          <a:p>
            <a:r>
              <a:t>Bullet 9 on the slide: Do: List every issue you can see: types, growth, naming, identifier strategy.</a:t>
            </a:r>
          </a:p>
          <a:p/>
          <a:p>
            <a:r>
              <a:t>Bullet 10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11 on the slide: Do: Produce a corrected document. Move reviews out (reference). Use Decimal128, Boolean, Date, and a clear _id/sku convention.</a:t>
            </a:r>
          </a:p>
          <a:p/>
          <a:p>
            <a:r>
              <a:t>Bullet 12 on the slide: Expected: Something like sku/_id, price: Decimal128("49.99"), active: true, createdAt: ISODate(...), and no allReviews array.</a:t>
            </a:r>
          </a:p>
          <a:p/>
          <a:p>
            <a:r>
              <a:t>Bullet 13 on the slide: Do: List every issue you can see: types, growth, naming, identifier strategy.</a:t>
            </a:r>
          </a:p>
          <a:p/>
          <a:p>
            <a:r>
              <a:t>Bullet 14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15 on the slide: Do: Produce a corrected document. Move reviews out (reference). Use Decimal128, Boolean, Date, and a clear _id/sku convention.</a:t>
            </a:r>
          </a:p>
          <a:p/>
          <a:p>
            <a:r>
              <a:t>Bullet 16 on the slide: Expected: Something like sku/_id, price: Decimal128("49.99"), active: true, createdAt: ISODate(...), and no allReviews array.</a:t>
            </a:r>
          </a:p>
          <a:p/>
          <a:p>
            <a:r>
              <a:t>Bullet 17 on the slide: Do: List every issue you can see: types, growth, naming, identifier strategy.</a:t>
            </a:r>
          </a:p>
          <a:p/>
          <a:p>
            <a:r>
              <a:t>Bullet 18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19 on the slide: Do: Produce a corrected document. Move reviews out (reference). Use Decimal128, Boolean, Date, and a clear _id/sku convention.</a:t>
            </a:r>
          </a:p>
          <a:p/>
          <a:p>
            <a:r>
              <a:t>Bullet 20 on the slide: Expected: Something like sku/_id, price: Decimal128("49.99"), active: true, createdAt: ISODate(...), and no allReviews array.</a:t>
            </a:r>
          </a:p>
          <a:p/>
          <a:p>
            <a:r>
              <a:t>Bullet 21 on the slide: Do: List every issue you can see: types, growth, naming, identifier strategy.</a:t>
            </a:r>
          </a:p>
          <a:p/>
          <a:p>
            <a:r>
              <a:t>Bullet 22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23 on the slide: Do: Produce a corrected document. Move reviews out (reference). Use Decimal128, Boolean, Date, and a clear _id/sku convention.</a:t>
            </a:r>
          </a:p>
          <a:p/>
          <a:p>
            <a:r>
              <a:t>Bullet 24 on the slide: Expected: Something like sku/_id, price: Decimal128("49.99"), active: true, createdAt: ISODate(...), and no allReviews array.</a:t>
            </a:r>
          </a:p>
          <a:p/>
          <a:p>
            <a:r>
              <a:t>Bullet 25 on the slide: Do: List every issue you can see: types, growth, naming, identifier strategy.</a:t>
            </a:r>
          </a:p>
          <a:p/>
          <a:p>
            <a:r>
              <a:t>Bullet 26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27 on the slide: Do: Produce a corrected document. Move reviews out (reference). Use Decimal128, Boolean, Date, and a clear _id/sku convention.</a:t>
            </a:r>
          </a:p>
          <a:p/>
          <a:p>
            <a:r>
              <a:t>Bullet 28 on the slide: Expected: Something like sku/_id, price: Decimal128("49.99"), active: true, createdAt: ISODate(...), and no allReviews array.</a:t>
            </a:r>
          </a:p>
          <a:p/>
          <a:p>
            <a:r>
              <a:t>Bullet 29 on the slide: Do: List every issue you can see: types, growth, naming, identifier strategy.</a:t>
            </a:r>
          </a:p>
          <a:p/>
          <a:p>
            <a:r>
              <a:t>Bullet 30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31 on the slide: Do: Produce a corrected document. Move reviews out (reference). Use Decimal128, Boolean, Date, and a clear _id/sku convention.</a:t>
            </a:r>
          </a:p>
          <a:p/>
          <a:p>
            <a:r>
              <a:t>Bullet 32 on the slide: Expected: Something like sku/_id, price: Decimal128("49.99"), active: true, createdAt: ISODate(...), and no allReviews array.</a:t>
            </a:r>
          </a:p>
          <a:p/>
          <a:p>
            <a:r>
              <a:t>Bullet 33 on the slide: Do: List every issue you can see: types, growth, naming, identifier strategy.</a:t>
            </a:r>
          </a:p>
          <a:p/>
          <a:p>
            <a:r>
              <a:t>Bullet 34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35 on the slide: Do: Produce a corrected document. Move reviews out (reference). Use Decimal128, Boolean, Date, and a clear _id/sku convention.</a:t>
            </a:r>
          </a:p>
          <a:p/>
          <a:p>
            <a:r>
              <a:t>Bullet 36 on the slide: Expected: Something like sku/_id, price: Decimal128("49.99"), active: true, createdAt: ISODate(...), and no allReviews array.</a:t>
            </a:r>
          </a:p>
          <a:p/>
          <a:p>
            <a:r>
              <a:t>Bullet 37 on the slide: Do: List every issue you can see: types, growth, naming, identifier strategy.</a:t>
            </a:r>
          </a:p>
          <a:p/>
          <a:p>
            <a:r>
              <a:t>Bullet 38 on the slide: Expected: Price stored as a string; Boolean stored as text; unbounded allReviews array; nonstandard date string; identifier is productId rather than _id or sku wi.</a:t>
            </a:r>
          </a:p>
          <a:p/>
          <a:p>
            <a:r>
              <a:t>Bullet 39 on the slide: Do: Produce a corrected document. Move reviews out (reference). Use Decimal128, Boolean, Date, and a clear _id/sku convention.</a:t>
            </a:r>
          </a:p>
          <a:p/>
          <a:p>
            <a:r>
              <a:t>Bullet 40 on the slide: Expected: Something like sku/_id, price: Decimal128("49.99"), active: true, createdAt: ISODate(...), and no allReviews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3.8 — Design Collection Validation.</a:t>
            </a:r>
          </a:p>
          <a:p/>
          <a:p>
            <a:r>
              <a:t>The slide title is: Exercise 3.8 — Design Collection Validation.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3.8](../slide-exercises/module-03/exercise-3.8-design-collection-validation.md).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 · $jsonSchema on paper or in a scratch file.</a:t>
            </a:r>
          </a:p>
          <a:p/>
          <a:p>
            <a:r>
              <a:t>Bullet 2 on the slide: Required sku, name, category, price, active, createdAt.</a:t>
            </a:r>
          </a:p>
          <a:p/>
          <a:p>
            <a:r>
              <a:t>The figure on this slide is titled: jsonSchema keywords for the product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3.8 — Design Validation Rules.</a:t>
            </a:r>
          </a:p>
          <a:p/>
          <a:p>
            <a:r>
              <a:t>The slide title is: Exercise 3.8 — Design Validation Rules.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Six required fields.</a:t>
            </a:r>
          </a:p>
          <a:p/>
          <a:p>
            <a:r>
              <a:t>Bullet 2 on the slide: decimal price ≥ 0, bool, date.</a:t>
            </a:r>
          </a:p>
          <a:p/>
          <a:p>
            <a:r>
              <a:t>The figure on this slide is titled: Product requirements transformed into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3.8 — Design Collection Validation. We have about 15 min for this lab.</a:t>
            </a:r>
          </a:p>
          <a:p/>
          <a:p>
            <a:r>
              <a:t>Write a $jsonSchema validator for required product fields, Decimal128 price, Boolean active, and Date createdAt.</a:t>
            </a:r>
          </a:p>
          <a:p/>
          <a:p>
            <a:r>
              <a:t>The full lab guide is in slide-exercises/module-03/exercise-3.8-design-collection-validation.md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Step 1 — List required fields and bsonTypes.</a:t>
            </a:r>
          </a:p>
          <a:p/>
          <a:p>
            <a:r>
              <a:t>Step 2 — Assemble $jsonSchema.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3.8 — Steps 1–2.</a:t>
            </a:r>
          </a:p>
          <a:p/>
          <a:p>
            <a:r>
              <a:t>The slide says: Lab guide: [Exercise 3.8](../slide-exercises/module-03/exercise-3.8-design-collection-validation.md).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Write the required array and a properties map with bsonType for each field. Put minimum: 0 on price.</a:t>
            </a:r>
          </a:p>
          <a:p/>
          <a:p>
            <a:r>
              <a:t>Bullet 2 on the slide: Expected: Six required names. price is decimal (not double or string). active is bool. createdAt is date.</a:t>
            </a:r>
          </a:p>
          <a:p/>
          <a:p>
            <a:r>
              <a:t>Bullet 3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4 on the slide: Expected: A complete validator object you could pass to db.createCollection. Extra optional fields are still allowed.</a:t>
            </a:r>
          </a:p>
          <a:p/>
          <a:p>
            <a:r>
              <a:t>Bullet 5 on the slide: Do: Write the required array and a properties map with bsonType for each field. Put minimum: 0 on price.</a:t>
            </a:r>
          </a:p>
          <a:p/>
          <a:p>
            <a:r>
              <a:t>Bullet 6 on the slide: Expected: Six required names. price is decimal (not double or string). active is bool. createdAt is date.</a:t>
            </a:r>
          </a:p>
          <a:p/>
          <a:p>
            <a:r>
              <a:t>Bullet 7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8 on the slide: Expected: A complete validator object you could pass to db.createCollection. Extra optional fields are still allowed.</a:t>
            </a:r>
          </a:p>
          <a:p/>
          <a:p>
            <a:r>
              <a:t>Bullet 9 on the slide: Do: Write the required array and a properties map with bsonType for each field. Put minimum: 0 on price.</a:t>
            </a:r>
          </a:p>
          <a:p/>
          <a:p>
            <a:r>
              <a:t>Bullet 10 on the slide: Expected: Six required names. price is decimal (not double or string). active is bool. createdAt is date.</a:t>
            </a:r>
          </a:p>
          <a:p/>
          <a:p>
            <a:r>
              <a:t>Bullet 11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12 on the slide: Expected: A complete validator object you could pass to db.createCollection. Extra optional fields are still allowed.</a:t>
            </a:r>
          </a:p>
          <a:p/>
          <a:p>
            <a:r>
              <a:t>Bullet 13 on the slide: Do: Write the required array and a properties map with bsonType for each field. Put minimum: 0 on price.</a:t>
            </a:r>
          </a:p>
          <a:p/>
          <a:p>
            <a:r>
              <a:t>Bullet 14 on the slide: Expected: Six required names. price is decimal (not double or string). active is bool. createdAt is date.</a:t>
            </a:r>
          </a:p>
          <a:p/>
          <a:p>
            <a:r>
              <a:t>Bullet 15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16 on the slide: Expected: A complete validator object you could pass to db.createCollection. Extra optional fields are still allowed.</a:t>
            </a:r>
          </a:p>
          <a:p/>
          <a:p>
            <a:r>
              <a:t>Bullet 17 on the slide: Do: Write the required array and a properties map with bsonType for each field. Put minimum: 0 on price.</a:t>
            </a:r>
          </a:p>
          <a:p/>
          <a:p>
            <a:r>
              <a:t>Bullet 18 on the slide: Expected: Six required names. price is decimal (not double or string). active is bool. createdAt is date.</a:t>
            </a:r>
          </a:p>
          <a:p/>
          <a:p>
            <a:r>
              <a:t>Bullet 19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20 on the slide: Expected: A complete validator object you could pass to db.createCollection. Extra optional fields are still allowed.</a:t>
            </a:r>
          </a:p>
          <a:p/>
          <a:p>
            <a:r>
              <a:t>Bullet 21 on the slide: Do: Write the required array and a properties map with bsonType for each field. Put minimum: 0 on price.</a:t>
            </a:r>
          </a:p>
          <a:p/>
          <a:p>
            <a:r>
              <a:t>Bullet 22 on the slide: Expected: Six required names. price is decimal (not double or string). active is bool. createdAt is date.</a:t>
            </a:r>
          </a:p>
          <a:p/>
          <a:p>
            <a:r>
              <a:t>Bullet 23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24 on the slide: Expected: A complete validator object you could pass to db.createCollection. Extra optional fields are still allowed.</a:t>
            </a:r>
          </a:p>
          <a:p/>
          <a:p>
            <a:r>
              <a:t>Bullet 25 on the slide: Do: Write the required array and a properties map with bsonType for each field. Put minimum: 0 on price.</a:t>
            </a:r>
          </a:p>
          <a:p/>
          <a:p>
            <a:r>
              <a:t>Bullet 26 on the slide: Expected: Six required names. price is decimal (not double or string). active is bool. createdAt is date.</a:t>
            </a:r>
          </a:p>
          <a:p/>
          <a:p>
            <a:r>
              <a:t>Bullet 27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28 on the slide: Expected: A complete validator object you could pass to db.createCollection. Extra optional fields are still allowed.</a:t>
            </a:r>
          </a:p>
          <a:p/>
          <a:p>
            <a:r>
              <a:t>Bullet 29 on the slide: Do: Write the required array and a properties map with bsonType for each field. Put minimum: 0 on price.</a:t>
            </a:r>
          </a:p>
          <a:p/>
          <a:p>
            <a:r>
              <a:t>Bullet 30 on the slide: Expected: Six required names. price is decimal (not double or string). active is bool. createdAt is date.</a:t>
            </a:r>
          </a:p>
          <a:p/>
          <a:p>
            <a:r>
              <a:t>Bullet 31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32 on the slide: Expected: A complete validator object you could pass to db.createCollection. Extra optional fields are still allowed.</a:t>
            </a:r>
          </a:p>
          <a:p/>
          <a:p>
            <a:r>
              <a:t>Bullet 33 on the slide: Do: Write the required array and a properties map with bsonType for each field. Put minimum: 0 on price.</a:t>
            </a:r>
          </a:p>
          <a:p/>
          <a:p>
            <a:r>
              <a:t>Bullet 34 on the slide: Expected: Six required names. price is decimal (not double or string). active is bool. createdAt is date.</a:t>
            </a:r>
          </a:p>
          <a:p/>
          <a:p>
            <a:r>
              <a:t>Bullet 35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36 on the slide: Expected: A complete validator object you could pass to db.createCollection. Extra optional fields are still allowed.</a:t>
            </a:r>
          </a:p>
          <a:p/>
          <a:p>
            <a:r>
              <a:t>Bullet 37 on the slide: Do: Write the required array and a properties map with bsonType for each field. Put minimum: 0 on price.</a:t>
            </a:r>
          </a:p>
          <a:p/>
          <a:p>
            <a:r>
              <a:t>Bullet 38 on the slide: Expected: Six required names. price is decimal (not double or string). active is bool. createdAt is date.</a:t>
            </a:r>
          </a:p>
          <a:p/>
          <a:p>
            <a:r>
              <a:t>Bullet 39 on the slide: Do: Wrap the design in: javascript { $jsonSchema: { bsonType: "object", required: [ / ... / ], properties: { / ... / } } }  Note validationAction / validationLevel if you know them. You will apply a similar val.</a:t>
            </a:r>
          </a:p>
          <a:p/>
          <a:p>
            <a:r>
              <a:t>Bullet 40 on the slide: Expected: A complete validator object you could pass to db.createCollection. Extra optional fields are still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3.7 — Select a Schema Design Pattern.</a:t>
            </a:r>
          </a:p>
          <a:p/>
          <a:p>
            <a:r>
              <a:t>The slide title is: Exercise 3.7 — Select a Schema Design Pattern.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Lab guide: [Exercise 3.7](../slide-exercises/module-03/exercise-3.7-select-a-schema-pattern.md).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15 minutes · match seven requirements.</a:t>
            </a:r>
          </a:p>
          <a:p/>
          <a:p>
            <a:r>
              <a:t>Bullet 2 on the slide: One pattern each; then name a tradeoff.</a:t>
            </a:r>
          </a:p>
          <a:p/>
          <a:p>
            <a:r>
              <a:t>The figure on this slide is titled: Answer key mapping requirements to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3.7 — Select a Schema Design Pattern. We have about 15 min for this lab.</a:t>
            </a:r>
          </a:p>
          <a:p/>
          <a:p>
            <a:r>
              <a:t>Match seven modeling requirements to Attribute, Bucket, Subset, Computed, Extended reference, Outlier, or Polymorphic.</a:t>
            </a:r>
          </a:p>
          <a:p/>
          <a:p>
            <a:r>
              <a:t>The full lab guide is in slide-exercises/module-03/exercise-3.7-select-a-schema-pattern.md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Step 1 — Match the first four requirements.</a:t>
            </a:r>
          </a:p>
          <a:p/>
          <a:p>
            <a:r>
              <a:t>Step 2 — Match the remaining three and debrief.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3.7 — Steps 1–2.</a:t>
            </a:r>
          </a:p>
          <a:p/>
          <a:p>
            <a:r>
              <a:t>The slide says: Lab guide: [Exercise 3.7](../slide-exercises/module-03/exercise-3.7-select-a-schema-pattern.md).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2 on the slide: Expected: Bucket, Subset, Computed, Attribute — in that order.</a:t>
            </a:r>
          </a:p>
          <a:p/>
          <a:p>
            <a:r>
              <a:t>Bullet 3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4 on the slide: Expected: Extended reference, Outlier, Polymorphic. You can state one benefit and one tradeoff for any two patterns.</a:t>
            </a:r>
          </a:p>
          <a:p/>
          <a:p>
            <a:r>
              <a:t>Bullet 5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6 on the slide: Expected: Bucket, Subset, Computed, Attribute — in that order.</a:t>
            </a:r>
          </a:p>
          <a:p/>
          <a:p>
            <a:r>
              <a:t>Bullet 7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8 on the slide: Expected: Extended reference, Outlier, Polymorphic. You can state one benefit and one tradeoff for any two patterns.</a:t>
            </a:r>
          </a:p>
          <a:p/>
          <a:p>
            <a:r>
              <a:t>Bullet 9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10 on the slide: Expected: Bucket, Subset, Computed, Attribute — in that order.</a:t>
            </a:r>
          </a:p>
          <a:p/>
          <a:p>
            <a:r>
              <a:t>Bullet 11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12 on the slide: Expected: Extended reference, Outlier, Polymorphic. You can state one benefit and one tradeoff for any two patterns.</a:t>
            </a:r>
          </a:p>
          <a:p/>
          <a:p>
            <a:r>
              <a:t>Bullet 13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14 on the slide: Expected: Bucket, Subset, Computed, Attribute — in that order.</a:t>
            </a:r>
          </a:p>
          <a:p/>
          <a:p>
            <a:r>
              <a:t>Bullet 15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16 on the slide: Expected: Extended reference, Outlier, Polymorphic. You can state one benefit and one tradeoff for any two patterns.</a:t>
            </a:r>
          </a:p>
          <a:p/>
          <a:p>
            <a:r>
              <a:t>Bullet 17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18 on the slide: Expected: Bucket, Subset, Computed, Attribute — in that order.</a:t>
            </a:r>
          </a:p>
          <a:p/>
          <a:p>
            <a:r>
              <a:t>Bullet 19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20 on the slide: Expected: Extended reference, Outlier, Polymorphic. You can state one benefit and one tradeoff for any two patterns.</a:t>
            </a:r>
          </a:p>
          <a:p/>
          <a:p>
            <a:r>
              <a:t>Bullet 21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22 on the slide: Expected: Bucket, Subset, Computed, Attribute — in that order.</a:t>
            </a:r>
          </a:p>
          <a:p/>
          <a:p>
            <a:r>
              <a:t>Bullet 23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24 on the slide: Expected: Extended reference, Outlier, Polymorphic. You can state one benefit and one tradeoff for any two patterns.</a:t>
            </a:r>
          </a:p>
          <a:p/>
          <a:p>
            <a:r>
              <a:t>Bullet 25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26 on the slide: Expected: Bucket, Subset, Computed, Attribute — in that order.</a:t>
            </a:r>
          </a:p>
          <a:p/>
          <a:p>
            <a:r>
              <a:t>Bullet 27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28 on the slide: Expected: Extended reference, Outlier, Polymorphic. You can state one benefit and one tradeoff for any two patterns.</a:t>
            </a:r>
          </a:p>
          <a:p/>
          <a:p>
            <a:r>
              <a:t>Bullet 29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30 on the slide: Expected: Bucket, Subset, Computed, Attribute — in that order.</a:t>
            </a:r>
          </a:p>
          <a:p/>
          <a:p>
            <a:r>
              <a:t>Bullet 31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32 on the slide: Expected: Extended reference, Outlier, Polymorphic. You can state one benefit and one tradeoff for any two patterns.</a:t>
            </a:r>
          </a:p>
          <a:p/>
          <a:p>
            <a:r>
              <a:t>Bullet 33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34 on the slide: Expected: Bucket, Subset, Computed, Attribute — in that order.</a:t>
            </a:r>
          </a:p>
          <a:p/>
          <a:p>
            <a:r>
              <a:t>Bullet 35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36 on the slide: Expected: Extended reference, Outlier, Polymorphic. You can state one benefit and one tradeoff for any two patterns.</a:t>
            </a:r>
          </a:p>
          <a:p/>
          <a:p>
            <a:r>
              <a:t>Bullet 37 on the slide: Do: Assign a pattern to: - Sensor readings grouped by hour - Latest three product reviews - Stored average rating - Dynamic product specifications.</a:t>
            </a:r>
          </a:p>
          <a:p/>
          <a:p>
            <a:r>
              <a:t>Bullet 38 on the slide: Expected: Bucket, Subset, Computed, Attribute — in that order.</a:t>
            </a:r>
          </a:p>
          <a:p/>
          <a:p>
            <a:r>
              <a:t>Bullet 39 on the slide: Do: Assign a pattern to: - Customer name copied into an order - Rare products with extremely high review volume - Multiple product types in one collection Compare with the instructor answer key.</a:t>
            </a:r>
          </a:p>
          <a:p/>
          <a:p>
            <a:r>
              <a:t>Bullet 40 on the slide: Expected: Extended reference, Outlier, Polymorphic. You can state one benefit and one tradeoff for any two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sequence — build training_store.</a:t>
            </a:r>
          </a:p>
          <a:p/>
          <a:p>
            <a:r>
              <a:t>The slide title is: Lab sequence — build training_store.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One mongosh session.</a:t>
            </a:r>
          </a:p>
          <a:p/>
          <a:p>
            <a:r>
              <a:t>Bullet 2 on the slide: Replace the Module 1 starter shape.</a:t>
            </a:r>
          </a:p>
          <a:p/>
          <a:p>
            <a:r>
              <a:t>Bullet 3 on the slide: This is the Day 2 dataset.</a:t>
            </a:r>
          </a:p>
          <a:p/>
          <a:p>
            <a:r>
              <a:t>The figure on this slide is titled: Seven lab steps from database through model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3.1 — Steps 1–2.</a:t>
            </a:r>
          </a:p>
          <a:p/>
          <a:p>
            <a:r>
              <a:t>The slide title is: Lab 3.1 — Steps 1–2.</a:t>
            </a:r>
          </a:p>
          <a:p/>
          <a:p>
            <a:r>
              <a:t>The slide says: Lab guide: [Lab 3.1](../slide-exercises/module-03/lab-3.1-create-the-sample-database.md).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Select the database.</a:t>
            </a:r>
          </a:p>
          <a:p/>
          <a:p>
            <a:r>
              <a:t>Step 2 — Create the four collections.</a:t>
            </a:r>
          </a:p>
          <a:p/>
          <a:p>
            <a:r>
              <a:t>Bullet 1 on the slide: Do: Run use training_store.</a:t>
            </a:r>
          </a:p>
          <a:p/>
          <a:p>
            <a:r>
              <a:t>Bullet 2 on the slide: Expected: Prompt shows training_store.</a:t>
            </a:r>
          </a:p>
          <a:p/>
          <a:p>
            <a:r>
              <a:t>Bullet 3 on the slide: Do: createCollection for products, customers, orders, reviews; then show collections.</a:t>
            </a:r>
          </a:p>
          <a:p/>
          <a:p>
            <a:r>
              <a:t>Bullet 4 on the slide: Expected: All four names are listed. Existing collections from Module 1 are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table — Lab 3.2 — Products to insert.</a:t>
            </a:r>
          </a:p>
          <a:p/>
          <a:p>
            <a:r>
              <a:t>The slide title is: Lab 3.2 — Products to insert.</a:t>
            </a:r>
          </a:p>
          <a:p/>
          <a:p>
            <a:r>
              <a:t>The slide says: Shared core: sku, name, category, price, tags, active, createdAt.</a:t>
            </a:r>
          </a:p>
          <a:p/>
          <a:p>
            <a:r>
              <a:t>The slide says: Full insertMany is in the lab guide. Optionally deleteMany first.</a:t>
            </a:r>
          </a:p>
          <a:p/>
          <a:p>
            <a:r>
              <a:t>In the table, sku — category. Use case on slide: notable attributes.</a:t>
            </a:r>
          </a:p>
          <a:p/>
          <a:p>
            <a:r>
              <a:t>In the table, L100 — LAPTOP. Use case on slide: processor, memoryGB 16.</a:t>
            </a:r>
          </a:p>
          <a:p/>
          <a:p>
            <a:r>
              <a:t>In the table, S200 — SHOE. Use case on slide: sizes, color, material.</a:t>
            </a:r>
          </a:p>
          <a:p/>
          <a:p>
            <a:r>
              <a:t>In the table, B300 — BOOK. Use case on slide: author, isbn,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3.2 — Product Dataset Structure.</a:t>
            </a:r>
          </a:p>
          <a:p/>
          <a:p>
            <a:r>
              <a:t>The slide title is: Lab 3.2 — Product Dataset Structure.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L100 laptop, S200 shoe, B300 book.</a:t>
            </a:r>
          </a:p>
          <a:p/>
          <a:p>
            <a:r>
              <a:t>Bullet 2 on the slide: Shared core + attributes.</a:t>
            </a:r>
          </a:p>
          <a:p/>
          <a:p>
            <a:r>
              <a:t>Bullet 3 on the slide: Decimal128 prices.</a:t>
            </a:r>
          </a:p>
          <a:p/>
          <a:p>
            <a:r>
              <a:t>The figure on this slide is titled: Three product types with shared and category-specific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3.2 — Steps 1–2.</a:t>
            </a:r>
          </a:p>
          <a:p/>
          <a:p>
            <a:r>
              <a:t>The slide title is: Lab 3.2 — Steps 1–2.</a:t>
            </a:r>
          </a:p>
          <a:p/>
          <a:p>
            <a:r>
              <a:t>The slide says: Lab guide: [Lab 3.2](../slide-exercises/module-03/lab-3.2-populate-products.md).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Clear previous products.</a:t>
            </a:r>
          </a:p>
          <a:p/>
          <a:p>
            <a:r>
              <a:t>Step 2 — Insert the three products.</a:t>
            </a:r>
          </a:p>
          <a:p/>
          <a:p>
            <a:r>
              <a:t>Bullet 1 on the slide: Do: db.products.deleteMany({}) unless the instructor says to keep Module 1 docs.</a:t>
            </a:r>
          </a:p>
          <a:p/>
          <a:p>
            <a:r>
              <a:t>Bullet 2 on the slide: Expected: countDocuments is 0.</a:t>
            </a:r>
          </a:p>
          <a:p/>
          <a:p>
            <a:r>
              <a:t>Bullet 3 on the slide: Do: Run insertMany from the lab guide; then db.products.find().</a:t>
            </a:r>
          </a:p>
          <a:p/>
          <a:p>
            <a:r>
              <a:t>Bullet 4 on the slide: Expected: Three documents with nested attributes and Decimal128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3.3 — Steps 1–2.</a:t>
            </a:r>
          </a:p>
          <a:p/>
          <a:p>
            <a:r>
              <a:t>The slide title is: Lab 3.3 — Steps 1–2.</a:t>
            </a:r>
          </a:p>
          <a:p/>
          <a:p>
            <a:r>
              <a:t>The slide says: Lab guide: [Lab 3.3](../slide-exercises/module-03/lab-3.3-populate-customers.md).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Insert Aisha Khan.</a:t>
            </a:r>
          </a:p>
          <a:p/>
          <a:p>
            <a:r>
              <a:t>Step 2 — Verify by customer number.</a:t>
            </a:r>
          </a:p>
          <a:p/>
          <a:p>
            <a:r>
              <a:t>Bullet 1 on the slide: Do: insertOne customer C101 with nested name, contact, one Toronto shipping address.</a:t>
            </a:r>
          </a:p>
          <a:p/>
          <a:p>
            <a:r>
              <a:t>Bullet 2 on the slide: Expected: acknowledged true and an insertedId.</a:t>
            </a:r>
          </a:p>
          <a:p/>
          <a:p>
            <a:r>
              <a:t>Bullet 3 on the slide: Do: db.customers.findOne({ customerNumber: "C101" }).</a:t>
            </a:r>
          </a:p>
          <a:p/>
          <a:p>
            <a:r>
              <a:t>Bullet 4 on the slide: Expected: You can point at name, contact, and addresses[0].city.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3.3 — Customer Dataset Structure.</a:t>
            </a:r>
          </a:p>
          <a:p/>
          <a:p>
            <a:r>
              <a:t>The slide title is: Lab 3.3 — Customer Dataset Structure.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C101 with nested name and contact.</a:t>
            </a:r>
          </a:p>
          <a:p/>
          <a:p>
            <a:r>
              <a:t>Bullet 2 on the slide: One SHIPPING address in Toronto.</a:t>
            </a:r>
          </a:p>
          <a:p/>
          <a:p>
            <a:r>
              <a:t>Bullet 3 on the slide: Bounded array — not a collection.</a:t>
            </a:r>
          </a:p>
          <a:p/>
          <a:p>
            <a:r>
              <a:t>The figure on this slide is titled: Customer profile with embedded contact, addresses, and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3.4 — Steps 1–2.</a:t>
            </a:r>
          </a:p>
          <a:p/>
          <a:p>
            <a:r>
              <a:t>The slide title is: Lab 3.4 — Steps 1–2.</a:t>
            </a:r>
          </a:p>
          <a:p/>
          <a:p>
            <a:r>
              <a:t>The slide says: Lab guide: [Lab 3.4](../slide-exercises/module-03/lab-3.4-populate-orders.md).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Load the customer and product.</a:t>
            </a:r>
          </a:p>
          <a:p/>
          <a:p>
            <a:r>
              <a:t>Step 2 — Insert the order and verify.</a:t>
            </a:r>
          </a:p>
          <a:p/>
          <a:p>
            <a:r>
              <a:t>Bullet 1 on the slide: Do: findOne C101 and sku L100 into customer and product. Confirm not null.</a:t>
            </a:r>
          </a:p>
          <a:p/>
          <a:p>
            <a:r>
              <a:t>Bullet 2 on the slide: Expected: You will copy _id and price into the order.</a:t>
            </a:r>
          </a:p>
          <a:p/>
          <a:p>
            <a:r>
              <a:t>Bullet 3 on the slide: Do: insertOne O5001 with customerId, item snapshot, address snapshot, Decimal128 totals.</a:t>
            </a:r>
          </a:p>
          <a:p/>
          <a:p>
            <a:r>
              <a:t>Bullet 4 on the slide: Expected: findOne by orderNumber shows embedded items and a referenced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3.4 — Order Dataset Structure.</a:t>
            </a:r>
          </a:p>
          <a:p/>
          <a:p>
            <a:r>
              <a:t>The slide title is: Lab 3.4 — Order Dataset Structure.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customerId is a reference.</a:t>
            </a:r>
          </a:p>
          <a:p/>
          <a:p>
            <a:r>
              <a:t>Bullet 2 on the slide: Items and address are snapshots.</a:t>
            </a:r>
          </a:p>
          <a:p/>
          <a:p>
            <a:r>
              <a:t>Bullet 3 on the slide: Totals are Decimal128.</a:t>
            </a:r>
          </a:p>
          <a:p/>
          <a:p>
            <a:r>
              <a:t>The figure on this slide is titled: Order with embedded line items, snapshots, totals, and statuses.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Lab 3.5 — Nested and array queries.</a:t>
            </a:r>
          </a:p>
          <a:p/>
          <a:p>
            <a:r>
              <a:t>The slide says: Dot notation walks into nested documents and into arrays of documents.</a:t>
            </a:r>
          </a:p>
          <a:p/>
          <a:p>
            <a:r>
              <a:t>The code on the slide reads: db.products.find({ category: "LAPTOP" }) db.products.find({ "attributes.memoryGB": 16 }) db.products.find({ tags: "technology" }) db.customers.find({ "addresses.city": "Toronto" }) db.orders.find({ "items.sku": "L100" }).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3.5 — Nested-Field Query Paths.</a:t>
            </a:r>
          </a:p>
          <a:p/>
          <a:p>
            <a:r>
              <a:t>The slide title is: Lab 3.5 — Nested-Field Query Paths.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Dot notation walks nested objects.</a:t>
            </a:r>
          </a:p>
          <a:p/>
          <a:p>
            <a:r>
              <a:t>Bullet 2 on the slide: And into arrays of documents.</a:t>
            </a:r>
          </a:p>
          <a:p/>
          <a:p>
            <a:r>
              <a:t>Bullet 3 on the slide: Quotes around dotted keys matter.</a:t>
            </a:r>
          </a:p>
          <a:p/>
          <a:p>
            <a:r>
              <a:t>The figure on this slide is titled: Dot notation from document root to nested attributes and array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3.5 — Steps 1–2.</a:t>
            </a:r>
          </a:p>
          <a:p/>
          <a:p>
            <a:r>
              <a:t>The slide title is: Lab 3.5 — Steps 1–2.</a:t>
            </a:r>
          </a:p>
          <a:p/>
          <a:p>
            <a:r>
              <a:t>The slide says: Lab guide: [Lab 3.5](../slide-exercises/module-03/lab-3.5-query-nested-documents.md).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Query products by category and nested attribute.</a:t>
            </a:r>
          </a:p>
          <a:p/>
          <a:p>
            <a:r>
              <a:t>Step 2 — Query nested customer address and order items.</a:t>
            </a:r>
          </a:p>
          <a:p/>
          <a:p>
            <a:r>
              <a:t>Bullet 1 on the slide: Do: category LAPTOP, attributes.memoryGB 16, tags technology.</a:t>
            </a:r>
          </a:p>
          <a:p/>
          <a:p>
            <a:r>
              <a:t>Bullet 2 on the slide: Expected: Laptop, laptop, book.</a:t>
            </a:r>
          </a:p>
          <a:p/>
          <a:p>
            <a:r>
              <a:t>Bullet 3 on the slide: Do: addresses.city Toronto; items.sku L100.</a:t>
            </a:r>
          </a:p>
          <a:p/>
          <a:p>
            <a:r>
              <a:t>Bullet 4 on the slide: Expected: C101 and O5001.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3.6 — Steps 1–2.</a:t>
            </a:r>
          </a:p>
          <a:p/>
          <a:p>
            <a:r>
              <a:t>The slide title is: Lab 3.6 — Steps 1–2.</a:t>
            </a:r>
          </a:p>
          <a:p/>
          <a:p>
            <a:r>
              <a:t>The slide says: Lab guide: [Lab 3.6](../slide-exercises/module-03/lab-3.6-add-collection-validation.md).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Create validated_products and insert a valid product.</a:t>
            </a:r>
          </a:p>
          <a:p/>
          <a:p>
            <a:r>
              <a:t>Step 2 — Attempt an invalid insert and read the error.</a:t>
            </a:r>
          </a:p>
          <a:p/>
          <a:p>
            <a:r>
              <a:t>Bullet 1 on the slide: Do: createCollection with $jsonSchema; insert A100 with Decimal128, Boolean, Date.</a:t>
            </a:r>
          </a:p>
          <a:p/>
          <a:p>
            <a:r>
              <a:t>Bullet 2 on the slide: Expected: Insert succeeds.</a:t>
            </a:r>
          </a:p>
          <a:p/>
          <a:p>
            <a:r>
              <a:t>Bullet 3 on the slide: Do: String price, active 'yes', missing createdAt. Read the write error.</a:t>
            </a:r>
          </a:p>
          <a:p/>
          <a:p>
            <a:r>
              <a:t>Bullet 4 on the slide: Expected: Insert rejected; you can name the failed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3.6 — Validation Test Flow.</a:t>
            </a:r>
          </a:p>
          <a:p/>
          <a:p>
            <a:r>
              <a:t>The slide title is: Lab 3.6 — Validation Test Flow.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Valid A100 insert succeeds.</a:t>
            </a:r>
          </a:p>
          <a:p/>
          <a:p>
            <a:r>
              <a:t>Bullet 2 on the slide: Invalid A101 is rejected.</a:t>
            </a:r>
          </a:p>
          <a:p/>
          <a:p>
            <a:r>
              <a:t>Bullet 3 on the slide: Read the error text.</a:t>
            </a:r>
          </a:p>
          <a:p/>
          <a:p>
            <a:r>
              <a:t>The figure on this slide is titled: Valid insert accepted and invalid insert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3.7 — Steps 1–2.</a:t>
            </a:r>
          </a:p>
          <a:p/>
          <a:p>
            <a:r>
              <a:t>The slide title is: Lab 3.7 — Steps 1–2.</a:t>
            </a:r>
          </a:p>
          <a:p/>
          <a:p>
            <a:r>
              <a:t>The slide says: Lab guide: [Lab 3.7](../slide-exercises/module-03/lab-3.7-validate-the-data-model.md).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Check togetherness, growth, and types.</a:t>
            </a:r>
          </a:p>
          <a:p/>
          <a:p>
            <a:r>
              <a:t>Step 2 — Check relationships, snapshots, and naming.</a:t>
            </a:r>
          </a:p>
          <a:p/>
          <a:p>
            <a:r>
              <a:t>Bullet 1 on the slide: Do: Together? Arrays bounded? Money decimal? Timestamps dates?.</a:t>
            </a:r>
          </a:p>
          <a:p/>
          <a:p>
            <a:r>
              <a:t>Bullet 2 on the slide: Expected: Order aggregate together; addresses bounded; reviews separate.</a:t>
            </a:r>
          </a:p>
          <a:p/>
          <a:p>
            <a:r>
              <a:t>Bullet 3 on the slide: Do: Complete the lab checklist. Note one future improvement (often an index).</a:t>
            </a:r>
          </a:p>
          <a:p/>
          <a:p>
            <a:r>
              <a:t>Bullet 4 on the slide: Expected: You can defend the model and you are ready for Module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3.7 — Data Model Review Checklist.</a:t>
            </a:r>
          </a:p>
          <a:p/>
          <a:p>
            <a:r>
              <a:t>The slide title is: Lab 3.7 — Data Model Review Checklist.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Togetherness, growth, types.</a:t>
            </a:r>
          </a:p>
          <a:p/>
          <a:p>
            <a:r>
              <a:t>Bullet 2 on the slide: Relationships, snapshots, names.</a:t>
            </a:r>
          </a:p>
          <a:p/>
          <a:p>
            <a:r>
              <a:t>Bullet 3 on the slide: Note one future improvement — often an index.</a:t>
            </a:r>
          </a:p>
          <a:p/>
          <a:p>
            <a:r>
              <a:t>The figure on this slide is titled: Checklist covering access patterns, relationships, growth, types,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Module Summary.</a:t>
            </a:r>
          </a:p>
          <a:p/>
          <a:p>
            <a:r>
              <a:t>The slide title is: Module Summary.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Model around access patterns.</a:t>
            </a:r>
          </a:p>
          <a:p/>
          <a:p>
            <a:r>
              <a:t>Bullet 2 on the slide: Embed bounded owned data; reference the rest.</a:t>
            </a:r>
          </a:p>
          <a:p/>
          <a:p>
            <a:r>
              <a:t>Bullet 3 on the slide: Duplication can be intentional — snapshots often should not sync.</a:t>
            </a:r>
          </a:p>
          <a:p/>
          <a:p>
            <a:r>
              <a:t>Bullet 4 on the slide: Avoid unbounded arrays; validate the contract; plan evolution.</a:t>
            </a:r>
          </a:p>
          <a:p/>
          <a:p>
            <a:r>
              <a:t>The figure on this slide is titled: Module 3 concept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Knowledge Check.</a:t>
            </a:r>
          </a:p>
          <a:p/>
          <a:p>
            <a:r>
              <a:t>The slide title is: Knowledge Check.</a:t>
            </a:r>
          </a:p>
          <a:p/>
          <a:p>
            <a:r>
              <a:t>The slide says: 1. Collection vs document?.</a:t>
            </a:r>
          </a:p>
          <a:p/>
          <a:p>
            <a:r>
              <a:t>The slide says: 2. What is BSON?.</a:t>
            </a:r>
          </a:p>
          <a:p/>
          <a:p>
            <a:r>
              <a:t>The slide says: 3. Purpose of _id?.</a:t>
            </a:r>
          </a:p>
          <a:p/>
          <a:p>
            <a:r>
              <a:t>The slide says: 4. When is embedding appropriate?.</a:t>
            </a:r>
          </a:p>
          <a:p/>
          <a:p>
            <a:r>
              <a:t>The slide says: 5. When is referencing appropriate?.</a:t>
            </a:r>
          </a:p>
          <a:p/>
          <a:p>
            <a:r>
              <a:t>The slide says: 6. Why are unbounded arrays dangerous?.</a:t>
            </a:r>
          </a:p>
          <a:p/>
          <a:p>
            <a:r>
              <a:t>The slide says: 7. Maximum BSON document size?.</a:t>
            </a:r>
          </a:p>
          <a:p/>
          <a:p>
            <a:r>
              <a:t>The slide says: 8. Why copy product price onto an order?.</a:t>
            </a:r>
          </a:p>
          <a:p/>
          <a:p>
            <a:r>
              <a:t>The slide says: 9. What does schema validation enforce?.</a:t>
            </a:r>
          </a:p>
          <a:p/>
          <a:p>
            <a:r>
              <a:t>The slide says: 10. Pattern for time-based measurements?.</a:t>
            </a:r>
          </a:p>
          <a:p/>
          <a:p>
            <a:r>
              <a:t>The slide says: 11. Pattern that copies referenced fields?.</a:t>
            </a:r>
          </a:p>
          <a:p/>
          <a:p>
            <a:r>
              <a:t>The slide says: 12. Pattern that stores calculated results?.</a:t>
            </a:r>
          </a:p>
          <a:p/>
          <a:p>
            <a:r>
              <a:t>Number 1 on the slide: Collection vs document?.</a:t>
            </a:r>
          </a:p>
          <a:p/>
          <a:p>
            <a:r>
              <a:t>Number 2 on the slide: What is BSON?.</a:t>
            </a:r>
          </a:p>
          <a:p/>
          <a:p>
            <a:r>
              <a:t>Number 3 on the slide: Purpose of _id?.</a:t>
            </a:r>
          </a:p>
          <a:p/>
          <a:p>
            <a:r>
              <a:t>Number 4 on the slide: When is embedding appropriate?.</a:t>
            </a:r>
          </a:p>
          <a:p/>
          <a:p>
            <a:r>
              <a:t>Number 5 on the slide: When is referencing appropriate?.</a:t>
            </a:r>
          </a:p>
          <a:p/>
          <a:p>
            <a:r>
              <a:t>Number 6 on the slide: Why are unbounded arrays dangerous?.</a:t>
            </a:r>
          </a:p>
          <a:p/>
          <a:p>
            <a:r>
              <a:t>Number 7 on the slide: Maximum BSON document size?.</a:t>
            </a:r>
          </a:p>
          <a:p/>
          <a:p>
            <a:r>
              <a:t>Number 8 on the slide: Why copy product price onto an order?.</a:t>
            </a:r>
          </a:p>
          <a:p/>
          <a:p>
            <a:r>
              <a:t>Number 9 on the slide: What does schema validation enforce?.</a:t>
            </a:r>
          </a:p>
          <a:p/>
          <a:p>
            <a:r>
              <a:t>Number 10 on the slide: Pattern for time-based measurements?.</a:t>
            </a:r>
          </a:p>
          <a:p/>
          <a:p>
            <a:r>
              <a:t>Number 11 on the slide: Pattern that copies referenced fields?.</a:t>
            </a:r>
          </a:p>
          <a:p/>
          <a:p>
            <a:r>
              <a:t>Number 12 on the slide: Pattern that stores calculated results?.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Practical Challenge — Support Tickets.</a:t>
            </a:r>
          </a:p>
          <a:p/>
          <a:p>
            <a:r>
              <a:t>The slide title is: Practical Challenge — Support Tickets.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25 minutes · design only.</a:t>
            </a:r>
          </a:p>
          <a:p/>
          <a:p>
            <a:r>
              <a:t>Bullet 2 on the slide: Embed summary, assignment, tags, recent comments.</a:t>
            </a:r>
          </a:p>
          <a:p/>
          <a:p>
            <a:r>
              <a:t>Bullet 3 on the slide: Separate unbounded comments and audit history.</a:t>
            </a:r>
          </a:p>
          <a:p/>
          <a:p>
            <a:r>
              <a:t>The figure on this slide is titled: Support-ticket embed versus reference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3.9 — Design a Support-Ticket Data Model. We have about 25 min for this lab.</a:t>
            </a:r>
          </a:p>
          <a:p/>
          <a:p>
            <a:r>
              <a:t>Design collections, embed versus reference choices, a sample ticket document, and validation for a support-ticket workload.</a:t>
            </a:r>
          </a:p>
          <a:p/>
          <a:p>
            <a:r>
              <a:t>The full lab guide is in slide-exercises/module-03/exercise-3.9-support-ticket-challenge.md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Step 1 — Access patterns and collections.</a:t>
            </a:r>
          </a:p>
          <a:p/>
          <a:p>
            <a:r>
              <a:t>Step 2 — Sample document, validation, and indexes.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3.9 — Steps 1–2.</a:t>
            </a:r>
          </a:p>
          <a:p/>
          <a:p>
            <a:r>
              <a:t>The slide says: Lab guide: [Exercise 3.9](../slide-exercises/module-03/exercise-3.9-support-ticket-challenge.md).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List the main access patterns. Name the collections. Mark what is embedded vs referenced, and what could grow without bound.</a:t>
            </a:r>
          </a:p>
          <a:p/>
          <a:p>
            <a:r>
              <a:t>Bullet 2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3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4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5 on the slide: Do: List the main access patterns. Name the collections. Mark what is embedded vs referenced, and what could grow without bound.</a:t>
            </a:r>
          </a:p>
          <a:p/>
          <a:p>
            <a:r>
              <a:t>Bullet 6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7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8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9 on the slide: Do: List the main access patterns. Name the collections. Mark what is embedded vs referenced, and what could grow without bound.</a:t>
            </a:r>
          </a:p>
          <a:p/>
          <a:p>
            <a:r>
              <a:t>Bullet 10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11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12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13 on the slide: Do: List the main access patterns. Name the collections. Mark what is embedded vs referenced, and what could grow without bound.</a:t>
            </a:r>
          </a:p>
          <a:p/>
          <a:p>
            <a:r>
              <a:t>Bullet 14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15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16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17 on the slide: Do: List the main access patterns. Name the collections. Mark what is embedded vs referenced, and what could grow without bound.</a:t>
            </a:r>
          </a:p>
          <a:p/>
          <a:p>
            <a:r>
              <a:t>Bullet 18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19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20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21 on the slide: Do: List the main access patterns. Name the collections. Mark what is embedded vs referenced, and what could grow without bound.</a:t>
            </a:r>
          </a:p>
          <a:p/>
          <a:p>
            <a:r>
              <a:t>Bullet 22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23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24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25 on the slide: Do: List the main access patterns. Name the collections. Mark what is embedded vs referenced, and what could grow without bound.</a:t>
            </a:r>
          </a:p>
          <a:p/>
          <a:p>
            <a:r>
              <a:t>Bullet 26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27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28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29 on the slide: Do: List the main access patterns. Name the collections. Mark what is embedded vs referenced, and what could grow without bound.</a:t>
            </a:r>
          </a:p>
          <a:p/>
          <a:p>
            <a:r>
              <a:t>Bullet 30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31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32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33 on the slide: Do: List the main access patterns. Name the collections. Mark what is embedded vs referenced, and what could grow without bound.</a:t>
            </a:r>
          </a:p>
          <a:p/>
          <a:p>
            <a:r>
              <a:t>Bullet 34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35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36 on the slide: Expected: A ticket with ticketNumber, customerId, assignee, status, priority, tags, recentComments[], timestamps. Validation requires those keys. Audit even.</a:t>
            </a:r>
          </a:p>
          <a:p/>
          <a:p>
            <a:r>
              <a:t>Bullet 37 on the slide: Do: List the main access patterns. Name the collections. Mark what is embedded vs referenced, and what could grow without bound.</a:t>
            </a:r>
          </a:p>
          <a:p/>
          <a:p>
            <a:r>
              <a:t>Bullet 38 on the slide: Expected: Collections such as tickets, customers, agents, comments and/or audit_events. Recent comments and tags are bounded on the ticket. Full comment and aud.</a:t>
            </a:r>
          </a:p>
          <a:p/>
          <a:p>
            <a:r>
              <a:t>Bullet 39 on the slide: Do: Draft one ticket document with BSON types. List required fields for validation. Explain how complete audit history is stored. Name likely future indexes (do not create them yet).</a:t>
            </a:r>
          </a:p>
          <a:p/>
          <a:p>
            <a:r>
              <a:t>Bullet 40 on the slide: Expected: A ticket with ticketNumber, customerId, assignee, status, priority, tags, recentComments[], timestamps. Validation requires those keys. Audit 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Exit Ticket.</a:t>
            </a:r>
          </a:p>
          <a:p/>
          <a:p>
            <a:r>
              <a:t>The slide title is: Exit Ticket.</a:t>
            </a:r>
          </a:p>
          <a:p/>
          <a:p>
            <a:r>
              <a:t>The slide says: 1. Database vs collection vs document?.</a:t>
            </a:r>
          </a:p>
          <a:p/>
          <a:p>
            <a:r>
              <a:t>The slide says: 2. Why is _id important?.</a:t>
            </a:r>
          </a:p>
          <a:p/>
          <a:p>
            <a:r>
              <a:t>The slide says: 3. JSON vs BSON?.</a:t>
            </a:r>
          </a:p>
          <a:p/>
          <a:p>
            <a:r>
              <a:t>The slide says: 4. What is an access pattern?.</a:t>
            </a:r>
          </a:p>
          <a:p/>
          <a:p>
            <a:r>
              <a:t>The slide says: 5. When to embed? When to reference?.</a:t>
            </a:r>
          </a:p>
          <a:p/>
          <a:p>
            <a:r>
              <a:t>The slide says: 6. Why are unbounded arrays dangerous?.</a:t>
            </a:r>
          </a:p>
          <a:p/>
          <a:p>
            <a:r>
              <a:t>The slide says: 7. Why duplicate product info on an order?.</a:t>
            </a:r>
          </a:p>
          <a:p/>
          <a:p>
            <a:r>
              <a:t>The slide says: 8. Purpose of collection validation?.</a:t>
            </a:r>
          </a:p>
          <a:p/>
          <a:p>
            <a:r>
              <a:t>The slide says: 9. How can a schema evolve safely?.</a:t>
            </a:r>
          </a:p>
          <a:p/>
          <a:p>
            <a:r>
              <a:t>The slide says: 10. Pattern for time-series? For calculated values?.</a:t>
            </a:r>
          </a:p>
          <a:p/>
          <a:p>
            <a:r>
              <a:t>Number 1 on the slide: Database vs collection vs document?.</a:t>
            </a:r>
          </a:p>
          <a:p/>
          <a:p>
            <a:r>
              <a:t>Number 2 on the slide: Why is _id important?.</a:t>
            </a:r>
          </a:p>
          <a:p/>
          <a:p>
            <a:r>
              <a:t>Number 3 on the slide: JSON vs BSON?.</a:t>
            </a:r>
          </a:p>
          <a:p/>
          <a:p>
            <a:r>
              <a:t>Number 4 on the slide: What is an access pattern?.</a:t>
            </a:r>
          </a:p>
          <a:p/>
          <a:p>
            <a:r>
              <a:t>Number 5 on the slide: When to embed? When to reference?.</a:t>
            </a:r>
          </a:p>
          <a:p/>
          <a:p>
            <a:r>
              <a:t>Number 6 on the slide: Why are unbounded arrays dangerous?.</a:t>
            </a:r>
          </a:p>
          <a:p/>
          <a:p>
            <a:r>
              <a:t>Number 7 on the slide: Why duplicate product info on an order?.</a:t>
            </a:r>
          </a:p>
          <a:p/>
          <a:p>
            <a:r>
              <a:t>Number 8 on the slide: Purpose of collection validation?.</a:t>
            </a:r>
          </a:p>
          <a:p/>
          <a:p>
            <a:r>
              <a:t>Number 9 on the slide: How can a schema evolve safely?.</a:t>
            </a:r>
          </a:p>
          <a:p/>
          <a:p>
            <a:r>
              <a:t>Number 10 on the slide: Pattern for time-series? For calculated values?.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Completion Checklist.</a:t>
            </a:r>
          </a:p>
          <a:p/>
          <a:p>
            <a:r>
              <a:t>The slide title is: Module Completion Checklist.</a:t>
            </a:r>
          </a:p>
          <a:p/>
          <a:p>
            <a:r>
              <a:t>The slide says: Participants can:.</a:t>
            </a:r>
          </a:p>
          <a:p/>
          <a:p>
            <a:r>
              <a:t>Bullet 1 on the slide: Design a valid BSON document and choose types.</a:t>
            </a:r>
          </a:p>
          <a:p/>
          <a:p>
            <a:r>
              <a:t>Bullet 2 on the slide: Identify access patterns and relationship types.</a:t>
            </a:r>
          </a:p>
          <a:p/>
          <a:p>
            <a:r>
              <a:t>Bullet 3 on the slide: Justify embedding and referencing.</a:t>
            </a:r>
          </a:p>
          <a:p/>
          <a:p>
            <a:r>
              <a:t>Bullet 4 on the slide: Recognize unbounded arrays.</a:t>
            </a:r>
          </a:p>
          <a:p/>
          <a:p>
            <a:r>
              <a:t>Bullet 5 on the slide: Apply at least one named schema pattern.</a:t>
            </a:r>
          </a:p>
          <a:p/>
          <a:p>
            <a:r>
              <a:t>Bullet 6 on the slide: Create and populate related collections.</a:t>
            </a:r>
          </a:p>
          <a:p/>
          <a:p>
            <a:r>
              <a:t>Bullet 7 on the slide: Query embedded fields and arrays.</a:t>
            </a:r>
          </a:p>
          <a:p/>
          <a:p>
            <a:r>
              <a:t>Bullet 8 on the slide: Create basic collection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Questions and Answers.</a:t>
            </a:r>
          </a:p>
          <a:p/>
          <a:p>
            <a:r>
              <a:t>The slide title is: Questions and Answers.</a:t>
            </a:r>
          </a:p>
          <a:p/>
          <a:p>
            <a:r>
              <a:t>The slide says: Open questions on:.</a:t>
            </a:r>
          </a:p>
          <a:p/>
          <a:p>
            <a:r>
              <a:t>The slide says: Park index and $lookup depth for Modules 4 and 6 unless a short answer unblocks them.</a:t>
            </a:r>
          </a:p>
          <a:p/>
          <a:p>
            <a:r>
              <a:t>Bullet 1 on the slide: Embed vs reference in their application.</a:t>
            </a:r>
          </a:p>
          <a:p/>
          <a:p>
            <a:r>
              <a:t>Bullet 2 on the slide: Snapshots vs live copies.</a:t>
            </a:r>
          </a:p>
          <a:p/>
          <a:p>
            <a:r>
              <a:t>Bullet 3 on the slide: Validation versus application rules.</a:t>
            </a:r>
          </a:p>
          <a:p/>
          <a:p>
            <a:r>
              <a:t>Bullet 4 on the slide: Which pattern they would apply on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Day 1 Review and Closure.</a:t>
            </a:r>
          </a:p>
          <a:p/>
          <a:p>
            <a:r>
              <a:t>The slide title is: Day 1 Review and Closure.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NoSQL landscape and a working instance.</a:t>
            </a:r>
          </a:p>
          <a:p/>
          <a:p>
            <a:r>
              <a:t>Bullet 2 on the slide: Documents designed around access patterns.</a:t>
            </a:r>
          </a:p>
          <a:p/>
          <a:p>
            <a:r>
              <a:t>Bullet 3 on the slide: training_store ready for querying.</a:t>
            </a:r>
          </a:p>
          <a:p/>
          <a:p>
            <a:r>
              <a:t>The figure on this slide is titled: Day 1 path from landscape to populated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Transition to Module 4.</a:t>
            </a:r>
          </a:p>
          <a:p/>
          <a:p>
            <a:r>
              <a:t>The slide title is: Transition to Module 4.</a:t>
            </a:r>
          </a:p>
          <a:p/>
          <a:p>
            <a:r>
              <a:t>The slide says: Module 4 uses training_store to teach:.</a:t>
            </a:r>
          </a:p>
          <a:p/>
          <a:p>
            <a:r>
              <a:t>The slide says: Keep tomorrow’s laptop on the same connection string.</a:t>
            </a:r>
          </a:p>
          <a:p/>
          <a:p>
            <a:r>
              <a:t>Bullet 1 on the slide: find() and findOne().</a:t>
            </a:r>
          </a:p>
          <a:p/>
          <a:p>
            <a:r>
              <a:t>Bullet 2 on the slide: Query filters and operators.</a:t>
            </a:r>
          </a:p>
          <a:p/>
          <a:p>
            <a:r>
              <a:t>Bullet 3 on the slide: Projection.</a:t>
            </a:r>
          </a:p>
          <a:p/>
          <a:p>
            <a:r>
              <a:t>Bullet 4 on the slide: Array queries.</a:t>
            </a:r>
          </a:p>
          <a:p/>
          <a:p>
            <a:r>
              <a:t>Bullet 5 on the slide: Sort, limit, count.</a:t>
            </a:r>
          </a:p>
          <a:p/>
          <a:p>
            <a:r>
              <a:t>Bullet 6 on the slide: Insert, update, replace, delete.</a:t>
            </a:r>
          </a:p>
          <a:p/>
          <a:p>
            <a:r>
              <a:t>Bullet 7 on the slide: Update operators.</a:t>
            </a:r>
          </a:p>
          <a:p/>
          <a:p>
            <a:r>
              <a:t>Bullet 8 on the slide: Precise, safe data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Data Modeling with MongoDB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Effective MongoDB schemas are designed around how an application reads, writes, and changes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Databases, Collections &amp;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BSON &amp; Data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Access-Pattern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Embedding vs Referencing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4624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Common Modeling Mistakes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015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015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7186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YOU WILL BE ABLE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4202"/>
            <a:ext cx="11247120" cy="30765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Interpret MongoDB document structures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Select appropriate BSON types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Identify common access patterns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Model relationships with embedding or references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Control document and array growth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Apply schema-validation rules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Design the course sample application 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8019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801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619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4244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Data modeling determines how application data will be organized, stored, connected and retrieved.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47781"/>
            <a:ext cx="1124712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In a relational database, design commonly begins with entities, tables and normalization. In MongoDB, design should begin with the application’s most important operations: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99542"/>
            <a:ext cx="11247120" cy="1777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What information is read together?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What information is updated together?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Which queries run most frequently?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How large can each record become?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Which relationships are one-to-one, one-to-many or many-to-many?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68587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The central principle is: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Data that is accessed together should usually be stored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INTRODUCTION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8690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869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686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095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For this module, we will use the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e-commerce application with four business areas: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76366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Products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Customers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Orders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Reviews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DATABASES, COLLECTIONS AND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MongoDB organizes data using the following hierarchy: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13460"/>
            <a:ext cx="3840480" cy="30510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904900"/>
            <a:ext cx="3584448" cy="2886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MongoDB deployment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└── Database: 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├── Collection: products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├── Collection: customers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├── Collection: orders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└── Collection: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286741"/>
            <a:ext cx="7242810" cy="454054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96266"/>
            <a:ext cx="7223760" cy="45214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082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82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899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922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database is a logical container for related collections.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240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command selects the database. MongoDB physically creates it after data is written.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678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Check the current database: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37944"/>
            <a:ext cx="555040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629384"/>
            <a:ext cx="5294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537944"/>
            <a:ext cx="555040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629384"/>
            <a:ext cx="5294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0019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001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819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246"/>
            <a:ext cx="1124712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 collection contains related documents. It is approximately comparable to a relational table, although documents in a collection can have flexible structures.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12833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Examples: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39668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Create a collection explicitly: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66503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MongoDB can also create it implicitly: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3338"/>
            <a:ext cx="5550408" cy="6705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84778"/>
            <a:ext cx="5294376" cy="505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products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customers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orders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493338"/>
            <a:ext cx="5550408" cy="6705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584778"/>
            <a:ext cx="5294376" cy="505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db.createCollection("products")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COLLECTION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7279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27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5450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5683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If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customers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does not exist, MongoDB creates it during the insertion.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26970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418410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db.customers.insertOne({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firstName: "Aman",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lastName: "Singh"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 document is a set of field-value pairs. It represents a business object such as one product, customer or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300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 document is comparable to a relational row, but it can also contain: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3248"/>
            <a:ext cx="11247120" cy="1561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Nested objects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Arrays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Objects inside arrays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Arrays inside objects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Different fields from other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05808"/>
            <a:ext cx="11247120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97248"/>
            <a:ext cx="1099108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price: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stock: 120,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active: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8772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877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943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177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field is a named piece of information inside a document: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4190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Here,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are fields.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12036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703476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price: NumberDecimal("39.99")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THE _ID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16789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1678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98501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0083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Every MongoDB document must have a unique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7780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If the application does not supply one, MongoDB normally generates an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ObjectId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9472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The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field: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91666"/>
            <a:ext cx="11247120" cy="1084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Uniquely identifies a document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Has a unique index automatically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Cannot be changed after insertion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Can contain an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ObjectId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string, number or another suitable unique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67958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59398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_id: ObjectId("68f100a93e43...")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COMMON BSON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58703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5870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40415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2751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MongoDB stores documents using BSON, or Binary JSON. BSON supports JSON-style structures plus additional data types.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239694"/>
          <a:ext cx="11247120" cy="3342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535"/>
                <a:gridCol w="4148260"/>
                <a:gridCol w="4627325"/>
              </a:tblGrid>
              <a:tr h="303862"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Type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Example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Typical use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"Electronics"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Names and descriptions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Integer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120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Quantity and counters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Decimal128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NumberDecimal("39.99")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Financial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Double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4.7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Measurements and approximate values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Status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ISODate("2026-09-22T10:00:00Z")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Dates and timestamps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ObjectId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ObjectId("...")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Document identifiers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Array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["wireless", "mouse"]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Multiple values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Embedded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{ city: "Brampton" 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Structured nested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Null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null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Known but absent values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EXAMPLE WITH SEVERAL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5796"/>
            <a:ext cx="11247120" cy="419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507236"/>
            <a:ext cx="10991088" cy="4026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price: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stock: 120,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createdAt: ISODate("2026-09-22T10:00:00Z"),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tags: ["wireless", "computer-accessory"],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specifications: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connection: "Bluetooth",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colour: "Black",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rechargeable: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SELECTING APPROPRIATE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8898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889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7069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3032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Use types that represent the business meaning accurately.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7968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For 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8208"/>
            <a:ext cx="3840480" cy="818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These strings make calculations, comparisons and sorting more difficult.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97840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Better choices are: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38080"/>
            <a:ext cx="1847088" cy="9052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629520"/>
            <a:ext cx="1591056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// Poor choices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"39.99",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stock: "120",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active: "yes",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createdAt: "September 22, 2026"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538080"/>
            <a:ext cx="1847088" cy="9052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629520"/>
            <a:ext cx="1591056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stock: 120,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createdAt: ISODate("2026-09-22T10:00:00Z")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1546284"/>
            <a:ext cx="7242809" cy="402146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55809"/>
            <a:ext cx="7223759" cy="400241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SELECTING APPROPRIATE TYPES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92143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14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9031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547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For currency,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Decimal128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often preferable to floating-point values because it avoids many binary floating-point precision issues.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1: IDENTIFY BUSINESS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0265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026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43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670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MongoDB has a flexible schema, but flexible does not mean unplanned.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683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good schema supports the application’s common reads and writes efficiently.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697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the main entities are: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97102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988542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Product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Customer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Order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2: IDENTIFY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70760"/>
            <a:ext cx="3840480" cy="24810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362200"/>
            <a:ext cx="3584448" cy="231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Customer 1 ─── places ─── many Orders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Customer 1 ─── writes ─── many Reviews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Product  1 ─── receives ─ many Reviews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Order    1 ─── contains ─ many Order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71035" y="1756572"/>
            <a:ext cx="7242809" cy="36008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66097"/>
            <a:ext cx="7223759" cy="35818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3: IDENTIFY IMPORTANT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991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99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162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396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Common access patterns might include: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4204"/>
            <a:ext cx="11247120" cy="3076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Find a product by SKU.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Browse products by category.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Search products within a price range.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Display one customer’s profile and addresses.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Display one order with all purchased items.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Show a customer’s order history.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Display reviews for one product.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Calculate the average product rating.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Update product inventory.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Change an order’s status.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216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These operations should influence the document structures.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4: ESTIMATE DATA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588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588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405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2868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Ask: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69703"/>
            <a:ext cx="11247120" cy="2383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How many addresses can one customer have?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How many items can one order contain?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How many reviews can one product receive?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Does the related data grow without a practical limit?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How frequently does it change?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Could the document approach MongoDB’s document-size limit?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4913"/>
            <a:ext cx="1124712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 small, bounded list may be embedded. A large or continuously growing list is usually better stored separately.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PRODUCT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268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268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1439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6730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Different product categories can contain different specifications.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57422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An electronics product: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7554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book: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97686"/>
            <a:ext cx="3840480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89126"/>
            <a:ext cx="358444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price: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stock: 120,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specifications: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connection: "Bluetooth",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colour: "Black",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rechargeable: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2006511"/>
            <a:ext cx="7242810" cy="310101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6036"/>
            <a:ext cx="7223760" cy="3081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PRODUCT SCHEMA DESIGN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9599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959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21311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364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Both documents belong in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but their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specifications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0590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This design works when: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7533"/>
            <a:ext cx="11247120" cy="1084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All documents represent products.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application shares common operations across them.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Category-specific attributes vary.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common fields remain consistent.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9382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Avoid inconsistent names such as: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90768"/>
            <a:ext cx="11247120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082208"/>
            <a:ext cx="1099108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sku: "BOOK-2001",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name: "MongoDB Fundamentals",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category: "Books",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price: NumberDecimal("49.99"),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stock: 75,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specifications: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author: "A. Singh",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isbn: "978-1234567890",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pages: 420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PRODUCT SCHEMA DESIGN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1851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85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002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025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Prefer: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72690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464130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// Inconsistent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{ productName: "Mouse"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{ item_name: "Keyboard"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{ title: "Monitor"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372690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464130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{ name: "Mouse"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{ name: "Keyboard"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{ name: "Monitor"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EMBEDDING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4298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MongoDB represents relationships using two primary approaches: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4054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Embedding related information inside a document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Referencing documents stored in another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64186"/>
            <a:ext cx="3840480" cy="4298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Embedding stores related data inside its parent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85472"/>
            <a:ext cx="384048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Example customer with embedded addresses: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39118"/>
            <a:ext cx="384048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This works well because: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92764"/>
            <a:ext cx="3840480" cy="24140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3984204"/>
            <a:ext cx="3584448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firstName: "Aman",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lastName: "Singh",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email: "aman@example.com",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addresses: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type: "home",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street: "100 Main Street",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city: "Brampton",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province: "ON",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postalCode: "L6X 1A1"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type: "work",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street: "200 King Street",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city: "Toronto",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province: "ON",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postalCode: "M5H 1B5"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1035" y="1505797"/>
            <a:ext cx="7242810" cy="4102437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15322"/>
            <a:ext cx="7223760" cy="408338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EMBEDDING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07591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0759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30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91639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Addresses belong to the customer.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A customer normally has a limited number of addresses.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The profile and addresses are commonly displayed together.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An address does not need to exist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4743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### Advantages of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8389"/>
            <a:ext cx="11247120" cy="112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Retrieves related data in one query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Avoids joins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Supports atomic updates within one document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Matches application objects naturally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Can improve read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67979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### Limitations of 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21625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Can duplicate shared information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May produce large documents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Is unsuitable for unbounded arrays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Can make independent updates less convenient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5003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00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17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407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Referencing stores related data in separate collections and connects documents using identifiers.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394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Customer: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96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Review: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79754"/>
            <a:ext cx="11247120" cy="19110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871194"/>
            <a:ext cx="10991088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_id: ObjectId("66a100000000000000000001"),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firstName: "Aman",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lastName: "Singh",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email: "aman@example.com"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REFERENCING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 review refers to the customer and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300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### Advantages of referencing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3248"/>
            <a:ext cx="11247120" cy="1561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Avoids excessive duplication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Supports independently changing data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Works well for many-to-many relationships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Handles large and growing relationships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Keeps individual documents smaller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05808"/>
            <a:ext cx="11247120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97248"/>
            <a:ext cx="1099108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productId: ObjectId("65a100000000000000000001"),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customerId: ObjectId("66a100000000000000000001"),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rating: 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comment: "Easy to use and very responsive.",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createdAt: ISODate("2026-09-22T10:00:00Z")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REFERENCING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5454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5454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3625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3859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### Limitations of referencing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726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May require multiple queries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May require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aggregation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Makes application logic more complex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Cross-document operations may require transactions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HOW TO CHOOSE BETWEEN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35771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357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74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19819"/>
          <a:ext cx="11247120" cy="354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2006"/>
                <a:gridCol w="2092601"/>
                <a:gridCol w="4482513"/>
              </a:tblGrid>
              <a:tr h="354505"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Consideration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Embed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Reference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Data is normally read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Possibly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Related data is small and bounded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Not required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Child belongs only to one parent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Possibly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Related data grows continuously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Related data is shared by many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Related data changes independently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Sometimes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One-query retrieval is important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Requires lookup or another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Duplication would be substantial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Atomic update is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Strong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May require a 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56309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 practical rule is: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HOW TO CHOOSE BETWEEN THEM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Embed bounded data that belongs to the parent; reference independent, shared or unbounded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MODELING ORDERS: A HYBRID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9989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98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8160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83942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Orders demonstrate that embedding and referencing can be used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4634"/>
            <a:ext cx="3840480" cy="281635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016074"/>
            <a:ext cx="358444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orderNumber: "ORD-2026-1001",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customerId: ObjectId("66a100000000000000000001"),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items: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productId: ObjectId("65a100000000000000000001"),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unitPrice: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quantity: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shippingAddress: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street: "100 Main Street",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city: "Brampton",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province: "ON",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postalCode: "L6X 1A1"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status: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total: NumberDecimal("79.98"),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ISODate("2026-09-22T10:00:00Z")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575979"/>
            <a:ext cx="7242810" cy="396207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85504"/>
            <a:ext cx="7223760" cy="394302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MODELING ORDERS: A HYBRID APPROACH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3806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380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97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1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model uses: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2240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 reference to the customer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 reference to each product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Embedded order items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Embedded shipping address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Copied product name, SKU and 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WHY COPY PRODUCT INFORMATION?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8365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836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653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770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product name or price might change later. An order should preserve the values that were applicable when the purchase occurred.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311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If the current product price changes from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$39.99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to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$44.99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the historical order should still show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$39.99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7853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controlled duplication is called a snapshot or historical pattern.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TREATING COLLECTIONS EXACTLY LIKE RELATIONAL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92143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14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9031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547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Creating separate collections for every small component can force the application to reconstruct objects using numerous queries.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EMBEDDING AN UNBOUNDED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496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496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0667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9010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 a product document containing every review: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4422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Store reviews in a separate collection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19834"/>
            <a:ext cx="3840480" cy="219608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611274"/>
            <a:ext cx="3584448" cy="2031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reviews: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// Could eventually contain millions of elements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035" y="1379895"/>
            <a:ext cx="7242809" cy="435424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89420"/>
            <a:ext cx="7223759" cy="433519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STORING FREQUENTLY CHANGING SHARED DATA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75379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537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3550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37838"/>
            <a:ext cx="1124712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Duplicating a customer’s current profile in thousands of active records makes updates difficult. Duplicate only the fields that need to remain as a historical snapshot.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USING INCONSISTENT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2008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0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0179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132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74264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Choose one structure and apply it consistently.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79676"/>
            <a:ext cx="384048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871116"/>
            <a:ext cx="358444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 price: 39.99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 price: "39.99"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 price: { amount: 39.99 }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4673" y="1160907"/>
            <a:ext cx="6575534" cy="479221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198" y="1170432"/>
            <a:ext cx="6556484" cy="47731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DESIGNING WITHOUT CONSIDERING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92143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14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9031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547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technically valid document model can still perform poorly if it does not support common queries and indexes.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1: SELECT THE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079699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171139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2: REMOVE PREVIOUS LAB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8772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877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943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177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Only run this in a disposable training database: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4190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result of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simply means the collection did not exist.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12036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703476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db.products.drop()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db.customers.drop()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db.orders.drop()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db.reviews.drop()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3: CREATE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1851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85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002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025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Verify: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72690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464130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db.createCollection("products")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db.createCollection("customers")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db.createCollection("orders")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db.createCollection("reviews")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372690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464130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show collections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POPULATE THE PRODUCTS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774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774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946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7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To make later references easy, the lab uses predetermined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ObjectId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192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Insert the products: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42060"/>
            <a:ext cx="11247120" cy="24810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133500"/>
            <a:ext cx="10991088" cy="231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const mouseId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ObjectId("65a100000000000000000001");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const keyboardId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ObjectId("65a100000000000000000002");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const bookId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ObjectId("65a100000000000000000003");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POPULATE THE PRODUCTS COLLECTION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9132"/>
            <a:ext cx="5550408" cy="27157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290572"/>
            <a:ext cx="5294376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db.products.insertMany([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mouseId,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120,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tags: ["wireless", "mouse", "accessory"],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specifications: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connection: "Bluetooth",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colour: "Black",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rechargeable: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createdAt: ISODate("2026-09-20T09:00:00Z")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keyboardId,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sku: "ELEC-1002",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"Mechanical Keyboard",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NumberDecimal("89.99"),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45,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active: true,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2199132"/>
            <a:ext cx="5550408" cy="27157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290572"/>
            <a:ext cx="5294376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tags: ["keyboard", "mechanical", "accessory"],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specifications: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connection: "USB-C",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switchType: "Tactile",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backlit: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createdAt: ISODate("2026-09-20T09:05:00Z")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bookId,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sku: "BOOK-2001",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"MongoDB Fundamentals",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category: "Books",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NumberDecimal("49.99"),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75,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tags: ["mongodb", "database", "nosql"],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specifications: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author: "A. Singh",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isbn: "978-1234567890",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pages: 420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createdAt: ISODate("2026-09-20T09:10:00Z")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POPULATE THE CUSTOMERS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4523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452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269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927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Create customer identifiers: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94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Insert customers with embedded addresses: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69542"/>
            <a:ext cx="11247120" cy="16261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560982"/>
            <a:ext cx="10991088" cy="1461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const amanId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ObjectId("66a100000000000000000001");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const priyaId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ObjectId("66a100000000000000000002");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POPULATE THE CUSTOMERS COLLECTION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9132"/>
            <a:ext cx="5550408" cy="27157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290572"/>
            <a:ext cx="5294376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db.customers.insertMany([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amanId,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firstName: "Aman",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lastName: "Singh",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email: "aman@example.com",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phone: "+1-905-555-0101",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addresses: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type: "home",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street: "100 Main Street",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city: "Brampton",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province: "ON",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postalCode: "L6X 1A1",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country: "Canada",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default: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createdAt: ISODate("2026-09-21T12:00:00Z")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priyaId,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firstName: "Priya",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lastName: "Sharma",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email: "priya@example.com",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2199132"/>
            <a:ext cx="5550408" cy="271576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290572"/>
            <a:ext cx="5294376" cy="2551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phone: "+1-416-555-0102",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addresses: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type: "home",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street: "250 Lake Road",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city: "Toronto",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province: "ON",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postalCode: "M5V 2T6",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country: "Canada",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default: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type: "work",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street: "80 King Street",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city: "Toronto",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province: "ON",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postalCode: "M5H 1J9",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country: "Canada",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default: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createdAt: ISODate("2026-09-21T12:10:00Z")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POPULATE THE ORDERS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97380"/>
            <a:ext cx="5550408" cy="33192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988820"/>
            <a:ext cx="5294376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db.orders.insertMany([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orderNumber: "ORD-2026-1001",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customerId: amanId,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items: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productId: mouseId,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productName: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unitPrice: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quantity: 2,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lineTotal: NumberDecimal("79.98")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shippingAddress: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street: "100 Main Street",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city: "Brampton",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province: "ON",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postalCode: "L6X 1A1",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country: "Canada"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status: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subtotal: NumberDecimal("79.98"),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tax: NumberDecimal("10.40"),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total: NumberDecimal("90.38"),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orderedAt: ISODate("2026-09-22T10:00:00Z")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orderNumber: "ORD-2026-1002",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customerId: priyaId,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items: [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897380"/>
            <a:ext cx="5550408" cy="33192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1988820"/>
            <a:ext cx="5294376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productId: keyboardId,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sku: "ELEC-1002",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productName: "Mechanical Keyboard",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unitPrice: NumberDecimal("89.99"),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quantity: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lineTotal: NumberDecimal("89.99")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productId: bookId,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sku: "BOOK-2001",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productName: "MongoDB Fundamentals",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unitPrice: NumberDecimal("49.99"),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quantity: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lineTotal: NumberDecimal("49.99")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shippingAddress: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street: "250 Lake Road",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city: "Toronto",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province: "ON",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postalCode: "M5V 2T6",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country: "Canada"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status: "Processing",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subtotal: NumberDecimal("139.98"),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tax: NumberDecimal("18.20"),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total: NumberDecimal("158.18"),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orderedAt: ISODate("2026-09-22T11:30:00Z")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POPULATE THE REVIEWS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4122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412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229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52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Reviews are stored separately because their number can grow continuously.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5400"/>
            <a:ext cx="11247120" cy="36042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286840"/>
            <a:ext cx="10991088" cy="34396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db.reviews.insertMany([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productId: mouseId,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customerId: amanId,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rating: 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title: "Excellent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comment: "Easy to use and very responsive.",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verifiedPurchase: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createdAt: ISODate("2026-09-22T14:00:00Z")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productId: keyboardId,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customerId: priyaId,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rating: 4,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title: "Comfortable keyboard",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comment: "Good typing experience and build quality.",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verifiedPurchase: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createdAt: ISODate("2026-09-22T15:00:00Z")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productId: bookId,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customerId: priyaId,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rating: 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title: "Clear introduction",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comment: "The examples are practical and easy to follow.",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verifiedPurchase: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createdAt: ISODate("2026-09-22T15:15:00Z")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COUNT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72809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280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4521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6857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Expected results: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397097"/>
          <a:ext cx="3840480" cy="177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107"/>
                <a:gridCol w="2363373"/>
              </a:tblGrid>
              <a:tr h="354505"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Collection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Expected count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customers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reviews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261062"/>
            <a:ext cx="3840480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352502"/>
            <a:ext cx="3584448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db.products.countDocuments()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db.customers.countDocuments()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db.orders.countDocuments()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db.reviews.countDocuments()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035" y="1370303"/>
            <a:ext cx="7242809" cy="437342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9828"/>
            <a:ext cx="7223759" cy="43543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FIND ELECTRONICS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40736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932176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 category: "Electronics"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 name: 1, price: 1, stock: 1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FIND PRODUCTS BELOW $50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83230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074670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price: { $lt: NumberDecimal("50.00")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QUERY AN EMBEDDED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0515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0515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8686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89198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Find customers who have an address in Brampton: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94610"/>
            <a:ext cx="384048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586050"/>
            <a:ext cx="358444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"addresses.city": "Brampton"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891487"/>
            <a:ext cx="7242810" cy="333105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01012"/>
            <a:ext cx="7223760" cy="331200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QUERY AN EMBEDDED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0515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0515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8686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89198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Find orders containing the wireless mouse: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94610"/>
            <a:ext cx="384048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586050"/>
            <a:ext cx="358444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"items.productId": mouseId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556498"/>
            <a:ext cx="7242810" cy="40010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66023"/>
            <a:ext cx="7223760" cy="398198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FIND ONE CUSTOMER’S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83230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074670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customerId: amanId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FIND REVIEWS FOR A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83230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074670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db.reviews.find({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productId: mouseId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JOIN REFERENCED DATA WITH $LOOKUP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Retrieve reviews with product information: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This operation shows the tradeoff of referencing: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related data remains independent, but combining it requires another query or an aggregation join.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48312"/>
            <a:ext cx="11247120" cy="291693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139752"/>
            <a:ext cx="10991088" cy="2752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db.reviews.aggregate([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productId: mouseId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$lookup: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from: "products",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localField: "productId",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foreignField: "_id",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as: "product"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$unwind: "$product"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productName: "$product.name",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rating: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title: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comment: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RECOMMENDED INDEXES FOR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Indexes should follow the identified access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300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These indexes support: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3248"/>
            <a:ext cx="11247120" cy="1561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Product lookup by SKU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Product browsing by category and price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Customer lookup by email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Customer order history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Product review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05808"/>
            <a:ext cx="11247120" cy="23132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97248"/>
            <a:ext cx="10991088" cy="2148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db.products.createIndex(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1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unique: true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category: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db.customers.createIndex(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email: 1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unique: true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customerId: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db.reviews.createIndex({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productId: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createdAt: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REVIEW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7366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36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53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7716"/>
            <a:ext cx="11247120" cy="350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Why are customer addresses embedded?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Why are product reviews stored separately?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Why does an order contain both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productName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What would happen to old orders if the product price changed?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Should order items be placed in a separate collection?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Which field types should be used for money and dates?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Which queries require references to be resolved?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Which arrays are bounded, and which could grow indefinitely?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SUGGESTED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4510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451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268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9152"/>
            <a:ext cx="11247120" cy="3766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Addresses are bounded and normally retrieved with their customer.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Reviews can grow indefinitely and exist as independent records.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productId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identifies the product, while the copied name preserves order history.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The historical order price remains unchanged.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Normally, order items should remain embedded because they belong to one order and are retrieved with it.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Decimal128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for precise monetary values and BSON dates for timestamps.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Orders-to-customers and reviews-to-products require separate queries or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Customer addresses and order items are normally bounded; product reviews may be unbounded.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5141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514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6853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189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After completing this module, learners should be able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7300"/>
            <a:ext cx="3840480" cy="3188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Explain databases, collections, documents and fields.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Select appropriate BSON data types.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Identify application access patterns.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Model one-to-one, one-to-many and many-to-many relationships.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Choose between embedding and referencing.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Apply a hybrid model where appropriate.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Populate a connected MongoDB dataset.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Query embedded and referenced information.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Create initial indexes around important access patterns.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035" y="2164784"/>
            <a:ext cx="7242810" cy="27844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74309"/>
            <a:ext cx="7223760" cy="27654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3.1 — INSPECT A BSON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4294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4294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2465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992"/>
            <a:ext cx="11247120" cy="7680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72712"/>
            <a:ext cx="110276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711040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CE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711040"/>
            <a:ext cx="8321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7C7B"/>
                </a:solidFill>
                <a:latin typeface="Nirmala UI"/>
              </a:rPr>
              <a:t>10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90472" y="27110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711040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1282E"/>
                </a:solidFill>
                <a:latin typeface="Nirmala UI"/>
              </a:rPr>
              <a:t>instructor mongosh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8652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Identify live: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strings, numbers, Boolean, Date, array, nested document.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566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If the collection is empty, insert the anatomy example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26792"/>
            <a:ext cx="11247120" cy="7711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4418232"/>
            <a:ext cx="10991088" cy="606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db.products.findOne()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3.1 — IDENTIFY DOCUMENT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3301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30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147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7058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10 minutes · pairs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Label every shape on the sample customer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Then list candidate required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531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531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45927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4592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2763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9975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29975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76151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0814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Label identifier, scalars, and the nested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40145"/>
            <a:ext cx="11247120" cy="586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sample document, mark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every scalar field (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customerNumber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email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), and the embedded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document. Write one sentence: what does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guarantee inside a collection?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is the unique identifier.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customerNumber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email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are scalars.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is an embedded document with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first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last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1785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Label array, Boolean, date, and required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4985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Mark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as an array,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as a Boolean,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as a Date. Then list candidate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required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fields for every customer document in this collection.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You named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correctly. Required-field candidates typically include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(always),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customerNumber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email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or contact,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7668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08683"/>
            <a:ext cx="11247120" cy="586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Mark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as an array,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as a Boolean,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as a Date. Then list candidate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required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fields for every customer document in this collection.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You named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correctly. Required-field candidates typically include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customerNumber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contact,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3.2 — COMPARE RELATIONAL AND DOCUMENT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254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254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0426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0659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0659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DURATION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77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Show five tables: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customers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order_items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addresses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5818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Then one **order document**: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customer reference, embedded items, shipping snapshot, status, total.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59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66359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OUTCOME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modeling focuses on aggregates and access patterns, not on 1:1 table copies.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3.2 — DISCOVER ACCESS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3301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30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147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7058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 · requirements analysis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E-commerce: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search, PDP, profile, orders, reviews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Fill frequency, required data, modeling implication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531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531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09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09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026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0496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0496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1142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4788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000000"/>
                </a:solidFill>
                <a:latin typeface="Nirmala UI"/>
              </a:rPr>
              <a:t>Step 1 — List the high-frequency 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8434"/>
            <a:ext cx="11247120" cy="646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 Name the three operations you expect to run most often. For each, write the data that must come back in one user-facing response.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 Typical high-frequency reads: find product by SKU (full product), retrieve order by order number (items, totals, address, status), load customer profile (name,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96206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000000"/>
                </a:solidFill>
                <a:latin typeface="Nirmala UI"/>
              </a:rPr>
              <a:t>Step 2 — Fill the access-pattern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49852"/>
            <a:ext cx="11247120" cy="646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 Complete at least four rows: | Access pattern | Frequency | Required data | Modeling implication | |----------------|----------:|---------------|----------------------| | Find product by SKU | High | Product details | Si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 Each row names frequency, the fields returned together, and whether that implies embed, reference, or a snapshot.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87624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10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4127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 Complete at least four rows:.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 Each row names frequency, the fields returned together, and whether that implies embed, reference, or a snapshot.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3.3 — MODEL AN E-COMMERCE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144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144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316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49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6549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DURATION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1672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000000"/>
                </a:solidFill>
                <a:latin typeface="Nirmala UI"/>
              </a:rPr>
              <a:t>Access pattern: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*Retrieve a complete order by order number.*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51912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Build live: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152"/>
            <a:ext cx="11247120" cy="216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Order identity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Customer reference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Embedded items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Purchase-time price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Shipping-address snapshot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Status and timestamps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Monetary totals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3.4 — EMBED AND REFERENCE RELATED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3961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396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213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3660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Address on customer → embed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Orders for a customer → reference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Items on an order → embed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Reviews for a product → 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3.3 — EMBED OR REFERENCE?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3301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30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147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7058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 · eight relationships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Justify with ownership, cardinality, growth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Only office address is a true ‘it depends’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531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531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042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04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21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9447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9447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065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5944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1 — Decide relationships 1–4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38"/>
            <a:ext cx="11247120" cy="706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For each, write Embed or Reference and a one-line why (ownership, size, or growth). 1. Customer’s primary contact information 2. Customer’s complete order history 3. Order line items 4. Product’s millions of reviews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(1) Embed (2) Reference (3) Embed (4) Reference. The justification mentions bound vs unbounded, not only “it feels nested.”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8907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2 — Decide relationships 5–8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64364"/>
            <a:ext cx="11247120" cy="890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Repeat for: 5. Employee’s office address 6. Blog post tags 7. Purchase-time product price 8. Account’s complete transaction history Then compare with the instructor table.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(5) Embed or reference depending on reuse across employees (6) Embed (7) Embed as a snapshot (8) Reference. You can explain why (5) is the only “it depends.”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4660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3.4 — MODEL A PRODUCT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3301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30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147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7058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 · laptop, shoe, book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Same core fields, different attributes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531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531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3.4 — FLEXIBLE PRODUCT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Laptop, shoe, book — one collection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Identical core field names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Type-specific data under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attributes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042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04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21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9447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9447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065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5944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1 — Design the shared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38"/>
            <a:ext cx="11247120" cy="706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List the common field names and BSON types (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string,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Decimal128,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Boolean,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Date). Decide whether category-specific fields live at the top level or under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attributes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One core field list used by all three products. You did not invent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productPrice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on one document and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on another.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8907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2 — Write three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64364"/>
            <a:ext cx="11247120" cy="890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Draft one laptop, one shoe, and one book in the same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collection. Keep the core identical. Put type-specific data in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attributes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(or an equivalent nested object).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Three documents that a later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find({ category: "LAPTOP" })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find({ "attributes.isbn": ... })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could use. Category-specific fields do not appear as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4660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3.5 — MODEL AN ORDER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3301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330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147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17058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20 minutes · one aggregate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Find by order number; list by customer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Preserve purchase-time prices and ship-to address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5313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5313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3.5 — BUILD AN ORDER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Reference the customer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Embed items, prices, and ship-to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That is the Lab 3.4 shape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042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04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21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9447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9447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065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5944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1 — Decide embed versus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38"/>
            <a:ext cx="11247120" cy="706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Write four decisions: line items, purchase-time price, shipping address, customer. Mark which of those are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historical snapshots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Items, prices, and shipping address are embedded snapshots. Customer is a reference (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). Current product catalog is not copied in full.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8907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2 — Write the document and required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64364"/>
            <a:ext cx="11247120" cy="890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Draft one order document including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items[]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(sku, name, quantity, unitPrice),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shippingAddress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statuses, monetary totals as Decimal128, and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. List required fields.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A complete order JSON-like object plus a short justification: one read by order number, customer orders via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prices never silently follow the catal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4660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3.5 — CREATE A COLLECTION WITH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4794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4794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2965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3199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43199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DURATION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81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Create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products_validated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with required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category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48300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Insert a valid document → success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Insert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as a string → rejected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Read the validation error together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3.6 — EVOLVE A DOCUMENT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v1: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as Decimal128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v2: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price: { amount, currency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plus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schemaVersion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Keep old documents readable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3.6 — FIND AND CORRECT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 · flawed product document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String price, text Boolean, unbounded reviews, string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3.6 — FIND THE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87258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725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85429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5663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String price, text Boolean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Unbounded reviews, display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3.6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483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48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65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7887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7887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5054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00348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1 — Name the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75642"/>
            <a:ext cx="11247120" cy="706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List every issue you can see: types, growth, naming, identifier strategy.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Price stored as a string; Boolean stored as text; unbounded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allReviews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array; nonstandard date string; identifier is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productId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rather than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wi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73474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2 — Rewrite the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48768"/>
            <a:ext cx="11247120" cy="52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Produce a corrected document. Move reviews out (reference). Use Decimal128, Boolean, Date, and a clear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/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convention.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Something like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/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price: Decimal128("49.99")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active: true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createdAt: ISODate(...)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no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allReviews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array.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2196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3.8 — DESIGN COLLECTION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 ·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$jsonSchema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paper or in a scratch file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Required sku, name, category, price, active, createdAt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3.8 — DESIGN VALIDATION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87258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725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85429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5663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Six required fields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decimal price ≥ 0, bool,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3.8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985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98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815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3900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3900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30076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701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List required fields and bsonTypes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3962"/>
            <a:ext cx="11247120" cy="565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the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required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array and a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properties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map with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bsonType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for each field. Put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minimum: 0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Six required names.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decimal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(not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double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string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).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bool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date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8068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Assemble $jsonSchema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77631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Wrap the design in: javascript { $jsonSchema: { bsonType: "object", required: [ /* ... */ ], properties: { /* ... */ } } }  Note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validationAction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/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validationLevel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if you know them. You will apply a similar val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 complete validator object you could pass to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db.createCollection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Extra optional fields are still allowed.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3552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3.7 — SELECT A SCHEMA DESIGN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4949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49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31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54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 · match seven requirements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pattern each; then name a tradeoff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664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3664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3.7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926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92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09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31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31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949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643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Match the first four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3378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Assign a pattern to: - Sensor readings grouped by hour - Latest three product reviews - Stored average rating - Dynamic product specifications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Bucket, Subset, Computed, Attribute — in that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8127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Match the remaining three and debrief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78215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Assign a pattern to: - Customer name copied into an order - Rare products with extremely high review volume - Multiple product types in one collection Compare with the instructor answer key.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Extended reference, Outlier, Polymorphic. You can state one benefit and one tradeoff for any two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3610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SEQUENCE — BUILD TRAINING_STORE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session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Replace the Module 1 starter shape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This is the Day 2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582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582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754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987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7987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6052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0958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1 — Select the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126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use training_store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Prompt shows training_store.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2304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2 — Create the four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6577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createCollection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for products, customers, orders, reviews; then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show collections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All four names are listed. Existing collections from Module 1 are fine.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3.2 — PRODUCTS TO INSERT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7073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707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524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47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Shared core: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category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724912"/>
          <a:ext cx="112471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39"/>
                <a:gridCol w="1755648"/>
                <a:gridCol w="7914133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sku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notable attributes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L100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LAPTOP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processor, memoryGB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S200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SHOE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sizes, color, material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B300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author, isbn, 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9145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Full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insertMany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in the lab guide. Optionally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deleteMany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3.2 — PRODUCT DATASET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L100 laptop, S200 shoe, B300 book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Shared core +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attributes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Decimal128 prices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Clear previous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db.products.deleteMany({})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unless the instructor says to keep Module 1 docs.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countDocuments is 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Insert the three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 insertMany from the lab guide; then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db.products.find()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Three documents with nested attributes and Decimal128 prices.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Insert Aisha Khan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insertOne customer C101 with nested name, contact, one Toronto shipping address.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acknowledged true and an insertedId.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Verify by customer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db.customers.findOne({ customerNumber: "C101" })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You can point at name, contact, and addresses[0].city.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3.3 — CUSTOMER DATASET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C101 with nested name and contact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SHIPPING address in Toronto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Bounded array — not a collection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582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582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754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987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7987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3.4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6052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0958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1 — Load the customer and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93126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findOne C101 and sku L100 into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customer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product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 Confirm not null.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You will copy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into the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2304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2 — Insert the order and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6577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insertOne O5001 with customerId, item snapshot, address snapshot, Decimal128 totals.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findOne by orderNumber shows embedded items and a referenced customer.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3.4 — ORDER DATASET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a reference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Items and address are snapshots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Totals are Decimal128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3.5 — NESTED AND ARRAY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3029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302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120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434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Dot notation walks into nested documents and into arrays of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4476"/>
            <a:ext cx="11247120" cy="16261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275916"/>
            <a:ext cx="10991088" cy="1461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db.products.find({ category: "LAPTOP"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db.products.find({ "attributes.memoryGB": 16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db.products.find({ tags: "technology"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db.customers.find({ "addresses.city": "Toronto"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 "items.sku": "L100" 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3.5 — NESTED-FIELD QUERY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Dot notation walks nested objects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And into arrays of documents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Quotes around dotted keys matter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Query products by category and nested attribute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category LAPTOP, attributes.memoryGB 16, tags technology.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Laptop, laptop, 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Query nested customer address and order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addresses.city Toronto; items.sku L100.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C101 and O5001.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3.6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3.6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Create validated_products and insert a valid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createCollection with $jsonSchema; insert A100 with Decimal128, Boolean, Date.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Insert succeeds.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Attempt an invalid insert and read the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String price, active 'yes', missing createdAt. Read the write error.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Insert rejected; you can name the failed rules.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3.6 — VALIDATION TEST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Valid A100 insert succeeds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Invalid A101 is rejected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Read the error 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3.7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4285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28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599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2833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2833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3.7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450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134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 — Check togetherness, growth, and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817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Together? Arrays bounded? Money decimal? Timestamps dates?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Order aggregate together; addresses bounded; reviews separate.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4468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2 — Check relationships, snapshots, and naming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1524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Complete the lab checklist. Note one future improvement (often an index).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You can defend the model and you are ready for Module 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3.7 — DATA MODEL REVIEW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Togetherness, growth, types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Relationships, snapshots, names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Note one future improvement — often an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377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37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548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7820"/>
            <a:ext cx="3840480" cy="3789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Model around access patterns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Embed bounded owned data; reference the rest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Duplication can be intentional — snapshots often should not sync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Avoid unbounded arrays; validate the contract; plan evolution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164784"/>
            <a:ext cx="7242810" cy="27844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74309"/>
            <a:ext cx="7223760" cy="276541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707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70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87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1124"/>
            <a:ext cx="11247120" cy="368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Collection vs document?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What is BSON?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Purpose of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When is embedding appropriate?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When is referencing appropriate?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Why are unbounded arrays dangerous?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Maximum BSON document size?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Why copy product price onto an order?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What does schema validation enforce?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Pattern for time-based measurements?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Pattern that copies referenced fields?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Pattern that stores calculated results?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PRACTICAL CHALLENGE — SUPPORT TICKETS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25 minutes · design only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Embed summary, assignment, tags, recent comments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Separate unbounded comments and audit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3.9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042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04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21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94474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94474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3.9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065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5944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1 — Access patterns and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38"/>
            <a:ext cx="11247120" cy="706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List the main access patterns. Name the collections. Mark what is embedded vs referenced, and what could grow without bound.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Collections such as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tickets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customers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agents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comments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and/or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audit_events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. Recent comments and tags are bounded on the ticket. Full comment and 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8907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Step 2 — Sample document, validation, and 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64364"/>
            <a:ext cx="11247120" cy="890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Draft one ticket document with BSON types. List required fields for validation. Explain how complete audit history is stored. Name likely future indexes (do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not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create them yet).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A ticket with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ticketNumber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assignee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status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priority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recentComments[]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, timestamps. Validation requires those keys. Audit even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4660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11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5718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718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889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1229"/>
            <a:ext cx="11247120" cy="3942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Database vs collection vs document?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is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important?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JSON vs BSON?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What is an access pattern?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When to embed? When to reference?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are unbounded arrays dangerous?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duplicate product info on an order?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Purpose of collection validation?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How can a schema evolve safely?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Pattern for time-series? For calculated values?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343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34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515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748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Participants can: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4321"/>
            <a:ext cx="11247120" cy="316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Design a valid BSON document and choose types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Identify access patterns and relationship types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Justify embedding and referencing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Recognize unbounded arrays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Apply at least one named schema pattern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Create and populate related collections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Query embedded fields and arrays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Create basic collection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QUESTIONS AND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0184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018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8355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588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Open questions 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6020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Embed vs reference in *their* application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Snapshots vs live copies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Validation versus application rules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Which pattern they would apply on Monday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506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Park index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depth for Modules 4 and 6 unless a short answer unblocks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DAY 1 REVIEW AND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5317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531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3489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37226"/>
            <a:ext cx="3840480" cy="235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NoSQL landscape and a working instance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Documents designed around access patterns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ready for querying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1294973"/>
            <a:ext cx="7242810" cy="452408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04498"/>
            <a:ext cx="7223760" cy="45050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TRANSITION TO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3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6511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651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822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055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Module 4 uses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to teach: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096"/>
            <a:ext cx="11247120" cy="28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find()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findOne()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Query filters and operators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Projection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Array queries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Sort, limit, count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Insert, update, replace, delete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Update operators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Precise, safe data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272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Keep tomorrow’s laptop on the same connection string.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109</Slides>
  <Notes>109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