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Design before you insert</a:t>
            </a:r>
          </a:p>
          <a:p/>
          <a:p>
            <a:r>
              <a:t>  Module 2 gave everyone a running MongoDB and a first collection.</a:t>
            </a:r>
          </a:p>
          <a:p/>
          <a:p>
            <a:r>
              <a:t>  Module 3 is about deciding what the documents should look like before we insert many more of them.</a:t>
            </a:r>
          </a:p>
          <a:p/>
          <a:p>
            <a:r>
              <a:t>- The central principle</a:t>
            </a:r>
          </a:p>
          <a:p/>
          <a:p>
            <a:r>
              <a:t>  Data that is accessed together should usually be stored together.</a:t>
            </a:r>
          </a:p>
          <a:p/>
          <a:p>
            <a:r>
              <a:t>  Every decision in this module comes back to that sentence.</a:t>
            </a:r>
          </a:p>
          <a:p/>
          <a:p>
            <a:r>
              <a:t>- What this module does</a:t>
            </a:r>
          </a:p>
          <a:p/>
          <a:p>
            <a:r>
              <a:t>  We look inside documents and BSON types, discover access patterns, choose between embedding and referencing, learn the common patterns and anti-patterns, and finish with validation and the training_store labs.</a:t>
            </a:r>
          </a:p>
          <a:p/>
          <a:p>
            <a:r>
              <a:t>- End of Day 1</a:t>
            </a:r>
          </a:p>
          <a:p/>
          <a:p>
            <a:r>
              <a:t>  This is the last module of Day 1.</a:t>
            </a:r>
          </a:p>
          <a:p/>
          <a:p>
            <a:r>
              <a:t>  Tomorrow, Module 4 queries the database we model and populate today.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Most slow MongoDB applications are not slow because of the server.</a:t>
            </a:r>
          </a:p>
          <a:p/>
          <a:p>
            <a:r>
              <a:t>  They are slow because the documents were shaped like relational tables, so every page needs several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Walk through the seven objectives on the left.</a:t>
            </a:r>
          </a:p>
          <a:p/>
          <a:p>
            <a:r>
              <a:t>  Learners should be able to read a document's structure, pick the right BSON type for each value, and list the application's access patterns.</a:t>
            </a:r>
          </a:p>
          <a:p/>
          <a:p>
            <a:r>
              <a:t>  They should be able to model relationships by embedding or referencing, keep arrays bounded, apply a schema pattern and a validation rule, and build and query training_store.</a:t>
            </a:r>
          </a:p>
          <a:p/>
          <a:p>
            <a:r>
              <a:t>- Six questions this module answers</a:t>
            </a:r>
          </a:p>
          <a:p/>
          <a:p>
            <a:r>
              <a:t>  What is inside a document?</a:t>
            </a:r>
          </a:p>
          <a:p/>
          <a:p>
            <a:r>
              <a:t>  Which type fits each value?</a:t>
            </a:r>
          </a:p>
          <a:p/>
          <a:p>
            <a:r>
              <a:t>  How does the application use the data?</a:t>
            </a:r>
          </a:p>
          <a:p/>
          <a:p>
            <a:r>
              <a:t>  When do we embed, and when do we reference?</a:t>
            </a:r>
          </a:p>
          <a:p/>
          <a:p>
            <a:r>
              <a:t>  Which patterns and pitfalls matter?</a:t>
            </a:r>
          </a:p>
          <a:p/>
          <a:p>
            <a:r>
              <a:t>  And how do we enforce the model and build it?</a:t>
            </a:r>
          </a:p>
          <a:p/>
          <a:p>
            <a:r>
              <a:t>- Set the expectation</a:t>
            </a:r>
          </a:p>
          <a:p/>
          <a:p>
            <a:r>
              <a:t>  There is rarely one correct schema.</a:t>
            </a:r>
          </a:p>
          <a:p/>
          <a:p>
            <a:r>
              <a:t>  There is a schema that fits the access patterns, and we must be able to justify it.</a:t>
            </a:r>
          </a:p>
          <a:p/>
          <a:p>
            <a:r>
              <a:t>  The roadmap at the bottom shows the path through the five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training_store sample database.</a:t>
            </a:r>
          </a:p>
          <a:p/>
          <a:p>
            <a:r>
              <a:t>- Access pattern</a:t>
            </a:r>
          </a:p>
          <a:p/>
          <a:p>
            <a:r>
              <a:t>  One read or write the application runs often — it decides the document shape.</a:t>
            </a:r>
          </a:p>
          <a:p/>
          <a:p>
            <a:r>
              <a:t>- Embedding</a:t>
            </a:r>
          </a:p>
          <a:p/>
          <a:p>
            <a:r>
              <a:t>  Storing related data inside the parent document, like addresses inside a customer.</a:t>
            </a:r>
          </a:p>
          <a:p/>
          <a:p>
            <a:r>
              <a:t>- Referencing</a:t>
            </a:r>
          </a:p>
          <a:p/>
          <a:p>
            <a:r>
              <a:t>  Storing another document's _id instead of its data, like customerId in an order.</a:t>
            </a:r>
          </a:p>
          <a:p/>
          <a:p>
            <a:r>
              <a:t>- Cardinality</a:t>
            </a:r>
          </a:p>
          <a:p/>
          <a:p>
            <a:r>
              <a:t>  How many items sit on each side of a relationship: one, a few, many or millions.</a:t>
            </a:r>
          </a:p>
          <a:p/>
          <a:p>
            <a:r>
              <a:t>- Bounded array</a:t>
            </a:r>
          </a:p>
          <a:p/>
          <a:p>
            <a:r>
              <a:t>  An array with a known, small maximum size — an order's line items, not every review.</a:t>
            </a:r>
          </a:p>
          <a:p/>
          <a:p>
            <a:r>
              <a:t>- Snapshot</a:t>
            </a:r>
          </a:p>
          <a:p/>
          <a:p>
            <a:r>
              <a:t>  A copy taken at one moment and never synced, like the price paid on an order.</a:t>
            </a:r>
          </a:p>
          <a:p/>
          <a:p>
            <a:r>
              <a:t>- Schema pattern</a:t>
            </a:r>
          </a:p>
          <a:p/>
          <a:p>
            <a:r>
              <a:t>  A reusable modeling solution, such as Attribute, Subset, Computed or Bucket.</a:t>
            </a:r>
          </a:p>
          <a:p/>
          <a:p>
            <a:r>
              <a:t>- Schema validation</a:t>
            </a:r>
          </a:p>
          <a:p/>
          <a:p>
            <a:r>
              <a:t>  $jsonSchema rules on a collection that check required fields and types on 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BSON is Binary JSON; CAD is Canadian Dollar; CPU is Central Processing Unit; ID is Identifier; ISBN is International Standard Book Number; JSON is JavaScript Object Notation; MiB is Mebibyte (1,048,576 bytes); RAM is Random Access Memory; SKU is Stock Keeping Unit; SQL is Structured Query Language; USB is Universal Serial 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2</a:t>
            </a:r>
          </a:p>
          <a:p/>
          <a:p>
            <a:r>
              <a:t>  In Module 2 everyone installed or provisioned MongoDB, connected with mongosh, verified the environment and ran the first commands: use, createCollection, insertOne, find and countDocuments.</a:t>
            </a:r>
          </a:p>
          <a:p/>
          <a:p>
            <a:r>
              <a:t>- What those first documents lacked</a:t>
            </a:r>
          </a:p>
          <a:p/>
          <a:p>
            <a:r>
              <a:t>  The Module 2 starter products stored price as a plain number, 39.99, which mongosh saves as a Double, and had no shared design.</a:t>
            </a:r>
          </a:p>
          <a:p/>
          <a:p>
            <a:r>
              <a:t>  That was fine for checking the installation.</a:t>
            </a:r>
          </a:p>
          <a:p/>
          <a:p>
            <a:r>
              <a:t>  It is not how we want to store a real catalog.</a:t>
            </a:r>
          </a:p>
          <a:p/>
          <a:p>
            <a:r>
              <a:t>- What changes now</a:t>
            </a:r>
          </a:p>
          <a:p/>
          <a:p>
            <a:r>
              <a:t>  Module 3 designs the documents first.</a:t>
            </a:r>
          </a:p>
          <a:p/>
          <a:p>
            <a:r>
              <a:t>  Lab 2, Step 2, then replaces the starter products with the modeled catalog, so Day 2 starts from a deliberate design.</a:t>
            </a:r>
          </a:p>
          <a:p/>
          <a:p>
            <a:r>
              <a:t>- The path</a:t>
            </a:r>
          </a:p>
          <a:p/>
          <a:p>
            <a:r>
              <a:t>  Five parts: documents and types, access patterns, embed or reference, patterns and anti-patterns, and finally validation and the labs that build training_store.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Where we start</a:t>
            </a:r>
          </a:p>
          <a:p/>
          <a:p>
            <a:r>
              <a:t>  Module 1 introduced documents, collections and BSON.</a:t>
            </a:r>
          </a:p>
          <a:p/>
          <a:p>
            <a:r>
              <a:t>  Now we look at them as designers: what a document can hold, and how each value should be typed.</a:t>
            </a:r>
          </a:p>
          <a:p/>
          <a:p>
            <a:r>
              <a:t>- What this part answers</a:t>
            </a:r>
          </a:p>
          <a:p/>
          <a:p>
            <a:r>
              <a:t>  We read a real training_store product field by field, look at nested documents and arrays, choose BSON types, and see how one collection holds different products with a shared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Read it top to bottom</a:t>
            </a:r>
          </a:p>
          <a:p/>
          <a:p>
            <a:r>
              <a:t>  This is product L100 as mongosh prints it, trimmed: the real document also has screenSizeInches in attributes.</a:t>
            </a:r>
          </a:p>
          <a:p/>
          <a:p>
            <a:r>
              <a:t>  Each comment names the BSON type of the value.</a:t>
            </a:r>
          </a:p>
          <a:p/>
          <a:p>
            <a:r>
              <a:t>- Fields and values</a:t>
            </a:r>
          </a:p>
          <a:p/>
          <a:p>
            <a:r>
              <a:t>  A field is a named piece of information: sku, name, price.</a:t>
            </a:r>
          </a:p>
          <a:p/>
          <a:p>
            <a:r>
              <a:t>  A value can be a scalar such as a string or number, an embedded document such as attributes, or an array such as tags.</a:t>
            </a:r>
          </a:p>
          <a:p/>
          <a:p>
            <a:r>
              <a:t>- The _id field</a:t>
            </a:r>
          </a:p>
          <a:p/>
          <a:p>
            <a:r>
              <a:t>  Every document must have a unique _id.</a:t>
            </a:r>
          </a:p>
          <a:p/>
          <a:p>
            <a:r>
              <a:t>  If the application doesn't supply one, mongosh or the driver generates an ObjectId.</a:t>
            </a:r>
          </a:p>
          <a:p/>
          <a:p>
            <a:r>
              <a:t>  _id always has a unique index, and it can't be changed after the insert.</a:t>
            </a:r>
          </a:p>
          <a:p/>
          <a:p>
            <a:r>
              <a:t>  It may be an ObjectId, a string, a number or another unique value.</a:t>
            </a:r>
          </a:p>
          <a:p/>
          <a:p>
            <a:r>
              <a:t>- _id versus sku</a:t>
            </a:r>
          </a:p>
          <a:p/>
          <a:p>
            <a:r>
              <a:t>  training_store keeps the ObjectId as _id and uses sku as the business key.</a:t>
            </a:r>
          </a:p>
          <a:p/>
          <a:p>
            <a:r>
              <a:t>  load.js creates a unique index on sku, named sku_unique.</a:t>
            </a:r>
          </a:p>
          <a:p/>
          <a:p>
            <a:r>
              <a:t>- Databases and collections</a:t>
            </a:r>
          </a:p>
          <a:p/>
          <a:p>
            <a:r>
              <a:t>  use training_store selects the database; MongoDB creates it on the first write.</a:t>
            </a:r>
          </a:p>
          <a:p/>
          <a:p>
            <a:r>
              <a:t>  A collection can be created explicitly with db.createCollection, or implicitly by the first insert.</a:t>
            </a:r>
          </a:p>
          <a:p/>
          <a:p>
            <a:r>
              <a:t>  Lab 2, Step 1, creates all four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Nested documents</a:t>
            </a:r>
          </a:p>
          <a:p/>
          <a:p>
            <a:r>
              <a:t>  A field's value can be a whole document.</a:t>
            </a:r>
          </a:p>
          <a:p/>
          <a:p>
            <a:r>
              <a:t>  In training_store, a product's attributes and a customer's name and contact are embedded documents.</a:t>
            </a:r>
          </a:p>
          <a:p/>
          <a:p>
            <a:r>
              <a:t>- Arrays</a:t>
            </a:r>
          </a:p>
          <a:p/>
          <a:p>
            <a:r>
              <a:t>  An array holds several values in one field.</a:t>
            </a:r>
          </a:p>
          <a:p/>
          <a:p>
            <a:r>
              <a:t>  It can hold simple values, like a product's tags, or whole documents, like an order's line items or a customer's addresses.</a:t>
            </a:r>
          </a:p>
          <a:p/>
          <a:p>
            <a:r>
              <a:t>- Dot notation</a:t>
            </a:r>
          </a:p>
          <a:p/>
          <a:p>
            <a:r>
              <a:t>  Queries reach inside with dot notation, in quotes: "attributes.memoryGB" or "items.sku".</a:t>
            </a:r>
          </a:p>
          <a:p/>
          <a:p>
            <a:r>
              <a:t>  When the path crosses an array, MongoDB checks every element.</a:t>
            </a:r>
          </a:p>
          <a:p/>
          <a:p>
            <a:r>
              <a:t>  Lab 2, Step 5, practises this, and Module 4 goes deeper.</a:t>
            </a:r>
          </a:p>
          <a:p/>
          <a:p>
            <a:r>
              <a:t>- What it shows</a:t>
            </a:r>
          </a:p>
          <a:p/>
          <a:p>
            <a:r>
              <a:t>  The orders collection in training_store holds one order document, ORD-1042, with a customerId and an items array of three embedded documents: a Trail Backpack, a Water Bottle and a Hiking Cap.</a:t>
            </a:r>
          </a:p>
          <a:p/>
          <a:p>
            <a:r>
              <a:t>- How to read it</a:t>
            </a:r>
          </a:p>
          <a:p/>
          <a:p>
            <a:r>
              <a:t>  Each numbered box, 0 to 2, is one array element with its own productId, name and qty fields.</a:t>
            </a:r>
          </a:p>
          <a:p/>
          <a:p>
            <a:r>
              <a:t>  The bracket on the right marks them as embedded documents.</a:t>
            </a:r>
          </a:p>
          <a:p/>
          <a:p>
            <a:r>
              <a:t>- Values in the diagram</a:t>
            </a:r>
          </a:p>
          <a:p/>
          <a:p>
            <a:r>
              <a:t>  The IDs and product names are illustrative.</a:t>
            </a:r>
          </a:p>
          <a:p/>
          <a:p>
            <a:r>
              <a:t>  Our training_store orders use orderNumber, and each item holds productId, sku, name, quantity and unitPrice.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BSON</a:t>
            </a:r>
          </a:p>
          <a:p/>
          <a:p>
            <a:r>
              <a:t>  MongoDB stores documents as BSON, Binary JSON.</a:t>
            </a:r>
          </a:p>
          <a:p/>
          <a:p>
            <a:r>
              <a:t>  It supports the JSON structures plus extra types such as Date, Decimal128, ObjectId and specific integer sizes.</a:t>
            </a:r>
          </a:p>
          <a:p/>
          <a:p>
            <a:r>
              <a:t>- Read the table</a:t>
            </a:r>
          </a:p>
          <a:p/>
          <a:p>
            <a:r>
              <a:t>  Every example is a real value from training_store after load.js.</a:t>
            </a:r>
          </a:p>
          <a:p/>
          <a:p>
            <a:r>
              <a:t>  The only exception is the Double row: the dataset has no floating-point fields, so 4.6 stands for a value such as an average rating.</a:t>
            </a:r>
          </a:p>
          <a:p/>
          <a:p>
            <a:r>
              <a:t>- Int32 and Double in mongosh</a:t>
            </a:r>
          </a:p>
          <a:p/>
          <a:p>
            <a:r>
              <a:t>  mongosh stores a whole number such as 16 as a 32-bit integer, and a number with a fraction such as 4.6 as a Double.</a:t>
            </a:r>
          </a:p>
          <a:p/>
          <a:p>
            <a:r>
              <a:t>  That is why prices are always written with Decimal128.</a:t>
            </a:r>
          </a:p>
          <a:p/>
          <a:p>
            <a:r>
              <a:t>- Null versus missing</a:t>
            </a:r>
          </a:p>
          <a:p/>
          <a:p>
            <a:r>
              <a:t>  Luis Romero, C204, has contact.phone set to null: we know he has no phone number.</a:t>
            </a:r>
          </a:p>
          <a:p/>
          <a:p>
            <a:r>
              <a:t>  Sam Okonkwo, C515, has no phone field at all.</a:t>
            </a:r>
          </a:p>
          <a:p/>
          <a:p>
            <a:r>
              <a:t>  Module 4 shows the queries that tell these apart.</a:t>
            </a:r>
          </a:p>
          <a:p/>
          <a:p>
            <a:r>
              <a:t>- Aliases</a:t>
            </a:r>
          </a:p>
          <a:p/>
          <a:p>
            <a:r>
              <a:t>  The content guide writes NumberDecimal(...) and ISODate(...).</a:t>
            </a:r>
          </a:p>
          <a:p/>
          <a:p>
            <a:r>
              <a:t>  Our labs write Decimal128(...) and new Date(...).</a:t>
            </a:r>
          </a:p>
          <a:p/>
          <a:p>
            <a:r>
              <a:t>  Both pairs create the same BSON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Types carry meaning</a:t>
            </a:r>
          </a:p>
          <a:p/>
          <a:p>
            <a:r>
              <a:t>  Choose the type that matches the business meaning.</a:t>
            </a:r>
          </a:p>
          <a:p/>
          <a:p>
            <a:r>
              <a:t>  A price is money, a quantity is a whole number, a flag is a Boolean and a timestamp is a date.</a:t>
            </a:r>
          </a:p>
          <a:p/>
          <a:p>
            <a:r>
              <a:t>- What goes wrong</a:t>
            </a:r>
          </a:p>
          <a:p/>
          <a:p>
            <a:r>
              <a:t>  Strings compare character by character.</a:t>
            </a:r>
          </a:p>
          <a:p/>
          <a:p>
            <a:r>
              <a:t>  Sorted as strings, "100" comes before "20" and "9".</a:t>
            </a:r>
          </a:p>
          <a:p/>
          <a:p>
            <a:r>
              <a:t>  Range filters such as price below 50 also stop working, and calculations need conversions first.</a:t>
            </a:r>
          </a:p>
          <a:p/>
          <a:p>
            <a:r>
              <a:t>- Money</a:t>
            </a:r>
          </a:p>
          <a:p/>
          <a:p>
            <a:r>
              <a:t>  For currency, Decimal128 is usually better than a Double, because it avoids binary floating-point rounding.</a:t>
            </a:r>
          </a:p>
          <a:p/>
          <a:p>
            <a:r>
              <a:t>  In mongosh you can write Decimal128("49.99") or NumberDecimal("49.99"); both create the same type.</a:t>
            </a:r>
          </a:p>
          <a:p/>
          <a:p>
            <a:r>
              <a:t>- What it shows</a:t>
            </a:r>
          </a:p>
          <a:p/>
          <a:p>
            <a:r>
              <a:t>  A product document whose price field holds the string "100".</a:t>
            </a:r>
          </a:p>
          <a:p/>
          <a:p>
            <a:r>
              <a:t>  Sorting by price gives "100", "20", "9" — the wrong numeric order.</a:t>
            </a:r>
          </a:p>
          <a:p/>
          <a:p>
            <a:r>
              <a:t>- How to read it</a:t>
            </a:r>
          </a:p>
          <a:p/>
          <a:p>
            <a:r>
              <a:t>  Follow the arrows: after converting the field to a number, the same values sort correctly as 9, 20, 100.</a:t>
            </a:r>
          </a:p>
          <a:p/>
          <a:p>
            <a:r>
              <a:t>- Key point</a:t>
            </a:r>
          </a:p>
          <a:p/>
          <a:p>
            <a:r>
              <a:t>  The type decides how values compare, sort and calculate.</a:t>
            </a:r>
          </a:p>
          <a:p/>
          <a:p>
            <a:r>
              <a:t>  For money we use the Decimal128 number type.</a:t>
            </a:r>
          </a:p>
          <a:p/>
          <a:p>
            <a:r>
              <a:t>- A deliberate fixture</a:t>
            </a:r>
          </a:p>
          <a:p/>
          <a:p>
            <a:r>
              <a:t>  training_store contains one product, XBAD, the Legacy Cable Pack, whose price is the string "49.99".</a:t>
            </a:r>
          </a:p>
          <a:p/>
          <a:p>
            <a:r>
              <a:t>  It is there on purpose: Module 4 uses it in the $type labs to find values stored with the wrong type.</a:t>
            </a:r>
          </a:p>
          <a:p/>
          <a:p>
            <a:r>
              <a:t>  Don't fix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One collection, many shapes</a:t>
            </a:r>
          </a:p>
          <a:p/>
          <a:p>
            <a:r>
              <a:t>  All products live in one products collection, even though a laptop, a shoe and a book have different specifications.</a:t>
            </a:r>
          </a:p>
          <a:p/>
          <a:p>
            <a:r>
              <a:t>- The shared core</a:t>
            </a:r>
          </a:p>
          <a:p/>
          <a:p>
            <a:r>
              <a:t>  Every product has the same core fields with the same names and types: sku, name, category, price, tags, active and createdAt.</a:t>
            </a:r>
          </a:p>
          <a:p/>
          <a:p>
            <a:r>
              <a:t>  Common operations such as browsing by category or price rely on them.</a:t>
            </a:r>
          </a:p>
          <a:p/>
          <a:p>
            <a:r>
              <a:t>- Flexible attributes</a:t>
            </a:r>
          </a:p>
          <a:p/>
          <a:p>
            <a:r>
              <a:t>  Category-specific fields go under attributes: processor and memoryGB for a laptop, sizes, color and material for a shoe, author and isbn for a book.</a:t>
            </a:r>
          </a:p>
          <a:p/>
          <a:p>
            <a:r>
              <a:t>- Consistent names</a:t>
            </a:r>
          </a:p>
          <a:p/>
          <a:p>
            <a:r>
              <a:t>  Avoid productName on one document, item_name on another and title on a third.</a:t>
            </a:r>
          </a:p>
          <a:p/>
          <a:p>
            <a:r>
              <a:t>  Pick one name, name, and use it everywhere.</a:t>
            </a:r>
          </a:p>
          <a:p/>
          <a:p>
            <a:r>
              <a:t>- What it shows</a:t>
            </a:r>
          </a:p>
          <a:p/>
          <a:p>
            <a:r>
              <a:t>  The products collection holds three kinds of product — a course, a laptop and a book.</a:t>
            </a:r>
          </a:p>
          <a:p/>
          <a:p>
            <a:r>
              <a:t>  Each has the same shared core fields, sku, name, price and category, plus its own flexible attributes.</a:t>
            </a:r>
          </a:p>
          <a:p/>
          <a:p>
            <a:r>
              <a:t>- How to read it</a:t>
            </a:r>
          </a:p>
          <a:p/>
          <a:p>
            <a:r>
              <a:t>  The dark block in each card is the shared core; the green block is the category-specific part.</a:t>
            </a:r>
          </a:p>
          <a:p/>
          <a:p>
            <a:r>
              <a:t>  All three feed one catalog, queried by category, price and attributes, with indexes on sku and category.</a:t>
            </a:r>
          </a:p>
          <a:p/>
          <a:p>
            <a:r>
              <a:t>- Diagram versus dataset</a:t>
            </a:r>
          </a:p>
          <a:p/>
          <a:p>
            <a:r>
              <a:t>  training_store has no course category: its categories are LAPTOP, SHOE, BOOK and ACCESSORY, and laptops store processor and memoryGB rather than cpu and ramGB.</a:t>
            </a:r>
          </a:p>
          <a:p/>
          <a:p>
            <a:r>
              <a:t>  The shape is the same.</a:t>
            </a:r>
          </a:p>
          <a:p/>
          <a:p>
            <a:r>
              <a:t>- Querying the flexible part</a:t>
            </a:r>
          </a:p>
          <a:p/>
          <a:p>
            <a:r>
              <a:t>  Because the variable fields live under attributes, queries stay predictable: find({ category: "LAPTOP" }) uses the core, and find({ "attributes.isbn": "978-0000000000" }) finds the book B300.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MongoDB has a flexible schema, but a good schema supports the application's common reads and writes efficiently.</a:t>
            </a:r>
          </a:p>
          <a:p/>
          <a:p>
            <a:r>
              <a:t>- The four steps</a:t>
            </a:r>
          </a:p>
          <a:p/>
          <a:p>
            <a:r>
              <a:t>  Identify the entities, identify their relationships, list the important operations, and estimate how the data grows.</a:t>
            </a:r>
          </a:p>
          <a:p/>
          <a:p>
            <a:r>
              <a:t>  This part walks through all four for training_store.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Start from the application</a:t>
            </a:r>
          </a:p>
          <a:p/>
          <a:p>
            <a:r>
              <a:t>  Relational design often starts with entities and normalization.</a:t>
            </a:r>
          </a:p>
          <a:p/>
          <a:p>
            <a:r>
              <a:t>  MongoDB design starts with the application's most important operations.</a:t>
            </a:r>
          </a:p>
          <a:p/>
          <a:p>
            <a:r>
              <a:t>- The questions to ask</a:t>
            </a:r>
          </a:p>
          <a:p/>
          <a:p>
            <a:r>
              <a:t>  What is read together?</a:t>
            </a:r>
          </a:p>
          <a:p/>
          <a:p>
            <a:r>
              <a:t>  What is updated together?</a:t>
            </a:r>
          </a:p>
          <a:p/>
          <a:p>
            <a:r>
              <a:t>  Which queries run most often?</a:t>
            </a:r>
          </a:p>
          <a:p/>
          <a:p>
            <a:r>
              <a:t>  How large can each record become?</a:t>
            </a:r>
          </a:p>
          <a:p/>
          <a:p>
            <a:r>
              <a:t>  Which relationships are one-to-one, one-to-many or many-to-many?</a:t>
            </a:r>
          </a:p>
          <a:p/>
          <a:p>
            <a:r>
              <a:t>- From question to design</a:t>
            </a:r>
          </a:p>
          <a:p/>
          <a:p>
            <a:r>
              <a:t>  The answers decide the aggregate boundary: what belongs in one document.</a:t>
            </a:r>
          </a:p>
          <a:p/>
          <a:p>
            <a:r>
              <a:t>  Then we choose embed or reference for each relationship, and finally the indexes that support the queries.</a:t>
            </a:r>
          </a:p>
          <a:p/>
          <a:p>
            <a:r>
              <a:t>- What it shows</a:t>
            </a:r>
          </a:p>
          <a:p/>
          <a:p>
            <a:r>
              <a:t>  Three operations on the left — browse products, view an order, read reviews — feed a Design around queries step, which produces the products, orders and reviews collections.</a:t>
            </a:r>
          </a:p>
          <a:p/>
          <a:p>
            <a:r>
              <a:t>- How to read it</a:t>
            </a:r>
          </a:p>
          <a:p/>
          <a:p>
            <a:r>
              <a:t>  Each arrow asks one question: read together, update together, growth rate.</a:t>
            </a:r>
          </a:p>
          <a:p/>
          <a:p>
            <a:r>
              <a:t>  The band at the bottom is the method: query shape, aggregate boundary, embed or reference, index.</a:t>
            </a:r>
          </a:p>
          <a:p/>
          <a:p>
            <a:r>
              <a:t>- Diagram versus dataset</a:t>
            </a:r>
          </a:p>
          <a:p/>
          <a:p>
            <a:r>
              <a:t>  The sample order embeds a small customer snapshot, and the sample category is "Laptops".</a:t>
            </a:r>
          </a:p>
          <a:p/>
          <a:p>
            <a:r>
              <a:t>  training_store orders keep a customerId reference instead, and the category value is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Steps 1 and 2</a:t>
            </a:r>
          </a:p>
          <a:p/>
          <a:p>
            <a:r>
              <a:t>  The entities are Product, Customer, Order and Review.</a:t>
            </a:r>
          </a:p>
          <a:p/>
          <a:p>
            <a:r>
              <a:t>  A customer places many orders and writes many reviews, a product receives many reviews, and an order contains many items.</a:t>
            </a:r>
          </a:p>
          <a:p/>
          <a:p>
            <a:r>
              <a:t>- Step 3: the operations</a:t>
            </a:r>
          </a:p>
          <a:p/>
          <a:p>
            <a:r>
              <a:t>  The content guide lists ten: find a product by SKU, browse by category, search a price range, show a profile with addresses, show one order, show order history, show a product's reviews, calculate an average rating, update inventory and change an order's status.</a:t>
            </a:r>
          </a:p>
          <a:p/>
          <a:p>
            <a:r>
              <a:t>  The table groups the ones that shape the documents most.</a:t>
            </a:r>
          </a:p>
          <a:p/>
          <a:p>
            <a:r>
              <a:t>- Read the last column</a:t>
            </a:r>
          </a:p>
          <a:p/>
          <a:p>
            <a:r>
              <a:t>  High-frequency reads that return one object become one document.</a:t>
            </a:r>
          </a:p>
          <a:p/>
          <a:p>
            <a:r>
              <a:t>  Lists that grow, such as order history and reviews, become references.</a:t>
            </a:r>
          </a:p>
          <a:p/>
          <a:p>
            <a:r>
              <a:t>  A status change touches one order, so it is a single-document update.</a:t>
            </a:r>
          </a:p>
          <a:p/>
          <a:p>
            <a:r>
              <a:t>- Frequencies</a:t>
            </a:r>
          </a:p>
          <a:p/>
          <a:p>
            <a:r>
              <a:t>  The frequencies are estimates for a typical store, like the ones Exercise 3.2 asks for.</a:t>
            </a:r>
          </a:p>
          <a:p/>
          <a:p>
            <a:r>
              <a:t>  In a real project you would measure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Three relationship types</a:t>
            </a:r>
          </a:p>
          <a:p/>
          <a:p>
            <a:r>
              <a:t>  One-to-one: a customer has one set of preferences.</a:t>
            </a:r>
          </a:p>
          <a:p/>
          <a:p>
            <a:r>
              <a:t>  One-to-many: a customer places many orders.</a:t>
            </a:r>
          </a:p>
          <a:p/>
          <a:p>
            <a:r>
              <a:t>  Many-to-many: an order contains many products, and a product appears in many orders.</a:t>
            </a:r>
          </a:p>
          <a:p/>
          <a:p>
            <a:r>
              <a:t>- In training_store</a:t>
            </a:r>
          </a:p>
          <a:p/>
          <a:p>
            <a:r>
              <a:t>  Customer to preferences is embedded.</a:t>
            </a:r>
          </a:p>
          <a:p/>
          <a:p>
            <a:r>
              <a:t>  Customer to orders is a reference: each order stores customerId.</a:t>
            </a:r>
          </a:p>
          <a:p/>
          <a:p>
            <a:r>
              <a:t>  Orders to products is also a reference, through items[].productId.</a:t>
            </a:r>
          </a:p>
          <a:p/>
          <a:p>
            <a:r>
              <a:t>- Count both sides</a:t>
            </a:r>
          </a:p>
          <a:p/>
          <a:p>
            <a:r>
              <a:t>  The type alone doesn't decide the model.</a:t>
            </a:r>
          </a:p>
          <a:p/>
          <a:p>
            <a:r>
              <a:t>  How many on the many side matters: a few addresses, dozens of orders or millions of reviews lead to different choices.</a:t>
            </a:r>
          </a:p>
          <a:p/>
          <a:p>
            <a:r>
              <a:t>- What it shows</a:t>
            </a:r>
          </a:p>
          <a:p/>
          <a:p>
            <a:r>
              <a:t>  Three panels: a customer that has one profile, a customer that places many orders, and orders that contain many products while each product appears in many orders.</a:t>
            </a:r>
          </a:p>
          <a:p/>
          <a:p>
            <a:r>
              <a:t>- How to read it</a:t>
            </a:r>
          </a:p>
          <a:p/>
          <a:p>
            <a:r>
              <a:t>  The 1, N and M labels on the arrows give the cardinality of each side.</a:t>
            </a:r>
          </a:p>
          <a:p/>
          <a:p>
            <a:r>
              <a:t>- Key point</a:t>
            </a:r>
          </a:p>
          <a:p/>
          <a:p>
            <a:r>
              <a:t>  Name the relationship type first; then count how many sit on the many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Estimate growth</a:t>
            </a:r>
          </a:p>
          <a:p/>
          <a:p>
            <a:r>
              <a:t>  For every array ask: how many items can it hold, does it grow without a practical limit, and how often does it change?</a:t>
            </a:r>
          </a:p>
          <a:p/>
          <a:p>
            <a:r>
              <a:t>- Bounded</a:t>
            </a:r>
          </a:p>
          <a:p/>
          <a:p>
            <a:r>
              <a:t>  A customer has a few addresses.</a:t>
            </a:r>
          </a:p>
          <a:p/>
          <a:p>
            <a:r>
              <a:t>  An order has a handful of line items.</a:t>
            </a:r>
          </a:p>
          <a:p/>
          <a:p>
            <a:r>
              <a:t>  These arrays stay small, so they can be embedded.</a:t>
            </a:r>
          </a:p>
          <a:p/>
          <a:p>
            <a:r>
              <a:t>- Unbounded</a:t>
            </a:r>
          </a:p>
          <a:p/>
          <a:p>
            <a:r>
              <a:t>  A popular product can receive thousands of reviews.</a:t>
            </a:r>
          </a:p>
          <a:p/>
          <a:p>
            <a:r>
              <a:t>  An array like that keeps growing, every update rewrites a larger document, and it can eventually hit the 16 MiB limit for one BSON document.</a:t>
            </a:r>
          </a:p>
          <a:p/>
          <a:p>
            <a:r>
              <a:t>- Rule</a:t>
            </a:r>
          </a:p>
          <a:p/>
          <a:p>
            <a:r>
              <a:t>  A small, bounded list may be embedded.</a:t>
            </a:r>
          </a:p>
          <a:p/>
          <a:p>
            <a:r>
              <a:t>  A large or continuously growing list belongs in its own collection.</a:t>
            </a:r>
          </a:p>
          <a:p/>
          <a:p>
            <a:r>
              <a:t>- What it shows</a:t>
            </a:r>
          </a:p>
          <a:p/>
          <a:p>
            <a:r>
              <a:t>  Two versions of the same product document.</a:t>
            </a:r>
          </a:p>
          <a:p/>
          <a:p>
            <a:r>
              <a:t>  On the left, featuredReviews holds at most three reviews.</a:t>
            </a:r>
          </a:p>
          <a:p/>
          <a:p>
            <a:r>
              <a:t>  On the right, reviews keeps growing past ten thousand entries.</a:t>
            </a:r>
          </a:p>
          <a:p/>
          <a:p>
            <a:r>
              <a:t>- How to read it</a:t>
            </a:r>
          </a:p>
          <a:p/>
          <a:p>
            <a:r>
              <a:t>  The green lock says max 3, predictable size.</a:t>
            </a:r>
          </a:p>
          <a:p/>
          <a:p>
            <a:r>
              <a:t>  The red warnings say large document and costly updates.</a:t>
            </a:r>
          </a:p>
          <a:p/>
          <a:p>
            <a:r>
              <a:t>- Key point</a:t>
            </a:r>
          </a:p>
          <a:p/>
          <a:p>
            <a:r>
              <a:t>  Embed arrays that stay small; move arrays that keep growing into their own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Pairs, five minutes, then compare with the expected column.</a:t>
            </a:r>
          </a:p>
          <a:p/>
          <a:p>
            <a:r>
              <a:t>  Ask each pair to justify one answer out loud.</a:t>
            </a:r>
          </a:p>
          <a:p/>
          <a:p>
            <a:r>
              <a:t>- Addresses and items</a:t>
            </a:r>
          </a:p>
          <a:p/>
          <a:p>
            <a:r>
              <a:t>  A customer has a few addresses and an order has a few items.</a:t>
            </a:r>
          </a:p>
          <a:p/>
          <a:p>
            <a:r>
              <a:t>  Both are bounded and read with their parent, so they are embedded.</a:t>
            </a:r>
          </a:p>
          <a:p/>
          <a:p>
            <a:r>
              <a:t>- Orders and reviews</a:t>
            </a:r>
          </a:p>
          <a:p/>
          <a:p>
            <a:r>
              <a:t>  A customer's order history keeps growing, so each order stores customerId instead of the customer holding an array of orders.</a:t>
            </a:r>
          </a:p>
          <a:p/>
          <a:p>
            <a:r>
              <a:t>  Reviews can grow without limit, so each review stores productId.</a:t>
            </a:r>
          </a:p>
          <a:p/>
          <a:p>
            <a:r>
              <a:t>- Orders and products</a:t>
            </a:r>
          </a:p>
          <a:p/>
          <a:p>
            <a:r>
              <a:t>  One order contains many products and one product appears in many orders.</a:t>
            </a:r>
          </a:p>
          <a:p/>
          <a:p>
            <a:r>
              <a:t>  training_store links them through items[].productId, plus a snapshot of sku, name and unitPrice — Part 3 explains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two approaches</a:t>
            </a:r>
          </a:p>
          <a:p/>
          <a:p>
            <a:r>
              <a:t>  MongoDB represents relationships in two main ways: embed the related data inside a document, or reference a document stored in another collection.</a:t>
            </a:r>
          </a:p>
          <a:p/>
          <a:p>
            <a:r>
              <a:t>- Where this part ends</a:t>
            </a:r>
          </a:p>
          <a:p/>
          <a:p>
            <a:r>
              <a:t>  By the end, learners should be able to explain every embed and reference choice in training_store, and why an order copies some product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addresses are embedded</a:t>
            </a:r>
          </a:p>
          <a:p/>
          <a:p>
            <a:r>
              <a:t>  Addresses belong to the customer, a customer has only a few, they are displayed with the profile, and an address doesn't need to exist on its own.</a:t>
            </a:r>
          </a:p>
          <a:p/>
          <a:p>
            <a:r>
              <a:t>- Advantages of embedding</a:t>
            </a:r>
          </a:p>
          <a:p/>
          <a:p>
            <a:r>
              <a:t>  One query returns the whole profile.</a:t>
            </a:r>
          </a:p>
          <a:p/>
          <a:p>
            <a:r>
              <a:t>  There is no join.</a:t>
            </a:r>
          </a:p>
          <a:p/>
          <a:p>
            <a:r>
              <a:t>  Updates inside one document are atomic, and the document matches the application object.</a:t>
            </a:r>
          </a:p>
          <a:p/>
          <a:p>
            <a:r>
              <a:t>- Limitations</a:t>
            </a:r>
          </a:p>
          <a:p/>
          <a:p>
            <a:r>
              <a:t>  Embedding can duplicate shared information and make documents large.</a:t>
            </a:r>
          </a:p>
          <a:p/>
          <a:p>
            <a:r>
              <a:t>  It is wrong for unbounded arrays, and it makes independent updates of the embedded data less convenient.</a:t>
            </a:r>
          </a:p>
          <a:p/>
          <a:p>
            <a:r>
              <a:t>- What it shows</a:t>
            </a:r>
          </a:p>
          <a:p/>
          <a:p>
            <a:r>
              <a:t>  A customer profile document with identity, preferences, an addresses array with a home and a work address, loyalty and activity counts.</a:t>
            </a:r>
          </a:p>
          <a:p/>
          <a:p>
            <a:r>
              <a:t>  Orders and reviews point back to it by customerId.</a:t>
            </a:r>
          </a:p>
          <a:p/>
          <a:p>
            <a:r>
              <a:t>- How to read it</a:t>
            </a:r>
          </a:p>
          <a:p/>
          <a:p>
            <a:r>
              <a:t>  Everything inside the green card is embedded, so loading the profile is one read.</a:t>
            </a:r>
          </a:p>
          <a:p/>
          <a:p>
            <a:r>
              <a:t>  The arrows on the right are references from other collections.</a:t>
            </a:r>
          </a:p>
          <a:p/>
          <a:p>
            <a:r>
              <a:t>- Diagram versus dataset</a:t>
            </a:r>
          </a:p>
          <a:p/>
          <a:p>
            <a:r>
              <a:t>  training_store's C101 is simpler: name, contact, one SHIPPING address, preferences and status.</a:t>
            </a:r>
          </a:p>
          <a:p/>
          <a:p>
            <a:r>
              <a:t>  It has no loyalty or activity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Referencing</a:t>
            </a:r>
          </a:p>
          <a:p/>
          <a:p>
            <a:r>
              <a:t>  Referencing keeps related data in separate collections and connects documents with identifiers.</a:t>
            </a:r>
          </a:p>
          <a:p/>
          <a:p>
            <a:r>
              <a:t>  Each review stores the productId of the product it belongs to, and the customerId of the person who wrote it.</a:t>
            </a:r>
          </a:p>
          <a:p/>
          <a:p>
            <a:r>
              <a:t>- Advantages of referencing</a:t>
            </a:r>
          </a:p>
          <a:p/>
          <a:p>
            <a:r>
              <a:t>  It avoids large-scale duplication, lets data change independently, works for many-to-many relationships, handles large and growing relationships, and keeps each document small.</a:t>
            </a:r>
          </a:p>
          <a:p/>
          <a:p>
            <a:r>
              <a:t>- Limitations</a:t>
            </a:r>
          </a:p>
          <a:p/>
          <a:p>
            <a:r>
              <a:t>  Combining the data needs a second query or a $lookup stage.</a:t>
            </a:r>
          </a:p>
          <a:p/>
          <a:p>
            <a:r>
              <a:t>  Application logic is more complex, and a change that spans several documents may need a transaction.</a:t>
            </a:r>
          </a:p>
          <a:p/>
          <a:p>
            <a:r>
              <a:t>- What it shows</a:t>
            </a:r>
          </a:p>
          <a:p/>
          <a:p>
            <a:r>
              <a:t>  One product document, P1001, in the products collection and three review documents in the reviews collection.</a:t>
            </a:r>
          </a:p>
          <a:p/>
          <a:p>
            <a:r>
              <a:t>  Each review stores productId P1001, its own customerId, a rating and a comment.</a:t>
            </a:r>
          </a:p>
          <a:p/>
          <a:p>
            <a:r>
              <a:t>- How to read it</a:t>
            </a:r>
          </a:p>
          <a:p/>
          <a:p>
            <a:r>
              <a:t>  The arrow is the productId reference: 1 product on the left, many reviews on the right.</a:t>
            </a:r>
          </a:p>
          <a:p/>
          <a:p>
            <a:r>
              <a:t>- Diagram versus dataset</a:t>
            </a:r>
          </a:p>
          <a:p/>
          <a:p>
            <a:r>
              <a:t>  training_store reviews store the text in title and body rather than comment, and also copy the product's sku.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read the table</a:t>
            </a:r>
          </a:p>
          <a:p/>
          <a:p>
            <a:r>
              <a:t>  Each row is one question about the relationship.</a:t>
            </a:r>
          </a:p>
          <a:p/>
          <a:p>
            <a:r>
              <a:t>  Most rows point clearly one way; a few say sometimes or possibly, which is where judgement comes in.</a:t>
            </a:r>
          </a:p>
          <a:p/>
          <a:p>
            <a:r>
              <a:t>- The strongest signals</a:t>
            </a:r>
          </a:p>
          <a:p/>
          <a:p>
            <a:r>
              <a:t>  Continuous growth and sharing across many records point to referencing.</a:t>
            </a:r>
          </a:p>
          <a:p/>
          <a:p>
            <a:r>
              <a:t>  Being read together, small and owned by one parent point to embedding.</a:t>
            </a:r>
          </a:p>
          <a:p/>
          <a:p>
            <a:r>
              <a:t>- Atomicity</a:t>
            </a:r>
          </a:p>
          <a:p/>
          <a:p>
            <a:r>
              <a:t>  A write to one document is atomic.</a:t>
            </a:r>
          </a:p>
          <a:p/>
          <a:p>
            <a:r>
              <a:t>  If several related values must change together, embedding them gives that for free; referenced data may need a multi-document transaction.</a:t>
            </a:r>
          </a:p>
          <a:p/>
          <a:p>
            <a:r>
              <a:t>- Changes independently</a:t>
            </a:r>
          </a:p>
          <a:p/>
          <a:p>
            <a:r>
              <a:t>  Sometimes appears under embed because a snapshot is embedded on purpose even though the source changes.</a:t>
            </a:r>
          </a:p>
          <a:p/>
          <a:p>
            <a:r>
              <a:t>  The order's copy of a product price is the classic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Three questions</a:t>
            </a:r>
          </a:p>
          <a:p/>
          <a:p>
            <a:r>
              <a:t>  Is the data read together with the parent?</a:t>
            </a:r>
          </a:p>
          <a:p/>
          <a:p>
            <a:r>
              <a:t>  Is its size bounded?</a:t>
            </a:r>
          </a:p>
          <a:p/>
          <a:p>
            <a:r>
              <a:t>  Does it share the parent's lifecycle, created and deleted with it?</a:t>
            </a:r>
          </a:p>
          <a:p/>
          <a:p>
            <a:r>
              <a:t>- All three yes</a:t>
            </a:r>
          </a:p>
          <a:p/>
          <a:p>
            <a:r>
              <a:t>  Embed it.</a:t>
            </a:r>
          </a:p>
          <a:p/>
          <a:p>
            <a:r>
              <a:t>  Addresses on a customer and line items on an order pass all three.</a:t>
            </a:r>
          </a:p>
          <a:p/>
          <a:p>
            <a:r>
              <a:t>- Any no</a:t>
            </a:r>
          </a:p>
          <a:p/>
          <a:p>
            <a:r>
              <a:t>  Reference it.</a:t>
            </a:r>
          </a:p>
          <a:p/>
          <a:p>
            <a:r>
              <a:t>  Reviews are read on the product page, but they are not bounded and they have their own lifecycle.</a:t>
            </a:r>
          </a:p>
          <a:p/>
          <a:p>
            <a:r>
              <a:t>  So training_store keeps them in their own collection.</a:t>
            </a:r>
          </a:p>
          <a:p/>
          <a:p>
            <a:r>
              <a:t>- What it shows</a:t>
            </a:r>
          </a:p>
          <a:p/>
          <a:p>
            <a:r>
              <a:t>  A decision tree with three questions: read together, bounded size and same lifecycle.</a:t>
            </a:r>
          </a:p>
          <a:p/>
          <a:p>
            <a:r>
              <a:t>  Three yes answers lead to EMBED; any no leads to REFERENCE.</a:t>
            </a:r>
          </a:p>
          <a:p/>
          <a:p>
            <a:r>
              <a:t>- How to read it</a:t>
            </a:r>
          </a:p>
          <a:p/>
          <a:p>
            <a:r>
              <a:t>  The two example boxes show both outcomes for product reviews: embedded in the product, or referenced from a separate reviews collection by product_id.</a:t>
            </a:r>
          </a:p>
          <a:p/>
          <a:p>
            <a:r>
              <a:t>- Key point</a:t>
            </a:r>
          </a:p>
          <a:p/>
          <a:p>
            <a:r>
              <a:t>  The embed example only illustrates the shape.</a:t>
            </a:r>
          </a:p>
          <a:p/>
          <a:p>
            <a:r>
              <a:t>  Reviews fail the bounded-size question, which is why training_store references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Orders mix both approaches</a:t>
            </a:r>
          </a:p>
          <a:p/>
          <a:p>
            <a:r>
              <a:t>  An order is the clearest example of a hybrid model.</a:t>
            </a:r>
          </a:p>
          <a:p/>
          <a:p>
            <a:r>
              <a:t>  It references the customer and each product, and it embeds the line items and the shipping address.</a:t>
            </a:r>
          </a:p>
          <a:p/>
          <a:p>
            <a:r>
              <a:t>- Copied fields</a:t>
            </a:r>
          </a:p>
          <a:p/>
          <a:p>
            <a:r>
              <a:t>  Each line item also copies sku, name and unitPrice from the product.</a:t>
            </a:r>
          </a:p>
          <a:p/>
          <a:p>
            <a:r>
              <a:t>  The productId still points to the catalog, but the copies keep what the customer actually bought.</a:t>
            </a:r>
          </a:p>
          <a:p/>
          <a:p>
            <a:r>
              <a:t>- Why this shape</a:t>
            </a:r>
          </a:p>
          <a:p/>
          <a:p>
            <a:r>
              <a:t>  The most common read is: show one order.</a:t>
            </a:r>
          </a:p>
          <a:p/>
          <a:p>
            <a:r>
              <a:t>  This shape answers it with one document, while customers and products keep changing independently.</a:t>
            </a:r>
          </a:p>
          <a:p/>
          <a:p>
            <a:r>
              <a:t>- What it shows</a:t>
            </a:r>
          </a:p>
          <a:p/>
          <a:p>
            <a:r>
              <a:t>  An order document in the middle.</a:t>
            </a:r>
          </a:p>
          <a:p/>
          <a:p>
            <a:r>
              <a:t>  It references the customer document on the left through customerId, embeds an items array, and each item references a product document on the right through productId.</a:t>
            </a:r>
          </a:p>
          <a:p/>
          <a:p>
            <a:r>
              <a:t>- How to read it</a:t>
            </a:r>
          </a:p>
          <a:p/>
          <a:p>
            <a:r>
              <a:t>  Each item carries a name snapshot, qty and unitPrice.</a:t>
            </a:r>
          </a:p>
          <a:p/>
          <a:p>
            <a:r>
              <a:t>  The product itself keeps sku, name, inventory and currentPrice.</a:t>
            </a:r>
          </a:p>
          <a:p/>
          <a:p>
            <a:r>
              <a:t>- Diagram versus dataset</a:t>
            </a:r>
          </a:p>
          <a:p/>
          <a:p>
            <a:r>
              <a:t>  training_store orders use createdAt instead of orderDate and quantity instead of qty, and products keep their current price in price.</a:t>
            </a:r>
          </a:p>
          <a:p/>
          <a:p>
            <a:r>
              <a:t>- The real O5001</a:t>
            </a:r>
          </a:p>
          <a:p/>
          <a:p>
            <a:r>
              <a:t>  After load.js, O5001 is Aisha Khan's order: one Business Laptop at 1299.99 and two Wireless Mice at 19.99, subtotal 1339.97, tax 174.20, total 1514.17.</a:t>
            </a:r>
          </a:p>
          <a:p/>
          <a:p>
            <a:r>
              <a:t>  Payment is PENDING and fulfillment is NEW.</a:t>
            </a:r>
          </a:p>
          <a:p/>
          <a:p>
            <a:r>
              <a:t>- Lab 2, Step 4, builds a smaller O5001</a:t>
            </a:r>
          </a:p>
          <a:p/>
          <a:p>
            <a:r>
              <a:t>  In the hand-insert path, Lab 2, Step 4, creates O5001 with the laptop only, so its total is 1468.99.</a:t>
            </a:r>
          </a:p>
          <a:p/>
          <a:p>
            <a:r>
              <a:t>  Reloading load.js at the start of Day 2 replaces it with the full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copy product information</a:t>
            </a:r>
          </a:p>
          <a:p/>
          <a:p>
            <a:r>
              <a:t>  A product's name or price can change later.</a:t>
            </a:r>
          </a:p>
          <a:p/>
          <a:p>
            <a:r>
              <a:t>  An order must keep the values that applied when the purchase happened.</a:t>
            </a:r>
          </a:p>
          <a:p/>
          <a:p>
            <a:r>
              <a:t>- Controlled duplication</a:t>
            </a:r>
          </a:p>
          <a:p/>
          <a:p>
            <a:r>
              <a:t>  If the catalog price changes, the historical order still shows the old price.</a:t>
            </a:r>
          </a:p>
          <a:p/>
          <a:p>
            <a:r>
              <a:t>  This deliberate copy is called a snapshot, or the historical pattern.</a:t>
            </a:r>
          </a:p>
          <a:p/>
          <a:p>
            <a:r>
              <a:t>- Snapshot versus live copy</a:t>
            </a:r>
          </a:p>
          <a:p/>
          <a:p>
            <a:r>
              <a:t>  Don't copy data that must stay current, such as a customer's email, into thousands of documents.</a:t>
            </a:r>
          </a:p>
          <a:p/>
          <a:p>
            <a:r>
              <a:t>  Duplicate only the fields that should stay frozen as history.</a:t>
            </a:r>
          </a:p>
          <a:p/>
          <a:p>
            <a:r>
              <a:t>- What it shows</a:t>
            </a:r>
          </a:p>
          <a:p/>
          <a:p>
            <a:r>
              <a:t>  Two products on the left, MongoDB Basics at a current price of 54.00 and Compass Lab at 22.00, and two orders on the right that bought them.</a:t>
            </a:r>
          </a:p>
          <a:p/>
          <a:p>
            <a:r>
              <a:t>- How to read it</a:t>
            </a:r>
          </a:p>
          <a:p/>
          <a:p>
            <a:r>
              <a:t>  Each order item references the product by productId, but locks the name and unitPrice at purchase: 49.00 and 19.00, not today's prices.</a:t>
            </a:r>
          </a:p>
          <a:p/>
          <a:p>
            <a:r>
              <a:t>- Key point</a:t>
            </a:r>
          </a:p>
          <a:p/>
          <a:p>
            <a:r>
              <a:t>  The reference says which product; the snapshot says what the customer paid.</a:t>
            </a:r>
          </a:p>
          <a:p/>
          <a:p>
            <a:r>
              <a:t>- Customer data is different</a:t>
            </a:r>
          </a:p>
          <a:p/>
          <a:p>
            <a:r>
              <a:t>  training_store orders don't copy the customer's email or profile, because those must stay current.</a:t>
            </a:r>
          </a:p>
          <a:p/>
          <a:p>
            <a:r>
              <a:t>  They reference the customer and copy only the shipping address, which is part of the order's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A technically valid model can still perform badly.</a:t>
            </a:r>
          </a:p>
          <a:p/>
          <a:p>
            <a:r>
              <a:t>  We look at the mistakes first designs make, then at named patterns that experienced teams reuse.</a:t>
            </a:r>
          </a:p>
          <a:p/>
          <a:p>
            <a:r>
              <a:t>- Link to the exercises</a:t>
            </a:r>
          </a:p>
          <a:p/>
          <a:p>
            <a:r>
              <a:t>  Exercise 3.6 corrects a flawed product document, and Exercise 3.7 matches requirements to the seven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Collections like tables</a:t>
            </a:r>
          </a:p>
          <a:p/>
          <a:p>
            <a:r>
              <a:t>  The most common first-design mistake is one collection for every relational table.</a:t>
            </a:r>
          </a:p>
          <a:p/>
          <a:p>
            <a:r>
              <a:t>  The application then rebuilds each object with several queries or $lookup stages.</a:t>
            </a:r>
          </a:p>
          <a:p/>
          <a:p>
            <a:r>
              <a:t>- The cost</a:t>
            </a:r>
          </a:p>
          <a:p/>
          <a:p>
            <a:r>
              <a:t>  More round trips, more code and slower pages, for data that is always read together anyway.</a:t>
            </a:r>
          </a:p>
          <a:p/>
          <a:p>
            <a:r>
              <a:t>- The fix</a:t>
            </a:r>
          </a:p>
          <a:p/>
          <a:p>
            <a:r>
              <a:t>  Start again from the access pattern.</a:t>
            </a:r>
          </a:p>
          <a:p/>
          <a:p>
            <a:r>
              <a:t>  Embed what the page reads together, and reference only what is shared, independent or unbounded.</a:t>
            </a:r>
          </a:p>
          <a:p/>
          <a:p>
            <a:r>
              <a:t>- What it shows</a:t>
            </a:r>
          </a:p>
          <a:p/>
          <a:p>
            <a:r>
              <a:t>  An order document holding only a customerId and an itemIds array.</a:t>
            </a:r>
          </a:p>
          <a:p/>
          <a:p>
            <a:r>
              <a:t>  To show an order summary, mongod has to join customers, products and reviews with three $lookup stages.</a:t>
            </a:r>
          </a:p>
          <a:p/>
          <a:p>
            <a:r>
              <a:t>- How to read it</a:t>
            </a:r>
          </a:p>
          <a:p/>
          <a:p>
            <a:r>
              <a:t>  The red arrows are the joins; the red labels name the cost: many joins, complex reads.</a:t>
            </a:r>
          </a:p>
          <a:p/>
          <a:p>
            <a:r>
              <a:t>- Key point</a:t>
            </a:r>
          </a:p>
          <a:p/>
          <a:p>
            <a:r>
              <a:t>  This is a relational design with MongoDB syntax — it loses the benefit of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Inconsistent names</a:t>
            </a:r>
          </a:p>
          <a:p/>
          <a:p>
            <a:r>
              <a:t>  When one document says customerId, another customer_id and a third custId, a query on one name silently misses the others.</a:t>
            </a:r>
          </a:p>
          <a:p/>
          <a:p>
            <a:r>
              <a:t>- Inconsistent types</a:t>
            </a:r>
          </a:p>
          <a:p/>
          <a:p>
            <a:r>
              <a:t>  The same happens with types: price as 29.99, as "29.99" and as { amount: 29.99 } in one collection breaks sorting, filtering and calculations.</a:t>
            </a:r>
          </a:p>
          <a:p/>
          <a:p>
            <a:r>
              <a:t>- The fix</a:t>
            </a:r>
          </a:p>
          <a:p/>
          <a:p>
            <a:r>
              <a:t>  Choose one name and one structure for each field, apply it everywhere, and enforce it with validation.</a:t>
            </a:r>
          </a:p>
          <a:p/>
          <a:p>
            <a:r>
              <a:t>  training_store uses camelCase names such as customerId and createdAt throughout.</a:t>
            </a:r>
          </a:p>
          <a:p/>
          <a:p>
            <a:r>
              <a:t>- What it shows</a:t>
            </a:r>
          </a:p>
          <a:p/>
          <a:p>
            <a:r>
              <a:t>  Three order documents that store the customer as customerId, customer_id and custId.</a:t>
            </a:r>
          </a:p>
          <a:p/>
          <a:p>
            <a:r>
              <a:t>  A find by customerId matches only the first.</a:t>
            </a:r>
          </a:p>
          <a:p/>
          <a:p>
            <a:r>
              <a:t>- How to read it</a:t>
            </a:r>
          </a:p>
          <a:p/>
          <a:p>
            <a:r>
              <a:t>  Red crosses mark the documents the query misses.</a:t>
            </a:r>
          </a:p>
          <a:p/>
          <a:p>
            <a:r>
              <a:t>  After standardizing the field, all three show green ticks.</a:t>
            </a:r>
          </a:p>
          <a:p/>
          <a:p>
            <a:r>
              <a:t>- Key point</a:t>
            </a:r>
          </a:p>
          <a:p/>
          <a:p>
            <a:r>
              <a:t>  Queries match exact field names, so one name per field is a correctness rule.</a:t>
            </a:r>
          </a:p>
          <a:p/>
          <a:p>
            <a:r>
              <a:t>- More mistakes to watch</a:t>
            </a:r>
          </a:p>
          <a:p/>
          <a:p>
            <a:r>
              <a:t>  Two more from the guide.</a:t>
            </a:r>
          </a:p>
          <a:p/>
          <a:p>
            <a:r>
              <a:t>  Don't copy frequently changing shared data, such as a customer's current profile, into thousands of documents.</a:t>
            </a:r>
          </a:p>
          <a:p/>
          <a:p>
            <a:r>
              <a:t>  And don't design without the queries: a valid model can still be slow if it doesn't support the common queries and indexes.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Attribute and Polymorphic</a:t>
            </a:r>
          </a:p>
          <a:p/>
          <a:p>
            <a:r>
              <a:t>  Attribute handles many optional fields that must be searchable.</a:t>
            </a:r>
          </a:p>
          <a:p/>
          <a:p>
            <a:r>
              <a:t>  Polymorphic keeps different shapes in one collection because the application queries them together, like our products.</a:t>
            </a:r>
          </a:p>
          <a:p/>
          <a:p>
            <a:r>
              <a:t>- Bucket and Outlier</a:t>
            </a:r>
          </a:p>
          <a:p/>
          <a:p>
            <a:r>
              <a:t>  Bucket groups many small events, such as sensor readings, into one document per time window.</a:t>
            </a:r>
          </a:p>
          <a:p/>
          <a:p>
            <a:r>
              <a:t>  Outlier gives the rare very large case, like a product with an extreme number of reviews, special overflow handling so ordinary documents stay simple.</a:t>
            </a:r>
          </a:p>
          <a:p/>
          <a:p>
            <a:r>
              <a:t>- Subset, Computed and Extended reference</a:t>
            </a:r>
          </a:p>
          <a:p/>
          <a:p>
            <a:r>
              <a:t>  Subset embeds only the hot part of a large relationship.</a:t>
            </a:r>
          </a:p>
          <a:p/>
          <a:p>
            <a:r>
              <a:t>  Computed stores a calculated result.</a:t>
            </a:r>
          </a:p>
          <a:p/>
          <a:p>
            <a:r>
              <a:t>  Extended reference copies a few frequently read fields next to the reference, as our order items copy sku and name, and as our reviews copy sku.</a:t>
            </a:r>
          </a:p>
          <a:p/>
          <a:p>
            <a:r>
              <a:t>- Trade-offs</a:t>
            </a:r>
          </a:p>
          <a:p/>
          <a:p>
            <a:r>
              <a:t>  Every pattern makes some reads cheaper by making writes or code more complex.</a:t>
            </a:r>
          </a:p>
          <a:p/>
          <a:p>
            <a:r>
              <a:t>  Apply one only when its problem appears in the access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problem</a:t>
            </a:r>
          </a:p>
          <a:p/>
          <a:p>
            <a:r>
              <a:t>  Products have many optional attributes.</a:t>
            </a:r>
          </a:p>
          <a:p/>
          <a:p>
            <a:r>
              <a:t>  Searching on each one would need its own index.</a:t>
            </a:r>
          </a:p>
          <a:p/>
          <a:p>
            <a:r>
              <a:t>- The pattern</a:t>
            </a:r>
          </a:p>
          <a:p/>
          <a:p>
            <a:r>
              <a:t>  The Attribute pattern stores them as an array of key-value pairs, { k, v }.</a:t>
            </a:r>
          </a:p>
          <a:p/>
          <a:p>
            <a:r>
              <a:t>  One compound index on attributes.k and attributes.v then serves every attribute search.</a:t>
            </a:r>
          </a:p>
          <a:p/>
          <a:p>
            <a:r>
              <a:t>- training_store today</a:t>
            </a:r>
          </a:p>
          <a:p/>
          <a:p>
            <a:r>
              <a:t>  Our attributes field is a plain embedded object, which is simpler and fine while queries use a few known fields.</a:t>
            </a:r>
          </a:p>
          <a:p/>
          <a:p>
            <a:r>
              <a:t>  Switch to the pattern when attribute searches multiply.</a:t>
            </a:r>
          </a:p>
          <a:p/>
          <a:p>
            <a:r>
              <a:t>- What it shows</a:t>
            </a:r>
          </a:p>
          <a:p/>
          <a:p>
            <a:r>
              <a:t>  Three products with different top-level attributes — color and size, ram and storage, material and volume — normalized into one attributes array of { k, v } pairs.</a:t>
            </a:r>
          </a:p>
          <a:p/>
          <a:p>
            <a:r>
              <a:t>- How to read it</a:t>
            </a:r>
          </a:p>
          <a:p/>
          <a:p>
            <a:r>
              <a:t>  One index on attributes.k plus attributes.v then serves queries such as color = Blue or size = 10.</a:t>
            </a:r>
          </a:p>
          <a:p/>
          <a:p>
            <a:r>
              <a:t>- Key point</a:t>
            </a:r>
          </a:p>
          <a:p/>
          <a:p>
            <a:r>
              <a:t>  The pattern trades a simple document shape for one index that covers every attribute.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problem</a:t>
            </a:r>
          </a:p>
          <a:p/>
          <a:p>
            <a:r>
              <a:t>  A product page shows a few recent reviews, but the product may have hundreds.</a:t>
            </a:r>
          </a:p>
          <a:p/>
          <a:p>
            <a:r>
              <a:t>- The pattern</a:t>
            </a:r>
          </a:p>
          <a:p/>
          <a:p>
            <a:r>
              <a:t>  The Subset pattern embeds only the hot part, such as the three most recent reviews, and keeps the complete history in the reviews collection.</a:t>
            </a:r>
          </a:p>
          <a:p/>
          <a:p>
            <a:r>
              <a:t>- Trade-off</a:t>
            </a:r>
          </a:p>
          <a:p/>
          <a:p>
            <a:r>
              <a:t>  The page loads in one read, but a new review is written in two places: the reviews collection and the product's small subset.</a:t>
            </a:r>
          </a:p>
          <a:p/>
          <a:p>
            <a:r>
              <a:t>- What it shows</a:t>
            </a:r>
          </a:p>
          <a:p/>
          <a:p>
            <a:r>
              <a:t>  A product document with ratingAvg 4.7 and a recentReviews array of three, the hot subset.</a:t>
            </a:r>
          </a:p>
          <a:p/>
          <a:p>
            <a:r>
              <a:t>  The reviews collection holds the complete history of 248 reviews.</a:t>
            </a:r>
          </a:p>
          <a:p/>
          <a:p>
            <a:r>
              <a:t>- How to read it</a:t>
            </a:r>
          </a:p>
          <a:p/>
          <a:p>
            <a:r>
              <a:t>  The product page uses the fast common read.</a:t>
            </a:r>
          </a:p>
          <a:p/>
          <a:p>
            <a:r>
              <a:t>  Load all reviews goes to the reviews collection by productId.</a:t>
            </a:r>
          </a:p>
          <a:p/>
          <a:p>
            <a:r>
              <a:t>- Key point</a:t>
            </a:r>
          </a:p>
          <a:p/>
          <a:p>
            <a:r>
              <a:t>  Embed only the part the common page needs; reference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problem</a:t>
            </a:r>
          </a:p>
          <a:p/>
          <a:p>
            <a:r>
              <a:t>  Calculating the average rating from every review on every page view repeats the same work.</a:t>
            </a:r>
          </a:p>
          <a:p/>
          <a:p>
            <a:r>
              <a:t>- The pattern</a:t>
            </a:r>
          </a:p>
          <a:p/>
          <a:p>
            <a:r>
              <a:t>  The Computed pattern calculates once and stores the result, such as ratingAvg and reviewCount on the product.</a:t>
            </a:r>
          </a:p>
          <a:p/>
          <a:p>
            <a:r>
              <a:t>- Trade-off</a:t>
            </a:r>
          </a:p>
          <a:p/>
          <a:p>
            <a:r>
              <a:t>  Reads become fast, but the stored value must be recomputed when a review is added, either at write time or on a schedule.</a:t>
            </a:r>
          </a:p>
          <a:p/>
          <a:p>
            <a:r>
              <a:t>- What it shows</a:t>
            </a:r>
          </a:p>
          <a:p/>
          <a:p>
            <a:r>
              <a:t>  Five review documents for product P100 are aggregated once: 23 ÷ 5 = 4.6.</a:t>
            </a:r>
          </a:p>
          <a:p/>
          <a:p>
            <a:r>
              <a:t>  The result is written to the product as ratingAvg 4.6 and reviewCount 5.</a:t>
            </a:r>
          </a:p>
          <a:p/>
          <a:p>
            <a:r>
              <a:t>- How to read it</a:t>
            </a:r>
          </a:p>
          <a:p/>
          <a:p>
            <a:r>
              <a:t>  Green arrows are fast repeated reads.</a:t>
            </a:r>
          </a:p>
          <a:p/>
          <a:p>
            <a:r>
              <a:t>  The red arrow shows a new review triggering a recompute.</a:t>
            </a:r>
          </a:p>
          <a:p/>
          <a:p>
            <a:r>
              <a:t>- Key point</a:t>
            </a:r>
          </a:p>
          <a:p/>
          <a:p>
            <a:r>
              <a:t>  Store a calculated value when it is read far more often than its inputs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A flexible schema still needs guardrails.</a:t>
            </a:r>
          </a:p>
          <a:p/>
          <a:p>
            <a:r>
              <a:t>  We add validation, plan how the schema can change, and then build and query the model in the labs.</a:t>
            </a:r>
          </a:p>
          <a:p/>
          <a:p>
            <a:r>
              <a:t>- Lab link</a:t>
            </a:r>
          </a:p>
          <a:p/>
          <a:p>
            <a:r>
              <a:t>  The slides in this part follow Steps 5 and 6 of Lab 2.</a:t>
            </a:r>
          </a:p>
          <a:p/>
          <a:p>
            <a:r>
              <a:t>  The full lab, labs/day-01/lab2/LAB-2-GUIDE.md, comes after the knowledge check and Exercises 3.1 to 3.9.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Flexible, not unplanned</a:t>
            </a:r>
          </a:p>
          <a:p/>
          <a:p>
            <a:r>
              <a:t>  MongoDB doesn't force one shape, but a collection can enforce rules with a validator.</a:t>
            </a:r>
          </a:p>
          <a:p/>
          <a:p>
            <a:r>
              <a:t>  The $jsonSchema operator is the usual way.</a:t>
            </a:r>
          </a:p>
          <a:p/>
          <a:p>
            <a:r>
              <a:t>- The three building blocks</a:t>
            </a:r>
          </a:p>
          <a:p/>
          <a:p>
            <a:r>
              <a:t>  required lists the fields every document must have.</a:t>
            </a:r>
          </a:p>
          <a:p/>
          <a:p>
            <a:r>
              <a:t>  properties gives each field a bsonType.</a:t>
            </a:r>
          </a:p>
          <a:p/>
          <a:p>
            <a:r>
              <a:t>  Keywords such as minimum add range rules.</a:t>
            </a:r>
          </a:p>
          <a:p/>
          <a:p>
            <a:r>
              <a:t>- When it runs</a:t>
            </a:r>
          </a:p>
          <a:p/>
          <a:p>
            <a:r>
              <a:t>  The validator checks inserts and updates.</a:t>
            </a:r>
          </a:p>
          <a:p/>
          <a:p>
            <a:r>
              <a:t>  A valid document is stored; an invalid one is rejected with an error that names the failing rule.</a:t>
            </a:r>
          </a:p>
          <a:p/>
          <a:p>
            <a:r>
              <a:t>- What it shows</a:t>
            </a:r>
          </a:p>
          <a:p/>
          <a:p>
            <a:r>
              <a:t>  A product document passes through a $jsonSchema validator: bsonType object, required sku, name and price, with a type for each and price minimum 0.</a:t>
            </a:r>
          </a:p>
          <a:p/>
          <a:p>
            <a:r>
              <a:t>- How to read it</a:t>
            </a:r>
          </a:p>
          <a:p/>
          <a:p>
            <a:r>
              <a:t>  Valid documents continue to mongod and the products collection; invalid ones are rejected.</a:t>
            </a:r>
          </a:p>
          <a:p/>
          <a:p>
            <a:r>
              <a:t>- Diagram versus lab</a:t>
            </a:r>
          </a:p>
          <a:p/>
          <a:p>
            <a:r>
              <a:t>  The diagram uses bsonType number, which accepts any numeric type.</a:t>
            </a:r>
          </a:p>
          <a:p/>
          <a:p>
            <a:r>
              <a:t>  Lab 2, Step 6, is stricter: price must be decimal, the Decimal128 type.</a:t>
            </a:r>
          </a:p>
          <a:p/>
          <a:p>
            <a:r>
              <a:t>- The Lab 2, Step 6 validator</a:t>
            </a:r>
          </a:p>
          <a:p/>
          <a:p>
            <a:r>
              <a:t>  Step 6 creates a separate validated_products collection that requires sku, name, category, price, active and createdAt.</a:t>
            </a:r>
          </a:p>
          <a:p/>
          <a:p>
            <a:r>
              <a:t>  price must be decimal with minimum 0, active must be bool and createdAt must be date.</a:t>
            </a:r>
          </a:p>
          <a:p/>
          <a:p>
            <a:r>
              <a:t>  Extra optional fields are still allowed.</a:t>
            </a:r>
          </a:p>
          <a:p/>
          <a:p>
            <a:r>
              <a:t>- Why a separate collection</a:t>
            </a:r>
          </a:p>
          <a:p/>
          <a:p>
            <a:r>
              <a:t>  The main products collection keeps XBAD's string price for Module 4, so the lab tries validation on a new collection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validationLevel</a:t>
            </a:r>
          </a:p>
          <a:p/>
          <a:p>
            <a:r>
              <a:t>  strict, the default, checks every insert and every update.</a:t>
            </a:r>
          </a:p>
          <a:p/>
          <a:p>
            <a:r>
              <a:t>  moderate checks inserts and updates to documents that are already valid, and leaves existing invalid documents alone.</a:t>
            </a:r>
          </a:p>
          <a:p/>
          <a:p>
            <a:r>
              <a:t>- validationAction</a:t>
            </a:r>
          </a:p>
          <a:p/>
          <a:p>
            <a:r>
              <a:t>  error, the default, rejects an invalid write.</a:t>
            </a:r>
          </a:p>
          <a:p/>
          <a:p>
            <a:r>
              <a:t>  warn stores the write and records a warning in the log.</a:t>
            </a:r>
          </a:p>
          <a:p/>
          <a:p>
            <a:r>
              <a:t>- When to relax</a:t>
            </a:r>
          </a:p>
          <a:p/>
          <a:p>
            <a:r>
              <a:t>  Use moderate and warn when you add rules to a collection that already holds old documents.</a:t>
            </a:r>
          </a:p>
          <a:p/>
          <a:p>
            <a:r>
              <a:t>  Fix the old data, then switch back to strict and error.</a:t>
            </a:r>
          </a:p>
          <a:p/>
          <a:p>
            <a:r>
              <a:t>- What it shows</a:t>
            </a:r>
          </a:p>
          <a:p/>
          <a:p>
            <a:r>
              <a:t>  An insert with price -10 reaches mongod, which applies the validationLevel and then the validationAction.</a:t>
            </a:r>
          </a:p>
          <a:p/>
          <a:p>
            <a:r>
              <a:t>- How to read it</a:t>
            </a:r>
          </a:p>
          <a:p/>
          <a:p>
            <a:r>
              <a:t>  validationLevel strict checks all inserts and updates; moderate checks inserts and updates to valid documents.</a:t>
            </a:r>
          </a:p>
          <a:p/>
          <a:p>
            <a:r>
              <a:t>  validationAction error rejects the write; warn stores it and logs a warning.</a:t>
            </a:r>
          </a:p>
          <a:p/>
          <a:p>
            <a:r>
              <a:t>- Key point</a:t>
            </a:r>
          </a:p>
          <a:p/>
          <a:p>
            <a:r>
              <a:t>  Level decides when rules run; action decides what a failure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Schemas change</a:t>
            </a:r>
          </a:p>
          <a:p/>
          <a:p>
            <a:r>
              <a:t>  Requirements change, so document shapes change.</a:t>
            </a:r>
          </a:p>
          <a:p/>
          <a:p>
            <a:r>
              <a:t>  A new optional field is non-breaking.</a:t>
            </a:r>
          </a:p>
          <a:p/>
          <a:p>
            <a:r>
              <a:t>  Renaming or restructuring a field is breaking for old readers and writers.</a:t>
            </a:r>
          </a:p>
          <a:p/>
          <a:p>
            <a:r>
              <a:t>- Version the shape</a:t>
            </a:r>
          </a:p>
          <a:p/>
          <a:p>
            <a:r>
              <a:t>  A schemaVersion field records which shape each document has.</a:t>
            </a:r>
          </a:p>
          <a:p/>
          <a:p>
            <a:r>
              <a:t>  The application reads both versions and normalizes them to one model.</a:t>
            </a:r>
          </a:p>
          <a:p/>
          <a:p>
            <a:r>
              <a:t>- Migrate safely</a:t>
            </a:r>
          </a:p>
          <a:p/>
          <a:p>
            <a:r>
              <a:t>  Deploy readers that tolerate both shapes first.</a:t>
            </a:r>
          </a:p>
          <a:p/>
          <a:p>
            <a:r>
              <a:t>  Then write the new shape, backfill old documents in small batches, and only then tighten validation to require it.</a:t>
            </a:r>
          </a:p>
          <a:p/>
          <a:p>
            <a:r>
              <a:t>- What it shows</a:t>
            </a:r>
          </a:p>
          <a:p/>
          <a:p>
            <a:r>
              <a:t>  The products collection holds schemaVersion 1 documents with name and price, and schemaVersion 2 documents with title and a pricing object of amount and currency.</a:t>
            </a:r>
          </a:p>
          <a:p/>
          <a:p>
            <a:r>
              <a:t>- How to read it</a:t>
            </a:r>
          </a:p>
          <a:p/>
          <a:p>
            <a:r>
              <a:t>  A version-aware reader transforms v1, reads v2 and normalizes both into the current product model.</a:t>
            </a:r>
          </a:p>
          <a:p/>
          <a:p>
            <a:r>
              <a:t>- Key point</a:t>
            </a:r>
          </a:p>
          <a:p/>
          <a:p>
            <a:r>
              <a:t>  Old and new documents can coexist while the migration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Products</a:t>
            </a:r>
          </a:p>
          <a:p/>
          <a:p>
            <a:r>
              <a:t>  category LAPTOP returns the laptop.</a:t>
            </a:r>
          </a:p>
          <a:p/>
          <a:p>
            <a:r>
              <a:t>  "attributes.memoryGB": 16 walks into the embedded attributes document and also returns L100.</a:t>
            </a:r>
          </a:p>
          <a:p/>
          <a:p>
            <a:r>
              <a:t>  tags: "technology" matches any element of the tags array, so it returns the book, B300.</a:t>
            </a:r>
          </a:p>
          <a:p/>
          <a:p>
            <a:r>
              <a:t>- Customers and orders</a:t>
            </a:r>
          </a:p>
          <a:p/>
          <a:p>
            <a:r>
              <a:t>  "addresses.city": "Toronto" looks inside every element of the addresses array and returns Aisha Khan, C101.</a:t>
            </a:r>
          </a:p>
          <a:p/>
          <a:p>
            <a:r>
              <a:t>  "items.sku": "L100" returns every order with a laptop line.</a:t>
            </a:r>
          </a:p>
          <a:p/>
          <a:p>
            <a:r>
              <a:t>- Two result sets</a:t>
            </a:r>
          </a:p>
          <a:p/>
          <a:p>
            <a:r>
              <a:t>  On the hand-built core from Lab 2, Steps 1-4, the results are L100, L100, B300, C101 and O5001.</a:t>
            </a:r>
          </a:p>
          <a:p/>
          <a:p>
            <a:r>
              <a:t>  After load.js, the LAPTOP query returns three products, L100, L110 and L190, and the items.sku query returns O5001, O6101, O6301 and O6401.</a:t>
            </a:r>
          </a:p>
          <a:p/>
          <a:p>
            <a:r>
              <a:t>  The other three queries return the same documents.</a:t>
            </a:r>
          </a:p>
          <a:p/>
          <a:p>
            <a:r>
              <a:t>- Why the quotes</a:t>
            </a:r>
          </a:p>
          <a:p/>
          <a:p>
            <a:r>
              <a:t>  A dotted path is not a valid JavaScript identifier, so mongosh needs it as a quoted string.</a:t>
            </a:r>
          </a:p>
          <a:p/>
          <a:p>
            <a:r>
              <a:t>  Module 4 goes further with $elemMatch and array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Read the pipeline</a:t>
            </a:r>
          </a:p>
          <a:p/>
          <a:p>
            <a:r>
              <a:t>  The first line looks up the L100 product to get its _id.</a:t>
            </a:r>
          </a:p>
          <a:p/>
          <a:p>
            <a:r>
              <a:t>  $match keeps the reviews for that product.</a:t>
            </a:r>
          </a:p>
          <a:p/>
          <a:p>
            <a:r>
              <a:t>  $lookup adds a product array holding the matching product, $unwind turns that array into a single embedded document, and $project keeps rating, title and the product's name.</a:t>
            </a:r>
          </a:p>
          <a:p/>
          <a:p>
            <a:r>
              <a:t>- The result</a:t>
            </a:r>
          </a:p>
          <a:p/>
          <a:p>
            <a:r>
              <a:t>  After load.js, L100 has one review: Aisha Khan's rating 5, titled Excellent for travel.</a:t>
            </a:r>
          </a:p>
          <a:p/>
          <a:p>
            <a:r>
              <a:t>  The product name comes from the products collection: Business Laptop.</a:t>
            </a:r>
          </a:p>
          <a:p/>
          <a:p>
            <a:r>
              <a:t>- Dataset note</a:t>
            </a:r>
          </a:p>
          <a:p/>
          <a:p>
            <a:r>
              <a:t>  The content guide's version matches on a hard-coded mouseId and projects a comment field.</a:t>
            </a:r>
          </a:p>
          <a:p/>
          <a:p>
            <a:r>
              <a:t>  training_store reviews have no comment; their text is in title and body.</a:t>
            </a:r>
          </a:p>
          <a:p/>
          <a:p>
            <a:r>
              <a:t>  The hand-insert labs don't add reviews, so run this after load.js.</a:t>
            </a:r>
          </a:p>
          <a:p/>
          <a:p>
            <a:r>
              <a:t>- The trade-off</a:t>
            </a:r>
          </a:p>
          <a:p/>
          <a:p>
            <a:r>
              <a:t>  This is the price of referencing.</a:t>
            </a:r>
          </a:p>
          <a:p/>
          <a:p>
            <a:r>
              <a:t>  training_store softens it by copying sku into each review, an extended reference, so the most common lookup needs no join.</a:t>
            </a:r>
          </a:p>
          <a:p/>
          <a:p>
            <a:r>
              <a:t>  Module 5 covers $lookup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already exists</a:t>
            </a:r>
          </a:p>
          <a:p/>
          <a:p>
            <a:r>
              <a:t>  load.js creates four unique indexes: sku_unique on products, customerNumber_unique and email_unique on customers, and orderNumber_unique on orders.</a:t>
            </a:r>
          </a:p>
          <a:p/>
          <a:p>
            <a:r>
              <a:t>  Every collection also has the automatic _id index.</a:t>
            </a:r>
          </a:p>
          <a:p/>
          <a:p>
            <a:r>
              <a:t>- What we plan</a:t>
            </a:r>
          </a:p>
          <a:p/>
          <a:p>
            <a:r>
              <a:t>  Browsing by category and price, a customer's order history newest first, and a product's reviews newest first each get a compound index.</a:t>
            </a:r>
          </a:p>
          <a:p/>
          <a:p>
            <a:r>
              <a:t>  We only design them here; Module 6 creates them and checks them with explain().</a:t>
            </a:r>
          </a:p>
          <a:p/>
          <a:p>
            <a:r>
              <a:t>- Dataset note</a:t>
            </a:r>
          </a:p>
          <a:p/>
          <a:p>
            <a:r>
              <a:t>  The content guide indexes { email: 1 } and { customerId: 1, orderedAt: -1 }.</a:t>
            </a:r>
          </a:p>
          <a:p/>
          <a:p>
            <a:r>
              <a:t>  In training_store the email lives at contact.email and orders use createdAt, so the slide uses those field names.</a:t>
            </a:r>
          </a:p>
          <a:p/>
          <a:p>
            <a:r>
              <a:t>- Don't re-run the unique ones</a:t>
            </a:r>
          </a:p>
          <a:p/>
          <a:p>
            <a:r>
              <a:t>  Creating the unique sku index again without its name would fail, because an index with the same key already exists under the name sku_unique.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it</a:t>
            </a:r>
          </a:p>
          <a:p/>
          <a:p>
            <a:r>
              <a:t>  Two minutes to write predictions, then run each query on the instructor screen after load.js.</a:t>
            </a:r>
          </a:p>
          <a:p/>
          <a:p>
            <a:r>
              <a:t>- Shoe sizes</a:t>
            </a:r>
          </a:p>
          <a:p/>
          <a:p>
            <a:r>
              <a:t>  "attributes.sizes": 11 walks into attributes and then matches any element of the sizes array.</a:t>
            </a:r>
          </a:p>
          <a:p/>
          <a:p>
            <a:r>
              <a:t>  Only the Trail Shoe, S210, with sizes 8 to 11, has an 11.</a:t>
            </a:r>
          </a:p>
          <a:p/>
          <a:p>
            <a:r>
              <a:t>- Connections and countries</a:t>
            </a:r>
          </a:p>
          <a:p/>
          <a:p>
            <a:r>
              <a:t>  Two accessories use USB-C: the USB Hub, A400, and the Docking Station, A500.</a:t>
            </a:r>
          </a:p>
          <a:p/>
          <a:p>
            <a:r>
              <a:t>  The keyboard and the mouse are Bluetooth.</a:t>
            </a:r>
          </a:p>
          <a:p/>
          <a:p>
            <a:r>
              <a:t>  Two customers ship to the USA: Luis Romero, C204, in Austin, and Maya Chen, C620, in San Francisco.</a:t>
            </a:r>
          </a:p>
          <a:p/>
          <a:p>
            <a:r>
              <a:t>- Wireless Mouse orders</a:t>
            </a:r>
          </a:p>
          <a:p/>
          <a:p>
            <a:r>
              <a:t>  A410 appears in O5001, O6201 and O6305, so countDocuments returns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Access patterns</a:t>
            </a:r>
          </a:p>
          <a:p/>
          <a:p>
            <a:r>
              <a:t>  Start from what the application does: browse, order, review.</a:t>
            </a:r>
          </a:p>
          <a:p/>
          <a:p>
            <a:r>
              <a:t>- Relationships and shape</a:t>
            </a:r>
          </a:p>
          <a:p/>
          <a:p>
            <a:r>
              <a:t>  Embed bounded data that belongs to the parent; reference independent, shared or unbounded data.</a:t>
            </a:r>
          </a:p>
          <a:p/>
          <a:p>
            <a:r>
              <a:t>- Patterns and guardrails</a:t>
            </a:r>
          </a:p>
          <a:p/>
          <a:p>
            <a:r>
              <a:t>  Schema patterns solve recurring problems.</a:t>
            </a:r>
          </a:p>
          <a:p/>
          <a:p>
            <a:r>
              <a:t>  Validation, the 16 MiB limit and bounded arrays keep the model healthy.</a:t>
            </a:r>
          </a:p>
          <a:p/>
          <a:p>
            <a:r>
              <a:t>- The result</a:t>
            </a:r>
          </a:p>
          <a:p/>
          <a:p>
            <a:r>
              <a:t>  training_store: products, customers, orders and reviews, ready for Day 2.</a:t>
            </a:r>
          </a:p>
          <a:p/>
          <a:p>
            <a:r>
              <a:t>- What it shows</a:t>
            </a:r>
          </a:p>
          <a:p/>
          <a:p>
            <a:r>
              <a:t>  Six boxes across the top: access patterns, relationships, document shape, schema patterns, guardrails and read model.</a:t>
            </a:r>
          </a:p>
          <a:p/>
          <a:p>
            <a:r>
              <a:t>  Each feeds the four training_store collections below.</a:t>
            </a:r>
          </a:p>
          <a:p/>
          <a:p>
            <a:r>
              <a:t>- How to use it</a:t>
            </a:r>
          </a:p>
          <a:p/>
          <a:p>
            <a:r>
              <a:t>  Point to each box and ask the class for one training_store example before the knowledge check.</a:t>
            </a:r>
          </a:p>
          <a:p/>
          <a:p>
            <a:r>
              <a:t>- Key point</a:t>
            </a:r>
          </a:p>
          <a:p/>
          <a:p>
            <a:r>
              <a:t>  Together these steps are the modeling method Module 4 now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Collection and document</a:t>
            </a:r>
          </a:p>
          <a:p/>
          <a:p>
            <a:r>
              <a:t>  A document is one record of field-value pairs.</a:t>
            </a:r>
          </a:p>
          <a:p/>
          <a:p>
            <a:r>
              <a:t>  A collection is a group of related documents.</a:t>
            </a:r>
          </a:p>
          <a:p/>
          <a:p>
            <a:r>
              <a:t>- 2. BSON</a:t>
            </a:r>
          </a:p>
          <a:p/>
          <a:p>
            <a:r>
              <a:t>  Binary JSON.</a:t>
            </a:r>
          </a:p>
          <a:p/>
          <a:p>
            <a:r>
              <a:t>  It adds types such as Date, Decimal128, ObjectId and Int32 that plain JSON doesn't have.</a:t>
            </a:r>
          </a:p>
          <a:p/>
          <a:p>
            <a:r>
              <a:t>- 3. _id</a:t>
            </a:r>
          </a:p>
          <a:p/>
          <a:p>
            <a:r>
              <a:t>  It is unique within the collection, it always has an index, and it can't change after the insert.</a:t>
            </a:r>
          </a:p>
          <a:p/>
          <a:p>
            <a:r>
              <a:t>- 4. Embedding</a:t>
            </a:r>
          </a:p>
          <a:p/>
          <a:p>
            <a:r>
              <a:t>  When the data is read with the parent, stays bounded and belongs to the parent — like addresses or order items.</a:t>
            </a:r>
          </a:p>
          <a:p/>
          <a:p>
            <a:r>
              <a:t>- 5. Referencing</a:t>
            </a:r>
          </a:p>
          <a:p/>
          <a:p>
            <a:r>
              <a:t>  When the data is shared, changes independently or grows without limit — like orders per customer or reviews per product.</a:t>
            </a:r>
          </a:p>
          <a:p/>
          <a:p>
            <a:r>
              <a:t>- 6. Unbounded arrays</a:t>
            </a:r>
          </a:p>
          <a:p/>
          <a:p>
            <a:r>
              <a:t>  The document keeps growing, updates get more expensive, and it can reach the size limit.</a:t>
            </a:r>
          </a:p>
          <a:p/>
          <a:p>
            <a:r>
              <a:t>- 7. Size limit</a:t>
            </a:r>
          </a:p>
          <a:p/>
          <a:p>
            <a:r>
              <a:t>  16 MiB per BSON document.</a:t>
            </a:r>
          </a:p>
          <a:p/>
          <a:p>
            <a:r>
              <a:t>- 8. Price on the order</a:t>
            </a:r>
          </a:p>
          <a:p/>
          <a:p>
            <a:r>
              <a:t>  To keep the price the customer actually paid.</a:t>
            </a:r>
          </a:p>
          <a:p/>
          <a:p>
            <a:r>
              <a:t>  It is a snapshot, so it must not follow later catalog changes.</a:t>
            </a:r>
          </a:p>
          <a:p/>
          <a:p>
            <a:r>
              <a:t>- 9. Validation</a:t>
            </a:r>
          </a:p>
          <a:p/>
          <a:p>
            <a:r>
              <a:t>  Required fields, BSON types and value rules such as a minimum, checked on inserts and updates.</a:t>
            </a:r>
          </a:p>
          <a:p/>
          <a:p>
            <a:r>
              <a:t>  It doesn't design the model for you.</a:t>
            </a:r>
          </a:p>
          <a:p/>
          <a:p>
            <a:r>
              <a:t>- 10. Calculated result</a:t>
            </a:r>
          </a:p>
          <a:p/>
          <a:p>
            <a:r>
              <a:t>  The Computed pattern.</a:t>
            </a:r>
          </a:p>
          <a:p/>
          <a:p>
            <a:r>
              <a:t>  For time-based measurements the answer would be Bucket, and for copied referenced fields, Extended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3.1.</a:t>
            </a:r>
          </a:p>
          <a:p/>
          <a:p>
            <a:r>
              <a:t>  The worksheet is labs/day-01/exercises/exercise-3.1-identify-document-components.md; the answer key is labs/day-01/exercises/solution/exercise-3.1-identify-document-components.md.</a:t>
            </a:r>
          </a:p>
          <a:p/>
          <a:p>
            <a:r>
              <a:t>  No MongoDB is needed.</a:t>
            </a:r>
          </a:p>
          <a:p/>
          <a:p>
            <a:r>
              <a:t>- Running it</a:t>
            </a:r>
          </a:p>
          <a:p/>
          <a:p>
            <a:r>
              <a:t>  Ten minutes in pairs.</a:t>
            </a:r>
          </a:p>
          <a:p/>
          <a:p>
            <a:r>
              <a:t>  Reveal the solution column after two pairs share their labels.</a:t>
            </a:r>
          </a:p>
          <a:p/>
          <a:p>
            <a:r>
              <a:t>- Worksheet versus dataset</a:t>
            </a:r>
          </a:p>
          <a:p/>
          <a:p>
            <a:r>
              <a:t>  The worksheet's customer is a teaching sample.</a:t>
            </a:r>
          </a:p>
          <a:p/>
          <a:p>
            <a:r>
              <a:t>  The loaded C101 keeps email inside a contact object, has a status of ACTIVE instead of an active flag, and has no tags.</a:t>
            </a:r>
          </a:p>
          <a:p/>
          <a:p>
            <a:r>
              <a:t>  Both are valid designs; the labelling skill is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3.2.</a:t>
            </a:r>
          </a:p>
          <a:p/>
          <a:p>
            <a:r>
              <a:t>  The worksheet is labs/day-01/exercises/exercise-3.2-discover-access-patterns.md; the answer key is labs/day-01/exercises/solution/exercise-3.2-discover-access-patterns.md.</a:t>
            </a:r>
          </a:p>
          <a:p/>
          <a:p>
            <a:r>
              <a:t>- Table columns</a:t>
            </a:r>
          </a:p>
          <a:p/>
          <a:p>
            <a:r>
              <a:t>  Each row needs the access pattern, its frequency, the data returned together, and the modeling implication.</a:t>
            </a:r>
          </a:p>
          <a:p/>
          <a:p>
            <a:r>
              <a:t>  The worksheet starts two rows for them: find product by SKU and retrieve order.</a:t>
            </a:r>
          </a:p>
          <a:p/>
          <a:p>
            <a:r>
              <a:t>- What to listen for</a:t>
            </a:r>
          </a:p>
          <a:p/>
          <a:p>
            <a:r>
              <a:t>  Returned together must be specific, such as items, totals, address and status, not just everything.</a:t>
            </a:r>
          </a:p>
          <a:p/>
          <a:p>
            <a:r>
              <a:t>  Compare their table with the training_store access-pattern slide from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3.3.</a:t>
            </a:r>
          </a:p>
          <a:p/>
          <a:p>
            <a:r>
              <a:t>  The worksheet is labs/day-01/exercises/exercise-3.3-embed-or-reference.md; the answer key is labs/day-01/exercises/solution/exercise-3.3-embed-or-reference.md.</a:t>
            </a:r>
          </a:p>
          <a:p/>
          <a:p>
            <a:r>
              <a:t>- The answers</a:t>
            </a:r>
          </a:p>
          <a:p/>
          <a:p>
            <a:r>
              <a:t>  Contact information, line items and tags are embedded.</a:t>
            </a:r>
          </a:p>
          <a:p/>
          <a:p>
            <a:r>
              <a:t>  Order history, millions of reviews and a complete transaction history are referenced because they grow without limit.</a:t>
            </a:r>
          </a:p>
          <a:p/>
          <a:p>
            <a:r>
              <a:t>  The purchase-time price is embedded as a snapshot.</a:t>
            </a:r>
          </a:p>
          <a:p/>
          <a:p>
            <a:r>
              <a:t>- The 'it depends'</a:t>
            </a:r>
          </a:p>
          <a:p/>
          <a:p>
            <a:r>
              <a:t>  An office address is embedded if each employee has their own, and referenced if many employees share the same office record that changes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3.4.</a:t>
            </a:r>
          </a:p>
          <a:p/>
          <a:p>
            <a:r>
              <a:t>  The worksheet is labs/day-01/exercises/exercise-3.4-model-a-product-catalog.md; the answer key is labs/day-01/exercises/solution/exercise-3.4-model-a-product-catalog.md.</a:t>
            </a:r>
          </a:p>
          <a:p/>
          <a:p>
            <a:r>
              <a:t>  MongoDB is optional; learners write documents in a scratch file.</a:t>
            </a:r>
          </a:p>
          <a:p/>
          <a:p>
            <a:r>
              <a:t>- A model answer</a:t>
            </a:r>
          </a:p>
          <a:p/>
          <a:p>
            <a:r>
              <a:t>  training_store's L100, S200 and B300 are a good reference answer: the same core fields, with processor and memoryGB, sizes and material, or author and isbn under attributes.</a:t>
            </a:r>
          </a:p>
          <a:p/>
          <a:p>
            <a:r>
              <a:t>  The worksheet also asks for description, gender category and publisher, which training_store doesn't store.</a:t>
            </a:r>
          </a:p>
          <a:p/>
          <a:p>
            <a:r>
              <a:t>- What to check</a:t>
            </a:r>
          </a:p>
          <a:p/>
          <a:p>
            <a:r>
              <a:t>  The same field names and types on all three, and no category-specific field required for every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3.5.</a:t>
            </a:r>
          </a:p>
          <a:p/>
          <a:p>
            <a:r>
              <a:t>  The worksheet is labs/day-01/exercises/exercise-3.5-model-an-order-document.md; the answer key is labs/day-01/exercises/solution/exercise-3.5-model-an-order-document.md.</a:t>
            </a:r>
          </a:p>
          <a:p/>
          <a:p>
            <a:r>
              <a:t>- Expected document</a:t>
            </a:r>
          </a:p>
          <a:p/>
          <a:p>
            <a:r>
              <a:t>  orderNumber, customerId, an items array with sku, name, quantity and unitPrice, a shippingAddress, paymentStatus and fulfillmentStatus, Decimal128 subtotal, tax and total, and createdAt.</a:t>
            </a:r>
          </a:p>
          <a:p/>
          <a:p>
            <a:r>
              <a:t>- Justification</a:t>
            </a:r>
          </a:p>
          <a:p/>
          <a:p>
            <a:r>
              <a:t>  One read by order number returns everything the page shows.</a:t>
            </a:r>
          </a:p>
          <a:p/>
          <a:p>
            <a:r>
              <a:t>  A customer's orders are found by customerId.</a:t>
            </a:r>
          </a:p>
          <a:p/>
          <a:p>
            <a:r>
              <a:t>  Prices never silently follow the catalog.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3.6.</a:t>
            </a:r>
          </a:p>
          <a:p/>
          <a:p>
            <a:r>
              <a:t>  The worksheet is labs/day-01/exercises/exercise-3.6-correct-schema-anti-patterns.md; the answer key is labs/day-01/exercises/solution/exercise-3.6-correct-schema-anti-patterns.md.</a:t>
            </a:r>
          </a:p>
          <a:p/>
          <a:p>
            <a:r>
              <a:t>- The problems</a:t>
            </a:r>
          </a:p>
          <a:p/>
          <a:p>
            <a:r>
              <a:t>  The price is a string, the Boolean is the text yes, allReviews grows without limit, created is a display string rather than a date, and productId is used instead of a clear _id or sku convention.</a:t>
            </a:r>
          </a:p>
          <a:p/>
          <a:p>
            <a:r>
              <a:t>- The corrected document</a:t>
            </a:r>
          </a:p>
          <a:p/>
          <a:p>
            <a:r>
              <a:t>  sku: "P1001" with an ObjectId _id, price: Decimal128("49.99"), active: true, createdAt as a real date, and no reviews array.</a:t>
            </a:r>
          </a:p>
          <a:p/>
          <a:p>
            <a:r>
              <a:t>  That is exactly the shape of training_store's Wireless Keyboard, P1001.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3.7.</a:t>
            </a:r>
          </a:p>
          <a:p/>
          <a:p>
            <a:r>
              <a:t>  The worksheet is labs/day-01/exercises/exercise-3.7-select-a-schema-pattern.md; the answer key is labs/day-01/exercises/solution/exercise-3.7-select-a-schema-pattern.md.</a:t>
            </a:r>
          </a:p>
          <a:p/>
          <a:p>
            <a:r>
              <a:t>- Bucket versus one document per event</a:t>
            </a:r>
          </a:p>
          <a:p/>
          <a:p>
            <a:r>
              <a:t>  Bucket stores an hour of readings in one document, so there are far fewer documents and index entries, at the cost of updating a growing bucket.</a:t>
            </a:r>
          </a:p>
          <a:p/>
          <a:p>
            <a:r>
              <a:t>- Why Outlier exists</a:t>
            </a:r>
          </a:p>
          <a:p/>
          <a:p>
            <a:r>
              <a:t>  Most products have a few reviews.</a:t>
            </a:r>
          </a:p>
          <a:p/>
          <a:p>
            <a:r>
              <a:t>  Outlier keeps the normal design for them and adds overflow handling only for the rare product with a huge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3.8.</a:t>
            </a:r>
          </a:p>
          <a:p/>
          <a:p>
            <a:r>
              <a:t>  The worksheet is labs/day-01/exercises/exercise-3.8-design-collection-validation.md; the answer key is labs/day-01/exercises/solution/exercise-3.8-design-collection-validation.md.</a:t>
            </a:r>
          </a:p>
          <a:p/>
          <a:p>
            <a:r>
              <a:t>  Learners may type the validator in a scratch file; running it comes in Lab 2, Step 6.</a:t>
            </a:r>
          </a:p>
          <a:p/>
          <a:p>
            <a:r>
              <a:t>- Watch the type names</a:t>
            </a:r>
          </a:p>
          <a:p/>
          <a:p>
            <a:r>
              <a:t>  In $jsonSchema the BSON type names are decimal, bool and date, not Decimal128, Boolean and Date.</a:t>
            </a:r>
          </a:p>
          <a:p/>
          <a:p>
            <a:r>
              <a:t>  price must be decimal, not double or string.</a:t>
            </a:r>
          </a:p>
          <a:p/>
          <a:p>
            <a:r>
              <a:t>- Level and action</a:t>
            </a:r>
          </a:p>
          <a:p/>
          <a:p>
            <a:r>
              <a:t>  Learners who know them can add validationLevel and validationAction; the defaults are strict and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the official Exercise 3.9, the practical challenge.</a:t>
            </a:r>
          </a:p>
          <a:p/>
          <a:p>
            <a:r>
              <a:t>  The worksheet is labs/day-01/exercises/exercise-3.9-support-ticket-challenge.md; the answer key is labs/day-01/exercises/solution/exercise-3.9-support-ticket-challenge.md.</a:t>
            </a:r>
          </a:p>
          <a:p/>
          <a:p>
            <a:r>
              <a:t>  Design only; don't create indexes.</a:t>
            </a:r>
          </a:p>
          <a:p/>
          <a:p>
            <a:r>
              <a:t>- The ticket document</a:t>
            </a:r>
          </a:p>
          <a:p/>
          <a:p>
            <a:r>
              <a:t>  ticketNumber, customerId, an assignee summary, status, priority, tags, a bounded recentComments array and timestamps.</a:t>
            </a:r>
          </a:p>
          <a:p/>
          <a:p>
            <a:r>
              <a:t>  Validation requires those keys.</a:t>
            </a:r>
          </a:p>
          <a:p/>
          <a:p>
            <a:r>
              <a:t>- What grows</a:t>
            </a:r>
          </a:p>
          <a:p/>
          <a:p>
            <a:r>
              <a:t>  The complete comment history and the audit trail grow without limit, so they live in their own collections, such as comments and audit_events.</a:t>
            </a:r>
          </a:p>
          <a:p/>
          <a:p>
            <a:r>
              <a:t>  Likely indexes are customerId, assignee.agentId, status and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lab</a:t>
            </a:r>
          </a:p>
          <a:p/>
          <a:p>
            <a:r>
              <a:t>  This is Day 1 Lab 2, labs/day-01/lab2/LAB-2-GUIDE.md.</a:t>
            </a:r>
          </a:p>
          <a:p/>
          <a:p>
            <a:r>
              <a:t>  The expected output of every step is in labs/day-01/lab2/solution/LAB-2-SOLUTION.md.</a:t>
            </a:r>
          </a:p>
          <a:p/>
          <a:p>
            <a:r>
              <a:t>  Path A takes about 50 minutes: load.js replaces Steps 1 to 4, then learners do Steps 5 to 7.</a:t>
            </a:r>
          </a:p>
          <a:p/>
          <a:p>
            <a:r>
              <a:t>  Path B, all seven steps by hand, takes about 90.</a:t>
            </a:r>
          </a:p>
          <a:p/>
          <a:p>
            <a:r>
              <a:t>- Path A</a:t>
            </a:r>
          </a:p>
          <a:p/>
          <a:p>
            <a:r>
              <a:t>  Run load.js from the repository root in PowerShell, not inside mongosh.</a:t>
            </a:r>
          </a:p>
          <a:p/>
          <a:p>
            <a:r>
              <a:t>  The backtick ending the first line is PowerShell's line continuation, so both lines run as one command.</a:t>
            </a:r>
          </a:p>
          <a:p/>
          <a:p>
            <a:r>
              <a:t>  Counts are products 13, customers 6, orders 17 and reviews 6.</a:t>
            </a:r>
          </a:p>
          <a:p/>
          <a:p>
            <a:r>
              <a:t>  Then inspect L100, C101, O5001 and the L100 review.</a:t>
            </a:r>
          </a:p>
          <a:p/>
          <a:p>
            <a:r>
              <a:t>- Path B</a:t>
            </a:r>
          </a:p>
          <a:p/>
          <a:p>
            <a:r>
              <a:t>  Step 1 creates the collections, Step 2 inserts L100, S200 and B300, Step 3 inserts C101, and Step 4 inserts O5001 using the customer's _id and the product's price.</a:t>
            </a:r>
          </a:p>
          <a:p/>
          <a:p>
            <a:r>
              <a:t>  Step 5 runs the nested queries, Step 6 creates validated_products and Step 7 reviews the model against a checklist.</a:t>
            </a:r>
          </a:p>
          <a:p/>
          <a:p>
            <a:r>
              <a:t>- Counts in the order products, customers, orders, reviews</a:t>
            </a:r>
          </a:p>
          <a:p/>
          <a:p>
            <a:r>
              <a:t>  The hand-built core has 3 products, 1 customer, 1 order and no reviews.</a:t>
            </a:r>
          </a:p>
          <a:p/>
          <a:p>
            <a:r>
              <a:t>  Step 4's O5001 has only the laptop, total 1468.99; the load.js version also has two Wireless Mice, total 1514.17.</a:t>
            </a:r>
          </a:p>
          <a:p/>
          <a:p>
            <a:r>
              <a:t>- Before Day 2</a:t>
            </a:r>
          </a:p>
          <a:p/>
          <a:p>
            <a:r>
              <a:t>  Whichever path was used, reload load.js at the start of Day 2 so Modules 4 and 5 have the full analytical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read documents field by field, chose BSON types, discovered access patterns, decided embed or reference with a snapshot where history matters, learned the anti-patterns and seven schema patterns, and added validation.</a:t>
            </a:r>
          </a:p>
          <a:p/>
          <a:p>
            <a:r>
              <a:t>- End of Day 1</a:t>
            </a:r>
          </a:p>
          <a:p/>
          <a:p>
            <a:r>
              <a:t>  Day 1 took us from the NoSQL landscape, to a running MongoDB, to documents designed around access patterns.</a:t>
            </a:r>
          </a:p>
          <a:p/>
          <a:p>
            <a:r>
              <a:t>  training_store is ready for querying.</a:t>
            </a:r>
          </a:p>
          <a:p/>
          <a:p>
            <a:r>
              <a:t>- Next module</a:t>
            </a:r>
          </a:p>
          <a:p/>
          <a:p>
            <a:r>
              <a:t>  Module 4 uses training_store to teach find and findOne, filters and operators, projection, array queries, sorting and counting, and safe inserts, updates and deletes.</a:t>
            </a:r>
          </a:p>
          <a:p/>
          <a:p>
            <a:r>
              <a:t>- Before tomorrow</a:t>
            </a:r>
          </a:p>
          <a:p/>
          <a:p>
            <a:r>
              <a:t>  Reload load.js at the start of Day 2 and keep the same connection string.</a:t>
            </a:r>
          </a:p>
          <a:p/>
          <a:p>
            <a:r>
              <a:t>  Bring the Lab 2, Step 7 checklist and its one planned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"Data that is accessed together should be stored together."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Data Modeling with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Design documents around how the application reads, writes and grows — then build training_store.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MODULE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Documents and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34056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Access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Embed or reference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7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Schema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4624" y="4709160"/>
            <a:ext cx="2139696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27432" bIns="27432"/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Validate and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you will be able to do by the end of this module.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82641" cy="382641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82641" cy="3826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1252728"/>
            <a:ext cx="4939167" cy="3826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9164"/>
            <a:ext cx="5394960" cy="2228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Read the structure of a MongoDB document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Select the right BSON type for each value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Identify the application's access patterns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Model relationships by embedding or referencing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Keep documents and arrays bounded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Apply schema patterns and validation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Build and query training_store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243584"/>
            <a:ext cx="5148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SIX QUESTIONS THIS MODULE ANSWERS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73352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673352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is inside a document?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12848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212848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type fits each value?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52344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752344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does the application use the data?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91840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29184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we embed — or reference?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31335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WHICH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831335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patterns and pitfalls matter?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370831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4370831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do we enforce and build the model?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590288"/>
            <a:ext cx="310896" cy="310896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581144"/>
            <a:ext cx="10863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MODULE ROADMAP</a:t>
            </a:r>
          </a:p>
        </p:txBody>
      </p:sp>
      <p:sp>
        <p:nvSpPr>
          <p:cNvPr id="26" name="Pentagon 25"/>
          <p:cNvSpPr/>
          <p:nvPr/>
        </p:nvSpPr>
        <p:spPr>
          <a:xfrm>
            <a:off x="457200" y="5029200"/>
            <a:ext cx="1763485" cy="731520"/>
          </a:xfrm>
          <a:prstGeom prst="homePlate">
            <a:avLst>
              <a:gd name="adj" fmla="val 30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149830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Documents</a:t>
            </a:r>
          </a:p>
        </p:txBody>
      </p:sp>
      <p:sp>
        <p:nvSpPr>
          <p:cNvPr id="28" name="Chevron 27"/>
          <p:cNvSpPr/>
          <p:nvPr/>
        </p:nvSpPr>
        <p:spPr>
          <a:xfrm>
            <a:off x="2037805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57261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Types</a:t>
            </a:r>
          </a:p>
        </p:txBody>
      </p:sp>
      <p:sp>
        <p:nvSpPr>
          <p:cNvPr id="30" name="Chevron 29"/>
          <p:cNvSpPr/>
          <p:nvPr/>
        </p:nvSpPr>
        <p:spPr>
          <a:xfrm>
            <a:off x="3618411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37867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Access</a:t>
            </a:r>
          </a:p>
        </p:txBody>
      </p:sp>
      <p:sp>
        <p:nvSpPr>
          <p:cNvPr id="32" name="Chevron 31"/>
          <p:cNvSpPr/>
          <p:nvPr/>
        </p:nvSpPr>
        <p:spPr>
          <a:xfrm>
            <a:off x="5199017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18473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Relationships</a:t>
            </a:r>
          </a:p>
        </p:txBody>
      </p:sp>
      <p:sp>
        <p:nvSpPr>
          <p:cNvPr id="34" name="Chevron 33"/>
          <p:cNvSpPr/>
          <p:nvPr/>
        </p:nvSpPr>
        <p:spPr>
          <a:xfrm>
            <a:off x="6779622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9078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Embed / ref</a:t>
            </a:r>
          </a:p>
        </p:txBody>
      </p:sp>
      <p:sp>
        <p:nvSpPr>
          <p:cNvPr id="36" name="Chevron 35"/>
          <p:cNvSpPr/>
          <p:nvPr/>
        </p:nvSpPr>
        <p:spPr>
          <a:xfrm>
            <a:off x="8360228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79684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Patterns</a:t>
            </a:r>
          </a:p>
        </p:txBody>
      </p:sp>
      <p:sp>
        <p:nvSpPr>
          <p:cNvPr id="38" name="Chevron 37"/>
          <p:cNvSpPr/>
          <p:nvPr/>
        </p:nvSpPr>
        <p:spPr>
          <a:xfrm>
            <a:off x="9940834" y="5029200"/>
            <a:ext cx="1763485" cy="731520"/>
          </a:xfrm>
          <a:prstGeom prst="chevron">
            <a:avLst>
              <a:gd name="adj" fmla="val 30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60290" y="5029200"/>
            <a:ext cx="137029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Validate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Shape each document around how the application uses it — then justify every choice.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Access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read or write the application runs often — it decides the document shape.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Storing related data inside the parent document, like addresses inside a customer.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Referencing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Storing another document's _id instead of its data, like customerId in an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Cardinality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How many items sit on each side of a relationship: one, a few, many or millions.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Bounded array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An array with a known, small maximum size — an order's line items, not every review.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copy taken at one moment and never synced, like the price paid on an order.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Schema pattern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reusable modeling solution, such as Attribute, Subset, Computed or Bucket.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Schema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$jsonSchema rules on a collection that check required fields and types on writes.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BSON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Binary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Canadian Dollar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Central Processing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ISBN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International Standard Book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JavaScript Object Notation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Mebibyte (1,048,576 bytes)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Random Access 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Stock Keeping Unit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Structured Query Language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USB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Universal Serial Bus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2 TO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MongoDB is running — now we decide what the documents should look like.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 2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 running MongoDB — local or Atlas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mongosh connected and verified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use, createCollection and insertOne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 first starter products collection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Fixes for common connection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Design the documents before we insert many more of them.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3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Documents, BSON types and a shared 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94767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779776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542032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Access patterns, relationships and growth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77063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364992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Embed, reference and snapshots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Part 3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4425696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187952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Anti-patterns and schema patterns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441655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4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5248656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010912"/>
            <a:ext cx="42976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Validation, evolution and the labs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523951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2 gave us a working database; Module 3 decides the shape of everything we store in it.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DOCUMENTS AND BSON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Start with what a document can hold.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Documents and types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Access patterns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Embed or reference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Patterns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Validate and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MongoDB is installed and mongosh connects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training_store has its first collection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can one document hold — and which type should each value have?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Anatomy of a training_store document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Nested documents and arrays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Common BSON types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Choosing types that match the meaning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One collection, a shared 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ANATOMY OF A TRAINING_STORE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Product L100, field by field — every value keeps its BSON 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7040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db.products.findOne({ sku: "L100" })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7040880" cy="331571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_id: ObjectId("…"),              // ObjectId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sku: "L100",                      // String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name: "Business Laptop",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category: "LAPTOP",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price: Decimal128("1299.99"),     // Decimal128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attributes: {                     // embedded document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processor: "Intel Core i7",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memoryGB: 16, storageGB: 512    // Int32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tags: ["business", "portable"],   // Array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active: true,                     // Boolean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createdAt: ISODate("2026-08-20T09:00:00Z")  // Date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298448"/>
            <a:ext cx="39319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353312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_id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664208"/>
            <a:ext cx="36576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Unique in its collection, indexed automatically, and can't be changed after insert.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519172"/>
            <a:ext cx="39319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574036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Any unique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884932"/>
            <a:ext cx="36576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ObjectId by default — a string or a number works too, if it stays unique.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739896"/>
            <a:ext cx="393192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794759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Business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105656"/>
            <a:ext cx="365760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sku is a separate field with its own unique index — it is what people search by.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960620"/>
            <a:ext cx="393192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960620"/>
            <a:ext cx="356616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EXERCISE 3.1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You'll label a customer document the same 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document is a set of typed field-value pairs — and _id is the one field every document must have.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NESTED DOCUMENTS AND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value can be a whole document — or a list of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99118"/>
            <a:ext cx="7415783" cy="41340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270"/>
            <a:ext cx="7269480" cy="39877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939461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Embedded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5188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document as a value: a product's attributes, a customer's name and contact.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365925"/>
            <a:ext cx="3520440" cy="112538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42078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31685"/>
            <a:ext cx="3246120" cy="7047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Several values in one field: tags, or whole documents like order items and addresses.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619330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Reach inside with dot notation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948514"/>
            <a:ext cx="3520440" cy="10373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"attributes.memoryGB": 16 })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db.orders.find(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"items.sku": "L100" })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5113866"/>
            <a:ext cx="3520440" cy="720005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5113866"/>
            <a:ext cx="3154680" cy="7200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QUOTES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Dotted paths must be in quotes.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Nested documents and arrays let one document hold a whole business object — dot notation reaches inside.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COMMON BSON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Each type with a real training_store value.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731520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657600"/>
                <a:gridCol w="22402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Type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training_store example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Typical use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String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sku: "L100"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Names, codes, statuses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Int32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memoryGB: 16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Quantities, counters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Decimal128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price: Decimal128("1299.99")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Money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Double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4.6 (an average)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Measurements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Boolean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active: 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Flags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Date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createdAt: ISODate("2026-08-20…")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Timestamps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ObjectId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customerId: ObjectId("…")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Identifiers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Array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tags: ["business", "portable"]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Lists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Embedded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attributes: { processor: … 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Grouped fields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Null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contact.phone: null (C204)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Known but empty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92440" y="1298448"/>
            <a:ext cx="361188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353312"/>
            <a:ext cx="3337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Int32 or Double?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64208"/>
            <a:ext cx="333756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mongosh stores a whole number like 16 as Int32 and 4.6 as a Double.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721864"/>
            <a:ext cx="361188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776728"/>
            <a:ext cx="3337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Null or missing?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087624"/>
            <a:ext cx="333756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C204's phone is null; C515 has no phone field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145280"/>
            <a:ext cx="361188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4145280"/>
            <a:ext cx="324612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MONEY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Decimal128 — never a string or a Double.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BSON adds the types JSON lacks — dates, decimals and ObjectIds — so choose the one that matches the meaning.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CHOOSE TYPES THAT MATCH THE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Strings make comparisons, sorting and calculations wrong.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74051"/>
            <a:ext cx="7415783" cy="35842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7203"/>
            <a:ext cx="7269480" cy="3437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Poor versus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58216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// poor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 price: "49.99", active: "yes",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createdAt: "September 20, 2026"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// better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 price: Decimal128("49.99"),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active: true,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createdAt: ISODate("2026-09-20")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3337814"/>
            <a:ext cx="3520440" cy="129374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39267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703574"/>
            <a:ext cx="3246120" cy="8731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"100" sorts before "20"; "yes" is not a Boolean; text dates don't sort by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759579"/>
            <a:ext cx="3520440" cy="1074293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4759579"/>
            <a:ext cx="3154680" cy="10742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IN TRAINING_STORE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XBAD's price is the string "49.99" — on purpose.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Store money as Decimal128, flags as Booleans and times as Dates — the type decides how values behave.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ONE COLLECTION, A SHARED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Different products, the same core fields, flexible attributes.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47377"/>
            <a:ext cx="7415783" cy="383756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0529"/>
            <a:ext cx="7269480" cy="36912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Shared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sku, name, category, price, tags, active, createdAt — same names, same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Flexible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LAPTOP: processor, memoryGB · SHOE: sizes, color · BOOK: author, isbn.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name per 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name everywhere — never productName on one product and title on another.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EXERCISE 3.4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You'll design this catalog yourself.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Keep the core identical across products and put category-specific fields under attributes.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DESIGNING AROUND ACCESS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Flexible doesn't mean unplanned.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Documents and types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Access patterns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Embed or reference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Patterns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Validate and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 document holds typed fields, nested documents and arrays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each BSON type by its meaning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One collection can hold varied products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does the application actually use the data — and how should that shape the documents?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Model around access patterns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training_store's access patterns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Relationship types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Estimating growth: bounded or not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MODEL DATA AROUND ACCESS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Start from the operations — not from the tables.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78547"/>
            <a:ext cx="7415783" cy="41752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1699"/>
            <a:ext cx="7269480" cy="4028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Operations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Browse products, view an order, read reviews — before any collection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Three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Read together? Updated together? How fast does it grow?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Then shape and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Aggregate boundary → embed or reference → indexes.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PRINCIPLE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Data accessed together is stored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application's most important operations decide the document shape — design around the queries.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TRAINING_STORE ACCESS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operations that shape our four collections.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83210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14300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Access pattern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Frequency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Returned together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Modeling implication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Find product by SKU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The whole product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One product document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Browse category and price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High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Name, price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Shared core fields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Show customer profile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Name, contact, addresses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Embed addresses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Show one order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High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Items, totals, address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Embed items, snapshot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Customer order 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Order summaries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customerId on each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Reviews for a product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Medium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Recent reviews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Separate collection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Change order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One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One-document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098280" y="1298448"/>
            <a:ext cx="26060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353312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1664208"/>
            <a:ext cx="23317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Product, Customer, Order,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721864"/>
            <a:ext cx="260604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2776728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Relationships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3087624"/>
            <a:ext cx="233172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 → orders and reviews; product → reviews; order →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331208"/>
            <a:ext cx="2606040" cy="126187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59" y="4331208"/>
            <a:ext cx="2240280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EXERCISE 3.2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You'll build this table from the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List each operation with how often it runs and what it returns together — the implications follow.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RELATIONSHIP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One-to-one, one-to-many and many-to-many.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51581"/>
            <a:ext cx="7415783" cy="382915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4733"/>
            <a:ext cx="7269480" cy="368285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One-to-one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 → preferences: embedded as one sub-document.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One-to-many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 → orders: each order stores customerId.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Many-to-many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Orders ↔ products: linked through items[].productId.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ALSO ASK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How many on the many side — a few or millions?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Name each relationship's type, then count the many side before choosing a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ESTIMATE GROWTH: BOUNDED OR UNBOUNDED?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Small arrays can be embedded — growing ones can't.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326896"/>
            <a:ext cx="7415783" cy="447852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00048"/>
            <a:ext cx="7269480" cy="43322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Bounded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customer's few addresses; an order's handful of line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65654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2051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Unbounded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31414"/>
            <a:ext cx="3246120" cy="7185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review a product will ever get — it keeps growing.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832860"/>
            <a:ext cx="3520440" cy="95326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887723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Hard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98620"/>
            <a:ext cx="3246120" cy="532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BSON document can be at most 16 MiB.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14138"/>
            <a:ext cx="3520440" cy="91973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14138"/>
            <a:ext cx="3154680" cy="9197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TRAINING_STORE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Reviews live in their own collection.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Ask how large every array can become — embed the bounded ones, move the unbounded ones 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CLASSIFY THE TRAINING_STORE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Name the cardinality and the growth before you pick a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Five relationships from the dataset. For each, decide how many sit on the many side and whether it grows without limit.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46272"/>
            <a:ext cx="3621024" cy="121894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1  customer → addresses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2  order → line items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3  customer → orders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  product → reviews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5  orders ↔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each relationship's type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bounded or unbounded, and why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Decide: embed or reference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7673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 the field that links each pair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1, 2: one-to-few, bounded — embed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3: one-to-many, grows — customerId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4: grows without limit — productId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5: many-to-many — items[].productId</a:t>
            </a:r>
          </a:p>
        </p:txBody>
      </p:sp>
      <p:sp>
        <p:nvSpPr>
          <p:cNvPr id="33" name="Oval 32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Growth, not nesting, decides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Cardinality and growth decide the model — the same question works for any relationship.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EMBEDDING VERSUS REFERENCING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two ways MongoDB represents a relationship.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Documents and types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Access patterns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Embed or reference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Patterns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Validate and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Design starts from access patterns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Name the relationship and count the many side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Arrays must stay bounded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When should related data live inside the document — and when in another collection?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Embedding: customer profiles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Referencing: product reviews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How to choose between them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decision tree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Orders: a hybrid model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Historical snapshots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EMBEDDING: CUSTOMER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Addresses belong to the customer and are read with the profile.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9836"/>
            <a:ext cx="7415783" cy="423264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2988"/>
            <a:ext cx="7269480" cy="40863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customers: C101 (trimmed)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 customerNumber: "C101",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name: { first: "Aisha",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last: "Khan" },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addresses: [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type: "SHIPPING",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city: "Toronto", … } ]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3156204"/>
            <a:ext cx="3520440" cy="12748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21106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521964"/>
            <a:ext cx="3246120" cy="854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read, no join, atomic updates inside one document.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559046"/>
            <a:ext cx="3520440" cy="12748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61391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924806"/>
            <a:ext cx="3246120" cy="8542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Duplication, bigger documents — and never for unbounded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Embed data that belongs to the parent, stays small and is read with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REFERENCING: PRODUCT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Each review points to its product and its author.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006" y="1316736"/>
            <a:ext cx="7352747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58" y="1389888"/>
            <a:ext cx="7206443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reviews: the L100 review (trimmed)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27632"/>
            <a:ext cx="3520440" cy="121894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 productId: ObjectId("…"),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sku: "L100",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customerId: ObjectId("…"),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rating: 5,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title: "Excellent for travel"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97459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02945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34035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Small documents, independent growth, no large duplication.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439801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45287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763770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second query or $lookup; multi-document changes may need a transaction.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Reference data that is shared, changes on its own or grows without limit.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HOW TO CHOOSE BETWEEN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Nine considerations from the modeling guide.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74980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1783080"/>
                <a:gridCol w="2194560"/>
              </a:tblGrid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Consideration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Embed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Reference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Normally read together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Possibly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Small and bounded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Not required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Belongs to one parent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Possibly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Grows continuously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Shared by many records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Changes independently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Sometimes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One-query retrieval matters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Needs $lookup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Duplication would be large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Atomic update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Strong choice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Transaction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75319" y="1298448"/>
            <a:ext cx="342900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353312"/>
            <a:ext cx="3154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664208"/>
            <a:ext cx="3154680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Embed bounded data that belongs to the parent; reference independent, shared or unbounded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19" y="2907791"/>
            <a:ext cx="342900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199" y="2907791"/>
            <a:ext cx="306324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EXERCISE 3.3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Eight relationships to decide.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Embed bounded data that belongs to the parent; reference independent, shared or unbounded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AN EMBEDDING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Three questions — all yes means embed.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08736"/>
            <a:ext cx="7415783" cy="431484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888"/>
            <a:ext cx="7269480" cy="41685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 together?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Is it shown with the parent on the common page?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65654"/>
            <a:ext cx="3520440" cy="95326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2051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Bounded size?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31414"/>
            <a:ext cx="3246120" cy="532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Does it have a small, known maximum?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46932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0179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Same lifecycle?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12692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Is it created and deleted with the parent?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14138"/>
            <a:ext cx="3520440" cy="91973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14138"/>
            <a:ext cx="3154680" cy="9197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REVIEWS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Fail bounded size — so they are referenced.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Embed only when the data is read together, bounded and shares the parent's lifecycle.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MODELING ORDERS: A HYBRID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Reference the customer and products; embed items and the address.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72100"/>
            <a:ext cx="6867144" cy="378811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5252"/>
            <a:ext cx="6720840" cy="36418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298448"/>
            <a:ext cx="4069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orders: O5001 (trimmed)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27632"/>
            <a:ext cx="4069080" cy="21269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 orderNumber: "O5001",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customerId: ObjectId("…"),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items: [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{ productId: ObjectId("…"),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sku: "L100",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name: "Business Laptop",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quantity: 1,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unitPrice: Decimal128("1299.99") },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… ],               // A410 × 2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shippingAddress: { city: "Toronto", … },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total: Decimal128("1514.17")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882644"/>
            <a:ext cx="4069080" cy="91160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937508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48404"/>
            <a:ext cx="3794760" cy="4909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customerId → the customer; productId → the catalog.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922266"/>
            <a:ext cx="4069080" cy="91160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977130"/>
            <a:ext cx="3794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Embed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288026"/>
            <a:ext cx="3794760" cy="4909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Line items and the shipping address, read with the order.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order document answers "show this order" — while customers and products keep changing on their 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HISTORICAL SNAPSHOTS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order keeps what the customer paid, not today's price.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50236"/>
            <a:ext cx="7415783" cy="423184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3388"/>
            <a:ext cx="7269480" cy="408554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unitPrice and name are copied at purchase — and never synced.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Current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Lives only in products; the catalog can change freely.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training_store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If L100's price changes, O5001 still shows 1299.99.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COPY WITH CARE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Freeze history — don't copy data that must stay current.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Duplication is deliberate when it preserves history — a snapshot should never follow the catalog.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ANTI-PATTERNS AND SCHEMA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goes wrong — and the proven fixes.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Documents and types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Access patterns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Embed or reference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Patterns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Validate and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57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Embed bounded data that belongs to the parent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280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Reference shared, independent or unbounded data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2489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1757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Snapshots preserve history on purpose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Which mistakes do first designs make — and which patterns solve common modeling problems?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Collections copied from tables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Inconsistent names and types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Seven schema patterns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Attribute, Subset and Computed up close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ANTI-PATTERN: COLLECTIONS COPIED FROM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collection per table turns every page into joins.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95200"/>
            <a:ext cx="7415783" cy="334191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8352"/>
            <a:ext cx="7269480" cy="31956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mistake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collection for every small component; the app rebuilds each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$lookup × 3 — more round trips, more code, slower pages.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Embed what the page reads together; reference the rest.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TRAINING_STORE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One O5001 document is one read.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Don't translate tables into collections — model the documents the application reads.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ANTI-PATTERN: INCONSISTENT NAMES AND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field should have one name — and one 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343234"/>
            <a:ext cx="7415783" cy="444585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6386"/>
            <a:ext cx="7269480" cy="42995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6197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41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customerId, customer_id, custId — a query on one misses the others.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251587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064" y="248843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Types: three shapes, one field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817622"/>
            <a:ext cx="3520440" cy="855726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 price: 29.99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 price: "29.99"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 price: { amount: 29.99 }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801363"/>
            <a:ext cx="3520440" cy="106197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856227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67124"/>
            <a:ext cx="3246120" cy="6413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name, one structure per field — then enforce it with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91354"/>
            <a:ext cx="3520440" cy="842517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91354"/>
            <a:ext cx="3154680" cy="8425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TRAINING_STORE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camelCase everywhere: customerId, createdAt.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Consistency is a correctness rule: queries match exact names and compare by type.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SEVEN COMMON SCHEMA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Named solutions to recurring modeling problems.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98448"/>
          <a:ext cx="800100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54680"/>
                <a:gridCol w="2743200"/>
              </a:tblGrid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Pattern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Use it when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Nirmala UI"/>
                        </a:rPr>
                        <a:t>Example</a:t>
                      </a:r>
                    </a:p>
                  </a:txBody>
                  <a:tcPr anchor="ctr">
                    <a:solidFill>
                      <a:srgbClr val="182F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Attribute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Many optional, searchable fields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Product specifications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Bucket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Many small time-based events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Sensor readings per hour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Subset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The page needs only the hot few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Latest three reviews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Computed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The same calculation repeats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Stored average rating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Extended 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A few fields read with the link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Customer name on an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Outlier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A few documents are far larger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A viral product's reviews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Nirmala UI"/>
                        </a:rPr>
                        <a:t>Polymorphic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Different shapes, shared queries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Nirmala UI"/>
                        </a:rPr>
                        <a:t>Laptops, shoes, books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778240" y="1298448"/>
            <a:ext cx="292608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353312"/>
            <a:ext cx="2651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Every pattern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664208"/>
            <a:ext cx="265176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Faster reads usually mean extra writes or extra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721864"/>
            <a:ext cx="292608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2776728"/>
            <a:ext cx="2651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Already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087624"/>
            <a:ext cx="265176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products is polymorphic; order items use extended references.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145280"/>
            <a:ext cx="292608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4145280"/>
            <a:ext cx="256032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EXERCISE 3.7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Match seven requirements to these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Patterns are proven trade-offs — pick one only when its problem is really in your access patterns.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ATTRIBUTE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Many optional attributes, one index.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94011"/>
            <a:ext cx="7415783" cy="41442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7163"/>
            <a:ext cx="7269480" cy="39979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searchable attribute would need its own index.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Store { k, v } pairs; index attributes.k and attributes.v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training_store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attributes is a plain object — fine for a few known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TRADE-OFF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Simpler indexing, less natural documents.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the Attribute pattern when many optional fields must all be searchable.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SUBSET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Embed the hot few; keep the full history separate.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83278"/>
            <a:ext cx="7415783" cy="376576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6430"/>
            <a:ext cx="7269480" cy="361945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product page needs three reviews, not all 248.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65654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2051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31414"/>
            <a:ext cx="3246120" cy="7185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Embed a small recentReviews array; keep every review in reviews.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832860"/>
            <a:ext cx="3520440" cy="95326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887723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98620"/>
            <a:ext cx="3246120" cy="532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new review is written in two places.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14138"/>
            <a:ext cx="3520440" cy="91973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14138"/>
            <a:ext cx="3154680" cy="9197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TRAINING_STORE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Not used yet — reviews live only in reviews.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Subset keeps the common page to one read without embedding an unbounded array.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COMPUTED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Calculate once, store the result, read it many times.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54874"/>
            <a:ext cx="7415783" cy="382257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8026"/>
            <a:ext cx="7269480" cy="367626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Averaging every review on every page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Store ratingAvg and reviewCount on the product.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Recompute on each new review, or on a schedule.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MODULE 5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You'll compute averages with $group.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Store a calculated value when it is read far more often than its inputs change.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5: VALIDATE, EVOLVE AND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Enforce the model, plan for change, then build it.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Documents and types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Access patterns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Embed or reference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Patterns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Validate and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Avoid table-shaped collections and mixed types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Seven patterns solve recurring problems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Every pattern is a trade-off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enforce the model, change it safely — and build it in training_store?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$jsonSchema validation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Validation level and 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Evolving a schema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Querying nested fields and arrays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Joining references with $lookup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Indexes for the access patterns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SCHEMA VALIDATION WITH $JSONSCHEMA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Flexible fields, enforced rules.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95200"/>
            <a:ext cx="7415783" cy="334191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8352"/>
            <a:ext cx="7269480" cy="31956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99974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Fields every document must have.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26208"/>
            <a:ext cx="3520440" cy="11856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4810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bsonType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91968"/>
            <a:ext cx="3246120" cy="76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type each field must hold: string, decimal, bool,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99974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minimum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Range rules — price can't be negative.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867656"/>
            <a:ext cx="3520440" cy="9662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867656"/>
            <a:ext cx="3154680" cy="966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LAB 2, STEP 6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Requires decimal for price — stricter than number.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Validation lets the database reject documents that break the model's contract.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VALIDATION LEVEL AND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When rules run — and what a failure does.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60103"/>
            <a:ext cx="7415783" cy="34121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3255"/>
            <a:ext cx="7269480" cy="32658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6341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validationLevel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4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strict checks every write; moderate skips already-invalid documents.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89877"/>
            <a:ext cx="3520440" cy="106341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44741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validationAction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55637"/>
            <a:ext cx="3246120" cy="64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error rejects the write; warn stores it and logs a warning.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681306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Relax rules on old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4010490"/>
            <a:ext cx="3520440" cy="103733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db.runCommand({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collMod: "validated_products",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validationLevel: "moderate",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validationAction: "warn" })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5175842"/>
            <a:ext cx="3520440" cy="658029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5175842"/>
            <a:ext cx="3154680" cy="6580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DEFAULT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strict + error.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Keep strict and error for new data; use moderate or warn only while old documents are fixed.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EVOLVING A SCHEMA SAFELY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Old and new shapes can coexist while you migrate.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66938"/>
            <a:ext cx="7415783" cy="319844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40090"/>
            <a:ext cx="7269480" cy="30521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Non-breaking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Adding an optional field keeps old readers working.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19172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740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Version the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84932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schemaVersion tells the reader which shape it has.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739896"/>
            <a:ext cx="3520440" cy="109270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59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Migrate in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05656"/>
            <a:ext cx="3246120" cy="6720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Tolerant readers → new writes → backfill → require.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60620"/>
            <a:ext cx="3520440" cy="87325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60620"/>
            <a:ext cx="3154680" cy="8732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DEMO 3.6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v1 price becomes v2 pricing: { amount, currency }.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Evolve a schema in steps — readers first, backfill later, validation last.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QUERY NESTED FIELDS AND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Lab 2, Step 5: dot notation walks into documents and arrays.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Products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08584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db.products.find({ category: "LAPTOP" 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"attributes.memoryGB": 16 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db.products.find({ tags: "technology" 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Customers and orders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627632"/>
            <a:ext cx="5509260" cy="208584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db.customers.find(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"addresses.city": "Toronto" 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db.orders.find(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"items.sku": "L100" 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420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99694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Hand-built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078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L100 · L100 · B300 · C101 · O5001.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39420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360" y="399694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After load.js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360" y="43078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LAPTOP returns L100, L110, L190; items.sku finds four orders.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394208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4360" y="399694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60" y="430784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tags: "technology" matches any element of the array.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Dot notation reaches into embedded documents and arrays of documents — always in quotes.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JOIN REFERENCED DATA WITH $LOOKUP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cost of referencing: combining needs another query or a join.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Reviews for L100, with the product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72973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const l100 = db.products.findOne({ sku: "L100" })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db.reviews.aggregate([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$match: { productId: l100._id }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$lookup: { from: "products",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localField: "productId",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foreignField: "_id", as: "product" }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$unwind: "$product" },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 $project: { _id: 0, rating: 1, title: 1,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  productName: "$product.name" }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Result (full load)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72973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[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rating: 5,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title: 'Excellent for travel',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  productName: 'Business Laptop'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859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408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$lookup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517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Joins each review to the product whose _id equals its productId.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859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6408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Needs the full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9517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hand-built core has no reviews yet.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8597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64083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Shortcut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95173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Reviews copy sku, so find({ sku: "L100" }) needs no join.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Referenced data stays independent — combining it costs a $lookup or a second query.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INDEXES THAT FOLLOW THE ACCESS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Design them now — Module 6 creates and tests them.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Already created by load.js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407793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db.products.getIndexes()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_id_, sku_unique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db.customers.getIndexes()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_id_, customerNumber_unique,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email_unique on contact.email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db.orders.getIndexes()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_id_, orderNumber_unique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Planned from the access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40779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browse by category and price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{ category: 1, price: 1 }      // products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a customer's order history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{ customerId: 1, createdAt: -1 }  // orders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// a product's reviews, newest first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Consolas"/>
              </a:rPr>
              <a:t>{ productId: 1, createdAt: -1 }   //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6402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31888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Unique keys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2978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sku, customerNumber, orderNumber and email can't repeat.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26402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31888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Pattern →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62978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Each planned index serves one row of the access 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26402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31888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Module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62978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explain() will show each index being used.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important access pattern should have an index to support it — plan them with the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PREDICT THE NESTED QUERY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Read each query and say what it returns — before you run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Run after load.js. Use the dataset facts: shoe sizes, accessory connections, customer countries and order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29356"/>
            <a:ext cx="3621024" cy="17637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"attributes.sizes": 11 })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"attributes.connection": "USB-C" })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db.customers.find(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"addresses.country": "USA" })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db.orders.countDocuments(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{ "items.sku": "A410" 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Predict each query's result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embedded path it follows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where an array is crossed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7673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Check on the instructor's screen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sizes 11 → Trail Shoe (S210)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USB-C → USB Hub, Docking Station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USA → Luis (C204), Maya (C620)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A410 → 3 orders</a:t>
            </a:r>
          </a:p>
        </p:txBody>
      </p:sp>
      <p:sp>
        <p:nvSpPr>
          <p:cNvPr id="33" name="Oval 32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Arrays: sizes, addresses, items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Dot notation follows the document's shape — arrays and embedded documents alike.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3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access patterns to a read model, on one page.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7472" y="1316736"/>
            <a:ext cx="11166574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24" y="1389888"/>
            <a:ext cx="11020270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Model from the access patterns, embed what is bounded and owned, reference the rest — then enforce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the difference between a collection and a document?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BSON add to JSON?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three things does _id guarantee?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is embedding appropriate?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is referencing appropriate?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are unbounded arrays dangerous?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the maximum size of one BSON document?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does an order copy the product price?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schema validation enforce?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pattern stores a calculated result?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3.1 — IDENTIFY DOCUMENT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3 checkpoint A: label every part of a customer document.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298448"/>
            <a:ext cx="554126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labs/day-01/exercises/exercise-3.1-identify-document-components.md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751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Pairs. Label the sample customer, then list candidate required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12440"/>
            <a:ext cx="3621024" cy="17637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 _id: ObjectId("..."),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customerNumber: "C101",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name: { first: "Aisha",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last: "Khan" },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email: "aisha@example.com",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tags: ["premium", "newsletter"],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active: true,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createdAt: ISODate("...")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751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_id and say what it guarantees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the scalars and the embedded name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5925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Label the array, Boolean and date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41046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40497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candidate required fields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751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_id: unique in the collection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Scalars: customerNumber, email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name: embedded, first and last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tags array · active · createdAt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592319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Required: _id, customerNumber, name, email, active, createdAt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Naming each part of a document is the first step to designing one.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3.2 — DISCOVER APPLICATION ACCESS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3 checkpoint B: turn requirements into access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3952" y="1298448"/>
            <a:ext cx="5230368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labs/day-01/exercises/exercise-3.2-discover-access-patterns.md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store must support product search, product pages, customer profiles, order placement, order history, reviews and inventory display.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three most frequent reads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the data each returns together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Fill four or more table rows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9634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9085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embed, reference or snapshot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Product by SKU · order by number · profile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Returned data is specific, not everything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Add order history and paginated reviews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Purchase-time price is a snapshot</a:t>
            </a:r>
          </a:p>
        </p:txBody>
      </p:sp>
      <p:sp>
        <p:nvSpPr>
          <p:cNvPr id="33" name="Oval 32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At least one embed and one reference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Access patterns turn vague requirements into concrete document shapes.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3.3 — EMBED OR REFERENCE?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3 checkpoint C: decide eight relationships and justify each.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0296" y="1298448"/>
            <a:ext cx="476402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labs/day-01/exercises/exercise-3.3-embed-or-reference.md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185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Embed or Reference and a one-line reason: ownership, size or growth.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12440"/>
            <a:ext cx="3621024" cy="17637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1  Primary contact information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2  Complete order history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3  Order line items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  A product's millions of reviews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5  An employee's office address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6  Blog post tags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7  Purchase-time product price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8  Complete transaction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185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 relationships 1–4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 relationships 5–8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Justify with bounded or unbounded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7673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Explain the one 'it depends'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185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 Embed · 2 Reference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3 Embed · 4 Reference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2369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5 Depends on reuse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7124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6576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6 Embed · 7 Embed (snapshot)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2616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20674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8 Reference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Unbounded histories are referenced; owned, bounded data is embedded.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3.4 — MODEL A PRODUCT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3 checkpoint D: three products, one consistent core.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20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1676" y="1298448"/>
            <a:ext cx="515264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labs/day-01/exercises/exercise-3.4-model-a-product-catalog.md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Common fields: sku, name, description, category, price, active, creation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29356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Laptop  processor, memory,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storage, screen size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Shoe    size, color, material,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gender category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Book    author, ISBN, publisher,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core fields and BSON types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Decide: top level or attributes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one laptop, shoe and book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7673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Check names and types match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55041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sku string · price Decimal128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active Boolean · createdAt Date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Type-specific data in attributes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Queryable by category and attributes.isbn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64718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592319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productPrice beside price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consistent core with nested attributes keeps a varied catalog queryable.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3.5 — MODEL AN ORDER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3 checkpoint E: one order aggregate, justified.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20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1676" y="1298448"/>
            <a:ext cx="515264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labs/day-01/exercises/exercise-3.5-model-an-order-document.md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 an order by number, show items and purchase-time prices, the shipping address used, payment and fulfillment status, and list a customer's 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 items, price, address, customer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the historical snapshots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the order document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9634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9085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required fields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Items, prices, address: embedded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Customer: customerId reference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Money as Decimal128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914647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read by orderNumber</a:t>
            </a:r>
          </a:p>
        </p:txBody>
      </p:sp>
      <p:sp>
        <p:nvSpPr>
          <p:cNvPr id="33" name="Oval 32"/>
          <p:cNvSpPr/>
          <p:nvPr/>
        </p:nvSpPr>
        <p:spPr>
          <a:xfrm>
            <a:off x="8778240" y="43901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433527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Same shape as Lab 2, Step 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 order is a hybrid: reference the customer, embed the purchase facts.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3.6 — FIND AND CORRECT SCHEMA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3 checkpoint F: fix a flawed product document.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298448"/>
            <a:ext cx="554126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labs/day-01/exercises/exercise-3.6-correct-schema-anti-patterns.md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3667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teammate wrote this product document: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12440"/>
            <a:ext cx="3621024" cy="194538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productId: "P1001",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price: "49.99",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isActive: "yes",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allReviews: [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// unlimited growth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],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created: "September 20, 2026"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3667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every problem you see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Fix the types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Move the reviews out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7673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an _id / sku convention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3667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String price, text Boolean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Unbounded allReviews array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2369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Display-text date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7124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6576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Decimal128, true, a real Date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2616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20674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Reviews in their own collection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Most anti-patterns are wrong types or unbounded growth — both are easy to spot once you look.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3.7 — SELECT A SCHEMA DESIGN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3 checkpoint G: match seven requirements to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1676" y="1298448"/>
            <a:ext cx="515264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labs/day-01/exercises/exercise-3.7-select-a-schema-pattern.md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2204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Attribute, Bucket, Subset, Computed, Extended reference, Outlier or Polymorphic.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29356"/>
            <a:ext cx="3621024" cy="158216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1  Sensor readings grouped by hour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2  Latest three product reviews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3  Stored average rating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4  Dynamic product specifications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5  Customer name copied into order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6  Rare products, huge review volume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7  Many product types, one collection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2204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Match requirements 1–4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Match requirements 5–7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Give one benefit and one cost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7673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Explain Bucket and Outlier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2204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 Bucket · 2 Subset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3 Computed · 4 Attribute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2369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5 Extended reference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712463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657600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6 Outlier · 7 Polymorphic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Each pattern answers one recurring problem — name the problem first.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3.8 — DESIGN COLLECTION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3 checkpoint H: a $jsonSchema for products.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298448"/>
            <a:ext cx="554126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labs/day-01/exercises/exercise-3.8-design-collection-validation.md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valid product must contain these fields: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12440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sku        string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name       string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category   string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price      decimal, not negative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active     Boolean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createdAt  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Write the required array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Give each field a bsonType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3101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Add minimum: 0 to price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382219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37673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Wrap it in $jsonSchema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41080" y="1865376"/>
            <a:ext cx="3063240" cy="31648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SOLUTION (AFTER DEBRIEF)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Six required field names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price: decimal, minimum 0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32369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active: bool · createdAt: date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8409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78612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bsonType: "object" at the top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43901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433527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Extra fields still allowed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validator turns the model's contract into rules the database enforces.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3.9 — DESIGN A SUPPORT-TICKET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3 checkpoint I: a complete design challenge.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25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3952" y="1298448"/>
            <a:ext cx="5230368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labs/day-01/exercises/exercise-3.9-support-ticket-challenge.md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411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Create tickets, assign agents, set status and priority, add comments and tags, show recent comments with the ticket, keep a complete audit history, and search by customer, agent, status and priority.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access patterns and collections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embedded, referenced, unbounded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Draft one ticket with BSON types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1046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0497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validation rules and indexes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SUGGESTED DIRECTION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tickets, customers, agents, audit_events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Embed: assignee, tags, recentComments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Full comments and audit: separate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Indexes: customerId, agentId, status, priority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same method works for any application: patterns, relationships, growth, then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LAB 2 — CREATE AND POPULATE TRAINING_STORE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1 hands-on: Steps 1–7 by hand, or the time-boxed load.js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1490472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84831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90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3396" y="1298448"/>
            <a:ext cx="282092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labs/day-01/lab2/LAB-2-GUIDE.md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5143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Path A (50 min): the instructor loads the full dataset. Path B (90 min): type the core by hand.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29356"/>
            <a:ext cx="3621024" cy="85572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# Path A, in PowerShell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mongosh "mongodb://localhost:27017" `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.\datasets\training_store\load.js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65376"/>
            <a:ext cx="3886200" cy="35143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Step 1 Create the four collections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28529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Steps 2–3 Insert L100, S200, B300, C101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Step 4 Insert O5001 with references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41046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2" y="40497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Step 5 Query nested fields and arrays</a:t>
            </a:r>
          </a:p>
        </p:txBody>
      </p:sp>
      <p:sp>
        <p:nvSpPr>
          <p:cNvPr id="23" name="Oval 22"/>
          <p:cNvSpPr/>
          <p:nvPr/>
        </p:nvSpPr>
        <p:spPr>
          <a:xfrm>
            <a:off x="4663440" y="4703064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4648200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Step 6 Validate · Step 7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1865376"/>
            <a:ext cx="3063240" cy="35143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COUNTS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Path A: 13 · 6 · 17 · 6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281635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Path B: 3 · 1 · 1 · 0</a:t>
            </a:r>
          </a:p>
        </p:txBody>
      </p:sp>
      <p:sp>
        <p:nvSpPr>
          <p:cNvPr id="32" name="Oval 31"/>
          <p:cNvSpPr/>
          <p:nvPr/>
        </p:nvSpPr>
        <p:spPr>
          <a:xfrm>
            <a:off x="8778240" y="32918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32369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O5001 customerId = C101's _id</a:t>
            </a:r>
          </a:p>
        </p:txBody>
      </p:sp>
      <p:sp>
        <p:nvSpPr>
          <p:cNvPr id="34" name="Oval 33"/>
          <p:cNvSpPr/>
          <p:nvPr/>
        </p:nvSpPr>
        <p:spPr>
          <a:xfrm>
            <a:off x="8778240" y="38409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3786124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Invalid insert rejected</a:t>
            </a:r>
          </a:p>
        </p:txBody>
      </p:sp>
      <p:sp>
        <p:nvSpPr>
          <p:cNvPr id="36" name="Oval 35"/>
          <p:cNvSpPr/>
          <p:nvPr/>
        </p:nvSpPr>
        <p:spPr>
          <a:xfrm>
            <a:off x="8778240" y="42616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7" y="420674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XBAD's string price noted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By the end of Day 1, training_store exists with a model you can explain field by field.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3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document structure to a modeled, populated training_store.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29967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Read a document's fields, nesting and _id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BSON types that match the meaning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Turn requirements into access patterns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7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Embed or reference — and justify it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439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Spot anti-patterns and pick a schema pattern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047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Validate, evolve and query the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MODULE 4 — THE MONGODB QUERY LANGUAGE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I filter, project and sort documents?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I query arrays and embedded fields precisely?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I update and delete documents safely?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DAY 2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Reload training_store with load.js, and bring your Lab 2, Step 7 checklist.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Day 1 ends with a designed database; Day 2 starts querying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