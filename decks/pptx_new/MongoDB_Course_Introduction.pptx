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Open the course</a:t>
            </a:r>
          </a:p>
          <a:p/>
          <a:p>
            <a:r>
              <a:t>  Welcome everyone to Mastering MongoDB.</a:t>
            </a:r>
          </a:p>
          <a:p/>
          <a:p>
            <a:r>
              <a:t>  This is an instructor-led course that goes from document thinking all the way to production-ready operations.</a:t>
            </a:r>
          </a:p>
          <a:p/>
          <a:p>
            <a:r>
              <a:t>- The shape of the course</a:t>
            </a:r>
          </a:p>
          <a:p/>
          <a:p>
            <a:r>
              <a:t>  Say the course runs three days and eight modules.</a:t>
            </a:r>
          </a:p>
          <a:p/>
          <a:p>
            <a:r>
              <a:t>  Each day ends with hands-on labs on the same sample database, training_store.</a:t>
            </a:r>
          </a:p>
          <a:p/>
          <a:p>
            <a:r>
              <a:t>- The three days</a:t>
            </a:r>
          </a:p>
          <a:p/>
          <a:p>
            <a:r>
              <a:t>  Point to the three boxes.</a:t>
            </a:r>
          </a:p>
          <a:p/>
          <a:p>
            <a:r>
              <a:t>  Day 1 runs MongoDB and models documents.</a:t>
            </a:r>
          </a:p>
          <a:p/>
          <a:p>
            <a:r>
              <a:t>  Day 2 queries and transforms data.</a:t>
            </a:r>
          </a:p>
          <a:p/>
          <a:p>
            <a:r>
              <a:t>  Day 3 tunes, scales and ships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Welcome</a:t>
            </a:r>
          </a:p>
          <a:p/>
          <a:p>
            <a:r>
              <a:t>  Welcome the group.</a:t>
            </a:r>
          </a:p>
          <a:p/>
          <a:p>
            <a:r>
              <a:t>  Say the three days are about doing, not just listening: learners type in mongosh from the first morning.</a:t>
            </a:r>
          </a:p>
          <a:p/>
          <a:p>
            <a:r>
              <a:t>- In this course</a:t>
            </a:r>
          </a:p>
          <a:p/>
          <a:p>
            <a:r>
              <a:t>  Everyone works on one realistic dataset, training_store.</a:t>
            </a:r>
          </a:p>
          <a:p/>
          <a:p>
            <a:r>
              <a:t>  The same customers, products, orders and reviews appear in every module, so each day builds on the last.</a:t>
            </a:r>
          </a:p>
          <a:p/>
          <a:p>
            <a:r>
              <a:t>- Ground rules</a:t>
            </a:r>
          </a:p>
          <a:p/>
          <a:p>
            <a:r>
              <a:t>  Be open means ask early, even the basic questions.</a:t>
            </a:r>
          </a:p>
          <a:p/>
          <a:p>
            <a:r>
              <a:t>  Be respectful means value every experience level in the room.</a:t>
            </a:r>
          </a:p>
          <a:p/>
          <a:p>
            <a:r>
              <a:t>  Be engaged means run each lab step yourself and check the expected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Go first</a:t>
            </a:r>
          </a:p>
          <a:p/>
          <a:p>
            <a:r>
              <a:t>  Introduce yourself first to set the tone and the length: about one minute.</a:t>
            </a:r>
          </a:p>
          <a:p/>
          <a:p>
            <a:r>
              <a:t>- The prompts</a:t>
            </a:r>
          </a:p>
          <a:p/>
          <a:p>
            <a:r>
              <a:t>  Name, role, team, experience with databases, a goal for the three days, and one thing about yourself.</a:t>
            </a:r>
          </a:p>
          <a:p/>
          <a:p>
            <a:r>
              <a:t>- Use the answers</a:t>
            </a:r>
          </a:p>
          <a:p/>
          <a:p>
            <a:r>
              <a:t>  Note who already knows SQL, who has used JSON or a document store, and who writes application code.</a:t>
            </a:r>
          </a:p>
          <a:p/>
          <a:p>
            <a:r>
              <a:t>  Refer back to their goals in the Day 3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numbers</a:t>
            </a:r>
          </a:p>
          <a:p/>
          <a:p>
            <a:r>
              <a:t>  Three days with about six hours of teaching each.</a:t>
            </a:r>
          </a:p>
          <a:p/>
          <a:p>
            <a:r>
              <a:t>  Eight modules, seven day labs, one sample database with four collections, and a small sample application for connecting from code.</a:t>
            </a:r>
          </a:p>
          <a:p/>
          <a:p>
            <a:r>
              <a:t>- You will learn to</a:t>
            </a:r>
          </a:p>
          <a:p/>
          <a:p>
            <a:r>
              <a:t>  Explain NoSQL design and where MongoDB fits.</a:t>
            </a:r>
          </a:p>
          <a:p/>
          <a:p>
            <a:r>
              <a:t>  Design schemas around access patterns.</a:t>
            </a:r>
          </a:p>
          <a:p/>
          <a:p>
            <a:r>
              <a:t>  Create, read, update and delete documents.</a:t>
            </a:r>
          </a:p>
          <a:p/>
          <a:p>
            <a:r>
              <a:t>  Transform and analyze data with aggregation.</a:t>
            </a:r>
          </a:p>
          <a:p/>
          <a:p>
            <a:r>
              <a:t>  Apply indexes that make real queries faster.</a:t>
            </a:r>
          </a:p>
          <a:p/>
          <a:p>
            <a:r>
              <a:t>- And to run it well</a:t>
            </a:r>
          </a:p>
          <a:p/>
          <a:p>
            <a:r>
              <a:t>  Describe how replication and sharding give availability and scale.</a:t>
            </a:r>
          </a:p>
          <a:p/>
          <a:p>
            <a:r>
              <a:t>  Connect MongoDB to application code.</a:t>
            </a:r>
          </a:p>
          <a:p/>
          <a:p>
            <a:r>
              <a:t>  Diagnose common query and operational issues.</a:t>
            </a:r>
          </a:p>
          <a:p/>
          <a:p>
            <a:r>
              <a:t>  Judge whether a deployment is production-ready: security, backup, monitoring and runbooks.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Who it's for</a:t>
            </a:r>
          </a:p>
          <a:p/>
          <a:p>
            <a:r>
              <a:t>  Software engineers, DevOps engineers, data engineers, data scientists, and anyone who works with NoSQL or document data modeling.</a:t>
            </a:r>
          </a:p>
          <a:p/>
          <a:p>
            <a:r>
              <a:t>- Prerequisites</a:t>
            </a:r>
          </a:p>
          <a:p/>
          <a:p>
            <a:r>
              <a:t>  No prior MongoDB experience is needed.</a:t>
            </a:r>
          </a:p>
          <a:p/>
          <a:p>
            <a:r>
              <a:t>  Familiarity with any programming language and basic command-line use is enough to move comfortably through the labs.</a:t>
            </a:r>
          </a:p>
          <a:p/>
          <a:p>
            <a:r>
              <a:t>- Level and format</a:t>
            </a:r>
          </a:p>
          <a:p/>
          <a:p>
            <a:r>
              <a:t>  The level is introductory to intermediate.</a:t>
            </a:r>
          </a:p>
          <a:p/>
          <a:p>
            <a:r>
              <a:t>  The course is instructor-led, virtual or in a classroom, and runs on a local or a cloud MongoDB.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A learner who has only used SQL asks whether they will keep up.</a:t>
            </a:r>
          </a:p>
          <a:p/>
          <a:p>
            <a:r>
              <a:t>Tell them Module 1 starts from why document databases exist, and every lab lists the exact commands and the expected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Day 1: Run MongoDB and model documents</a:t>
            </a:r>
          </a:p>
          <a:p/>
          <a:p>
            <a:r>
              <a:t>  Modules 1 to 3.</a:t>
            </a:r>
          </a:p>
          <a:p/>
          <a:p>
            <a:r>
              <a:t>  Why NoSQL exists, a working instance for everyone, and document design.</a:t>
            </a:r>
          </a:p>
          <a:p/>
          <a:p>
            <a:r>
              <a:t>  Lab 1 installs, connects and verifies.</a:t>
            </a:r>
          </a:p>
          <a:p/>
          <a:p>
            <a:r>
              <a:t>  Lab 2 models and populates training_store.</a:t>
            </a:r>
          </a:p>
          <a:p/>
          <a:p>
            <a:r>
              <a:t>- Day 2: Query and transform data</a:t>
            </a:r>
          </a:p>
          <a:p/>
          <a:p>
            <a:r>
              <a:t>  Modules 4 and 5, the two skills used every day.</a:t>
            </a:r>
          </a:p>
          <a:p/>
          <a:p>
            <a:r>
              <a:t>  Lab 3 writes complex queries and updates.</a:t>
            </a:r>
          </a:p>
          <a:p/>
          <a:p>
            <a:r>
              <a:t>  Lab 4 builds a multi-stage aggregation pipeline.</a:t>
            </a:r>
          </a:p>
          <a:p/>
          <a:p>
            <a:r>
              <a:t>- Day 3: Tune, scale and ship</a:t>
            </a:r>
          </a:p>
          <a:p/>
          <a:p>
            <a:r>
              <a:t>  Modules 6 to 8.</a:t>
            </a:r>
          </a:p>
          <a:p/>
          <a:p>
            <a:r>
              <a:t>  Lab 5 indexes and explains the Day 2 queries.</a:t>
            </a:r>
          </a:p>
          <a:p/>
          <a:p>
            <a:r>
              <a:t>  Lab 6 chooses between replication and sharding.</a:t>
            </a:r>
          </a:p>
          <a:p/>
          <a:p>
            <a:r>
              <a:t>  Lab 7 scores training_store for production readiness.</a:t>
            </a:r>
          </a:p>
          <a:p/>
          <a:p>
            <a:r>
              <a:t>- Why this order</a:t>
            </a:r>
          </a:p>
          <a:p/>
          <a:p>
            <a:r>
              <a:t>  Aggregation sits on Day 2, next to the query language.</a:t>
            </a:r>
          </a:p>
          <a:p/>
          <a:p>
            <a:r>
              <a:t>  Indexing opens Day 3 by tuning the Day 2 workload.</a:t>
            </a:r>
          </a:p>
          <a:p/>
          <a:p>
            <a:r>
              <a:t>  That leaves a full afternoon for scale, security and the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Day 1 modules</a:t>
            </a:r>
          </a:p>
          <a:p/>
          <a:p>
            <a:r>
              <a:t>  Module 1 introduces NoSQL databases.</a:t>
            </a:r>
          </a:p>
          <a:p/>
          <a:p>
            <a:r>
              <a:t>  Module 2 installs MongoDB and connects mongosh and Compass.</a:t>
            </a:r>
          </a:p>
          <a:p/>
          <a:p>
            <a:r>
              <a:t>  Module 3 is data modeling: access patterns, embed or reference, schema patterns and validation.</a:t>
            </a:r>
          </a:p>
          <a:p/>
          <a:p>
            <a:r>
              <a:t>- Day 2 modules</a:t>
            </a:r>
          </a:p>
          <a:p/>
          <a:p>
            <a:r>
              <a:t>  Module 4 is the MongoDB Query Language, the longest module in the course.</a:t>
            </a:r>
          </a:p>
          <a:p/>
          <a:p>
            <a:r>
              <a:t>  Module 5 is the Aggregation Framework.</a:t>
            </a:r>
          </a:p>
          <a:p/>
          <a:p>
            <a:r>
              <a:t>- Day 3 modules</a:t>
            </a:r>
          </a:p>
          <a:p/>
          <a:p>
            <a:r>
              <a:t>  Module 6 covers indexing and query performance.</a:t>
            </a:r>
          </a:p>
          <a:p/>
          <a:p>
            <a:r>
              <a:t>  Module 7 introduces replication and sharding.</a:t>
            </a:r>
          </a:p>
          <a:p/>
          <a:p>
            <a:r>
              <a:t>  Module 8 closes with best practices, security and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database</a:t>
            </a:r>
          </a:p>
          <a:p/>
          <a:p>
            <a:r>
              <a:t>  Every module and lab uses training_store.</a:t>
            </a:r>
          </a:p>
          <a:p/>
          <a:p>
            <a:r>
              <a:t>  It has four collections: customers, products, orders and reviews.</a:t>
            </a:r>
          </a:p>
          <a:p/>
          <a:p>
            <a:r>
              <a:t>- Design decisions built in</a:t>
            </a:r>
          </a:p>
          <a:p/>
          <a:p>
            <a:r>
              <a:t>  Products keep category-specific attributes, so a laptop and a book live in one collection with different fields.</a:t>
            </a:r>
          </a:p>
          <a:p/>
          <a:p>
            <a:r>
              <a:t>  Orders embed their line items and a shipping snapshot, and reference the customer.</a:t>
            </a:r>
          </a:p>
          <a:p/>
          <a:p>
            <a:r>
              <a:t>  Reviews live in their own collection, not as an unbounded array on the product.</a:t>
            </a:r>
          </a:p>
          <a:p/>
          <a:p>
            <a:r>
              <a:t>- Counts to remember</a:t>
            </a:r>
          </a:p>
          <a:p/>
          <a:p>
            <a:r>
              <a:t>  After a fresh load: 6 customers, 13 products, 17 orders of which 13 are PAID, and 6 reviews.</a:t>
            </a:r>
          </a:p>
          <a:p/>
          <a:p>
            <a:r>
              <a:t>- Reset each day</a:t>
            </a:r>
          </a:p>
          <a:p/>
          <a:p>
            <a:r>
              <a:t>  Run load.js at the start of Day 2 and Day 3 so everyone starts from the same counts.</a:t>
            </a:r>
          </a:p>
          <a:p/>
          <a:p>
            <a:r>
              <a:t>  The command is on the slide.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Aisha Khan, customer C101, is the top customer by paid total.</a:t>
            </a:r>
          </a:p>
          <a:p/>
          <a:p>
            <a:r>
              <a:t>  Learners meet her in Module 1 and find her again in the Module 5 reports and the Module 6 index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Module rhythm</a:t>
            </a:r>
          </a:p>
          <a:p/>
          <a:p>
            <a:r>
              <a:t>  Each module opens its parts with a roadmap.</a:t>
            </a:r>
          </a:p>
          <a:p/>
          <a:p>
            <a:r>
              <a:t>  Then concepts and diagrams, mongosh examples on training_store, short practice exercises, a knowledge check, the official exercises, and a summary with what comes next.</a:t>
            </a:r>
          </a:p>
          <a:p/>
          <a:p>
            <a:r>
              <a:t>- Then the day lab</a:t>
            </a:r>
          </a:p>
          <a:p/>
          <a:p>
            <a:r>
              <a:t>  Each day closes with sequenced labs that apply the day's modules: two on Day 1, two on Day 2 and three on Day 3.</a:t>
            </a:r>
          </a:p>
          <a:p/>
          <a:p>
            <a:r>
              <a:t>- Never stuck</a:t>
            </a:r>
          </a:p>
          <a:p/>
          <a:p>
            <a:r>
              <a:t>  Every lab step has a Do this and an Expected result.</a:t>
            </a:r>
          </a:p>
          <a:p/>
          <a:p>
            <a:r>
              <a:t>  If a step goes wrong, reload load.js and carry on.</a:t>
            </a:r>
          </a:p>
          <a:p/>
          <a:p>
            <a:r>
              <a:t>- Low stakes</a:t>
            </a:r>
          </a:p>
          <a:p/>
          <a:p>
            <a:r>
              <a:t>  Knowledge checks are for the learners.</a:t>
            </a:r>
          </a:p>
          <a:p/>
          <a:p>
            <a:r>
              <a:t>  Answer in your own words, then compare with a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Day 1 labs</a:t>
            </a:r>
          </a:p>
          <a:p/>
          <a:p>
            <a:r>
              <a:t>  Lab 1 is 40 minutes: connect, ping, then insert, find, update and delete a test document.</a:t>
            </a:r>
          </a:p>
          <a:p/>
          <a:p>
            <a:r>
              <a:t>  Lab 2 loads training_store and asks learners to justify embed versus reference.</a:t>
            </a:r>
          </a:p>
          <a:p/>
          <a:p>
            <a:r>
              <a:t>- Day 2 labs</a:t>
            </a:r>
          </a:p>
          <a:p/>
          <a:p>
            <a:r>
              <a:t>  Lab 3 writes filters, projections, array queries and verified updates.</a:t>
            </a:r>
          </a:p>
          <a:p/>
          <a:p>
            <a:r>
              <a:t>  Lab 4 builds one pipeline that reports the top-selling categories for completed sales.</a:t>
            </a:r>
          </a:p>
          <a:p/>
          <a:p>
            <a:r>
              <a:t>- Day 3 labs</a:t>
            </a:r>
          </a:p>
          <a:p/>
          <a:p>
            <a:r>
              <a:t>  Lab 5 captures an explain baseline and adds compound and multikey indexes.</a:t>
            </a:r>
          </a:p>
          <a:p/>
          <a:p>
            <a:r>
              <a:t>  Lab 6 picks replication or sharding and scores shard-key candidates.</a:t>
            </a:r>
          </a:p>
          <a:p/>
          <a:p>
            <a:r>
              <a:t>  Lab 7 treats training_store as a go-live candidate and scores it.</a:t>
            </a:r>
          </a:p>
          <a:p/>
          <a:p>
            <a:r>
              <a:t>- Tracks</a:t>
            </a:r>
          </a:p>
          <a:p/>
          <a:p>
            <a:r>
              <a:t>  The time-boxed track is Labs 1 to 5 and Lab 7.</a:t>
            </a:r>
          </a:p>
          <a:p/>
          <a:p>
            <a:r>
              <a:t>  Lab 6 needs a replica-set URI for its keyboard step; without one, do the discussion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path each</a:t>
            </a:r>
          </a:p>
          <a:p/>
          <a:p>
            <a:r>
              <a:t>  The instructor assigns one path.</a:t>
            </a:r>
          </a:p>
          <a:p/>
          <a:p>
            <a:r>
              <a:t>  Path A is a local Community Edition server.</a:t>
            </a:r>
          </a:p>
          <a:p/>
          <a:p>
            <a:r>
              <a:t>  Path B is a managed cloud cluster such as Atlas.</a:t>
            </a:r>
          </a:p>
          <a:p/>
          <a:p>
            <a:r>
              <a:t>  Path C is a URI the instructor provides.</a:t>
            </a:r>
          </a:p>
          <a:p/>
          <a:p>
            <a:r>
              <a:t>  The mongosh steps are the same on every path.</a:t>
            </a:r>
          </a:p>
          <a:p/>
          <a:p>
            <a:r>
              <a:t>- The toolkit</a:t>
            </a:r>
          </a:p>
          <a:p/>
          <a:p>
            <a:r>
              <a:t>  mongosh is the main tool, with Compass as a graphical view of the same data.</a:t>
            </a:r>
          </a:p>
          <a:p/>
          <a:p>
            <a:r>
              <a:t>  The demonstration environment is Windows with PowerShell in a Cursor or VS Code terminal.</a:t>
            </a:r>
          </a:p>
          <a:p/>
          <a:p>
            <a:r>
              <a:t>  The sample-app folder connects from Node.js or Python.</a:t>
            </a:r>
          </a:p>
          <a:p/>
          <a:p>
            <a:r>
              <a:t>- Password hygiene</a:t>
            </a:r>
          </a:p>
          <a:p/>
          <a:p>
            <a:r>
              <a:t>  Let mongosh prompt for the password instead of typing it into the URI.</a:t>
            </a:r>
          </a:p>
          <a:p/>
          <a:p>
            <a:r>
              <a:t>  Use placeholders such as &lt;username&gt; in notes.</a:t>
            </a:r>
          </a:p>
          <a:p/>
          <a:p>
            <a:r>
              <a:t>  Keep the connection string in the MONGODB_URI environment variable.</a:t>
            </a:r>
          </a:p>
          <a:p/>
          <a:p>
            <a:r>
              <a:t>  Never paste passwords into chat, slides or screenshots.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A learner on Path B wants to share their Atlas connection string in chat so the instructor can help.</a:t>
            </a:r>
          </a:p>
          <a:p/>
          <a:p>
            <a:r>
              <a:t>Ask them to share the error message and the host name only, never the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success bar</a:t>
            </a:r>
          </a:p>
          <a:p/>
          <a:p>
            <a:r>
              <a:t>  Read the seven rows.</a:t>
            </a:r>
          </a:p>
          <a:p/>
          <a:p>
            <a:r>
              <a:t>  Each skill is proved in a specific lab, so learners can see their own progress through the three days.</a:t>
            </a:r>
          </a:p>
          <a:p/>
          <a:p>
            <a:r>
              <a:t>- The last row</a:t>
            </a:r>
          </a:p>
          <a:p/>
          <a:p>
            <a:r>
              <a:t>  By Lab 7, learners can say whether training_store is production-ready.</a:t>
            </a:r>
          </a:p>
          <a:p/>
          <a:p>
            <a:r>
              <a:t>  It is not, and they will be able to name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Questions</a:t>
            </a:r>
          </a:p>
          <a:p/>
          <a:p>
            <a:r>
              <a:t>  Invite questions about the schedule, the labs or the environment before the content starts.</a:t>
            </a:r>
          </a:p>
          <a:p/>
          <a:p>
            <a:r>
              <a:t>- What happens next</a:t>
            </a:r>
          </a:p>
          <a:p/>
          <a:p>
            <a:r>
              <a:t>  Move to Module 1, Introduction to NoSQL Databases.</a:t>
            </a:r>
          </a:p>
          <a:p/>
          <a:p>
            <a:r>
              <a:t>  Module 2 then sets up MongoDB, and Lab 1 proves every learner's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"Model it, query it, tune it, ship it."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COURSE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Mastering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Document modeling, queries, aggregation and production operations — three days on one training_store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COURSE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362712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Run MongoDB and model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00" y="4709160"/>
            <a:ext cx="362712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Query and transform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4709160"/>
            <a:ext cx="362712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3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Tune, scale and 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WELCOME TO THE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warm welcome, a few ground rules and how we'll work together.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58726" cy="35872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78" y="1298448"/>
            <a:ext cx="500880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73232"/>
            <a:ext cx="5440680" cy="8229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We're glad you're here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Three days of learning, building and sharing ideas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Practical MongoDB skills you can use right away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1298448"/>
            <a:ext cx="358726" cy="35872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9844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5518" y="1298448"/>
            <a:ext cx="500880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IN THIS COURSE, YOU WILL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73232"/>
            <a:ext cx="5440680" cy="107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Work hands-on in mongosh from the first morning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Use one realistic dataset, training_store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Compare answers and ideas with your peers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Get guidance and feedback on your lab work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242600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426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33456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GROUND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18088"/>
            <a:ext cx="3596640" cy="2115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457200" y="371808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1808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BE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193576"/>
            <a:ext cx="3267456" cy="1585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Ask questions early — even the ones that feel basic.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2440" y="3718088"/>
            <a:ext cx="3596640" cy="2115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4282440" y="371808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71808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BE RESPECTFUL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7032" y="4193576"/>
            <a:ext cx="3267456" cy="1585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experience level in the room adds something.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7680" y="3718088"/>
            <a:ext cx="3596640" cy="2115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107680" y="371808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4840" y="371808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BE ENGAGED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2272" y="4193576"/>
            <a:ext cx="3267456" cy="1585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Run every lab step yourself and check the expected result.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Three days of hands-on learning — ask early, try everything, share ideas.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LET'S GET TO KNOW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Take a minute to introduce yourself to the group.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1517904"/>
            <a:ext cx="548640" cy="54864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499616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Your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should we call you?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3296" y="1298448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74464" y="1517904"/>
            <a:ext cx="548640" cy="54864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4464" y="15179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408" y="1499616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3A9E"/>
                </a:solidFill>
                <a:latin typeface="Nirmala UI"/>
              </a:rPr>
              <a:t>Your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194560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 you do day to day?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9392" y="1298448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0560" y="1517904"/>
            <a:ext cx="548640" cy="54864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15179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5504" y="1499616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Nirmala UI"/>
              </a:rPr>
              <a:t>Your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194560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team or project are you joining from?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86684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406140"/>
            <a:ext cx="548640" cy="54864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061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387852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Nirmala UI"/>
              </a:rPr>
              <a:t>Your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082796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SQL, NoSQL, JSON — or a language with a driver?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3296" y="3186684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74464" y="3406140"/>
            <a:ext cx="548640" cy="54864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4464" y="34061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9408" y="3387852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9690C"/>
                </a:solidFill>
                <a:latin typeface="Nirmala UI"/>
              </a:rPr>
              <a:t>Your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4464" y="4082796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 you hope to take back to your team?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9392" y="3186684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90560" y="3406140"/>
            <a:ext cx="548640" cy="54864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0560" y="34061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5504" y="3387852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Something about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0560" y="4082796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hobby, a fun fact or a favourite place.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02352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02352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HOW IT WORKS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About one minute each. The instructor goes first.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Knowing the room helps us connect MongoDB to your real work.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COURSE GOALS AND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What's in the course — and what you'll be able to do with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103120" cy="173736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02060"/>
                </a:solidFill>
                <a:latin typeface="Nirmala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103120"/>
            <a:ext cx="19568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42032"/>
            <a:ext cx="19202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~6 hours of teaching a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98448"/>
            <a:ext cx="2103120" cy="1737360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37160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5B3A9E"/>
                </a:solidFill>
                <a:latin typeface="Nirmala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2103120"/>
            <a:ext cx="19568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42032"/>
            <a:ext cx="19202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From NoSQL to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298448"/>
            <a:ext cx="2103120" cy="173736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E7C7B"/>
                </a:solidFill>
                <a:latin typeface="Nirmala U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103120"/>
            <a:ext cx="19568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day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42032"/>
            <a:ext cx="19202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Two, two, then three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298448"/>
            <a:ext cx="2103120" cy="1737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37160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103120"/>
            <a:ext cx="19568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collections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542032"/>
            <a:ext cx="19202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One training_store 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298448"/>
            <a:ext cx="2103120" cy="173736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37160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C9690C"/>
                </a:solidFill>
                <a:latin typeface="Nirmala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2103120"/>
            <a:ext cx="19568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sample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542032"/>
            <a:ext cx="19202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Node.js or Python driver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355848"/>
            <a:ext cx="358726" cy="35872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5584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78" y="3355848"/>
            <a:ext cx="500880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YOU WILL LEARN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30632"/>
            <a:ext cx="5440680" cy="132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Explain NoSQL design and where MongoDB fits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Design schemas around access patterns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Create, read, update and delete documents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Transform and analyze data with aggregation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Apply indexes that speed up real queries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355848"/>
            <a:ext cx="358726" cy="35872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35584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5518" y="3355848"/>
            <a:ext cx="500880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AND TO RUN IT WELL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830632"/>
            <a:ext cx="5440680" cy="107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Describe how replication and sharding help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Connect MongoDB to application code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Diagnose common query and operations issues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Judge whether a deployment is production-ready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Eight modules and seven labs take you from document thinking to production-ready operations.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WHO THIS COURSE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audience, the prerequisites and the format.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56052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WHO THIS COURSE IS 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19072"/>
            <a:ext cx="5989320" cy="572414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5216" y="1804111"/>
            <a:ext cx="402336" cy="40233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80411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19072"/>
            <a:ext cx="2148840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Software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19072"/>
            <a:ext cx="3063239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Build features on document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2926"/>
            <a:ext cx="5989320" cy="572414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6" y="2467965"/>
            <a:ext cx="402336" cy="40233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46796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82926"/>
            <a:ext cx="2148840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DevOps engineers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82926"/>
            <a:ext cx="3063239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Run, secure and monitor deployments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46780"/>
            <a:ext cx="5989320" cy="572414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" y="3131820"/>
            <a:ext cx="402336" cy="402336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131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046780"/>
            <a:ext cx="2148840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Data engineers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046780"/>
            <a:ext cx="3063239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Move and reshape data with pipelines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10635"/>
            <a:ext cx="5989320" cy="572414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3795674"/>
            <a:ext cx="402336" cy="40233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79567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710635"/>
            <a:ext cx="2148840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Data scientists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710635"/>
            <a:ext cx="3063239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Query and aggregate data for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74489"/>
            <a:ext cx="5989320" cy="572414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5216" y="4459528"/>
            <a:ext cx="402336" cy="402336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44595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374489"/>
            <a:ext cx="2148840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Document modelers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374489"/>
            <a:ext cx="3063239" cy="572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Anyone modeling NoSQL documents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0" y="1298448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1289304"/>
            <a:ext cx="44622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PREREQUISITES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0" y="1755648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1719072"/>
            <a:ext cx="44074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No prior MongoDB experience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0" y="2212848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6912" y="2176272"/>
            <a:ext cx="44074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Familiarity with any programming language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0" y="2670048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96912" y="2633472"/>
            <a:ext cx="44074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Basic command-line use</a:t>
            </a:r>
          </a:p>
        </p:txBody>
      </p:sp>
      <p:sp>
        <p:nvSpPr>
          <p:cNvPr id="41" name="Oval 40"/>
          <p:cNvSpPr/>
          <p:nvPr/>
        </p:nvSpPr>
        <p:spPr>
          <a:xfrm>
            <a:off x="6858000" y="3200400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200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🗓️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3191256"/>
            <a:ext cx="44622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COURSE FORMAT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3621024"/>
            <a:ext cx="2368296" cy="475488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5B3A9E"/>
                </a:solidFill>
                <a:latin typeface="Nirmala UI"/>
              </a:rPr>
              <a:t>Instructor-led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36024" y="3621024"/>
            <a:ext cx="2368296" cy="475488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5B3A9E"/>
                </a:solidFill>
                <a:latin typeface="Nirmala UI"/>
              </a:rPr>
              <a:t>Virtual or classroom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4206240"/>
            <a:ext cx="2368296" cy="475488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5B3A9E"/>
                </a:solidFill>
                <a:latin typeface="Nirmala UI"/>
              </a:rPr>
              <a:t>Introductory to intermediate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36024" y="4206240"/>
            <a:ext cx="2368296" cy="475488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5B3A9E"/>
                </a:solidFill>
                <a:latin typeface="Nirmala UI"/>
              </a:rPr>
              <a:t>Local or cloud MongoDB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75504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175504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NEW TO NOSQL?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Module 1 starts from the beginning: why document databases exist at all.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No MongoDB experience needed — any programming language and a command line are enough.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THREE-DAY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Foundations, then daily data work, then performance and production.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THREE DAYS, ONE DATABASE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1755648"/>
            <a:ext cx="3898392" cy="86868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35920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Day 1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Run MongoDB and model documents</a:t>
            </a:r>
          </a:p>
        </p:txBody>
      </p:sp>
      <p:sp>
        <p:nvSpPr>
          <p:cNvPr id="9" name="Chevron 8"/>
          <p:cNvSpPr/>
          <p:nvPr/>
        </p:nvSpPr>
        <p:spPr>
          <a:xfrm>
            <a:off x="4131564" y="1755648"/>
            <a:ext cx="3898392" cy="86868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2168" y="1755648"/>
            <a:ext cx="34229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Day 2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Query and transform data</a:t>
            </a:r>
          </a:p>
        </p:txBody>
      </p:sp>
      <p:sp>
        <p:nvSpPr>
          <p:cNvPr id="11" name="Chevron 10"/>
          <p:cNvSpPr/>
          <p:nvPr/>
        </p:nvSpPr>
        <p:spPr>
          <a:xfrm>
            <a:off x="7805928" y="1755648"/>
            <a:ext cx="3898392" cy="86868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6532" y="1755648"/>
            <a:ext cx="34229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Day 3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Tune, scale and 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71216"/>
            <a:ext cx="3596640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57200" y="2871216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MODULES 1–3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01568"/>
            <a:ext cx="32674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NoSQL exists, a working instance for everyone, then document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242816"/>
            <a:ext cx="3267456" cy="420624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42816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Lab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42816"/>
            <a:ext cx="2407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Install, connect and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754880"/>
            <a:ext cx="3267456" cy="420624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Lab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754880"/>
            <a:ext cx="2407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Model and populate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40" y="2871216"/>
            <a:ext cx="3596640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4282440" y="2871216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9600" y="2871216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MODULES 4–5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7032" y="3401568"/>
            <a:ext cx="32674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Find, filter and change documents — then reshape them in pipelines.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7032" y="4242816"/>
            <a:ext cx="3267456" cy="420624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6760" y="4242816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Lab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2560" y="4242816"/>
            <a:ext cx="2407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Complex queries and updates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7032" y="4754880"/>
            <a:ext cx="3267456" cy="420624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6760" y="4754880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Lab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2560" y="4754880"/>
            <a:ext cx="2407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Aggregation 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7680" y="2871216"/>
            <a:ext cx="3596640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8107680" y="2871216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4840" y="2871216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MODULES 6–8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2272" y="3401568"/>
            <a:ext cx="32674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Make Day 2's queries fast, keep data available, and get production-ready.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2272" y="4242816"/>
            <a:ext cx="3267456" cy="420624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2000" y="4242816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Lab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7800" y="4242816"/>
            <a:ext cx="2407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Index and explain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2272" y="4754880"/>
            <a:ext cx="3267456" cy="420624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2000" y="4754880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Lab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7800" y="4754880"/>
            <a:ext cx="2407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Replication and sharding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2272" y="5266944"/>
            <a:ext cx="3267456" cy="420624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2000" y="5266944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Lab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7800" y="5266944"/>
            <a:ext cx="2407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Production readiness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day ends by applying its modules in hands-on labs on the same data.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EIGHT MODULES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Grouped by the day we teach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3596640" cy="731520"/>
          </a:xfrm>
          <a:prstGeom prst="roundRect">
            <a:avLst>
              <a:gd name="adj" fmla="val 8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Run MongoDB and model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57984"/>
            <a:ext cx="3596640" cy="1139952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304288"/>
            <a:ext cx="438912" cy="43891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231136"/>
            <a:ext cx="27919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Nirmala UI"/>
              </a:rPr>
              <a:t>Introduction to NoSQL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816352"/>
            <a:ext cx="2791968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Nirmala UI"/>
              </a:rPr>
              <a:t>Why NoSQL, four models, documents, architecture and 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25952"/>
            <a:ext cx="3596640" cy="1139952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5216" y="3572256"/>
            <a:ext cx="438912" cy="43891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499104"/>
            <a:ext cx="27919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Nirmala UI"/>
              </a:rPr>
              <a:t>Installation and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084320"/>
            <a:ext cx="2791968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Nirmala UI"/>
              </a:rPr>
              <a:t>Deploy, connect with mongosh and Compass, then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93920"/>
            <a:ext cx="3596640" cy="1139952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4840224"/>
            <a:ext cx="438912" cy="43891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767072"/>
            <a:ext cx="27919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Nirmala UI"/>
              </a:rPr>
              <a:t>Data Modeling with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5352288"/>
            <a:ext cx="2791968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Nirmala UI"/>
              </a:rPr>
              <a:t>Access patterns, embed or reference, patterns,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2440" y="1298448"/>
            <a:ext cx="3596640" cy="731520"/>
          </a:xfrm>
          <a:prstGeom prst="roundRect">
            <a:avLst>
              <a:gd name="adj" fmla="val 8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Query and transform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2157984"/>
            <a:ext cx="3596640" cy="1139952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0456" y="2304288"/>
            <a:ext cx="438912" cy="43891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7384" y="2231136"/>
            <a:ext cx="27919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Nirmala UI"/>
              </a:rPr>
              <a:t>The MongoDB Query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7384" y="2816352"/>
            <a:ext cx="2791968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Nirmala UI"/>
              </a:rPr>
              <a:t>Filter, project, insert, update, upsert and delete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425952"/>
            <a:ext cx="3596640" cy="1139952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0456" y="3572256"/>
            <a:ext cx="438912" cy="43891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7384" y="3499104"/>
            <a:ext cx="27919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Nirmala UI"/>
              </a:rPr>
              <a:t>The Aggregation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7384" y="4084320"/>
            <a:ext cx="2791968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Nirmala UI"/>
              </a:rPr>
              <a:t>Totals, rankings and reports — one stage at a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680" y="1298448"/>
            <a:ext cx="3596640" cy="731520"/>
          </a:xfrm>
          <a:prstGeom prst="roundRect">
            <a:avLst>
              <a:gd name="adj" fmla="val 8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3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Tune, scale and ship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7680" y="2157984"/>
            <a:ext cx="3596640" cy="1139952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35696" y="2304288"/>
            <a:ext cx="438912" cy="43891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2624" y="2231136"/>
            <a:ext cx="27919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Nirmala UI"/>
              </a:rPr>
              <a:t>Indexing and Query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2624" y="2816352"/>
            <a:ext cx="2791968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Nirmala UI"/>
              </a:rPr>
              <a:t>COLLSCAN vs IXSCAN, ESR, explain() and covered queries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7680" y="3425952"/>
            <a:ext cx="3596640" cy="1139952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35696" y="3572256"/>
            <a:ext cx="438912" cy="43891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2624" y="3499104"/>
            <a:ext cx="27919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Nirmala UI"/>
              </a:rPr>
              <a:t>Introduction to Replication and Sharding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2624" y="4084320"/>
            <a:ext cx="2791968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Nirmala UI"/>
              </a:rPr>
              <a:t>Replica sets, failover, read and write guarantees, shard keys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7680" y="4693920"/>
            <a:ext cx="3596640" cy="1139952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35696" y="4840224"/>
            <a:ext cx="438912" cy="43891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2624" y="4767072"/>
            <a:ext cx="27919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Nirmala UI"/>
              </a:rPr>
              <a:t>Best Practices, Security, and Troubleshooting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2624" y="5352288"/>
            <a:ext cx="2791968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Nirmala UI"/>
              </a:rPr>
              <a:t>Model, tune, secure, recover and diagnose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Aggregation sits next to the query language, and indexing opens Day 3 by tuning it.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ONE DATASET THROUGH THE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training_store: a small online store you model, query, tune and 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66090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2660904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23865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CUSTOMERS ·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828800"/>
            <a:ext cx="236829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Nested name and contact, a bounded addresses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298448"/>
            <a:ext cx="266090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3319272" y="1298448"/>
            <a:ext cx="2660904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298448"/>
            <a:ext cx="23865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PRODUCTS ·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828800"/>
            <a:ext cx="236829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LAPTOP, SHOE, BOOK and ACCESSORY, each with its own 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98448"/>
            <a:ext cx="266090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181344" y="1298448"/>
            <a:ext cx="2660904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298448"/>
            <a:ext cx="23865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ORDERS ·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28800"/>
            <a:ext cx="236829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13 PAID. Embeds line items; references the customer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3416" y="1298448"/>
            <a:ext cx="266090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9043416" y="1298448"/>
            <a:ext cx="2660904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298448"/>
            <a:ext cx="23865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REVIEWS ·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828800"/>
            <a:ext cx="236829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Ratings 3–5, stored apart from the product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008376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083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2999232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ONE DATABASE, EVERY DAY</a:t>
            </a:r>
          </a:p>
        </p:txBody>
      </p:sp>
      <p:sp>
        <p:nvSpPr>
          <p:cNvPr id="23" name="Pentagon 22"/>
          <p:cNvSpPr/>
          <p:nvPr/>
        </p:nvSpPr>
        <p:spPr>
          <a:xfrm>
            <a:off x="457200" y="3429000"/>
            <a:ext cx="3870960" cy="73152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360578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Model, build and load</a:t>
            </a:r>
          </a:p>
        </p:txBody>
      </p:sp>
      <p:sp>
        <p:nvSpPr>
          <p:cNvPr id="25" name="Chevron 24"/>
          <p:cNvSpPr/>
          <p:nvPr/>
        </p:nvSpPr>
        <p:spPr>
          <a:xfrm>
            <a:off x="4145280" y="3429000"/>
            <a:ext cx="3870960" cy="73152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4736" y="3429000"/>
            <a:ext cx="347776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Query, update and aggregate</a:t>
            </a:r>
          </a:p>
        </p:txBody>
      </p:sp>
      <p:sp>
        <p:nvSpPr>
          <p:cNvPr id="27" name="Chevron 26"/>
          <p:cNvSpPr/>
          <p:nvPr/>
        </p:nvSpPr>
        <p:spPr>
          <a:xfrm>
            <a:off x="7833360" y="3429000"/>
            <a:ext cx="3870960" cy="73152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2816" y="3429000"/>
            <a:ext cx="347776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3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Index, replicate and ship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4361688"/>
            <a:ext cx="310896" cy="310896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616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35254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FRESH START ON DAY 2 AND DAY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82312"/>
            <a:ext cx="11247120" cy="10515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500" b="0" i="0">
                <a:solidFill>
                  <a:srgbClr val="000000"/>
                </a:solidFill>
                <a:latin typeface="Consolas"/>
              </a:rPr>
              <a:t># PowerShell, from the course repository root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Consolas"/>
              </a:rPr>
              <a:t>mongosh "mongodb://localhost:27017" .\datasets\training_store\load.js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same customers, products, orders and reviews appear in every module and lab.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HOW EACH MODULE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Short concept blocks, practice and checks — then build it in the lab.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RHYTHM OF EACH MODULE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1755648"/>
            <a:ext cx="1798755" cy="86868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1492431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opener</a:t>
            </a:r>
          </a:p>
        </p:txBody>
      </p:sp>
      <p:sp>
        <p:nvSpPr>
          <p:cNvPr id="9" name="Chevron 8"/>
          <p:cNvSpPr/>
          <p:nvPr/>
        </p:nvSpPr>
        <p:spPr>
          <a:xfrm>
            <a:off x="2031927" y="1755648"/>
            <a:ext cx="1798755" cy="86868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2531" y="1755648"/>
            <a:ext cx="13232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Concepts and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diagrams</a:t>
            </a:r>
          </a:p>
        </p:txBody>
      </p:sp>
      <p:sp>
        <p:nvSpPr>
          <p:cNvPr id="11" name="Chevron 10"/>
          <p:cNvSpPr/>
          <p:nvPr/>
        </p:nvSpPr>
        <p:spPr>
          <a:xfrm>
            <a:off x="3606654" y="1755648"/>
            <a:ext cx="1798755" cy="86868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258" y="1755648"/>
            <a:ext cx="13232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mongosh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examples</a:t>
            </a:r>
          </a:p>
        </p:txBody>
      </p:sp>
      <p:sp>
        <p:nvSpPr>
          <p:cNvPr id="13" name="Chevron 12"/>
          <p:cNvSpPr/>
          <p:nvPr/>
        </p:nvSpPr>
        <p:spPr>
          <a:xfrm>
            <a:off x="5181382" y="1755648"/>
            <a:ext cx="1798755" cy="868680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1986" y="1755648"/>
            <a:ext cx="13232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exercises</a:t>
            </a:r>
          </a:p>
        </p:txBody>
      </p:sp>
      <p:sp>
        <p:nvSpPr>
          <p:cNvPr id="15" name="Chevron 14"/>
          <p:cNvSpPr/>
          <p:nvPr/>
        </p:nvSpPr>
        <p:spPr>
          <a:xfrm>
            <a:off x="6756109" y="1755648"/>
            <a:ext cx="1798755" cy="868680"/>
          </a:xfrm>
          <a:prstGeom prst="chevron">
            <a:avLst>
              <a:gd name="adj" fmla="val 3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6713" y="1755648"/>
            <a:ext cx="13232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Knowledge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check</a:t>
            </a:r>
          </a:p>
        </p:txBody>
      </p:sp>
      <p:sp>
        <p:nvSpPr>
          <p:cNvPr id="17" name="Chevron 16"/>
          <p:cNvSpPr/>
          <p:nvPr/>
        </p:nvSpPr>
        <p:spPr>
          <a:xfrm>
            <a:off x="8330837" y="1755648"/>
            <a:ext cx="1798755" cy="868680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1441" y="1755648"/>
            <a:ext cx="13232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exercises</a:t>
            </a:r>
          </a:p>
        </p:txBody>
      </p:sp>
      <p:sp>
        <p:nvSpPr>
          <p:cNvPr id="19" name="Chevron 18"/>
          <p:cNvSpPr/>
          <p:nvPr/>
        </p:nvSpPr>
        <p:spPr>
          <a:xfrm>
            <a:off x="9905564" y="1755648"/>
            <a:ext cx="1798755" cy="868680"/>
          </a:xfrm>
          <a:prstGeom prst="chevron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66168" y="1755648"/>
            <a:ext cx="132326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Summary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and next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44368"/>
            <a:ext cx="3596640" cy="188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457200" y="294436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94436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THEN THE DAY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474720"/>
            <a:ext cx="3267456" cy="12618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Each day closes with sequenced labs on training_store: two, two, then three.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2440" y="2944368"/>
            <a:ext cx="3596640" cy="188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4282440" y="294436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294436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NEVER STUCK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7032" y="3474720"/>
            <a:ext cx="3267456" cy="12618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step has a Do this and an Expected result. Reload load.js to catch up.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7680" y="2944368"/>
            <a:ext cx="3596640" cy="188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8107680" y="294436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4840" y="294436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ASK ANY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2272" y="3474720"/>
            <a:ext cx="3267456" cy="12618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Questions in the room or in chat are always welcome — lab time is for trying things.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02352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02352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LOW STAKES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Knowledge checks are for you — answer in your own words, then compare with a partner.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Learn a concept, see it in mongosh, practise it, check it, then use it in a lab.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SEVEN HANDS-ON DAY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Sequenced labs on training_store, each with Do this and Expected result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914400" cy="480713"/>
          </a:xfrm>
          <a:prstGeom prst="roundRect">
            <a:avLst>
              <a:gd name="adj" fmla="val 1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81328" y="1298448"/>
            <a:ext cx="8787384" cy="480713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298448"/>
            <a:ext cx="3977639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Nirmala UI"/>
              </a:rPr>
              <a:t>Lab 1 — Install, connect and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7568" y="1298448"/>
            <a:ext cx="4489704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Ping, then insert, find, update,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78440" y="1298448"/>
            <a:ext cx="1325880" cy="480713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02060"/>
                </a:solidFill>
                <a:latin typeface="Nirmala UI"/>
              </a:rPr>
              <a:t>40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52313"/>
            <a:ext cx="914400" cy="480713"/>
          </a:xfrm>
          <a:prstGeom prst="roundRect">
            <a:avLst>
              <a:gd name="adj" fmla="val 1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852313"/>
            <a:ext cx="8787384" cy="480713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1852313"/>
            <a:ext cx="3977639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Nirmala UI"/>
              </a:rPr>
              <a:t>Lab 2 — Model and populate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852313"/>
            <a:ext cx="4489704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Load training_store; justify embed vs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78440" y="1852313"/>
            <a:ext cx="1325880" cy="480713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02060"/>
                </a:solidFill>
                <a:latin typeface="Nirmala UI"/>
              </a:rPr>
              <a:t>50–90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06178"/>
            <a:ext cx="914400" cy="480713"/>
          </a:xfrm>
          <a:prstGeom prst="roundRect">
            <a:avLst>
              <a:gd name="adj" fmla="val 1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1328" y="2406178"/>
            <a:ext cx="8787384" cy="480713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2406178"/>
            <a:ext cx="3977639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3A9E"/>
                </a:solidFill>
                <a:latin typeface="Nirmala UI"/>
              </a:rPr>
              <a:t>Lab 3 — Complex queries and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406178"/>
            <a:ext cx="4489704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Filters, projections, arrays, verified updates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406178"/>
            <a:ext cx="1325880" cy="480713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5B3A9E"/>
                </a:solidFill>
                <a:latin typeface="Nirmala UI"/>
              </a:rPr>
              <a:t>60–75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60043"/>
            <a:ext cx="914400" cy="480713"/>
          </a:xfrm>
          <a:prstGeom prst="roundRect">
            <a:avLst>
              <a:gd name="adj" fmla="val 1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2960043"/>
            <a:ext cx="8787384" cy="480713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2960043"/>
            <a:ext cx="3977639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3A9E"/>
                </a:solidFill>
                <a:latin typeface="Nirmala UI"/>
              </a:rPr>
              <a:t>Lab 4 — Aggregation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2960043"/>
            <a:ext cx="4489704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Rank top-selling categories for completed sales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2960043"/>
            <a:ext cx="1325880" cy="480713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5B3A9E"/>
                </a:solidFill>
                <a:latin typeface="Nirmala UI"/>
              </a:rPr>
              <a:t>45–60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13908"/>
            <a:ext cx="914400" cy="480713"/>
          </a:xfrm>
          <a:prstGeom prst="roundRect">
            <a:avLst>
              <a:gd name="adj" fmla="val 1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81328" y="3513908"/>
            <a:ext cx="8787384" cy="480713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3513908"/>
            <a:ext cx="3977639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Nirmala UI"/>
              </a:rPr>
              <a:t>Lab 5 — Index and 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3513908"/>
            <a:ext cx="4489704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Baseline, compound and multikey indexes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3513908"/>
            <a:ext cx="1325880" cy="480713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40–50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67773"/>
            <a:ext cx="914400" cy="480713"/>
          </a:xfrm>
          <a:prstGeom prst="roundRect">
            <a:avLst>
              <a:gd name="adj" fmla="val 1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81328" y="4067773"/>
            <a:ext cx="8787384" cy="480713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4067773"/>
            <a:ext cx="3977639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Nirmala UI"/>
              </a:rPr>
              <a:t>Lab 6 — Replication and sharding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7568" y="4067773"/>
            <a:ext cx="4489704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Pick the mechanism, score shard keys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4067773"/>
            <a:ext cx="1325880" cy="480713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30–40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621638"/>
            <a:ext cx="914400" cy="480713"/>
          </a:xfrm>
          <a:prstGeom prst="roundRect">
            <a:avLst>
              <a:gd name="adj" fmla="val 1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81328" y="4621638"/>
            <a:ext cx="8787384" cy="480713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27632" y="4621638"/>
            <a:ext cx="3977639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Nirmala UI"/>
              </a:rPr>
              <a:t>Lab 7 — Production readiness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8" y="4621638"/>
            <a:ext cx="4489704" cy="4807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Fix, validate, restore, then score go-live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78440" y="4621638"/>
            <a:ext cx="1325880" cy="480713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45–60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66944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266944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TIME-BOXED TRACK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Labs 1–5 and 7. Lab 6 needs a replica-set URI — or do its discussion steps.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lab runs on live training_store data — reload it and you can always catch up.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LAB ENVIRONMENT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Where your MongoDB runs, the tools you use, and how to keep secrets safe.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ONE PATH EACH — THE INSTRUCTOR ASSIGNS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19072"/>
            <a:ext cx="359664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1847088"/>
            <a:ext cx="457200" cy="45720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27279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Local Community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77440"/>
            <a:ext cx="3267456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mongod on your own machine at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mongodb://localhost:27017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2440" y="1719072"/>
            <a:ext cx="359664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28744" y="1847088"/>
            <a:ext cx="457200" cy="45720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3960" y="1828800"/>
            <a:ext cx="27279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Managed cloud (Atlas)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7032" y="2377440"/>
            <a:ext cx="3267456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database user, your IP allowed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and a mongodb+srv:// URI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680" y="1719072"/>
            <a:ext cx="359664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53984" y="1847088"/>
            <a:ext cx="457200" cy="45720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9200" y="1828800"/>
            <a:ext cx="27279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Instructor URI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272" y="2377440"/>
            <a:ext cx="3267456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shared server — the URI is sent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securely, never in chat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273552"/>
            <a:ext cx="310896" cy="310896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735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264408"/>
            <a:ext cx="50109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YOUR TOOLKIT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94176"/>
            <a:ext cx="2642616" cy="45720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mongosh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9544" y="3694176"/>
            <a:ext cx="2642616" cy="45720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MongoDB Compass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61104"/>
            <a:ext cx="2642616" cy="45720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PowerShell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9544" y="4261104"/>
            <a:ext cx="2642616" cy="45720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Cursor or VS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28032"/>
            <a:ext cx="2642616" cy="45720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training_store load.js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9544" y="4828032"/>
            <a:ext cx="2642616" cy="45720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E7C7B"/>
                </a:solidFill>
                <a:latin typeface="Nirmala UI"/>
              </a:rPr>
              <a:t>sample-app: Node or Python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273552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735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3264408"/>
            <a:ext cx="5056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PASSWORD HYGIENE</a:t>
            </a:r>
          </a:p>
        </p:txBody>
      </p:sp>
      <p:sp>
        <p:nvSpPr>
          <p:cNvPr id="31" name="Oval 30"/>
          <p:cNvSpPr/>
          <p:nvPr/>
        </p:nvSpPr>
        <p:spPr>
          <a:xfrm>
            <a:off x="6263640" y="3769613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3657600"/>
            <a:ext cx="500176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Let mongosh prompt — no password in the URI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4304538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2552" y="4192524"/>
            <a:ext cx="500176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Use placeholders such as &lt;username&gt; in notes</a:t>
            </a:r>
          </a:p>
        </p:txBody>
      </p:sp>
      <p:sp>
        <p:nvSpPr>
          <p:cNvPr id="35" name="Oval 34"/>
          <p:cNvSpPr/>
          <p:nvPr/>
        </p:nvSpPr>
        <p:spPr>
          <a:xfrm>
            <a:off x="6263640" y="4839462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4727448"/>
            <a:ext cx="500176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Keep the URI in the MONGODB_URI variable</a:t>
            </a:r>
          </a:p>
        </p:txBody>
      </p:sp>
      <p:sp>
        <p:nvSpPr>
          <p:cNvPr id="37" name="Oval 36"/>
          <p:cNvSpPr/>
          <p:nvPr/>
        </p:nvSpPr>
        <p:spPr>
          <a:xfrm>
            <a:off x="6263640" y="5374386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2552" y="5262372"/>
            <a:ext cx="500176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Never paste passwords in chat or screenshots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path uses the same mongosh steps — and no password ever lands in chat.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YOU'LL BE ABLE TO DO BY 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Seven skills, each proved in a lab.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11247120" cy="454587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1370293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1298448"/>
            <a:ext cx="9052560" cy="454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Connect to MongoDB and prove the environment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353312"/>
            <a:ext cx="1371600" cy="344859"/>
          </a:xfrm>
          <a:prstGeom prst="roundRect">
            <a:avLst>
              <a:gd name="adj" fmla="val 3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Lab 1 · Day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35331"/>
            <a:ext cx="11247120" cy="454587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5216" y="1907177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1835331"/>
            <a:ext cx="9052560" cy="454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the document model — and when to embed or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890195"/>
            <a:ext cx="1371600" cy="344859"/>
          </a:xfrm>
          <a:prstGeom prst="roundRect">
            <a:avLst>
              <a:gd name="adj" fmla="val 3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Lab 2 · Day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2214"/>
            <a:ext cx="11247120" cy="454587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6" y="2444060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372214"/>
            <a:ext cx="9052560" cy="454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Write filters, projections and verified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27078"/>
            <a:ext cx="1371600" cy="344859"/>
          </a:xfrm>
          <a:prstGeom prst="roundRect">
            <a:avLst>
              <a:gd name="adj" fmla="val 3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Lab 3 · Day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09098"/>
            <a:ext cx="11247120" cy="454587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2980944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2909098"/>
            <a:ext cx="9052560" cy="454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 a multi-stage aggregation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2963962"/>
            <a:ext cx="1371600" cy="344859"/>
          </a:xfrm>
          <a:prstGeom prst="roundRect">
            <a:avLst>
              <a:gd name="adj" fmla="val 3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Lab 4 · Day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45981"/>
            <a:ext cx="11247120" cy="454587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" y="3517827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3445981"/>
            <a:ext cx="9052560" cy="454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Read an explain() plan: COLLSCAN or IXSCAN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500845"/>
            <a:ext cx="1371600" cy="344859"/>
          </a:xfrm>
          <a:prstGeom prst="roundRect">
            <a:avLst>
              <a:gd name="adj" fmla="val 3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Lab 5 · Day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82865"/>
            <a:ext cx="11247120" cy="454587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5216" y="4054710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3982865"/>
            <a:ext cx="9052560" cy="454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replication, sharding or both for a requirement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4037729"/>
            <a:ext cx="1371600" cy="344859"/>
          </a:xfrm>
          <a:prstGeom prst="roundRect">
            <a:avLst>
              <a:gd name="adj" fmla="val 3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Lab 6 · Day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19748"/>
            <a:ext cx="11247120" cy="454587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5216" y="4591594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" y="4519748"/>
            <a:ext cx="9052560" cy="454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Say whether training_store is production-ready — and why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4574612"/>
            <a:ext cx="1371600" cy="344859"/>
          </a:xfrm>
          <a:prstGeom prst="roundRect">
            <a:avLst>
              <a:gd name="adj" fmla="val 3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Lab 7 · Day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75504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75504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THE SUCCESS BAR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Do all seven by the end of Day 3. (It isn't production-ready yet — you'll name why.)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You leave able to model, query, aggregate, tune, scale and assess MongoDB.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"Ask early — it helps the whole room."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LET'S 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Questions Before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We Begin?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Next: Module 1 — Introduction to NoSQL Databases. Then Module 2 sets up MongoDB for Lab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COURSE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