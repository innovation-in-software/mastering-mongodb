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The MongoDB Query Language.</a:t>
            </a:r>
          </a:p>
          <a:p/>
          <a:p>
            <a:r>
              <a:t>The slide says: Document-shaped filters and updates — create, read, update, replace,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Learning Objectives.</a:t>
            </a:r>
          </a:p>
          <a:p/>
          <a:p>
            <a:r>
              <a:t>The slide title is: Module Learning Objectives.</a:t>
            </a:r>
          </a:p>
          <a:p/>
          <a:p>
            <a:r>
              <a:t>The slide says: By the end of this module you will be able to:.</a:t>
            </a:r>
          </a:p>
          <a:p/>
          <a:p>
            <a:r>
              <a:t>Bullet 1 on the slide: Write accurate query filters.</a:t>
            </a:r>
          </a:p>
          <a:p/>
          <a:p>
            <a:r>
              <a:t>Bullet 2 on the slide: Retrieve required fields with projections.</a:t>
            </a:r>
          </a:p>
          <a:p/>
          <a:p>
            <a:r>
              <a:t>Bullet 3 on the slide: Work with nested values and arrays.</a:t>
            </a:r>
          </a:p>
          <a:p/>
          <a:p>
            <a:r>
              <a:t>Bullet 4 on the slide: Insert valid documents and verify writes.</a:t>
            </a:r>
          </a:p>
          <a:p/>
          <a:p>
            <a:r>
              <a:t>Bullet 5 on the slide: Update scalar, nested, and array fields.</a:t>
            </a:r>
          </a:p>
          <a:p/>
          <a:p>
            <a:r>
              <a:t>Bullet 6 on the slide: Replace or upsert documents.</a:t>
            </a:r>
          </a:p>
          <a:p/>
          <a:p>
            <a:r>
              <a:t>Bullet 7 on the slide: Delete test records safely.</a:t>
            </a:r>
          </a:p>
          <a:p/>
          <a:p>
            <a:r>
              <a:t>Bullet 8 on the slide: Interpret write-operation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MongoDB Query Language, or MQL, provides commands for retrieving, filtering, projecting, updating and deleting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`find()` retrieves all documents that match a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Retrieve an exact product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 values: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`findOne()` returns a single matching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#### `countDocuments()`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Estimate the total number of documents using collection metadata: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new code, prefer: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`distinct()` returns unique values for a particular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Retrieve distinct array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Projection controls which fields appear in query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Exclude `_id` explicitly: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Inclusion and exclusion rule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operators are placed inside the field being evaluated: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`$ne` — not equal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`$lt` — less than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Multiple operators can be applied to the same field: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`$in` behaves like an OR operation against one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`$exists`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fields stored as a particular BSON type: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unanchored, case-insensitive regular expression may be expensive on a large collection. Index and search design should be considered for production workloads.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Implicit 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`$and` to supply conditions explicitly: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simple range conditions, the compact form is preferable: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`$nor` matches documents that fail every listed condition: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can also match documents where `price` does not exist. If the field must exist, add an explicit condition: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Combining 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can match array elements without manually looping through the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by array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MongoDB updates normally have three parts: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existing value was already the requested value, `matchedCount` may be `1` while `modifiedCount` is `0`.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`$set`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assigned inside `$unset` is not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`$inc` is safer than reading a value into the application, calculating a new value and writing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financial price changes, update pipelines or explicit decimal calculations may be preferable to avoid unwanted numeric-type conversions.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`$rename`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restore the field: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General Update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Array update operators modify arrays without replacing the complete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and retain a limited number of entries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retains only the ten most recent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multiple unique values: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multiple matching values: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`$pop`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`$pop` does not select an element by value. Use `$pull` when removal should be based on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Positional `$` operator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Filtered positional `$[identifier]`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one matching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apply the update using the same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upsert updates a matching document or inserts a new one when no match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`replaceOne()` replaces the entire matching document except its immutable `_id`.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product is a priority when: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Exercise 3: Find products in a price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category must exist: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Exercise 5: Find customers in selected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Exercise 6: Find orders containing high-quantity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Exercise 7: Find recent processing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updating, verify the product has sufficient inventory: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Exercise 9: Maintain unique product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Exercise 10: Remove discontinued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status condition prevents the command from accidentally “shipping” an order already in an incompatible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Suppose some review documents use `reviewText` instead of `comment`.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condition avoids overwriting documents that already have `comment`.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Challenge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running a large update: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Covers Safe Data-Manipulation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completing this module, learners should be able to: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Demo 4.1 — Explore the Training Dataset.</a:t>
            </a:r>
          </a:p>
          <a:p/>
          <a:p>
            <a:r>
              <a:t>The slide says: Duration: 10 minutes.</a:t>
            </a:r>
          </a:p>
          <a:p/>
          <a:p>
            <a:r>
              <a:t>The slide says: Identify field names, nesting, arrays, and BSON types before writing filters.</a:t>
            </a:r>
          </a:p>
          <a:p/>
          <a:p>
            <a:r>
              <a:t>The code on the slide reads: use training_store show collections db.products.findOne() db.customers.findOne() db.orders.findOne() db.reviews.findOne().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4.15 — Lab 4.1 Dataset Verification.</a:t>
            </a:r>
          </a:p>
          <a:p/>
          <a:p>
            <a:r>
              <a:t>The slide title is: Exercise 4.15 — Lab 4.1 Dataset Verification.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Confirm collections, counts, field paths, and BSON types before querying.</a:t>
            </a:r>
          </a:p>
          <a:p/>
          <a:p>
            <a:r>
              <a:t>Bullet 3 on the slide: Lab guide: [Exercise 4.15](../slide-exercises/module-04/exercise-4.15-lab-dataset-verification.md).</a:t>
            </a:r>
          </a:p>
          <a:p/>
          <a:p>
            <a:r>
              <a:t>The figure on this slide is titled: Four training_store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4.15 — Lab 4.1 Dataset Verification. We have about 15 min for this lab.</a:t>
            </a:r>
          </a:p>
          <a:p/>
          <a:p>
            <a:r>
              <a:t>Confirm training_store collections, counts, field paths, and BSON types before querying.</a:t>
            </a:r>
          </a:p>
          <a:p/>
          <a:p>
            <a:r>
              <a:t>The full lab guide is in slide-exercises/module-04/exercise-4.15-lab-dataset-verification.md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Select the database.</a:t>
            </a:r>
          </a:p>
          <a:p/>
          <a:p>
            <a:r>
              <a:t>Step 2 — List collections.</a:t>
            </a:r>
          </a:p>
          <a:p/>
          <a:p>
            <a:r>
              <a:t>Step 3 — Count each collection.</a:t>
            </a:r>
          </a:p>
          <a:p/>
          <a:p>
            <a:r>
              <a:t>Step 1 — Select the database.</a:t>
            </a:r>
          </a:p>
          <a:p/>
          <a:p>
            <a:r>
              <a:t>Step 2 — List collections.</a:t>
            </a:r>
          </a:p>
          <a:p/>
          <a:p>
            <a:r>
              <a:t>Step 3 — Count each collection.</a:t>
            </a:r>
          </a:p>
          <a:p/>
          <a:p>
            <a:r>
              <a:t>Step 1 — Select the database.</a:t>
            </a:r>
          </a:p>
          <a:p/>
          <a:p>
            <a:r>
              <a:t>Step 2 — List collections.</a:t>
            </a:r>
          </a:p>
          <a:p/>
          <a:p>
            <a:r>
              <a:t>Step 3 — Count each collection.</a:t>
            </a:r>
          </a:p>
          <a:p/>
          <a:p>
            <a:r>
              <a:t>Step 1 — Select the database.</a:t>
            </a:r>
          </a:p>
          <a:p/>
          <a:p>
            <a:r>
              <a:t>Step 2 — List collections.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4.15 — Steps 1–2.</a:t>
            </a:r>
          </a:p>
          <a:p/>
          <a:p>
            <a:r>
              <a:t>The slide says: Lab guide: [Exercise 4.15](../slide-exercises/module-04/exercise-4.15-lab-dataset-verification.md).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 use training_store.</a:t>
            </a:r>
          </a:p>
          <a:p/>
          <a:p>
            <a:r>
              <a:t>Bullet 2 on the slide: Expected: The prompt shows training_store.</a:t>
            </a:r>
          </a:p>
          <a:p/>
          <a:p>
            <a:r>
              <a:t>Bullet 3 on the slide: Do: Run show collections.</a:t>
            </a:r>
          </a:p>
          <a:p/>
          <a:p>
            <a:r>
              <a:t>Bullet 4 on the slide: Expected: products, customers, orders, and reviews are listed.</a:t>
            </a:r>
          </a:p>
          <a:p/>
          <a:p>
            <a:r>
              <a:t>Bullet 5 on the slide: Do: Run: javascript db.products.countDocuments({}) db.customers.countDocuments({}) db.orders.countDocuments({}) db.reviews.countDocuments({}).</a:t>
            </a:r>
          </a:p>
          <a:p/>
          <a:p>
            <a:r>
              <a:t>Bullet 6 on the slide: Expected: On a fresh load: products 13, customers 6, orders 17, reviews 6. If you already inserted lab SKUs, counts are higher — note that.</a:t>
            </a:r>
          </a:p>
          <a:p/>
          <a:p>
            <a:r>
              <a:t>Bullet 7 on the slide: Do: Run use training_store.</a:t>
            </a:r>
          </a:p>
          <a:p/>
          <a:p>
            <a:r>
              <a:t>Bullet 8 on the slide: Expected: The prompt shows training_store.</a:t>
            </a:r>
          </a:p>
          <a:p/>
          <a:p>
            <a:r>
              <a:t>Bullet 9 on the slide: Do: Run show collections.</a:t>
            </a:r>
          </a:p>
          <a:p/>
          <a:p>
            <a:r>
              <a:t>Bullet 10 on the slide: Expected: products, customers, orders, and reviews are listed.</a:t>
            </a:r>
          </a:p>
          <a:p/>
          <a:p>
            <a:r>
              <a:t>Bullet 11 on the slide: Do: Run: javascript db.products.countDocuments({}) db.customers.countDocuments({}) db.orders.countDocuments({}) db.reviews.countDocuments({}).</a:t>
            </a:r>
          </a:p>
          <a:p/>
          <a:p>
            <a:r>
              <a:t>Bullet 12 on the slide: Expected: On a fresh load: products 13, customers 6, orders 17, reviews 6. If you already inserted lab SKUs, counts are higher — note that.</a:t>
            </a:r>
          </a:p>
          <a:p/>
          <a:p>
            <a:r>
              <a:t>Bullet 13 on the slide: Do: Run use training_store.</a:t>
            </a:r>
          </a:p>
          <a:p/>
          <a:p>
            <a:r>
              <a:t>Bullet 14 on the slide: Expected: The prompt shows training_store.</a:t>
            </a:r>
          </a:p>
          <a:p/>
          <a:p>
            <a:r>
              <a:t>Bullet 15 on the slide: Do: Run show collections.</a:t>
            </a:r>
          </a:p>
          <a:p/>
          <a:p>
            <a:r>
              <a:t>Bullet 16 on the slide: Expected: products, customers, orders, and reviews are listed.</a:t>
            </a:r>
          </a:p>
          <a:p/>
          <a:p>
            <a:r>
              <a:t>Bullet 17 on the slide: Do: Run: javascript db.products.countDocuments({}) db.customers.countDocuments({}) db.orders.countDocuments({}) db.reviews.countDocuments({}).</a:t>
            </a:r>
          </a:p>
          <a:p/>
          <a:p>
            <a:r>
              <a:t>Bullet 18 on the slide: Expected: On a fresh load: products 13, customers 6, orders 17, reviews 6. If you already inserted lab SKUs, counts are higher — note that.</a:t>
            </a:r>
          </a:p>
          <a:p/>
          <a:p>
            <a:r>
              <a:t>Bullet 19 on the slide: Do: Run use training_store.</a:t>
            </a:r>
          </a:p>
          <a:p/>
          <a:p>
            <a:r>
              <a:t>Bullet 20 on the slide: Expected: The prompt shows training_store.</a:t>
            </a:r>
          </a:p>
          <a:p/>
          <a:p>
            <a:r>
              <a:t>Bullet 21 on the slide: Do: Run show collections.</a:t>
            </a:r>
          </a:p>
          <a:p/>
          <a:p>
            <a:r>
              <a:t>Bullet 22 on the slide: Expected: products, customers, orders, and reviews are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Count each collection.</a:t>
            </a:r>
          </a:p>
          <a:p/>
          <a:p>
            <a:r>
              <a:t>Step 4 — Inspect one document from each collection.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4.15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db.products.countDocuments({}) db.customers.countDocuments({}) db.orders.countDocuments({}) db.reviews.countDocuments({}).</a:t>
            </a:r>
          </a:p>
          <a:p/>
          <a:p>
            <a:r>
              <a:t>Bullet 2 on the slide: Expected: On a fresh load: products 13, customers 6, orders 17, reviews 6. If you already inserted lab SKUs, counts are higher — note that.</a:t>
            </a:r>
          </a:p>
          <a:p/>
          <a:p>
            <a:r>
              <a:t>Bullet 3 on the slide: Do: Run findOne() on products, customers, orders, and reviews.</a:t>
            </a:r>
          </a:p>
          <a:p/>
          <a:p>
            <a:r>
              <a:t>Bullet 4 on the slide: Expected: You can point to nested objects and arrays on the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Record field paths and BSON types.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4.15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On the product and order, list at least: sku (string), price (decimal), tags (array), attributes.memoryGB (int, if present), items.sku, createdAt (date).</a:t>
            </a:r>
          </a:p>
          <a:p/>
          <a:p>
            <a:r>
              <a:t>Bullet 2 on the slide: Expected: The observation sheet names paths with dotted notation and types. XBAD.price is a string — record that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4.2 — Build Queries Incrementally.</a:t>
            </a:r>
          </a:p>
          <a:p/>
          <a:p>
            <a:r>
              <a:t>The slide title is: Demo 4.2 — Build Queries Incrementally.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Duration: 15 minutes.</a:t>
            </a:r>
          </a:p>
          <a:p/>
          <a:p>
            <a:r>
              <a:t>Bullet 2 on the slide: Start with {}, then add one condition at a time.</a:t>
            </a:r>
          </a:p>
          <a:p/>
          <a:p>
            <a:r>
              <a:t>Bullet 3 on the slide: find({ category: "ACCESSORY" }).</a:t>
            </a:r>
          </a:p>
          <a:p/>
          <a:p>
            <a:r>
              <a:t>Bullet 4 on the slide: Then add active: true.</a:t>
            </a:r>
          </a:p>
          <a:p/>
          <a:p>
            <a:r>
              <a:t>Bullet 5 on the slide: Then price: { $lte: Decimal128("100.00") }.</a:t>
            </a:r>
          </a:p>
          <a:p/>
          <a:p>
            <a:r>
              <a:t>Bullet 6 on the slide: Count after each step.</a:t>
            </a:r>
          </a:p>
          <a:p/>
          <a:p>
            <a:r>
              <a:t>The figure on this slide is titled: Build Queries Incrementally.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 — Read Basic Documents.</a:t>
            </a:r>
          </a:p>
          <a:p/>
          <a:p>
            <a:r>
              <a:t>The slide title is: Exercise 4.1 — Read Basic Documents.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10 min.</a:t>
            </a:r>
          </a:p>
          <a:p/>
          <a:p>
            <a:r>
              <a:t>Bullet 2 on the slide: Retrieve all products, one SKU, active products, ACTIVE customers, and one order.</a:t>
            </a:r>
          </a:p>
          <a:p/>
          <a:p>
            <a:r>
              <a:t>Bullet 3 on the slide: Lab guide: [Exercise 4.1](../slide-exercises/module-04/exercise-4.1-read-basic-documents.md).</a:t>
            </a:r>
          </a:p>
          <a:p/>
          <a:p>
            <a:r>
              <a:t>The figure on this slide is titled: Five starter find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 — Read Basic Documents. We have about 10 min for this lab.</a:t>
            </a:r>
          </a:p>
          <a:p/>
          <a:p>
            <a:r>
              <a:t>Retrieve documents with empty, equality, and unique-identifier filters.</a:t>
            </a:r>
          </a:p>
          <a:p/>
          <a:p>
            <a:r>
              <a:t>The full lab guide is in slide-exercises/module-04/exercise-4.1-read-basic-documents.md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Retrieve all products.</a:t>
            </a:r>
          </a:p>
          <a:p/>
          <a:p>
            <a:r>
              <a:t>Step 2 — Find one product by SKU.</a:t>
            </a:r>
          </a:p>
          <a:p/>
          <a:p>
            <a:r>
              <a:t>Step 3 — Find active products.</a:t>
            </a:r>
          </a:p>
          <a:p/>
          <a:p>
            <a:r>
              <a:t>Step 1 — Retrieve all products.</a:t>
            </a:r>
          </a:p>
          <a:p/>
          <a:p>
            <a:r>
              <a:t>Step 2 — Find one product by SKU.</a:t>
            </a:r>
          </a:p>
          <a:p/>
          <a:p>
            <a:r>
              <a:t>Step 3 — Find active products.</a:t>
            </a:r>
          </a:p>
          <a:p/>
          <a:p>
            <a:r>
              <a:t>Step 1 — Retrieve all products.</a:t>
            </a:r>
          </a:p>
          <a:p/>
          <a:p>
            <a:r>
              <a:t>Step 2 — Find one product by SKU.</a:t>
            </a:r>
          </a:p>
          <a:p/>
          <a:p>
            <a:r>
              <a:t>Step 3 — Find active products.</a:t>
            </a:r>
          </a:p>
          <a:p/>
          <a:p>
            <a:r>
              <a:t>Step 1 — Retrieve all products.</a:t>
            </a:r>
          </a:p>
          <a:p/>
          <a:p>
            <a:r>
              <a:t>Step 2 — Find one product by SKU.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 — Steps 1–2.</a:t>
            </a:r>
          </a:p>
          <a:p/>
          <a:p>
            <a:r>
              <a:t>The slide says: Lab guide: [Exercise 4.1](../slide-exercises/module-04/exercise-4.1-read-basic-documents.md).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db.products.find({}).</a:t>
            </a:r>
          </a:p>
          <a:p/>
          <a:p>
            <a:r>
              <a:t>Bullet 2 on the slide: Expected: A cursor of product documents prints. This is unbounded — acceptable on the training set only.</a:t>
            </a:r>
          </a:p>
          <a:p/>
          <a:p>
            <a:r>
              <a:t>Bullet 3 on the slide: Do: Run: javascript db.products.findOne({ sku: "L100" }).</a:t>
            </a:r>
          </a:p>
          <a:p/>
          <a:p>
            <a:r>
              <a:t>Bullet 4 on the slide: Expected: One laptop document is returned. findOne() returns a document or null, not a cursor.</a:t>
            </a:r>
          </a:p>
          <a:p/>
          <a:p>
            <a:r>
              <a:t>Bullet 5 on the slide: Do: Run: javascript db.products.find({ active: true }).</a:t>
            </a:r>
          </a:p>
          <a:p/>
          <a:p>
            <a:r>
              <a:t>Bullet 6 on the slide: Expected: Inactive items such as L190 are excluded. Field names and booleans are case-sensitive.</a:t>
            </a:r>
          </a:p>
          <a:p/>
          <a:p>
            <a:r>
              <a:t>Bullet 7 on the slide: Do: Run: javascript db.products.find({}).</a:t>
            </a:r>
          </a:p>
          <a:p/>
          <a:p>
            <a:r>
              <a:t>Bullet 8 on the slide: Expected: A cursor of product documents prints. This is unbounded — acceptable on the training set only.</a:t>
            </a:r>
          </a:p>
          <a:p/>
          <a:p>
            <a:r>
              <a:t>Bullet 9 on the slide: Do: Run: javascript db.products.findOne({ sku: "L100" }).</a:t>
            </a:r>
          </a:p>
          <a:p/>
          <a:p>
            <a:r>
              <a:t>Bullet 10 on the slide: Expected: One laptop document is returned. findOne() returns a document or null, not a cursor.</a:t>
            </a:r>
          </a:p>
          <a:p/>
          <a:p>
            <a:r>
              <a:t>Bullet 11 on the slide: Do: Run: javascript db.products.find({ active: true }).</a:t>
            </a:r>
          </a:p>
          <a:p/>
          <a:p>
            <a:r>
              <a:t>Bullet 12 on the slide: Expected: Inactive items such as L190 are excluded. Field names and booleans are case-sensitive.</a:t>
            </a:r>
          </a:p>
          <a:p/>
          <a:p>
            <a:r>
              <a:t>Bullet 13 on the slide: Do: Run: javascript db.products.find({}).</a:t>
            </a:r>
          </a:p>
          <a:p/>
          <a:p>
            <a:r>
              <a:t>Bullet 14 on the slide: Expected: A cursor of product documents prints. This is unbounded — acceptable on the training set only.</a:t>
            </a:r>
          </a:p>
          <a:p/>
          <a:p>
            <a:r>
              <a:t>Bullet 15 on the slide: Do: Run: javascript db.products.findOne({ sku: "L100" }).</a:t>
            </a:r>
          </a:p>
          <a:p/>
          <a:p>
            <a:r>
              <a:t>Bullet 16 on the slide: Expected: One laptop document is returned. findOne() returns a document or null, not a cursor.</a:t>
            </a:r>
          </a:p>
          <a:p/>
          <a:p>
            <a:r>
              <a:t>Bullet 17 on the slide: Do: Run: javascript db.products.find({ active: true }).</a:t>
            </a:r>
          </a:p>
          <a:p/>
          <a:p>
            <a:r>
              <a:t>Bullet 18 on the slide: Expected: Inactive items such as L190 are excluded. Field names and booleans are case-sensitive.</a:t>
            </a:r>
          </a:p>
          <a:p/>
          <a:p>
            <a:r>
              <a:t>Bullet 19 on the slide: Do: Run:  db.products.find({}).</a:t>
            </a:r>
          </a:p>
          <a:p/>
          <a:p>
            <a:r>
              <a:t>Bullet 20 on the slide: Expected: A cursor of product documents prints. This is unbounded — acceptable on the training set only.</a:t>
            </a:r>
          </a:p>
          <a:p/>
          <a:p>
            <a:r>
              <a:t>Bullet 21 on the slide: Do: Run:  db.products.findOne({ sku: "L100" }).</a:t>
            </a:r>
          </a:p>
          <a:p/>
          <a:p>
            <a:r>
              <a:t>Bullet 22 on the slide: Expected: One laptop document is returned. findOne() returns a document or null, not a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Find active products.</a:t>
            </a:r>
          </a:p>
          <a:p/>
          <a:p>
            <a:r>
              <a:t>Step 4 — Find ACTIVE customers.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active: true }).</a:t>
            </a:r>
          </a:p>
          <a:p/>
          <a:p>
            <a:r>
              <a:t>Bullet 2 on the slide: Expected: Inactive items such as L190 are excluded. Field names and booleans are case-sensitive.</a:t>
            </a:r>
          </a:p>
          <a:p/>
          <a:p>
            <a:r>
              <a:t>Bullet 3 on the slide: Do: Run:  db.customers.find({ status: "ACTIVE" }).</a:t>
            </a:r>
          </a:p>
          <a:p/>
          <a:p>
            <a:r>
              <a:t>Bullet 4 on the slide: Expected: C101, C204, C310, C412, and C620 match. C515 (INACTIVE)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Find one order by number.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db.orders.findOne({ orderNumber: "O5001" }).</a:t>
            </a:r>
          </a:p>
          <a:p/>
          <a:p>
            <a:r>
              <a:t>Bullet 2 on the slide: Expected: The order includes an embedded customer object and an items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 — Build Comparison Filters.</a:t>
            </a:r>
          </a:p>
          <a:p/>
          <a:p>
            <a:r>
              <a:t>The slide title is: Exercise 4.2 — Build Comparison Filters.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Use $gt, ranges, $nin, and Decimal128. Notice why XBAD misses numeric comparisons.</a:t>
            </a:r>
          </a:p>
          <a:p/>
          <a:p>
            <a:r>
              <a:t>Bullet 3 on the slide: Lab guide: [Exercise 4.2](../slide-exercises/module-04/exercise-4.2-build-comparison-filters.md).</a:t>
            </a:r>
          </a:p>
          <a:p/>
          <a:p>
            <a:r>
              <a:t>The figure on this slide is titled: Comparison-operator number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 — Build Comparison Filters. We have about 15 min for this lab.</a:t>
            </a:r>
          </a:p>
          <a:p/>
          <a:p>
            <a:r>
              <a:t>Write $gt, $gte, $lte, range, and $nin filters using Decimal128 for money.</a:t>
            </a:r>
          </a:p>
          <a:p/>
          <a:p>
            <a:r>
              <a:t>The full lab guide is in slide-exercises/module-04/exercise-4.2-build-comparison-filters.md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Products priced above 100.</a:t>
            </a:r>
          </a:p>
          <a:p/>
          <a:p>
            <a:r>
              <a:t>Step 2 — Products priced between 50 and 500.</a:t>
            </a:r>
          </a:p>
          <a:p/>
          <a:p>
            <a:r>
              <a:t>Step 3 — Orders with totals above 1,000.</a:t>
            </a:r>
          </a:p>
          <a:p/>
          <a:p>
            <a:r>
              <a:t>Step 1 — Products priced above 100.</a:t>
            </a:r>
          </a:p>
          <a:p/>
          <a:p>
            <a:r>
              <a:t>Step 2 — Products priced between 50 and 500.</a:t>
            </a:r>
          </a:p>
          <a:p/>
          <a:p>
            <a:r>
              <a:t>Step 3 — Orders with totals above 1,000.</a:t>
            </a:r>
          </a:p>
          <a:p/>
          <a:p>
            <a:r>
              <a:t>Step 1 — Products priced above 100.</a:t>
            </a:r>
          </a:p>
          <a:p/>
          <a:p>
            <a:r>
              <a:t>Step 2 — Products priced between 50 and 500.</a:t>
            </a:r>
          </a:p>
          <a:p/>
          <a:p>
            <a:r>
              <a:t>Step 3 — Orders with totals above 1,000.</a:t>
            </a:r>
          </a:p>
          <a:p/>
          <a:p>
            <a:r>
              <a:t>Step 1 — Products priced above 100.</a:t>
            </a:r>
          </a:p>
          <a:p/>
          <a:p>
            <a:r>
              <a:t>Step 2 — Products priced between 50 and 500.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 — Steps 1–2.</a:t>
            </a:r>
          </a:p>
          <a:p/>
          <a:p>
            <a:r>
              <a:t>The slide says: Lab guide: [Exercise 4.2](../slide-exercises/module-04/exercise-4.2-build-comparison-filters.md).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db.products.find({ price: { $gt: Decimal128("100.00") } }).</a:t>
            </a:r>
          </a:p>
          <a:p/>
          <a:p>
            <a:r>
              <a:t>Bullet 2 on the slide: Expected: Laptops and S200 appear. XBAD does not — its price is a string, not Decimal128.</a:t>
            </a:r>
          </a:p>
          <a:p/>
          <a:p>
            <a:r>
              <a:t>Bullet 3 on the slide: Do: Run: javascript db.products.find({ price: { $gte: Decimal128("50.00"), $lte: Decimal128("500.00") } }).</a:t>
            </a:r>
          </a:p>
          <a:p/>
          <a:p>
            <a:r>
              <a:t>Bullet 4 on the slide: Expected: Includes S200, S210, A400, and similar mid-range items. Both bounds are inclusive.</a:t>
            </a:r>
          </a:p>
          <a:p/>
          <a:p>
            <a:r>
              <a:t>Bullet 5 on the slide: Do: Run: javascript db.orders.find({ total: { $gt: Decimal128("1000.00") } }).</a:t>
            </a:r>
          </a:p>
          <a:p/>
          <a:p>
            <a:r>
              <a:t>Bullet 6 on the slide: Expected: O5001 and O6401 match (both contain L100 and have totals above 1,000). Paid high-value orders such as O6101 also match.</a:t>
            </a:r>
          </a:p>
          <a:p/>
          <a:p>
            <a:r>
              <a:t>Bullet 7 on the slide: Do: Run: javascript db.products.find({ price: { $gt: Decimal128("100.00") } }).</a:t>
            </a:r>
          </a:p>
          <a:p/>
          <a:p>
            <a:r>
              <a:t>Bullet 8 on the slide: Expected: Laptops and S200 appear. XBAD does not — its price is a string, not Decimal128.</a:t>
            </a:r>
          </a:p>
          <a:p/>
          <a:p>
            <a:r>
              <a:t>Bullet 9 on the slide: Do: Run: javascript db.products.find({ price: { $gte: Decimal128("50.00"), $lte: Decimal128("500.00") } }).</a:t>
            </a:r>
          </a:p>
          <a:p/>
          <a:p>
            <a:r>
              <a:t>Bullet 10 on the slide: Expected: Includes S200, S210, A400, and similar mid-range items. Both bounds are inclusive.</a:t>
            </a:r>
          </a:p>
          <a:p/>
          <a:p>
            <a:r>
              <a:t>Bullet 11 on the slide: Do: Run: javascript db.orders.find({ total: { $gt: Decimal128("1000.00") } }).</a:t>
            </a:r>
          </a:p>
          <a:p/>
          <a:p>
            <a:r>
              <a:t>Bullet 12 on the slide: Expected: O5001 and O6401 match (both contain L100 and have totals above 1,000). Paid high-value orders such as O6101 also match.</a:t>
            </a:r>
          </a:p>
          <a:p/>
          <a:p>
            <a:r>
              <a:t>Bullet 13 on the slide: Do: Run: javascript db.products.find({ price: { $gt: Decimal128("100.00") } }).</a:t>
            </a:r>
          </a:p>
          <a:p/>
          <a:p>
            <a:r>
              <a:t>Bullet 14 on the slide: Expected: Laptops and S200 appear. XBAD does not — its price is a string, not Decimal128.</a:t>
            </a:r>
          </a:p>
          <a:p/>
          <a:p>
            <a:r>
              <a:t>Bullet 15 on the slide: Do: Run: javascript db.products.find({ price: { $gte: Decimal128("50.00"), $lte: Decimal128("500.00") } }).</a:t>
            </a:r>
          </a:p>
          <a:p/>
          <a:p>
            <a:r>
              <a:t>Bullet 16 on the slide: Expected: Includes S200, S210, A400, and similar mid-range items. Both bounds are inclusive.</a:t>
            </a:r>
          </a:p>
          <a:p/>
          <a:p>
            <a:r>
              <a:t>Bullet 17 on the slide: Do: Run: javascript db.orders.find({ total: { $gt: Decimal128("1000.00") } }).</a:t>
            </a:r>
          </a:p>
          <a:p/>
          <a:p>
            <a:r>
              <a:t>Bullet 18 on the slide: Expected: O5001 and O6401 match (both contain L100 and have totals above 1,000). Paid high-value orders such as O6101 also match.</a:t>
            </a:r>
          </a:p>
          <a:p/>
          <a:p>
            <a:r>
              <a:t>Bullet 19 on the slide: Do: Run:  db.products.find({ price: { $gt: Decimal128("100.00") } }).</a:t>
            </a:r>
          </a:p>
          <a:p/>
          <a:p>
            <a:r>
              <a:t>Bullet 20 on the slide: Expected: Laptops and S200 appear. XBAD does not — its price is a string, not Decimal128.</a:t>
            </a:r>
          </a:p>
          <a:p/>
          <a:p>
            <a:r>
              <a:t>Bullet 21 on the slide: Do: Run:  db.products.find({ price: { $gte: Decimal128("50.00"), $lte: Decimal128("500.00") } }).</a:t>
            </a:r>
          </a:p>
          <a:p/>
          <a:p>
            <a:r>
              <a:t>Bullet 22 on the slide: Expected: Includes S200, S210, A400, and similar mid-range items. Both bounds are inclusive.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Orders with totals above 1,000.</a:t>
            </a:r>
          </a:p>
          <a:p/>
          <a:p>
            <a:r>
              <a:t>Step 4 — Reviews rated at least 4.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db.orders.find({ total: { $gt: Decimal128("1000.00") } }).</a:t>
            </a:r>
          </a:p>
          <a:p/>
          <a:p>
            <a:r>
              <a:t>Bullet 2 on the slide: Expected: O5001 and O6401 match (both contain L100 and have totals above 1,000). Paid high-value orders such as O6101 also match.</a:t>
            </a:r>
          </a:p>
          <a:p/>
          <a:p>
            <a:r>
              <a:t>Bullet 3 on the slide: Do: Run:  db.reviews.find({ rating: { $gte: 4 } }).</a:t>
            </a:r>
          </a:p>
          <a:p/>
          <a:p>
            <a:r>
              <a:t>Bullet 4 on the slide: Expected: Five reviews match. The rating-3 review of P1001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Products outside LAPTOP and SHOE.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category: { $nin: ["LAPTOP", "SHOE"] } }).</a:t>
            </a:r>
          </a:p>
          <a:p/>
          <a:p>
            <a:r>
              <a:t>Bullet 2 on the slide: Expected: Books and accessories remain, including the legacy XBAD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4.3 — Combine Logical Conditions.</a:t>
            </a:r>
          </a:p>
          <a:p/>
          <a:p>
            <a:r>
              <a:t>The slide title is: Exercise 4.3 — Combine Logical Conditions.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Implicit AND, $or / $in, and $nor on products and orders.</a:t>
            </a:r>
          </a:p>
          <a:p/>
          <a:p>
            <a:r>
              <a:t>Bullet 3 on the slide: Lab guide: [Exercise 4.3](../slide-exercises/module-04/exercise-4.3-combine-logical-conditions.md).</a:t>
            </a:r>
          </a:p>
          <a:p/>
          <a:p>
            <a:r>
              <a:t>The figure on this slide is titled: Logical query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4.3 — Combine Logical Conditions. We have about 15 min for this lab.</a:t>
            </a:r>
          </a:p>
          <a:p/>
          <a:p>
            <a:r>
              <a:t>Combine implicit AND, $or, and $nor into precise product and order filters.</a:t>
            </a:r>
          </a:p>
          <a:p/>
          <a:p>
            <a:r>
              <a:t>The full lab guide is in slide-exercises/module-04/exercise-4.3-combine-logical-conditions.md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Active laptops or books.</a:t>
            </a:r>
          </a:p>
          <a:p/>
          <a:p>
            <a:r>
              <a:t>Step 2 — Active products under 100.</a:t>
            </a:r>
          </a:p>
          <a:p/>
          <a:p>
            <a:r>
              <a:t>Step 3 — Pending or processing orders.</a:t>
            </a:r>
          </a:p>
          <a:p/>
          <a:p>
            <a:r>
              <a:t>Step 1 — Active laptops or books.</a:t>
            </a:r>
          </a:p>
          <a:p/>
          <a:p>
            <a:r>
              <a:t>Step 2 — Active products under 100.</a:t>
            </a:r>
          </a:p>
          <a:p/>
          <a:p>
            <a:r>
              <a:t>Step 3 — Pending or processing orders.</a:t>
            </a:r>
          </a:p>
          <a:p/>
          <a:p>
            <a:r>
              <a:t>Step 1 — Active laptops or books.</a:t>
            </a:r>
          </a:p>
          <a:p/>
          <a:p>
            <a:r>
              <a:t>Step 2 — Active products under 100.</a:t>
            </a:r>
          </a:p>
          <a:p/>
          <a:p>
            <a:r>
              <a:t>Step 3 — Pending or processing orders.</a:t>
            </a:r>
          </a:p>
          <a:p/>
          <a:p>
            <a:r>
              <a:t>Step 1 — Active laptops or books.</a:t>
            </a:r>
          </a:p>
          <a:p/>
          <a:p>
            <a:r>
              <a:t>Step 2 — Active products under 100.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4.3 — Steps 1–2.</a:t>
            </a:r>
          </a:p>
          <a:p/>
          <a:p>
            <a:r>
              <a:t>The slide says: Lab guide: [Exercise 4.3](../slide-exercises/module-04/exercise-4.3-combine-logical-conditions.md).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db.products.find({ active: true, $or: [ { category: "LAPTOP" }, { category: "BOOK" } ] }).</a:t>
            </a:r>
          </a:p>
          <a:p/>
          <a:p>
            <a:r>
              <a:t>Bullet 2 on the slide: Expected: Active laptops and books match. Inactive L190 is excluded by active: true.</a:t>
            </a:r>
          </a:p>
          <a:p/>
          <a:p>
            <a:r>
              <a:t>Bullet 3 on the slide: Do: Run: javascript db.products.find({ active: true, price: { $lt: Decimal128("100.00") } }).</a:t>
            </a:r>
          </a:p>
          <a:p/>
          <a:p>
            <a:r>
              <a:t>Bullet 4 on the slide: Expected: Implicit AND. Accessories and cheaper books match. XBAD does not, because of BSON type.</a:t>
            </a:r>
          </a:p>
          <a:p/>
          <a:p>
            <a:r>
              <a:t>Bullet 5 on the slide: Do: Run: javascript db.orders.find({ $or: [ { paymentStatus: "PENDING" }, { fulfillmentStatus: "PROCESSING" } ] }).</a:t>
            </a:r>
          </a:p>
          <a:p/>
          <a:p>
            <a:r>
              <a:t>Bullet 6 on the slide: Expected: O5001 and O6499 are PENDING payment; O6401 is PROCESSING. Prefer $in when alternatives share one field.</a:t>
            </a:r>
          </a:p>
          <a:p/>
          <a:p>
            <a:r>
              <a:t>Bullet 7 on the slide: Do: Run: javascript db.products.find({ active: true, $or: [ { category: "LAPTOP" }, { category: "BOOK" } ] }).</a:t>
            </a:r>
          </a:p>
          <a:p/>
          <a:p>
            <a:r>
              <a:t>Bullet 8 on the slide: Expected: Active laptops and books match. Inactive L190 is excluded by active: true.</a:t>
            </a:r>
          </a:p>
          <a:p/>
          <a:p>
            <a:r>
              <a:t>Bullet 9 on the slide: Do: Run: javascript db.products.find({ active: true, price: { $lt: Decimal128("100.00") } }).</a:t>
            </a:r>
          </a:p>
          <a:p/>
          <a:p>
            <a:r>
              <a:t>Bullet 10 on the slide: Expected: Implicit AND. Accessories and cheaper books match. XBAD does not, because of BSON type.</a:t>
            </a:r>
          </a:p>
          <a:p/>
          <a:p>
            <a:r>
              <a:t>Bullet 11 on the slide: Do: Run: javascript db.orders.find({ $or: [ { paymentStatus: "PENDING" }, { fulfillmentStatus: "PROCESSING" } ] }).</a:t>
            </a:r>
          </a:p>
          <a:p/>
          <a:p>
            <a:r>
              <a:t>Bullet 12 on the slide: Expected: O5001 and O6499 are PENDING payment; O6401 is PROCESSING. Prefer $in when alternatives share one field.</a:t>
            </a:r>
          </a:p>
          <a:p/>
          <a:p>
            <a:r>
              <a:t>Bullet 13 on the slide: Do: Run: javascript db.products.find({ active: true, $or: [ { category: "LAPTOP" }, { category: "BOOK" } ] }).</a:t>
            </a:r>
          </a:p>
          <a:p/>
          <a:p>
            <a:r>
              <a:t>Bullet 14 on the slide: Expected: Active laptops and books match. Inactive L190 is excluded by active: true.</a:t>
            </a:r>
          </a:p>
          <a:p/>
          <a:p>
            <a:r>
              <a:t>Bullet 15 on the slide: Do: Run: javascript db.products.find({ active: true, price: { $lt: Decimal128("100.00") } }).</a:t>
            </a:r>
          </a:p>
          <a:p/>
          <a:p>
            <a:r>
              <a:t>Bullet 16 on the slide: Expected: Implicit AND. Accessories and cheaper books match. XBAD does not, because of BSON type.</a:t>
            </a:r>
          </a:p>
          <a:p/>
          <a:p>
            <a:r>
              <a:t>Bullet 17 on the slide: Do: Run: javascript db.orders.find({ $or: [ { paymentStatus: "PENDING" }, { fulfillmentStatus: "PROCESSING" } ] }).</a:t>
            </a:r>
          </a:p>
          <a:p/>
          <a:p>
            <a:r>
              <a:t>Bullet 18 on the slide: Expected: O5001 and O6499 are PENDING payment; O6401 is PROCESSING. Prefer $in when alternatives share one field.</a:t>
            </a:r>
          </a:p>
          <a:p/>
          <a:p>
            <a:r>
              <a:t>Bullet 19 on the slide: Do: Run:  db.products.find({ active: true, $or: [ { category: "LAPTOP" }, { category: "BOOK" } ] }).</a:t>
            </a:r>
          </a:p>
          <a:p/>
          <a:p>
            <a:r>
              <a:t>Bullet 20 on the slide: Expected: Active laptops and books match. Inactive L190 is excluded by active: true.</a:t>
            </a:r>
          </a:p>
          <a:p/>
          <a:p>
            <a:r>
              <a:t>Bullet 21 on the slide: Do: Run:  db.products.find({ active: true, price: { $lt: Decimal128("100.00") } }).</a:t>
            </a:r>
          </a:p>
          <a:p/>
          <a:p>
            <a:r>
              <a:t>Bullet 22 on the slide: Expected: Implicit AND. Accessories and cheaper books match. XBAD does not, because of BSON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Pending or processing orders.</a:t>
            </a:r>
          </a:p>
          <a:p/>
          <a:p>
            <a:r>
              <a:t>Step 4 — Neither discontinued nor inactive.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4.3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db.orders.find({ $or: [ { paymentStatus: "PENDING" }, { fulfillmentStatus: "PROCESSING" } ] }).</a:t>
            </a:r>
          </a:p>
          <a:p/>
          <a:p>
            <a:r>
              <a:t>Bullet 2 on the slide: Expected: O5001 and O6499 are PENDING payment; O6401 is PROCESSING. Prefer $in when alternatives share one field.</a:t>
            </a:r>
          </a:p>
          <a:p/>
          <a:p>
            <a:r>
              <a:t>Bullet 3 on the slide: Do: Run:  db.products.find({ $nor: [ { tags: "discontinued" }, { active: false } ] }).</a:t>
            </a:r>
          </a:p>
          <a:p/>
          <a:p>
            <a:r>
              <a:t>Bullet 4 on the slide: Expected: Documents that are inactive or tagged discontinued are excluded. L190 is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4.4 — Query Missing and Null Fields.</a:t>
            </a:r>
          </a:p>
          <a:p/>
          <a:p>
            <a:r>
              <a:t>The slide title is: Exercise 4.4 — Query Missing and Null Fields.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10 min.</a:t>
            </a:r>
          </a:p>
          <a:p/>
          <a:p>
            <a:r>
              <a:t>Bullet 2 on the slide: Separate exists, BSON null, missing fields, and wrong types.</a:t>
            </a:r>
          </a:p>
          <a:p/>
          <a:p>
            <a:r>
              <a:t>Bullet 3 on the slide: Lab guide: [Exercise 4.4](../slide-exercises/module-04/exercise-4.4-query-missing-and-null.md).</a:t>
            </a:r>
          </a:p>
          <a:p/>
          <a:p>
            <a:r>
              <a:t>The figure on this slide is titled: Value, null, or missing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4.4 — Query Missing and Null Fields. We have about 10 min for this lab.</a:t>
            </a:r>
          </a:p>
          <a:p/>
          <a:p>
            <a:r>
              <a:t>Distinguish $exists, BSON null, missing fields, and incorrect types.</a:t>
            </a:r>
          </a:p>
          <a:p/>
          <a:p>
            <a:r>
              <a:t>The full lab guide is in slide-exercises/module-04/exercise-4.4-query-missing-and-null.md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Products with a discount field.</a:t>
            </a:r>
          </a:p>
          <a:p/>
          <a:p>
            <a:r>
              <a:t>Step 2 — Products without a discount field.</a:t>
            </a:r>
          </a:p>
          <a:p/>
          <a:p>
            <a:r>
              <a:t>Step 3 — Customers with a null phone.</a:t>
            </a:r>
          </a:p>
          <a:p/>
          <a:p>
            <a:r>
              <a:t>Step 1 — Products with a discount field.</a:t>
            </a:r>
          </a:p>
          <a:p/>
          <a:p>
            <a:r>
              <a:t>Step 2 — Products without a discount field.</a:t>
            </a:r>
          </a:p>
          <a:p/>
          <a:p>
            <a:r>
              <a:t>Step 3 — Customers with a null phone.</a:t>
            </a:r>
          </a:p>
          <a:p/>
          <a:p>
            <a:r>
              <a:t>Step 1 — Products with a discount field.</a:t>
            </a:r>
          </a:p>
          <a:p/>
          <a:p>
            <a:r>
              <a:t>Step 2 — Products without a discount field.</a:t>
            </a:r>
          </a:p>
          <a:p/>
          <a:p>
            <a:r>
              <a:t>Step 3 — Customers with a null phone.</a:t>
            </a:r>
          </a:p>
          <a:p/>
          <a:p>
            <a:r>
              <a:t>Step 1 — Products with a discount field.</a:t>
            </a:r>
          </a:p>
          <a:p/>
          <a:p>
            <a:r>
              <a:t>Step 2 — Products without a discount field.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4.4 — Steps 1–2.</a:t>
            </a:r>
          </a:p>
          <a:p/>
          <a:p>
            <a:r>
              <a:t>The slide says: Lab guide: [Exercise 4.4](../slide-exercises/module-04/exercise-4.4-query-missing-and-null.md).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db.products.find({ discountPrice: { $exists: true } }).</a:t>
            </a:r>
          </a:p>
          <a:p/>
          <a:p>
            <a:r>
              <a:t>Bullet 2 on the slide: Expected: P1001 and B310 match. Presence of the field is enough — the value may still be inspected later.</a:t>
            </a:r>
          </a:p>
          <a:p/>
          <a:p>
            <a:r>
              <a:t>Bullet 3 on the slide: Do: Run: javascript db.products.find({ discountPrice: { $exists: false } }).</a:t>
            </a:r>
          </a:p>
          <a:p/>
          <a:p>
            <a:r>
              <a:t>Bullet 4 on the slide: Expected: Most catalog items match, including laptops that never had a discount field.</a:t>
            </a:r>
          </a:p>
          <a:p/>
          <a:p>
            <a:r>
              <a:t>Bullet 5 on the slide: Do: Run: javascript db.customers.find({ "contact.phone": { $type: "null" } }).</a:t>
            </a:r>
          </a:p>
          <a:p/>
          <a:p>
            <a:r>
              <a:t>Bullet 6 on the slide: Expected: C204 matches. { phone: null } on a dotted path is easy to get wrong — query { "contact.phone": { $type: "null" } }.</a:t>
            </a:r>
          </a:p>
          <a:p/>
          <a:p>
            <a:r>
              <a:t>Bullet 7 on the slide: Do: Run: javascript db.products.find({ discountPrice: { $exists: true } }).</a:t>
            </a:r>
          </a:p>
          <a:p/>
          <a:p>
            <a:r>
              <a:t>Bullet 8 on the slide: Expected: P1001 and B310 match. Presence of the field is enough — the value may still be inspected later.</a:t>
            </a:r>
          </a:p>
          <a:p/>
          <a:p>
            <a:r>
              <a:t>Bullet 9 on the slide: Do: Run: javascript db.products.find({ discountPrice: { $exists: false } }).</a:t>
            </a:r>
          </a:p>
          <a:p/>
          <a:p>
            <a:r>
              <a:t>Bullet 10 on the slide: Expected: Most catalog items match, including laptops that never had a discount field.</a:t>
            </a:r>
          </a:p>
          <a:p/>
          <a:p>
            <a:r>
              <a:t>Bullet 11 on the slide: Do: Run: javascript db.customers.find({ "contact.phone": { $type: "null" } }).</a:t>
            </a:r>
          </a:p>
          <a:p/>
          <a:p>
            <a:r>
              <a:t>Bullet 12 on the slide: Expected: C204 matches. { phone: null } on a dotted path is easy to get wrong — query { "contact.phone": { $type: "null" } }.</a:t>
            </a:r>
          </a:p>
          <a:p/>
          <a:p>
            <a:r>
              <a:t>Bullet 13 on the slide: Do: Run: javascript db.products.find({ discountPrice: { $exists: true } }).</a:t>
            </a:r>
          </a:p>
          <a:p/>
          <a:p>
            <a:r>
              <a:t>Bullet 14 on the slide: Expected: P1001 and B310 match. Presence of the field is enough — the value may still be inspected later.</a:t>
            </a:r>
          </a:p>
          <a:p/>
          <a:p>
            <a:r>
              <a:t>Bullet 15 on the slide: Do: Run: javascript db.products.find({ discountPrice: { $exists: false } }).</a:t>
            </a:r>
          </a:p>
          <a:p/>
          <a:p>
            <a:r>
              <a:t>Bullet 16 on the slide: Expected: Most catalog items match, including laptops that never had a discount field.</a:t>
            </a:r>
          </a:p>
          <a:p/>
          <a:p>
            <a:r>
              <a:t>Bullet 17 on the slide: Do: Run: javascript db.customers.find({ "contact.phone": { $type: "null" } }).</a:t>
            </a:r>
          </a:p>
          <a:p/>
          <a:p>
            <a:r>
              <a:t>Bullet 18 on the slide: Expected: C204 matches. { phone: null } on a dotted path is easy to get wrong — query { "contact.phone": { $type: "null" } }.</a:t>
            </a:r>
          </a:p>
          <a:p/>
          <a:p>
            <a:r>
              <a:t>Bullet 19 on the slide: Do: Run:  db.products.find({ discountPrice: { $exists: true } }).</a:t>
            </a:r>
          </a:p>
          <a:p/>
          <a:p>
            <a:r>
              <a:t>Bullet 20 on the slide: Expected: P1001 and B310 match. Presence of the field is enough — the value may still be inspected later.</a:t>
            </a:r>
          </a:p>
          <a:p/>
          <a:p>
            <a:r>
              <a:t>Bullet 21 on the slide: Do: Run:  db.products.find({ discountPrice: { $exists: false } }).</a:t>
            </a:r>
          </a:p>
          <a:p/>
          <a:p>
            <a:r>
              <a:t>Bullet 22 on the slide: Expected: Most catalog items match, including laptops that never had a discount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Customers with a null phone.</a:t>
            </a:r>
          </a:p>
          <a:p/>
          <a:p>
            <a:r>
              <a:t>Step 4 — Customers without a phone field.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4.4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db.customers.find({ "contact.phone": { $type: "null" } }).</a:t>
            </a:r>
          </a:p>
          <a:p/>
          <a:p>
            <a:r>
              <a:t>Bullet 2 on the slide: Expected: C204 matches. { phone: null } on a dotted path is easy to get wrong — query { "contact.phone": { $type: "null" } }.</a:t>
            </a:r>
          </a:p>
          <a:p/>
          <a:p>
            <a:r>
              <a:t>Bullet 3 on the slide: Do: Run:  db.customers.find({ "contact.phone": { $exists: false } }).</a:t>
            </a:r>
          </a:p>
          <a:p/>
          <a:p>
            <a:r>
              <a:t>Bullet 4 on the slide: Expected: C515 matches (no phone field). C204 has the field with BSON null. Everyone else has a string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Incorrect price BSON type.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4.4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price: { $type: "string" } }).</a:t>
            </a:r>
          </a:p>
          <a:p/>
          <a:p>
            <a:r>
              <a:t>Bullet 2 on the slide: Expected: XBAD (Legacy Cable Pack) is the planted type error. Money in this course is Decimal128.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Demo 4.3 — Query Nested Documents and Arrays.</a:t>
            </a:r>
          </a:p>
          <a:p/>
          <a:p>
            <a:r>
              <a:t>The slide says: Duration: 15 minutes.</a:t>
            </a:r>
          </a:p>
          <a:p/>
          <a:p>
            <a:r>
              <a:t>The slide says: Then contrast the without $elemMatch form on O5001.</a:t>
            </a:r>
          </a:p>
          <a:p/>
          <a:p>
            <a:r>
              <a:t>The code on the slide reads: db.products.find({ "attributes.memoryGB": { $gte: 16 } }) db.customers.find({ "addresses.city": "Toronto" }) db.orders.find({   items: { $elemMatch: { sku: "L100", quantity: { $gte: 1 } } } }).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4.5 — Query Arrays.</a:t>
            </a:r>
          </a:p>
          <a:p/>
          <a:p>
            <a:r>
              <a:t>The slide title is: Exercise 4.5 — Query Arrays.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Containment, $all, $size, availableSizes, and excluding a tag.</a:t>
            </a:r>
          </a:p>
          <a:p/>
          <a:p>
            <a:r>
              <a:t>Bullet 3 on the slide: Lab guide: [Exercise 4.5](../slide-exercises/module-04/exercise-4.5-query-arrays.md).</a:t>
            </a:r>
          </a:p>
          <a:p/>
          <a:p>
            <a:r>
              <a:t>The figure on this slide is titled: Array query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4.5 — Query Arrays. We have about 15 min for this lab.</a:t>
            </a:r>
          </a:p>
          <a:p/>
          <a:p>
            <a:r>
              <a:t>Query arrays with containment, $all, $size, $ne, and $nin.</a:t>
            </a:r>
          </a:p>
          <a:p/>
          <a:p>
            <a:r>
              <a:t>The full lab guide is in slide-exercises/module-04/exercise-4.5-query-arrays.md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Tagged technology.</a:t>
            </a:r>
          </a:p>
          <a:p/>
          <a:p>
            <a:r>
              <a:t>Step 2 — Both database and technology.</a:t>
            </a:r>
          </a:p>
          <a:p/>
          <a:p>
            <a:r>
              <a:t>Step 3 — Exactly two tags.</a:t>
            </a:r>
          </a:p>
          <a:p/>
          <a:p>
            <a:r>
              <a:t>Step 1 — Tagged technology.</a:t>
            </a:r>
          </a:p>
          <a:p/>
          <a:p>
            <a:r>
              <a:t>Step 2 — Both database and technology.</a:t>
            </a:r>
          </a:p>
          <a:p/>
          <a:p>
            <a:r>
              <a:t>Step 3 — Exactly two tags.</a:t>
            </a:r>
          </a:p>
          <a:p/>
          <a:p>
            <a:r>
              <a:t>Step 1 — Tagged technology.</a:t>
            </a:r>
          </a:p>
          <a:p/>
          <a:p>
            <a:r>
              <a:t>Step 2 — Both database and technology.</a:t>
            </a:r>
          </a:p>
          <a:p/>
          <a:p>
            <a:r>
              <a:t>Step 3 — Exactly two tags.</a:t>
            </a:r>
          </a:p>
          <a:p/>
          <a:p>
            <a:r>
              <a:t>Step 1 — Tagged technology.</a:t>
            </a:r>
          </a:p>
          <a:p/>
          <a:p>
            <a:r>
              <a:t>Step 2 — Both database and technology.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4.5 — Steps 1–2.</a:t>
            </a:r>
          </a:p>
          <a:p/>
          <a:p>
            <a:r>
              <a:t>The slide says: Lab guide: [Exercise 4.5](../slide-exercises/module-04/exercise-4.5-query-arrays.md).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db.products.find({ tags: "technology" }).</a:t>
            </a:r>
          </a:p>
          <a:p/>
          <a:p>
            <a:r>
              <a:t>Bullet 2 on the slide: Expected: Any product whose tags array contains technology, regardless of other tags.</a:t>
            </a:r>
          </a:p>
          <a:p/>
          <a:p>
            <a:r>
              <a:t>Bullet 3 on the slide: Do: Run: javascript db.products.find({ tags: { $all: ["database", "technology"] } }).</a:t>
            </a:r>
          </a:p>
          <a:p/>
          <a:p>
            <a:r>
              <a:t>Bullet 4 on the slide: Expected: B300 matches (database and technology). Order of tags does not matter.</a:t>
            </a:r>
          </a:p>
          <a:p/>
          <a:p>
            <a:r>
              <a:t>Bullet 5 on the slide: Do: Run: javascript db.products.find({ tags: { $size: 2 } }).</a:t>
            </a:r>
          </a:p>
          <a:p/>
          <a:p>
            <a:r>
              <a:t>Bullet 6 on the slide: Expected: Most catalog products have exactly two tags. $size cannot express “at least two”.</a:t>
            </a:r>
          </a:p>
          <a:p/>
          <a:p>
            <a:r>
              <a:t>Bullet 7 on the slide: Do: Run: javascript db.products.find({ tags: "technology" }).</a:t>
            </a:r>
          </a:p>
          <a:p/>
          <a:p>
            <a:r>
              <a:t>Bullet 8 on the slide: Expected: Any product whose tags array contains technology, regardless of other tags.</a:t>
            </a:r>
          </a:p>
          <a:p/>
          <a:p>
            <a:r>
              <a:t>Bullet 9 on the slide: Do: Run: javascript db.products.find({ tags: { $all: ["database", "technology"] } }).</a:t>
            </a:r>
          </a:p>
          <a:p/>
          <a:p>
            <a:r>
              <a:t>Bullet 10 on the slide: Expected: B300 matches (database and technology). Order of tags does not matter.</a:t>
            </a:r>
          </a:p>
          <a:p/>
          <a:p>
            <a:r>
              <a:t>Bullet 11 on the slide: Do: Run: javascript db.products.find({ tags: { $size: 2 } }).</a:t>
            </a:r>
          </a:p>
          <a:p/>
          <a:p>
            <a:r>
              <a:t>Bullet 12 on the slide: Expected: Most catalog products have exactly two tags. $size cannot express “at least two”.</a:t>
            </a:r>
          </a:p>
          <a:p/>
          <a:p>
            <a:r>
              <a:t>Bullet 13 on the slide: Do: Run: javascript db.products.find({ tags: "technology" }).</a:t>
            </a:r>
          </a:p>
          <a:p/>
          <a:p>
            <a:r>
              <a:t>Bullet 14 on the slide: Expected: Any product whose tags array contains technology, regardless of other tags.</a:t>
            </a:r>
          </a:p>
          <a:p/>
          <a:p>
            <a:r>
              <a:t>Bullet 15 on the slide: Do: Run: javascript db.products.find({ tags: { $all: ["database", "technology"] } }).</a:t>
            </a:r>
          </a:p>
          <a:p/>
          <a:p>
            <a:r>
              <a:t>Bullet 16 on the slide: Expected: B300 matches (database and technology). Order of tags does not matter.</a:t>
            </a:r>
          </a:p>
          <a:p/>
          <a:p>
            <a:r>
              <a:t>Bullet 17 on the slide: Do: Run: javascript db.products.find({ tags: { $size: 2 } }).</a:t>
            </a:r>
          </a:p>
          <a:p/>
          <a:p>
            <a:r>
              <a:t>Bullet 18 on the slide: Expected: Most catalog products have exactly two tags. $size cannot express “at least two”.</a:t>
            </a:r>
          </a:p>
          <a:p/>
          <a:p>
            <a:r>
              <a:t>Bullet 19 on the slide: Do: Run:  db.products.find({ tags: "technology" }).</a:t>
            </a:r>
          </a:p>
          <a:p/>
          <a:p>
            <a:r>
              <a:t>Bullet 20 on the slide: Expected: Any product whose tags array contains technology, regardless of other tags.</a:t>
            </a:r>
          </a:p>
          <a:p/>
          <a:p>
            <a:r>
              <a:t>Bullet 21 on the slide: Do: Run:  db.products.find({ tags: { $all: ["database", "technology"] } }).</a:t>
            </a:r>
          </a:p>
          <a:p/>
          <a:p>
            <a:r>
              <a:t>Bullet 22 on the slide: Expected: B300 matches (database and technology). Order of tags does not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Exactly two tags.</a:t>
            </a:r>
          </a:p>
          <a:p/>
          <a:p>
            <a:r>
              <a:t>Step 4 — Specified available size.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4.5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tags: { $size: 2 } }).</a:t>
            </a:r>
          </a:p>
          <a:p/>
          <a:p>
            <a:r>
              <a:t>Bullet 2 on the slide: Expected: Most catalog products have exactly two tags. $size cannot express “at least two”.</a:t>
            </a:r>
          </a:p>
          <a:p/>
          <a:p>
            <a:r>
              <a:t>Bullet 3 on the slide: Do: Run:  db.products.find({ "attributes.sizes": 9 }).</a:t>
            </a:r>
          </a:p>
          <a:p/>
          <a:p>
            <a:r>
              <a:t>Bullet 4 on the slide: Expected: S200, S210, and S290 match. Nested array containment uses a dotted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Not containing discontinued.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4.5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tags: { $ne: "discontinued" } }).</a:t>
            </a:r>
          </a:p>
          <a:p/>
          <a:p>
            <a:r>
              <a:t>Bullet 2 on the slide: Expected: L190 is excluded once it carries a discontinued tag. $ne on an array field also matches documents that lack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4.6 — Query Arrays of Documents.</a:t>
            </a:r>
          </a:p>
          <a:p/>
          <a:p>
            <a:r>
              <a:t>The slide title is: Exercise 4.6 — Query Arrays of Documents.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Prove the O5001 $elemMatch trap, then query Toronto shipping addresses.</a:t>
            </a:r>
          </a:p>
          <a:p/>
          <a:p>
            <a:r>
              <a:t>Bullet 3 on the slide: Lab guide: [Exercise 4.6](../slide-exercises/module-04/exercise-4.6-query-arrays-of-documents.md).</a:t>
            </a:r>
          </a:p>
          <a:p/>
          <a:p>
            <a:r>
              <a:t>The figure on this slide is titled: elemMatch.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4.6 — Query Arrays of Documents. We have about 15 min for this lab.</a:t>
            </a:r>
          </a:p>
          <a:p/>
          <a:p>
            <a:r>
              <a:t>Query nested arrays and use $elemMatch when two conditions must apply to the same element.</a:t>
            </a:r>
          </a:p>
          <a:p/>
          <a:p>
            <a:r>
              <a:t>The full lab guide is in slide-exercises/module-04/exercise-4.6-query-arrays-of-documents.md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Orders containing SKU L100.</a:t>
            </a:r>
          </a:p>
          <a:p/>
          <a:p>
            <a:r>
              <a:t>Step 2 — Orders with any item quantity ≥ 2.</a:t>
            </a:r>
          </a:p>
          <a:p/>
          <a:p>
            <a:r>
              <a:t>Step 3 — Same item is L100 and qty ≥ 2.</a:t>
            </a:r>
          </a:p>
          <a:p/>
          <a:p>
            <a:r>
              <a:t>Step 1 — Orders containing SKU L100.</a:t>
            </a:r>
          </a:p>
          <a:p/>
          <a:p>
            <a:r>
              <a:t>Step 2 — Orders with any item quantity ≥ 2.</a:t>
            </a:r>
          </a:p>
          <a:p/>
          <a:p>
            <a:r>
              <a:t>Step 3 — Same item is L100 and qty ≥ 2.</a:t>
            </a:r>
          </a:p>
          <a:p/>
          <a:p>
            <a:r>
              <a:t>Step 1 — Orders containing SKU L100.</a:t>
            </a:r>
          </a:p>
          <a:p/>
          <a:p>
            <a:r>
              <a:t>Step 2 — Orders with any item quantity ≥ 2.</a:t>
            </a:r>
          </a:p>
          <a:p/>
          <a:p>
            <a:r>
              <a:t>Step 3 — Same item is L100 and qty ≥ 2.</a:t>
            </a:r>
          </a:p>
          <a:p/>
          <a:p>
            <a:r>
              <a:t>Step 1 — Orders containing SKU L100.</a:t>
            </a:r>
          </a:p>
          <a:p/>
          <a:p>
            <a:r>
              <a:t>Step 2 — Orders with any item quantity ≥ 2.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4.6 — Steps 1–2.</a:t>
            </a:r>
          </a:p>
          <a:p/>
          <a:p>
            <a:r>
              <a:t>The slide says: Lab guide: [Exercise 4.6](../slide-exercises/module-04/exercise-4.6-query-arrays-of-documents.md).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db.orders.find({ "items.sku": "L100" }).</a:t>
            </a:r>
          </a:p>
          <a:p/>
          <a:p>
            <a:r>
              <a:t>Bullet 2 on the slide: Expected: O5001, O6101, and O6401 match.</a:t>
            </a:r>
          </a:p>
          <a:p/>
          <a:p>
            <a:r>
              <a:t>Bullet 3 on the slide: Do: Run: javascript db.orders.find({ "items.quantity": { $gte: 2 } }).</a:t>
            </a:r>
          </a:p>
          <a:p/>
          <a:p>
            <a:r>
              <a:t>Bullet 4 on the slide: Expected: O5001 (A410 qty 2) and O6401 (L100 qty 2). Other orders may also match.</a:t>
            </a:r>
          </a:p>
          <a:p/>
          <a:p>
            <a:r>
              <a:t>Bullet 5 on the slide: Do: Run: javascript db.orders.find({ items: { $elemMatch: { sku: "L100", quantity: { $gte: 2 } } } }).</a:t>
            </a:r>
          </a:p>
          <a:p/>
          <a:p>
            <a:r>
              <a:t>Bullet 6 on the slide: Expected: Only O6401. O5001 has L100 qty 1 and a different item (A410) qty 2 — that is the trap.</a:t>
            </a:r>
          </a:p>
          <a:p/>
          <a:p>
            <a:r>
              <a:t>Bullet 7 on the slide: Do: Run: javascript db.orders.find({ "items.sku": "L100" }).</a:t>
            </a:r>
          </a:p>
          <a:p/>
          <a:p>
            <a:r>
              <a:t>Bullet 8 on the slide: Expected: O5001, O6101, and O6401 match.</a:t>
            </a:r>
          </a:p>
          <a:p/>
          <a:p>
            <a:r>
              <a:t>Bullet 9 on the slide: Do: Run: javascript db.orders.find({ "items.quantity": { $gte: 2 } }).</a:t>
            </a:r>
          </a:p>
          <a:p/>
          <a:p>
            <a:r>
              <a:t>Bullet 10 on the slide: Expected: O5001 (A410 qty 2) and O6401 (L100 qty 2). Other orders may also match.</a:t>
            </a:r>
          </a:p>
          <a:p/>
          <a:p>
            <a:r>
              <a:t>Bullet 11 on the slide: Do: Run: javascript db.orders.find({ items: { $elemMatch: { sku: "L100", quantity: { $gte: 2 } } } }).</a:t>
            </a:r>
          </a:p>
          <a:p/>
          <a:p>
            <a:r>
              <a:t>Bullet 12 on the slide: Expected: Only O6401. O5001 has L100 qty 1 and a different item (A410) qty 2 — that is the trap.</a:t>
            </a:r>
          </a:p>
          <a:p/>
          <a:p>
            <a:r>
              <a:t>Bullet 13 on the slide: Do: Run: javascript db.orders.find({ "items.sku": "L100" }).</a:t>
            </a:r>
          </a:p>
          <a:p/>
          <a:p>
            <a:r>
              <a:t>Bullet 14 on the slide: Expected: O5001, O6101, and O6401 match.</a:t>
            </a:r>
          </a:p>
          <a:p/>
          <a:p>
            <a:r>
              <a:t>Bullet 15 on the slide: Do: Run: javascript db.orders.find({ "items.quantity": { $gte: 2 } }).</a:t>
            </a:r>
          </a:p>
          <a:p/>
          <a:p>
            <a:r>
              <a:t>Bullet 16 on the slide: Expected: O5001 (A410 qty 2) and O6401 (L100 qty 2). Other orders may also match.</a:t>
            </a:r>
          </a:p>
          <a:p/>
          <a:p>
            <a:r>
              <a:t>Bullet 17 on the slide: Do: Run: javascript db.orders.find({ items: { $elemMatch: { sku: "L100", quantity: { $gte: 2 } } } }).</a:t>
            </a:r>
          </a:p>
          <a:p/>
          <a:p>
            <a:r>
              <a:t>Bullet 18 on the slide: Expected: Only O6401. O5001 has L100 qty 1 and a different item (A410) qty 2 — that is the trap.</a:t>
            </a:r>
          </a:p>
          <a:p/>
          <a:p>
            <a:r>
              <a:t>Bullet 19 on the slide: Do: Run:  db.orders.find({ "items.sku": "L100" }).</a:t>
            </a:r>
          </a:p>
          <a:p/>
          <a:p>
            <a:r>
              <a:t>Bullet 20 on the slide: Expected: O5001, O6101, and O6401 match.</a:t>
            </a:r>
          </a:p>
          <a:p/>
          <a:p>
            <a:r>
              <a:t>Bullet 21 on the slide: Do: Run:  db.orders.find({ "items.quantity": { $gte: 2 } }).</a:t>
            </a:r>
          </a:p>
          <a:p/>
          <a:p>
            <a:r>
              <a:t>Bullet 22 on the slide: Expected: O5001 (A410 qty 2) and O6401 (L100 qty 2). Other orders may also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Same item is L100 and qty ≥ 2.</a:t>
            </a:r>
          </a:p>
          <a:p/>
          <a:p>
            <a:r>
              <a:t>Step 4 — Confirm the trap without $elemMatch.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4.6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db.orders.find({ items: { $elemMatch: { sku: "L100", quantity: { $gte: 2 } } } }).</a:t>
            </a:r>
          </a:p>
          <a:p/>
          <a:p>
            <a:r>
              <a:t>Bullet 2 on the slide: Expected: Only O6401. O5001 has L100 qty 1 and a different item (A410) qty 2 — that is the trap.</a:t>
            </a:r>
          </a:p>
          <a:p/>
          <a:p>
            <a:r>
              <a:t>Bullet 3 on the slide: Do: Run:  db.orders.find({ "items.sku": "L100", "items.quantity": { $gte: 2 } }).</a:t>
            </a:r>
          </a:p>
          <a:p/>
          <a:p>
            <a:r>
              <a:t>Bullet 4 on the slide: Expected: Both O5001 and O6401 match. Dot notation does not require the same array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Customers with a Toronto shipping address.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4.6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db.customers.find({ addresses: { $elemMatch: { type: "SHIPPING", city: "Toronto" } } }).</a:t>
            </a:r>
          </a:p>
          <a:p/>
          <a:p>
            <a:r>
              <a:t>Bullet 2 on the slide: Expected: C101 matches. Address type values in this dataset are uppercase (SHIPPING).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Demo 4.4 — Use Projections and Cursor Methods.</a:t>
            </a:r>
          </a:p>
          <a:p/>
          <a:p>
            <a:r>
              <a:t>The slide says: Duration: 15 minutes.</a:t>
            </a:r>
          </a:p>
          <a:p/>
          <a:p>
            <a:r>
              <a:t>The slide says: Discuss execution conceptually: filter, shape, sort, limit.</a:t>
            </a:r>
          </a:p>
          <a:p/>
          <a:p>
            <a:r>
              <a:t>The code on the slide reads: db.products   .find({ active: true }, { name: 1, category: 1, price: 1, _id: 0 })   .sort({ price: -1 })   .limit(5).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4.7 — Design Projections.</a:t>
            </a:r>
          </a:p>
          <a:p/>
          <a:p>
            <a:r>
              <a:t>The slide title is: Exercise 4.7 — Design Projections.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10 min.</a:t>
            </a:r>
          </a:p>
          <a:p/>
          <a:p>
            <a:r>
              <a:t>Bullet 2 on the slide: Inclusion, nested paths, exclusion, and projecting one matching item.</a:t>
            </a:r>
          </a:p>
          <a:p/>
          <a:p>
            <a:r>
              <a:t>Bullet 3 on the slide: Lab guide: [Exercise 4.7](../slide-exercises/module-04/exercise-4.7-design-projections.md).</a:t>
            </a:r>
          </a:p>
          <a:p/>
          <a:p>
            <a:r>
              <a:t>The figure on this slide is titled: Projection.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4.7 — Design Projections. We have about 10 min for this lab.</a:t>
            </a:r>
          </a:p>
          <a:p/>
          <a:p>
            <a:r>
              <a:t>Return only required fields, including nested paths and a matching array element.</a:t>
            </a:r>
          </a:p>
          <a:p/>
          <a:p>
            <a:r>
              <a:t>The full lab guide is in slide-exercises/module-04/exercise-4.7-design-projections.md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Product name and price without _id.</a:t>
            </a:r>
          </a:p>
          <a:p/>
          <a:p>
            <a:r>
              <a:t>Step 2 — Customer name and email.</a:t>
            </a:r>
          </a:p>
          <a:p/>
          <a:p>
            <a:r>
              <a:t>Step 3 — Order number, status, and total.</a:t>
            </a:r>
          </a:p>
          <a:p/>
          <a:p>
            <a:r>
              <a:t>Step 1 — Product name and price without _id.</a:t>
            </a:r>
          </a:p>
          <a:p/>
          <a:p>
            <a:r>
              <a:t>Step 2 — Customer name and email.</a:t>
            </a:r>
          </a:p>
          <a:p/>
          <a:p>
            <a:r>
              <a:t>Step 3 — Order number, status, and total.</a:t>
            </a:r>
          </a:p>
          <a:p/>
          <a:p>
            <a:r>
              <a:t>Step 1 — Product name and price without _id.</a:t>
            </a:r>
          </a:p>
          <a:p/>
          <a:p>
            <a:r>
              <a:t>Step 2 — Customer name and email.</a:t>
            </a:r>
          </a:p>
          <a:p/>
          <a:p>
            <a:r>
              <a:t>Step 3 — Order number, status, and total.</a:t>
            </a:r>
          </a:p>
          <a:p/>
          <a:p>
            <a:r>
              <a:t>Step 1 — Product name and price without _id.</a:t>
            </a:r>
          </a:p>
          <a:p/>
          <a:p>
            <a:r>
              <a:t>Step 2 — Customer name and email.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4.7 — Steps 1–2.</a:t>
            </a:r>
          </a:p>
          <a:p/>
          <a:p>
            <a:r>
              <a:t>The slide says: Lab guide: [Exercise 4.7](../slide-exercises/module-04/exercise-4.7-design-projections.md).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 { active: true }, { name: 1, price: 1, _id: 0 } ).</a:t>
            </a:r>
          </a:p>
          <a:p/>
          <a:p>
            <a:r>
              <a:t>Bullet 2 on the slide: Expected: Each result has only name and price. Mixing inclusion of name with exclusion of tags would error.</a:t>
            </a:r>
          </a:p>
          <a:p/>
          <a:p>
            <a:r>
              <a:t>Bullet 3 on the slide: Do: Run: javascript db.customers.find( { customerNumber: "C101" }, { "name.first": 1, "name.last": 1, "contact.email": 1, _id: 0 } ).</a:t>
            </a:r>
          </a:p>
          <a:p/>
          <a:p>
            <a:r>
              <a:t>Bullet 4 on the slide: Expected: Nested inclusion. Sibling fields such as addresses are omitted.</a:t>
            </a:r>
          </a:p>
          <a:p/>
          <a:p>
            <a:r>
              <a:t>Bullet 5 on the slide: Do: Run: javascript db.orders.find( {}, { orderNumber: 1, status: 1, total: 1, _id: 0 } ).</a:t>
            </a:r>
          </a:p>
          <a:p/>
          <a:p>
            <a:r>
              <a:t>Bullet 6 on the slide: Expected: A compact operations list. _id is excluded explicitly.</a:t>
            </a:r>
          </a:p>
          <a:p/>
          <a:p>
            <a:r>
              <a:t>Bullet 7 on the slide: Do: Run: javascript db.products.find( { active: true }, { name: 1, price: 1, _id: 0 } ).</a:t>
            </a:r>
          </a:p>
          <a:p/>
          <a:p>
            <a:r>
              <a:t>Bullet 8 on the slide: Expected: Each result has only name and price. Mixing inclusion of name with exclusion of tags would error.</a:t>
            </a:r>
          </a:p>
          <a:p/>
          <a:p>
            <a:r>
              <a:t>Bullet 9 on the slide: Do: Run: javascript db.customers.find( { customerNumber: "C101" }, { "name.first": 1, "name.last": 1, "contact.email": 1, _id: 0 } ).</a:t>
            </a:r>
          </a:p>
          <a:p/>
          <a:p>
            <a:r>
              <a:t>Bullet 10 on the slide: Expected: Nested inclusion. Sibling fields such as addresses are omitted.</a:t>
            </a:r>
          </a:p>
          <a:p/>
          <a:p>
            <a:r>
              <a:t>Bullet 11 on the slide: Do: Run: javascript db.orders.find( {}, { orderNumber: 1, status: 1, total: 1, _id: 0 } ).</a:t>
            </a:r>
          </a:p>
          <a:p/>
          <a:p>
            <a:r>
              <a:t>Bullet 12 on the slide: Expected: A compact operations list. _id is excluded explicitly.</a:t>
            </a:r>
          </a:p>
          <a:p/>
          <a:p>
            <a:r>
              <a:t>Bullet 13 on the slide: Do: Run: javascript db.products.find( { active: true }, { name: 1, price: 1, _id: 0 } ).</a:t>
            </a:r>
          </a:p>
          <a:p/>
          <a:p>
            <a:r>
              <a:t>Bullet 14 on the slide: Expected: Each result has only name and price. Mixing inclusion of name with exclusion of tags would error.</a:t>
            </a:r>
          </a:p>
          <a:p/>
          <a:p>
            <a:r>
              <a:t>Bullet 15 on the slide: Do: Run: javascript db.customers.find( { customerNumber: "C101" }, { "name.first": 1, "name.last": 1, "contact.email": 1, _id: 0 } ).</a:t>
            </a:r>
          </a:p>
          <a:p/>
          <a:p>
            <a:r>
              <a:t>Bullet 16 on the slide: Expected: Nested inclusion. Sibling fields such as addresses are omitted.</a:t>
            </a:r>
          </a:p>
          <a:p/>
          <a:p>
            <a:r>
              <a:t>Bullet 17 on the slide: Do: Run: javascript db.orders.find( {}, { orderNumber: 1, status: 1, total: 1, _id: 0 } ).</a:t>
            </a:r>
          </a:p>
          <a:p/>
          <a:p>
            <a:r>
              <a:t>Bullet 18 on the slide: Expected: A compact operations list. _id is excluded explicitly.</a:t>
            </a:r>
          </a:p>
          <a:p/>
          <a:p>
            <a:r>
              <a:t>Bullet 19 on the slide: Do: Run:  db.products.find( { active: true }, { name: 1, price: 1, _id: 0 } ).</a:t>
            </a:r>
          </a:p>
          <a:p/>
          <a:p>
            <a:r>
              <a:t>Bullet 20 on the slide: Expected: Each result has only name and price. Mixing inclusion of name with exclusion of tags would error.</a:t>
            </a:r>
          </a:p>
          <a:p/>
          <a:p>
            <a:r>
              <a:t>Bullet 21 on the slide: Do: Run:  db.customers.find( { customerNumber: "C101" }, { "name.first": 1, "name.last": 1, "contact.email": 1, _id: 0 } ).</a:t>
            </a:r>
          </a:p>
          <a:p/>
          <a:p>
            <a:r>
              <a:t>Bullet 22 on the slide: Expected: Nested inclusion. Sibling fields such as addresses are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Order number, status, and total.</a:t>
            </a:r>
          </a:p>
          <a:p/>
          <a:p>
            <a:r>
              <a:t>Step 4 — Exclude large attribute fields.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4.7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db.orders.find( {}, { orderNumber: 1, status: 1, total: 1, _id: 0 } ).</a:t>
            </a:r>
          </a:p>
          <a:p/>
          <a:p>
            <a:r>
              <a:t>Bullet 2 on the slide: Expected: A compact operations list. _id is excluded explicitly.</a:t>
            </a:r>
          </a:p>
          <a:p/>
          <a:p>
            <a:r>
              <a:t>Bullet 3 on the slide: Do: Run:  db.products.find({ sku: "L100" }, { attributes: 0, tags: 0 }).</a:t>
            </a:r>
          </a:p>
          <a:p/>
          <a:p>
            <a:r>
              <a:t>Bullet 4 on the slide: Expected: Exclusion projection. All remaining fields are returned.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Only the matching order item.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4.7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db.orders.find( { orderNumber: "O5001" }, { items: { $elemMatch: { sku: "L100" } }, orderNumber: 1 } ).</a:t>
            </a:r>
          </a:p>
          <a:p/>
          <a:p>
            <a:r>
              <a:t>Bullet 2 on the slide: Expected: items contains only the L100 element. Other line items are omitted from the result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4.8 — Sort and Paginate Results.</a:t>
            </a:r>
          </a:p>
          <a:p/>
          <a:p>
            <a:r>
              <a:t>The slide title is: Exercise 4.8 — Sort and Paginate Results.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Sort, top-N, two pages of five, countDocuments, distinct.</a:t>
            </a:r>
          </a:p>
          <a:p/>
          <a:p>
            <a:r>
              <a:t>Bullet 3 on the slide: Lab guide: [Exercise 4.8](../slide-exercises/module-04/exercise-4.8-sort-and-paginate.md).</a:t>
            </a:r>
          </a:p>
          <a:p/>
          <a:p>
            <a:r>
              <a:t>The figure on this slide is titled: Pagination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4.8 — Sort and Paginate Results. We have about 15 min for this lab.</a:t>
            </a:r>
          </a:p>
          <a:p/>
          <a:p>
            <a:r>
              <a:t>Sort, limit, skip, count, and retrieve distinct values with a deterministic tiebreaker.</a:t>
            </a:r>
          </a:p>
          <a:p/>
          <a:p>
            <a:r>
              <a:t>The full lab guide is in slide-exercises/module-04/exercise-4.8-sort-and-paginate.md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Sort products by price ascending.</a:t>
            </a:r>
          </a:p>
          <a:p/>
          <a:p>
            <a:r>
              <a:t>Step 2 — Sort by category then price descending.</a:t>
            </a:r>
          </a:p>
          <a:p/>
          <a:p>
            <a:r>
              <a:t>Step 3 — Five most expensive active products.</a:t>
            </a:r>
          </a:p>
          <a:p/>
          <a:p>
            <a:r>
              <a:t>Step 1 — Sort products by price ascending.</a:t>
            </a:r>
          </a:p>
          <a:p/>
          <a:p>
            <a:r>
              <a:t>Step 2 — Sort by category then price descending.</a:t>
            </a:r>
          </a:p>
          <a:p/>
          <a:p>
            <a:r>
              <a:t>Step 3 — Five most expensive active products.</a:t>
            </a:r>
          </a:p>
          <a:p/>
          <a:p>
            <a:r>
              <a:t>Step 1 — Sort products by price ascending.</a:t>
            </a:r>
          </a:p>
          <a:p/>
          <a:p>
            <a:r>
              <a:t>Step 2 — Sort by category then price descending.</a:t>
            </a:r>
          </a:p>
          <a:p/>
          <a:p>
            <a:r>
              <a:t>Step 3 — Five most expensive active products.</a:t>
            </a:r>
          </a:p>
          <a:p/>
          <a:p>
            <a:r>
              <a:t>Step 1 — Sort products by price ascending.</a:t>
            </a:r>
          </a:p>
          <a:p/>
          <a:p>
            <a:r>
              <a:t>Step 2 — Sort by category then price descending.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4.8 — Steps 1–2.</a:t>
            </a:r>
          </a:p>
          <a:p/>
          <a:p>
            <a:r>
              <a:t>The slide says: Lab guide: [Exercise 4.8](../slide-exercises/module-04/exercise-4.8-sort-and-paginate.md).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db.products.find({}, { name: 1, price: 1 }).sort({ price: 1, _id: 1 }).</a:t>
            </a:r>
          </a:p>
          <a:p/>
          <a:p>
            <a:r>
              <a:t>Bullet 2 on the slide: Expected: Cheapest Decimal128 prices first. XBAD may sort oddly because its price is a string — mention that.</a:t>
            </a:r>
          </a:p>
          <a:p/>
          <a:p>
            <a:r>
              <a:t>Bullet 3 on the slide: Do: Run: javascript db.products.find({}, { category: 1, name: 1, price: 1, _id: 0 }) .sort({ category: 1, price: -1 }).</a:t>
            </a:r>
          </a:p>
          <a:p/>
          <a:p>
            <a:r>
              <a:t>Bullet 4 on the slide: Expected: Within each category the highest price prints first.</a:t>
            </a:r>
          </a:p>
          <a:p/>
          <a:p>
            <a:r>
              <a:t>Bullet 5 on the slide: Do: Run: javascript db.products.find({ active: true }, { name: 1, price: 1, _id: 0 }) .sort({ price: -1, _id: 1 }) .limit(5).</a:t>
            </a:r>
          </a:p>
          <a:p/>
          <a:p>
            <a:r>
              <a:t>Bullet 6 on the slide: Expected: Expect L110, L100, then L190 if active were included — on active-only, L110 then L100 then A500.</a:t>
            </a:r>
          </a:p>
          <a:p/>
          <a:p>
            <a:r>
              <a:t>Bullet 7 on the slide: Do: Run: javascript db.products.find({}, { name: 1, price: 1 }).sort({ price: 1, _id: 1 }).</a:t>
            </a:r>
          </a:p>
          <a:p/>
          <a:p>
            <a:r>
              <a:t>Bullet 8 on the slide: Expected: Cheapest Decimal128 prices first. XBAD may sort oddly because its price is a string — mention that.</a:t>
            </a:r>
          </a:p>
          <a:p/>
          <a:p>
            <a:r>
              <a:t>Bullet 9 on the slide: Do: Run: javascript db.products.find({}, { category: 1, name: 1, price: 1, _id: 0 }) .sort({ category: 1, price: -1 }).</a:t>
            </a:r>
          </a:p>
          <a:p/>
          <a:p>
            <a:r>
              <a:t>Bullet 10 on the slide: Expected: Within each category the highest price prints first.</a:t>
            </a:r>
          </a:p>
          <a:p/>
          <a:p>
            <a:r>
              <a:t>Bullet 11 on the slide: Do: Run: javascript db.products.find({ active: true }, { name: 1, price: 1, _id: 0 }) .sort({ price: -1, _id: 1 }) .limit(5).</a:t>
            </a:r>
          </a:p>
          <a:p/>
          <a:p>
            <a:r>
              <a:t>Bullet 12 on the slide: Expected: Expect L110, L100, then L190 if active were included — on active-only, L110 then L100 then A500.</a:t>
            </a:r>
          </a:p>
          <a:p/>
          <a:p>
            <a:r>
              <a:t>Bullet 13 on the slide: Do: Run: javascript db.products.find({}, { name: 1, price: 1 }).sort({ price: 1, _id: 1 }).</a:t>
            </a:r>
          </a:p>
          <a:p/>
          <a:p>
            <a:r>
              <a:t>Bullet 14 on the slide: Expected: Cheapest Decimal128 prices first. XBAD may sort oddly because its price is a string — mention that.</a:t>
            </a:r>
          </a:p>
          <a:p/>
          <a:p>
            <a:r>
              <a:t>Bullet 15 on the slide: Do: Run: javascript db.products.find({}, { category: 1, name: 1, price: 1, _id: 0 }) .sort({ category: 1, price: -1 }).</a:t>
            </a:r>
          </a:p>
          <a:p/>
          <a:p>
            <a:r>
              <a:t>Bullet 16 on the slide: Expected: Within each category the highest price prints first.</a:t>
            </a:r>
          </a:p>
          <a:p/>
          <a:p>
            <a:r>
              <a:t>Bullet 17 on the slide: Do: Run: javascript db.products.find({ active: true }, { name: 1, price: 1, _id: 0 }) .sort({ price: -1, _id: 1 }) .limit(5).</a:t>
            </a:r>
          </a:p>
          <a:p/>
          <a:p>
            <a:r>
              <a:t>Bullet 18 on the slide: Expected: Expect L110, L100, then L190 if active were included — on active-only, L110 then L100 then A500.</a:t>
            </a:r>
          </a:p>
          <a:p/>
          <a:p>
            <a:r>
              <a:t>Bullet 19 on the slide: Do: Run:  db.products.find({}, { name: 1, price: 1 }).sort({ price: 1, _id: 1 }).</a:t>
            </a:r>
          </a:p>
          <a:p/>
          <a:p>
            <a:r>
              <a:t>Bullet 20 on the slide: Expected: Cheapest Decimal128 prices first. XBAD may sort oddly because its price is a string — mention that.</a:t>
            </a:r>
          </a:p>
          <a:p/>
          <a:p>
            <a:r>
              <a:t>Bullet 21 on the slide: Do: Run:  db.products.find({}, { category: 1, name: 1, price: 1, _id: 0 }) .sort({ category: 1, price: -1 }).</a:t>
            </a:r>
          </a:p>
          <a:p/>
          <a:p>
            <a:r>
              <a:t>Bullet 22 on the slide: Expected: Within each category the highest price prints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Five most expensive active products.</a:t>
            </a:r>
          </a:p>
          <a:p/>
          <a:p>
            <a:r>
              <a:t>Step 4 — Page 1 and page 2 (five per page).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4.8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active: true }, { name: 1, price: 1, _id: 0 }) .sort({ price: -1, _id: 1 }) .limit(5).</a:t>
            </a:r>
          </a:p>
          <a:p/>
          <a:p>
            <a:r>
              <a:t>Bullet 2 on the slide: Expected: Expect L110, L100, then L190 if active were included — on active-only, L110 then L100 then A500.</a:t>
            </a:r>
          </a:p>
          <a:p/>
          <a:p>
            <a:r>
              <a:t>Bullet 3 on the slide: Do: Run both:  db.products.find({ active: true }).sort({ _id: 1 }).skip(0).limit(5) db.products.find({ active: true }).sort({ _id: 1 }).skip(5).limit(5).</a:t>
            </a:r>
          </a:p>
          <a:p/>
          <a:p>
            <a:r>
              <a:t>Bullet 4 on the slide: Expected: Two disjoint pages. The sort key is required for stable pagination.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Count and distinct.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4.8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db.products.countDocuments({ active: true }) db.products.distinct("category").</a:t>
            </a:r>
          </a:p>
          <a:p/>
          <a:p>
            <a:r>
              <a:t>Bullet 2 on the slide: Expected: Count is smaller than 16 because inactive items exist. Distinct includes LAPTOP, BOOK, ACCESSORY, SHOE.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4.5 — Insert and Verify Documents.</a:t>
            </a:r>
          </a:p>
          <a:p/>
          <a:p>
            <a:r>
              <a:t>The slide title is: Demo 4.5 — Insert and Verify Documents.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Duration: 10 minutes.</a:t>
            </a:r>
          </a:p>
          <a:p/>
          <a:p>
            <a:r>
              <a:t>Bullet 2 on the slide: Insert one product with demo SKU DEMO-1.</a:t>
            </a:r>
          </a:p>
          <a:p/>
          <a:p>
            <a:r>
              <a:t>Bullet 3 on the slide: Inspect acknowledged and insertedId.</a:t>
            </a:r>
          </a:p>
          <a:p/>
          <a:p>
            <a:r>
              <a:t>Bullet 4 on the slide: findOne({ sku: "DEMO-1" }) to verify.</a:t>
            </a:r>
          </a:p>
          <a:p/>
          <a:p>
            <a:r>
              <a:t>Bullet 5 on the slide: Keep price as Decimal128, dates as Date.</a:t>
            </a:r>
          </a:p>
          <a:p/>
          <a:p>
            <a:r>
              <a:t>The figure on this slide is titled: Insert and Verify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4.9 — Insert New Application Data.</a:t>
            </a:r>
          </a:p>
          <a:p/>
          <a:p>
            <a:r>
              <a:t>The slide title is: Exercise 4.9 — Insert New Application Data.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insertOne, insertMany, a customer, an order; verify types.</a:t>
            </a:r>
          </a:p>
          <a:p/>
          <a:p>
            <a:r>
              <a:t>Bullet 3 on the slide: Lab guide: [Exercise 4.9](../slide-exercises/module-04/exercise-4.9-insert-new-application-data.md).</a:t>
            </a:r>
          </a:p>
          <a:p/>
          <a:p>
            <a:r>
              <a:t>The figure on this slide is titled: Insert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4.9 — Insert New Application Data. We have about 15 min for this lab.</a:t>
            </a:r>
          </a:p>
          <a:p/>
          <a:p>
            <a:r>
              <a:t>Insert one document, several documents, a customer, and an order, then verify each write.</a:t>
            </a:r>
          </a:p>
          <a:p/>
          <a:p>
            <a:r>
              <a:t>The full lab guide is in slide-exercises/module-04/exercise-4.9-insert-new-application-data.md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Insert one product.</a:t>
            </a:r>
          </a:p>
          <a:p/>
          <a:p>
            <a:r>
              <a:t>Step 2 — Insert three products.</a:t>
            </a:r>
          </a:p>
          <a:p/>
          <a:p>
            <a:r>
              <a:t>Step 3 — Insert a customer with an address.</a:t>
            </a:r>
          </a:p>
          <a:p/>
          <a:p>
            <a:r>
              <a:t>Step 1 — Insert one product.</a:t>
            </a:r>
          </a:p>
          <a:p/>
          <a:p>
            <a:r>
              <a:t>Step 2 — Insert three products.</a:t>
            </a:r>
          </a:p>
          <a:p/>
          <a:p>
            <a:r>
              <a:t>Step 3 — Insert a customer with an address.</a:t>
            </a:r>
          </a:p>
          <a:p/>
          <a:p>
            <a:r>
              <a:t>Step 1 — Insert one product.</a:t>
            </a:r>
          </a:p>
          <a:p/>
          <a:p>
            <a:r>
              <a:t>Step 2 — Insert three products.</a:t>
            </a:r>
          </a:p>
          <a:p/>
          <a:p>
            <a:r>
              <a:t>Step 3 — Insert a customer with an address.</a:t>
            </a:r>
          </a:p>
          <a:p/>
          <a:p>
            <a:r>
              <a:t>Step 1 — Insert one product.</a:t>
            </a:r>
          </a:p>
          <a:p/>
          <a:p>
            <a:r>
              <a:t>Step 2 — Insert three products.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4.9 — Steps 1–2.</a:t>
            </a:r>
          </a:p>
          <a:p/>
          <a:p>
            <a:r>
              <a:t>The slide says: Lab guide: [Exercise 4.9](../slide-exercises/module-04/exercise-4.9-insert-new-application-data.md).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db.products.insertOne({ sku: "A620", name: "USB-C Hub", category: "ACCESSORY", price: Decimal128("69.99"), tags: ["usb-c", "accessory"], active: true, stockQuantity: 10, createdAt: new Date() }).</a:t>
            </a:r>
          </a:p>
          <a:p/>
          <a:p>
            <a:r>
              <a:t>Bullet 2 on the slide: Expected: acknowledged: true and an insertedId. If sku already exists, unique index sku_unique rejects the insert — reload the dataset.</a:t>
            </a:r>
          </a:p>
          <a:p/>
          <a:p>
            <a:r>
              <a:t>Bullet 3 on the slide: Do: Run: javascript db.products.insertMany([ { sku: "A610", name: "Laptop Stand", category: "ACCESSORY", price: Decimal128("49.99"), active: true, stockQuantity: 6 }, { sku: "A611", name: "HDMI Adapter", category: "ACCESS.</a:t>
            </a:r>
          </a:p>
          <a:p/>
          <a:p>
            <a:r>
              <a:t>Bullet 4 on the slide: Expected: insertedIds contains three keys. Inspect insertedCount / insertedIds.</a:t>
            </a:r>
          </a:p>
          <a:p/>
          <a:p>
            <a:r>
              <a:t>Bullet 5 on the slide: Do: Run: javascript db.customers.insertOne({ customerNumber: "C801", name: { first: "Elena", last: "Novak" }, contact: { email: "elena@example.com" }, addresses: [{ type: "SHIPPING", city: "Vancouver", country: "Canada" }.</a:t>
            </a:r>
          </a:p>
          <a:p/>
          <a:p>
            <a:r>
              <a:t>Bullet 6 on the slide: Expected: One customer with nested name, contact, and addresses.</a:t>
            </a:r>
          </a:p>
          <a:p/>
          <a:p>
            <a:r>
              <a:t>Bullet 7 on the slide: Do: Run: javascript db.products.insertOne({ sku: "A620", name: "USB-C Hub", category: "ACCESSORY", price: Decimal128("69.99"), tags: ["usb-c", "accessory"], active: true, stockQuantity: 10, createdAt: new Date() }).</a:t>
            </a:r>
          </a:p>
          <a:p/>
          <a:p>
            <a:r>
              <a:t>Bullet 8 on the slide: Expected: acknowledged: true and an insertedId. If sku already exists, unique index sku_unique rejects the insert — reload the dataset.</a:t>
            </a:r>
          </a:p>
          <a:p/>
          <a:p>
            <a:r>
              <a:t>Bullet 9 on the slide: Do: Run: javascript db.products.insertMany([ { sku: "A610", name: "Laptop Stand", category: "ACCESSORY", price: Decimal128("49.99"), active: true, stockQuantity: 6 }, { sku: "A611", name: "HDMI Adapter", category: "ACCESS.</a:t>
            </a:r>
          </a:p>
          <a:p/>
          <a:p>
            <a:r>
              <a:t>Bullet 10 on the slide: Expected: insertedIds contains three keys. Inspect insertedCount / insertedIds.</a:t>
            </a:r>
          </a:p>
          <a:p/>
          <a:p>
            <a:r>
              <a:t>Bullet 11 on the slide: Do: Run: javascript db.customers.insertOne({ customerNumber: "C801", name: { first: "Elena", last: "Novak" }, contact: { email: "elena@example.com" }, addresses: [{ type: "SHIPPING", city: "Vancouver", country: "Canada" }.</a:t>
            </a:r>
          </a:p>
          <a:p/>
          <a:p>
            <a:r>
              <a:t>Bullet 12 on the slide: Expected: One customer with nested name, contact, and addresses.</a:t>
            </a:r>
          </a:p>
          <a:p/>
          <a:p>
            <a:r>
              <a:t>Bullet 13 on the slide: Do: Run: javascript db.products.insertOne({ sku: "A620", name: "USB-C Hub", category: "ACCESSORY", price: Decimal128("69.99"), tags: ["usb-c", "accessory"], active: true, stockQuantity: 10, createdAt: new Date() }).</a:t>
            </a:r>
          </a:p>
          <a:p/>
          <a:p>
            <a:r>
              <a:t>Bullet 14 on the slide: Expected: acknowledged: true and an insertedId. If sku already exists, unique index sku_unique rejects the insert — reload the dataset.</a:t>
            </a:r>
          </a:p>
          <a:p/>
          <a:p>
            <a:r>
              <a:t>Bullet 15 on the slide: Do: Run: javascript db.products.insertMany([ { sku: "A610", name: "Laptop Stand", category: "ACCESSORY", price: Decimal128("49.99"), active: true, stockQuantity: 6 }, { sku: "A611", name: "HDMI Adapter", category: "ACCESS.</a:t>
            </a:r>
          </a:p>
          <a:p/>
          <a:p>
            <a:r>
              <a:t>Bullet 16 on the slide: Expected: insertedIds contains three keys. Inspect insertedCount / insertedIds.</a:t>
            </a:r>
          </a:p>
          <a:p/>
          <a:p>
            <a:r>
              <a:t>Bullet 17 on the slide: Do: Run: javascript db.customers.insertOne({ customerNumber: "C801", name: { first: "Elena", last: "Novak" }, contact: { email: "elena@example.com" }, addresses: [{ type: "SHIPPING", city: "Vancouver", country: "Canada" }.</a:t>
            </a:r>
          </a:p>
          <a:p/>
          <a:p>
            <a:r>
              <a:t>Bullet 18 on the slide: Expected: One customer with nested name, contact, and addresses.</a:t>
            </a:r>
          </a:p>
          <a:p/>
          <a:p>
            <a:r>
              <a:t>Bullet 19 on the slide: Do: Run:  db.products.insertOne({ sku: "A620", name: "USB-C Hub", category: "ACCESSORY", price: Decimal128("69.99"), tags: ["usb-c", "accessory"], active: true, stockQuantity: 10, createdAt: new Date() }).</a:t>
            </a:r>
          </a:p>
          <a:p/>
          <a:p>
            <a:r>
              <a:t>Bullet 20 on the slide: Expected: acknowledged: true and an insertedId. If sku already exists, unique index sku_unique rejects the insert — reload the dataset.</a:t>
            </a:r>
          </a:p>
          <a:p/>
          <a:p>
            <a:r>
              <a:t>Bullet 21 on the slide: Do: Run: ` db.products.insertMany([ { sku: "A610", name: "Laptop Stand", category: "ACCESSORY", price: Decimal128("49.99"), active: true, stockQuantity: 6 }, { sku: "A611", name: "HDMI Adapter", category: "ACCESS.</a:t>
            </a:r>
          </a:p>
          <a:p/>
          <a:p>
            <a:r>
              <a:t>Bullet 22 on the slide: Expected: insertedIds contains three keys. Inspect insertedCount / insertedIds.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Insert a customer with an address.</a:t>
            </a:r>
          </a:p>
          <a:p/>
          <a:p>
            <a:r>
              <a:t>Step 4 — Insert an order with two items.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4.9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` db.customers.insertOne({ customerNumber: "C801", name: { first: "Elena", last: "Novak" }, contact: { email: "elena@example.com" }, addresses: [{ type: "SHIPPING", city: "Vancouver", country: "Canada" }.</a:t>
            </a:r>
          </a:p>
          <a:p/>
          <a:p>
            <a:r>
              <a:t>Bullet 2 on the slide: Expected: One customer with nested name, contact, and addresses.</a:t>
            </a:r>
          </a:p>
          <a:p/>
          <a:p>
            <a:r>
              <a:t>Bullet 3 on the slide: Do: Run: ` db.orders.insertOne({ orderNumber: "O5100", customerId: db.customers.findOne({ customerNumber: "C801" })._id, items: [ { sku: "A620", quantity: 1, unitPrice: Decimal128("69.99") }, { sku: "A610", quant.</a:t>
            </a:r>
          </a:p>
          <a:p/>
          <a:p>
            <a:r>
              <a:t>Bullet 4 on the slide: Expected: The order snapshots customer fields and embeds line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Verify every insert.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4.9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db.products.find({ sku: { $in: ["A620", "A610", "A611", "A612"] } }, { sku: 1, name: 1, price: 1 }) db.customers.findOne({ customerNumber: "C801" }) db.orders.findOne({ orderNumber: "O5100" }).</a:t>
            </a:r>
          </a:p>
          <a:p/>
          <a:p>
            <a:r>
              <a:t>Bullet 2 on the slide: Expected: Four products, one customer, one order. Confirm price and unitPrice are Decimal128, not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4.6 — Update Scalar and Nested Fields.</a:t>
            </a:r>
          </a:p>
          <a:p/>
          <a:p>
            <a:r>
              <a:t>The slide title is: Demo 4.6 — Update Scalar and Nested Fields.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Duration: 15 minutes.</a:t>
            </a:r>
          </a:p>
          <a:p/>
          <a:p>
            <a:r>
              <a:t>Bullet 2 on the slide: On L100 or a demo copy: price, active, warranty, updatedAt.</a:t>
            </a:r>
          </a:p>
          <a:p/>
          <a:p>
            <a:r>
              <a:t>Bullet 3 on the slide: Show before and after findOne.</a:t>
            </a:r>
          </a:p>
          <a:p/>
          <a:p>
            <a:r>
              <a:t>Bullet 4 on the slide: Read matchedCount and modifiedCount.</a:t>
            </a:r>
          </a:p>
          <a:p/>
          <a:p>
            <a:r>
              <a:t>Bullet 5 on the slide: Reload before Lab 4.10 if you mutate L100.</a:t>
            </a:r>
          </a:p>
          <a:p/>
          <a:p>
            <a:r>
              <a:t>The figure on this slide is titled: Update Scalar and Nested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4.10 — Update Product Data.</a:t>
            </a:r>
          </a:p>
          <a:p/>
          <a:p>
            <a:r>
              <a:t>The slide title is: Exercise 4.10 — Update Product Data.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$set price, nested warranty, $inc stock, $rename, $unset, filtered updateMany.</a:t>
            </a:r>
          </a:p>
          <a:p/>
          <a:p>
            <a:r>
              <a:t>Bullet 3 on the slide: Lab guide: [Exercise 4.10](../slide-exercises/module-04/exercise-4.10-update-product-data.md).</a:t>
            </a:r>
          </a:p>
          <a:p/>
          <a:p>
            <a:r>
              <a:t>The figure on this slide is titled: Update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4.10 — Update Product Data. We have about 15 min for this lab.</a:t>
            </a:r>
          </a:p>
          <a:p/>
          <a:p>
            <a:r>
              <a:t>Use $set, $inc, $rename, $unset, and a filtered updateMany.</a:t>
            </a:r>
          </a:p>
          <a:p/>
          <a:p>
            <a:r>
              <a:t>The full lab guide is in slide-exercises/module-04/exercise-4.10-update-product-data.md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Preview then change a price.</a:t>
            </a:r>
          </a:p>
          <a:p/>
          <a:p>
            <a:r>
              <a:t>Step 2 — Add a nested warranty field.</a:t>
            </a:r>
          </a:p>
          <a:p/>
          <a:p>
            <a:r>
              <a:t>Step 3 — Increase inventory.</a:t>
            </a:r>
          </a:p>
          <a:p/>
          <a:p>
            <a:r>
              <a:t>Step 1 — Preview then change a price.</a:t>
            </a:r>
          </a:p>
          <a:p/>
          <a:p>
            <a:r>
              <a:t>Step 2 — Add a nested warranty field.</a:t>
            </a:r>
          </a:p>
          <a:p/>
          <a:p>
            <a:r>
              <a:t>Step 3 — Increase inventory.</a:t>
            </a:r>
          </a:p>
          <a:p/>
          <a:p>
            <a:r>
              <a:t>Step 1 — Preview then change a price.</a:t>
            </a:r>
          </a:p>
          <a:p/>
          <a:p>
            <a:r>
              <a:t>Step 2 — Add a nested warranty field.</a:t>
            </a:r>
          </a:p>
          <a:p/>
          <a:p>
            <a:r>
              <a:t>Step 3 — Increase inventory.</a:t>
            </a:r>
          </a:p>
          <a:p/>
          <a:p>
            <a:r>
              <a:t>Step 1 — Preview then change a price.</a:t>
            </a:r>
          </a:p>
          <a:p/>
          <a:p>
            <a:r>
              <a:t>Step 2 — Add a nested warranty field.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4.10 — Steps 1–2.</a:t>
            </a:r>
          </a:p>
          <a:p/>
          <a:p>
            <a:r>
              <a:t>The slide says: Lab guide: [Exercise 4.10](../slide-exercises/module-04/exercise-4.10-update-product-data.md).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 the filter first, then: javascript db.products.find({ sku: "A620" }) db.products.updateOne( { sku: "A620" }, { $set: { price: Decimal128("64.99"), updatedAt: new Date() } } ).</a:t>
            </a:r>
          </a:p>
          <a:p/>
          <a:p>
            <a:r>
              <a:t>Bullet 2 on the slide: Expected: matchedCount: 1, modifiedCount: 1 if the price changed. If A620 is missing, complete Exercise 4.9 first.</a:t>
            </a:r>
          </a:p>
          <a:p/>
          <a:p>
            <a:r>
              <a:t>Bullet 3 on the slide: Do: Run: javascript db.products.updateOne( { sku: "L100" }, { $set: { "attributes.warrantyYears": 2 } } ).</a:t>
            </a:r>
          </a:p>
          <a:p/>
          <a:p>
            <a:r>
              <a:t>Bullet 4 on the slide: Expected: attributes still contains memoryGB. The warranty field is added beside it.</a:t>
            </a:r>
          </a:p>
          <a:p/>
          <a:p>
            <a:r>
              <a:t>Bullet 5 on the slide: Do: Run: javascript db.products.updateOne({ sku: "L100" }, { $inc: { stockQuantity: 5 } }).</a:t>
            </a:r>
          </a:p>
          <a:p/>
          <a:p>
            <a:r>
              <a:t>Bullet 6 on the slide: Expected: stockQuantity increases by 5 (from 8 to 13 on a fresh load).</a:t>
            </a:r>
          </a:p>
          <a:p/>
          <a:p>
            <a:r>
              <a:t>Bullet 7 on the slide: Do: Run the filter first, then: javascript db.products.find({ sku: "A620" }) db.products.updateOne( { sku: "A620" }, { $set: { price: Decimal128("64.99"), updatedAt: new Date() } } ).</a:t>
            </a:r>
          </a:p>
          <a:p/>
          <a:p>
            <a:r>
              <a:t>Bullet 8 on the slide: Expected: matchedCount: 1, modifiedCount: 1 if the price changed. If A620 is missing, complete Exercise 4.9 first.</a:t>
            </a:r>
          </a:p>
          <a:p/>
          <a:p>
            <a:r>
              <a:t>Bullet 9 on the slide: Do: Run: javascript db.products.updateOne( { sku: "L100" }, { $set: { "attributes.warrantyYears": 2 } } ).</a:t>
            </a:r>
          </a:p>
          <a:p/>
          <a:p>
            <a:r>
              <a:t>Bullet 10 on the slide: Expected: attributes still contains memoryGB. The warranty field is added beside it.</a:t>
            </a:r>
          </a:p>
          <a:p/>
          <a:p>
            <a:r>
              <a:t>Bullet 11 on the slide: Do: Run: javascript db.products.updateOne({ sku: "L100" }, { $inc: { stockQuantity: 5 } }).</a:t>
            </a:r>
          </a:p>
          <a:p/>
          <a:p>
            <a:r>
              <a:t>Bullet 12 on the slide: Expected: stockQuantity increases by 5 (from 8 to 13 on a fresh load).</a:t>
            </a:r>
          </a:p>
          <a:p/>
          <a:p>
            <a:r>
              <a:t>Bullet 13 on the slide: Do: Run the filter first, then: javascript db.products.find({ sku: "A620" }) db.products.updateOne( { sku: "A620" }, { $set: { price: Decimal128("64.99"), updatedAt: new Date() } } ).</a:t>
            </a:r>
          </a:p>
          <a:p/>
          <a:p>
            <a:r>
              <a:t>Bullet 14 on the slide: Expected: matchedCount: 1, modifiedCount: 1 if the price changed. If A620 is missing, complete Exercise 4.9 first.</a:t>
            </a:r>
          </a:p>
          <a:p/>
          <a:p>
            <a:r>
              <a:t>Bullet 15 on the slide: Do: Run: javascript db.products.updateOne( { sku: "L100" }, { $set: { "attributes.warrantyYears": 2 } } ).</a:t>
            </a:r>
          </a:p>
          <a:p/>
          <a:p>
            <a:r>
              <a:t>Bullet 16 on the slide: Expected: attributes still contains memoryGB. The warranty field is added beside it.</a:t>
            </a:r>
          </a:p>
          <a:p/>
          <a:p>
            <a:r>
              <a:t>Bullet 17 on the slide: Do: Run: javascript db.products.updateOne({ sku: "L100" }, { $inc: { stockQuantity: 5 } }).</a:t>
            </a:r>
          </a:p>
          <a:p/>
          <a:p>
            <a:r>
              <a:t>Bullet 18 on the slide: Expected: stockQuantity increases by 5 (from 8 to 13 on a fresh load).</a:t>
            </a:r>
          </a:p>
          <a:p/>
          <a:p>
            <a:r>
              <a:t>Bullet 19 on the slide: Do: Run the filter first, then:  db.products.find({ sku: "A620" }) db.products.updateOne( { sku: "A620" }, { $set: { price: Decimal128("64.99"), updatedAt: new Date() } } ).</a:t>
            </a:r>
          </a:p>
          <a:p/>
          <a:p>
            <a:r>
              <a:t>Bullet 20 on the slide: Expected: matchedCount: 1, modifiedCount: 1 if the price changed. If A620 is missing, complete Exercise 4.9 first.</a:t>
            </a:r>
          </a:p>
          <a:p/>
          <a:p>
            <a:r>
              <a:t>Bullet 21 on the slide: Do: Run:  db.products.updateOne( { sku: "L100" }, { $set: { "attributes.warrantyYears": 2 } } ).</a:t>
            </a:r>
          </a:p>
          <a:p/>
          <a:p>
            <a:r>
              <a:t>Bullet 22 on the slide: Expected: attributes still contains memoryGB. The warranty field is added beside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Increase inventory.</a:t>
            </a:r>
          </a:p>
          <a:p/>
          <a:p>
            <a:r>
              <a:t>Step 4 — Rename an incorrect field.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4.10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db.products.updateOne({ sku: "L100" }, { $inc: { stockQuantity: 5 } }).</a:t>
            </a:r>
          </a:p>
          <a:p/>
          <a:p>
            <a:r>
              <a:t>Bullet 2 on the slide: Expected: stockQuantity increases by 5 (from 8 to 13 on a fresh load).</a:t>
            </a:r>
          </a:p>
          <a:p/>
          <a:p>
            <a:r>
              <a:t>Bullet 3 on the slide: Do: Run:  db.products.updateMany( { legacyName: { $exists: true } }, { $rename: { legacyName: "catalogName" } } ).</a:t>
            </a:r>
          </a:p>
          <a:p/>
          <a:p>
            <a:r>
              <a:t>Bullet 4 on the slide: Expected: L190 now has catalogName instead of legacyName.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Remove a temporary field and deactivate discontinued.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4.10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db.products.updateOne({ sku: "A410" }, { $unset: { temporaryNote: "" } }) db.products.updateMany( { tags: "discontinued" }, { $set: { active: false } } ).</a:t>
            </a:r>
          </a:p>
          <a:p/>
          <a:p>
            <a:r>
              <a:t>Bullet 2 on the slide: Expected: A410 no longer has temporaryNote. Discontinued items stay inactive. Preview updateMany with find before running it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4.7 — Modify Array Fields.</a:t>
            </a:r>
          </a:p>
          <a:p/>
          <a:p>
            <a:r>
              <a:t>The slide title is: Demo 4.7 — Modify Array Fields.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Duration: 15 minutes.</a:t>
            </a:r>
          </a:p>
          <a:p/>
          <a:p>
            <a:r>
              <a:t>Bullet 2 on the slide: On a throwaway product and on O5001.</a:t>
            </a:r>
          </a:p>
          <a:p/>
          <a:p>
            <a:r>
              <a:t>Bullet 3 on the slide: $push vs $addToSet, then $pull.</a:t>
            </a:r>
          </a:p>
          <a:p/>
          <a:p>
            <a:r>
              <a:t>Bullet 4 on the slide: Positional $, $[], and arrayFilters.</a:t>
            </a:r>
          </a:p>
          <a:p/>
          <a:p>
            <a:r>
              <a:t>Bullet 5 on the slide: Filter: unitPrice &gt;= 100.</a:t>
            </a:r>
          </a:p>
          <a:p/>
          <a:p>
            <a:r>
              <a:t>Bullet 6 on the slide: Reload afterwards if later labs need a clean O5001.</a:t>
            </a:r>
          </a:p>
          <a:p/>
          <a:p>
            <a:r>
              <a:t>The figure on this slide is titled: Modify Array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4.11 — Modify Arrays.</a:t>
            </a:r>
          </a:p>
          <a:p/>
          <a:p>
            <a:r>
              <a:t>The slide title is: Exercise 4.11 — Modify Arrays.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$push, $addToSet, $each, $pull, positional $, and $[].</a:t>
            </a:r>
          </a:p>
          <a:p/>
          <a:p>
            <a:r>
              <a:t>Bullet 3 on the slide: Lab guide: [Exercise 4.11](../slide-exercises/module-04/exercise-4.11-modify-arrays.md).</a:t>
            </a:r>
          </a:p>
          <a:p/>
          <a:p>
            <a:r>
              <a:t>The figure on this slide is titled: Array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4.11 — Modify Arrays. We have about 15 min for this lab.</a:t>
            </a:r>
          </a:p>
          <a:p/>
          <a:p>
            <a:r>
              <a:t>Use $push, $addToSet, $each, $pull, positional $, and $[].</a:t>
            </a:r>
          </a:p>
          <a:p/>
          <a:p>
            <a:r>
              <a:t>The full lab guide is in slide-exercises/module-04/exercise-4.11-modify-arrays.md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Push a tag (may duplicate).</a:t>
            </a:r>
          </a:p>
          <a:p/>
          <a:p>
            <a:r>
              <a:t>Step 2 — Add a tag without duplicates.</a:t>
            </a:r>
          </a:p>
          <a:p/>
          <a:p>
            <a:r>
              <a:t>Step 3 — Add several tags.</a:t>
            </a:r>
          </a:p>
          <a:p/>
          <a:p>
            <a:r>
              <a:t>Step 1 — Push a tag (may duplicate).</a:t>
            </a:r>
          </a:p>
          <a:p/>
          <a:p>
            <a:r>
              <a:t>Step 2 — Add a tag without duplicates.</a:t>
            </a:r>
          </a:p>
          <a:p/>
          <a:p>
            <a:r>
              <a:t>Step 3 — Add several tags.</a:t>
            </a:r>
          </a:p>
          <a:p/>
          <a:p>
            <a:r>
              <a:t>Step 1 — Push a tag (may duplicate).</a:t>
            </a:r>
          </a:p>
          <a:p/>
          <a:p>
            <a:r>
              <a:t>Step 2 — Add a tag without duplicates.</a:t>
            </a:r>
          </a:p>
          <a:p/>
          <a:p>
            <a:r>
              <a:t>Step 3 — Add several tags.</a:t>
            </a:r>
          </a:p>
          <a:p/>
          <a:p>
            <a:r>
              <a:t>Step 1 — Push a tag (may duplicate).</a:t>
            </a:r>
          </a:p>
          <a:p/>
          <a:p>
            <a:r>
              <a:t>Step 2 — Add a tag without duplicates.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4.11 — Steps 1–2.</a:t>
            </a:r>
          </a:p>
          <a:p/>
          <a:p>
            <a:r>
              <a:t>The slide says: Lab guide: [Exercise 4.11](../slide-exercises/module-04/exercise-4.11-modify-arrays.md).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 twice: javascript db.products.updateOne({ sku: "A620" }, { $push: { tags: "featured" } }).</a:t>
            </a:r>
          </a:p>
          <a:p/>
          <a:p>
            <a:r>
              <a:t>Bullet 2 on the slide: Expected: The second run adds a second featured if you used $push both times. That is the teaching point.</a:t>
            </a:r>
          </a:p>
          <a:p/>
          <a:p>
            <a:r>
              <a:t>Bullet 3 on the slide: Do: Run twice: javascript db.products.updateOne({ sku: "A620" }, { $addToSet: { tags: "office" } }).</a:t>
            </a:r>
          </a:p>
          <a:p/>
          <a:p>
            <a:r>
              <a:t>Bullet 4 on the slide: Expected: Second run: matchedCount: 1, modifiedCount: 0 if office is already present.</a:t>
            </a:r>
          </a:p>
          <a:p/>
          <a:p>
            <a:r>
              <a:t>Bullet 5 on the slide: Do: Run: javascript db.products.updateOne( { sku: "A620" }, { $addToSet: { tags: { $each: ["portable", "usb-c"] } } } ).</a:t>
            </a:r>
          </a:p>
          <a:p/>
          <a:p>
            <a:r>
              <a:t>Bullet 6 on the slide: Expected: usb-c is already on A620 from insert — $addToSet leaves it unique. portable is added.</a:t>
            </a:r>
          </a:p>
          <a:p/>
          <a:p>
            <a:r>
              <a:t>Bullet 7 on the slide: Do: Run twice: javascript db.products.updateOne({ sku: "A620" }, { $push: { tags: "featured" } }).</a:t>
            </a:r>
          </a:p>
          <a:p/>
          <a:p>
            <a:r>
              <a:t>Bullet 8 on the slide: Expected: The second run adds a second featured if you used $push both times. That is the teaching point.</a:t>
            </a:r>
          </a:p>
          <a:p/>
          <a:p>
            <a:r>
              <a:t>Bullet 9 on the slide: Do: Run twice: javascript db.products.updateOne({ sku: "A620" }, { $addToSet: { tags: "office" } }).</a:t>
            </a:r>
          </a:p>
          <a:p/>
          <a:p>
            <a:r>
              <a:t>Bullet 10 on the slide: Expected: Second run: matchedCount: 1, modifiedCount: 0 if office is already present.</a:t>
            </a:r>
          </a:p>
          <a:p/>
          <a:p>
            <a:r>
              <a:t>Bullet 11 on the slide: Do: Run: javascript db.products.updateOne( { sku: "A620" }, { $addToSet: { tags: { $each: ["portable", "usb-c"] } } } ).</a:t>
            </a:r>
          </a:p>
          <a:p/>
          <a:p>
            <a:r>
              <a:t>Bullet 12 on the slide: Expected: usb-c is already on A620 from insert — $addToSet leaves it unique. portable is added.</a:t>
            </a:r>
          </a:p>
          <a:p/>
          <a:p>
            <a:r>
              <a:t>Bullet 13 on the slide: Do: Run twice: javascript db.products.updateOne({ sku: "A620" }, { $push: { tags: "featured" } }).</a:t>
            </a:r>
          </a:p>
          <a:p/>
          <a:p>
            <a:r>
              <a:t>Bullet 14 on the slide: Expected: The second run adds a second featured if you used $push both times. That is the teaching point.</a:t>
            </a:r>
          </a:p>
          <a:p/>
          <a:p>
            <a:r>
              <a:t>Bullet 15 on the slide: Do: Run twice: javascript db.products.updateOne({ sku: "A620" }, { $addToSet: { tags: "office" } }).</a:t>
            </a:r>
          </a:p>
          <a:p/>
          <a:p>
            <a:r>
              <a:t>Bullet 16 on the slide: Expected: Second run: matchedCount: 1, modifiedCount: 0 if office is already present.</a:t>
            </a:r>
          </a:p>
          <a:p/>
          <a:p>
            <a:r>
              <a:t>Bullet 17 on the slide: Do: Run: javascript db.products.updateOne( { sku: "A620" }, { $addToSet: { tags: { $each: ["portable", "usb-c"] } } } ).</a:t>
            </a:r>
          </a:p>
          <a:p/>
          <a:p>
            <a:r>
              <a:t>Bullet 18 on the slide: Expected: usb-c is already on A620 from insert — $addToSet leaves it unique. portable is added.</a:t>
            </a:r>
          </a:p>
          <a:p/>
          <a:p>
            <a:r>
              <a:t>Bullet 19 on the slide: Do: Run twice:  db.products.updateOne({ sku: "A620" }, { $push: { tags: "featured" } }).</a:t>
            </a:r>
          </a:p>
          <a:p/>
          <a:p>
            <a:r>
              <a:t>Bullet 20 on the slide: Expected: The second run adds a second featured if you used $push both times. That is the teaching point.</a:t>
            </a:r>
          </a:p>
          <a:p/>
          <a:p>
            <a:r>
              <a:t>Bullet 21 on the slide: Do: Run twice:  db.products.updateOne({ sku: "A620" }, { $addToSet: { tags: "office" } }).</a:t>
            </a:r>
          </a:p>
          <a:p/>
          <a:p>
            <a:r>
              <a:t>Bullet 22 on the slide: Expected: Second run: matchedCount: 1, modifiedCount: 0 if office is already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Add several tags.</a:t>
            </a:r>
          </a:p>
          <a:p/>
          <a:p>
            <a:r>
              <a:t>Step 4 — Remove a deprecated tag.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4.11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db.products.updateOne( { sku: "A620" }, { $addToSet: { tags: { $each: ["portable", "usb-c"] } } } ).</a:t>
            </a:r>
          </a:p>
          <a:p/>
          <a:p>
            <a:r>
              <a:t>Bullet 2 on the slide: Expected: usb-c is already on A620 from insert — $addToSet leaves it unique. portable is added.</a:t>
            </a:r>
          </a:p>
          <a:p/>
          <a:p>
            <a:r>
              <a:t>Bullet 3 on the slide: Do: Run:  db.products.updateOne({ sku: "L190" }, { $pull: { tags: "discontinued" } }).</a:t>
            </a:r>
          </a:p>
          <a:p/>
          <a:p>
            <a:r>
              <a:t>Bullet 4 on the slide: Expected: discontinued is removed from L190. The product can still be active: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5.</a:t>
            </a:r>
          </a:p>
          <a:p/>
          <a:p>
            <a:r>
              <a:t>Step 5 — Update one order item and mark all items reviewed.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4.11 — Step 5.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Run:  db.orders.updateOne( { orderNumber: "O5001", "items.sku": "L100" }, { $set: { "items.$.quantity": 2 } } ) db.orders.updateOne( { orderNumber: "O5001" }, { $set: { "items.$[].reviewed": false } } ).</a:t>
            </a:r>
          </a:p>
          <a:p/>
          <a:p>
            <a:r>
              <a:t>Bullet 2 on the slide: Expected: The L100 line quantity becomes 2. Every item on that order gets reviewed: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4.8 — Replace and Upsert Documents.</a:t>
            </a:r>
          </a:p>
          <a:p/>
          <a:p>
            <a:r>
              <a:t>The slide title is: Demo 4.8 — Replace and Upsert Documents.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Duration: 15 minutes.</a:t>
            </a:r>
          </a:p>
          <a:p/>
          <a:p>
            <a:r>
              <a:t>Bullet 2 on the slide: $set on selected fields — unspecified fields remain.</a:t>
            </a:r>
          </a:p>
          <a:p/>
          <a:p>
            <a:r>
              <a:t>Bullet 3 on the slide: replaceOne() of the same test document — omitted fields vanish.</a:t>
            </a:r>
          </a:p>
          <a:p/>
          <a:p>
            <a:r>
              <a:t>Bullet 4 on the slide: updateOne(..., { upsert: true }) twice.</a:t>
            </a:r>
          </a:p>
          <a:p/>
          <a:p>
            <a:r>
              <a:t>Bullet 5 on the slide: Use TEMP-200 or DEMO-REP — never replace L100.</a:t>
            </a:r>
          </a:p>
          <a:p/>
          <a:p>
            <a:r>
              <a:t>The figure on this slide is titled: Replace and Upsert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4.12 — Perform an Upsert.</a:t>
            </a:r>
          </a:p>
          <a:p/>
          <a:p>
            <a:r>
              <a:t>The slide title is: Exercise 4.12 — Perform an Upsert.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10 min.</a:t>
            </a:r>
          </a:p>
          <a:p/>
          <a:p>
            <a:r>
              <a:t>Bullet 2 on the slide: Match by SKU; createdAt only on insert; updatedAt always; run twice.</a:t>
            </a:r>
          </a:p>
          <a:p/>
          <a:p>
            <a:r>
              <a:t>Bullet 3 on the slide: Lab guide: [Exercise 4.12](../slide-exercises/module-04/exercise-4.12-perform-an-upsert.md).</a:t>
            </a:r>
          </a:p>
          <a:p/>
          <a:p>
            <a:r>
              <a:t>The figure on this slide is titled: Replace and upsert.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4.12 — Perform an Upsert. We have about 10 min for this lab.</a:t>
            </a:r>
          </a:p>
          <a:p/>
          <a:p>
            <a:r>
              <a:t>Upsert a product by SKU so createdAt is set only on insert and updatedAt is always set.</a:t>
            </a:r>
          </a:p>
          <a:p/>
          <a:p>
            <a:r>
              <a:t>The full lab guide is in slide-exercises/module-04/exercise-4.12-perform-an-upsert.md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Run the upsert for a new SKU.</a:t>
            </a:r>
          </a:p>
          <a:p/>
          <a:p>
            <a:r>
              <a:t>Step 2 — Inspect the inserted document.</a:t>
            </a:r>
          </a:p>
          <a:p/>
          <a:p>
            <a:r>
              <a:t>Step 3 — Run the same upsert again.</a:t>
            </a:r>
          </a:p>
          <a:p/>
          <a:p>
            <a:r>
              <a:t>Step 1 — Run the upsert for a new SKU.</a:t>
            </a:r>
          </a:p>
          <a:p/>
          <a:p>
            <a:r>
              <a:t>Step 2 — Inspect the inserted document.</a:t>
            </a:r>
          </a:p>
          <a:p/>
          <a:p>
            <a:r>
              <a:t>Step 3 — Run the same upsert again.</a:t>
            </a:r>
          </a:p>
          <a:p/>
          <a:p>
            <a:r>
              <a:t>Step 1 — Run the upsert for a new SKU.</a:t>
            </a:r>
          </a:p>
          <a:p/>
          <a:p>
            <a:r>
              <a:t>Step 2 — Inspect the inserted document.</a:t>
            </a:r>
          </a:p>
          <a:p/>
          <a:p>
            <a:r>
              <a:t>Step 3 — Run the same upsert again.</a:t>
            </a:r>
          </a:p>
          <a:p/>
          <a:p>
            <a:r>
              <a:t>Step 1 — Run the upsert for a new SKU.</a:t>
            </a:r>
          </a:p>
          <a:p/>
          <a:p>
            <a:r>
              <a:t>Step 2 — Inspect the inserted document.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4.12 — Steps 1–2.</a:t>
            </a:r>
          </a:p>
          <a:p/>
          <a:p>
            <a:r>
              <a:t>The slide says: Lab guide: [Exercise 4.12](../slide-exercises/module-04/exercise-4.12-perform-an-upsert.md).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Run: javascript db.products.updateOne( { sku: "A700" }, { $set: { name: "Portable Charger", category: "ACCESSORY", price: Decimal128("39.99"), active: true, updatedAt: new Date() }, $setOnInsert: { createdAt: new Date.</a:t>
            </a:r>
          </a:p>
          <a:p/>
          <a:p>
            <a:r>
              <a:t>Bullet 2 on the slide: Expected: upsertedId is present. createdAt exists.</a:t>
            </a:r>
          </a:p>
          <a:p/>
          <a:p>
            <a:r>
              <a:t>Bullet 3 on the slide: Do: Run: javascript db.products.findOne({ sku: "A700" }).</a:t>
            </a:r>
          </a:p>
          <a:p/>
          <a:p>
            <a:r>
              <a:t>Bullet 4 on the slide: Expected: Fields from $set and $setOnInsert are present. Filter used the unique sku.</a:t>
            </a:r>
          </a:p>
          <a:p/>
          <a:p>
            <a:r>
              <a:t>Bullet 5 on the slide: Do: Repeat the updateOne from Step 1, then findOne again.</a:t>
            </a:r>
          </a:p>
          <a:p/>
          <a:p>
            <a:r>
              <a:t>Bullet 6 on the slide: Expected: matchedCount: 1, modifiedCount may be 1 because updatedAt changes. createdAt must be unchanged. upsertedId is absent.</a:t>
            </a:r>
          </a:p>
          <a:p/>
          <a:p>
            <a:r>
              <a:t>Bullet 7 on the slide: Do: Run: javascript db.products.updateOne( { sku: "A700" }, { $set: { name: "Portable Charger", category: "ACCESSORY", price: Decimal128("39.99"), active: true, updatedAt: new Date() }, $setOnInsert: { createdAt: new Date.</a:t>
            </a:r>
          </a:p>
          <a:p/>
          <a:p>
            <a:r>
              <a:t>Bullet 8 on the slide: Expected: upsertedId is present. createdAt exists.</a:t>
            </a:r>
          </a:p>
          <a:p/>
          <a:p>
            <a:r>
              <a:t>Bullet 9 on the slide: Do: Run: javascript db.products.findOne({ sku: "A700" }).</a:t>
            </a:r>
          </a:p>
          <a:p/>
          <a:p>
            <a:r>
              <a:t>Bullet 10 on the slide: Expected: Fields from $set and $setOnInsert are present. Filter used the unique sku.</a:t>
            </a:r>
          </a:p>
          <a:p/>
          <a:p>
            <a:r>
              <a:t>Bullet 11 on the slide: Do: Repeat the updateOne from Step 1, then findOne again.</a:t>
            </a:r>
          </a:p>
          <a:p/>
          <a:p>
            <a:r>
              <a:t>Bullet 12 on the slide: Expected: matchedCount: 1, modifiedCount may be 1 because updatedAt changes. createdAt must be unchanged. upsertedId is absent.</a:t>
            </a:r>
          </a:p>
          <a:p/>
          <a:p>
            <a:r>
              <a:t>Bullet 13 on the slide: Do: Run: javascript db.products.updateOne( { sku: "A700" }, { $set: { name: "Portable Charger", category: "ACCESSORY", price: Decimal128("39.99"), active: true, updatedAt: new Date() }, $setOnInsert: { createdAt: new Date.</a:t>
            </a:r>
          </a:p>
          <a:p/>
          <a:p>
            <a:r>
              <a:t>Bullet 14 on the slide: Expected: upsertedId is present. createdAt exists.</a:t>
            </a:r>
          </a:p>
          <a:p/>
          <a:p>
            <a:r>
              <a:t>Bullet 15 on the slide: Do: Run: javascript db.products.findOne({ sku: "A700" }).</a:t>
            </a:r>
          </a:p>
          <a:p/>
          <a:p>
            <a:r>
              <a:t>Bullet 16 on the slide: Expected: Fields from $set and $setOnInsert are present. Filter used the unique sku.</a:t>
            </a:r>
          </a:p>
          <a:p/>
          <a:p>
            <a:r>
              <a:t>Bullet 17 on the slide: Do: Repeat the updateOne from Step 1, then findOne again.</a:t>
            </a:r>
          </a:p>
          <a:p/>
          <a:p>
            <a:r>
              <a:t>Bullet 18 on the slide: Expected: matchedCount: 1, modifiedCount may be 1 because updatedAt changes. createdAt must be unchanged. upsertedId is absent.</a:t>
            </a:r>
          </a:p>
          <a:p/>
          <a:p>
            <a:r>
              <a:t>Bullet 19 on the slide: Do: Run: ` db.products.updateOne( { sku: "A700" }, { $set: { name: "Portable Charger", category: "ACCESSORY", price: Decimal128("39.99"), active: true, updatedAt: new Date() }, $setOnInsert: { createdAt: new Date.</a:t>
            </a:r>
          </a:p>
          <a:p/>
          <a:p>
            <a:r>
              <a:t>Bullet 20 on the slide: Expected: upsertedId is present. createdAt exists.</a:t>
            </a:r>
          </a:p>
          <a:p/>
          <a:p>
            <a:r>
              <a:t>Bullet 21 on the slide: Do: Run:  db.products.findOne({ sku: "A700" }).</a:t>
            </a:r>
          </a:p>
          <a:p/>
          <a:p>
            <a:r>
              <a:t>Bullet 22 on the slide: Expected: Fields from $set and $setOnInsert are present. Filter used the unique sku.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Run the same upsert again.</a:t>
            </a:r>
          </a:p>
          <a:p/>
          <a:p>
            <a:r>
              <a:t>Step 4 — Compare insert vs update outcomes.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4.12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Repeat the updateOne from Step 1, then findOne again.</a:t>
            </a:r>
          </a:p>
          <a:p/>
          <a:p>
            <a:r>
              <a:t>Bullet 2 on the slide: Expected: matchedCount: 1, modifiedCount may be 1 because updatedAt changes. createdAt must be unchanged. upsertedId is absent.</a:t>
            </a:r>
          </a:p>
          <a:p/>
          <a:p>
            <a:r>
              <a:t>Bullet 3 on the slide: Do: Write two bullets: first-run result vs second-run result.</a:t>
            </a:r>
          </a:p>
          <a:p/>
          <a:p>
            <a:r>
              <a:t>Bullet 4 on the slide: Expected: First run inserts; second run updates. $setOnInsert does not overwrite createdAt.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title is: Demo 4.9 — Delete Documents Safely.</a:t>
            </a:r>
          </a:p>
          <a:p/>
          <a:p>
            <a:r>
              <a:t>The slide says: Duration: 10 minutes.</a:t>
            </a:r>
          </a:p>
          <a:p/>
          <a:p>
            <a:r>
              <a:t>The slide says: Insert TEMP-100 first if needed. Verify it is gone and L100 remains.</a:t>
            </a:r>
          </a:p>
          <a:p/>
          <a:p>
            <a:r>
              <a:t>The code on the slide reads: const filter = { sku: "TEMP-100" } db.products.find(filter) db.products.countDocuments(filter) db.products.deleteOne(filter).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4.13 — Correct Unsafe Operations.</a:t>
            </a:r>
          </a:p>
          <a:p/>
          <a:p>
            <a:r>
              <a:t>The slide title is: Exercise 4.13 — Correct Unsafe Operations.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10 min.</a:t>
            </a:r>
          </a:p>
          <a:p/>
          <a:p>
            <a:r>
              <a:t>Bullet 2 on the slide: Rewrite empty updateMany, empty deleteMany, and nested-object replacement. Do not run the unsafe commands.</a:t>
            </a:r>
          </a:p>
          <a:p/>
          <a:p>
            <a:r>
              <a:t>Bullet 3 on the slide: Lab guide: [Exercise 4.13](../slide-exercises/module-04/exercise-4.13-correct-unsafe-operations.md).</a:t>
            </a:r>
          </a:p>
          <a:p/>
          <a:p>
            <a:r>
              <a:t>The figure on this slide is titled: Safe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4.13 — Correct Unsafe Operations. We have about 10 min for this lab.</a:t>
            </a:r>
          </a:p>
          <a:p/>
          <a:p>
            <a:r>
              <a:t>Explain the risk of three unsafe writes and replace them with safer alternatives.</a:t>
            </a:r>
          </a:p>
          <a:p/>
          <a:p>
            <a:r>
              <a:t>The full lab guide is in slide-exercises/module-04/exercise-4.13-correct-unsafe-operations.md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Unfiltered updateMany.</a:t>
            </a:r>
          </a:p>
          <a:p/>
          <a:p>
            <a:r>
              <a:t>Step 2 — Empty deleteMany.</a:t>
            </a:r>
          </a:p>
          <a:p/>
          <a:p>
            <a:r>
              <a:t>Step 3 — Replacing a nested object.</a:t>
            </a:r>
          </a:p>
          <a:p/>
          <a:p>
            <a:r>
              <a:t>Step 1 — Unfiltered updateMany.</a:t>
            </a:r>
          </a:p>
          <a:p/>
          <a:p>
            <a:r>
              <a:t>Step 2 — Empty deleteMany.</a:t>
            </a:r>
          </a:p>
          <a:p/>
          <a:p>
            <a:r>
              <a:t>Step 3 — Replacing a nested object.</a:t>
            </a:r>
          </a:p>
          <a:p/>
          <a:p>
            <a:r>
              <a:t>Step 1 — Unfiltered updateMany.</a:t>
            </a:r>
          </a:p>
          <a:p/>
          <a:p>
            <a:r>
              <a:t>Step 2 — Empty deleteMany.</a:t>
            </a:r>
          </a:p>
          <a:p/>
          <a:p>
            <a:r>
              <a:t>Step 3 — Replacing a nested object.</a:t>
            </a:r>
          </a:p>
          <a:p/>
          <a:p>
            <a:r>
              <a:t>Step 1 — Unfiltered updateMany.</a:t>
            </a:r>
          </a:p>
          <a:p/>
          <a:p>
            <a:r>
              <a:t>Step 2 — Empty deleteMany.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4.13 — Steps 1–2.</a:t>
            </a:r>
          </a:p>
          <a:p/>
          <a:p>
            <a:r>
              <a:t>The slide says: Lab guide: [Exercise 4.13](../slide-exercises/module-04/exercise-4.13-correct-unsafe-operations.md).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The unsafe command is: javascript db.products.updateMany({}, { $set: { active: false } })  Write the risk and a safer filter (for example discontinued items only). Do not run the unsafe command.</a:t>
            </a:r>
          </a:p>
          <a:p/>
          <a:p>
            <a:r>
              <a:t>Bullet 2 on the slide: Expected: Risk: every product becomes inactive. Safer: preview { tags: "discontinued" } or { discontinuedAt: { $exists: true } }, count, then updateMany with that f.</a:t>
            </a:r>
          </a:p>
          <a:p/>
          <a:p>
            <a:r>
              <a:t>Bullet 3 on the slide: Do: The unsafe command is: javascript db.orders.deleteMany({})  Write the risk and a safer sequence.</a:t>
            </a:r>
          </a:p>
          <a:p/>
          <a:p>
            <a:r>
              <a:t>Bullet 4 on the slide: Expected: Risk: all orders are removed. Safer: never use {}; filter on test orderNumber values; find → countDocuments → deleteMany.</a:t>
            </a:r>
          </a:p>
          <a:p/>
          <a:p>
            <a:r>
              <a:t>Bullet 5 on the slide: Do: This update wipes sibling contact fields: javascript db.customers.updateOne( { customerNumber: "C101" }, { $set: { contact: { email: "new@example.com" } } } )  Rewrite it so only email changes.</a:t>
            </a:r>
          </a:p>
          <a:p/>
          <a:p>
            <a:r>
              <a:t>Bullet 6 on the slide: Expected: Safer: ``javascript db.customers.updateOne( { customerNumber: "C101" }, { $set: { "contact.email": "new@example.com" } } ) ``.</a:t>
            </a:r>
          </a:p>
          <a:p/>
          <a:p>
            <a:r>
              <a:t>Bullet 7 on the slide: Do: The unsafe command is: javascript db.products.updateMany({}, { $set: { active: false } })  Write the risk and a safer filter (for example discontinued items only). Do not run the unsafe command.</a:t>
            </a:r>
          </a:p>
          <a:p/>
          <a:p>
            <a:r>
              <a:t>Bullet 8 on the slide: Expected: Risk: every product becomes inactive. Safer: preview { tags: "discontinued" } or { discontinuedAt: { $exists: true } }, count, then updateMany with that f.</a:t>
            </a:r>
          </a:p>
          <a:p/>
          <a:p>
            <a:r>
              <a:t>Bullet 9 on the slide: Do: The unsafe command is: javascript db.orders.deleteMany({})  Write the risk and a safer sequence.</a:t>
            </a:r>
          </a:p>
          <a:p/>
          <a:p>
            <a:r>
              <a:t>Bullet 10 on the slide: Expected: Risk: all orders are removed. Safer: never use {}; filter on test orderNumber values; find → countDocuments → deleteMany.</a:t>
            </a:r>
          </a:p>
          <a:p/>
          <a:p>
            <a:r>
              <a:t>Bullet 11 on the slide: Do: This update wipes sibling contact fields: javascript db.customers.updateOne( { customerNumber: "C101" }, { $set: { contact: { email: "new@example.com" } } } )  Rewrite it so only email changes.</a:t>
            </a:r>
          </a:p>
          <a:p/>
          <a:p>
            <a:r>
              <a:t>Bullet 12 on the slide: Expected: Safer: ``javascript db.customers.updateOne( { customerNumber: "C101" }, { $set: { "contact.email": "new@example.com" } } ) ``.</a:t>
            </a:r>
          </a:p>
          <a:p/>
          <a:p>
            <a:r>
              <a:t>Bullet 13 on the slide: Do: The unsafe command is: javascript db.products.updateMany({}, { $set: { active: false } })  Write the risk and a safer filter (for example discontinued items only). Do not run the unsafe command.</a:t>
            </a:r>
          </a:p>
          <a:p/>
          <a:p>
            <a:r>
              <a:t>Bullet 14 on the slide: Expected: Risk: every product becomes inactive. Safer: preview { tags: "discontinued" } or { discontinuedAt: { $exists: true } }, count, then updateMany with that f.</a:t>
            </a:r>
          </a:p>
          <a:p/>
          <a:p>
            <a:r>
              <a:t>Bullet 15 on the slide: Do: The unsafe command is: javascript db.orders.deleteMany({})  Write the risk and a safer sequence.</a:t>
            </a:r>
          </a:p>
          <a:p/>
          <a:p>
            <a:r>
              <a:t>Bullet 16 on the slide: Expected: Risk: all orders are removed. Safer: never use {}; filter on test orderNumber values; find → countDocuments → deleteMany.</a:t>
            </a:r>
          </a:p>
          <a:p/>
          <a:p>
            <a:r>
              <a:t>Bullet 17 on the slide: Do: This update wipes sibling contact fields: javascript db.customers.updateOne( { customerNumber: "C101" }, { $set: { contact: { email: "new@example.com" } } } )  Rewrite it so only email changes.</a:t>
            </a:r>
          </a:p>
          <a:p/>
          <a:p>
            <a:r>
              <a:t>Bullet 18 on the slide: Expected: Safer: ``javascript db.customers.updateOne( { customerNumber: "C101" }, { $set: { "contact.email": "new@example.com" } } ) ``.</a:t>
            </a:r>
          </a:p>
          <a:p/>
          <a:p>
            <a:r>
              <a:t>Bullet 19 on the slide: Do: The unsafe command is:  db.products.updateMany({}, { $set: { active: false } })  Write the risk and a safer filter (for example discontinued items only). Do not run the unsafe command.</a:t>
            </a:r>
          </a:p>
          <a:p/>
          <a:p>
            <a:r>
              <a:t>Bullet 20 on the slide: Expected: Risk: every product becomes inactive. Safer: preview { tags: "discontinued" } or { discontinuedAt: { $exists: true } }, count, then updateMany with that f.</a:t>
            </a:r>
          </a:p>
          <a:p/>
          <a:p>
            <a:r>
              <a:t>Bullet 21 on the slide: Do: The unsafe command is:  db.orders.deleteMany({})  Write the risk and a safer sequence.</a:t>
            </a:r>
          </a:p>
          <a:p/>
          <a:p>
            <a:r>
              <a:t>Bullet 22 on the slide: Expected: Risk: all orders are removed. Safer: never use {}; filter on test orderNumber values; find → countDocuments → deleteMany.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Replacing a nested object.</a:t>
            </a:r>
          </a:p>
          <a:p/>
          <a:p>
            <a:r>
              <a:t>Step 4 — Class debrief.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4.13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This update wipes sibling contact fields:  db.customers.updateOne( { customerNumber: "C101" }, { $set: { contact: { email: "new@example.com" } } } )  Rewrite it so only email changes.</a:t>
            </a:r>
          </a:p>
          <a:p/>
          <a:p>
            <a:r>
              <a:t>Bullet 2 on the slide: Expected: Safer: ``javascript db.customers.updateOne( { customerNumber: "C101" }, { $set: { "contact.email": "new@example.com" } } ) ``.</a:t>
            </a:r>
          </a:p>
          <a:p/>
          <a:p>
            <a:r>
              <a:t>Bullet 3 on the slide: Do: Share one rewrite. Listen for the instructor solution and adjust your notes.</a:t>
            </a:r>
          </a:p>
          <a:p/>
          <a:p>
            <a:r>
              <a:t>Bullet 4 on the slide: Expected: You can name the blast radius of {} and the difference between replacing an embedded document and setting one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Demo 4.10 — Perform a Bulk Write.</a:t>
            </a:r>
          </a:p>
          <a:p/>
          <a:p>
            <a:r>
              <a:t>The slide title is: Demo 4.10 — Perform a Bulk Write.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Duration: 10 minutes.</a:t>
            </a:r>
          </a:p>
          <a:p/>
          <a:p>
            <a:r>
              <a:t>Bullet 2 on the slide: One insert, one update, one delete through bulkWrite().</a:t>
            </a:r>
          </a:p>
          <a:p/>
          <a:p>
            <a:r>
              <a:t>Bullet 3 on the slide: Interpret inserted, matched, modified, and deleted counts.</a:t>
            </a:r>
          </a:p>
          <a:p/>
          <a:p>
            <a:r>
              <a:t>Bullet 4 on the slide: Use DEMO-BULK if A600 is reserved for Lab 4.5.</a:t>
            </a:r>
          </a:p>
          <a:p/>
          <a:p>
            <a:r>
              <a:t>Bullet 5 on the slide: deletedCount: 0 is a normal outcome.</a:t>
            </a:r>
          </a:p>
          <a:p/>
          <a:p>
            <a:r>
              <a:t>The figure on this slide is titled: Perform a Bulk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4.14 — Diagnose Query Errors.</a:t>
            </a:r>
          </a:p>
          <a:p/>
          <a:p>
            <a:r>
              <a:t>The slide title is: Exercise 4.14 — Diagnose Query Errors.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15 min.</a:t>
            </a:r>
          </a:p>
          <a:p/>
          <a:p>
            <a:r>
              <a:t>Bullet 2 on the slide: Fix seven broken queries: case, types, dots, operators, projection, elemMatch, missing $set.</a:t>
            </a:r>
          </a:p>
          <a:p/>
          <a:p>
            <a:r>
              <a:t>Bullet 3 on the slide: Lab guide: [Exercise 4.14](../slide-exercises/module-04/exercise-4.14-diagnose-query-errors.md).</a:t>
            </a:r>
          </a:p>
          <a:p/>
          <a:p>
            <a:r>
              <a:t>The figure on this slide is titled: Common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4.14 — Diagnose Query Errors. We have about 15 min for this lab.</a:t>
            </a:r>
          </a:p>
          <a:p/>
          <a:p>
            <a:r>
              <a:t>Correct seven broken queries covering case, BSON type, dotted paths, operators, projection, $elemMatch, and update operators.</a:t>
            </a:r>
          </a:p>
          <a:p/>
          <a:p>
            <a:r>
              <a:t>The full lab guide is in slide-exercises/module-04/exercise-4.14-diagnose-query-errors.md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Wrong field capitalization.</a:t>
            </a:r>
          </a:p>
          <a:p/>
          <a:p>
            <a:r>
              <a:t>Step 2 — String instead of Decimal128.</a:t>
            </a:r>
          </a:p>
          <a:p/>
          <a:p>
            <a:r>
              <a:t>Step 3 — Unquoted dotted path.</a:t>
            </a:r>
          </a:p>
          <a:p/>
          <a:p>
            <a:r>
              <a:t>Step 1 — Wrong field capitalization.</a:t>
            </a:r>
          </a:p>
          <a:p/>
          <a:p>
            <a:r>
              <a:t>Step 2 — String instead of Decimal128.</a:t>
            </a:r>
          </a:p>
          <a:p/>
          <a:p>
            <a:r>
              <a:t>Step 3 — Unquoted dotted path.</a:t>
            </a:r>
          </a:p>
          <a:p/>
          <a:p>
            <a:r>
              <a:t>Step 1 — Wrong field capitalization.</a:t>
            </a:r>
          </a:p>
          <a:p/>
          <a:p>
            <a:r>
              <a:t>Step 2 — String instead of Decimal128.</a:t>
            </a:r>
          </a:p>
          <a:p/>
          <a:p>
            <a:r>
              <a:t>Step 3 — Unquoted dotted path.</a:t>
            </a:r>
          </a:p>
          <a:p/>
          <a:p>
            <a:r>
              <a:t>Step 1 — Wrong field capitalization.</a:t>
            </a:r>
          </a:p>
          <a:p/>
          <a:p>
            <a:r>
              <a:t>Step 2 — String instead of Decimal128.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4.14 — Steps 1–2.</a:t>
            </a:r>
          </a:p>
          <a:p/>
          <a:p>
            <a:r>
              <a:t>The slide says: Lab guide: [Exercise 4.14](../slide-exercises/module-04/exercise-4.14-diagnose-query-errors.md).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This returns nothing: javascript db.products.find({ Category: "LAPTOP" })  Rewrite it.</a:t>
            </a:r>
          </a:p>
          <a:p/>
          <a:p>
            <a:r>
              <a:t>Bullet 2 on the slide: Expected: Field is category (lowercase). MongoDB does not fold identifier case.</a:t>
            </a:r>
          </a:p>
          <a:p/>
          <a:p>
            <a:r>
              <a:t>Bullet 3 on the slide: Do: This comparison is unreliable: javascript db.products.find({ price: { $gt: "100.00" } })  Rewrite it.</a:t>
            </a:r>
          </a:p>
          <a:p/>
          <a:p>
            <a:r>
              <a:t>Bullet 4 on the slide: Expected: Use { price: { $gt: Decimal128("100.00") } }. Types must match stored BSON.</a:t>
            </a:r>
          </a:p>
          <a:p/>
          <a:p>
            <a:r>
              <a:t>Bullet 5 on the slide: Do: This is invalid: javascript db.products.find({ attributes.memoryGB: 16 })  Rewrite it.</a:t>
            </a:r>
          </a:p>
          <a:p/>
          <a:p>
            <a:r>
              <a:t>Bullet 6 on the slide: Expected: Quote the path: { "attributes.memoryGB": 16 }.</a:t>
            </a:r>
          </a:p>
          <a:p/>
          <a:p>
            <a:r>
              <a:t>Bullet 7 on the slide: Do: This returns nothing: javascript db.products.find({ Category: "LAPTOP" })  Rewrite it.</a:t>
            </a:r>
          </a:p>
          <a:p/>
          <a:p>
            <a:r>
              <a:t>Bullet 8 on the slide: Expected: Field is category (lowercase). MongoDB does not fold identifier case.</a:t>
            </a:r>
          </a:p>
          <a:p/>
          <a:p>
            <a:r>
              <a:t>Bullet 9 on the slide: Do: This comparison is unreliable: javascript db.products.find({ price: { $gt: "100.00" } })  Rewrite it.</a:t>
            </a:r>
          </a:p>
          <a:p/>
          <a:p>
            <a:r>
              <a:t>Bullet 10 on the slide: Expected: Use { price: { $gt: Decimal128("100.00") } }. Types must match stored BSON.</a:t>
            </a:r>
          </a:p>
          <a:p/>
          <a:p>
            <a:r>
              <a:t>Bullet 11 on the slide: Do: This is invalid: javascript db.products.find({ attributes.memoryGB: 16 })  Rewrite it.</a:t>
            </a:r>
          </a:p>
          <a:p/>
          <a:p>
            <a:r>
              <a:t>Bullet 12 on the slide: Expected: Quote the path: { "attributes.memoryGB": 16 }.</a:t>
            </a:r>
          </a:p>
          <a:p/>
          <a:p>
            <a:r>
              <a:t>Bullet 13 on the slide: Do: This returns nothing: javascript db.products.find({ Category: "LAPTOP" })  Rewrite it.</a:t>
            </a:r>
          </a:p>
          <a:p/>
          <a:p>
            <a:r>
              <a:t>Bullet 14 on the slide: Expected: Field is category (lowercase). MongoDB does not fold identifier case.</a:t>
            </a:r>
          </a:p>
          <a:p/>
          <a:p>
            <a:r>
              <a:t>Bullet 15 on the slide: Do: This comparison is unreliable: javascript db.products.find({ price: { $gt: "100.00" } })  Rewrite it.</a:t>
            </a:r>
          </a:p>
          <a:p/>
          <a:p>
            <a:r>
              <a:t>Bullet 16 on the slide: Expected: Use { price: { $gt: Decimal128("100.00") } }. Types must match stored BSON.</a:t>
            </a:r>
          </a:p>
          <a:p/>
          <a:p>
            <a:r>
              <a:t>Bullet 17 on the slide: Do: This is invalid: javascript db.products.find({ attributes.memoryGB: 16 })  Rewrite it.</a:t>
            </a:r>
          </a:p>
          <a:p/>
          <a:p>
            <a:r>
              <a:t>Bullet 18 on the slide: Expected: Quote the path: { "attributes.memoryGB": 16 }.</a:t>
            </a:r>
          </a:p>
          <a:p/>
          <a:p>
            <a:r>
              <a:t>Bullet 19 on the slide: Do: This returns nothing:  db.products.find({ Category: "LAPTOP" })  Rewrite it.</a:t>
            </a:r>
          </a:p>
          <a:p/>
          <a:p>
            <a:r>
              <a:t>Bullet 20 on the slide: Expected: Field is category (lowercase). MongoDB does not fold identifier case.</a:t>
            </a:r>
          </a:p>
          <a:p/>
          <a:p>
            <a:r>
              <a:t>Bullet 21 on the slide: Do: This comparison is unreliable:  db.products.find({ price: { $gt: "100.00" } })  Rewrite it.</a:t>
            </a:r>
          </a:p>
          <a:p/>
          <a:p>
            <a:r>
              <a:t>Bullet 22 on the slide: Expected: Use { price: { $gt: Decimal128("100.00") } }. Types must match stored BSON.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Unquoted dotted path.</a:t>
            </a:r>
          </a:p>
          <a:p/>
          <a:p>
            <a:r>
              <a:t>Step 4 — Incorrect operator placement.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4.14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This is invalid:  db.products.find({ attributes.memoryGB: 16 })  Rewrite it.</a:t>
            </a:r>
          </a:p>
          <a:p/>
          <a:p>
            <a:r>
              <a:t>Bullet 2 on the slide: Expected: Quote the path: { "attributes.memoryGB": 16 }.</a:t>
            </a:r>
          </a:p>
          <a:p/>
          <a:p>
            <a:r>
              <a:t>Bullet 3 on the slide: Do: This is wrong:  db.products.find({ $gt: { price: Decimal128("100.00") } })  Rewrite it.</a:t>
            </a:r>
          </a:p>
          <a:p/>
          <a:p>
            <a:r>
              <a:t>Bullet 4 on the slide: Expected: Comparison operators live inside the field: { price: { $gt: Decimal128("100.00") }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Mixed projection.</a:t>
            </a:r>
          </a:p>
          <a:p/>
          <a:p>
            <a:r>
              <a:t>Step 6 — Incorrect $elemMatch.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4.14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This errors:  db.products.find({}, { name: 1, tags: 0 })  Provide two legal alternatives.</a:t>
            </a:r>
          </a:p>
          <a:p/>
          <a:p>
            <a:r>
              <a:t>Bullet 2 on the slide: Expected: Inclusion { name: 1, price: 1, _id: 0 } or exclusion { tags: 0, attributes: 0 }. _id is the only mix allowed.</a:t>
            </a:r>
          </a:p>
          <a:p/>
          <a:p>
            <a:r>
              <a:t>Bullet 3 on the slide: Do: Rewrite so both conditions apply to one item:  db.orders.find({ "items.sku": "L100", "items.quantity": { $gte: 2 } }).</a:t>
            </a:r>
          </a:p>
          <a:p/>
          <a:p>
            <a:r>
              <a:t>Bullet 4 on the slide: Expected: Use items: { $elemMatch: { sku: "L100", quantity: { $gte: 2 } }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Missing update operator.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4.14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This replacement-style document is rejected by modern updateOne:  db.products.updateOne({ sku: "L100" }, { featured: true })  Rewrite it.</a:t>
            </a:r>
          </a:p>
          <a:p/>
          <a:p>
            <a:r>
              <a:t>Bullet 2 on the slide: Expected: Use { $set: { featured: true } }. Bare field assignment is not an update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4.16 — Lab 4.2 Product Query Lab.</a:t>
            </a:r>
          </a:p>
          <a:p/>
          <a:p>
            <a:r>
              <a:t>The slide title is: Exercise 4.16 — Lab 4.2 Product Query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Ten product queries from equality through distinct.</a:t>
            </a:r>
          </a:p>
          <a:p/>
          <a:p>
            <a:r>
              <a:t>Bullet 3 on the slide: Lab guide: [Exercise 4.16](../slide-exercises/module-04/exercise-4.16-lab-product-query.md).</a:t>
            </a:r>
          </a:p>
          <a:p/>
          <a:p>
            <a:r>
              <a:t>The figure on this slide is titled: Lab 4.2 Product Query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4.16 — Lab 4.2 Product Query Lab. We have about 30 min for this lab.</a:t>
            </a:r>
          </a:p>
          <a:p/>
          <a:p>
            <a:r>
              <a:t>Build ten product queries covering equality, range, nested fields, tags, missing fields, types, sort, and distinct.</a:t>
            </a:r>
          </a:p>
          <a:p/>
          <a:p>
            <a:r>
              <a:t>The full lab guide is in slide-exercises/module-04/exercise-4.16-lab-product-query.md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All active products.</a:t>
            </a:r>
          </a:p>
          <a:p/>
          <a:p>
            <a:r>
              <a:t>Step 2 — Specified category.</a:t>
            </a:r>
          </a:p>
          <a:p/>
          <a:p>
            <a:r>
              <a:t>Step 3 — Price range.</a:t>
            </a:r>
          </a:p>
          <a:p/>
          <a:p>
            <a:r>
              <a:t>Step 1 — All active products.</a:t>
            </a:r>
          </a:p>
          <a:p/>
          <a:p>
            <a:r>
              <a:t>Step 2 — Specified category.</a:t>
            </a:r>
          </a:p>
          <a:p/>
          <a:p>
            <a:r>
              <a:t>Step 3 — Price range.</a:t>
            </a:r>
          </a:p>
          <a:p/>
          <a:p>
            <a:r>
              <a:t>Step 1 — All active products.</a:t>
            </a:r>
          </a:p>
          <a:p/>
          <a:p>
            <a:r>
              <a:t>Step 2 — Specified category.</a:t>
            </a:r>
          </a:p>
          <a:p/>
          <a:p>
            <a:r>
              <a:t>Step 3 — Price range.</a:t>
            </a:r>
          </a:p>
          <a:p/>
          <a:p>
            <a:r>
              <a:t>Step 1 — All active products.</a:t>
            </a:r>
          </a:p>
          <a:p/>
          <a:p>
            <a:r>
              <a:t>Step 2 — Specified category.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4.16 — Steps 1–2.</a:t>
            </a:r>
          </a:p>
          <a:p/>
          <a:p>
            <a:r>
              <a:t>The slide says: Lab guide: [Exercise 4.16](../slide-exercises/module-04/exercise-4.16-lab-product-query.md).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Write and run a filter on active: true.</a:t>
            </a:r>
          </a:p>
          <a:p/>
          <a:p>
            <a:r>
              <a:t>Bullet 2 on the slide: Expected: Inactive SKU L190 is absent.</a:t>
            </a:r>
          </a:p>
          <a:p/>
          <a:p>
            <a:r>
              <a:t>Bullet 3 on the slide: Do: Find { category: "LAPTOP" }.</a:t>
            </a:r>
          </a:p>
          <a:p/>
          <a:p>
            <a:r>
              <a:t>Bullet 4 on the slide: Expected: Three laptops: L100, L110, L190.</a:t>
            </a:r>
          </a:p>
          <a:p/>
          <a:p>
            <a:r>
              <a:t>Bullet 5 on the slide: Do: Find price $gte 50 and $lte 150 as Decimal128.</a:t>
            </a:r>
          </a:p>
          <a:p/>
          <a:p>
            <a:r>
              <a:t>Bullet 6 on the slide: Expected: Includes S200, S210, B300.</a:t>
            </a:r>
          </a:p>
          <a:p/>
          <a:p>
            <a:r>
              <a:t>Bullet 7 on the slide: Do: Write and run a filter on active: true.</a:t>
            </a:r>
          </a:p>
          <a:p/>
          <a:p>
            <a:r>
              <a:t>Bullet 8 on the slide: Expected: Inactive SKU L190 is absent.</a:t>
            </a:r>
          </a:p>
          <a:p/>
          <a:p>
            <a:r>
              <a:t>Bullet 9 on the slide: Do: Find { category: "LAPTOP" }.</a:t>
            </a:r>
          </a:p>
          <a:p/>
          <a:p>
            <a:r>
              <a:t>Bullet 10 on the slide: Expected: Three laptops: L100, L110, L190.</a:t>
            </a:r>
          </a:p>
          <a:p/>
          <a:p>
            <a:r>
              <a:t>Bullet 11 on the slide: Do: Find price $gte 50 and $lte 150 as Decimal128.</a:t>
            </a:r>
          </a:p>
          <a:p/>
          <a:p>
            <a:r>
              <a:t>Bullet 12 on the slide: Expected: Includes S200, S210, B300.</a:t>
            </a:r>
          </a:p>
          <a:p/>
          <a:p>
            <a:r>
              <a:t>Bullet 13 on the slide: Do: Write and run a filter on active: true.</a:t>
            </a:r>
          </a:p>
          <a:p/>
          <a:p>
            <a:r>
              <a:t>Bullet 14 on the slide: Expected: Inactive SKU L190 is absent.</a:t>
            </a:r>
          </a:p>
          <a:p/>
          <a:p>
            <a:r>
              <a:t>Bullet 15 on the slide: Do: Find { category: "LAPTOP" }.</a:t>
            </a:r>
          </a:p>
          <a:p/>
          <a:p>
            <a:r>
              <a:t>Bullet 16 on the slide: Expected: Three laptops: L100, L110, L190.</a:t>
            </a:r>
          </a:p>
          <a:p/>
          <a:p>
            <a:r>
              <a:t>Bullet 17 on the slide: Do: Find price $gte 50 and $lte 150 as Decimal128.</a:t>
            </a:r>
          </a:p>
          <a:p/>
          <a:p>
            <a:r>
              <a:t>Bullet 18 on the slide: Expected: Includes S200, S210, B300.</a:t>
            </a:r>
          </a:p>
          <a:p/>
          <a:p>
            <a:r>
              <a:t>Bullet 19 on the slide: Do: Write and run a filter on active: true.</a:t>
            </a:r>
          </a:p>
          <a:p/>
          <a:p>
            <a:r>
              <a:t>Bullet 20 on the slide: Expected: Inactive SKU L190 is absent.</a:t>
            </a:r>
          </a:p>
          <a:p/>
          <a:p>
            <a:r>
              <a:t>Bullet 21 on the slide: Do: Find { category: "LAPTOP" }.</a:t>
            </a:r>
          </a:p>
          <a:p/>
          <a:p>
            <a:r>
              <a:t>Bullet 22 on the slide: Expected: Three laptops: L100, L110, L190.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Price range.</a:t>
            </a:r>
          </a:p>
          <a:p/>
          <a:p>
            <a:r>
              <a:t>Step 4 — Any of several categories.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4.16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Find price $gte 50 and $lte 150 as Decimal128.</a:t>
            </a:r>
          </a:p>
          <a:p/>
          <a:p>
            <a:r>
              <a:t>Bullet 2 on the slide: Expected: Includes S200, S210, B300.</a:t>
            </a:r>
          </a:p>
          <a:p/>
          <a:p>
            <a:r>
              <a:t>Bullet 3 on the slide: Do: Use $in: ["BOOK", "ACCESSORY"].</a:t>
            </a:r>
          </a:p>
          <a:p/>
          <a:p>
            <a:r>
              <a:t>Bullet 4 on the slide: Expected: Books and accessories, not laptops or shoes.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Nested hardware attribute.</a:t>
            </a:r>
          </a:p>
          <a:p/>
          <a:p>
            <a:r>
              <a:t>Step 6 — Selected tags.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4.16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Find { "attributes.memoryGB": { $gte: 16 } }.</a:t>
            </a:r>
          </a:p>
          <a:p/>
          <a:p>
            <a:r>
              <a:t>Bullet 2 on the slide: Expected: L100 (16) and L110 (32). L190 has 8 GB.</a:t>
            </a:r>
          </a:p>
          <a:p/>
          <a:p>
            <a:r>
              <a:t>Bullet 3 on the slide: Do: Use $all: ["database", "technology"].</a:t>
            </a:r>
          </a:p>
          <a:p/>
          <a:p>
            <a:r>
              <a:t>Bullet 4 on the slide: Expected: B300.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7–8.</a:t>
            </a:r>
          </a:p>
          <a:p/>
          <a:p>
            <a:r>
              <a:t>Step 7 — Missing optional field.</a:t>
            </a:r>
          </a:p>
          <a:p/>
          <a:p>
            <a:r>
              <a:t>Step 8 — Inconsistent price types.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4.16 — Steps 7–8.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Find { discountPrice: { $exists: false } }.</a:t>
            </a:r>
          </a:p>
          <a:p/>
          <a:p>
            <a:r>
              <a:t>Bullet 2 on the slide: Expected: Most products; P1001 and B310 are excluded.</a:t>
            </a:r>
          </a:p>
          <a:p/>
          <a:p>
            <a:r>
              <a:t>Bullet 3 on the slide: Do: Find { price: { $type: "string" } }.</a:t>
            </a:r>
          </a:p>
          <a:p/>
          <a:p>
            <a:r>
              <a:t>Bullet 4 on the slide: Expected: XBAD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9–10.</a:t>
            </a:r>
          </a:p>
          <a:p/>
          <a:p>
            <a:r>
              <a:t>Step 9 — Five most expensive active.</a:t>
            </a:r>
          </a:p>
          <a:p/>
          <a:p>
            <a:r>
              <a:t>Step 10 — Distinct categories.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4.16 — Steps 9–10.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Filter active, sort price descending with _id tiebreaker, limit 5, project name and price.</a:t>
            </a:r>
          </a:p>
          <a:p/>
          <a:p>
            <a:r>
              <a:t>Bullet 2 on the slide: Expected: Top of the list is L110 at 1899.99.</a:t>
            </a:r>
          </a:p>
          <a:p/>
          <a:p>
            <a:r>
              <a:t>Bullet 3 on the slide: Do: Run db.products.distinct("category").</a:t>
            </a:r>
          </a:p>
          <a:p/>
          <a:p>
            <a:r>
              <a:t>Bullet 4 on the slide: Expected: Array including ACCESSORY, BOOK, LAPTOP, SHOE.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4.17 — Lab 4.3 Customer and Order Query Lab.</a:t>
            </a:r>
          </a:p>
          <a:p/>
          <a:p>
            <a:r>
              <a:t>The slide title is: Exercise 4.17 — Lab 4.3 Customer and Order Query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Nested customer fields, $elemMatch, dates, totals.</a:t>
            </a:r>
          </a:p>
          <a:p/>
          <a:p>
            <a:r>
              <a:t>Bullet 3 on the slide: Lab guide: [Exercise 4.17](../slide-exercises/module-04/exercise-4.17-lab-customer-order-query.md).</a:t>
            </a:r>
          </a:p>
          <a:p/>
          <a:p>
            <a:r>
              <a:t>The figure on this slide is titled: Lab 4.3 Customer and Order Query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4.17 — Lab 4.3 Customer and Order Query Lab. We have about 30 min for this lab.</a:t>
            </a:r>
          </a:p>
          <a:p/>
          <a:p>
            <a:r>
              <a:t>Query customers and orders by identifier, nested contact, addresses, items, status, dates, and totals.</a:t>
            </a:r>
          </a:p>
          <a:p/>
          <a:p>
            <a:r>
              <a:t>The full lab guide is in slide-exercises/module-04/exercise-4.17-lab-customer-order-query.md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Customer by number.</a:t>
            </a:r>
          </a:p>
          <a:p/>
          <a:p>
            <a:r>
              <a:t>Step 2 — Customer by email.</a:t>
            </a:r>
          </a:p>
          <a:p/>
          <a:p>
            <a:r>
              <a:t>Step 3 — Address in a city.</a:t>
            </a:r>
          </a:p>
          <a:p/>
          <a:p>
            <a:r>
              <a:t>Step 1 — Customer by number.</a:t>
            </a:r>
          </a:p>
          <a:p/>
          <a:p>
            <a:r>
              <a:t>Step 2 — Customer by email.</a:t>
            </a:r>
          </a:p>
          <a:p/>
          <a:p>
            <a:r>
              <a:t>Step 3 — Address in a city.</a:t>
            </a:r>
          </a:p>
          <a:p/>
          <a:p>
            <a:r>
              <a:t>Step 1 — Customer by number.</a:t>
            </a:r>
          </a:p>
          <a:p/>
          <a:p>
            <a:r>
              <a:t>Step 2 — Customer by email.</a:t>
            </a:r>
          </a:p>
          <a:p/>
          <a:p>
            <a:r>
              <a:t>Step 3 — Address in a city.</a:t>
            </a:r>
          </a:p>
          <a:p/>
          <a:p>
            <a:r>
              <a:t>Step 1 — Customer by number.</a:t>
            </a:r>
          </a:p>
          <a:p/>
          <a:p>
            <a:r>
              <a:t>Step 2 — Customer by email.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4.17 — Steps 1–2.</a:t>
            </a:r>
          </a:p>
          <a:p/>
          <a:p>
            <a:r>
              <a:t>The slide says: Lab guide: [Exercise 4.17](../slide-exercises/module-04/exercise-4.17-lab-customer-order-query.md).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findOne { customerNumber: "C101" }.</a:t>
            </a:r>
          </a:p>
          <a:p/>
          <a:p>
            <a:r>
              <a:t>Bullet 2 on the slide: Expected: Aisha Khan with nested name and contact.</a:t>
            </a:r>
          </a:p>
          <a:p/>
          <a:p>
            <a:r>
              <a:t>Bullet 3 on the slide: Do: find { "contact.email": "aisha@example.com" }.</a:t>
            </a:r>
          </a:p>
          <a:p/>
          <a:p>
            <a:r>
              <a:t>Bullet 4 on the slide: Expected: The same customer. Quote the dotted path.</a:t>
            </a:r>
          </a:p>
          <a:p/>
          <a:p>
            <a:r>
              <a:t>Bullet 5 on the slide: Do: find { "addresses.city": "Toronto" } or $elemMatch on SHIPPING + Toronto.</a:t>
            </a:r>
          </a:p>
          <a:p/>
          <a:p>
            <a:r>
              <a:t>Bullet 6 on the slide: Expected: C101.</a:t>
            </a:r>
          </a:p>
          <a:p/>
          <a:p>
            <a:r>
              <a:t>Bullet 7 on the slide: Do: findOne { customerNumber: "C101" }.</a:t>
            </a:r>
          </a:p>
          <a:p/>
          <a:p>
            <a:r>
              <a:t>Bullet 8 on the slide: Expected: Aisha Khan with nested name and contact.</a:t>
            </a:r>
          </a:p>
          <a:p/>
          <a:p>
            <a:r>
              <a:t>Bullet 9 on the slide: Do: find { "contact.email": "aisha@example.com" }.</a:t>
            </a:r>
          </a:p>
          <a:p/>
          <a:p>
            <a:r>
              <a:t>Bullet 10 on the slide: Expected: The same customer. Quote the dotted path.</a:t>
            </a:r>
          </a:p>
          <a:p/>
          <a:p>
            <a:r>
              <a:t>Bullet 11 on the slide: Do: find { "addresses.city": "Toronto" } or $elemMatch on SHIPPING + Toronto.</a:t>
            </a:r>
          </a:p>
          <a:p/>
          <a:p>
            <a:r>
              <a:t>Bullet 12 on the slide: Expected: C101.</a:t>
            </a:r>
          </a:p>
          <a:p/>
          <a:p>
            <a:r>
              <a:t>Bullet 13 on the slide: Do: findOne { customerNumber: "C101" }.</a:t>
            </a:r>
          </a:p>
          <a:p/>
          <a:p>
            <a:r>
              <a:t>Bullet 14 on the slide: Expected: Aisha Khan with nested name and contact.</a:t>
            </a:r>
          </a:p>
          <a:p/>
          <a:p>
            <a:r>
              <a:t>Bullet 15 on the slide: Do: find { "contact.email": "aisha@example.com" }.</a:t>
            </a:r>
          </a:p>
          <a:p/>
          <a:p>
            <a:r>
              <a:t>Bullet 16 on the slide: Expected: The same customer. Quote the dotted path.</a:t>
            </a:r>
          </a:p>
          <a:p/>
          <a:p>
            <a:r>
              <a:t>Bullet 17 on the slide: Do: find { "addresses.city": "Toronto" } or $elemMatch on SHIPPING + Toronto.</a:t>
            </a:r>
          </a:p>
          <a:p/>
          <a:p>
            <a:r>
              <a:t>Bullet 18 on the slide: Expected: C101.</a:t>
            </a:r>
          </a:p>
          <a:p/>
          <a:p>
            <a:r>
              <a:t>Bullet 19 on the slide: Do: findOne { customerNumber: "C101" }.</a:t>
            </a:r>
          </a:p>
          <a:p/>
          <a:p>
            <a:r>
              <a:t>Bullet 20 on the slide: Expected: Aisha Khan with nested name and contact.</a:t>
            </a:r>
          </a:p>
          <a:p/>
          <a:p>
            <a:r>
              <a:t>Bullet 21 on the slide: Do: find { "contact.email": "aisha@example.com" }.</a:t>
            </a:r>
          </a:p>
          <a:p/>
          <a:p>
            <a:r>
              <a:t>Bullet 22 on the slide: Expected: The same customer. Quote the dotted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Address in a city.</a:t>
            </a:r>
          </a:p>
          <a:p/>
          <a:p>
            <a:r>
              <a:t>Step 4 — Order by number.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4.17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find { "addresses.city": "Toronto" } or $elemMatch on SHIPPING + Toronto.</a:t>
            </a:r>
          </a:p>
          <a:p/>
          <a:p>
            <a:r>
              <a:t>Bullet 2 on the slide: Expected: C101.</a:t>
            </a:r>
          </a:p>
          <a:p/>
          <a:p>
            <a:r>
              <a:t>Bullet 3 on the slide: Do: findOne { orderNumber: "O5001" }.</a:t>
            </a:r>
          </a:p>
          <a:p/>
          <a:p>
            <a:r>
              <a:t>Bullet 4 on the slide: Expected: Two line items (L100 qty 1, A410 qty 2), paymentStatus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Orders for a customer.</a:t>
            </a:r>
          </a:p>
          <a:p/>
          <a:p>
            <a:r>
              <a:t>Step 6 — Orders containing a SKU.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4.17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Store C101 _id, then find { customerId: c101Id }.</a:t>
            </a:r>
          </a:p>
          <a:p/>
          <a:p>
            <a:r>
              <a:t>Bullet 2 on the slide: Expected: O5001, O6101, and other C101 orders.</a:t>
            </a:r>
          </a:p>
          <a:p/>
          <a:p>
            <a:r>
              <a:t>Bullet 3 on the slide: Do: find { "items.sku": "L100" }.</a:t>
            </a:r>
          </a:p>
          <a:p/>
          <a:p>
            <a:r>
              <a:t>Bullet 4 on the slide: Expected: O5001, O6101, and O6401.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7–8.</a:t>
            </a:r>
          </a:p>
          <a:p/>
          <a:p>
            <a:r>
              <a:t>Step 7 — Same item two conditions.</a:t>
            </a:r>
          </a:p>
          <a:p/>
          <a:p>
            <a:r>
              <a:t>Step 8 — One of several statuses.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4.17 — Steps 7–8.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Use $elemMatch for sku L100 and quantity ≥ 2.</a:t>
            </a:r>
          </a:p>
          <a:p/>
          <a:p>
            <a:r>
              <a:t>Bullet 2 on the slide: Expected: Only O6401.</a:t>
            </a:r>
          </a:p>
          <a:p/>
          <a:p>
            <a:r>
              <a:t>Bullet 3 on the slide: Do: paymentStatus $in: ["PENDING", "FAILED"].</a:t>
            </a:r>
          </a:p>
          <a:p/>
          <a:p>
            <a:r>
              <a:t>Bullet 4 on the slide: Expected: O5001, O6401, O6402, O6499.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9–10.</a:t>
            </a:r>
          </a:p>
          <a:p/>
          <a:p>
            <a:r>
              <a:t>Step 9 — Created during a date range.</a:t>
            </a:r>
          </a:p>
          <a:p/>
          <a:p>
            <a:r>
              <a:t>Step 10 — Orders above a total.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4.17 — Steps 9–10.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Filter createdAt $gte ISODate 2026-09-01 and $lt ISODate 2026-10-01.</a:t>
            </a:r>
          </a:p>
          <a:p/>
          <a:p>
            <a:r>
              <a:t>Bullet 2 on the slide: Expected: September 2026 orders including O5001 and O6401.</a:t>
            </a:r>
          </a:p>
          <a:p/>
          <a:p>
            <a:r>
              <a:t>Bullet 3 on the slide: Do: total $gt Decimal128("1000.00").</a:t>
            </a:r>
          </a:p>
          <a:p/>
          <a:p>
            <a:r>
              <a:t>Bullet 4 on the slide: Expected: Includes O5001, O6101, O6401, and other high-value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4.18 — Lab 4.4 Projection and Pagination Lab.</a:t>
            </a:r>
          </a:p>
          <a:p/>
          <a:p>
            <a:r>
              <a:t>The slide title is: Exercise 4.18 — Lab 4.4 Projection and Pagination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Summaries, sort, two pages, count.</a:t>
            </a:r>
          </a:p>
          <a:p/>
          <a:p>
            <a:r>
              <a:t>Bullet 3 on the slide: Lab guide: [Exercise 4.18](../slide-exercises/module-04/exercise-4.18-lab-projection-pagination.md).</a:t>
            </a:r>
          </a:p>
          <a:p/>
          <a:p>
            <a:r>
              <a:t>The figure on this slide is titled: Lab 4.4 Projection and Pagination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4.18 — Lab 4.4 Projection and Pagination Lab. We have about 20 min for this lab.</a:t>
            </a:r>
          </a:p>
          <a:p/>
          <a:p>
            <a:r>
              <a:t>Shape result documents and page through a sorted product list.</a:t>
            </a:r>
          </a:p>
          <a:p/>
          <a:p>
            <a:r>
              <a:t>The full lab guide is in slide-exercises/module-04/exercise-4.18-lab-projection-pagination.md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Product summary projection.</a:t>
            </a:r>
          </a:p>
          <a:p/>
          <a:p>
            <a:r>
              <a:t>Step 2 — Customer-contact projection.</a:t>
            </a:r>
          </a:p>
          <a:p/>
          <a:p>
            <a:r>
              <a:t>Step 3 — Order-status projection.</a:t>
            </a:r>
          </a:p>
          <a:p/>
          <a:p>
            <a:r>
              <a:t>Step 1 — Product summary projection.</a:t>
            </a:r>
          </a:p>
          <a:p/>
          <a:p>
            <a:r>
              <a:t>Step 2 — Customer-contact projection.</a:t>
            </a:r>
          </a:p>
          <a:p/>
          <a:p>
            <a:r>
              <a:t>Step 3 — Order-status projection.</a:t>
            </a:r>
          </a:p>
          <a:p/>
          <a:p>
            <a:r>
              <a:t>Step 1 — Product summary projection.</a:t>
            </a:r>
          </a:p>
          <a:p/>
          <a:p>
            <a:r>
              <a:t>Step 2 — Customer-contact projection.</a:t>
            </a:r>
          </a:p>
          <a:p/>
          <a:p>
            <a:r>
              <a:t>Step 3 — Order-status projection.</a:t>
            </a:r>
          </a:p>
          <a:p/>
          <a:p>
            <a:r>
              <a:t>Step 1 — Product summary projection.</a:t>
            </a:r>
          </a:p>
          <a:p/>
          <a:p>
            <a:r>
              <a:t>Step 2 — Customer-contact projection.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4.18 — Steps 1–2.</a:t>
            </a:r>
          </a:p>
          <a:p/>
          <a:p>
            <a:r>
              <a:t>The slide says: Lab guide: [Exercise 4.18](../slide-exercises/module-04/exercise-4.18-lab-projection-pagination.md).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Active products: name, category, price, no _id.</a:t>
            </a:r>
          </a:p>
          <a:p/>
          <a:p>
            <a:r>
              <a:t>Bullet 2 on the slide: Expected: Compact catalog rows.</a:t>
            </a:r>
          </a:p>
          <a:p/>
          <a:p>
            <a:r>
              <a:t>Bullet 3 on the slide: Do: name.first, name.last, contact.email for ACTIVE customers.</a:t>
            </a:r>
          </a:p>
          <a:p/>
          <a:p>
            <a:r>
              <a:t>Bullet 4 on the slide: Expected: No addresses in the result.</a:t>
            </a:r>
          </a:p>
          <a:p/>
          <a:p>
            <a:r>
              <a:t>Bullet 5 on the slide: Do: orderNumber, status, total.</a:t>
            </a:r>
          </a:p>
          <a:p/>
          <a:p>
            <a:r>
              <a:t>Bullet 6 on the slide: Expected: Operations list without line items.</a:t>
            </a:r>
          </a:p>
          <a:p/>
          <a:p>
            <a:r>
              <a:t>Bullet 7 on the slide: Do: Active products: name, category, price, no _id.</a:t>
            </a:r>
          </a:p>
          <a:p/>
          <a:p>
            <a:r>
              <a:t>Bullet 8 on the slide: Expected: Compact catalog rows.</a:t>
            </a:r>
          </a:p>
          <a:p/>
          <a:p>
            <a:r>
              <a:t>Bullet 9 on the slide: Do: name.first, name.last, contact.email for ACTIVE customers.</a:t>
            </a:r>
          </a:p>
          <a:p/>
          <a:p>
            <a:r>
              <a:t>Bullet 10 on the slide: Expected: No addresses in the result.</a:t>
            </a:r>
          </a:p>
          <a:p/>
          <a:p>
            <a:r>
              <a:t>Bullet 11 on the slide: Do: orderNumber, status, total.</a:t>
            </a:r>
          </a:p>
          <a:p/>
          <a:p>
            <a:r>
              <a:t>Bullet 12 on the slide: Expected: Operations list without line items.</a:t>
            </a:r>
          </a:p>
          <a:p/>
          <a:p>
            <a:r>
              <a:t>Bullet 13 on the slide: Do: Active products: name, category, price, no _id.</a:t>
            </a:r>
          </a:p>
          <a:p/>
          <a:p>
            <a:r>
              <a:t>Bullet 14 on the slide: Expected: Compact catalog rows.</a:t>
            </a:r>
          </a:p>
          <a:p/>
          <a:p>
            <a:r>
              <a:t>Bullet 15 on the slide: Do: name.first, name.last, contact.email for ACTIVE customers.</a:t>
            </a:r>
          </a:p>
          <a:p/>
          <a:p>
            <a:r>
              <a:t>Bullet 16 on the slide: Expected: No addresses in the result.</a:t>
            </a:r>
          </a:p>
          <a:p/>
          <a:p>
            <a:r>
              <a:t>Bullet 17 on the slide: Do: orderNumber, status, total.</a:t>
            </a:r>
          </a:p>
          <a:p/>
          <a:p>
            <a:r>
              <a:t>Bullet 18 on the slide: Expected: Operations list without line items.</a:t>
            </a:r>
          </a:p>
          <a:p/>
          <a:p>
            <a:r>
              <a:t>Bullet 19 on the slide: Do: Active products: name, category, price, no _id.</a:t>
            </a:r>
          </a:p>
          <a:p/>
          <a:p>
            <a:r>
              <a:t>Bullet 20 on the slide: Expected: Compact catalog rows.</a:t>
            </a:r>
          </a:p>
          <a:p/>
          <a:p>
            <a:r>
              <a:t>Bullet 21 on the slide: Do: name.first, name.last, contact.email for ACTIVE customers.</a:t>
            </a:r>
          </a:p>
          <a:p/>
          <a:p>
            <a:r>
              <a:t>Bullet 22 on the slide: Expected: No addresses in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Order-status projection.</a:t>
            </a:r>
          </a:p>
          <a:p/>
          <a:p>
            <a:r>
              <a:t>Step 4 — Sorted product list.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4.18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orderNumber, status, total.</a:t>
            </a:r>
          </a:p>
          <a:p/>
          <a:p>
            <a:r>
              <a:t>Bullet 2 on the slide: Expected: Operations list without line items.</a:t>
            </a:r>
          </a:p>
          <a:p/>
          <a:p>
            <a:r>
              <a:t>Bullet 3 on the slide: Do: Sort { category: 1, price: -1, _id: 1 }.</a:t>
            </a:r>
          </a:p>
          <a:p/>
          <a:p>
            <a:r>
              <a:t>Bullet 4 on the slide: Expected: Deterministic order within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Limited result set.</a:t>
            </a:r>
          </a:p>
          <a:p/>
          <a:p>
            <a:r>
              <a:t>Step 6 — Two pages of results.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4.18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Limit 5 on the sorted active products.</a:t>
            </a:r>
          </a:p>
          <a:p/>
          <a:p>
            <a:r>
              <a:t>Bullet 2 on the slide: Expected: Exactly five documents.</a:t>
            </a:r>
          </a:p>
          <a:p/>
          <a:p>
            <a:r>
              <a:t>Bullet 3 on the slide: Do: skip 0 limit 5 then skip 5 limit 5 with the same sort.</a:t>
            </a:r>
          </a:p>
          <a:p/>
          <a:p>
            <a:r>
              <a:t>Bullet 4 on the slide: Expected: No overlapping _id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Count matching documents.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4.18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countDocuments on the same filter as the list.</a:t>
            </a:r>
          </a:p>
          <a:p/>
          <a:p>
            <a:r>
              <a:t>Bullet 2 on the slide: Expected: Count equals how many documents pagination would eventually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4.19 — Lab 4.5 Insert Operations Lab.</a:t>
            </a:r>
          </a:p>
          <a:p/>
          <a:p>
            <a:r>
              <a:t>The slide title is: Exercise 4.19 — Lab 4.5 Insert Operations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25 min.</a:t>
            </a:r>
          </a:p>
          <a:p/>
          <a:p>
            <a:r>
              <a:t>Bullet 2 on the slide: Insert product, customer, order; fix types.</a:t>
            </a:r>
          </a:p>
          <a:p/>
          <a:p>
            <a:r>
              <a:t>Bullet 3 on the slide: Lab guide: [Exercise 4.19](../slide-exercises/module-04/exercise-4.19-lab-insert-operations.md).</a:t>
            </a:r>
          </a:p>
          <a:p/>
          <a:p>
            <a:r>
              <a:t>The figure on this slide is titled: Lab 4.5 Insert Operations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4.19 — Lab 4.5 Insert Operations Lab. We have about 25 min for this lab.</a:t>
            </a:r>
          </a:p>
          <a:p/>
          <a:p>
            <a:r>
              <a:t>Insert a product, several products, a customer, and a related order; inspect ids and types.</a:t>
            </a:r>
          </a:p>
          <a:p/>
          <a:p>
            <a:r>
              <a:t>The full lab guide is in slide-exercises/module-04/exercise-4.19-lab-insert-operations.md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Insert one product.</a:t>
            </a:r>
          </a:p>
          <a:p/>
          <a:p>
            <a:r>
              <a:t>Step 2 — Insert several products.</a:t>
            </a:r>
          </a:p>
          <a:p/>
          <a:p>
            <a:r>
              <a:t>Step 3 — Insert a customer.</a:t>
            </a:r>
          </a:p>
          <a:p/>
          <a:p>
            <a:r>
              <a:t>Step 1 — Insert one product.</a:t>
            </a:r>
          </a:p>
          <a:p/>
          <a:p>
            <a:r>
              <a:t>Step 2 — Insert several products.</a:t>
            </a:r>
          </a:p>
          <a:p/>
          <a:p>
            <a:r>
              <a:t>Step 3 — Insert a customer.</a:t>
            </a:r>
          </a:p>
          <a:p/>
          <a:p>
            <a:r>
              <a:t>Step 1 — Insert one product.</a:t>
            </a:r>
          </a:p>
          <a:p/>
          <a:p>
            <a:r>
              <a:t>Step 2 — Insert several products.</a:t>
            </a:r>
          </a:p>
          <a:p/>
          <a:p>
            <a:r>
              <a:t>Step 3 — Insert a customer.</a:t>
            </a:r>
          </a:p>
          <a:p/>
          <a:p>
            <a:r>
              <a:t>Step 1 — Insert one product.</a:t>
            </a:r>
          </a:p>
          <a:p/>
          <a:p>
            <a:r>
              <a:t>Step 2 — Insert several products.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4.19 — Steps 1–2.</a:t>
            </a:r>
          </a:p>
          <a:p/>
          <a:p>
            <a:r>
              <a:t>The slide says: Lab guide: [Exercise 4.19](../slide-exercises/module-04/exercise-4.19-lab-insert-operations.md).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Insert SKU A600 Wireless Presenter, ACCESSORY, Decimal128 44.99, active true.</a:t>
            </a:r>
          </a:p>
          <a:p/>
          <a:p>
            <a:r>
              <a:t>Bullet 2 on the slide: Expected: insertedId present. Skip if A600 already exists from a demo.</a:t>
            </a:r>
          </a:p>
          <a:p/>
          <a:p>
            <a:r>
              <a:t>Bullet 3 on the slide: Do: insertMany two more accessories with unique SKUs A610 and A611.</a:t>
            </a:r>
          </a:p>
          <a:p/>
          <a:p>
            <a:r>
              <a:t>Bullet 4 on the slide: Expected: insertedIds has two entries.</a:t>
            </a:r>
          </a:p>
          <a:p/>
          <a:p>
            <a:r>
              <a:t>Bullet 5 on the slide: Do: customerNumber C601 with nested name, contact, and one shipping address.</a:t>
            </a:r>
          </a:p>
          <a:p/>
          <a:p>
            <a:r>
              <a:t>Bullet 6 on the slide: Expected: Document round-trips with the same shape.</a:t>
            </a:r>
          </a:p>
          <a:p/>
          <a:p>
            <a:r>
              <a:t>Bullet 7 on the slide: Do: Insert SKU A600 Wireless Presenter, ACCESSORY, Decimal128 44.99, active true.</a:t>
            </a:r>
          </a:p>
          <a:p/>
          <a:p>
            <a:r>
              <a:t>Bullet 8 on the slide: Expected: insertedId present. Skip if A600 already exists from a demo.</a:t>
            </a:r>
          </a:p>
          <a:p/>
          <a:p>
            <a:r>
              <a:t>Bullet 9 on the slide: Do: insertMany two more accessories with unique SKUs A610 and A611.</a:t>
            </a:r>
          </a:p>
          <a:p/>
          <a:p>
            <a:r>
              <a:t>Bullet 10 on the slide: Expected: insertedIds has two entries.</a:t>
            </a:r>
          </a:p>
          <a:p/>
          <a:p>
            <a:r>
              <a:t>Bullet 11 on the slide: Do: customerNumber C601 with nested name, contact, and one shipping address.</a:t>
            </a:r>
          </a:p>
          <a:p/>
          <a:p>
            <a:r>
              <a:t>Bullet 12 on the slide: Expected: Document round-trips with the same shape.</a:t>
            </a:r>
          </a:p>
          <a:p/>
          <a:p>
            <a:r>
              <a:t>Bullet 13 on the slide: Do: Insert SKU A600 Wireless Presenter, ACCESSORY, Decimal128 44.99, active true.</a:t>
            </a:r>
          </a:p>
          <a:p/>
          <a:p>
            <a:r>
              <a:t>Bullet 14 on the slide: Expected: insertedId present. Skip if A600 already exists from a demo.</a:t>
            </a:r>
          </a:p>
          <a:p/>
          <a:p>
            <a:r>
              <a:t>Bullet 15 on the slide: Do: insertMany two more accessories with unique SKUs A610 and A611.</a:t>
            </a:r>
          </a:p>
          <a:p/>
          <a:p>
            <a:r>
              <a:t>Bullet 16 on the slide: Expected: insertedIds has two entries.</a:t>
            </a:r>
          </a:p>
          <a:p/>
          <a:p>
            <a:r>
              <a:t>Bullet 17 on the slide: Do: customerNumber C601 with nested name, contact, and one shipping address.</a:t>
            </a:r>
          </a:p>
          <a:p/>
          <a:p>
            <a:r>
              <a:t>Bullet 18 on the slide: Expected: Document round-trips with the same shape.</a:t>
            </a:r>
          </a:p>
          <a:p/>
          <a:p>
            <a:r>
              <a:t>Bullet 19 on the slide: Do: Insert SKU A600 Wireless Presenter, ACCESSORY, Decimal128 44.99, active true.</a:t>
            </a:r>
          </a:p>
          <a:p/>
          <a:p>
            <a:r>
              <a:t>Bullet 20 on the slide: Expected: insertedId present. Skip if A600 already exists from a demo.</a:t>
            </a:r>
          </a:p>
          <a:p/>
          <a:p>
            <a:r>
              <a:t>Bullet 21 on the slide: Do: insertMany two more accessories with unique SKUs A610 and A611.</a:t>
            </a:r>
          </a:p>
          <a:p/>
          <a:p>
            <a:r>
              <a:t>Bullet 22 on the slide: Expected: insertedIds has two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Insert a customer.</a:t>
            </a:r>
          </a:p>
          <a:p/>
          <a:p>
            <a:r>
              <a:t>Step 4 — Insert an order referencing the customer.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4.19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customerNumber C601 with nested name, contact, and one shipping address.</a:t>
            </a:r>
          </a:p>
          <a:p/>
          <a:p>
            <a:r>
              <a:t>Bullet 2 on the slide: Expected: Document round-trips with the same shape.</a:t>
            </a:r>
          </a:p>
          <a:p/>
          <a:p>
            <a:r>
              <a:t>Bullet 3 on the slide: Do: Order O5200 with an embedded customer snapshot and an item for A600.</a:t>
            </a:r>
          </a:p>
          <a:p/>
          <a:p>
            <a:r>
              <a:t>Bullet 4 on the slide: Expected: Order stores name/email snapshot, not only the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Inspect inserted IDs.</a:t>
            </a:r>
          </a:p>
          <a:p/>
          <a:p>
            <a:r>
              <a:t>Step 6 — Query every new document.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4.19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Print the insert results you saved, or query by SKU / customerNumber.</a:t>
            </a:r>
          </a:p>
          <a:p/>
          <a:p>
            <a:r>
              <a:t>Bullet 2 on the slide: Expected: You can name each new _id.</a:t>
            </a:r>
          </a:p>
          <a:p/>
          <a:p>
            <a:r>
              <a:t>Bullet 3 on the slide: Do: find the products, customer, and order.</a:t>
            </a:r>
          </a:p>
          <a:p/>
          <a:p>
            <a:r>
              <a:t>Bullet 4 on the slide: Expected: All four (or more) documents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Correct inconsistent types.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4.19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If any price was a number or string, $set it to Decimal128 and re-query $type.</a:t>
            </a:r>
          </a:p>
          <a:p/>
          <a:p>
            <a:r>
              <a:t>Bullet 2 on the slide: Expected: New money fields are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4.20 — Lab 4.6 Update Operations Lab.</a:t>
            </a:r>
          </a:p>
          <a:p/>
          <a:p>
            <a:r>
              <a:t>The slide title is: Exercise 4.20 — Lab 4.6 Update Operations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Preview–update–result–verify for each operator.</a:t>
            </a:r>
          </a:p>
          <a:p/>
          <a:p>
            <a:r>
              <a:t>Bullet 3 on the slide: Lab guide: [Exercise 4.20](../slide-exercises/module-04/exercise-4.20-lab-update-operations.md).</a:t>
            </a:r>
          </a:p>
          <a:p/>
          <a:p>
            <a:r>
              <a:t>The figure on this slide is titled: Lab 4.6 Update Operations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4.20 — Lab 4.6 Update Operations Lab. We have about 30 min for this lab.</a:t>
            </a:r>
          </a:p>
          <a:p/>
          <a:p>
            <a:r>
              <a:t>Practice $set, $unset, $inc, $min, $max, $rename, nested updates, and updateMany with the preview-update-verify loop.</a:t>
            </a:r>
          </a:p>
          <a:p/>
          <a:p>
            <a:r>
              <a:t>The full lab guide is in slide-exercises/module-04/exercise-4.20-lab-update-operations.md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Preview + $set.</a:t>
            </a:r>
          </a:p>
          <a:p/>
          <a:p>
            <a:r>
              <a:t>Step 2 — $unset.</a:t>
            </a:r>
          </a:p>
          <a:p/>
          <a:p>
            <a:r>
              <a:t>Step 3 — $inc.</a:t>
            </a:r>
          </a:p>
          <a:p/>
          <a:p>
            <a:r>
              <a:t>Step 1 — Preview + $set.</a:t>
            </a:r>
          </a:p>
          <a:p/>
          <a:p>
            <a:r>
              <a:t>Step 2 — $unset.</a:t>
            </a:r>
          </a:p>
          <a:p/>
          <a:p>
            <a:r>
              <a:t>Step 3 — $inc.</a:t>
            </a:r>
          </a:p>
          <a:p/>
          <a:p>
            <a:r>
              <a:t>Step 1 — Preview + $set.</a:t>
            </a:r>
          </a:p>
          <a:p/>
          <a:p>
            <a:r>
              <a:t>Step 2 — $unset.</a:t>
            </a:r>
          </a:p>
          <a:p/>
          <a:p>
            <a:r>
              <a:t>Step 3 — $inc.</a:t>
            </a:r>
          </a:p>
          <a:p/>
          <a:p>
            <a:r>
              <a:t>Step 1 — Preview + $set.</a:t>
            </a:r>
          </a:p>
          <a:p/>
          <a:p>
            <a:r>
              <a:t>Step 2 — $unset.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4.20 — Steps 1–2.</a:t>
            </a:r>
          </a:p>
          <a:p/>
          <a:p>
            <a:r>
              <a:t>The slide says: Lab guide: [Exercise 4.20](../slide-exercises/module-04/exercise-4.20-lab-update-operations.md).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2 — $unset.</a:t>
            </a:r>
          </a:p>
          <a:p/>
          <a:p>
            <a:r>
              <a:t>Step 3 — $inc.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Step 2 — $unset.</a:t>
            </a:r>
          </a:p>
          <a:p/>
          <a:p>
            <a:r>
              <a:t>Step 3 — $inc.</a:t>
            </a:r>
          </a:p>
          <a:p/>
          <a:p>
            <a:r>
              <a:t>Step 2 — $unset.</a:t>
            </a:r>
          </a:p>
          <a:p/>
          <a:p>
            <a:r>
              <a:t>Step 3 — $inc.</a:t>
            </a:r>
          </a:p>
          <a:p/>
          <a:p>
            <a:r>
              <a:t>Step 2 — $unset.</a:t>
            </a:r>
          </a:p>
          <a:p/>
          <a:p>
            <a:r>
              <a:t>Bullet 1 on the slide: Do: Preview { sku: "A600" } if you created it (otherwise use A110). $set featured: true and updatedAt. Inspect the write result and findOne.</a:t>
            </a:r>
          </a:p>
          <a:p/>
          <a:p>
            <a:r>
              <a:t>Bullet 2 on the slide: Expected: Four-part loop completed: preview, update, result, verify.</a:t>
            </a:r>
          </a:p>
          <a:p/>
          <a:p>
            <a:r>
              <a:t>Bullet 3 on the slide: Do: Add temporaryNote with $set, verify, then $unset it.</a:t>
            </a:r>
          </a:p>
          <a:p/>
          <a:p>
            <a:r>
              <a:t>Bullet 4 on the slide: Expected: Field is present after set and absent after unset.</a:t>
            </a:r>
          </a:p>
          <a:p/>
          <a:p>
            <a:r>
              <a:t>Bullet 5 on the slide: Do: $inc stockQuantity by 3 on that product.</a:t>
            </a:r>
          </a:p>
          <a:p/>
          <a:p>
            <a:r>
              <a:t>Bullet 6 on the slide: Expected: Quantity increased by exactly 3.</a:t>
            </a:r>
          </a:p>
          <a:p/>
          <a:p>
            <a:r>
              <a:t>Bullet 7 on the slide: Do: Preview { sku: "A600" } if you created it (otherwise use A110). $set featured: true and updatedAt. Inspect the write result and findOne.</a:t>
            </a:r>
          </a:p>
          <a:p/>
          <a:p>
            <a:r>
              <a:t>Bullet 8 on the slide: Expected: Four-part loop completed: preview, update, result, verify.</a:t>
            </a:r>
          </a:p>
          <a:p/>
          <a:p>
            <a:r>
              <a:t>Bullet 9 on the slide: Do: Add temporaryNote with $set, verify, then $unset it.</a:t>
            </a:r>
          </a:p>
          <a:p/>
          <a:p>
            <a:r>
              <a:t>Bullet 10 on the slide: Expected: Field is present after set and absent after unset.</a:t>
            </a:r>
          </a:p>
          <a:p/>
          <a:p>
            <a:r>
              <a:t>Bullet 11 on the slide: Do: $inc stockQuantity by 3 on that product.</a:t>
            </a:r>
          </a:p>
          <a:p/>
          <a:p>
            <a:r>
              <a:t>Bullet 12 on the slide: Expected: Quantity increased by exactly 3.</a:t>
            </a:r>
          </a:p>
          <a:p/>
          <a:p>
            <a:r>
              <a:t>Bullet 13 on the slide: Do: Preview { sku: "A600" } if you created it (otherwise use A110). $set featured: true and updatedAt. Inspect the write result and findOne.</a:t>
            </a:r>
          </a:p>
          <a:p/>
          <a:p>
            <a:r>
              <a:t>Bullet 14 on the slide: Expected: Four-part loop completed: preview, update, result, verify.</a:t>
            </a:r>
          </a:p>
          <a:p/>
          <a:p>
            <a:r>
              <a:t>Bullet 15 on the slide: Do: Add temporaryNote with $set, verify, then $unset it.</a:t>
            </a:r>
          </a:p>
          <a:p/>
          <a:p>
            <a:r>
              <a:t>Bullet 16 on the slide: Expected: Field is present after set and absent after unset.</a:t>
            </a:r>
          </a:p>
          <a:p/>
          <a:p>
            <a:r>
              <a:t>Bullet 17 on the slide: Do: $inc stockQuantity by 3 on that product.</a:t>
            </a:r>
          </a:p>
          <a:p/>
          <a:p>
            <a:r>
              <a:t>Bullet 18 on the slide: Expected: Quantity increased by exactly 3.</a:t>
            </a:r>
          </a:p>
          <a:p/>
          <a:p>
            <a:r>
              <a:t>Bullet 19 on the slide: Do: Preview { sku: "A600" } if you created it (otherwise use A110). $set featured: true and updatedAt. Inspect the write result and findOne.</a:t>
            </a:r>
          </a:p>
          <a:p/>
          <a:p>
            <a:r>
              <a:t>Bullet 20 on the slide: Expected: Four-part loop completed: preview, update, result, verify.</a:t>
            </a:r>
          </a:p>
          <a:p/>
          <a:p>
            <a:r>
              <a:t>Bullet 21 on the slide: Do: Add temporaryNote with $set, verify, then $unset it.</a:t>
            </a:r>
          </a:p>
          <a:p/>
          <a:p>
            <a:r>
              <a:t>Bullet 22 on the slide: Expected: Field is present after set and absent after unset.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$inc.</a:t>
            </a:r>
          </a:p>
          <a:p/>
          <a:p>
            <a:r>
              <a:t>Step 4 — $min and $max.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4.20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$inc.</a:t>
            </a:r>
          </a:p>
          <a:p/>
          <a:p>
            <a:r>
              <a:t>Bullet 1 on the slide: Do: $inc stockQuantity by 3 on that product.</a:t>
            </a:r>
          </a:p>
          <a:p/>
          <a:p>
            <a:r>
              <a:t>Bullet 2 on the slide: Expected: Quantity increased by exactly 3.</a:t>
            </a:r>
          </a:p>
          <a:p/>
          <a:p>
            <a:r>
              <a:t>Bullet 3 on the slide: Do: On the same product, $min a lowestPrice of 40.00 and $max a highestPrice of 50.00 (use Decimal128). Run twice if needed.</a:t>
            </a:r>
          </a:p>
          <a:p/>
          <a:p>
            <a:r>
              <a:t>Bullet 4 on the slide: Expected: $min only lowers; $max only raises. Second run may yield modifiedCount: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$rename leftover.</a:t>
            </a:r>
          </a:p>
          <a:p/>
          <a:p>
            <a:r>
              <a:t>Step 6 — Nested-field update.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4.20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If L190 still has legacyName, $rename it to catalogName. If already renamed, matchedCount may be 0.</a:t>
            </a:r>
          </a:p>
          <a:p/>
          <a:p>
            <a:r>
              <a:t>Bullet 2 on the slide: Expected: No document remains with legacyName.</a:t>
            </a:r>
          </a:p>
          <a:p/>
          <a:p>
            <a:r>
              <a:t>Bullet 3 on the slide: Do: $set "contact.email" for C310 to a new address, without replacing contact.</a:t>
            </a:r>
          </a:p>
          <a:p/>
          <a:p>
            <a:r>
              <a:t>Bullet 4 on the slide: Expected: phone on C310 is still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updateMany with preview.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4.20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Preview { category: "ACCESSORY", active: true }, count, then $set taxable: true. Check matchedCount.</a:t>
            </a:r>
          </a:p>
          <a:p/>
          <a:p>
            <a:r>
              <a:t>Bullet 2 on the slide: Expected: Count from preview equals matchedCount. You did not use {}.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4.21 — Lab 4.7 Array Manipulation Lab.</a:t>
            </a:r>
          </a:p>
          <a:p/>
          <a:p>
            <a:r>
              <a:t>The slide title is: Exercise 4.21 — Lab 4.7 Array Manipulation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 min.</a:t>
            </a:r>
          </a:p>
          <a:p/>
          <a:p>
            <a:r>
              <a:t>Bullet 2 on the slide: Tags plus positional and arrayFilters on orders.</a:t>
            </a:r>
          </a:p>
          <a:p/>
          <a:p>
            <a:r>
              <a:t>Bullet 3 on the slide: Lab guide: [Exercise 4.21](../slide-exercises/module-04/exercise-4.21-lab-array-manipulation.md).</a:t>
            </a:r>
          </a:p>
          <a:p/>
          <a:p>
            <a:r>
              <a:t>The figure on this slide is titled: Lab 4.7 Array Manipulation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4.21 — Lab 4.7 Array Manipulation Lab. We have about 30 min for this lab.</a:t>
            </a:r>
          </a:p>
          <a:p/>
          <a:p>
            <a:r>
              <a:t>Add, unique-add, batch-add, and remove tags; update one, all, and filtered array elements on an order.</a:t>
            </a:r>
          </a:p>
          <a:p/>
          <a:p>
            <a:r>
              <a:t>The full lab guide is in slide-exercises/module-04/exercise-4.21-lab-array-manipulation.md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$push a tag.</a:t>
            </a:r>
          </a:p>
          <a:p/>
          <a:p>
            <a:r>
              <a:t>Step 2 — $addToSet.</a:t>
            </a:r>
          </a:p>
          <a:p/>
          <a:p>
            <a:r>
              <a:t>Step 3 — $each.</a:t>
            </a:r>
          </a:p>
          <a:p/>
          <a:p>
            <a:r>
              <a:t>Step 1 — $push a tag.</a:t>
            </a:r>
          </a:p>
          <a:p/>
          <a:p>
            <a:r>
              <a:t>Step 2 — $addToSet.</a:t>
            </a:r>
          </a:p>
          <a:p/>
          <a:p>
            <a:r>
              <a:t>Step 3 — $each.</a:t>
            </a:r>
          </a:p>
          <a:p/>
          <a:p>
            <a:r>
              <a:t>Step 1 — $push a tag.</a:t>
            </a:r>
          </a:p>
          <a:p/>
          <a:p>
            <a:r>
              <a:t>Step 2 — $addToSet.</a:t>
            </a:r>
          </a:p>
          <a:p/>
          <a:p>
            <a:r>
              <a:t>Step 3 — $each.</a:t>
            </a:r>
          </a:p>
          <a:p/>
          <a:p>
            <a:r>
              <a:t>Step 1 — $push a tag.</a:t>
            </a:r>
          </a:p>
          <a:p/>
          <a:p>
            <a:r>
              <a:t>Step 2 — $addToSet.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4.21 — Steps 1–2.</a:t>
            </a:r>
          </a:p>
          <a:p/>
          <a:p>
            <a:r>
              <a:t>The slide says: Lab guide: [Exercise 4.21](../slide-exercises/module-04/exercise-4.21-lab-array-manipulation.md).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2 — $addToSet.</a:t>
            </a:r>
          </a:p>
          <a:p/>
          <a:p>
            <a:r>
              <a:t>Step 3 — $each.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Step 2 — $addToSet.</a:t>
            </a:r>
          </a:p>
          <a:p/>
          <a:p>
            <a:r>
              <a:t>Step 3 — $each.</a:t>
            </a:r>
          </a:p>
          <a:p/>
          <a:p>
            <a:r>
              <a:t>Step 2 — $addToSet.</a:t>
            </a:r>
          </a:p>
          <a:p/>
          <a:p>
            <a:r>
              <a:t>Step 3 — $each.</a:t>
            </a:r>
          </a:p>
          <a:p/>
          <a:p>
            <a:r>
              <a:t>Step 2 — $addToSet.</a:t>
            </a:r>
          </a:p>
          <a:p/>
          <a:p>
            <a:r>
              <a:t>Bullet 1 on the slide: Do: $push "clearance" onto A110.</a:t>
            </a:r>
          </a:p>
          <a:p/>
          <a:p>
            <a:r>
              <a:t>Bullet 2 on the slide: Expected: Array gains clearance even if you run it twice (duplicates).</a:t>
            </a:r>
          </a:p>
          <a:p/>
          <a:p>
            <a:r>
              <a:t>Bullet 3 on the slide: Do: $addToSet "office" on A110. Run twice.</a:t>
            </a:r>
          </a:p>
          <a:p/>
          <a:p>
            <a:r>
              <a:t>Bullet 4 on the slide: Expected: Second run does not duplicate office.</a:t>
            </a:r>
          </a:p>
          <a:p/>
          <a:p>
            <a:r>
              <a:t>Bullet 5 on the slide: Do: $addToSet with $each for portable and featured.</a:t>
            </a:r>
          </a:p>
          <a:p/>
          <a:p>
            <a:r>
              <a:t>Bullet 6 on the slide: Expected: Both values present once.</a:t>
            </a:r>
          </a:p>
          <a:p/>
          <a:p>
            <a:r>
              <a:t>Bullet 7 on the slide: Do: $push "clearance" onto A110.</a:t>
            </a:r>
          </a:p>
          <a:p/>
          <a:p>
            <a:r>
              <a:t>Bullet 8 on the slide: Expected: Array gains clearance even if you run it twice (duplicates).</a:t>
            </a:r>
          </a:p>
          <a:p/>
          <a:p>
            <a:r>
              <a:t>Bullet 9 on the slide: Do: $addToSet "office" on A110. Run twice.</a:t>
            </a:r>
          </a:p>
          <a:p/>
          <a:p>
            <a:r>
              <a:t>Bullet 10 on the slide: Expected: Second run does not duplicate office.</a:t>
            </a:r>
          </a:p>
          <a:p/>
          <a:p>
            <a:r>
              <a:t>Bullet 11 on the slide: Do: $addToSet with $each for portable and featured.</a:t>
            </a:r>
          </a:p>
          <a:p/>
          <a:p>
            <a:r>
              <a:t>Bullet 12 on the slide: Expected: Both values present once.</a:t>
            </a:r>
          </a:p>
          <a:p/>
          <a:p>
            <a:r>
              <a:t>Bullet 13 on the slide: Do: $push "clearance" onto A110.</a:t>
            </a:r>
          </a:p>
          <a:p/>
          <a:p>
            <a:r>
              <a:t>Bullet 14 on the slide: Expected: Array gains clearance even if you run it twice (duplicates).</a:t>
            </a:r>
          </a:p>
          <a:p/>
          <a:p>
            <a:r>
              <a:t>Bullet 15 on the slide: Do: $addToSet "office" on A110. Run twice.</a:t>
            </a:r>
          </a:p>
          <a:p/>
          <a:p>
            <a:r>
              <a:t>Bullet 16 on the slide: Expected: Second run does not duplicate office.</a:t>
            </a:r>
          </a:p>
          <a:p/>
          <a:p>
            <a:r>
              <a:t>Bullet 17 on the slide: Do: $addToSet with $each for portable and featured.</a:t>
            </a:r>
          </a:p>
          <a:p/>
          <a:p>
            <a:r>
              <a:t>Bullet 18 on the slide: Expected: Both values present once.</a:t>
            </a:r>
          </a:p>
          <a:p/>
          <a:p>
            <a:r>
              <a:t>Bullet 19 on the slide: Do: $push "clearance" onto A110.</a:t>
            </a:r>
          </a:p>
          <a:p/>
          <a:p>
            <a:r>
              <a:t>Bullet 20 on the slide: Expected: Array gains clearance even if you run it twice (duplicates).</a:t>
            </a:r>
          </a:p>
          <a:p/>
          <a:p>
            <a:r>
              <a:t>Bullet 21 on the slide: Do: $addToSet "office" on A110. Run twice.</a:t>
            </a:r>
          </a:p>
          <a:p/>
          <a:p>
            <a:r>
              <a:t>Bullet 22 on the slide: Expected: Second run does not duplicate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$each.</a:t>
            </a:r>
          </a:p>
          <a:p/>
          <a:p>
            <a:r>
              <a:t>Step 4 — $pull.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4.21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Step 3 — $each.</a:t>
            </a:r>
          </a:p>
          <a:p/>
          <a:p>
            <a:r>
              <a:t>Step 4 — $pull.</a:t>
            </a:r>
          </a:p>
          <a:p/>
          <a:p>
            <a:r>
              <a:t>Bullet 1 on the slide: Do: $addToSet with $each for portable and featured.</a:t>
            </a:r>
          </a:p>
          <a:p/>
          <a:p>
            <a:r>
              <a:t>Bullet 2 on the slide: Expected: Both values present once.</a:t>
            </a:r>
          </a:p>
          <a:p/>
          <a:p>
            <a:r>
              <a:t>Bullet 3 on the slide: Do: $pull "clearance" from A110.</a:t>
            </a:r>
          </a:p>
          <a:p/>
          <a:p>
            <a:r>
              <a:t>Bullet 4 on the slide: Expected: No clearance values remain (all duplicates removed).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Positional $.</a:t>
            </a:r>
          </a:p>
          <a:p/>
          <a:p>
            <a:r>
              <a:t>Step 6 — All elements $[].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4.21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On O5001, match "items.sku": "A410" and $set "items.$.quantity" to 4.</a:t>
            </a:r>
          </a:p>
          <a:p/>
          <a:p>
            <a:r>
              <a:t>Bullet 2 on the slide: Expected: Only the mouse line changes.</a:t>
            </a:r>
          </a:p>
          <a:p/>
          <a:p>
            <a:r>
              <a:t>Bullet 3 on the slide: Do: $set "items.$[].reviewed": true on O5001.</a:t>
            </a:r>
          </a:p>
          <a:p/>
          <a:p>
            <a:r>
              <a:t>Bullet 4 on the slide: Expected: Every line item has reviewed: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arrayFilters.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4.21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On O5001, $set "items.$[item].discounted": true with arrayFilters: [ { "item.unitPrice": { $gte: Decimal128("100.00") } } ].</a:t>
            </a:r>
          </a:p>
          <a:p/>
          <a:p>
            <a:r>
              <a:t>Bullet 2 on the slide: Expected: The L100 line is discounted; the cheaper mouse line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4.22 — Lab 4.8 Replace and Upsert Lab.</a:t>
            </a:r>
          </a:p>
          <a:p/>
          <a:p>
            <a:r>
              <a:t>The slide title is: Exercise 4.22 — Lab 4.8 Replace and Upsert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Copy, $set, replaceOne, upsert twice.</a:t>
            </a:r>
          </a:p>
          <a:p/>
          <a:p>
            <a:r>
              <a:t>Bullet 3 on the slide: Lab guide: [Exercise 4.22](../slide-exercises/module-04/exercise-4.22-lab-replace-and-upsert.md).</a:t>
            </a:r>
          </a:p>
          <a:p/>
          <a:p>
            <a:r>
              <a:t>The figure on this slide is titled: Lab 4.8 Replace and Upsert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4.22 — Lab 4.8 Replace and Upsert Lab. We have about 20 min for this lab.</a:t>
            </a:r>
          </a:p>
          <a:p/>
          <a:p>
            <a:r>
              <a:t>Compare $set, replaceOne, and a repeated upsert on a copied test document.</a:t>
            </a:r>
          </a:p>
          <a:p/>
          <a:p>
            <a:r>
              <a:t>The full lab guide is in slide-exercises/module-04/exercise-4.22-lab-replace-and-upsert.md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Copy a test document.</a:t>
            </a:r>
          </a:p>
          <a:p/>
          <a:p>
            <a:r>
              <a:t>Step 2 — Update selected fields with $set.</a:t>
            </a:r>
          </a:p>
          <a:p/>
          <a:p>
            <a:r>
              <a:t>Step 3 — Replace the copied document.</a:t>
            </a:r>
          </a:p>
          <a:p/>
          <a:p>
            <a:r>
              <a:t>Step 1 — Copy a test document.</a:t>
            </a:r>
          </a:p>
          <a:p/>
          <a:p>
            <a:r>
              <a:t>Step 2 — Update selected fields with $set.</a:t>
            </a:r>
          </a:p>
          <a:p/>
          <a:p>
            <a:r>
              <a:t>Step 3 — Replace the copied document.</a:t>
            </a:r>
          </a:p>
          <a:p/>
          <a:p>
            <a:r>
              <a:t>Step 1 — Copy a test document.</a:t>
            </a:r>
          </a:p>
          <a:p/>
          <a:p>
            <a:r>
              <a:t>Step 2 — Update selected fields with $set.</a:t>
            </a:r>
          </a:p>
          <a:p/>
          <a:p>
            <a:r>
              <a:t>Step 3 — Replace the copied document.</a:t>
            </a:r>
          </a:p>
          <a:p/>
          <a:p>
            <a:r>
              <a:t>Step 1 — Copy a test document.</a:t>
            </a:r>
          </a:p>
          <a:p/>
          <a:p>
            <a:r>
              <a:t>Step 2 — Update selected fields with $set.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4.22 — Steps 1–2.</a:t>
            </a:r>
          </a:p>
          <a:p/>
          <a:p>
            <a:r>
              <a:t>The slide says: Lab guide: [Exercise 4.22](../slide-exercises/module-04/exercise-4.22-lab-replace-and-upsert.md).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Insert a copy of A410 as sku TEMP-200 (new _id). Include extra field notes: "lab copy".</a:t>
            </a:r>
          </a:p>
          <a:p/>
          <a:p>
            <a:r>
              <a:t>Bullet 2 on the slide: Expected: TEMP-200 exists with notes.</a:t>
            </a:r>
          </a:p>
          <a:p/>
          <a:p>
            <a:r>
              <a:t>Bullet 3 on the slide: Do: $set price and featured on TEMP-200. Then findOne.</a:t>
            </a:r>
          </a:p>
          <a:p/>
          <a:p>
            <a:r>
              <a:t>Bullet 4 on the slide: Expected: notes and tags still exist.</a:t>
            </a:r>
          </a:p>
          <a:p/>
          <a:p>
            <a:r>
              <a:t>Bullet 5 on the slide: Do: replaceOne TEMP-200 with a document that has sku, name, category, price, active, updatedAt only.</a:t>
            </a:r>
          </a:p>
          <a:p/>
          <a:p>
            <a:r>
              <a:t>Bullet 6 on the slide: Expected: notes, tags, and other omitted fields disappear. _id remains.</a:t>
            </a:r>
          </a:p>
          <a:p/>
          <a:p>
            <a:r>
              <a:t>Bullet 7 on the slide: Do: Insert a copy of A410 as sku TEMP-200 (new _id). Include extra field notes: "lab copy".</a:t>
            </a:r>
          </a:p>
          <a:p/>
          <a:p>
            <a:r>
              <a:t>Bullet 8 on the slide: Expected: TEMP-200 exists with notes.</a:t>
            </a:r>
          </a:p>
          <a:p/>
          <a:p>
            <a:r>
              <a:t>Bullet 9 on the slide: Do: $set price and featured on TEMP-200. Then findOne.</a:t>
            </a:r>
          </a:p>
          <a:p/>
          <a:p>
            <a:r>
              <a:t>Bullet 10 on the slide: Expected: notes and tags still exist.</a:t>
            </a:r>
          </a:p>
          <a:p/>
          <a:p>
            <a:r>
              <a:t>Bullet 11 on the slide: Do: replaceOne TEMP-200 with a document that has sku, name, category, price, active, updatedAt only.</a:t>
            </a:r>
          </a:p>
          <a:p/>
          <a:p>
            <a:r>
              <a:t>Bullet 12 on the slide: Expected: notes, tags, and other omitted fields disappear. _id remains.</a:t>
            </a:r>
          </a:p>
          <a:p/>
          <a:p>
            <a:r>
              <a:t>Bullet 13 on the slide: Do: Insert a copy of A410 as sku TEMP-200 (new _id). Include extra field notes: "lab copy".</a:t>
            </a:r>
          </a:p>
          <a:p/>
          <a:p>
            <a:r>
              <a:t>Bullet 14 on the slide: Expected: TEMP-200 exists with notes.</a:t>
            </a:r>
          </a:p>
          <a:p/>
          <a:p>
            <a:r>
              <a:t>Bullet 15 on the slide: Do: $set price and featured on TEMP-200. Then findOne.</a:t>
            </a:r>
          </a:p>
          <a:p/>
          <a:p>
            <a:r>
              <a:t>Bullet 16 on the slide: Expected: notes and tags still exist.</a:t>
            </a:r>
          </a:p>
          <a:p/>
          <a:p>
            <a:r>
              <a:t>Bullet 17 on the slide: Do: replaceOne TEMP-200 with a document that has sku, name, category, price, active, updatedAt only.</a:t>
            </a:r>
          </a:p>
          <a:p/>
          <a:p>
            <a:r>
              <a:t>Bullet 18 on the slide: Expected: notes, tags, and other omitted fields disappear. _id remains.</a:t>
            </a:r>
          </a:p>
          <a:p/>
          <a:p>
            <a:r>
              <a:t>Bullet 19 on the slide: Do: Insert a copy of A410 as sku TEMP-200 (new _id). Include extra field notes: "lab copy".</a:t>
            </a:r>
          </a:p>
          <a:p/>
          <a:p>
            <a:r>
              <a:t>Bullet 20 on the slide: Expected: TEMP-200 exists with notes.</a:t>
            </a:r>
          </a:p>
          <a:p/>
          <a:p>
            <a:r>
              <a:t>Bullet 21 on the slide: Do: $set price and featured on TEMP-200. Then findOne.</a:t>
            </a:r>
          </a:p>
          <a:p/>
          <a:p>
            <a:r>
              <a:t>Bullet 22 on the slide: Expected: notes and tags still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Replace the copied document.</a:t>
            </a:r>
          </a:p>
          <a:p/>
          <a:p>
            <a:r>
              <a:t>Step 4 — Compare $set vs replaceOne.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4.22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replaceOne TEMP-200 with a document that has sku, name, category, price, active, updatedAt only.</a:t>
            </a:r>
          </a:p>
          <a:p/>
          <a:p>
            <a:r>
              <a:t>Bullet 2 on the slide: Expected: notes, tags, and other omitted fields disappear. _id remains.</a:t>
            </a:r>
          </a:p>
          <a:p/>
          <a:p>
            <a:r>
              <a:t>Bullet 3 on the slide: Do: Write two bullets describing remaining fields after each operation.</a:t>
            </a:r>
          </a:p>
          <a:p/>
          <a:p>
            <a:r>
              <a:t>Bullet 4 on the slide: Expected: You can explain that replace is not a partial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Perform an upsert.</a:t>
            </a:r>
          </a:p>
          <a:p/>
          <a:p>
            <a:r>
              <a:t>Step 6 — Run the same upsert again.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4.22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updateOne { sku: "A700" } with $set + $setOnInsert and upsert: true.</a:t>
            </a:r>
          </a:p>
          <a:p/>
          <a:p>
            <a:r>
              <a:t>Bullet 2 on the slide: Expected: First run returns upsertedId.</a:t>
            </a:r>
          </a:p>
          <a:p/>
          <a:p>
            <a:r>
              <a:t>Bullet 3 on the slide: Do: Repeat Step 5.</a:t>
            </a:r>
          </a:p>
          <a:p/>
          <a:p>
            <a:r>
              <a:t>Bullet 4 on the slide: Expected: No new upsertedId. createdAt unchanged if it was in $setOnInsert.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Compare insert and update outcomes.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4.22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Record both write results in your notes.</a:t>
            </a:r>
          </a:p>
          <a:p/>
          <a:p>
            <a:r>
              <a:t>Bullet 2 on the slide: Expected: You can distinguish insert-via-upsert from update-via-upsert.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4.23 — Lab 4.9 Delete Operations Lab.</a:t>
            </a:r>
          </a:p>
          <a:p/>
          <a:p>
            <a:r>
              <a:t>The slide title is: Exercise 4.23 — Lab 4.9 Delete Operations Lab.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20 min.</a:t>
            </a:r>
          </a:p>
          <a:p/>
          <a:p>
            <a:r>
              <a:t>Bullet 2 on the slide: TEMP- records only. Preview, count, delete, verify.</a:t>
            </a:r>
          </a:p>
          <a:p/>
          <a:p>
            <a:r>
              <a:t>Bullet 3 on the slide: Lab guide: [Exercise 4.23](../slide-exercises/module-04/exercise-4.23-lab-delete-operations.md).</a:t>
            </a:r>
          </a:p>
          <a:p/>
          <a:p>
            <a:r>
              <a:t>The figure on this slide is titled: Lab 4.9 Delete Operations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4.23 — Lab 4.9 Delete Operations Lab. We have about 20 min for this lab.</a:t>
            </a:r>
          </a:p>
          <a:p/>
          <a:p>
            <a:r>
              <a:t>Delete only temporary lab records using a preview-count-delete-verify sequence.</a:t>
            </a:r>
          </a:p>
          <a:p/>
          <a:p>
            <a:r>
              <a:t>The full lab guide is in slide-exercises/module-04/exercise-4.23-lab-delete-operations.md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Insert temporary documents.</a:t>
            </a:r>
          </a:p>
          <a:p/>
          <a:p>
            <a:r>
              <a:t>Step 2 — Build a precise deletion filter.</a:t>
            </a:r>
          </a:p>
          <a:p/>
          <a:p>
            <a:r>
              <a:t>Step 3 — Preview matches.</a:t>
            </a:r>
          </a:p>
          <a:p/>
          <a:p>
            <a:r>
              <a:t>Step 1 — Insert temporary documents.</a:t>
            </a:r>
          </a:p>
          <a:p/>
          <a:p>
            <a:r>
              <a:t>Step 2 — Build a precise deletion filter.</a:t>
            </a:r>
          </a:p>
          <a:p/>
          <a:p>
            <a:r>
              <a:t>Step 3 — Preview matches.</a:t>
            </a:r>
          </a:p>
          <a:p/>
          <a:p>
            <a:r>
              <a:t>Step 1 — Insert temporary documents.</a:t>
            </a:r>
          </a:p>
          <a:p/>
          <a:p>
            <a:r>
              <a:t>Step 2 — Build a precise deletion filter.</a:t>
            </a:r>
          </a:p>
          <a:p/>
          <a:p>
            <a:r>
              <a:t>Step 3 — Preview matches.</a:t>
            </a:r>
          </a:p>
          <a:p/>
          <a:p>
            <a:r>
              <a:t>Step 1 — Insert temporary documents.</a:t>
            </a:r>
          </a:p>
          <a:p/>
          <a:p>
            <a:r>
              <a:t>Step 2 — Build a precise deletion filter.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4.23 — Steps 1–2.</a:t>
            </a:r>
          </a:p>
          <a:p/>
          <a:p>
            <a:r>
              <a:t>The slide says: Lab guide: [Exercise 4.23](../slide-exercises/module-04/exercise-4.23-lab-delete-operations.md).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insertMany products TEMP-100 and TEMP-101 with labTag: "module4" plus a throwaway order TEMP-O1.</a:t>
            </a:r>
          </a:p>
          <a:p/>
          <a:p>
            <a:r>
              <a:t>Bullet 2 on the slide: Expected: Two products and one order exist for this lab only.</a:t>
            </a:r>
          </a:p>
          <a:p/>
          <a:p>
            <a:r>
              <a:t>Bullet 3 on the slide: Do: Use { sku: /^TEMP-/ } or { labTag: "module4" } — not {}.</a:t>
            </a:r>
          </a:p>
          <a:p/>
          <a:p>
            <a:r>
              <a:t>Bullet 4 on the slide: Expected: The filter cannot match L100 or production-like SKUs.</a:t>
            </a:r>
          </a:p>
          <a:p/>
          <a:p>
            <a:r>
              <a:t>Bullet 5 on the slide: Do: find(filter) on products.</a:t>
            </a:r>
          </a:p>
          <a:p/>
          <a:p>
            <a:r>
              <a:t>Bullet 6 on the slide: Expected: Only TEMP-100 and TEMP-101.</a:t>
            </a:r>
          </a:p>
          <a:p/>
          <a:p>
            <a:r>
              <a:t>Bullet 7 on the slide: Do: insertMany products TEMP-100 and TEMP-101 with labTag: "module4" plus a throwaway order TEMP-O1.</a:t>
            </a:r>
          </a:p>
          <a:p/>
          <a:p>
            <a:r>
              <a:t>Bullet 8 on the slide: Expected: Two products and one order exist for this lab only.</a:t>
            </a:r>
          </a:p>
          <a:p/>
          <a:p>
            <a:r>
              <a:t>Bullet 9 on the slide: Do: Use { sku: /^TEMP-/ } or { labTag: "module4" } — not {}.</a:t>
            </a:r>
          </a:p>
          <a:p/>
          <a:p>
            <a:r>
              <a:t>Bullet 10 on the slide: Expected: The filter cannot match L100 or production-like SKUs.</a:t>
            </a:r>
          </a:p>
          <a:p/>
          <a:p>
            <a:r>
              <a:t>Bullet 11 on the slide: Do: find(filter) on products.</a:t>
            </a:r>
          </a:p>
          <a:p/>
          <a:p>
            <a:r>
              <a:t>Bullet 12 on the slide: Expected: Only TEMP-100 and TEMP-101.</a:t>
            </a:r>
          </a:p>
          <a:p/>
          <a:p>
            <a:r>
              <a:t>Bullet 13 on the slide: Do: insertMany products TEMP-100 and TEMP-101 with labTag: "module4" plus a throwaway order TEMP-O1.</a:t>
            </a:r>
          </a:p>
          <a:p/>
          <a:p>
            <a:r>
              <a:t>Bullet 14 on the slide: Expected: Two products and one order exist for this lab only.</a:t>
            </a:r>
          </a:p>
          <a:p/>
          <a:p>
            <a:r>
              <a:t>Bullet 15 on the slide: Do: Use { sku: /^TEMP-/ } or { labTag: "module4" } — not {}.</a:t>
            </a:r>
          </a:p>
          <a:p/>
          <a:p>
            <a:r>
              <a:t>Bullet 16 on the slide: Expected: The filter cannot match L100 or production-like SKUs.</a:t>
            </a:r>
          </a:p>
          <a:p/>
          <a:p>
            <a:r>
              <a:t>Bullet 17 on the slide: Do: find(filter) on products.</a:t>
            </a:r>
          </a:p>
          <a:p/>
          <a:p>
            <a:r>
              <a:t>Bullet 18 on the slide: Expected: Only TEMP-100 and TEMP-101.</a:t>
            </a:r>
          </a:p>
          <a:p/>
          <a:p>
            <a:r>
              <a:t>Bullet 19 on the slide: Do: insertMany products TEMP-100 and TEMP-101 with labTag: "module4" plus a throwaway order TEMP-O1.</a:t>
            </a:r>
          </a:p>
          <a:p/>
          <a:p>
            <a:r>
              <a:t>Bullet 20 on the slide: Expected: Two products and one order exist for this lab only.</a:t>
            </a:r>
          </a:p>
          <a:p/>
          <a:p>
            <a:r>
              <a:t>Bullet 21 on the slide: Do: Use { sku: /^TEMP-/ } or { labTag: "module4" } — not {}.</a:t>
            </a:r>
          </a:p>
          <a:p/>
          <a:p>
            <a:r>
              <a:t>Bullet 22 on the slide: Expected: The filter cannot match L100 or production-like SKUs.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Preview matches.</a:t>
            </a:r>
          </a:p>
          <a:p/>
          <a:p>
            <a:r>
              <a:t>Step 4 — Count matches.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4.23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find(filter) on products.</a:t>
            </a:r>
          </a:p>
          <a:p/>
          <a:p>
            <a:r>
              <a:t>Bullet 2 on the slide: Expected: Only TEMP-100 and TEMP-101.</a:t>
            </a:r>
          </a:p>
          <a:p/>
          <a:p>
            <a:r>
              <a:t>Bullet 3 on the slide: Do: countDocuments(filter).</a:t>
            </a:r>
          </a:p>
          <a:p/>
          <a:p>
            <a:r>
              <a:t>Bullet 4 on the slide: Expected: Count is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Delete one document.</a:t>
            </a:r>
          </a:p>
          <a:p/>
          <a:p>
            <a:r>
              <a:t>Step 6 — Delete multiple temporary documents.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4.23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deleteOne { sku: "TEMP-100" }. Inspect deletedCount.</a:t>
            </a:r>
          </a:p>
          <a:p/>
          <a:p>
            <a:r>
              <a:t>Bullet 2 on the slide: Expected: deletedCount: 1. TEMP-101 remains.</a:t>
            </a:r>
          </a:p>
          <a:p/>
          <a:p>
            <a:r>
              <a:t>Bullet 3 on the slide: Do: deleteMany with the remaining TEMP filter. Then delete the throwaway order by orderNumber.</a:t>
            </a:r>
          </a:p>
          <a:p/>
          <a:p>
            <a:r>
              <a:t>Bullet 4 on the slide: Expected: deletedCount matches the preview of what was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7–8.</a:t>
            </a:r>
          </a:p>
          <a:p/>
          <a:p>
            <a:r>
              <a:t>Step 7 — Inspect deletedCount.</a:t>
            </a:r>
          </a:p>
          <a:p/>
          <a:p>
            <a:r>
              <a:t>Step 8 — Verify no unintended removals.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4.23 — Steps 7–8.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Record both delete results.</a:t>
            </a:r>
          </a:p>
          <a:p/>
          <a:p>
            <a:r>
              <a:t>Bullet 2 on the slide: Expected: Sums equal the documents you intended to remove.</a:t>
            </a:r>
          </a:p>
          <a:p/>
          <a:p>
            <a:r>
              <a:t>Bullet 3 on the slide: Do: countDocuments on products; findOne L100 and O5001.</a:t>
            </a:r>
          </a:p>
          <a:p/>
          <a:p>
            <a:r>
              <a:t>Bullet 4 on the slide: Expected: Catalog SKUs and real orders remain. Reloading load.js restores a clean set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4.24 — Lab 4.10 Integrated CRUD Challenge.</a:t>
            </a:r>
          </a:p>
          <a:p/>
          <a:p>
            <a:r>
              <a:t>The slide title is: Exercise 4.24 — Lab 4.10 Integrated CRUD Challenge.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45 min.</a:t>
            </a:r>
          </a:p>
          <a:p/>
          <a:p>
            <a:r>
              <a:t>Bullet 2 on the slide: New product, customer, order, status, soft-delete.</a:t>
            </a:r>
          </a:p>
          <a:p/>
          <a:p>
            <a:r>
              <a:t>Bullet 3 on the slide: Lab guide: [Exercise 4.24](../slide-exercises/module-04/exercise-4.24-lab-integrated-crud-challenge.md).</a:t>
            </a:r>
          </a:p>
          <a:p/>
          <a:p>
            <a:r>
              <a:t>The figure on this slide is titled: Lab 4.10 Integrated CRUD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4.24 — Lab 4.10 Integrated CRUD Challenge. We have about 45 min for this lab.</a:t>
            </a:r>
          </a:p>
          <a:p/>
          <a:p>
            <a:r>
              <a:t>Walk a store scenario from new product through order updates to a verified soft-delete.</a:t>
            </a:r>
          </a:p>
          <a:p/>
          <a:p>
            <a:r>
              <a:t>The full lab guide is in slide-exercises/module-04/exercise-4.24-lab-integrated-crud-challenge.md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Insert the product.</a:t>
            </a:r>
          </a:p>
          <a:p/>
          <a:p>
            <a:r>
              <a:t>Step 2 — Verify the product.</a:t>
            </a:r>
          </a:p>
          <a:p/>
          <a:p>
            <a:r>
              <a:t>Step 3 — Add unique tags.</a:t>
            </a:r>
          </a:p>
          <a:p/>
          <a:p>
            <a:r>
              <a:t>Step 1 — Insert the product.</a:t>
            </a:r>
          </a:p>
          <a:p/>
          <a:p>
            <a:r>
              <a:t>Step 2 — Verify the product.</a:t>
            </a:r>
          </a:p>
          <a:p/>
          <a:p>
            <a:r>
              <a:t>Step 3 — Add unique tags.</a:t>
            </a:r>
          </a:p>
          <a:p/>
          <a:p>
            <a:r>
              <a:t>Step 1 — Insert the product.</a:t>
            </a:r>
          </a:p>
          <a:p/>
          <a:p>
            <a:r>
              <a:t>Step 2 — Verify the product.</a:t>
            </a:r>
          </a:p>
          <a:p/>
          <a:p>
            <a:r>
              <a:t>Step 3 — Add unique tags.</a:t>
            </a:r>
          </a:p>
          <a:p/>
          <a:p>
            <a:r>
              <a:t>Step 1 — Insert the product.</a:t>
            </a:r>
          </a:p>
          <a:p/>
          <a:p>
            <a:r>
              <a:t>Step 2 — Verify the product.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Steps 1–2.</a:t>
            </a:r>
          </a:p>
          <a:p/>
          <a:p>
            <a:r>
              <a:t>The slide says: Lab guide: [Exercise 4.24](../slide-exercises/module-04/exercise-4.24-lab-integrated-crud-challenge.md).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Insert sku A800, name "Magnetic Charger", ACCESSORY, Decimal128 34.99, stockQuantity 10, active true.</a:t>
            </a:r>
          </a:p>
          <a:p/>
          <a:p>
            <a:r>
              <a:t>Bullet 2 on the slide: Expected: findOne by sku succeeds.</a:t>
            </a:r>
          </a:p>
          <a:p/>
          <a:p>
            <a:r>
              <a:t>Bullet 3 on the slide: Do: Project sku, name, price, stockQuantity.</a:t>
            </a:r>
          </a:p>
          <a:p/>
          <a:p>
            <a:r>
              <a:t>Bullet 4 on the slide: Expected: Types: decimal price, int stock.</a:t>
            </a:r>
          </a:p>
          <a:p/>
          <a:p>
            <a:r>
              <a:t>Bullet 5 on the slide: Do: $addToSet $each ["usb-c", "featured", "accessory"].</a:t>
            </a:r>
          </a:p>
          <a:p/>
          <a:p>
            <a:r>
              <a:t>Bullet 6 on the slide: Expected: No duplicates if a tag already existed.</a:t>
            </a:r>
          </a:p>
          <a:p/>
          <a:p>
            <a:r>
              <a:t>Bullet 7 on the slide: Do: Insert sku A800, name "Magnetic Charger", ACCESSORY, Decimal128 34.99, stockQuantity 10, active true.</a:t>
            </a:r>
          </a:p>
          <a:p/>
          <a:p>
            <a:r>
              <a:t>Bullet 8 on the slide: Expected: findOne by sku succeeds.</a:t>
            </a:r>
          </a:p>
          <a:p/>
          <a:p>
            <a:r>
              <a:t>Bullet 9 on the slide: Do: Project sku, name, price, stockQuantity.</a:t>
            </a:r>
          </a:p>
          <a:p/>
          <a:p>
            <a:r>
              <a:t>Bullet 10 on the slide: Expected: Types: decimal price, int stock.</a:t>
            </a:r>
          </a:p>
          <a:p/>
          <a:p>
            <a:r>
              <a:t>Bullet 11 on the slide: Do: $addToSet $each ["usb-c", "featured", "accessory"].</a:t>
            </a:r>
          </a:p>
          <a:p/>
          <a:p>
            <a:r>
              <a:t>Bullet 12 on the slide: Expected: No duplicates if a tag already existed.</a:t>
            </a:r>
          </a:p>
          <a:p/>
          <a:p>
            <a:r>
              <a:t>Bullet 13 on the slide: Do: Insert sku A800, name "Magnetic Charger", ACCESSORY, Decimal128 34.99, stockQuantity 10, active true.</a:t>
            </a:r>
          </a:p>
          <a:p/>
          <a:p>
            <a:r>
              <a:t>Bullet 14 on the slide: Expected: findOne by sku succeeds.</a:t>
            </a:r>
          </a:p>
          <a:p/>
          <a:p>
            <a:r>
              <a:t>Bullet 15 on the slide: Do: Project sku, name, price, stockQuantity.</a:t>
            </a:r>
          </a:p>
          <a:p/>
          <a:p>
            <a:r>
              <a:t>Bullet 16 on the slide: Expected: Types: decimal price, int stock.</a:t>
            </a:r>
          </a:p>
          <a:p/>
          <a:p>
            <a:r>
              <a:t>Bullet 17 on the slide: Do: $addToSet $each ["usb-c", "featured", "accessory"].</a:t>
            </a:r>
          </a:p>
          <a:p/>
          <a:p>
            <a:r>
              <a:t>Bullet 18 on the slide: Expected: No duplicates if a tag already existed.</a:t>
            </a:r>
          </a:p>
          <a:p/>
          <a:p>
            <a:r>
              <a:t>Bullet 19 on the slide: Do: Insert sku A800, name "Magnetic Charger", ACCESSORY, Decimal128 34.99, stockQuantity 10, active true.</a:t>
            </a:r>
          </a:p>
          <a:p/>
          <a:p>
            <a:r>
              <a:t>Bullet 20 on the slide: Expected: findOne by sku succeeds.</a:t>
            </a:r>
          </a:p>
          <a:p/>
          <a:p>
            <a:r>
              <a:t>Bullet 21 on the slide: Do: Project sku, name, price, stockQuantity.</a:t>
            </a:r>
          </a:p>
          <a:p/>
          <a:p>
            <a:r>
              <a:t>Bullet 22 on the slide: Expected: Types: decimal price, int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Add unique tags.</a:t>
            </a:r>
          </a:p>
          <a:p/>
          <a:p>
            <a:r>
              <a:t>Step 4 — Increase inventory.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$addToSet $each ["usb-c", "featured", "accessory"].</a:t>
            </a:r>
          </a:p>
          <a:p/>
          <a:p>
            <a:r>
              <a:t>Bullet 2 on the slide: Expected: No duplicates if a tag already existed.</a:t>
            </a:r>
          </a:p>
          <a:p/>
          <a:p>
            <a:r>
              <a:t>Bullet 3 on the slide: Do: $inc stockQuantity by 15.</a:t>
            </a:r>
          </a:p>
          <a:p/>
          <a:p>
            <a:r>
              <a:t>Bullet 4 on the slide: Expected: Stock is 25 on a first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Create a customer.</a:t>
            </a:r>
          </a:p>
          <a:p/>
          <a:p>
            <a:r>
              <a:t>Step 6 — Add a shipping address.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C801 with nested name/contact and status ACTIVE.</a:t>
            </a:r>
          </a:p>
          <a:p/>
          <a:p>
            <a:r>
              <a:t>Bullet 2 on the slide: Expected: findOne by customerNumber.</a:t>
            </a:r>
          </a:p>
          <a:p/>
          <a:p>
            <a:r>
              <a:t>Bullet 3 on the slide: Do: $push an address { type: "shipping", city: "Montreal", country: "Canada" }.</a:t>
            </a:r>
          </a:p>
          <a:p/>
          <a:p>
            <a:r>
              <a:t>Bullet 4 on the slide: Expected: addresses is an array with Montreal.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7–8.</a:t>
            </a:r>
          </a:p>
          <a:p/>
          <a:p>
            <a:r>
              <a:t>Step 7 — Create an order containing the product.</a:t>
            </a:r>
          </a:p>
          <a:p/>
          <a:p>
            <a:r>
              <a:t>Step 8 — Update the order status.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Steps 7–8.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O5800 with snapshot of C801 and one item A800 qty 1, status NEW, Decimal128 total.</a:t>
            </a:r>
          </a:p>
          <a:p/>
          <a:p>
            <a:r>
              <a:t>Bullet 2 on the slide: Expected: Order exists with embedded item.</a:t>
            </a:r>
          </a:p>
          <a:p/>
          <a:p>
            <a:r>
              <a:t>Bullet 3 on the slide: Do: $set status "PROCESSING" and $push statuses "PROCESSING" (or $addToSet).</a:t>
            </a:r>
          </a:p>
          <a:p/>
          <a:p>
            <a:r>
              <a:t>Bullet 4 on the slide: Expected: Status is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9–10.</a:t>
            </a:r>
          </a:p>
          <a:p/>
          <a:p>
            <a:r>
              <a:t>Step 9 — Update the item quantity.</a:t>
            </a:r>
          </a:p>
          <a:p/>
          <a:p>
            <a:r>
              <a:t>Step 10 — Order summary projection.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Steps 9–10.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Positional $ set quantity to 2 and $set total to Decimal128("69.98").</a:t>
            </a:r>
          </a:p>
          <a:p/>
          <a:p>
            <a:r>
              <a:t>Bullet 2 on the slide: Expected: Line quantity and order total agree.</a:t>
            </a:r>
          </a:p>
          <a:p/>
          <a:p>
            <a:r>
              <a:t>Bullet 3 on the slide: Do: find O5800 projecting orderNumber, status, total, items.sku, items.quantity — no _id.</a:t>
            </a:r>
          </a:p>
          <a:p/>
          <a:p>
            <a:r>
              <a:t>Bullet 4 on the slide: Expected: Compact summary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11–12.</a:t>
            </a:r>
          </a:p>
          <a:p/>
          <a:p>
            <a:r>
              <a:t>Step 11 — Count the customer’s orders.</a:t>
            </a:r>
          </a:p>
          <a:p/>
          <a:p>
            <a:r>
              <a:t>Step 12 — Soft-delete the product.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Steps 11–12.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countDocuments { customerId: c801Id } after looking up C801.</a:t>
            </a:r>
          </a:p>
          <a:p/>
          <a:p>
            <a:r>
              <a:t>Bullet 2 on the slide: Expected: At least 1.</a:t>
            </a:r>
          </a:p>
          <a:p/>
          <a:p>
            <a:r>
              <a:t>Bullet 3 on the slide: Do: $set { active: false, deletedAt: new Date() } on A800 — do not deleteOne.</a:t>
            </a:r>
          </a:p>
          <a:p/>
          <a:p>
            <a:r>
              <a:t>Bullet 4 on the slide: Expected: Product still exists; active is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13.</a:t>
            </a:r>
          </a:p>
          <a:p/>
          <a:p>
            <a:r>
              <a:t>Step 13 — Verify all final documents.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4.24 — Step 13.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find customer C801, order O5800, product A800.</a:t>
            </a:r>
          </a:p>
          <a:p/>
          <a:p>
            <a:r>
              <a:t>Bullet 2 on the slide: Expected: All three exist. Product is inactive. Order is PROCESSING with qty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Module Summary.</a:t>
            </a:r>
          </a:p>
          <a:p/>
          <a:p>
            <a:r>
              <a:t>The slide title is: Module Summary.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Filters choose documents; projections choose fields.</a:t>
            </a:r>
          </a:p>
          <a:p/>
          <a:p>
            <a:r>
              <a:t>Bullet 2 on the slide: Dot notation for nested fields.</a:t>
            </a:r>
          </a:p>
          <a:p/>
          <a:p>
            <a:r>
              <a:t>Bullet 3 on the slide: $elemMatch for one array element.</a:t>
            </a:r>
          </a:p>
          <a:p/>
          <a:p>
            <a:r>
              <a:t>Bullet 4 on the slide: Update operators ≠ replaceOne.</a:t>
            </a:r>
          </a:p>
          <a:p/>
          <a:p>
            <a:r>
              <a:t>Bullet 5 on the slide: Upsert may insert; unique filter required.</a:t>
            </a:r>
          </a:p>
          <a:p/>
          <a:p>
            <a:r>
              <a:t>Bullet 6 on the slide: Verify every write.</a:t>
            </a:r>
          </a:p>
          <a:p/>
          <a:p>
            <a:r>
              <a:t>The figure on this slide is titled: Module 4 concept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Module Knowledge Check.</a:t>
            </a:r>
          </a:p>
          <a:p/>
          <a:p>
            <a:r>
              <a:t>The slide title is: Module Knowledge Check.</a:t>
            </a:r>
          </a:p>
          <a:p/>
          <a:p>
            <a:r>
              <a:t>The slide says: 1. findOne() vs find()?.</a:t>
            </a:r>
          </a:p>
          <a:p/>
          <a:p>
            <a:r>
              <a:t>The slide says: 2. What does {} match?.</a:t>
            </a:r>
          </a:p>
          <a:p/>
          <a:p>
            <a:r>
              <a:t>The slide says: 3. How do you query a nested field?.</a:t>
            </a:r>
          </a:p>
          <a:p/>
          <a:p>
            <a:r>
              <a:t>The slide says: 4. When is $elemMatch required?.</a:t>
            </a:r>
          </a:p>
          <a:p/>
          <a:p>
            <a:r>
              <a:t>The slide says: 5. Inclusion/exclusion projection rule?.</a:t>
            </a:r>
          </a:p>
          <a:p/>
          <a:p>
            <a:r>
              <a:t>The slide says: 6. $push vs $addToSet?.</a:t>
            </a:r>
          </a:p>
          <a:p/>
          <a:p>
            <a:r>
              <a:t>The slide says: 7. updateOne() vs replaceOne()?.</a:t>
            </a:r>
          </a:p>
          <a:p/>
          <a:p>
            <a:r>
              <a:t>The slide says: 8. What does upsert: true do?.</a:t>
            </a:r>
          </a:p>
          <a:p/>
          <a:p>
            <a:r>
              <a:t>The slide says: 9. matchedCount: 1, modifiedCount: 0?.</a:t>
            </a:r>
          </a:p>
          <a:p/>
          <a:p>
            <a:r>
              <a:t>The slide says: 10. Why preview a delete filter?.</a:t>
            </a:r>
          </a:p>
          <a:p/>
          <a:p>
            <a:r>
              <a:t>The slide says: 11. What does deleteMany({}) do?.</a:t>
            </a:r>
          </a:p>
          <a:p/>
          <a:p>
            <a:r>
              <a:t>The slide says: 12. Why prefer countDocuments()?.</a:t>
            </a:r>
          </a:p>
          <a:p/>
          <a:p>
            <a:r>
              <a:t>Number 1 on the slide: findOne() vs find()?.</a:t>
            </a:r>
          </a:p>
          <a:p/>
          <a:p>
            <a:r>
              <a:t>Number 2 on the slide: What does {} match?.</a:t>
            </a:r>
          </a:p>
          <a:p/>
          <a:p>
            <a:r>
              <a:t>Number 3 on the slide: How do you query a nested field?.</a:t>
            </a:r>
          </a:p>
          <a:p/>
          <a:p>
            <a:r>
              <a:t>Number 4 on the slide: When is $elemMatch required?.</a:t>
            </a:r>
          </a:p>
          <a:p/>
          <a:p>
            <a:r>
              <a:t>Number 5 on the slide: Inclusion/exclusion projection rule?.</a:t>
            </a:r>
          </a:p>
          <a:p/>
          <a:p>
            <a:r>
              <a:t>Number 6 on the slide: $push vs $addToSet?.</a:t>
            </a:r>
          </a:p>
          <a:p/>
          <a:p>
            <a:r>
              <a:t>Number 7 on the slide: updateOne() vs replaceOne()?.</a:t>
            </a:r>
          </a:p>
          <a:p/>
          <a:p>
            <a:r>
              <a:t>Number 8 on the slide: What does upsert: true do?.</a:t>
            </a:r>
          </a:p>
          <a:p/>
          <a:p>
            <a:r>
              <a:t>Number 9 on the slide: matchedCount: 1, modifiedCount: 0?.</a:t>
            </a:r>
          </a:p>
          <a:p/>
          <a:p>
            <a:r>
              <a:t>Number 10 on the slide: Why preview a delete filter?.</a:t>
            </a:r>
          </a:p>
          <a:p/>
          <a:p>
            <a:r>
              <a:t>Number 11 on the slide: What does deleteMany({}) do?.</a:t>
            </a:r>
          </a:p>
          <a:p/>
          <a:p>
            <a:r>
              <a:t>Number 12 on the slide: Why prefer countDocuments()?.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Exercise 4.25 — Module 4 Practical Challenge.</a:t>
            </a:r>
          </a:p>
          <a:p/>
          <a:p>
            <a:r>
              <a:t>The slide title is: Exercise 4.25 — Module 4 Practical Challenge.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Time: 30–45 min.</a:t>
            </a:r>
          </a:p>
          <a:p/>
          <a:p>
            <a:r>
              <a:t>Bullet 2 on the slide: Business requests: find+project, upsert, tags, inventory, order item, status, safe deactivate/delete. Deliver a script with evidence.</a:t>
            </a:r>
          </a:p>
          <a:p/>
          <a:p>
            <a:r>
              <a:t>Bullet 3 on the slide: Lab guide: [Exercise 4.25](../slide-exercises/module-04/exercise-4.25-practical-challenge.md).</a:t>
            </a:r>
          </a:p>
          <a:p/>
          <a:p>
            <a:r>
              <a:t>The figure on this slide is titled: Practical challenge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starting Exercise 4.25 — Module 4 Practical Challenge. We have about 30–45 min for this lab.</a:t>
            </a:r>
          </a:p>
          <a:p/>
          <a:p>
            <a:r>
              <a:t>Turn business requests into a verified query script with safety controls.</a:t>
            </a:r>
          </a:p>
          <a:p/>
          <a:p>
            <a:r>
              <a:t>The full lab guide is in slide-exercises/module-04/exercise-4.25-practical-challenge.md if you need extra detail.</a:t>
            </a:r>
          </a:p>
          <a:p/>
          <a:p>
            <a:r>
              <a:t>On Windows: PowerShell in the integrated terminal — Ctrl+backtick — and the Agent panel — Ctrl+I. Open the repo folder with File → Open Folder.</a:t>
            </a:r>
          </a:p>
          <a:p/>
          <a:p>
            <a:r>
              <a:t>Step 1 — Find and project.</a:t>
            </a:r>
          </a:p>
          <a:p/>
          <a:p>
            <a:r>
              <a:t>Step 2 — Upsert a product.</a:t>
            </a:r>
          </a:p>
          <a:p/>
          <a:p>
            <a:r>
              <a:t>Step 3 — Unique tags and inventory.</a:t>
            </a:r>
          </a:p>
          <a:p/>
          <a:p>
            <a:r>
              <a:t>Step 1 — Find and project.</a:t>
            </a:r>
          </a:p>
          <a:p/>
          <a:p>
            <a:r>
              <a:t>Step 2 — Upsert a product.</a:t>
            </a:r>
          </a:p>
          <a:p/>
          <a:p>
            <a:r>
              <a:t>Step 3 — Unique tags and inventory.</a:t>
            </a:r>
          </a:p>
          <a:p/>
          <a:p>
            <a:r>
              <a:t>Step 1 — Find and project.</a:t>
            </a:r>
          </a:p>
          <a:p/>
          <a:p>
            <a:r>
              <a:t>Step 2 — Upsert a product.</a:t>
            </a:r>
          </a:p>
          <a:p/>
          <a:p>
            <a:r>
              <a:t>Step 3 — Unique tags and inventory.</a:t>
            </a:r>
          </a:p>
          <a:p/>
          <a:p>
            <a:r>
              <a:t>Step 1 — Find and project.</a:t>
            </a:r>
          </a:p>
          <a:p/>
          <a:p>
            <a:r>
              <a:t>Step 2 — Upsert a product.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4.25 — Steps 1–2.</a:t>
            </a:r>
          </a:p>
          <a:p/>
          <a:p>
            <a:r>
              <a:t>The slide says: Lab guide: [Exercise 4.25](../slide-exercises/module-04/exercise-4.25-practical-challenge.md).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The slide says: _Full lab guide with every command: see Lab guide on the lesson divider slide._.</a:t>
            </a:r>
          </a:p>
          <a:p/>
          <a:p>
            <a:r>
              <a:t>Bullet 1 on the slide: Do: Find active products priced below Decimal128("80.00"). Project name, category, price, no _id. Record the count.</a:t>
            </a:r>
          </a:p>
          <a:p/>
          <a:p>
            <a:r>
              <a:t>Bullet 2 on the slide: Expected: A saved query plus the list you got.</a:t>
            </a:r>
          </a:p>
          <a:p/>
          <a:p>
            <a:r>
              <a:t>Bullet 3 on the slide: Do: Upsert sku A900 (or a SKU the instructor assigns) with $set + $setOnInsert createdAt.</a:t>
            </a:r>
          </a:p>
          <a:p/>
          <a:p>
            <a:r>
              <a:t>Bullet 4 on the slide: Expected: Write result shows insert or update depending on prior labs.</a:t>
            </a:r>
          </a:p>
          <a:p/>
          <a:p>
            <a:r>
              <a:t>Bullet 5 on the slide: Do: $addToSet two tags; $inc stockQuantity.</a:t>
            </a:r>
          </a:p>
          <a:p/>
          <a:p>
            <a:r>
              <a:t>Bullet 6 on the slide: Expected: modifiedCount interpreted correctly on a second run.</a:t>
            </a:r>
          </a:p>
          <a:p/>
          <a:p>
            <a:r>
              <a:t>Bullet 7 on the slide: Do: Find active products priced below Decimal128("80.00"). Project name, category, price, no _id. Record the count.</a:t>
            </a:r>
          </a:p>
          <a:p/>
          <a:p>
            <a:r>
              <a:t>Bullet 8 on the slide: Expected: A saved query plus the list you got.</a:t>
            </a:r>
          </a:p>
          <a:p/>
          <a:p>
            <a:r>
              <a:t>Bullet 9 on the slide: Do: Upsert sku A900 (or a SKU the instructor assigns) with $set + $setOnInsert createdAt.</a:t>
            </a:r>
          </a:p>
          <a:p/>
          <a:p>
            <a:r>
              <a:t>Bullet 10 on the slide: Expected: Write result shows insert or update depending on prior labs.</a:t>
            </a:r>
          </a:p>
          <a:p/>
          <a:p>
            <a:r>
              <a:t>Bullet 11 on the slide: Do: $addToSet two tags; $inc stockQuantity.</a:t>
            </a:r>
          </a:p>
          <a:p/>
          <a:p>
            <a:r>
              <a:t>Bullet 12 on the slide: Expected: modifiedCount interpreted correctly on a second run.</a:t>
            </a:r>
          </a:p>
          <a:p/>
          <a:p>
            <a:r>
              <a:t>Bullet 13 on the slide: Do: Find active products priced below Decimal128("80.00"). Project name, category, price, no _id. Record the count.</a:t>
            </a:r>
          </a:p>
          <a:p/>
          <a:p>
            <a:r>
              <a:t>Bullet 14 on the slide: Expected: A saved query plus the list you got.</a:t>
            </a:r>
          </a:p>
          <a:p/>
          <a:p>
            <a:r>
              <a:t>Bullet 15 on the slide: Do: Upsert sku A900 (or a SKU the instructor assigns) with $set + $setOnInsert createdAt.</a:t>
            </a:r>
          </a:p>
          <a:p/>
          <a:p>
            <a:r>
              <a:t>Bullet 16 on the slide: Expected: Write result shows insert or update depending on prior labs.</a:t>
            </a:r>
          </a:p>
          <a:p/>
          <a:p>
            <a:r>
              <a:t>Bullet 17 on the slide: Do: $addToSet two tags; $inc stockQuantity.</a:t>
            </a:r>
          </a:p>
          <a:p/>
          <a:p>
            <a:r>
              <a:t>Bullet 18 on the slide: Expected: modifiedCount interpreted correctly on a second run.</a:t>
            </a:r>
          </a:p>
          <a:p/>
          <a:p>
            <a:r>
              <a:t>Bullet 19 on the slide: Do: Find active products priced below Decimal128("80.00"). Project name, category, price, no _id. Record the count.</a:t>
            </a:r>
          </a:p>
          <a:p/>
          <a:p>
            <a:r>
              <a:t>Bullet 20 on the slide: Expected: A saved query plus the list you got.</a:t>
            </a:r>
          </a:p>
          <a:p/>
          <a:p>
            <a:r>
              <a:t>Bullet 21 on the slide: Do: Upsert sku A900 (or a SKU the instructor assigns) with $set + $setOnInsert createdAt.</a:t>
            </a:r>
          </a:p>
          <a:p/>
          <a:p>
            <a:r>
              <a:t>Bullet 22 on the slide: Expected: Write result shows insert or update depending on prior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3–4.</a:t>
            </a:r>
          </a:p>
          <a:p/>
          <a:p>
            <a:r>
              <a:t>Step 3 — Unique tags and inventory.</a:t>
            </a:r>
          </a:p>
          <a:p/>
          <a:p>
            <a:r>
              <a:t>Step 4 — Find orders containing a product.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4.25 — Steps 3–4.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$addToSet two tags; $inc stockQuantity.</a:t>
            </a:r>
          </a:p>
          <a:p/>
          <a:p>
            <a:r>
              <a:t>Bullet 2 on the slide: Expected: modifiedCount interpreted correctly on a second run.</a:t>
            </a:r>
          </a:p>
          <a:p/>
          <a:p>
            <a:r>
              <a:t>Bullet 3 on the slide: Do: Query items.sku for L100 (or the new SKU if ordered).</a:t>
            </a:r>
          </a:p>
          <a:p/>
          <a:p>
            <a:r>
              <a:t>Bullet 4 on the slide: Expected: Matching order numbers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Steps 5–6.</a:t>
            </a:r>
          </a:p>
          <a:p/>
          <a:p>
            <a:r>
              <a:t>Step 5 — Update matching item quantity and order status.</a:t>
            </a:r>
          </a:p>
          <a:p/>
          <a:p>
            <a:r>
              <a:t>Step 6 — Deactivate discontinued and remove test orders.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4.25 — Steps 5–6.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Use $elemMatch or positional $ to change quantity; $set status from NEW to PROCESSING on a test order only.</a:t>
            </a:r>
          </a:p>
          <a:p/>
          <a:p>
            <a:r>
              <a:t>Bullet 2 on the slide: Expected: You previewed the order filter first.</a:t>
            </a:r>
          </a:p>
          <a:p/>
          <a:p>
            <a:r>
              <a:t>Bullet 3 on the slide: Do: updateMany discontinued → active false after preview. deleteMany only TEMP- or lab order numbers after count.</a:t>
            </a:r>
          </a:p>
          <a:p/>
          <a:p>
            <a:r>
              <a:t>Bullet 4 on the slide: Expected: Safety controls are written beside each write: filter, count, deletedCount.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Step 7.</a:t>
            </a:r>
          </a:p>
          <a:p/>
          <a:p>
            <a:r>
              <a:t>Step 7 — Assemble the deliverable.</a:t>
            </a:r>
          </a:p>
          <a:p/>
          <a:p>
            <a:r>
              <a:t>I'll give you a few minutes to work — raise your hand if you get stuck.</a:t>
            </a:r>
          </a:p>
          <a:p/>
          <a:p>
            <a:r>
              <a:t>The slide title is: Exercise 4.25 — Step 7.</a:t>
            </a:r>
          </a:p>
          <a:p/>
          <a:p>
            <a:r>
              <a:t>The slide says: Follow along (Windows) — key steps:.</a:t>
            </a:r>
          </a:p>
          <a:p/>
          <a:p>
            <a:r>
              <a:t>Bullet 1 on the slide: Do: One mongosh script, expected results, write counts, before/after evidence, and a short safety paragraph.</a:t>
            </a:r>
          </a:p>
          <a:p/>
          <a:p>
            <a:r>
              <a:t>Bullet 2 on the slide: Expected: A teammate could replay the script on a reloaded training_store.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look at Module 4 Exit Ticket.</a:t>
            </a:r>
          </a:p>
          <a:p/>
          <a:p>
            <a:r>
              <a:t>The slide title is: Module 4 Exit Ticket.</a:t>
            </a:r>
          </a:p>
          <a:p/>
          <a:p>
            <a:r>
              <a:t>The slide says: Write answers in one sentence each:.</a:t>
            </a:r>
          </a:p>
          <a:p/>
          <a:p>
            <a:r>
              <a:t>The slide says: 1. One filter you would always preview before updateMany.</a:t>
            </a:r>
          </a:p>
          <a:p/>
          <a:p>
            <a:r>
              <a:t>The slide says: 2. Why O5001 fools a query without $elemMatch.</a:t>
            </a:r>
          </a:p>
          <a:p/>
          <a:p>
            <a:r>
              <a:t>The slide says: 3. One field you would never $set by replacing its parent object.</a:t>
            </a:r>
          </a:p>
          <a:p/>
          <a:p>
            <a:r>
              <a:t>The slide says: 4. What you check after every write.</a:t>
            </a:r>
          </a:p>
          <a:p/>
          <a:p>
            <a:r>
              <a:t>The slide says: Completion: retrieve with precise filters; query nested arrays; project, sort, paginate; insert/update/replace/upsert; delete TEMP records safely; read write results.</a:t>
            </a:r>
          </a:p>
          <a:p/>
          <a:p>
            <a:r>
              <a:t>Number 1 on the slide: One filter you would always preview before updateMany.</a:t>
            </a:r>
          </a:p>
          <a:p/>
          <a:p>
            <a:r>
              <a:t>Number 2 on the slide: Why O5001 fools a query without $elemMatch.</a:t>
            </a:r>
          </a:p>
          <a:p/>
          <a:p>
            <a:r>
              <a:t>Number 3 on the slide: One field you would never $set by replacing its parent object.</a:t>
            </a:r>
          </a:p>
          <a:p/>
          <a:p>
            <a:r>
              <a:t>Number 4 on the slide: What you check after every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Module Completion Checklist.</a:t>
            </a:r>
          </a:p>
          <a:p/>
          <a:p>
            <a:r>
              <a:t>The slide title is: Module Completion Checklist.</a:t>
            </a:r>
          </a:p>
          <a:p/>
          <a:p>
            <a:r>
              <a:t>The slide says: Participants can:.</a:t>
            </a:r>
          </a:p>
          <a:p/>
          <a:p>
            <a:r>
              <a:t>Bullet 1 on the slide: [ ] Combine comparison and logical operators.</a:t>
            </a:r>
          </a:p>
          <a:p/>
          <a:p>
            <a:r>
              <a:t>Bullet 2 on the slide: [ ] Query nested fields and arrays with $elemMatch.</a:t>
            </a:r>
          </a:p>
          <a:p/>
          <a:p>
            <a:r>
              <a:t>Bullet 3 on the slide: [ ] Shape results with projections, sort, skip, limit.</a:t>
            </a:r>
          </a:p>
          <a:p/>
          <a:p>
            <a:r>
              <a:t>Bullet 4 on the slide: [ ] countDocuments and distinct.</a:t>
            </a:r>
          </a:p>
          <a:p/>
          <a:p>
            <a:r>
              <a:t>Bullet 5 on the slide: [ ] Insert one and many; verify ids and types.</a:t>
            </a:r>
          </a:p>
          <a:p/>
          <a:p>
            <a:r>
              <a:t>Bullet 6 on the slide: [ ] Update scalar, nested, and array fields.</a:t>
            </a:r>
          </a:p>
          <a:p/>
          <a:p>
            <a:r>
              <a:t>Bullet 7 on the slide: [ ] Replace and upsert without losing fields accidentally.</a:t>
            </a:r>
          </a:p>
          <a:p/>
          <a:p>
            <a:r>
              <a:t>Bullet 8 on the slide: [ ] Delete only intended test records.</a:t>
            </a:r>
          </a:p>
          <a:p/>
          <a:p>
            <a:r>
              <a:t>Bullet 9 on the slide: [ ] Interpret matchedCount / modifiedCount / deletedCount.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Questions and Answers.</a:t>
            </a:r>
          </a:p>
          <a:p/>
          <a:p>
            <a:r>
              <a:t>The slide title is: Questions and Answers.</a:t>
            </a:r>
          </a:p>
          <a:p/>
          <a:p>
            <a:r>
              <a:t>The slide says: Open floor.</a:t>
            </a:r>
          </a:p>
          <a:p/>
          <a:p>
            <a:r>
              <a:t>The slide says: Parking-lot prompts if the room is quiet:.</a:t>
            </a:r>
          </a:p>
          <a:p/>
          <a:p>
            <a:r>
              <a:t>The slide says: Capture unanswered items for Module 5–6.</a:t>
            </a:r>
          </a:p>
          <a:p/>
          <a:p>
            <a:r>
              <a:t>Bullet 1 on the slide: How would you page products after the 10,000th document?.</a:t>
            </a:r>
          </a:p>
          <a:p/>
          <a:p>
            <a:r>
              <a:t>Bullet 2 on the slide: When is a transaction required for an order update?.</a:t>
            </a:r>
          </a:p>
          <a:p/>
          <a:p>
            <a:r>
              <a:t>Bullet 3 on the slide: Should reviews stay a separate collection?.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includes a diagram — Day 2 Review — Query Fluency.</a:t>
            </a:r>
          </a:p>
          <a:p/>
          <a:p>
            <a:r>
              <a:t>The slide title is: Day 2 Review — Query Fluency.</a:t>
            </a:r>
          </a:p>
          <a:p/>
          <a:p>
            <a:r>
              <a:t>The slide says: &lt;div class="cols"&gt;.</a:t>
            </a:r>
          </a:p>
          <a:p/>
          <a:p>
            <a:r>
              <a:t>The slide says: &lt;div class="col-text"&gt;.</a:t>
            </a:r>
          </a:p>
          <a:p/>
          <a:p>
            <a:r>
              <a:t>The slide says: &lt;/div&gt;.</a:t>
            </a:r>
          </a:p>
          <a:p/>
          <a:p>
            <a:r>
              <a:t>The slide says: &lt;div class="col-visual"&gt;.</a:t>
            </a:r>
          </a:p>
          <a:p/>
          <a:p>
            <a:r>
              <a:t>Bullet 1 on the slide: Translate a business question into a filter.</a:t>
            </a:r>
          </a:p>
          <a:p/>
          <a:p>
            <a:r>
              <a:t>Bullet 2 on the slide: Return only required fields.</a:t>
            </a:r>
          </a:p>
          <a:p/>
          <a:p>
            <a:r>
              <a:t>Bullet 3 on the slide: Safely modify application data.</a:t>
            </a:r>
          </a:p>
          <a:p/>
          <a:p>
            <a:r>
              <a:t>Bullet 4 on the slide: Work with embedded documents and arrays.</a:t>
            </a:r>
          </a:p>
          <a:p/>
          <a:p>
            <a:r>
              <a:t>Bullet 5 on the slide: Verify and troubleshoot results.</a:t>
            </a:r>
          </a:p>
          <a:p/>
          <a:p>
            <a:r>
              <a:t>The figure on this slide is titled: Filter project update verify path into Module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lists key points under Transition to Module 5: Aggregation Framework.</a:t>
            </a:r>
          </a:p>
          <a:p/>
          <a:p>
            <a:r>
              <a:t>The slide title is: Transition to Module 5: Aggregation Framework.</a:t>
            </a:r>
          </a:p>
          <a:p/>
          <a:p>
            <a:r>
              <a:t>The slide says: Module 5 builds on these query skills:.</a:t>
            </a:r>
          </a:p>
          <a:p/>
          <a:p>
            <a:r>
              <a:t>The slide says: Same training_store data. Reloading load.js is wise after today's writes.</a:t>
            </a:r>
          </a:p>
          <a:p/>
          <a:p>
            <a:r>
              <a:t>Bullet 1 on the slide: Pipeline structure.</a:t>
            </a:r>
          </a:p>
          <a:p/>
          <a:p>
            <a:r>
              <a:t>Bullet 2 on the slide: $match (you already think in filters).</a:t>
            </a:r>
          </a:p>
          <a:p/>
          <a:p>
            <a:r>
              <a:t>Bullet 3 on the slide: $project (you already think in projections).</a:t>
            </a:r>
          </a:p>
          <a:p/>
          <a:p>
            <a:r>
              <a:t>Bullet 4 on the slide: $group and accumulators.</a:t>
            </a:r>
          </a:p>
          <a:p/>
          <a:p>
            <a:r>
              <a:t>Bullet 5 on the slide: $sort · $limit.</a:t>
            </a:r>
          </a:p>
          <a:p/>
          <a:p>
            <a:r>
              <a:t>Bullet 6 on the slide: Calculated fields and array processing.</a:t>
            </a:r>
          </a:p>
          <a:p/>
          <a:p>
            <a:r>
              <a:t>Bullet 7 on the slide: Multi-stage analytical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The MongoDB Query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Document-shaped filters and updates — create, read, update, replace,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Basic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056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Comparison &amp; Logical Operators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5776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Querying Arrays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632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Update Operators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64624" y="4709160"/>
            <a:ext cx="2139696" cy="8229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4709160"/>
            <a:ext cx="2029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Nirmala UI"/>
              </a:rPr>
              <a:t>Safe Data Manipulation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MASTERING MONGODB  • 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3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3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5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YOU WILL BE ABLE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57716"/>
            <a:ext cx="11247120" cy="350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Write accurate query filters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Retrieve required fields with projections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Work with nested values and arrays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 valid documents and verify writes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Update scalar, nested, and array fields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Replace or upsert documents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Delete test records safely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Interpret write-operation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8970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97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714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7375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MongoDB Query Language, or MQL, provides commands for retrieving, filtering, projecting, updating and deleting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91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module continues with the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database and its collections: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492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Start by selecting the database: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19428"/>
            <a:ext cx="5550408" cy="7879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310868"/>
            <a:ext cx="5294376" cy="623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├── 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├── customers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├── orders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└──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219428"/>
            <a:ext cx="5550408" cy="7879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310868"/>
            <a:ext cx="5294376" cy="623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9853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985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8024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2582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retrieves all documents that match a filter.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5751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Retrieve all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97758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An empty filter means “match every document”: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2694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Retrieve products from one 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47630"/>
            <a:ext cx="184708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839070"/>
            <a:ext cx="1591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747630"/>
            <a:ext cx="184708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839070"/>
            <a:ext cx="159105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745956"/>
            <a:ext cx="7242810" cy="3622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55481"/>
            <a:ext cx="7223760" cy="36030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FIND()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Retrieve an exact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returns a cursor, which allows MongoDB to process the results without necessarily loading every matching document into memory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83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Format, sort and limit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8444"/>
            <a:ext cx="11247120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709884"/>
            <a:ext cx="10991088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64264"/>
            <a:ext cx="11247120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555704"/>
            <a:ext cx="10991088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sku: "ELEC-1001"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10084"/>
            <a:ext cx="11247120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401524"/>
            <a:ext cx="10991088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.sort({ price: -1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.limit(5)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FIND()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8751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875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692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5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Sort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1698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means ascending.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-1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means descending.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FINDONE()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2722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272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0893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272"/>
            <a:ext cx="3840480" cy="4682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returns a single matching document.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0970"/>
            <a:ext cx="384048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If no document matches, it returns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null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46264"/>
            <a:ext cx="3840480" cy="2838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11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 when: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21558"/>
            <a:ext cx="3840480" cy="944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The filter uses a unique field.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Only one document is required.</a:t>
            </a:r>
          </a:p>
          <a:p>
            <a:pPr>
              <a:spcBef>
                <a:spcPts val="0"/>
              </a:spcBef>
              <a:spcAft>
                <a:spcPts val="423"/>
              </a:spcAft>
            </a:pPr>
            <a:r>
              <a:rPr sz="11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100" b="0" i="0">
                <a:solidFill>
                  <a:srgbClr val="000000"/>
                </a:solidFill>
                <a:latin typeface="Nirmala UI"/>
              </a:rPr>
              <a:t>The application does not need a result cursor.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57524"/>
            <a:ext cx="384048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48964"/>
            <a:ext cx="358444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db.products.findOne({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sku: "ELEC-1001"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1035" y="1476829"/>
            <a:ext cx="7242809" cy="4160373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486354"/>
            <a:ext cx="7223759" cy="414132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COUNTING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4707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70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2878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31122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####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countDocuments()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1362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Count documents that match a filter: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629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Count every document accurately: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8653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####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estimatedDocumentCount()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6778"/>
            <a:ext cx="1847088" cy="9555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18218"/>
            <a:ext cx="1591056" cy="790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db.products.countDocuments({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026778"/>
            <a:ext cx="1847088" cy="9555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118218"/>
            <a:ext cx="1591056" cy="790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db.products.countDocuments({})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2097434"/>
            <a:ext cx="7242810" cy="2919164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06959"/>
            <a:ext cx="7223760" cy="290011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COUNTING DOCUMENTS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5609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014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Estimate the total number of documents using collection metadata: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02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method does not accept a query filter.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804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#### Legacy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count()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05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You may encounter older examples such as: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20674"/>
            <a:ext cx="5550408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12114"/>
            <a:ext cx="5294376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db.products.estimatedDocumentCount()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420674"/>
            <a:ext cx="5550408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12114"/>
            <a:ext cx="5294376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}).count()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COUNTING DOCUMENTS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875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875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5692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5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new code, prefer: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41698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countDocuments()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when accuracy or filtering is required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estimatedDocumentCount()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a fast approximate collection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DISTINCT()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distinct()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returns unique values for a particular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Retrieve distinct categories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Possible result: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Retrieve distinct values from filtered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db.products.distinct("category")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"Books",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DISTINCT()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0946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094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11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35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Retrieve distinct array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6364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documents contain: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37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operation returns unique tag values: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03910"/>
            <a:ext cx="11247120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595350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db.products.distinct(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"specifications.connection",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 category: "Electronics"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00022"/>
            <a:ext cx="11247120" cy="6537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491462"/>
            <a:ext cx="10991088" cy="489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tags: ["wireless", "mouse", "accessory"]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45258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236698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db.products.distinct("tags")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591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59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763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9966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Projection controls which fields appear in query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71727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The general syntax is: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Include selected fields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38801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MongoDB includes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by default: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0562"/>
            <a:ext cx="184708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82002"/>
            <a:ext cx="15910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db.collection.find(filter, projection)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490562"/>
            <a:ext cx="184708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582002"/>
            <a:ext cx="15910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2244416"/>
            <a:ext cx="7242809" cy="26252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53941"/>
            <a:ext cx="7223759" cy="26061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866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86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03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271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Exclude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explicitly: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Exclude selected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2980"/>
            <a:ext cx="11247120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874420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_id: ObjectId("..."),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name: "Wireless 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Decimal128("39.99"),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stock: 120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79092"/>
            <a:ext cx="11247120" cy="11064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770532"/>
            <a:ext cx="10991088" cy="941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76956"/>
            <a:ext cx="11247120" cy="9052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968396"/>
            <a:ext cx="10991088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specifications: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createdAt: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082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082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899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922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Inclusion and exclusion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240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Except 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inclusion and exclusion should not normally be mixed in the same basic projection.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678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Valid: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37944"/>
            <a:ext cx="555040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629384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 name: 1, price: 1, _id: 0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537944"/>
            <a:ext cx="5550408" cy="5486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629384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{ specifications: 0, createdAt: 0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8190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819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636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59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Avoid: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608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Project nested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062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Project the first matching array element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6350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67790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 name: 1, specifications: 0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976350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067790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"specifications.connection":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PROJECTION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857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0772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"addresses.type": "home"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firstName: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lastName: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"addresses.$":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COMPARISON QUERY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1038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Comparison operators are placed inside the field being evaluated: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3107"/>
            <a:ext cx="384048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Consolas"/>
              </a:rPr>
              <a:t>$eq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— equal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29942"/>
            <a:ext cx="3840480" cy="7371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The shorter form is equivalent: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58529"/>
            <a:ext cx="3840480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49969"/>
            <a:ext cx="3584448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field: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$operator: value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54057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945497"/>
            <a:ext cx="3584448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{ $eq: "Electronics"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48417"/>
            <a:ext cx="3840480" cy="5029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539857"/>
            <a:ext cx="3584448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1035" y="2087790"/>
            <a:ext cx="7242810" cy="2938451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97315"/>
            <a:ext cx="7223760" cy="2919401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COMPARISON QUERY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5609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5609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3781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014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not equal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1027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Be careful: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can also match documents where the field is missing.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804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$gt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greater than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505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$gte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greater than or equal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20674"/>
            <a:ext cx="5550408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12114"/>
            <a:ext cx="5294376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category: { $ne: "Books"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420674"/>
            <a:ext cx="5550408" cy="75438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512114"/>
            <a:ext cx="5294376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stock: { $gt: 50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COMPARISON QUERY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$lt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less than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$lte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less than or equal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30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Range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83164"/>
            <a:ext cx="11247120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374604"/>
            <a:ext cx="10991088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stock: { $gte: 75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29568"/>
            <a:ext cx="11247120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1008"/>
            <a:ext cx="10991088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price: { $lt: NumberDecimal("50.00")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75972"/>
            <a:ext cx="11247120" cy="85496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267412"/>
            <a:ext cx="10991088" cy="6903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price: { $lte: NumberDecimal("89.99")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COMPARISON QUERY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7652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7652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5823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6057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Multiple operators can be applied to the same field: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3070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means: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0083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$in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matches any listed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70966"/>
            <a:ext cx="11247120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662406"/>
            <a:ext cx="10991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$gte: NumberDecimal("40.00"),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$lte: NumberDecimal("100.00")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467078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558518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40.00 ≤ price ≤ 100.00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15718"/>
            <a:ext cx="11247120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107158"/>
            <a:ext cx="10991088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$in: ["Electronics", "Books"]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COMPARISON QUERY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6016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016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187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42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$in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behaves like an OR operation against one field.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434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$nin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matches none of the listed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447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Be careful: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$nin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can also match documents where the field does not exist.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54608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846048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$nin: ["Clothing", "Furniture"]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OTHER USEFUL QUERY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59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59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7630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9966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03503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Find documents containing a field: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3840480" cy="6603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Find documents where the field is missing: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07025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0562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82002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"specifications.rechargeable":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$exists: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490562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582002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"specifications.rechargeable":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$exists: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771337"/>
            <a:ext cx="7242809" cy="357135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80862"/>
            <a:ext cx="7223759" cy="355230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OTHER USEFUL QUERY OPERATORS — $REGEX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Find fields stored as a particular BSON 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Search strings using a regular expression: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option makes the search case-insensitive.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$type: "decimal"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$regex: "mouse",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$options: "i"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OTHER USEFUL QUERY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An unanchored, case-insensitive regular expression may be expensive on a large collection. Index and search design should be considered for production workloads.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1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Date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831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Using a half-open range—start inclusive and end exclusive—usually avoids problems with time components.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53724"/>
            <a:ext cx="11247120" cy="19110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45164"/>
            <a:ext cx="1099108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$gte: ISODate("2026-09-22T00:00:00Z"),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$lt: ISODate("2026-09-23T00:00:00Z")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7724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7724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8956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1292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Implicit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44829"/>
            <a:ext cx="3840480" cy="928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Multiple conditions in the same document are implicitly combined with AND: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4814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This means: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48351"/>
            <a:ext cx="384048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1888"/>
            <a:ext cx="184708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23328"/>
            <a:ext cx="159105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  stock: { $gt: 50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431888"/>
            <a:ext cx="1847088" cy="7376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523328"/>
            <a:ext cx="1591056" cy="573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category is Electronics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Consolas"/>
              </a:rPr>
              <a:t>stock is greater than 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941246"/>
            <a:ext cx="7242810" cy="3231539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50771"/>
            <a:ext cx="7223760" cy="321248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LOGICAL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3169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31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134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57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to supply conditions explicitly: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587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explicit form is especially useful when the same field must appear in separate expressions: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91284"/>
            <a:ext cx="5550408" cy="16093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782724"/>
            <a:ext cx="5294376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$and: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 stock: { $gt: 50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691284"/>
            <a:ext cx="5550408" cy="16093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782724"/>
            <a:ext cx="5294376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$and: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$gte: NumberDecimal("30.00")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$lte: NumberDecimal("100.00")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LOGICAL OPERATORS — $OR, $NOR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For simple range conditions, the compact form is preferable: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$or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matches documents satisfying at least one condition: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$nor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$gte: NumberDecimal("30.00"),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$lte: NumberDecimal("100.00")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$or: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 category: "Books"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 stock: { $lt: 50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LOGICAL OPERATORS — $NOT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$nor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matches documents that fail every listed condition: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means: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$not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negates another operator expression for a field: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$nor: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 category: "Books"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 stock: { $lt: 50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8046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Not a book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stock is not below 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LOGICAL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3227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322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139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1632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can also match documents where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does not exist. If the field must exist, add an explicit condition: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2173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a simple “not equal” comparison: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186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88330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$not: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$gt: NumberDecimal("50.00")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79186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88330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$exists: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$not: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$gt: NumberDecimal("50.00")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LOGICAL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Combining logical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matches: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13032"/>
            <a:ext cx="11247120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804472"/>
            <a:ext cx="10991088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$ne: "Books"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08560"/>
            <a:ext cx="11247120" cy="16093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3600000"/>
            <a:ext cx="10991088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$or: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category: "Books"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$and: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{ stock: { $gt: 100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09344"/>
            <a:ext cx="11247120" cy="9052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5300784"/>
            <a:ext cx="10991088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Active 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AND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books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electronics with stock above 100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QUERYING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869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8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20404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2740"/>
            <a:ext cx="3840480" cy="818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MongoDB can match array elements without manually looping through the array.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32372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Match an array containing a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72612"/>
            <a:ext cx="384048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This matches a document whose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array contains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"wireless"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7548"/>
            <a:ext cx="384048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Match all required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7788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579228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tags: "wireless"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592" y="4487788"/>
            <a:ext cx="1847088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4579228"/>
            <a:ext cx="159105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$all: ["wireless", "accessory"]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71035" y="1902128"/>
            <a:ext cx="7242810" cy="3309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11653"/>
            <a:ext cx="7223760" cy="3290726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QUERYING ARRAYS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Match by array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Query arrays of embedded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Find orders containing a product with a quantity of at least two: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Why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$size: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items: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$elemMatch: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quantity: { $gte: 2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QUERYING ARRAYS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50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50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67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90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Consider: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919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Without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 two conditions could be satisfied by different elements in the same array.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46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ensures that one array element satisfies all included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64742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156182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"items.sku":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"items.quantity": { $gte: 2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UPDATE OPERATION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MongoDB updates normally have three parts: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8180"/>
            <a:ext cx="384048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8312"/>
            <a:ext cx="384048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result includes information similar to: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53724"/>
            <a:ext cx="3840480" cy="7040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45164"/>
            <a:ext cx="3584448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db.collection.updateOne(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filter,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update,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options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49252"/>
            <a:ext cx="3840480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840692"/>
            <a:ext cx="358444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46532"/>
            <a:ext cx="3840480" cy="5725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937972"/>
            <a:ext cx="3584448" cy="407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acknowledged: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matchedCount: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modifiedCount: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1035" y="2132323"/>
            <a:ext cx="7242810" cy="284938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141848"/>
            <a:ext cx="7223760" cy="283033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UPDATE OPERATION STRUCTURE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1987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987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0159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0392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indicates how many documents matched.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indicates how many documents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0703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the existing value was already the requested value,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may be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while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9171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91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8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321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6756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creates a field or replaces its current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0293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If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featured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does not exist, MongoDB adds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383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$unset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0736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Remove a field: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90904"/>
            <a:ext cx="11247120" cy="18608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082344"/>
            <a:ext cx="10991088" cy="169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featured: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"specifications.colour": "Space Grey"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 — $INC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095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09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26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50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value assigned inside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$unset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not important.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51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$inc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552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Increase or decrease a numeric value: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539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Decrease inventory: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9552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8696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$unset: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featured: ""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395528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486968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$inc: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stock: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 — $MUL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8132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132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6303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537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$inc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safer than reading a value into the application, calculating a new value and writing it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707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$mul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409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Multiply a numeric value: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11046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302486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$inc: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stock: -2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211046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302486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$mul: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stock: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 — $MIN, $MAX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0521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52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869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9260"/>
            <a:ext cx="11247120" cy="583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For financial price changes, update pipelines or explicit decimal calculations may be preferable to avoid unwanted numeric-type conversions.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6419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Consolas"/>
              </a:rPr>
              <a:t>$min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0443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Update the field only when the supplied value is smaller: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4467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Consolas"/>
              </a:rPr>
              <a:t>$max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84916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Update the field only when the supplied value is larger: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5156"/>
            <a:ext cx="11247120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116596"/>
            <a:ext cx="1099108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$min: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reorderLevel: 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 — $RENAME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8132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8132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6303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537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$rename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3550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Rename a field: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0563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field rename affects every matched document. Before applying it broadly, preview the filter: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11046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302486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$max: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highestStockRecorded: 130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4211046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302486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$rename: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"name": "productName"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 — $CURRENTDATE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8190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819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636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59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To restore the field: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608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$currentDate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062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Store the current server date: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6350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67790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name: { $exists: true }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name: 1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976350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067790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$rename: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"productName": "name"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GENERAL UPDATE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43278"/>
            <a:ext cx="11247120" cy="333603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934718"/>
            <a:ext cx="10991088" cy="31714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$currentDate: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updatedAt: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Array update operators modify arrays without replacing the complete array.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630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Consolas"/>
              </a:rPr>
              <a:t>$push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3984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Add a value to the end of an array: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337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If the operation runs twice,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"ergonomic"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can be inserted twice.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06916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Push multiple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90453"/>
            <a:ext cx="11247120" cy="19446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081893"/>
            <a:ext cx="10991088" cy="1780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$push: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tags: "ergonomic"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3276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27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144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68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Push and retain a limited number of entries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9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Consider a bounded status history: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57072"/>
            <a:ext cx="11247120" cy="30510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848512"/>
            <a:ext cx="10991088" cy="2886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$push: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$each: ["office", "portable"]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 — $ADDTOSET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This retains only the ten most recent elements.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$addToSet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30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Add a value only if it is not already present: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83164"/>
            <a:ext cx="11247120" cy="261518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374604"/>
            <a:ext cx="10991088" cy="2450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db.orders.updateOne(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 orderNumber: "ORD-2026-1001"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$push: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statusHistory: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$each: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  status: "Delivered",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  changedAt: new Date()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$slice: -10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 — $PULL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036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03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20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441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Add multiple unique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454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when duplicates are not allowed.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248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 every array element matching a condition: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4944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386384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$addToSet: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tags: "wireless"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294944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386384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$addToSet: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$each: ["office", "wireless", "sale"]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3286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328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145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1690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 multiple matching values: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8704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 embedded documents matching a condition: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57172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648612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$pull: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tags: "sale"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557172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648612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$pull: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$in: ["temporary", "clearance"]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 — $POP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036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03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208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441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$pop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454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 one element from the beginning or end of an array.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 the final element: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248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Remove the first element: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4944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386384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db.customers.updateOne(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email: "priya@example.com"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$pull: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addresses: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type: "work"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4294944"/>
            <a:ext cx="5550408" cy="12070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4386384"/>
            <a:ext cx="5294376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$pop: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tags: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ARRAY UPDATE OPERATORS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3517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351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168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9222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$pop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does not select an element by value.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$pull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when removal should be based on content.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4634"/>
            <a:ext cx="11247120" cy="24810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016074"/>
            <a:ext cx="10991088" cy="231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$pop: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tags: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UPDATING EMBEDDED ARRAY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917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917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88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321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Positional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operator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6756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Update the first matching array element: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0293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The positional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identifies the first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element matched by the query.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383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All-positional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$[]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0736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Update every element in an array: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90904"/>
            <a:ext cx="11247120" cy="186080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082344"/>
            <a:ext cx="10991088" cy="169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db.orders.updateOne(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orderNumber: "ORD-2026-1001",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"items.sku": "ELEC-1001"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"items.$.quantity":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UPDATING EMBEDDED ARRAY ELEMENTS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4845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48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3016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250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Filtered positional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$[identifier]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0263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Update selected elements using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arrayFilters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72768"/>
            <a:ext cx="5550408" cy="19110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464208"/>
            <a:ext cx="5294376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orderNumber: "ORD-2026-1001"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"items.$[].reviewed":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372768"/>
            <a:ext cx="5550408" cy="19110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464208"/>
            <a:ext cx="5294376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db.orders.updateMany(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"items.$[item].requiresReview":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arrayFilters: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"item.quantity":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  $gte: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UPDATEONE() VERSUS UPDATEMANY()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8190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819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636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659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Update one matching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608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Update every matching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062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Always preview an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updateMany()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filter: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76350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4067790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sku: "ELEC-1001"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active: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976350"/>
            <a:ext cx="5550408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4067790"/>
            <a:ext cx="529437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 category: "Electronics"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department: "Technology"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UPDATEONE() VERSUS UPDATEMANY()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51528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1528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9699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993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Then apply the update using the same filter.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69464"/>
            <a:ext cx="11247120" cy="10561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560904"/>
            <a:ext cx="10991088" cy="8915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category: "Electronics"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UPSERT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3840480" cy="928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An upsert updates a matching document or inserts a new one when no match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2753"/>
            <a:ext cx="3840480" cy="9285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Use upserts when the application intentionally supports “create if missing” behavior.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12738"/>
            <a:ext cx="3840480" cy="231343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3704178"/>
            <a:ext cx="3584448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 sku: "ELEC-2000"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name: "USB-C Hub",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price: NumberDecimal("59.99"),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stock: 25,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$setOnInsert: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  createdAt: new Date()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  upsert: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035" y="1653777"/>
            <a:ext cx="7242809" cy="380647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63302"/>
            <a:ext cx="7223759" cy="378742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REPLACING A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9077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907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24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4820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Consolas"/>
              </a:rPr>
              <a:t>replaceOne()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replaces the entire matching document except its immutable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02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Any old fields that are not included in the replacement disappear.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036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Use update operators when only selected fields should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20496"/>
            <a:ext cx="11247120" cy="22296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711936"/>
            <a:ext cx="10991088" cy="206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db.products.replaceOne(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 sku: "ELEC-2000"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sku: "ELEC-2000",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name: "Seven-Port USB-C Hub",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price: NumberDecimal("69.99"),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stock: 20,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active: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1: FIND AFFORDABLE, AVAILABLE ELECTRONICS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Requirements: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6305"/>
            <a:ext cx="11247120" cy="17776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Category must be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Electronics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Price must be below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$75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Stock must be greater than zero.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Show only SKU, name, price and stock.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Sort by price from lowest to highest.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25350"/>
            <a:ext cx="11247120" cy="221284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016790"/>
            <a:ext cx="10991088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$lt: NumberDecimal("75.00")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$gt: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2: FIND PRIORITY PRODUCTS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A product is a priority when: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Stock is below 50, or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Its tags contain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sale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600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It must also be active.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16136"/>
            <a:ext cx="11247120" cy="216255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807576"/>
            <a:ext cx="10991088" cy="19979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$or: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$lt: 50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tags: "sale"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3: FIND PRODUCTS IN A PRICE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70432"/>
            <a:ext cx="11247120" cy="476097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261872"/>
            <a:ext cx="10991088" cy="459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$gte: NumberDecimal("40.00"),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$lte: NumberDecimal("100.00")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price: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price: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4: EXCLUDE SELECTED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34106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341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1581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181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the category must exist: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8286"/>
            <a:ext cx="5550408" cy="130759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279726"/>
            <a:ext cx="529437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$nin: ["Furniture", "Clothing"]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188286"/>
            <a:ext cx="5550408" cy="130759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3279726"/>
            <a:ext cx="529437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$exists: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$nin: ["Furniture", "Clothing"]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5: FIND CUSTOMERS IN SELECTED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5796"/>
            <a:ext cx="11247120" cy="419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507236"/>
            <a:ext cx="10991088" cy="4026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"addresses.city":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$in: ["Brampton", "Toronto"]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firstName: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lastName: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email: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addresses: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6: FIND ORDERS CONTAINING HIGH-QUANTITY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11247120" cy="44256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389888"/>
            <a:ext cx="10991088" cy="4261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db.orders.find(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items: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$elemMatch: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quantity: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  $gte: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unitPrice: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  $lt: NumberDecimal("50.00")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orderNumber: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customerId: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items: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  total: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7: FIND RECENT PROCESSING 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70760"/>
            <a:ext cx="11247120" cy="24810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362200"/>
            <a:ext cx="10991088" cy="231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status: "Processing",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orderedAt: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$gte: ISODate("2026-09-22T00:00:00Z")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orderedAt: -1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8: ADJUST INVENTORY AFTER A PURCHASE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4604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4604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2775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300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Before updating, verify the product has sufficient inventory: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002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Perform a guarded atomic update: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035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zero, there was not enough inventory or the SKU did not exist.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75766"/>
            <a:ext cx="5550408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967206"/>
            <a:ext cx="529437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db.products.findOne({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$gte: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875766"/>
            <a:ext cx="5550408" cy="181051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3967206"/>
            <a:ext cx="529437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"ELEC-1001",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$gte: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$inc: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stock: -2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$currentDate: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updatedAt: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9: MAINTAIN UNIQUE PRODUCT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0358"/>
            <a:ext cx="11247120" cy="434187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431798"/>
            <a:ext cx="10991088" cy="41772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db.products.updateOne(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sku: "ELEC-1001"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$addToSet: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$each: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"featured",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"office",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  "wireless"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$currentDate: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  updatedAt: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10: REMOVE DISCONTINUED TAGS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5796"/>
            <a:ext cx="11247120" cy="4191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507236"/>
            <a:ext cx="10991088" cy="4026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$pull: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  "temporary",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  "discontinued",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  "old-stock"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11: UPDATE AN ORDER AND ADD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636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636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4807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50414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status condition prevents the command from accidentally “shipping” an order already in an incompatible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55826"/>
            <a:ext cx="11247120" cy="321868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647266"/>
            <a:ext cx="10991088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db.orders.updateOne(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orderNumber: "ORD-2026-1002",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status: "Processing"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status: "Shipped"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$push: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statusHistory: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status: "Shipped",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  changedAt: new Date()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$currentDate: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  updatedAt: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12: CORRECT A FIELD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6397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39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56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802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Suppose some review documents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reviewText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instead of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comment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815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Preview affected documents: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828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Rename the field: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58418"/>
            <a:ext cx="5550408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849858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db.reviews.find({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reviewText: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$exists: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758418"/>
            <a:ext cx="5550408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3849858"/>
            <a:ext cx="5294376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db.reviews.updateMany(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reviewText: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$exists: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comment: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$exists: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$rename: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reviewText: "comment"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12: CORRECT A FIELD NAME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308907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8907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7078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311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 condition avoids overwriting documents that already have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comment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CHALLENGE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0396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039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856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800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2000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Find products that: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2002"/>
            <a:ext cx="11247120" cy="1214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Are active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Belong to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Electronics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Books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Cost between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$30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$100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Have stock above zero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Contain either the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wireless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mongodb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tag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Do not contain the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discontinued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58184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Return only: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90181"/>
            <a:ext cx="11247120" cy="12147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SKU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Name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Category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Price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Stock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Tags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6363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Sort by category and then price.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CHALLENGE QUERY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9092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9092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264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497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5108"/>
            <a:ext cx="11247120" cy="370484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2236548"/>
            <a:ext cx="10991088" cy="3540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active: true,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category: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  "Books"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price: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$gte: NumberDecimal("30.00"),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$lte: NumberDecimal("100.00")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  $gt: 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Consolas"/>
              </a:rPr>
              <a:t>    },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CHALLENGE QUERY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50008"/>
            <a:ext cx="5550408" cy="24140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2441448"/>
            <a:ext cx="5294376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tags: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"wireless",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"mongodb"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$nin: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  "discontinued"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_id: 0,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price: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tags: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).sort({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category: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price: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2350008"/>
            <a:ext cx="5550408" cy="241401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81928" y="2441448"/>
            <a:ext cx="5294376" cy="2249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SAFE DATA-MANIPULATION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24947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2494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20665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899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Before running a large update: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0992"/>
            <a:ext cx="11247120" cy="1409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Construct the filter.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Test it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Count the matching documents.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Project identifiers and fields that will change.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Apply the update.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Inspect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Query the updated documents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42011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7400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Preview: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06005"/>
            <a:ext cx="11247120" cy="170992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197445"/>
            <a:ext cx="10991088" cy="1545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const filter =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category: "Electronics",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stock: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  $lt: 50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Consolas"/>
              </a:rPr>
              <a:t>};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SAFE DATA-MANIPULATION WORKFLOW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Count: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29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Update: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130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Verify: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83164"/>
            <a:ext cx="11247120" cy="100584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374604"/>
            <a:ext cx="10991088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filter,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stock: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0444"/>
            <a:ext cx="11247120" cy="4572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471884"/>
            <a:ext cx="109910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db.products.countDocuments(filter)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29084"/>
            <a:ext cx="11247120" cy="130759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5020524"/>
            <a:ext cx="1099108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db.products.updateMany(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filter,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$set: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reorderRequired: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$currentDate: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  updatedAt: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SAFE DATA-MANIPULATION WORKFLOW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00784"/>
            <a:ext cx="11247120" cy="3621024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792224"/>
            <a:ext cx="10991088" cy="3456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...filter,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reorderRequired: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sku: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name: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stock: 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  reorderRequired: 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22241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2224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03953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6289"/>
            <a:ext cx="3840480" cy="391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After completing this module, learners should be able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89162"/>
            <a:ext cx="3840480" cy="27294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Retrieve documents using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Count documents and retrieve distinct values.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Control returned fields using projection.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Filter data using comparison and logical operators.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Query scalar fields, nested fields and arrays.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for same-element array conditions.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Update scalar and nested fields.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Increment numeric values atomically.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Add and remove array elements.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Rename fields safely.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Perform single-document and multi-document updates.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Construct complex queries from business requirements.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Verify data-manipulation operations before and after execution.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1035" y="1583642"/>
            <a:ext cx="7242809" cy="394674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93167"/>
            <a:ext cx="7223759" cy="3927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4.1 — EXPLORE THE TRAINING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9707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9707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878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8112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8112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27298"/>
            <a:ext cx="11247120" cy="813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Identify field names, nesting, arrays, and BSON types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before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writing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32710"/>
            <a:ext cx="11247120" cy="1911096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624150"/>
            <a:ext cx="10991088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use training_store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show collections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db.products.findOne()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db.customers.findOne()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db.orders.findOne()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db.reviews.findOne()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4.15 — LAB 4.1 DATASET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Confirm collections, counts, field paths, and BSON types before querying.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Select the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use training_store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The prompt shows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List collections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show collections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customers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orders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reviews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are listed.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Count each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Run: javascript db.products.countDocuments({}) db.customers.countDocuments({}) db.orders.countDocuments({}) db.reviews.countDocuments({})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a fresh load: products 13, customers 6, orders 17, reviews 6. If you already inserted lab SKUs, counts are higher — note that.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4.15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Count each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4285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db.products.countDocuments({}) db.customers.countDocuments({}) db.orders.countDocuments({}) db.reviews.countDocuments({})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 a fresh load: products 13, customers 6, orders 17, reviews 6. If you already inserted lab SKUs, counts are higher — note that.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23353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Inspect one document from each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50188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products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customers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orders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reviews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You can point to nested objects and arrays on the samples.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4.15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Record field paths and BSON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the product and order, list at least: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(string),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(decimal),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(array),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attributes.memoryGB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(int, if present),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items.sku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(date).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 observation sheet names paths with dotted notation and types.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XBAD.price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a string — record that exception.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4.2 — BUILD QUERIES INCREMENTALLY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0664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66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83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0688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Duration: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Start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then add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condition at a time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`find({ category: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"ACCESSORY" })`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Then add `active: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true`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Then `price: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{ $lte: Decimal128("100.00") }`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Count after each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 — READ BASIC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Retrieve all products, one SKU, active products, ACTIVE customers, and one order.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Retrieve all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cursor of product documents prints. This is unbounded — acceptable on the training set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Find one product by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db.products.findOne({ sku: "L100"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One laptop document is returned.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returns a document or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null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not a cursor.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Find active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active: true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Inactive items such as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excluded. Field names and booleans are case-sensitive.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cursor of product documents prints. This is unbounded — acceptable on the training set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db.products.findOne({ sku: "L100"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One laptop document is returned.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returns a document or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null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not a cursor.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Find active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db.products.find({ active: true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Inactive items such as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are excluded. Field names and booleans are case-sensitive.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Find ACTIVE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db.customers.find({ status: "ACTIVE"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C101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C204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C310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C412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C620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C515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(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INACTIVE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) does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Find one order by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db.orders.findOne({ orderNumber: "O5001"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 order includes an embedded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customer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object and an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array.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 — BUILD COMPARISON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Use $gt, ranges, $nin, and Decimal128. Notice why XBAD misses numeric comparisons.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Products priced above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price: { $gt: Decimal128("100.00")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Laptops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appear.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does not — its price is a string, not Decimal128.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Products priced between 50 and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price: { $gte: Decimal128("50.00"), $lte: Decimal128("500.00")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Includes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S210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A400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similar mid-range items. Both bounds are inclusive.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Orders with totals above 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db.orders.find({ total: { $gt: Decimal128("1000.00")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 (both contain L100 and have totals above 1,000). Paid high-value orders such as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also match.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price: { $gt: Decimal128("100.00")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Laptops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appear.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does not — its price is a string, not Decimal128.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price: { $gte: Decimal128("50.00"), $lte: Decimal128("500.00")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Includes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S210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A400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similar mid-range items. Both bounds are inclusive.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Orders with totals above 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db.orders.find({ total: { $gt: Decimal128("1000.00") }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match (both contain L100 and have totals above 1,000). Paid high-value orders such as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also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Reviews rated at least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db.reviews.find({ rating: { $gte: 4 }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Five reviews match. The rating-3 review of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P1001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does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Products outside LAPTOP and SHOE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db.products.find({ category: { $nin: ["LAPTOP", "SHOE"] }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Books and accessories remain, including the legacy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document.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4.3 — COMBINE LOGICAL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Implicit AND, $or / $in, and $nor on products and orders.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Active laptops or 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active: true, $or: [ { category: "LAPTOP" }, { category: "BOOK" } ]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Active laptops and books match. Inactive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excluded by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active: true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Active products under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active: true, price: { $lt: Decimal128("100.00")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Implicit AND. Accessories and cheaper books match.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does not, because of BSON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Pending or processing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db.orders.find({ $or: [ { paymentStatus: "PENDING" }, { fulfillmentStatus: "PROCESSING" } ]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O6499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PENDING payment;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PROCESSING. Prefer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$in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when alternatives share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one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field.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active: true, $or: [ { category: "LAPTOP" }, { category: "BOOK" } ]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Active laptops and books match. Inactive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excluded by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active: true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active: true, price: { $lt: Decimal128("100.00")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Implicit AND. Accessories and cheaper books match.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does not, because of BSON type.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4.3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658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65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829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628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416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3 — Pending or processing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7702"/>
            <a:ext cx="11247120" cy="12749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db.orders.find({ $or: [ { paymentStatus: "PENDING" }, { fulfillmentStatus: "PROCESSING" } ] })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O6499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are PENDING payment;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PROCESSING. Prefer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$in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when alternatives share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one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field.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34064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4 — Neither discontinued nor inactive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601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db.products.find({ $nor: [ { tags: "discontinued" }, { active: false } ] })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Documents that are inactive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or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tagged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discontinued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are excluded.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both.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4.4 — QUERY MISSING AND NULL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Separate exists, BSON null, missing fields, and wrong types.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Products with a discount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discountPrice: { $exists: true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P1001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B310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match. Presence of the field is enough — the value may still be inspected later.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Products without a discount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discountPrice: { $exists: false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Most catalog items match, including laptops that never had a discount field.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Customers with a null 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db.customers.find({ "contact.phone": { $type: "null"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C204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matches.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phone: null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a dotted path is easy to get wrong — query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"contact.phone": { $type: "null" }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discountPrice: { $exists: true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P1001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B310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match. Presence of the field is enough — the value may still be inspected later.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discountPrice: { $exists: false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Most catalog items match, including laptops that never had a discount field.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4.4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Customers with a null 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db.customers.find({ "contact.phone": { $type: "null" }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C204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matches.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{ phone: null }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 a dotted path is easy to get wrong — query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{ "contact.phone": { $type: "null" } }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Customers without a phone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db.customers.find({ "contact.phone": { $exists: false }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C515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matches (no phone field).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C204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has the field with BSON null. Everyone else has a string phone.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4.4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Incorrect price BSON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db.products.find({ price: { $type: "string" }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(Legacy Cable Pack) is the planted type error. Money in this course is Decimal128.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4.3 — QUERY NESTED DOCUMENTS AND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0720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0720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8892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91256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291256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74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Then contrast the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without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form on O5001.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507564"/>
            <a:ext cx="11247120" cy="1626108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599004"/>
            <a:ext cx="10991088" cy="1461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db.products.find({ "attributes.memoryGB": { $gte: 16 }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db.customers.find({ "addresses.city": "Toronto"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db.orders.find({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items: { $elemMatch: { sku: "L100", quantity: { $gte: 1 } }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4.5 — QUERY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Containment, $all, $size, availableSizes, and excluding a tag.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Tagged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tags: "technology"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Any product whose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array contains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technology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regardless of other tags.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Both database and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tags: { $all: ["database", "technology"]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B300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matches (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database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technology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). Order of tags does not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Exactly two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tags: { $size: 2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Most catalog products have exactly two tags.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$size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cannot express “at least two”.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tags: "technology"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Any product whose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array contains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technology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regardless of other tags.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tags: { $all: ["database", "technology"]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B300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matches (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database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technology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). Order of tags does not matter.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4.5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Exactly two 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db.products.find({ tags: { $size: 2 }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Most catalog products have exactly two tags.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$size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cannot express “at least two”.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Specified available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db.products.find({ "attributes.sizes": 9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S210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S290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match. Nested array containment uses a dotted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4.5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Not containing discontinued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db.products.find({ tags: { $ne: "discontinued" }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excluded once it carries a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discontinued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tag.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an array field also matches documents that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lack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 field.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4.6 — QUERY ARRAYS OF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Prove the O5001 $elemMatch trap, then query Toronto shipping addresses.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Orders containing SKU L100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db.orders.find({ "items.sku": "L100"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Orders with any item quantity ≥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db.orders.find({ "items.quantity": { $gte: 2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(A410 qty 2)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(L100 qty 2). Other orders may also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Same item is L100 and qty ≥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db.orders.find({ items: { $elemMatch: { sku: "L100", quantity: { $gte: 2 } }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Only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has L100 qty 1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and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different item (A410) qty 2 — that is the trap.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db.orders.find({ "items.sku": "L100"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db.orders.find({ "items.quantity": { $gte: 2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(A410 qty 2)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(L100 qty 2). Other orders may also match.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4.6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069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0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24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47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827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3 — Same item is L100 and qty ≥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1814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db.orders.find({ items: { $elemMatch: { sku: "L100", quantity: { $gte: 2 } } } })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Only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has L100 qty 1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and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 different item (A410) qty 2 — that is the trap.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9995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4 — Confirm the trap without $elemMatch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3489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db.orders.find({ "items.sku": "L100", "items.quantity": { $gte: 2 } })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Both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match. Dot notation does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not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require the same array element.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4.6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Customers with a Toronto shipping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db.customers.find({ addresses: { $elemMatch: { type: "SHIPPING", city: "Toronto" } }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C101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matches. Address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type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values in this dataset are uppercase (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SHIPPING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4.4 — USE PROJECTIONS AND CURSOR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4970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4970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3141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33750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33750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992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Discuss execution conceptually: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filter, shape, sort, limit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0058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741498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.find({ active: true }, { name: 1, category: 1, price: 1, _id: 0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.sort({ price: -1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  .limit(5)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4.7 — DESIGN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Inclusion, nested paths, exclusion, and projecting one matching item.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4.7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Product name and price without 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 { active: true }, { name: 1, price: 1, _id: 0 } 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Each result has only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Mixing inclusion of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with exclusion of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would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Customer name and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db.customers.find( { customerNumber: "C101" }, { "name.first": 1, "name.last": 1, "contact.email": 1, _id: 0 } 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Nested inclusion. Sibling fields such as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addresses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omitted.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Order number, status, and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db.orders.find( {}, { orderNumber: 1, status: 1, total: 1, _id: 0 } 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 compact operations list.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excluded explicitly.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 { active: true }, { name: 1, price: 1, _id: 0 } 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Each result has only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Mixing inclusion of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with exclusion of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would error.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db.customers.find( { customerNumber: "C101" }, { "name.first": 1, "name.last": 1, "contact.email": 1, _id: 0 } 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Nested inclusion. Sibling fields such as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addresses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omitted.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4.7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Order number, status, and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db.orders.find( {}, { orderNumber: 1, status: 1, total: 1, _id: 0 } 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 compact operations list.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excluded explicitly.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Exclude large attribute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db.products.find({ sku: "L100" }, { attributes: 0, tags: 0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Exclusion projection. All remaining fields are returned.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4.7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Only the matching order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db.orders.find( { orderNumber: "O5001" }, { items: { $elemMatch: { sku: "L100" } }, orderNumber: 1 } 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items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contains only the L100 element. Other line items are omitted from the result shape.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4.8 — SORT AND PAGINATE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Sort, top-N, two pages of five, countDocuments, distinct.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4.8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Sort products by price ascending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db.products.find({}, { name: 1, price: 1 }).sort({ price: 1, _id: 1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Cheapest Decimal128 prices first.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may sort oddly because its price is a string — mention that.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Sort by category then price descending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db.products.find({}, { category: 1, name: 1, price: 1, _id: 0 }) .sort({ category: 1, price: -1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Within each category the highest price prints first.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Five most expensive active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db.products.find({ active: true }, { name: 1, price: 1, </a:t>
            </a:r>
            <a:r>
              <a:rPr sz="800" b="0" i="1">
                <a:solidFill>
                  <a:srgbClr val="000000"/>
                </a:solidFill>
                <a:latin typeface="Nirmala UI"/>
              </a:rPr>
              <a:t>id: 0 }) .sort({ price: -1,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id: 1 }) .limit(5)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Expect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active were included — on active-only,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A500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db.products.find({}, { name: 1, price: 1 }).sort({ price: 1, _id: 1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Cheapest Decimal128 prices first.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may sort oddly because its price is a string — mention that.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db.products.find({}, { category: 1, name: 1, price: 1, _id: 0 }) .sort({ category: 1, price: -1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Within each category the highest price prints first.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4.8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658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65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829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628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416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3 — Five most expensive active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7702"/>
            <a:ext cx="11247120" cy="12749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db.products.find({ active: true }, { name: 1, price: 1, _id: 0 }) .sort({ price: -1, _id: 1 }) .limit(5)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Expect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, then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if active were included — on active-only,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then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then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A500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34064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4 — Page 1 and page 2 (five per page)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601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 both: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db.products.find({ active: true }).sort({ _id: 1 }).skip(0).limit(5) db.products.find({ active: true }).sort({ _id: 1 }).skip(5).limit(5)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Two disjoint pages. The sort key is required for stable pagination.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4.8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Count and distinct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db.products.countDocuments({ active: true }) db.products.distinct("category")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 is smaller than 16 because inactive items exist. Distinct includes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LAPTOP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BOOK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ACCESSORY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SHOE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4.5 — INSERT AND VERIFY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Duration: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 one product with demo SKU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DEMO-1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Inspect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acknowledged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insertedId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`findOne({ sku: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"DEMO-1" })` to verify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Keep price as Decimal128, dates as 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4.9 — INSERT NEW APPLICATION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insertOne, insertMany, a customer, an order; verify types.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Insert one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db.products.insertOne({ sku: "A620", name: "USB-C Hub", category: "ACCESSORY", price: Decimal128("69.99"), tags: ["usb-c", "accessory"], active: true, stockQuantity: 10, createdAt: new Date()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acknowledged: true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an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If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already exists, unique index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sku_unique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rejects the insert — reload the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728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Insert three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636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db.products.insertMany([ { sku: "A610", name: "Laptop Stand", category: "ACCESSORY", price: Decimal128("49.99"), active: true, stockQuantity: 6 }, { sku: "A611", name: "HDMI Adapter", category: "ACCESS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insertedIds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contains three keys. Inspect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insertedCount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insertedIds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528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Insert a customer with an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95632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db.customers.insertOne({ customerNumber: "C801", name: { first: "Elena", last: "Novak" }, contact: { email: "elena@example.com" }, addresses: [{ type: "SHIPPING", city: "Vancouver", country: "Canada" }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One customer with nested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contact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addresses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1328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23628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db.products.insertOne({ sku: "A620", name: "USB-C Hub", category: "ACCESSORY", price: Decimal128("69.99"), tags: ["usb-c", "accessory"], active: true, stockQuantity: 10, createdAt: new Date()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acknowledged: true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an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If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already exists, unique index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sku_unique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rejects the insert — reload the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41276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` db.products.insertMany([ { sku: "A610", name: "Laptop Stand", category: "ACCESSORY", price: Decimal128("49.99"), active: true, stockQuantity: 6 }, { sku: "A611", name: "HDMI Adapter", category: "ACCESS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insertedIds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contains three keys. Inspect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insertedCount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insertedIds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4.9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3576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357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1747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980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048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Step 3 — Insert a customer with an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00288"/>
            <a:ext cx="11247120" cy="886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Run: ` db.customers.insertOne({ customerNumber: "C801", name: { first: "Elena", last: "Novak" }, contact: { email: "elena@example.com" }, addresses: [{ type: "SHIPPING", city: "Vancouver", country: "Canada" }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One customer with nested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contact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addresses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8304"/>
            <a:ext cx="11247120" cy="34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000000"/>
                </a:solidFill>
                <a:latin typeface="Nirmala UI"/>
              </a:rPr>
              <a:t>Step 4 — Insert an order with two items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18544"/>
            <a:ext cx="11247120" cy="886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Run: ` db.orders.insertOne({ orderNumber: "O5100", customerId: db.customers.findOne({ customerNumber: "C801" })._id, items: [ { sku: "A620", quantity: 1, unitPrice: Decimal128("69.99") }, { sku: "A610", quant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The order snapshots customer fields and embeds line items.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4.9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Verify every insert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db.products.find({ sku: { $in: ["A620", "A610", "A611", "A612"] } }, { sku: 1, name: 1, price: 1 }) db.customers.findOne({ customerNumber: "C801" }) db.orders.findOne({ orderNumber: "O5100" })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Four products, one customer, one order. Confirm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unitPrice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are Decimal128, not strings.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4.6 — UPDATE SCALAR AND NESTED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Duration: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On **L100** or a demo copy: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price,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active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warranty,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updatedAt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Show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before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after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findOne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Read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modifiedCount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Reload before Lab 4.10 if you mutate L100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4.10 — UPDATE PRODUCT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$set price, nested warranty, $inc stock, $rename, $unset, filtered updateMany.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4.10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Preview then change a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the filter first, then: javascript db.products.find({ sku: "A620" }) db.products.updateOne( { sku: "A620" }, { $set: { price: Decimal128("64.99"), updatedAt: new Date() } } 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matchedCount: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modifiedCount: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the price changed. If A620 is missing, complete Exercise 4.9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Add a nested warranty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db.products.updateOne( { sku: "L100" }, { $set: { "attributes.warrantyYears": 2 } } 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attributes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still contains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memoryGB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The warranty field is added beside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Increase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db.products.updateOne({ sku: "L100" }, { $inc: { stockQuantity: 5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stockQuantity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increases by 5 (from 8 to 13 on a fresh load).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the filter first, then: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sku: "A620" }) db.products.updateOne( { sku: "A620" }, { $set: { price: Decimal128("64.99"), updatedAt: new Date() } } 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matchedCount: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modifiedCount: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the price changed. If A620 is missing, complete Exercise 4.9 first.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db.products.updateOne( { sku: "L100" }, { $set: { "attributes.warrantyYears": 2 } } 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attributes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still contains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memoryGB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The warranty field is added beside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4.10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6497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64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820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054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7380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Increase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4215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db.products.updateOne({ sku: "L100" }, { $inc: { stockQuantity: 5 } })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stockQuantity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increases by 5 (from 8 to 13 on a fresh load).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072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Rename an incorrect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97560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db.products.updateMany( { legacyName: { $exists: true } }, { $rename: { legacyName: "catalogName" } } ) 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now has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catalogName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instead of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legacyName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4.10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Remove a temporary field and deactivate discontinued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db.products.updateOne({ sku: "A410" }, { $unset: { temporaryNote: "" } }) db.products.updateMany( { tags: "discontinued" }, { $set: { active: false } } 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A410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no longer has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temporaryNote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Discontinued items stay inactive. Preview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updateMany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find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before running it in production.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4.7 — MODIFY ARRAY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0664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66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8835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0688"/>
            <a:ext cx="11247120" cy="264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Duration: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 a throwaway product and on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O5001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$pull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Positional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$[]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arrayFilters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Filter: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unitPrice &gt;= 100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Reload afterwards if later labs need a clean O5001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4.11 — MODIFY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$push, $addToSet, $each, $pull, positional $, and $[].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Push a tag (may duplicate)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twice: javascript db.products.updateOne({ sku: "A620" }, { $push: { tags: "featured"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second run adds a second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featured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you used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both times. That is the teaching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Add a tag without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twice: javascript db.products.updateOne({ sku: "A620" }, { $addToSet: { tags: "office" }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Second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matchedCount: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modifiedCount: 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office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already present.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Add several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db.products.updateOne( { sku: "A620" }, { $addToSet: { tags: { $each: ["portable", "usb-c"] } } } 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usb-c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already on A620 from insert —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leaves it unique.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portable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added.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twice: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db.products.updateOne({ sku: "A620" }, { $push: { tags: "featured"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second run adds a second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featured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you used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both times. That is the teaching point.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twice: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db.products.updateOne({ sku: "A620" }, { $addToSet: { tags: "office" }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Second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matchedCount: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modifiedCount: 0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if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office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already present.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4.11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069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0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24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47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827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3 — Add several 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1814"/>
            <a:ext cx="11247120" cy="12749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db.products.updateOne( { sku: "A620" }, { $addToSet: { tags: { $each: ["portable", "usb-c"] } } } 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usb-c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already on A620 from insert —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leaves it unique.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portable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added.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68176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4 — Remove a deprecated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1713"/>
            <a:ext cx="11247120" cy="7384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db.products.updateOne({ sku: "L190" }, { $pull: { tags: "discontinued" } })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discontinued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removed from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 The product can still be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active: false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4.11 — 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79953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7995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124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35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371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Update one order item and mark all items reviewed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3844"/>
            <a:ext cx="11247120" cy="1917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db.orders.updateOne( { orderNumber: "O5001", "items.sku": "L100" }, { $set: { "items.$.quantity": 2 } } ) db.orders.updateOne( { orderNumber: "O5001" }, { $set: { "items.$[].reviewed": false } } ) 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 L100 line quantity becomes 2. Every item on that order gets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reviewed: false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4.8 — REPLACE AND UPSERT 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Duration: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selected fields — unspecified fields remain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replaceOne()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of the same test document — omitted fields vanish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`updateOne(..., { upsert: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true })` twice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TEMP-200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DEMO-REP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— never replace L100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4.12 — PERFORM AN UPSERT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Match by SKU; createdAt only on insert; updatedAt always; run twice.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Run the upsert for a new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db.products.updateOne( { sku: "A700" }, { $set: { name: "Portable Charger", category: "ACCESSORY", price: Decimal128("39.99"), active: true, updatedAt: new Date() }, $setOnInsert: { createdAt: new Date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upsertedId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present.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728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Inspect the inserted 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63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javascript db.products.findOne({ sku: "A700" })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Fields from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$setOnInsert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present. Filter used the unique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17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Run the same upsert again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152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Repeat the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updateOne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from Step 1,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findOne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again.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matchedCount: 1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may be 1 because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updatedAt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changes.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must be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unchanged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upsertedId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absent.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4505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55404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` db.products.updateOne( { sku: "A700" }, { $set: { name: "Portable Charger", category: "ACCESSORY", price: Decimal128("39.99"), active: true, updatedAt: new Date() }, $setOnInsert: { createdAt: new Date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upsertedId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is present.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exists.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7305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db.products.findOne({ sku: "A700" }) 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Fields from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$setOnInsert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are present. Filter used the unique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sku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4.12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Run the same upsert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Repeat the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updateOne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from Step 1, then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findOne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again.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matchedCount: 1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may be 1 because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updatedAt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changes.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must be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unchanged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upsertedId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is absent.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Compare insert vs update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Write two bullets: first-run result vs second-run result.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First run inserts; second run updates.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$setOnInsert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does not overwrite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4.9 — DELETE DOCUMENTS SAFELY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04970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4970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03141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33750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33750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DURATION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7992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Insert TEMP-100 first if needed. Verify it is gone and L100 remains.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0058"/>
            <a:ext cx="11247120" cy="134112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741498"/>
            <a:ext cx="10991088" cy="1176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const filter = { sku: "TEMP-100"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db.products.find(filter)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db.products.countDocuments(filter)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Consolas"/>
              </a:rPr>
              <a:t>db.products.deleteOne(filter)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4.13 — CORRECT UNSAFE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Rewrite empty updateMany, empty deleteMany, and nested-object replacement. Do not run the unsafe commands.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Unfiltered updateMany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unsafe command is: javascript db.products.updateMany({}, { $set: { active: false } })  Write the risk and a safer filter (for example discontinued items only). Do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not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the unsafe command.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Risk: every product becomes inactive. Safer: preview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tags: "discontinued"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discontinuedAt: { $exists: true }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count,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updateMany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with that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728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Empty deleteMany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6763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unsafe command is: javascript db.orders.deleteMany({})  Write the risk and a safer sequence.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Risk: all orders are removed. Safer: never 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; filter on test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values;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find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countDocuments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deleteMany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17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Replacing a nested 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61520"/>
            <a:ext cx="11247120" cy="526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This update wipes sibling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contact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fields: javascript db.customers.updateOne( { customerNumber: "C101" }, { $set: { contact: { email: "new@example.com" } } } )  Rewrite it so only email changes.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Safer: ``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javascript db.customers.updateOne( { customerNumber: "C101" }, { $set: { "contact.email": "new@example.com" } } )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``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79168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9516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unsafe command is: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db.products.updateMany({}, { $set: { active: false } })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the risk and a safer filter (for example discontinued items only). Do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not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run the unsafe command.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Risk: every product becomes inactive. Safer: preview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tags: "discontinued"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discontinuedAt: { $exists: true }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, count, then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updateMany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with that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7305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The unsafe command is: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db.orders.deleteMany({})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Write the risk and a safer sequence.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Risk: all orders are removed. Safer: never 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; filter on test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values;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find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countDocuments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→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deleteMany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4.13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658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658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829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628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4165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3 — Replacing a nested 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7702"/>
            <a:ext cx="11247120" cy="12749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This update wipes sibling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contact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fields: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db.customers.updateOne( { customerNumber: "C101" }, { $set: { contact: { email: "new@example.com" } } } )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Rewrite it so only email changes.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Safer: ``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javascript db.customers.updateOne( { customerNumber: "C101" }, { $set: { "contact.email": "new@example.com" } } )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``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34064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4 — Class debrief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7601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Share one rewrite. Listen for the instructor solution and adjust your notes.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You can name the blast radius of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the difference between replacing an embedded document and setting one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DEMO 4.10 — PERFORM A BULK WRITE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22312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231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0483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7174"/>
            <a:ext cx="11247120" cy="2210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Duration: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10 minutes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insert, one update, one delete through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bulkWrite()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Interpret inserted, matched, modified, and deleted counts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DEMO-BULK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if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A600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 reserved for Lab 4.5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`deletedCount: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0` is a normal outcome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4.14 — DIAGNOSE QUERY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Fix seven broken queries: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case, types, dots, operators, projection, elemMatch, missing $set.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17043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72768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18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29292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1 — Wrong field capitalization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39640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This returns nothing: javascript db.products.find({ Category: "LAPTOP" })  Rewrite it.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Field is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category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(lowercase). MongoDB does not fold identifier case.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23176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2 — String instead of Decimal128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3524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This comparison is unreliable: javascript db.products.find({ price: { $gt: "100.00" } })  Rewrite it.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price: { $gt: Decimal128("100.00") }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Types must match stored BSON.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7060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Step 3 — Unquoted dotted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740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This is invalid: javascript db.products.find({ attributes.memoryGB: 16 })  Rewrite it.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Quote the path: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"attributes.memoryGB": 16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10944"/>
            <a:ext cx="11247120" cy="2189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21292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This returns nothing: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Category: "LAPTOP" })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Rewrite it.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Field is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category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(lowercase). MongoDB does not fold identifier case.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04828"/>
            <a:ext cx="11247120" cy="392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This comparison is unreliable: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 db.products.find({ price: { $gt: "100.00" } }) 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Rewrite it.</a:t>
            </a:r>
          </a:p>
          <a:p>
            <a:pPr>
              <a:spcBef>
                <a:spcPts val="0"/>
              </a:spcBef>
              <a:spcAft>
                <a:spcPts val="307"/>
              </a:spcAft>
            </a:pPr>
            <a:r>
              <a:rPr sz="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800" b="0" i="0">
                <a:solidFill>
                  <a:srgbClr val="000000"/>
                </a:solidFill>
                <a:latin typeface="Consolas"/>
              </a:rPr>
              <a:t>{ price: { $gt: Decimal128("100.00") } }</a:t>
            </a:r>
            <a:r>
              <a:rPr sz="800" b="0" i="0">
                <a:solidFill>
                  <a:srgbClr val="000000"/>
                </a:solidFill>
                <a:latin typeface="Nirmala UI"/>
              </a:rPr>
              <a:t>. Types must match stored BSON.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4.14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Unquoted dotted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This is invalid: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db.products.find({ attributes.memoryGB: 16 })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Rewrite it.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Quote the path: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{ "attributes.memoryGB": 16 }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1984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Incorrect operator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46684"/>
            <a:ext cx="11247120" cy="14285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This is wrong: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 db.products.find({ $gt: { price: Decimal128("100.00") } })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Rewrite it.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Comparison operators live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inside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the field: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{ price: { $gt: Decimal128("100.00") } }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4.14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069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0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24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47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827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5 — Mixed 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1814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This errors: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db.products.find({}, { name: 1, tags: 0 })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Provide two legal alternatives.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Inclusion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{ name: 1, price: 1, _id: 0 }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or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exclusion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{ tags: 0, attributes: 0 }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is the only mix allowed.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9995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6 — Incorrect $elemMatch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3489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Rewrite so both conditions apply to one item: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 db.orders.find({ "items.sku": "L100", "items.quantity": { $gte: 2 } }) 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items: { $elemMatch: { sku: "L100", quantity: { $gte: 2 } } }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4.14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Missing update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This replacement-style document is rejected by modern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updateOne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: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 db.products.updateOne({ sku: "L100" }, { featured: true })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Rewrite it.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$set: { featured: true }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Bare field assignment is not an update operator.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4.16 — LAB 4.2 PRODUCT QUERY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Ten product queries from equality through distinct.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4.16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All active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Write and run a filter on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active: true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Inactive SKU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is absent.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Specified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category: "LAPTOP"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Three laptops: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Price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 price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$gte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50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$lte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150 as Decimal128.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Includes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S210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B300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4.16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Price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price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$gte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50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$lte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150 as Decimal128.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Includes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S200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S210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B300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Any of several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$in: ["BOOK", "ACCESSORY"]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Books and accessories, not laptops or shoes.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4.16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Nested hardware attribute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"attributes.memoryGB": { $gte: 16 }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L100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(16)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(32).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has 8 GB.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Selected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$all: ["database", "technology"]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B300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4.16 — STEPS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Missing optional 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discountPrice: { $exists: false }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Most products;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P1001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B310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are excluded.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8 — Inconsistent price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price: { $type: "string" }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XBAD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4.16 — STEPS 9–10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9 — Five most expensive active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Filter active, sort price descending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tiebreaker, limit 5, project name and price.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Top of the list is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L110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at 1899.99.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10 — Distinct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Run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db.products.distinct("category")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Array including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ACCESSORY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BOOK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LAPTOP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SHOE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4.17 — LAB 4.3 CUSTOMER AND ORDER QUERY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Nested customer fields, $elemMatch, dates, totals.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4.17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4.17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Customer by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findOne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customerNumber: "C101"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Aisha Khan with nested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contact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Customer by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"contact.email": "aisha@example.com"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The same customer. Quote the dotted path.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Address in a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"addresses.city": "Toronto"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SHIPPING + Toronto.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C101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4.17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Address in a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"addresses.city": "Toronto"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SHIPPING + Toronto.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C101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Order by 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findOne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orderNumber: "O5001"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Two line items (L100 qty 1, A410 qty 2), paymentStatus PENDING.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4.17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Orders for a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Store C101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then find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customerId: c101Id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other C101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Orders containing a SKU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"items.sku": "L100"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4.17 — STEPS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Same item two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sku L100 and quantity ≥ 2.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Only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8 — One of several statuses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paymentStatus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$in: ["PENDING", "FAILED"]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O6402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O6499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4.17 — STEPS 9–10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9 — Created during a date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Filter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$gte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ISODate 2026-09-01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$lt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ISODate 2026-10-01.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September 2026 orders including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10 — Orders above a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total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$gt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Decimal128("1000.00").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Includes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O6101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O6401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and other high-value orders.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4.18 — LAB 4.4 PROJECTION AND PAGINATION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Summaries, sort, two pages, count.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4.18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4.18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Product summary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Active products: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category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no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Compact catalog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Customer-contact projection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name.first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name.last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contact.email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for ACTIVE customers.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No addresses in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Order-status projection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status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Operations list without line items.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4.18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Order-status 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status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total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Operations list without line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Sorted product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Sort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category: 1, price: -1, _id: 1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Deterministic order within category.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4.18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Limited result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Limit 5 on the sorted active products.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Exactly five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Two pages of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skip 0 limit 5 then skip 5 limit 5 with the same sort.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No overlapping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values.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4.18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Count matching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countDocuments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the same filter as the list.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 equals how many documents pagination would eventually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4.19 — LAB 4.5 INSERT OPERATIONS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Insert product, customer, order; fix types.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4.19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Insert one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Insert SKU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A600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Wireless Presenter, ACCESSORY, Decimal128 44.99, active true.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insertedId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present. Skip if A600 already exists from a 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Insert several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insertMany two more accessories with unique SKUs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A610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A611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insertedIds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has two entries.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Insert a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customerNumber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C601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with nested name, contact, and one shipping address.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Document round-trips with the same shape.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4.19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Insert a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customerNumber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C601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nested name, contact, and one shipping address.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Document round-trips with the same 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Insert an order referencing the 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Order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O5200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an embedded customer snapshot and an item for A600.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Order stores name/email snapshot, not only the 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4.19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Inspect inserted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Print the insert results you saved, or query by SKU / customerNumber.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You can name each new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Query every new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the products, customer, and order.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All four (or more) documents exist.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4.19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Correct inconsistent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If any price was a number or string,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it to Decimal128 and re-query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$type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New money fields are decimal.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4.20 — LAB 4.6 UPDATE OPERATIONS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Preview–update–result–verify for each operator.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4.20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Preview + $set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Preview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sku: "A600"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if you created it (otherwise use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A110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).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featured: true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updatedAt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 Inspect the write result and findOne.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Four-part loop completed: preview, update, result, verify.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$unset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Add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temporaryNote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verify, then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$unset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it.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Field is present after set and absent after unset.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$inc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$inc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stockQuantity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by 3 on that product.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Quantity increased by exactly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4.20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$inc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$inc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stockQuantity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by 3 on that product.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Quantity increased by exactly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1984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$min and $max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46684"/>
            <a:ext cx="11247120" cy="14285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 the same product,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$min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lowestPrice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of 40.00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$max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highestPrice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of 50.00 (use Decimal128). Run twice if needed.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$min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only lowers;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$max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only raises. Second run may yield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modifiedCount: 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4.20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5 — $rename leftover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If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L190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still has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legacyName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$rename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it to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catalogName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 If already renamed,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may be 0.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No document remains with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legacyName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6 — Nested-field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"contact.email"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for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C310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to a new address, without replacing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contact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phone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on C310 is still present.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4.20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updateMany with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Preview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category: "ACCESSORY", active: true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count, then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taxable: true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Check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 from preview equals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You did not use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4.21 — LAB 4.7 ARRAY MANIPULATION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Tags plus positional and arrayFilters on orders.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4.21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$push a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"clearance"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onto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A110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Array gains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clearance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even if you run it twice (duplicates).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$addToSet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"office"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A110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 Run twice.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Second run does not duplicate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office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$each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$each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for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portable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featured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Both values present once.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4.21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$each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$each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portable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featured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Both values present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$pull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$pull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"clearance"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from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A110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No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clearance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values remain (all duplicates removed).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4.21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Positional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match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"items.sku": "A410"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"items.$.quantity"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to 4.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Only the mouse line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089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All elements $[]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8102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"items.$[].reviewed": true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Every line item has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reviewed: true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4.21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arrayFilters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O5001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"items.$[item].discounted": true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arrayFilters: [ { "item.unitPrice": { $gte: Decimal128("100.00") } } ]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The L100 line is discounted; the cheaper mouse line is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4.22 — LAB 4.8 REPLACE AND UPSERT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Copy, $set, replaceOne, upsert twice.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4.22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Copy a test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Insert a copy of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A410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as sku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TEMP-200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(new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). Include extra field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notes: "lab copy"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TEMP-200 exists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notes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Update selected fields with $set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price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featured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TEMP-200. Then findOne.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notes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still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Replace the copied document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replaceOne TEMP-200 with a document that has sku, name, category, price, active, updatedAt only.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notes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and other omitted fields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disappear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remains.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4.22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6497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64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820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054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7380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3 — Replace the copied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4215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replaceOne TEMP-200 with a document that has sku, name, category, price, active, updatedAt only.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notes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tags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, and other omitted fields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disappear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remains.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72477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4 — Compare $set vs replaceOne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99312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Write two bullets describing remaining fields after each operation.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You can explain that replace is not a partial update.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4.22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67373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7373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9085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142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25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5 — Perform an upsert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5091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updateOne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{ sku: "A700" }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+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$setOnInsert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upsert: true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First run returns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upsertedId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6 — Run the same upsert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Repeat Step 5.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No new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upsertedId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createdAt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unchanged if it was in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$setOnInsert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4.22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02452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024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8416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8650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5663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Compare insert and update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26764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Record both write results in your notes.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You can distinguish insert-via-upsert from update-via-upsert.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4.23 — LAB 4.9 DELETE OPERATIONS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20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TEMP- records only. Preview, count, delete, verify.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4.23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Insert temporary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insertMany products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TEMP-100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TEMP-101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labTag: "module4"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plus a throwaway order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TEMP-O1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Two products and one order exist for this lab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Build a precise deletion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sku: /^TEMP-/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or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 labTag: "module4" 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— not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The filter cannot match L100 or production-like SKUs.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Preview 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find(filter) on products.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Only TEMP-100 and TEMP-101.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4.23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Preview 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find(filter) on products.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Only TEMP-100 and TEMP-101.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Count matches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countDocuments(filter).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 is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4.23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Delete one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deleteOne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sku: "TEMP-100"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Inspect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deletedCount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deletedCount: 1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 TEMP-101 remains.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56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Delete multiple temporary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4574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deleteMany with the remaining TEMP filter. Then delete the throwaway order by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orderNumber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deletedCount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matches the preview of what was left.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4.23 — STEPS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Inspect deletedCount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Record both delete results.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Sums equal the documents you intended to remove.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56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8 — Verify no unintended removals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4574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countDocuments on products; findOne L100 and O5001.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Catalog SKUs and real orders remain. Reloading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load.js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restores a clean set if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LAB 4.10 INTEGRATED CRUD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488458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884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4701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72506"/>
            <a:ext cx="11247120" cy="16799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45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New product, customer, order, status, soft-delete.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Insert 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Insert sku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A800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, name "Magnetic Charger", ACCESSORY, Decimal128 34.99, stockQuantity 10, active true.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findOne by sku succeeds.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Verify the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Project sku, name, price, stockQuantity.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Types: decimal price, int stock.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Add unique tags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$each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["usb-c", "featured", "accessory"]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No duplicates if a tag already existed.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Add unique 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$each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["usb-c", "featured", "accessory"]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No duplicates if a tag already existed.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Increase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$inc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stockQuantity by 15.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Stock is 25 on a first 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5 — Create a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C801 with nested name/contact and status ACTIVE.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findOne by customerNumber.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56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6 — Add a shipping address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4574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an address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type: "shipping", city: "Montreal", country: "Canada"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addresses is an array with Montreal.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6562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6562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4733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49669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504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7 — Create an order containing the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03339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O5800 with snapshot of C801 and one item A800 qty 1, status NEW, Decimal128 total.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Order exists with embedded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1601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8 — Update the order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48436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status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"PROCESSING"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statuses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"PROCESSING"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(or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).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Status is PROCESSING.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STEPS 9–10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6497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649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8209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054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7380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9 — Update the item 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54215"/>
            <a:ext cx="11247120" cy="825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Positional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set quantity to 2 and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total to Decimal128("69.98").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Line quantity and order total agree.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0725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1" i="0">
                <a:solidFill>
                  <a:srgbClr val="000000"/>
                </a:solidFill>
                <a:latin typeface="Nirmala UI"/>
              </a:rPr>
              <a:t>Step 10 — Order summary projection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97560"/>
            <a:ext cx="11247120" cy="11268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find O5800 projecting orderNumber, status, total, items.sku, items.quantity — no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.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Compact summary only.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STEPS 11–12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4819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81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2990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224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0237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11 — Count the customer’s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250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countDocuments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customerId: c801Id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after looking up C801.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At least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561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12 — Soft-delete the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45742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{ active: false, deletedAt: new Date() }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 A800 — do not deleteOne.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Product still exists; active is false.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4.24 — STEP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13481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3481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11652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886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8899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13 — Verify all final 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9124"/>
            <a:ext cx="11247120" cy="1246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find customer C801, order O5800, product A800.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All three exist. Product is inactive. Order is PROCESSING with qty 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82151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215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63863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6199"/>
            <a:ext cx="3840480" cy="38925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Filters choose documents; projections choose fields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Dot notation for nested fields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for one array element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Update operators ≠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replaceOne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Upsert may insert; unique filter required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Verify every write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1583642"/>
            <a:ext cx="7242809" cy="3946747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593167"/>
            <a:ext cx="7223759" cy="39276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87076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870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68788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1124"/>
            <a:ext cx="11247120" cy="368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findOne()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vs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find()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does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{}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match?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How do you query a nested field?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When is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required?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Inclusion/exclusion projection rule?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$push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vs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updateOne()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vs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replaceOne()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What does `upsert: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true` do?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00" b="1" i="0">
                <a:solidFill>
                  <a:srgbClr val="000000"/>
                </a:solidFill>
                <a:latin typeface="Nirmala UI"/>
              </a:rPr>
              <a:t>`matchedCount: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1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,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modifiedCount: 0`?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10.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preview a delete filter?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11.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What does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deleteMany({})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 do?</a:t>
            </a:r>
          </a:p>
          <a:p>
            <a:pPr>
              <a:spcBef>
                <a:spcPts val="0"/>
              </a:spcBef>
              <a:spcAft>
                <a:spcPts val="538"/>
              </a:spcAft>
            </a:pPr>
            <a:r>
              <a:rPr sz="1400" b="1" i="0">
                <a:solidFill>
                  <a:srgbClr val="D1282E"/>
                </a:solidFill>
                <a:latin typeface="Nirmala UI"/>
              </a:rPr>
              <a:t>12.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Why prefer </a:t>
            </a:r>
            <a:r>
              <a:rPr sz="1400" b="0" i="0">
                <a:solidFill>
                  <a:srgbClr val="000000"/>
                </a:solidFill>
                <a:latin typeface="Consolas"/>
              </a:rPr>
              <a:t>countDocuments()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4.25 — MODULE 4 PRACTICAL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2320818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20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02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4866"/>
            <a:ext cx="11247120" cy="2015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Time: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30–45 min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Business requests: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find+project, upsert, tags, inventory, order item, status, safe deactivate/delete. Deliver a script with evidence.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Lab guide: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4.25 — STEPS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30804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308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1251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4852"/>
            <a:ext cx="11247120" cy="55473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4852"/>
            <a:ext cx="11027664" cy="554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LAB GUIDE  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Exercise 4.25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102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93025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1 — Find and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25022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Find active products priced below Decimal128("80.00"). Project name, category, price, no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_id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. Record the count.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A saved query plus the list you got.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1856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2 — Upsert a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3853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Upsert sku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A900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(or a SKU the instructor assigns) with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+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$setOnInsert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createdAt.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Write result shows insert or update depending on prior labs.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10687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Step 3 — Unique tags and 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2684"/>
            <a:ext cx="11247120" cy="4353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two tags;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$inc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stockQuantity.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9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interpreted correctly on a second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9518"/>
            <a:ext cx="11247120" cy="2405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900" b="1" i="0">
                <a:solidFill>
                  <a:srgbClr val="000000"/>
                </a:solidFill>
                <a:latin typeface="Nirmala UI"/>
              </a:rPr>
              <a:t>_Full lab guide with every command: 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see </a:t>
            </a:r>
            <a:r>
              <a:rPr sz="900" b="1" i="0">
                <a:solidFill>
                  <a:srgbClr val="000000"/>
                </a:solidFill>
                <a:latin typeface="Nirmala UI"/>
              </a:rPr>
              <a:t>Lab guide</a:t>
            </a:r>
            <a:r>
              <a:rPr sz="900" b="0" i="0">
                <a:solidFill>
                  <a:srgbClr val="000000"/>
                </a:solidFill>
                <a:latin typeface="Nirmala UI"/>
              </a:rPr>
              <a:t> on the lesson divider slide._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4.25 — STEPS 3–4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15834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158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97546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988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70014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3 — Unique tags and 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40146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$addToSet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two tags;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$inc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stockQuantity.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interpreted correctly on a second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4325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4 — Find orders containing a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613382"/>
            <a:ext cx="11247120" cy="911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Query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items.sku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for L100 (or the new SKU if ordered).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Matching order numbers listed.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4.25 — STEPS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50692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069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3240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4740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18277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5 — Update matching item quantity and order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1814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Use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$elemMatch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or positional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to change quantity;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status from NEW to PROCESSING on a test order only.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You previewed the order filter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99952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1" i="0">
                <a:solidFill>
                  <a:srgbClr val="000000"/>
                </a:solidFill>
                <a:latin typeface="Nirmala UI"/>
              </a:rPr>
              <a:t>Step 6 — Deactivate discontinued and remove test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3489"/>
            <a:ext cx="11247120" cy="1006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updateMany discontinued → active false after preview. deleteMany only TEMP- or lab order numbers after count.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Safety controls are written beside each write: filter, count, deletedCount.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EXERCISE 4.25 — 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67172"/>
            <a:ext cx="237744" cy="237744"/>
          </a:xfrm>
          <a:prstGeom prst="ellipse">
            <a:avLst/>
          </a:prstGeom>
          <a:solidFill>
            <a:srgbClr val="C969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6717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8884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122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Follow along (Windows) — key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1352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000000"/>
                </a:solidFill>
                <a:latin typeface="Nirmala UI"/>
              </a:rPr>
              <a:t>Step 7 — Assemble the 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1484"/>
            <a:ext cx="11247120" cy="158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Do: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One mongosh script, expected results, write counts, before/after evidence, and a short safety paragraph.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1" i="0">
                <a:solidFill>
                  <a:srgbClr val="000000"/>
                </a:solidFill>
                <a:latin typeface="Nirmala UI"/>
              </a:rPr>
              <a:t>Expected: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A teammate could replay the script on a reloaded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4 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663818"/>
            <a:ext cx="237744" cy="237744"/>
          </a:xfrm>
          <a:prstGeom prst="ellipse">
            <a:avLst/>
          </a:prstGeom>
          <a:solidFill>
            <a:srgbClr val="5B3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381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64553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47866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Write answers in one sentence each: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17998"/>
            <a:ext cx="11247120" cy="177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filter you would always preview before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updateMany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Why O5001 fools a query without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$elemMatch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One field you would never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$set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by replacing its parent object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What you check after every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87046"/>
            <a:ext cx="11247120" cy="89001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487046"/>
            <a:ext cx="11027664" cy="890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1282E"/>
                </a:solidFill>
                <a:latin typeface="Nirmala UI"/>
              </a:rPr>
              <a:t>COMPLETION 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retrieve with precise filters; query nested arrays; project, sort, paginate; insert/update/replace/upsert; delete TEMP records safely; read write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MODULE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505091"/>
            <a:ext cx="237744" cy="237744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5091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486803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9139"/>
            <a:ext cx="11247120" cy="3920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Participants can: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2676"/>
            <a:ext cx="11247120" cy="3163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Combine comparison and logical operators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Query nested fields and arrays with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$elemMatch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Shape results with projections, sort, skip, limit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countDocuments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and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distinct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Insert one and many; verify ids and types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Update scalar, nested, and array fields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Replace and upsert without losing fields accidentally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Delete only intended test records</a:t>
            </a:r>
          </a:p>
          <a:p>
            <a:pPr>
              <a:spcBef>
                <a:spcPts val="0"/>
              </a:spcBef>
              <a:spcAft>
                <a:spcPts val="615"/>
              </a:spcAft>
            </a:pPr>
            <a:r>
              <a:rPr sz="16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[ ] Interpret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matchedCount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modifiedCount</a:t>
            </a:r>
            <a:r>
              <a:rPr sz="1600" b="0" i="0">
                <a:solidFill>
                  <a:srgbClr val="000000"/>
                </a:solidFill>
                <a:latin typeface="Nirmala UI"/>
              </a:rPr>
              <a:t> / </a:t>
            </a:r>
            <a:r>
              <a:rPr sz="1600" b="0" i="0">
                <a:solidFill>
                  <a:srgbClr val="000000"/>
                </a:solidFill>
                <a:latin typeface="Consolas"/>
              </a:rPr>
              <a:t>deletedCount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800900"/>
            <a:ext cx="237744" cy="237744"/>
          </a:xfrm>
          <a:prstGeom prst="ellipse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0090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82612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8494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Open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55080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Parking-lot prompts if the room is quiet: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25212"/>
            <a:ext cx="11247120" cy="13446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How would you page products after the 10,000th document?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When is a transaction required for an order update?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Should </a:t>
            </a:r>
            <a:r>
              <a:rPr sz="2000" b="0" i="0">
                <a:solidFill>
                  <a:srgbClr val="000000"/>
                </a:solidFill>
                <a:latin typeface="Consolas"/>
              </a:rPr>
              <a:t>reviews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 stay a separate collection?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61288"/>
            <a:ext cx="11247120" cy="4786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Capture unanswered items for Module 5–6.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DAY 2 REVIEW — QUERY FLUENCY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84926"/>
            <a:ext cx="237744" cy="237744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492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66638"/>
            <a:ext cx="3511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8974"/>
            <a:ext cx="3840480" cy="3886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Translate a business question into a filter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Return only required fields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Safely modify application data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Work with embedded documents and arrays</a:t>
            </a:r>
          </a:p>
          <a:p>
            <a:pPr>
              <a:spcBef>
                <a:spcPts val="0"/>
              </a:spcBef>
              <a:spcAft>
                <a:spcPts val="769"/>
              </a:spcAft>
            </a:pPr>
            <a:r>
              <a:rPr sz="20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2000" b="0" i="0">
                <a:solidFill>
                  <a:srgbClr val="000000"/>
                </a:solidFill>
                <a:latin typeface="Nirmala UI"/>
              </a:rPr>
              <a:t>Verify and troubleshoot results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1035" y="2038281"/>
            <a:ext cx="7242810" cy="303747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47806"/>
            <a:ext cx="7223760" cy="30184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D1282E"/>
                </a:solidFill>
                <a:latin typeface="Leelawadee"/>
              </a:rPr>
              <a:t>TRANSITION TO MODULE 5: AGGREGATION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9760" y="1280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95959"/>
                </a:solidFill>
                <a:latin typeface="Nirmala UI"/>
              </a:rPr>
              <a:t>MODULE 4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414858"/>
            <a:ext cx="237744" cy="23774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485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396570"/>
            <a:ext cx="109179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890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Module 5 builds on these query skills: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25741"/>
            <a:ext cx="11247120" cy="27734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Pipeline structure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$match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(you already think in filters)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$project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(you already think in projections)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$group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and accumulators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$sort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·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$limit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Calculated fields and array processing</a:t>
            </a:r>
          </a:p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•  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Multi-stage analytical pipelines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90626"/>
            <a:ext cx="11247120" cy="435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92"/>
              </a:spcAft>
            </a:pPr>
            <a:r>
              <a:rPr sz="1800" b="0" i="0">
                <a:solidFill>
                  <a:srgbClr val="000000"/>
                </a:solidFill>
                <a:latin typeface="Nirmala UI"/>
              </a:rPr>
              <a:t>Same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training_store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data. Reloading </a:t>
            </a:r>
            <a:r>
              <a:rPr sz="1800" b="0" i="0">
                <a:solidFill>
                  <a:srgbClr val="000000"/>
                </a:solidFill>
                <a:latin typeface="Consolas"/>
              </a:rPr>
              <a:t>load.js</a:t>
            </a:r>
            <a:r>
              <a:rPr sz="1800" b="0" i="0">
                <a:solidFill>
                  <a:srgbClr val="000000"/>
                </a:solidFill>
                <a:latin typeface="Nirmala UI"/>
              </a:rPr>
              <a:t> is wise after today's writes.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D1282E"/>
                </a:solidFill>
                <a:latin typeface="Nirmala UI"/>
              </a:rPr>
              <a:t>205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206</Slides>
  <Notes>206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206</vt:i4>
      </vt:variant>
    </vt:vector>
  </HeadingPairs>
  <TitlesOfParts>
    <vt:vector size="20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