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Two mechanisms, two problems</a:t>
            </a:r>
          </a:p>
          <a:p/>
          <a:p>
            <a:r>
              <a:t>  MongoDB uses two mechanisms for demanding production workloads.</a:t>
            </a:r>
          </a:p>
          <a:p/>
          <a:p>
            <a:r>
              <a:t>  Replication keeps several copies of the same data so the database stays available when a server fails.</a:t>
            </a:r>
          </a:p>
          <a:p/>
          <a:p>
            <a:r>
              <a:t>  Sharding splits a collection across several servers so it can grow past one machine.</a:t>
            </a:r>
          </a:p>
          <a:p/>
          <a:p>
            <a:r>
              <a:t>- What this module does</a:t>
            </a:r>
          </a:p>
          <a:p/>
          <a:p>
            <a:r>
              <a:t>  We start by separating availability from scalability.</a:t>
            </a:r>
          </a:p>
          <a:p/>
          <a:p>
            <a:r>
              <a:t>  Then we look inside a replica set: the primary, the secondaries, the oplog, elections and failover.</a:t>
            </a:r>
          </a:p>
          <a:p/>
          <a:p>
            <a:r>
              <a:t>  Next come the read and write settings and what replication lag and rollback mean.</a:t>
            </a:r>
          </a:p>
          <a:p/>
          <a:p>
            <a:r>
              <a:t>  Finally we build a sharded cluster, choose a shard key for training_store orders and see how queries are routed.</a:t>
            </a:r>
          </a:p>
          <a:p/>
          <a:p>
            <a:r>
              <a:t>- Where this sits in the course</a:t>
            </a:r>
          </a:p>
          <a:p/>
          <a:p>
            <a:r>
              <a:t>  This is the second module of Day 3.</a:t>
            </a:r>
          </a:p>
          <a:p/>
          <a:p>
            <a:r>
              <a:t>  Module 6 made single queries fast with indexes.</a:t>
            </a:r>
          </a:p>
          <a:p/>
          <a:p>
            <a:r>
              <a:t>  Module 7 keeps the whole database online and ready to grow, and Module 8 turns all of it into production practice.</a:t>
            </a:r>
          </a:p>
          <a:p/>
          <a:p>
            <a:r>
              <a:t>- Lab safety</a:t>
            </a:r>
          </a:p>
          <a:p/>
          <a:p>
            <a:r>
              <a:t>  Failover and sharding commands run only on instructor-controlled, disposable infrastructure.</a:t>
            </a:r>
          </a:p>
          <a:p/>
          <a:p>
            <a:r>
              <a:t>  Say this now and repeat it whenever such a command appears.</a:t>
            </a:r>
          </a:p>
          <a:p/>
          <a:p/>
          <a:p>
            <a:r>
              <a:t>REAL-WORLD EXAMPLES</a:t>
            </a:r>
          </a:p>
          <a:p>
            <a:r>
              <a:t>-------------------</a:t>
            </a:r>
          </a:p>
          <a:p/>
          <a:p>
            <a:r>
              <a:t>- An online store runs its database as a three-member replica set, so a failed server causes a pause of seconds, not an outage.</a:t>
            </a:r>
          </a:p>
          <a:p/>
          <a:p>
            <a:r>
              <a:t>  Years later, when order volume outgrows one replica set, it shards the orders collection.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By the end of this module</a:t>
            </a:r>
          </a:p>
          <a:p/>
          <a:p>
            <a:r>
              <a:t>  Walk through the six objectives on the left.</a:t>
            </a:r>
          </a:p>
          <a:p/>
          <a:p>
            <a:r>
              <a:t>  Learners should be able to tell availability from scalability, and explain the roles in a replica set, the oplog and failover.</a:t>
            </a:r>
          </a:p>
          <a:p/>
          <a:p>
            <a:r>
              <a:t>  They should be able to choose basic read and write settings and describe the parts of a sharded cluster.</a:t>
            </a:r>
          </a:p>
          <a:p/>
          <a:p>
            <a:r>
              <a:t>  They should also be able to evaluate a shard key and its query routing, and decide when to replicate, shard, or both.</a:t>
            </a:r>
          </a:p>
          <a:p/>
          <a:p>
            <a:r>
              <a:t>- Six questions this module answers</a:t>
            </a:r>
          </a:p>
          <a:p/>
          <a:p>
            <a:r>
              <a:t>  Why do we need both copies and pieces?</a:t>
            </a:r>
          </a:p>
          <a:p/>
          <a:p>
            <a:r>
              <a:t>  How does a replica set survive a failure?</a:t>
            </a:r>
          </a:p>
          <a:p/>
          <a:p>
            <a:r>
              <a:t>  Which member serves a read, and when is a write safe?</a:t>
            </a:r>
          </a:p>
          <a:p/>
          <a:p>
            <a:r>
              <a:t>  What makes up a sharded cluster?</a:t>
            </a:r>
          </a:p>
          <a:p/>
          <a:p>
            <a:r>
              <a:t>  How do we choose a shard key?</a:t>
            </a:r>
          </a:p>
          <a:p/>
          <a:p>
            <a:r>
              <a:t>  And when should we replicate, shard, or both?</a:t>
            </a:r>
          </a:p>
          <a:p/>
          <a:p>
            <a:r>
              <a:t>- The roadmap</a:t>
            </a:r>
          </a:p>
          <a:p/>
          <a:p>
            <a:r>
              <a:t>  The five parts at the bottom follow that order.</a:t>
            </a:r>
          </a:p>
          <a:p/>
          <a:p>
            <a:r>
              <a:t>  Official Exercises 7.1 to 7.4 come at the end, followed by the module's lab, Day 3 Lab 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Read each term once and give a quick example from the training_store sample database.</a:t>
            </a:r>
          </a:p>
          <a:p/>
          <a:p>
            <a:r>
              <a:t>- Replica set</a:t>
            </a:r>
          </a:p>
          <a:p/>
          <a:p>
            <a:r>
              <a:t>  A group of mongod servers holding the same data: one primary and its secondaries.</a:t>
            </a:r>
          </a:p>
          <a:p/>
          <a:p>
            <a:r>
              <a:t>- Oplog</a:t>
            </a:r>
          </a:p>
          <a:p/>
          <a:p>
            <a:r>
              <a:t>  The operation log: a capped collection of every change, which secondaries copy and apply.</a:t>
            </a:r>
          </a:p>
          <a:p/>
          <a:p>
            <a:r>
              <a:t>- Election and failover</a:t>
            </a:r>
          </a:p>
          <a:p/>
          <a:p>
            <a:r>
              <a:t>  When the primary is lost, a majority of voters elects a secondary as the new primary.</a:t>
            </a:r>
          </a:p>
          <a:p/>
          <a:p>
            <a:r>
              <a:t>- Write concern</a:t>
            </a:r>
          </a:p>
          <a:p/>
          <a:p>
            <a:r>
              <a:t>  How many members must confirm a write before the application gets an answer.</a:t>
            </a:r>
          </a:p>
          <a:p/>
          <a:p>
            <a:r>
              <a:t>- Read preference and read concern</a:t>
            </a:r>
          </a:p>
          <a:p/>
          <a:p>
            <a:r>
              <a:t>  Which member serves a read — and which data it may return.</a:t>
            </a:r>
          </a:p>
          <a:p/>
          <a:p>
            <a:r>
              <a:t>- Sharded cluster</a:t>
            </a:r>
          </a:p>
          <a:p/>
          <a:p>
            <a:r>
              <a:t>  Shards hold the data, config servers hold the metadata, mongos routes every request.</a:t>
            </a:r>
          </a:p>
          <a:p/>
          <a:p>
            <a:r>
              <a:t>- Shard key</a:t>
            </a:r>
          </a:p>
          <a:p/>
          <a:p>
            <a:r>
              <a:t>  The indexed field or fields that decide which shard stores each document.</a:t>
            </a:r>
          </a:p>
          <a:p/>
          <a:p>
            <a:r>
              <a:t>- Chunk and balancer</a:t>
            </a:r>
          </a:p>
          <a:p/>
          <a:p>
            <a:r>
              <a:t>  A chunk is one range of shard-key values; the balancer moves ranges between shards.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Don't read every row.</a:t>
            </a:r>
          </a:p>
          <a:p/>
          <a:p>
            <a:r>
              <a:t>  Point out the few this module uses most, and say the full list is here for reference.</a:t>
            </a:r>
          </a:p>
          <a:p/>
          <a:p>
            <a:r>
              <a:t>- Reference</a:t>
            </a:r>
          </a:p>
          <a:p/>
          <a:p>
            <a:r>
              <a:t>  CA is Canada (zone label); COLLSCAN is Collection Scan; CPU is Central Processing Unit; ESR is Equality, Sort, Range; EU is European Union (zone label); HA is High Availability; IXSCAN is Index Scan; oplog is Operations log; RAM is Random Access Memory; URI is Uniform Resource Identifier; US is United States (zone label).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Bridge from Module 6</a:t>
            </a:r>
          </a:p>
          <a:p/>
          <a:p>
            <a:r>
              <a:t>  In Module 6 we built indexes that match our query shapes and proved them with explain.</a:t>
            </a:r>
          </a:p>
          <a:p/>
          <a:p>
            <a:r>
              <a:t>  The customer-history index { customerId: 1, createdAt: -1 } made one customer's orders fast.</a:t>
            </a:r>
          </a:p>
          <a:p/>
          <a:p>
            <a:r>
              <a:t>- The new question</a:t>
            </a:r>
          </a:p>
          <a:p/>
          <a:p>
            <a:r>
              <a:t>  A fast query doesn't help if the server is down, or if the orders collection no longer fits on one server.</a:t>
            </a:r>
          </a:p>
          <a:p/>
          <a:p>
            <a:r>
              <a:t>  This module answers both.</a:t>
            </a:r>
          </a:p>
          <a:p/>
          <a:p>
            <a:r>
              <a:t>- The same example</a:t>
            </a:r>
          </a:p>
          <a:p/>
          <a:p>
            <a:r>
              <a:t>  We stay with training_store: 17 orders from 6 customers today.</a:t>
            </a:r>
          </a:p>
          <a:p/>
          <a:p>
            <a:r>
              <a:t>  The customerId field from Module 6 comes back as our main shard-key candidate.</a:t>
            </a:r>
          </a:p>
          <a:p/>
          <a:p>
            <a:r>
              <a:t>- Lab safety</a:t>
            </a:r>
          </a:p>
          <a:p/>
          <a:p>
            <a:r>
              <a:t>  Failover and sharding commands run only on instructor-controlled, disposable infrastructure.</a:t>
            </a:r>
          </a:p>
          <a:p/>
          <a:p>
            <a:r>
              <a:t>  Never step down or shard a shared class cluster.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start here</a:t>
            </a:r>
          </a:p>
          <a:p/>
          <a:p>
            <a:r>
              <a:t>  Replication and sharding are often confused.</a:t>
            </a:r>
          </a:p>
          <a:p/>
          <a:p>
            <a:r>
              <a:t>  We first separate the two problems: availability and scale.</a:t>
            </a:r>
          </a:p>
          <a:p/>
          <a:p>
            <a:r>
              <a:t>- What this part covers</a:t>
            </a:r>
          </a:p>
          <a:p/>
          <a:p>
            <a:r>
              <a:t>  Which mechanism solves which requirement, vertical and horizontal scaling, and a side-by-side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Start from the requirement</a:t>
            </a:r>
          </a:p>
          <a:p/>
          <a:p>
            <a:r>
              <a:t>  Don't start from a technology.</a:t>
            </a:r>
          </a:p>
          <a:p/>
          <a:p>
            <a:r>
              <a:t>  Start from what the business needs: stay online, or handle growth.</a:t>
            </a:r>
          </a:p>
          <a:p/>
          <a:p>
            <a:r>
              <a:t>- Stay online</a:t>
            </a:r>
          </a:p>
          <a:p/>
          <a:p>
            <a:r>
              <a:t>  Staying online needs a replica set.</a:t>
            </a:r>
          </a:p>
          <a:p/>
          <a:p>
            <a:r>
              <a:t>  Several mongod servers keep the same data, and when a node fails, another member takes over automatically.</a:t>
            </a:r>
          </a:p>
          <a:p/>
          <a:p>
            <a:r>
              <a:t>  The result is high availability.</a:t>
            </a:r>
          </a:p>
          <a:p/>
          <a:p>
            <a:r>
              <a:t>- Handle growth</a:t>
            </a:r>
          </a:p>
          <a:p/>
          <a:p>
            <a:r>
              <a:t>  Handling growth needs a sharded cluster.</a:t>
            </a:r>
          </a:p>
          <a:p/>
          <a:p>
            <a:r>
              <a:t>  mongos spreads the data and the load across shards.</a:t>
            </a:r>
          </a:p>
          <a:p/>
          <a:p>
            <a:r>
              <a:t>  The result is horizontal scalability.</a:t>
            </a:r>
          </a:p>
          <a:p/>
          <a:p>
            <a:r>
              <a:t>- What it shows</a:t>
            </a:r>
          </a:p>
          <a:p/>
          <a:p>
            <a:r>
              <a:t>  mongosh and Compass use training_store.</a:t>
            </a:r>
          </a:p>
          <a:p/>
          <a:p>
            <a:r>
              <a:t>  Below, two rows: the requirement stay online needs a replica set and delivers high availability; the requirement handle growth needs a sharded cluster and delivers horizontal scalability.</a:t>
            </a:r>
          </a:p>
          <a:p/>
          <a:p>
            <a:r>
              <a:t>- How to read it</a:t>
            </a:r>
          </a:p>
          <a:p/>
          <a:p>
            <a:r>
              <a:t>  Read each row left to right: requirement, mechanism, result.</a:t>
            </a:r>
          </a:p>
          <a:p/>
          <a:p>
            <a:r>
              <a:t>  In the replica set, the red node failure and the dashed automatic failover arrow show a secondary taking over.</a:t>
            </a:r>
          </a:p>
          <a:p/>
          <a:p>
            <a:r>
              <a:t>- A simplification to point out</a:t>
            </a:r>
          </a:p>
          <a:p/>
          <a:p>
            <a:r>
              <a:t>  The sharded cluster draws each shard as one mongod and leaves out the config servers.</a:t>
            </a:r>
          </a:p>
          <a:p/>
          <a:p>
            <a:r>
              <a:t>  In production every shard is a replica set, as we'll see in Part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Vertical scaling</a:t>
            </a:r>
          </a:p>
          <a:p/>
          <a:p>
            <a:r>
              <a:t>  Vertical scaling means a bigger server: more CPU, more memory, faster and larger storage.</a:t>
            </a:r>
          </a:p>
          <a:p/>
          <a:p>
            <a:r>
              <a:t>  It is simple and needs no data distribution.</a:t>
            </a:r>
          </a:p>
          <a:p/>
          <a:p>
            <a:r>
              <a:t>  But a server has a maximum size, large hardware is expensive, and maintenance affects the whole workload.</a:t>
            </a:r>
          </a:p>
          <a:p/>
          <a:p>
            <a:r>
              <a:t>  On its own, a bigger server also gives no high availability.</a:t>
            </a:r>
          </a:p>
          <a:p/>
          <a:p>
            <a:r>
              <a:t>- Horizontal scaling</a:t>
            </a:r>
          </a:p>
          <a:p/>
          <a:p>
            <a:r>
              <a:t>  Horizontal scaling adds servers and spreads the work.</a:t>
            </a:r>
          </a:p>
          <a:p/>
          <a:p>
            <a:r>
              <a:t>  In MongoDB that is sharding: each shard holds part of the data, and each shard's CPU, memory and disk carry part of the load.</a:t>
            </a:r>
          </a:p>
          <a:p/>
          <a:p>
            <a:r>
              <a:t>- Why growth happens</a:t>
            </a:r>
          </a:p>
          <a:p/>
          <a:p>
            <a:r>
              <a:t>  More users, larger data, more writes, more queries, larger indexes, analytics and new regions all add load.</a:t>
            </a:r>
          </a:p>
          <a:p/>
          <a:p>
            <a:r>
              <a:t>- Advice</a:t>
            </a:r>
          </a:p>
          <a:p/>
          <a:p>
            <a:r>
              <a:t>  MongoDB recommends starting unsharded while the data and workload fit comfortably on one replica set.</a:t>
            </a:r>
          </a:p>
          <a:p/>
          <a:p>
            <a:r>
              <a:t>  Tune the schema and indexes from Modules 3 and 6 first.</a:t>
            </a:r>
          </a:p>
          <a:p/>
          <a:p>
            <a:r>
              <a:t>- What it shows</a:t>
            </a:r>
          </a:p>
          <a:p/>
          <a:p>
            <a:r>
              <a:t>  On the left, one mongod before and after an upgrade: the CPU, RAM and storage bars grow, and the red label says hardware limit.</a:t>
            </a:r>
          </a:p>
          <a:p/>
          <a:p>
            <a:r>
              <a:t>  On the right, mongos distributes data and load to three shards, each with moderate CPU, RAM and storage use.</a:t>
            </a:r>
          </a:p>
          <a:p/>
          <a:p>
            <a:r>
              <a:t>- How to read it</a:t>
            </a:r>
          </a:p>
          <a:p/>
          <a:p>
            <a:r>
              <a:t>  Compare the captions: scale up one server, or scale out across servers and add more shards.</a:t>
            </a:r>
          </a:p>
          <a:p/>
          <a:p>
            <a:r>
              <a:t>- A simplification to point out</a:t>
            </a:r>
          </a:p>
          <a:p/>
          <a:p>
            <a:r>
              <a:t>  Again each shard is drawn as one mongod.</a:t>
            </a:r>
          </a:p>
          <a:p/>
          <a:p>
            <a:r>
              <a:t>  In production each shard is a replica 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read the table</a:t>
            </a:r>
          </a:p>
          <a:p/>
          <a:p>
            <a:r>
              <a:t>  Each row is one requirement.</a:t>
            </a:r>
          </a:p>
          <a:p/>
          <a:p>
            <a:r>
              <a:t>  The two columns say whether replication or sharding delivers it.</a:t>
            </a:r>
          </a:p>
          <a:p/>
          <a:p>
            <a:r>
              <a:t>- The important distinction</a:t>
            </a:r>
          </a:p>
          <a:p/>
          <a:p>
            <a:r>
              <a:t>  Replication does not divide the data.</a:t>
            </a:r>
          </a:p>
          <a:p/>
          <a:p>
            <a:r>
              <a:t>  Every data-bearing member of a replica set holds a copy of the whole data set.</a:t>
            </a:r>
          </a:p>
          <a:p/>
          <a:p>
            <a:r>
              <a:t>  Sharding divides a collection's documents, so each shard stores only its own part.</a:t>
            </a:r>
          </a:p>
          <a:p/>
          <a:p>
            <a:r>
              <a:t>- Failover in a sharded cluster</a:t>
            </a:r>
          </a:p>
          <a:p/>
          <a:p>
            <a:r>
              <a:t>  Sharding on its own gives no failover.</a:t>
            </a:r>
          </a:p>
          <a:p/>
          <a:p>
            <a:r>
              <a:t>  It gets failover because each shard is itself a replica set.</a:t>
            </a:r>
          </a:p>
          <a:p/>
          <a:p>
            <a:r>
              <a:t>- The last row</a:t>
            </a:r>
          </a:p>
          <a:p/>
          <a:p>
            <a:r>
              <a:t>  Neither mechanism restores data that was deleted last week.</a:t>
            </a:r>
          </a:p>
          <a:p/>
          <a:p>
            <a:r>
              <a:t>  A deleteMany on the primary is replicated to every secondary within seconds.</a:t>
            </a:r>
          </a:p>
          <a:p/>
          <a:p>
            <a:r>
              <a:t>  Only a backup gives an independent recovery point.</a:t>
            </a:r>
          </a:p>
          <a:p/>
          <a:p>
            <a:r>
              <a:t>  Module 8 covers backup and restore.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Replica sets are the foundation of MongoDB high availability, and every production shard is one.</a:t>
            </a:r>
          </a:p>
          <a:p/>
          <a:p>
            <a:r>
              <a:t>  We look inside one now.</a:t>
            </a:r>
          </a:p>
          <a:p/>
          <a:p>
            <a:r>
              <a:t>- What to watch</a:t>
            </a:r>
          </a:p>
          <a:p/>
          <a:p>
            <a:r>
              <a:t>  Keep asking two questions: where do writes go, and who decides the new primary?</a:t>
            </a:r>
          </a:p>
          <a:p/>
          <a:p>
            <a:r>
              <a:t>- Lab safety</a:t>
            </a:r>
          </a:p>
          <a:p/>
          <a:p>
            <a:r>
              <a:t>  Failover and sharding commands run only on instructor-controlled, disposable infrastructure.</a:t>
            </a:r>
          </a:p>
          <a:p/>
          <a:p>
            <a:r>
              <a:t>  Never step down or shard a shared class cluster.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a replica set is</a:t>
            </a:r>
          </a:p>
          <a:p/>
          <a:p>
            <a:r>
              <a:t>  A replica set is a group of mongod processes that maintain the same data set.</a:t>
            </a:r>
          </a:p>
          <a:p/>
          <a:p>
            <a:r>
              <a:t>  The common configuration is three data-bearing members.</a:t>
            </a:r>
          </a:p>
          <a:p/>
          <a:p>
            <a:r>
              <a:t>- Primary and secondaries</a:t>
            </a:r>
          </a:p>
          <a:p/>
          <a:p>
            <a:r>
              <a:t>  The primary receives every write.</a:t>
            </a:r>
          </a:p>
          <a:p/>
          <a:p>
            <a:r>
              <a:t>  It applies the write, records it in its oplog and makes it available to the secondaries.</a:t>
            </a:r>
          </a:p>
          <a:p/>
          <a:p>
            <a:r>
              <a:t>  Secondaries copy those operations and apply them locally, so each one keeps a full copy of training_store.</a:t>
            </a:r>
          </a:p>
          <a:p/>
          <a:p>
            <a:r>
              <a:t>- One writable primary</a:t>
            </a:r>
          </a:p>
          <a:p/>
          <a:p>
            <a:r>
              <a:t>  A replica set normally has one writable primary at a time.</a:t>
            </a:r>
          </a:p>
          <a:p/>
          <a:p>
            <a:r>
              <a:t>  Applications can't write to a secondary.</a:t>
            </a:r>
          </a:p>
          <a:p/>
          <a:p>
            <a:r>
              <a:t>  They can read from one only when a read preference allows it.</a:t>
            </a:r>
          </a:p>
          <a:p/>
          <a:p>
            <a:r>
              <a:t>- Heartbeats</a:t>
            </a:r>
          </a:p>
          <a:p/>
          <a:p>
            <a:r>
              <a:t>  Members send each other heartbeats, every two seconds by default.</a:t>
            </a:r>
          </a:p>
          <a:p/>
          <a:p>
            <a:r>
              <a:t>  If the primary goes quiet for long enough, the eligible secondaries hold an election.</a:t>
            </a:r>
          </a:p>
          <a:p/>
          <a:p>
            <a:r>
              <a:t>- What it shows</a:t>
            </a:r>
          </a:p>
          <a:p/>
          <a:p>
            <a:r>
              <a:t>  mongosh and Compass send writes and reads to the PRIMARY, which accepts writes.</a:t>
            </a:r>
          </a:p>
          <a:p/>
          <a:p>
            <a:r>
              <a:t>  Oplog replication arrows lead to two SECONDARY members, which copy data.</a:t>
            </a:r>
          </a:p>
          <a:p/>
          <a:p>
            <a:r>
              <a:t>  Each member holds products, customers, orders and reviews.</a:t>
            </a:r>
          </a:p>
          <a:p/>
          <a:p>
            <a:r>
              <a:t>- How to read it</a:t>
            </a:r>
          </a:p>
          <a:p/>
          <a:p>
            <a:r>
              <a:t>  The dashed lines underneath are heartbeats and voting between all members.</a:t>
            </a:r>
          </a:p>
          <a:p/>
          <a:p>
            <a:r>
              <a:t>  The red line shows that when the primary is unavailable, a secondary is eligible for election.</a:t>
            </a:r>
          </a:p>
          <a:p/>
          <a:p>
            <a:r>
              <a:t>- Key point</a:t>
            </a:r>
          </a:p>
          <a:p/>
          <a:p>
            <a:r>
              <a:t>  Every member holds the whole of training_store.</a:t>
            </a:r>
          </a:p>
          <a:p/>
          <a:p>
            <a:r>
              <a:t>  Copies add redundancy, not capacity.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the oplog is</a:t>
            </a:r>
          </a:p>
          <a:p/>
          <a:p>
            <a:r>
              <a:t>  The operation log, or oplog, is a special capped collection, local.oplog.rs.</a:t>
            </a:r>
          </a:p>
          <a:p/>
          <a:p>
            <a:r>
              <a:t>  It records every data-changing operation: inserts, updates, deletes and certain administrative changes.</a:t>
            </a:r>
          </a:p>
          <a:p/>
          <a:p>
            <a:r>
              <a:t>- The flow</a:t>
            </a:r>
          </a:p>
          <a:p/>
          <a:p>
            <a:r>
              <a:t>  A write reaches the primary.</a:t>
            </a:r>
          </a:p>
          <a:p/>
          <a:p>
            <a:r>
              <a:t>  The primary applies it and records it in the oplog.</a:t>
            </a:r>
          </a:p>
          <a:p/>
          <a:p>
            <a:r>
              <a:t>  Secondaries copy the new entries and apply them locally, in order.</a:t>
            </a:r>
          </a:p>
          <a:p/>
          <a:p>
            <a:r>
              <a:t>- Asynchronous</a:t>
            </a:r>
          </a:p>
          <a:p/>
          <a:p>
            <a:r>
              <a:t>  Replication is asynchronous.</a:t>
            </a:r>
          </a:p>
          <a:p/>
          <a:p>
            <a:r>
              <a:t>  A secondary may lag behind the primary for a moment, and sometimes for longer.</a:t>
            </a:r>
          </a:p>
          <a:p/>
          <a:p>
            <a:r>
              <a:t>- The replication window</a:t>
            </a:r>
          </a:p>
          <a:p/>
          <a:p>
            <a:r>
              <a:t>  The oplog has a fixed size.</a:t>
            </a:r>
          </a:p>
          <a:p/>
          <a:p>
            <a:r>
              <a:t>  When it is full, the oldest entries are overwritten.</a:t>
            </a:r>
          </a:p>
          <a:p/>
          <a:p>
            <a:r>
              <a:t>  The time span it still holds is the replication window.</a:t>
            </a:r>
          </a:p>
          <a:p/>
          <a:p>
            <a:r>
              <a:t>  A member offline for longer than the window can't catch up incrementally and needs a full resynchronization.</a:t>
            </a:r>
          </a:p>
          <a:p/>
          <a:p>
            <a:r>
              <a:t>- What it shows</a:t>
            </a:r>
          </a:p>
          <a:p/>
          <a:p>
            <a:r>
              <a:t>  A new order is written on the primary.</a:t>
            </a:r>
          </a:p>
          <a:p/>
          <a:p>
            <a:r>
              <a:t>  The primary records the operation in the oplog, local.oplog.rs, whose entries ts 101, 102 and 103 are an insert into orders, an update to products and an insert into reviews.</a:t>
            </a:r>
          </a:p>
          <a:p/>
          <a:p>
            <a:r>
              <a:t>  Two secondaries tail the new entries and apply them in order.</a:t>
            </a:r>
          </a:p>
          <a:p/>
          <a:p>
            <a:r>
              <a:t>- How to read it</a:t>
            </a:r>
          </a:p>
          <a:p/>
          <a:p>
            <a:r>
              <a:t>  Follow the red arrow into the capped, ordered log, then the teal arrows out to the secondaries.</a:t>
            </a:r>
          </a:p>
          <a:p/>
          <a:p>
            <a:r>
              <a:t>- About the sample document</a:t>
            </a:r>
          </a:p>
          <a:p/>
          <a:p>
            <a:r>
              <a:t>  The diagram's { orderId: 1042, status: NEW } is simplified.</a:t>
            </a:r>
          </a:p>
          <a:p/>
          <a:p>
            <a:r>
              <a:t>  A real training_store order has an orderNumber such as O6305 and a fulfillmentStatus of NEW.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When an election happens</a:t>
            </a:r>
          </a:p>
          <a:p/>
          <a:p>
            <a:r>
              <a:t>  If the primary becomes unreachable, the eligible voting members hold an election.</a:t>
            </a:r>
          </a:p>
          <a:p/>
          <a:p>
            <a:r>
              <a:t>- Majority</a:t>
            </a:r>
          </a:p>
          <a:p/>
          <a:p>
            <a:r>
              <a:t>  A candidate must win votes from a majority of voting members.</a:t>
            </a:r>
          </a:p>
          <a:p/>
          <a:p>
            <a:r>
              <a:t>  Three voters need two votes, so the set survives the loss of one voter.</a:t>
            </a:r>
          </a:p>
          <a:p/>
          <a:p>
            <a:r>
              <a:t>  Five voters need three, so the set survives the loss of two.</a:t>
            </a:r>
          </a:p>
          <a:p/>
          <a:p>
            <a:r>
              <a:t>- Why odd numbers</a:t>
            </a:r>
          </a:p>
          <a:p/>
          <a:p>
            <a:r>
              <a:t>  Four voters need three votes, so they tolerate only one failure, the same as three voters.</a:t>
            </a:r>
          </a:p>
          <a:p/>
          <a:p>
            <a:r>
              <a:t>  A fourth voter adds cost but no extra failure tolerance.</a:t>
            </a:r>
          </a:p>
          <a:p/>
          <a:p>
            <a:r>
              <a:t>  That is why odd numbers are common.</a:t>
            </a:r>
          </a:p>
          <a:p/>
          <a:p>
            <a:r>
              <a:t>- Who wins</a:t>
            </a:r>
          </a:p>
          <a:p/>
          <a:p>
            <a:r>
              <a:t>  Priority and how up to date a member is both matter.</a:t>
            </a:r>
          </a:p>
          <a:p/>
          <a:p>
            <a:r>
              <a:t>  A member whose oplog is behind the others won't be elected ahead of a more current one.</a:t>
            </a:r>
          </a:p>
          <a:p/>
          <a:p>
            <a:r>
              <a:t>- What it shows</a:t>
            </a:r>
          </a:p>
          <a:p/>
          <a:p>
            <a:r>
              <a:t>  A three-member set whose primary has lost its heartbeat.</a:t>
            </a:r>
          </a:p>
          <a:p/>
          <a:p>
            <a:r>
              <a:t>  The election starts, Secondaries A and B vote, two of three votes are cast, and the winner is promoted: it now accepts writes, and Secondary B stays a secondary.</a:t>
            </a:r>
          </a:p>
          <a:p/>
          <a:p>
            <a:r>
              <a:t>- How to read it</a:t>
            </a:r>
          </a:p>
          <a:p/>
          <a:p>
            <a:r>
              <a:t>  Follow the arrows: election starts, majority votes, promote winner.</a:t>
            </a:r>
          </a:p>
          <a:p/>
          <a:p>
            <a:r>
              <a:t>  The line at the bottom says the most up-to-date eligible member wins.</a:t>
            </a:r>
          </a:p>
          <a:p/>
          <a:p>
            <a:r>
              <a:t>- Key point</a:t>
            </a:r>
          </a:p>
          <a:p/>
          <a:p>
            <a:r>
              <a:t>  Two of three is a majority, so this set can lose one member and still elect a primary.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six steps</a:t>
            </a:r>
          </a:p>
          <a:p/>
          <a:p>
            <a:r>
              <a:t>  The members detect the failure.</a:t>
            </a:r>
          </a:p>
          <a:p/>
          <a:p>
            <a:r>
              <a:t>  An eligible secondary asks for an election.</a:t>
            </a:r>
          </a:p>
          <a:p/>
          <a:p>
            <a:r>
              <a:t>  A majority selects the new primary, and that member becomes primary.</a:t>
            </a:r>
          </a:p>
          <a:p/>
          <a:p>
            <a:r>
              <a:t>  Drivers discover the change.</a:t>
            </a:r>
          </a:p>
          <a:p/>
          <a:p>
            <a:r>
              <a:t>  Application operations resume after reconnection and server selection.</a:t>
            </a:r>
          </a:p>
          <a:p/>
          <a:p>
            <a:r>
              <a:t>- A short write pause</a:t>
            </a:r>
          </a:p>
          <a:p/>
          <a:p>
            <a:r>
              <a:t>  There is normally a short period, often seconds, when writes can't complete because there is no primary.</a:t>
            </a:r>
          </a:p>
          <a:p/>
          <a:p>
            <a:r>
              <a:t>  By default a member waits about ten seconds without heartbeats before it calls an election.</a:t>
            </a:r>
          </a:p>
          <a:p/>
          <a:p>
            <a:r>
              <a:t>- The old primary</a:t>
            </a:r>
          </a:p>
          <a:p/>
          <a:p>
            <a:r>
              <a:t>  When the old primary comes back, it rejoins as a secondary.</a:t>
            </a:r>
          </a:p>
          <a:p/>
          <a:p>
            <a:r>
              <a:t>  It does not reclaim the primary role just because it was primary before.</a:t>
            </a:r>
          </a:p>
          <a:p/>
          <a:p>
            <a:r>
              <a:t>- Lab safety</a:t>
            </a:r>
          </a:p>
          <a:p/>
          <a:p>
            <a:r>
              <a:t>  The instructor can show this with rs.stepDown() on an instructor-controlled disposable replica set.</a:t>
            </a:r>
          </a:p>
          <a:p/>
          <a:p>
            <a:r>
              <a:t>  Never step down a shared class cluster.</a:t>
            </a:r>
          </a:p>
          <a:p/>
          <a:p>
            <a:r>
              <a:t>- What it shows</a:t>
            </a:r>
          </a:p>
          <a:p/>
          <a:p>
            <a:r>
              <a:t>  Four stages.</a:t>
            </a:r>
          </a:p>
          <a:p/>
          <a:p>
            <a:r>
              <a:t>  Normal: the client writes to the primary.</a:t>
            </a:r>
          </a:p>
          <a:p/>
          <a:p>
            <a:r>
              <a:t>  Detect: the primary is down and heartbeats are missed.</a:t>
            </a:r>
          </a:p>
          <a:p/>
          <a:p>
            <a:r>
              <a:t>  Elect: Secondary A wins the majority election.</a:t>
            </a:r>
          </a:p>
          <a:p/>
          <a:p>
            <a:r>
              <a:t>  Recovered: writes resume on the new primary, mongod A, through the replica-set connection string.</a:t>
            </a:r>
          </a:p>
          <a:p/>
          <a:p>
            <a:r>
              <a:t>- How to read it</a:t>
            </a:r>
          </a:p>
          <a:p/>
          <a:p>
            <a:r>
              <a:t>  At the end, Secondary B still copies data and the old primary is shown offline.</a:t>
            </a:r>
          </a:p>
          <a:p/>
          <a:p>
            <a:r>
              <a:t>  When it returns, it rejoins as a secondary.</a:t>
            </a:r>
          </a:p>
          <a:p/>
          <a:p>
            <a:r>
              <a:t>- Key point</a:t>
            </a:r>
          </a:p>
          <a:p/>
          <a:p>
            <a:r>
              <a:t>  No operator had to act: detection, election and recovery are automatic.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Give the driver the whole set</a:t>
            </a:r>
          </a:p>
          <a:p/>
          <a:p>
            <a:r>
              <a:t>  Applications should get several hosts or an SRV connection string, plus the replica set name.</a:t>
            </a:r>
          </a:p>
          <a:p/>
          <a:p>
            <a:r>
              <a:t>  The driver then discovers which member is primary and notices when that changes.</a:t>
            </a:r>
          </a:p>
          <a:p/>
          <a:p>
            <a:r>
              <a:t>- What the application sees</a:t>
            </a:r>
          </a:p>
          <a:p/>
          <a:p>
            <a:r>
              <a:t>  During the election a write fails with a transient error.</a:t>
            </a:r>
          </a:p>
          <a:p/>
          <a:p>
            <a:r>
              <a:t>  The driver refreshes the topology, reconnects to the new primary and can retry an eligible write once.</a:t>
            </a:r>
          </a:p>
          <a:p/>
          <a:p>
            <a:r>
              <a:t>- Design for it</a:t>
            </a:r>
          </a:p>
          <a:p/>
          <a:p>
            <a:r>
              <a:t>  Applications should still handle timeouts, retryable write failures, the risk of duplicate requests and transaction retries.</a:t>
            </a:r>
          </a:p>
          <a:p/>
          <a:p>
            <a:r>
              <a:t>  Idempotent operations make a retry safe.</a:t>
            </a:r>
          </a:p>
          <a:p/>
          <a:p>
            <a:r>
              <a:t>- The anti-pattern</a:t>
            </a:r>
          </a:p>
          <a:p/>
          <a:p>
            <a:r>
              <a:t>  Connecting to one host without replica-set discovery weakens failover.</a:t>
            </a:r>
          </a:p>
          <a:p/>
          <a:p>
            <a:r>
              <a:t>  Nobody should have to restart the application by hand after an election.</a:t>
            </a:r>
          </a:p>
          <a:p/>
          <a:p>
            <a:r>
              <a:t>- What it shows</a:t>
            </a:r>
          </a:p>
          <a:p/>
          <a:p>
            <a:r>
              <a:t>  An application creates an order.</a:t>
            </a:r>
          </a:p>
          <a:p/>
          <a:p>
            <a:r>
              <a:t>  The MongoDB driver, holding the replica-set URI and doing primary discovery, sends it to the primary.</a:t>
            </a:r>
          </a:p>
          <a:p/>
          <a:p>
            <a:r>
              <a:t>  The primary is unavailable, so the write gets a transient error and pauses.</a:t>
            </a:r>
          </a:p>
          <a:p/>
          <a:p>
            <a:r>
              <a:t>  The driver detects the topology change, discovers the new primary, reconnects and retries the eligible write, which succeeds and is acknowledged.</a:t>
            </a:r>
          </a:p>
          <a:p/>
          <a:p>
            <a:r>
              <a:t>- How to read it</a:t>
            </a:r>
          </a:p>
          <a:p/>
          <a:p>
            <a:r>
              <a:t>  Left to right is time.</a:t>
            </a:r>
          </a:p>
          <a:p/>
          <a:p>
            <a:r>
              <a:t>  The red box is the only moment the application sees a problem.</a:t>
            </a:r>
          </a:p>
          <a:p/>
          <a:p>
            <a:r>
              <a:t>- Key point</a:t>
            </a:r>
          </a:p>
          <a:p/>
          <a:p>
            <a:r>
              <a:t>  Failover is survivable when the driver knows the whole replica set and the write can be retried safely.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rs.status()</a:t>
            </a:r>
          </a:p>
          <a:p/>
          <a:p>
            <a:r>
              <a:t>  Connected to a replica-set member, rs.status() shows the set name, the current primary, the secondaries, each member's health and state, replication progress and election information.</a:t>
            </a:r>
          </a:p>
          <a:p/>
          <a:p>
            <a:r>
              <a:t>- rs.conf() and db.hello()</a:t>
            </a:r>
          </a:p>
          <a:p/>
          <a:p>
            <a:r>
              <a:t>  rs.conf() shows the configuration, including votes and priority.</a:t>
            </a:r>
          </a:p>
          <a:p/>
          <a:p>
            <a:r>
              <a:t>  db.hello() says whether the connected server is writable: setName, isWritablePrimary and secondary.</a:t>
            </a:r>
          </a:p>
          <a:p/>
          <a:p>
            <a:r>
              <a:t>- Lag</a:t>
            </a:r>
          </a:p>
          <a:p/>
          <a:p>
            <a:r>
              <a:t>  rs.printSecondaryReplicationInfo() shows how far behind each secondary is.</a:t>
            </a:r>
          </a:p>
          <a:p/>
          <a:p>
            <a:r>
              <a:t>  In a quiet training set it is usually zero to two seconds.</a:t>
            </a:r>
          </a:p>
          <a:p/>
          <a:p>
            <a:r>
              <a:t>- Where to run it</a:t>
            </a:r>
          </a:p>
          <a:p/>
          <a:p>
            <a:r>
              <a:t>  Atlas clusters, including the free tier, are replica sets.</a:t>
            </a:r>
          </a:p>
          <a:p/>
          <a:p>
            <a:r>
              <a:t>  A local standalone mongod is not: rs.status() reports that it is not running with --replSet.</a:t>
            </a:r>
          </a:p>
          <a:p/>
          <a:p>
            <a:r>
              <a:t>  Switch to the instructor's replica-set URI for Lab 6, Steps 4 to 7.</a:t>
            </a:r>
          </a:p>
          <a:p/>
          <a:p>
            <a:r>
              <a:t>- What it shows</a:t>
            </a:r>
          </a:p>
          <a:p/>
          <a:p>
            <a:r>
              <a:t>  mongosh and Compass look at the replica set through rs.status().</a:t>
            </a:r>
          </a:p>
          <a:p/>
          <a:p>
            <a:r>
              <a:t>  The primary reports 12 ms and 10:00:08.</a:t>
            </a:r>
          </a:p>
          <a:p/>
          <a:p>
            <a:r>
              <a:t>  Secondary A reports 18 ms, 10:00:08 and lag 0 s. Secondary B reports 240 ms, 10:00:03 and lag 5 s. The summary on the right: 2 healthy, 1 delayed, majority available.</a:t>
            </a:r>
          </a:p>
          <a:p/>
          <a:p>
            <a:r>
              <a:t>- How to read it</a:t>
            </a:r>
          </a:p>
          <a:p/>
          <a:p>
            <a:r>
              <a:t>  Compare the timestamps: Secondary B has applied the oplog up to five seconds earlier than the primary.</a:t>
            </a:r>
          </a:p>
          <a:p/>
          <a:p>
            <a:r>
              <a:t>  Here delayed simply means lagging; it is not a configured delayed member.</a:t>
            </a:r>
          </a:p>
          <a:p/>
          <a:p>
            <a:r>
              <a:t>- Key point</a:t>
            </a:r>
          </a:p>
          <a:p/>
          <a:p>
            <a:r>
              <a:t>  A lagging member is still healthy, and the majority is available, but the lag is worth watching.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Pairs, five minutes, then take one answer per set.</a:t>
            </a:r>
          </a:p>
          <a:p/>
          <a:p>
            <a:r>
              <a:t>  Point back to the voters, majority, can-lose table on the elections slide.</a:t>
            </a:r>
          </a:p>
          <a:p/>
          <a:p>
            <a:r>
              <a:t>- A and B</a:t>
            </a:r>
          </a:p>
          <a:p/>
          <a:p>
            <a:r>
              <a:t>  Three voters need two.</a:t>
            </a:r>
          </a:p>
          <a:p/>
          <a:p>
            <a:r>
              <a:t>  With one member down, two remain and a primary can be elected.</a:t>
            </a:r>
          </a:p>
          <a:p/>
          <a:p>
            <a:r>
              <a:t>  With two down, the survivor stays SECONDARY: writes fail, and reads only work with a secondary read preference.</a:t>
            </a:r>
          </a:p>
          <a:p/>
          <a:p>
            <a:r>
              <a:t>- C</a:t>
            </a:r>
          </a:p>
          <a:p/>
          <a:p>
            <a:r>
              <a:t>  Four voters need three.</a:t>
            </a:r>
          </a:p>
          <a:p/>
          <a:p>
            <a:r>
              <a:t>  With two down only two remain, so there is no primary.</a:t>
            </a:r>
          </a:p>
          <a:p/>
          <a:p>
            <a:r>
              <a:t>  Four members tolerate one failure, the same as three.</a:t>
            </a:r>
          </a:p>
          <a:p/>
          <a:p>
            <a:r>
              <a:t>- D</a:t>
            </a:r>
          </a:p>
          <a:p/>
          <a:p>
            <a:r>
              <a:t>  With five voters split three and two, the side with three still has a majority and keeps or elects the primary.</a:t>
            </a:r>
          </a:p>
          <a:p/>
          <a:p>
            <a:r>
              <a:t>  The side with two can't.</a:t>
            </a:r>
          </a:p>
          <a:p/>
          <a:p>
            <a:r>
              <a:t>  That is why teams place a majority of voters, or a tie-breaking member, in a third location.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Replication is asynchronous.</a:t>
            </a:r>
          </a:p>
          <a:p/>
          <a:p>
            <a:r>
              <a:t>  The settings in this part decide how much that matters for each operation.</a:t>
            </a:r>
          </a:p>
          <a:p/>
          <a:p>
            <a:r>
              <a:t>- Three knobs</a:t>
            </a:r>
          </a:p>
          <a:p/>
          <a:p>
            <a:r>
              <a:t>  Read preference, read concern and write concern are three different settings.</a:t>
            </a:r>
          </a:p>
          <a:p/>
          <a:p>
            <a:r>
              <a:t>  By the end, learners should be able to say what each one controls.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read preference decides</a:t>
            </a:r>
          </a:p>
          <a:p/>
          <a:p>
            <a:r>
              <a:t>  Read preference decides which members may serve a read.</a:t>
            </a:r>
          </a:p>
          <a:p/>
          <a:p>
            <a:r>
              <a:t>- The five modes</a:t>
            </a:r>
          </a:p>
          <a:p/>
          <a:p>
            <a:r>
              <a:t>  primary, the default, reads only from the primary.</a:t>
            </a:r>
          </a:p>
          <a:p/>
          <a:p>
            <a:r>
              <a:t>  primaryPreferred uses the primary and falls back to a secondary.</a:t>
            </a:r>
          </a:p>
          <a:p/>
          <a:p>
            <a:r>
              <a:t>  secondary reads only from eligible secondaries.</a:t>
            </a:r>
          </a:p>
          <a:p/>
          <a:p>
            <a:r>
              <a:t>  secondaryPreferred prefers a secondary and falls back to the primary.</a:t>
            </a:r>
          </a:p>
          <a:p/>
          <a:p>
            <a:r>
              <a:t>  nearest picks among eligible members partly by network latency.</a:t>
            </a:r>
          </a:p>
          <a:p/>
          <a:p>
            <a:r>
              <a:t>- Why primary is the default</a:t>
            </a:r>
          </a:p>
          <a:p/>
          <a:p>
            <a:r>
              <a:t>  Reading from the primary gives the simplest read-after-write behavior.</a:t>
            </a:r>
          </a:p>
          <a:p/>
          <a:p>
            <a:r>
              <a:t>  An application sees its own write straight away.</a:t>
            </a:r>
          </a:p>
          <a:p/>
          <a:p>
            <a:r>
              <a:t>- The secondary-read trade-off</a:t>
            </a:r>
          </a:p>
          <a:p/>
          <a:p>
            <a:r>
              <a:t>  Secondary reads can move load off the primary, serve distant users and help reporting.</a:t>
            </a:r>
          </a:p>
          <a:p/>
          <a:p>
            <a:r>
              <a:t>  But they may return data that is behind the primary, and they compete with replication for the secondary's resources.</a:t>
            </a:r>
          </a:p>
          <a:p/>
          <a:p>
            <a:r>
              <a:t>  They are a conscious decision, not free scaling.</a:t>
            </a:r>
          </a:p>
          <a:p/>
          <a:p>
            <a:r>
              <a:t>- What it shows</a:t>
            </a:r>
          </a:p>
          <a:p/>
          <a:p>
            <a:r>
              <a:t>  A read of products goes through the read preference.</a:t>
            </a:r>
          </a:p>
          <a:p/>
          <a:p>
            <a:r>
              <a:t>  primary and primaryPreferred point to mongod-1, the primary with the freshest data; primaryPreferred can fall back to a secondary.</a:t>
            </a:r>
          </a:p>
          <a:p/>
          <a:p>
            <a:r>
              <a:t>  secondary goes to mongod-2 or mongod-3; secondaryPreferred prefers them and can fall back to the primary.</a:t>
            </a:r>
          </a:p>
          <a:p/>
          <a:p>
            <a:r>
              <a:t>  nearest picks the lowest-latency member.</a:t>
            </a:r>
          </a:p>
          <a:p/>
          <a:p>
            <a:r>
              <a:t>- How to read it</a:t>
            </a:r>
          </a:p>
          <a:p/>
          <a:p>
            <a:r>
              <a:t>  Solid lines are the preferred targets, dashed lines the fallbacks.</a:t>
            </a:r>
          </a:p>
          <a:p/>
          <a:p>
            <a:r>
              <a:t>- Key point</a:t>
            </a:r>
          </a:p>
          <a:p/>
          <a:p>
            <a:r>
              <a:t>  Only the primary is guaranteed to have the freshest data.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write concern controls</a:t>
            </a:r>
          </a:p>
          <a:p/>
          <a:p>
            <a:r>
              <a:t>  Write concern controls how much acknowledgment the application asks for before a write counts as done.</a:t>
            </a:r>
          </a:p>
          <a:p/>
          <a:p>
            <a:r>
              <a:t>- The levels</a:t>
            </a:r>
          </a:p>
          <a:p/>
          <a:p>
            <a:r>
              <a:t>  w: 0 asks for no acknowledgment at all.</a:t>
            </a:r>
          </a:p>
          <a:p/>
          <a:p>
            <a:r>
              <a:t>  w: 1 means the primary accepted the write.</a:t>
            </a:r>
          </a:p>
          <a:p/>
          <a:p>
            <a:r>
              <a:t>  w: majority means a majority of data-bearing voting members have it.</a:t>
            </a:r>
          </a:p>
          <a:p/>
          <a:p>
            <a:r>
              <a:t>  Adding j: true also waits for the write to reach the on-disk journal.</a:t>
            </a:r>
          </a:p>
          <a:p/>
          <a:p>
            <a:r>
              <a:t>- The trade-off</a:t>
            </a:r>
          </a:p>
          <a:p/>
          <a:p>
            <a:r>
              <a:t>  Stronger acknowledgment gives better durability but can add latency.</a:t>
            </a:r>
          </a:p>
          <a:p/>
          <a:p>
            <a:r>
              <a:t>  Since MongoDB 5.0 the default for most replica sets is majority.</a:t>
            </a:r>
          </a:p>
          <a:p/>
          <a:p>
            <a:r>
              <a:t>- Match it to the operation</a:t>
            </a:r>
          </a:p>
          <a:p/>
          <a:p>
            <a:r>
              <a:t>  A shopping-cart preference, a completed payment, an inventory deduction, an audit record and a temporary analytics event can each deserve a different setting.</a:t>
            </a:r>
          </a:p>
          <a:p/>
          <a:p>
            <a:r>
              <a:t>- What it shows</a:t>
            </a:r>
          </a:p>
          <a:p/>
          <a:p>
            <a:r>
              <a:t>  An insert of an orders document on the primary, replicated to two secondaries.</a:t>
            </a:r>
          </a:p>
          <a:p/>
          <a:p>
            <a:r>
              <a:t>  Below, four panels.</a:t>
            </a:r>
          </a:p>
          <a:p/>
          <a:p>
            <a:r>
              <a:t>  w: 0 has no acknowledgment.</a:t>
            </a:r>
          </a:p>
          <a:p/>
          <a:p>
            <a:r>
              <a:t>  w: 1 is acknowledged by the primary.</a:t>
            </a:r>
          </a:p>
          <a:p/>
          <a:p>
            <a:r>
              <a:t>  w: majority is acknowledged after the primary and one secondary have it.</a:t>
            </a:r>
          </a:p>
          <a:p/>
          <a:p>
            <a:r>
              <a:t>  w: majority with j: true also has both members write the journal.</a:t>
            </a:r>
          </a:p>
          <a:p/>
          <a:p>
            <a:r>
              <a:t>- How to read it</a:t>
            </a:r>
          </a:p>
          <a:p/>
          <a:p>
            <a:r>
              <a:t>  Count the green checks in each panel: none, one, two, and two with a disk icon.</a:t>
            </a:r>
          </a:p>
          <a:p/>
          <a:p>
            <a:r>
              <a:t>- Key point</a:t>
            </a:r>
          </a:p>
          <a:p/>
          <a:p>
            <a:r>
              <a:t>  In a three-member set, majority means two members.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read concern controls</a:t>
            </a:r>
          </a:p>
          <a:p/>
          <a:p>
            <a:r>
              <a:t>  Read concern controls the consistency and isolation of the data a read returns.</a:t>
            </a:r>
          </a:p>
          <a:p/>
          <a:p>
            <a:r>
              <a:t>- The levels</a:t>
            </a:r>
          </a:p>
          <a:p/>
          <a:p>
            <a:r>
              <a:t>  local, the default, returns the member's newest data, which could later be rolled back.</a:t>
            </a:r>
          </a:p>
          <a:p/>
          <a:p>
            <a:r>
              <a:t>  available is similar and matters mainly on sharded clusters.</a:t>
            </a:r>
          </a:p>
          <a:p/>
          <a:p>
            <a:r>
              <a:t>  majority returns only data a majority has acknowledged.</a:t>
            </a:r>
          </a:p>
          <a:p/>
          <a:p>
            <a:r>
              <a:t>  linearizable gives the strongest single-document guarantee, and snapshot is used by transactions.</a:t>
            </a:r>
          </a:p>
          <a:p/>
          <a:p>
            <a:r>
              <a:t>- Two different questions</a:t>
            </a:r>
          </a:p>
          <a:p/>
          <a:p>
            <a:r>
              <a:t>  Read preference answers: which member may serve the read?</a:t>
            </a:r>
          </a:p>
          <a:p/>
          <a:p>
            <a:r>
              <a:t>  Read concern answers: what visibility or consistency guarantee should the read have?</a:t>
            </a:r>
          </a:p>
          <a:p/>
          <a:p>
            <a:r>
              <a:t>  Learners often mix them up, so ask them to say both questions aloud.</a:t>
            </a:r>
          </a:p>
          <a:p/>
          <a:p>
            <a:r>
              <a:t>- What it shows</a:t>
            </a:r>
          </a:p>
          <a:p/>
          <a:p>
            <a:r>
              <a:t>  mongosh asks to find a confirmed order with readConcern majority.</a:t>
            </a:r>
          </a:p>
          <a:p/>
          <a:p>
            <a:r>
              <a:t>  In the replica set, the primary and one secondary are marked majority committed.</a:t>
            </a:r>
          </a:p>
          <a:p/>
          <a:p>
            <a:r>
              <a:t>  The result is committed order data and a consistent read.</a:t>
            </a:r>
          </a:p>
          <a:p/>
          <a:p>
            <a:r>
              <a:t>- How to read it</a:t>
            </a:r>
          </a:p>
          <a:p/>
          <a:p>
            <a:r>
              <a:t>  The check marks show which members already have the data.</a:t>
            </a:r>
          </a:p>
          <a:p/>
          <a:p>
            <a:r>
              <a:t>  Two of three is enough for a majority read.</a:t>
            </a:r>
          </a:p>
          <a:p/>
          <a:p>
            <a:r>
              <a:t>- Key point</a:t>
            </a:r>
          </a:p>
          <a:p/>
          <a:p>
            <a:r>
              <a:t>  A majority read only returns data that can't be rolled back.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Write concern</a:t>
            </a:r>
          </a:p>
          <a:p/>
          <a:p>
            <a:r>
              <a:t>  Order O6401 is Luis Romero's pending order for two Business Laptops, total 2945.98.</a:t>
            </a:r>
          </a:p>
          <a:p/>
          <a:p>
            <a:r>
              <a:t>  Confirming the payment with w majority means the application only hears success once a majority has the change.</a:t>
            </a:r>
          </a:p>
          <a:p/>
          <a:p>
            <a:r>
              <a:t>  wtimeout stops it from waiting forever.</a:t>
            </a:r>
          </a:p>
          <a:p/>
          <a:p>
            <a:r>
              <a:t>- Don't change the shared data</a:t>
            </a:r>
          </a:p>
          <a:p/>
          <a:p>
            <a:r>
              <a:t>  This update is an example.</a:t>
            </a:r>
          </a:p>
          <a:p/>
          <a:p>
            <a:r>
              <a:t>  Don't run it on the shared training_store: later labs expect O6401's paymentStatus to be PENDING.</a:t>
            </a:r>
          </a:p>
          <a:p/>
          <a:p>
            <a:r>
              <a:t>  To practise write concerns, the instructor uses a scratch collection, repl_lab, and deletes the probes afterwards.</a:t>
            </a:r>
          </a:p>
          <a:p/>
          <a:p>
            <a:r>
              <a:t>- Read concern</a:t>
            </a:r>
          </a:p>
          <a:p/>
          <a:p>
            <a:r>
              <a:t>  readConcern majority returns only paid orders that a majority has acknowledged.</a:t>
            </a:r>
          </a:p>
          <a:p/>
          <a:p>
            <a:r>
              <a:t>  On a fresh load that is 13 orders.</a:t>
            </a:r>
          </a:p>
          <a:p/>
          <a:p>
            <a:r>
              <a:t>- Read preference</a:t>
            </a:r>
          </a:p>
          <a:p/>
          <a:p>
            <a:r>
              <a:t>  setReadPref secondaryPreferred sends this shell's reads to a secondary when one is available.</a:t>
            </a:r>
          </a:p>
          <a:p/>
          <a:p>
            <a:r>
              <a:t>  The count of SHIPPED orders, 6 on a fresh load, may be slightly behind the primary.</a:t>
            </a:r>
          </a:p>
          <a:p/>
          <a:p>
            <a:r>
              <a:t>  db.hello() on each connection shows which member answered.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lag is</a:t>
            </a:r>
          </a:p>
          <a:p/>
          <a:p>
            <a:r>
              <a:t>  Replication lag is how far a secondary's applied oplog trails the primary.</a:t>
            </a:r>
          </a:p>
          <a:p/>
          <a:p>
            <a:r>
              <a:t>  A little lag is normal.</a:t>
            </a:r>
          </a:p>
          <a:p/>
          <a:p>
            <a:r>
              <a:t>  Growing lag is a warning.</a:t>
            </a:r>
          </a:p>
          <a:p/>
          <a:p>
            <a:r>
              <a:t>- Why it matters</a:t>
            </a:r>
          </a:p>
          <a:p/>
          <a:p>
            <a:r>
              <a:t>  A read from a lagging secondary returns stale data.</a:t>
            </a:r>
          </a:p>
          <a:p/>
          <a:p>
            <a:r>
              <a:t>  Lag also stretches a failover, because an up-to-date member must be elected, and a member that falls outside the oplog window needs a full resync.</a:t>
            </a:r>
          </a:p>
          <a:p/>
          <a:p>
            <a:r>
              <a:t>- Common causes</a:t>
            </a:r>
          </a:p>
          <a:p/>
          <a:p>
            <a:r>
              <a:t>  Slow or saturated disks, heavy reporting on the secondary, network congestion, write bursts faster than the secondary can apply, long operations and a small oplog window.</a:t>
            </a:r>
          </a:p>
          <a:p/>
          <a:p>
            <a:r>
              <a:t>- First checks</a:t>
            </a:r>
          </a:p>
          <a:p/>
          <a:p>
            <a:r>
              <a:t>  Run rs.printSecondaryReplicationInfo() and compare member optimes in rs.status().</a:t>
            </a:r>
          </a:p>
          <a:p/>
          <a:p>
            <a:r>
              <a:t>  Then look at the secondary's CPU, disk and current operations before you think about rebuilding anything.</a:t>
            </a:r>
          </a:p>
          <a:p/>
          <a:p>
            <a:r>
              <a:t>- What it shows</a:t>
            </a:r>
          </a:p>
          <a:p/>
          <a:p>
            <a:r>
              <a:t>  An update sets an order's status to shipped on the primary at 10:00:00.</a:t>
            </a:r>
          </a:p>
          <a:p/>
          <a:p>
            <a:r>
              <a:t>  Secondary A has applied it.</a:t>
            </a:r>
          </a:p>
          <a:p/>
          <a:p>
            <a:r>
              <a:t>  Secondary B lags by five seconds and still shows confirmed at 09:59:55.</a:t>
            </a:r>
          </a:p>
          <a:p/>
          <a:p>
            <a:r>
              <a:t>  Compass reads from the secondary and gets a stale result.</a:t>
            </a:r>
          </a:p>
          <a:p/>
          <a:p>
            <a:r>
              <a:t>- How to read it</a:t>
            </a:r>
          </a:p>
          <a:p/>
          <a:p>
            <a:r>
              <a:t>  Compare the three status boxes and their clocks.</a:t>
            </a:r>
          </a:p>
          <a:p/>
          <a:p>
            <a:r>
              <a:t>- About the field</a:t>
            </a:r>
          </a:p>
          <a:p/>
          <a:p>
            <a:r>
              <a:t>  The diagram's status field stands for fulfillmentStatus in training_store, whose values are upper case, such as SHIPPED.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a rollback starts</a:t>
            </a:r>
          </a:p>
          <a:p/>
          <a:p>
            <a:r>
              <a:t>  The primary accepts a write with w: 1 and acknowledges it.</a:t>
            </a:r>
          </a:p>
          <a:p/>
          <a:p>
            <a:r>
              <a:t>  Before any secondary copies it, the primary is cut off by a network partition.</a:t>
            </a:r>
          </a:p>
          <a:p/>
          <a:p>
            <a:r>
              <a:t>- The majority moves on</a:t>
            </a:r>
          </a:p>
          <a:p/>
          <a:p>
            <a:r>
              <a:t>  The other two members still form a majority.</a:t>
            </a:r>
          </a:p>
          <a:p/>
          <a:p>
            <a:r>
              <a:t>  They elect a new primary that never saw that write.</a:t>
            </a:r>
          </a:p>
          <a:p/>
          <a:p>
            <a:r>
              <a:t>- The rollback</a:t>
            </a:r>
          </a:p>
          <a:p/>
          <a:p>
            <a:r>
              <a:t>  When the old primary rejoins, its history no longer matches the majority.</a:t>
            </a:r>
          </a:p>
          <a:p/>
          <a:p>
            <a:r>
              <a:t>  It rolls back the unreplicated write, saves it to a rollback file for an operator to review, and syncs from the new primary.</a:t>
            </a:r>
          </a:p>
          <a:p/>
          <a:p>
            <a:r>
              <a:t>- Prevention</a:t>
            </a:r>
          </a:p>
          <a:p/>
          <a:p>
            <a:r>
              <a:t>  A write acknowledged with w: majority has reached a majority, so it is not rolled back.</a:t>
            </a:r>
          </a:p>
          <a:p/>
          <a:p>
            <a:r>
              <a:t>  Reads with read concern majority never return data that could be rolled back.</a:t>
            </a:r>
          </a:p>
          <a:p/>
          <a:p>
            <a:r>
              <a:t>- What it shows</a:t>
            </a:r>
          </a:p>
          <a:p/>
          <a:p>
            <a:r>
              <a:t>  The former primary accepted an update to shipped, but a network partition cut it off: an unreplicated write.</a:t>
            </a:r>
          </a:p>
          <a:p/>
          <a:p>
            <a:r>
              <a:t>  The other two members held an election; the new primary and the secondary both have confirmed, the majority history.</a:t>
            </a:r>
          </a:p>
          <a:p/>
          <a:p>
            <a:r>
              <a:t>  When the former primary rejoins and syncs, it rolls back the unreplicated write, and the replica set is consistent again.</a:t>
            </a:r>
          </a:p>
          <a:p/>
          <a:p>
            <a:r>
              <a:t>- How to read it</a:t>
            </a:r>
          </a:p>
          <a:p/>
          <a:p>
            <a:r>
              <a:t>  Follow the red partition, the green election arrow, then the curved rejoin and sync arrows.</a:t>
            </a:r>
          </a:p>
          <a:p/>
          <a:p>
            <a:r>
              <a:t>- Key point</a:t>
            </a:r>
          </a:p>
          <a:p/>
          <a:p>
            <a:r>
              <a:t>  Reads of the confirmed order go to the majority history.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Give pairs five minutes.</a:t>
            </a:r>
          </a:p>
          <a:p/>
          <a:p>
            <a:r>
              <a:t>  It is a thought experiment on the diagrams from this part; nobody runs it on the shared cluster.</a:t>
            </a:r>
          </a:p>
          <a:p/>
          <a:p>
            <a:r>
              <a:t>- The new primary</a:t>
            </a:r>
          </a:p>
          <a:p/>
          <a:p>
            <a:r>
              <a:t>  The PAID update reached only the old primary.</a:t>
            </a:r>
          </a:p>
          <a:p/>
          <a:p>
            <a:r>
              <a:t>  The elected secondary never saw it, so on the new primary O6401 is still PENDING.</a:t>
            </a:r>
          </a:p>
          <a:p/>
          <a:p>
            <a:r>
              <a:t>- The rollback</a:t>
            </a:r>
          </a:p>
          <a:p/>
          <a:p>
            <a:r>
              <a:t>  When the old primary rejoins, it rolls the PAID write back and saves it to a rollback file.</a:t>
            </a:r>
          </a:p>
          <a:p/>
          <a:p>
            <a:r>
              <a:t>  The payment service was told the write succeeded, so someone now has to reconcile it by hand.</a:t>
            </a:r>
          </a:p>
          <a:p/>
          <a:p>
            <a:r>
              <a:t>- The status page</a:t>
            </a:r>
          </a:p>
          <a:p/>
          <a:p>
            <a:r>
              <a:t>  With secondaryPreferred, the page may have shown PENDING even while the old primary had PAID, because of lag.</a:t>
            </a:r>
          </a:p>
          <a:p/>
          <a:p>
            <a:r>
              <a:t>  After the rollback, PENDING is the true state, but the customer was told the payment went through.</a:t>
            </a:r>
          </a:p>
          <a:p/>
          <a:p>
            <a:r>
              <a:t>- The fix</a:t>
            </a:r>
          </a:p>
          <a:p/>
          <a:p>
            <a:r>
              <a:t>  Write payments with w majority, so success is only reported once the write can't be rolled back.</a:t>
            </a:r>
          </a:p>
          <a:p/>
          <a:p>
            <a:r>
              <a:t>  Read the order status from the primary, or with read concern majority, right after a payment.</a:t>
            </a:r>
          </a:p>
          <a:p/>
          <a:p>
            <a:r>
              <a:t>  Exercise 7.2 practises exactly these choices.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When orders outgrow one replica set, we shard.</a:t>
            </a:r>
          </a:p>
          <a:p/>
          <a:p>
            <a:r>
              <a:t>  The most important sharding decision is the shard key, and it is hard to change later.</a:t>
            </a:r>
          </a:p>
          <a:p/>
          <a:p>
            <a:r>
              <a:t>- Our running candidate</a:t>
            </a:r>
          </a:p>
          <a:p/>
          <a:p>
            <a:r>
              <a:t>  Keep Module 6's customer-history query in mind: find one customer's orders, newest first.</a:t>
            </a:r>
          </a:p>
          <a:p/>
          <a:p>
            <a:r>
              <a:t>  A good shard key should keep that query on one shard.</a:t>
            </a:r>
          </a:p>
          <a:p/>
          <a:p>
            <a:r>
              <a:t>- Lab safety</a:t>
            </a:r>
          </a:p>
          <a:p/>
          <a:p>
            <a:r>
              <a:t>  Failover and sharding commands run only on instructor-controlled, disposable infrastructure.</a:t>
            </a:r>
          </a:p>
          <a:p/>
          <a:p>
            <a:r>
              <a:t>  Never step down or shard a shared class cluster.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Three components</a:t>
            </a:r>
          </a:p>
          <a:p/>
          <a:p>
            <a:r>
              <a:t>  A sharded cluster has shards, config servers and mongos query routers.</a:t>
            </a:r>
          </a:p>
          <a:p/>
          <a:p>
            <a:r>
              <a:t>- mongos</a:t>
            </a:r>
          </a:p>
          <a:p/>
          <a:p>
            <a:r>
              <a:t>  Applications connect to mongos, not directly to shards.</a:t>
            </a:r>
          </a:p>
          <a:p/>
          <a:p>
            <a:r>
              <a:t>  mongos reads the cluster metadata, finds the shard or shards that hold the data, sends the operation there, combines results and returns them.</a:t>
            </a:r>
          </a:p>
          <a:p/>
          <a:p>
            <a:r>
              <a:t>  It does not store the application data itself.</a:t>
            </a:r>
          </a:p>
          <a:p/>
          <a:p>
            <a:r>
              <a:t>  Production clusters usually run several mongos processes.</a:t>
            </a:r>
          </a:p>
          <a:p/>
          <a:p>
            <a:r>
              <a:t>- Config servers</a:t>
            </a:r>
          </a:p>
          <a:p/>
          <a:p>
            <a:r>
              <a:t>  The config servers store the metadata: sharded collections, shard membership, shard-key ranges and data distribution.</a:t>
            </a:r>
          </a:p>
          <a:p/>
          <a:p>
            <a:r>
              <a:t>  They run as their own replica set, because the cluster can't route without them.</a:t>
            </a:r>
          </a:p>
          <a:p/>
          <a:p>
            <a:r>
              <a:t>- Shards</a:t>
            </a:r>
          </a:p>
          <a:p/>
          <a:p>
            <a:r>
              <a:t>  Each shard stores part of the sharded data.</a:t>
            </a:r>
          </a:p>
          <a:p/>
          <a:p>
            <a:r>
              <a:t>  In production each shard is a replica set, so replication gives availability inside every shard.</a:t>
            </a:r>
          </a:p>
          <a:p/>
          <a:p>
            <a:r>
              <a:t>- What it shows</a:t>
            </a:r>
          </a:p>
          <a:p/>
          <a:p>
            <a:r>
              <a:t>  mongosh and Compass send queries to the mongos router, which routes them by shard key to three shards.</a:t>
            </a:r>
          </a:p>
          <a:p/>
          <a:p>
            <a:r>
              <a:t>  Each shard is a replica set with a primary and two secondaries.</a:t>
            </a:r>
          </a:p>
          <a:p/>
          <a:p>
            <a:r>
              <a:t>  The config server replica set, configsvr-1 to configsvr-3, exchanges cluster metadata with mongos.</a:t>
            </a:r>
          </a:p>
          <a:p/>
          <a:p>
            <a:r>
              <a:t>- A label to correct</a:t>
            </a:r>
          </a:p>
          <a:p/>
          <a:p>
            <a:r>
              <a:t>  The box under the shards lists all four collections as sharded collections.</a:t>
            </a:r>
          </a:p>
          <a:p/>
          <a:p>
            <a:r>
              <a:t>  In our design only orders is sharded; products, customers and reviews stay unsharded on the primary shard.</a:t>
            </a:r>
          </a:p>
          <a:p/>
          <a:p>
            <a:r>
              <a:t>- Key point</a:t>
            </a:r>
          </a:p>
          <a:p/>
          <a:p>
            <a:r>
              <a:t>  Applications only ever talk to mongos.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 shard holds part of the data</a:t>
            </a:r>
          </a:p>
          <a:p/>
          <a:p>
            <a:r>
              <a:t>  Each shard stores only its assigned part of a sharded collection.</a:t>
            </a:r>
          </a:p>
          <a:p/>
          <a:p>
            <a:r>
              <a:t>  Here the orders collection is divided by customerId ranges.</a:t>
            </a:r>
          </a:p>
          <a:p/>
          <a:p>
            <a:r>
              <a:t>- A shard is a replica set</a:t>
            </a:r>
          </a:p>
          <a:p/>
          <a:p>
            <a:r>
              <a:t>  Each shard has a primary and two secondaries, with its own elections and failover.</a:t>
            </a:r>
          </a:p>
          <a:p/>
          <a:p>
            <a:r>
              <a:t>  If a shard were a single unreplicated server, it would be a single point of failure for its data.</a:t>
            </a:r>
          </a:p>
          <a:p/>
          <a:p>
            <a:r>
              <a:t>- Sharding plus replication</a:t>
            </a:r>
          </a:p>
          <a:p/>
          <a:p>
            <a:r>
              <a:t>  Sharding distributes the data between shards.</a:t>
            </a:r>
          </a:p>
          <a:p/>
          <a:p>
            <a:r>
              <a:t>  Replication provides availability within each shard.</a:t>
            </a:r>
          </a:p>
          <a:p/>
          <a:p>
            <a:r>
              <a:t>  A production cluster needs both.</a:t>
            </a:r>
          </a:p>
          <a:p/>
          <a:p>
            <a:r>
              <a:t>- What it shows</a:t>
            </a:r>
          </a:p>
          <a:p/>
          <a:p>
            <a:r>
              <a:t>  mongosh and Compass connect to the mongos router, which routes by shard key to Shard A, B and C. Each is a replica set of a primary and two secondaries.</a:t>
            </a:r>
          </a:p>
          <a:p/>
          <a:p>
            <a:r>
              <a:t>  The labels say Shard A holds orders for customerId A–H, Shard B I–P and Shard C Q–Z.</a:t>
            </a:r>
          </a:p>
          <a:p/>
          <a:p>
            <a:r>
              <a:t>- How to read it</a:t>
            </a:r>
          </a:p>
          <a:p/>
          <a:p>
            <a:r>
              <a:t>  The bracket at the bottom: each shard stores part of the collection.</a:t>
            </a:r>
          </a:p>
          <a:p/>
          <a:p>
            <a:r>
              <a:t>  The panel on the right shows the path training_store, orders, document, customerId.</a:t>
            </a:r>
          </a:p>
          <a:p/>
          <a:p>
            <a:r>
              <a:t>- About the labels</a:t>
            </a:r>
          </a:p>
          <a:p/>
          <a:p>
            <a:r>
              <a:t>  The letter ranges are illustrative.</a:t>
            </a:r>
          </a:p>
          <a:p/>
          <a:p>
            <a:r>
              <a:t>  In training_store, customerId is an ObjectId reference to a customer; the readable code, such as C101, is the customer's customerNumber.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makes a good shard key</a:t>
            </a:r>
          </a:p>
          <a:p/>
          <a:p>
            <a:r>
              <a:t>  A strong key has high cardinality and even value frequency, does not grow in one direction, matches the common queries, spreads the writes, and keeps working as the data grows.</a:t>
            </a:r>
          </a:p>
          <a:p/>
          <a:p>
            <a:r>
              <a:t>- Cardinality</a:t>
            </a:r>
          </a:p>
          <a:p/>
          <a:p>
            <a:r>
              <a:t>  Cardinality is the number of distinct key values.</a:t>
            </a:r>
          </a:p>
          <a:p/>
          <a:p>
            <a:r>
              <a:t>  A status field has only a few, and all documents with the same value must sit in the same range, so a very large collection can't be divided.</a:t>
            </a:r>
          </a:p>
          <a:p/>
          <a:p>
            <a:r>
              <a:t>- Frequency</a:t>
            </a:r>
          </a:p>
          <a:p/>
          <a:p>
            <a:r>
              <a:t>  Frequency is how often each value occurs.</a:t>
            </a:r>
          </a:p>
          <a:p/>
          <a:p>
            <a:r>
              <a:t>  Even with many customers, one customer with fifty million orders makes one oversized, heavily used range.</a:t>
            </a:r>
          </a:p>
          <a:p/>
          <a:p>
            <a:r>
              <a:t>- In training_store</a:t>
            </a:r>
          </a:p>
          <a:p/>
          <a:p>
            <a:r>
              <a:t>  fulfillmentStatus has four values: NEW, PROCESSING, SHIPPED and DELIVERED.</a:t>
            </a:r>
          </a:p>
          <a:p/>
          <a:p>
            <a:r>
              <a:t>  paymentStatus has three: PAID, PENDING and FAILED.</a:t>
            </a:r>
          </a:p>
          <a:p/>
          <a:p>
            <a:r>
              <a:t>  Neither can be a shard key on its own.</a:t>
            </a:r>
          </a:p>
          <a:p/>
          <a:p>
            <a:r>
              <a:t>  customerId, a reference to one of many customers, has high cardinality.</a:t>
            </a:r>
          </a:p>
          <a:p/>
          <a:p>
            <a:r>
              <a:t>- What it shows</a:t>
            </a:r>
          </a:p>
          <a:p/>
          <a:p>
            <a:r>
              <a:t>  A sample of orders with a customerId and a status.</a:t>
            </a:r>
          </a:p>
          <a:p/>
          <a:p>
            <a:r>
              <a:t>  Sharding on customerId, with high cardinality, spreads evenly: two documents on each shard.</a:t>
            </a:r>
          </a:p>
          <a:p/>
          <a:p>
            <a:r>
              <a:t>  Sharding on status, with low cardinality, creates a hotspot: four documents on Shard A, one each on B and C.</a:t>
            </a:r>
          </a:p>
          <a:p/>
          <a:p>
            <a:r>
              <a:t>- How to read it</a:t>
            </a:r>
          </a:p>
          <a:p/>
          <a:p>
            <a:r>
              <a:t>  Compare the two rows of cylinders.</a:t>
            </a:r>
          </a:p>
          <a:p/>
          <a:p>
            <a:r>
              <a:t>  The document counts are illustrative; the point is that each status value is one bucket that can't be split.</a:t>
            </a:r>
          </a:p>
          <a:p/>
          <a:p>
            <a:r>
              <a:t>- Key point</a:t>
            </a:r>
          </a:p>
          <a:p/>
          <a:p>
            <a:r>
              <a:t>  A key with a few values can never be divided into many ranges.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Monotonic values</a:t>
            </a:r>
          </a:p>
          <a:p/>
          <a:p>
            <a:r>
              <a:t>  A monotonically increasing value keeps growing: timestamps, sequential order numbers, auto-incrementing identifiers.</a:t>
            </a:r>
          </a:p>
          <a:p/>
          <a:p>
            <a:r>
              <a:t>  ObjectId values also start with a timestamp, so they grow over time too.</a:t>
            </a:r>
          </a:p>
          <a:p/>
          <a:p>
            <a:r>
              <a:t>- The hotspot</a:t>
            </a:r>
          </a:p>
          <a:p/>
          <a:p>
            <a:r>
              <a:t>  With ranged sharding, every new value is the largest so far.</a:t>
            </a:r>
          </a:p>
          <a:p/>
          <a:p>
            <a:r>
              <a:t>  All new inserts land in the top range, on one shard, while the others sit idle for writes.</a:t>
            </a:r>
          </a:p>
          <a:p/>
          <a:p>
            <a:r>
              <a:t>- The fixes</a:t>
            </a:r>
          </a:p>
          <a:p/>
          <a:p>
            <a:r>
              <a:t>  A hashed key spreads such values evenly but loses efficient range targeting.</a:t>
            </a:r>
          </a:p>
          <a:p/>
          <a:p>
            <a:r>
              <a:t>  A compound key that leads with a high-cardinality field, such as customerId, spreads writes across customers.</a:t>
            </a:r>
          </a:p>
          <a:p/>
          <a:p>
            <a:r>
              <a:t>- Decide from the workload</a:t>
            </a:r>
          </a:p>
          <a:p/>
          <a:p>
            <a:r>
              <a:t>  It depends on whether the workload needs even write distribution, efficient range reads, customer locality or time locality.</a:t>
            </a:r>
          </a:p>
          <a:p/>
          <a:p>
            <a:r>
              <a:t>- What it shows</a:t>
            </a:r>
          </a:p>
          <a:p/>
          <a:p>
            <a:r>
              <a:t>  Four orders with orderDate 10:01, 10:02, 10:03 and 10:04 and a monotonic orderDate shard key.</a:t>
            </a:r>
          </a:p>
          <a:p/>
          <a:p>
            <a:r>
              <a:t>  The ranges are below 10:00 on Shard A, 10:00 to 10:03 on Shard B, and above 10:03 on Shard C. The red arrows send every new order to Shard C, the newest range, marked as the write hotspot.</a:t>
            </a:r>
          </a:p>
          <a:p/>
          <a:p>
            <a:r>
              <a:t>- How to read it</a:t>
            </a:r>
          </a:p>
          <a:p/>
          <a:p>
            <a:r>
              <a:t>  New values always increase, so all red arrows end at the same shard.</a:t>
            </a:r>
          </a:p>
          <a:p/>
          <a:p>
            <a:r>
              <a:t>- About the field</a:t>
            </a:r>
          </a:p>
          <a:p/>
          <a:p>
            <a:r>
              <a:t>  orderDate stands for createdAt in training_store.</a:t>
            </a:r>
          </a:p>
          <a:p/>
          <a:p>
            <a:r>
              <a:t>  The _id values are simplified; ours are ObjectIds.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Ranged sharding</a:t>
            </a:r>
          </a:p>
          <a:p/>
          <a:p>
            <a:r>
              <a:t>  Ranged sharding orders the shard-key values and cuts them into contiguous ranges.</a:t>
            </a:r>
          </a:p>
          <a:p/>
          <a:p>
            <a:r>
              <a:t>  Each range lives on one shard.</a:t>
            </a:r>
          </a:p>
          <a:p/>
          <a:p>
            <a:r>
              <a:t>- Benefits</a:t>
            </a:r>
          </a:p>
          <a:p/>
          <a:p>
            <a:r>
              <a:t>  Range queries are efficient, related key values stay near each other, and a query for one customer or one time range can target the relevant shards.</a:t>
            </a:r>
          </a:p>
          <a:p/>
          <a:p>
            <a:r>
              <a:t>- Risk</a:t>
            </a:r>
          </a:p>
          <a:p/>
          <a:p>
            <a:r>
              <a:t>  If new values always increase, new writes concentrate in the last range.</a:t>
            </a:r>
          </a:p>
          <a:p/>
          <a:p>
            <a:r>
              <a:t>  That is the monotonic hotspot from the previous slide.</a:t>
            </a:r>
          </a:p>
          <a:p/>
          <a:p>
            <a:r>
              <a:t>- What it shows</a:t>
            </a:r>
          </a:p>
          <a:p/>
          <a:p>
            <a:r>
              <a:t>  Orders with customerId C1042, C4380, C6725 and C9011 are sorted by shard-key value into three chunks: C0000–C3999 on Shard A, C4000–C6999 on Shard B and C7000–C9999 on Shard C.</a:t>
            </a:r>
          </a:p>
          <a:p/>
          <a:p>
            <a:r>
              <a:t>- How to read it</a:t>
            </a:r>
          </a:p>
          <a:p/>
          <a:p>
            <a:r>
              <a:t>  Follow each value down to its range and then to its shard.</a:t>
            </a:r>
          </a:p>
          <a:p/>
          <a:p>
            <a:r>
              <a:t>  C4380 and C6725 share Chunk 2.</a:t>
            </a:r>
          </a:p>
          <a:p/>
          <a:p>
            <a:r>
              <a:t>- About the labels</a:t>
            </a:r>
          </a:p>
          <a:p/>
          <a:p>
            <a:r>
              <a:t>  The C-numbers are readable stand-ins for customerId, which is an ObjectId in training_store.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Hashed sharding</a:t>
            </a:r>
          </a:p>
          <a:p/>
          <a:p>
            <a:r>
              <a:t>  Hashed sharding computes a hash of the shard-key value and distributes ranges of hash values across the shards.</a:t>
            </a:r>
          </a:p>
          <a:p/>
          <a:p>
            <a:r>
              <a:t>- Benefits</a:t>
            </a:r>
          </a:p>
          <a:p/>
          <a:p>
            <a:r>
              <a:t>  It usually gives a more even distribution, spreads monotonically increasing identifiers and reduces write concentration.</a:t>
            </a:r>
          </a:p>
          <a:p/>
          <a:p>
            <a:r>
              <a:t>- Trade-off</a:t>
            </a:r>
          </a:p>
          <a:p/>
          <a:p>
            <a:r>
              <a:t>  The hash is not ordered like the original value.</a:t>
            </a:r>
          </a:p>
          <a:p/>
          <a:p>
            <a:r>
              <a:t>  An equality query on customerId can still be targeted, because mongos can hash the value.</a:t>
            </a:r>
          </a:p>
          <a:p/>
          <a:p>
            <a:r>
              <a:t>  But a range query on the original values may have to contact every shard.</a:t>
            </a:r>
          </a:p>
          <a:p/>
          <a:p>
            <a:r>
              <a:t>- What it shows</a:t>
            </a:r>
          </a:p>
          <a:p/>
          <a:p>
            <a:r>
              <a:t>  mongos routes through a hash shard key, hash(customerId).</a:t>
            </a:r>
          </a:p>
          <a:p/>
          <a:p>
            <a:r>
              <a:t>  The hashed values, such as h001 and h4F3, are scattered evenly over Shards A, B and C. The panel below shows adjacent customers C101, C102 and C103 going to three different shards.</a:t>
            </a:r>
          </a:p>
          <a:p/>
          <a:p>
            <a:r>
              <a:t>- How to read it</a:t>
            </a:r>
          </a:p>
          <a:p/>
          <a:p>
            <a:r>
              <a:t>  Each shard holds a mix of hash values, not a neat run of customers.</a:t>
            </a:r>
          </a:p>
          <a:p/>
          <a:p>
            <a:r>
              <a:t>- Key point</a:t>
            </a:r>
          </a:p>
          <a:p/>
          <a:p>
            <a:r>
              <a:t>  Neighbours in the original order end up apart, which spreads writes but breaks range locality.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zones do</a:t>
            </a:r>
          </a:p>
          <a:p/>
          <a:p>
            <a:r>
              <a:t>  Zoned sharding ties ranges of the shard key to chosen shards.</a:t>
            </a:r>
          </a:p>
          <a:p/>
          <a:p>
            <a:r>
              <a:t>  Here Canadian orders stay on Shard A, US orders on Shard B and EU orders on Shard C.</a:t>
            </a:r>
          </a:p>
          <a:p/>
          <a:p>
            <a:r>
              <a:t>- Why teams use zones</a:t>
            </a:r>
          </a:p>
          <a:p/>
          <a:p>
            <a:r>
              <a:t>  The main reasons are data residency rules and keeping data close to the users who read it.</a:t>
            </a:r>
          </a:p>
          <a:p/>
          <a:p>
            <a:r>
              <a:t>- What it needs</a:t>
            </a:r>
          </a:p>
          <a:p/>
          <a:p>
            <a:r>
              <a:t>  The zone field must be part of the shard key, normally its first field, for example shippingRegion followed by customerId.</a:t>
            </a:r>
          </a:p>
          <a:p/>
          <a:p>
            <a:r>
              <a:t>  training_store has no shippingRegion field today; its orders store shippingAddress.country as Canada or USA.</a:t>
            </a:r>
          </a:p>
          <a:p/>
          <a:p>
            <a:r>
              <a:t>  You would add a region field before zoning on it.</a:t>
            </a:r>
          </a:p>
          <a:p/>
          <a:p>
            <a:r>
              <a:t>- The catch</a:t>
            </a:r>
          </a:p>
          <a:p/>
          <a:p>
            <a:r>
              <a:t>  Zones are not a free locality win.</a:t>
            </a:r>
          </a:p>
          <a:p/>
          <a:p>
            <a:r>
              <a:t>  If 90 percent of users are in one region, that zone's shards take 90 percent of the load.</a:t>
            </a:r>
          </a:p>
          <a:p/>
          <a:p>
            <a:r>
              <a:t>  For residency, also compare zones with separate regional clusters.</a:t>
            </a:r>
          </a:p>
          <a:p/>
          <a:p>
            <a:r>
              <a:t>- What it shows</a:t>
            </a:r>
          </a:p>
          <a:p/>
          <a:p>
            <a:r>
              <a:t>  Queries go through mongos to the zone ranges on training_store.orders by shippingRegion: CA to the Canada zone on Shard A, US to the US zone on Shard B and EU to the EU zone on Shard C.</a:t>
            </a:r>
          </a:p>
          <a:p/>
          <a:p>
            <a:r>
              <a:t>- How to read it</a:t>
            </a:r>
          </a:p>
          <a:p/>
          <a:p>
            <a:r>
              <a:t>  Each shard carries a zone tag and holds only that region's orders.</a:t>
            </a:r>
          </a:p>
          <a:p/>
          <a:p>
            <a:r>
              <a:t>- About the field</a:t>
            </a:r>
          </a:p>
          <a:p/>
          <a:p>
            <a:r>
              <a:t>  shippingRegion is not in training_store; our orders have shippingAddress.country Canada or USA.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read the table</a:t>
            </a:r>
          </a:p>
          <a:p/>
          <a:p>
            <a:r>
              <a:t>  Each row is one candidate for training_store.orders, with what it helps and what worries us.</a:t>
            </a:r>
          </a:p>
          <a:p/>
          <a:p>
            <a:r>
              <a:t>- The weak candidates</a:t>
            </a:r>
          </a:p>
          <a:p/>
          <a:p>
            <a:r>
              <a:t>  fulfillmentStatus has four values, so it can never make more than four ranges.</a:t>
            </a:r>
          </a:p>
          <a:p/>
          <a:p>
            <a:r>
              <a:t>  createdAt has many values, but every new order is the newest, so ranged sharding on it makes a write hotspot.</a:t>
            </a:r>
          </a:p>
          <a:p/>
          <a:p>
            <a:r>
              <a:t>- The customer candidates</a:t>
            </a:r>
          </a:p>
          <a:p/>
          <a:p>
            <a:r>
              <a:t>  customerId targets one customer's history but a very large customer can concentrate data.</a:t>
            </a:r>
          </a:p>
          <a:p/>
          <a:p>
            <a:r>
              <a:t>  Hashed customerId spreads writes evenly, and equality lookups are still targeted, but ranges on customerId scatter.</a:t>
            </a:r>
          </a:p>
          <a:p/>
          <a:p>
            <a:r>
              <a:t>- The compound candidates</a:t>
            </a:r>
          </a:p>
          <a:p/>
          <a:p>
            <a:r>
              <a:t>  { customerId: 1, createdAt: 1 } keeps each customer's orders together in date order, so the history query and a customer's date range are targeted.</a:t>
            </a:r>
          </a:p>
          <a:p/>
          <a:p>
            <a:r>
              <a:t>  A region-first key allows zones, but our orders have no region field; we would have to add one.</a:t>
            </a:r>
          </a:p>
          <a:p/>
          <a:p>
            <a:r>
              <a:t>- Link to Exercise 7.3</a:t>
            </a:r>
          </a:p>
          <a:p/>
          <a:p>
            <a:r>
              <a:t>  Checkpoint C scores these candidates on seven criteria.</a:t>
            </a:r>
          </a:p>
          <a:p/>
          <a:p>
            <a:r>
              <a:t>  The worksheet adds a tenantId candidate, which training_store doesn't have; treat it as a what-if for multi-tenant platforms.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the commands do</a:t>
            </a:r>
          </a:p>
          <a:p/>
          <a:p>
            <a:r>
              <a:t>  createIndex builds the index that supports the shard key.</a:t>
            </a:r>
          </a:p>
          <a:p/>
          <a:p>
            <a:r>
              <a:t>  sh.shardCollection shards training_store.orders on that key.</a:t>
            </a:r>
          </a:p>
          <a:p/>
          <a:p>
            <a:r>
              <a:t>  sh.status shows shards, sharded collections, keys and ranges, and getShardDistribution shows how much data each shard holds.</a:t>
            </a:r>
          </a:p>
          <a:p/>
          <a:p>
            <a:r>
              <a:t>- Choose one key</a:t>
            </a:r>
          </a:p>
          <a:p/>
          <a:p>
            <a:r>
              <a:t>  The second block is an alternative, not a second step.</a:t>
            </a:r>
          </a:p>
          <a:p/>
          <a:p>
            <a:r>
              <a:t>  A collection has one shard key; changing it later needs resharding.</a:t>
            </a:r>
          </a:p>
          <a:p/>
          <a:p>
            <a:r>
              <a:t>- Safety</a:t>
            </a:r>
          </a:p>
          <a:p/>
          <a:p>
            <a:r>
              <a:t>  Failover and sharding commands run only on instructor-controlled, disposable infrastructure.</a:t>
            </a:r>
          </a:p>
          <a:p/>
          <a:p>
            <a:r>
              <a:t>  Never step down or shard a shared class cluster.</a:t>
            </a:r>
          </a:p>
          <a:p/>
          <a:p>
            <a:r>
              <a:t>- A hands-on demonstration</a:t>
            </a:r>
          </a:p>
          <a:p/>
          <a:p>
            <a:r>
              <a:t>  On the disposable cluster, use a scratch namespace, training_shard.orders_lab, with the same key { customerId: 1, createdAt: 1 }.</a:t>
            </a:r>
          </a:p>
          <a:p/>
          <a:p>
            <a:r>
              <a:t>  Older versions also need sh.enableSharding on the database first; follow the instructor's exact commands.</a:t>
            </a:r>
          </a:p>
          <a:p/>
          <a:p>
            <a:r>
              <a:t>  Atlas free-tier clusters are replica sets, not sharded clusters, so learners without a mongos URI follow the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The shard key decides placement.</a:t>
            </a:r>
          </a:p>
          <a:p/>
          <a:p>
            <a:r>
              <a:t>  Now we see how placement stays balanced, how mongos uses it to route queries, and how to decide whether to shard at all.</a:t>
            </a:r>
          </a:p>
          <a:p/>
          <a:p>
            <a:r>
              <a:t>- Outcome</a:t>
            </a:r>
          </a:p>
          <a:p/>
          <a:p>
            <a:r>
              <a:t>  By the end, learners should be able to sketch a production architecture for training_store and defend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Chunks</a:t>
            </a:r>
          </a:p>
          <a:p/>
          <a:p>
            <a:r>
              <a:t>  MongoDB divides the shard-key space into non-overlapping ranges, usually called chunks.</a:t>
            </a:r>
          </a:p>
          <a:p/>
          <a:p>
            <a:r>
              <a:t>  Each range belongs to exactly one shard.</a:t>
            </a:r>
          </a:p>
          <a:p/>
          <a:p>
            <a:r>
              <a:t>- Ranges, not documents</a:t>
            </a:r>
          </a:p>
          <a:p/>
          <a:p>
            <a:r>
              <a:t>  MongoDB moves whole ranges between shards, not individual documents.</a:t>
            </a:r>
          </a:p>
          <a:p/>
          <a:p>
            <a:r>
              <a:t>  Here Shard A owns chunks 1 and 4, Shard B chunks 2 and 5, and Shard C chunks 3 and 6.</a:t>
            </a:r>
          </a:p>
          <a:p/>
          <a:p>
            <a:r>
              <a:t>- Metadata</a:t>
            </a:r>
          </a:p>
          <a:p/>
          <a:p>
            <a:r>
              <a:t>  The config servers record which shard owns each range.</a:t>
            </a:r>
          </a:p>
          <a:p/>
          <a:p>
            <a:r>
              <a:t>  That map is what mongos uses to route.</a:t>
            </a:r>
          </a:p>
          <a:p/>
          <a:p>
            <a:r>
              <a:t>- Training data</a:t>
            </a:r>
          </a:p>
          <a:p/>
          <a:p>
            <a:r>
              <a:t>  A tiny training data set may sit in one range on one shard.</a:t>
            </a:r>
          </a:p>
          <a:p/>
          <a:p>
            <a:r>
              <a:t>  That is expected, not a fault.</a:t>
            </a:r>
          </a:p>
          <a:p/>
          <a:p>
            <a:r>
              <a:t>- What it shows</a:t>
            </a:r>
          </a:p>
          <a:p/>
          <a:p>
            <a:r>
              <a:t>  The orders collection, sharded on customerId, is divided into six chunks from C000–C199 to C900–C999.</a:t>
            </a:r>
          </a:p>
          <a:p/>
          <a:p>
            <a:r>
              <a:t>  Shard A holds chunks 1 and 4, Shard B chunks 2 and 5, and Shard C chunks 3 and 6.</a:t>
            </a:r>
          </a:p>
          <a:p/>
          <a:p>
            <a:r>
              <a:t>- How to read it</a:t>
            </a:r>
          </a:p>
          <a:p/>
          <a:p>
            <a:r>
              <a:t>  The line under the chunks says customerId in contiguous ranges; the note says chunks, not individual documents, are distributed.</a:t>
            </a:r>
          </a:p>
          <a:p/>
          <a:p>
            <a:r>
              <a:t>- Key point</a:t>
            </a:r>
          </a:p>
          <a:p/>
          <a:p>
            <a:r>
              <a:t>  Placement is decided range by range.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balancer</a:t>
            </a:r>
          </a:p>
          <a:p/>
          <a:p>
            <a:r>
              <a:t>  The balancer is a background process that watches the distribution.</a:t>
            </a:r>
          </a:p>
          <a:p/>
          <a:p>
            <a:r>
              <a:t>  When one shard holds far more than the others, it moves ranges to even them out.</a:t>
            </a:r>
          </a:p>
          <a:p/>
          <a:p>
            <a:r>
              <a:t>- Reading the diagram</a:t>
            </a:r>
          </a:p>
          <a:p/>
          <a:p>
            <a:r>
              <a:t>  Before: Shard A has four chunks, B and C one each.</a:t>
            </a:r>
          </a:p>
          <a:p/>
          <a:p>
            <a:r>
              <a:t>  The balancer migrates C3 to Shard B and C4 to Shard C, so each shard ends with two.</a:t>
            </a:r>
          </a:p>
          <a:p/>
          <a:p>
            <a:r>
              <a:t>- Migrations cost resources</a:t>
            </a:r>
          </a:p>
          <a:p/>
          <a:p>
            <a:r>
              <a:t>  A migration copies the range, catches up on recent writes, commits the new owner in the metadata and deletes the old copy.</a:t>
            </a:r>
          </a:p>
          <a:p/>
          <a:p>
            <a:r>
              <a:t>  That uses network, disk and CPU, so production teams monitor migrations and can schedule a balancing window.</a:t>
            </a:r>
          </a:p>
          <a:p/>
          <a:p>
            <a:r>
              <a:t>- Modern versions</a:t>
            </a:r>
          </a:p>
          <a:p/>
          <a:p>
            <a:r>
              <a:t>  Since MongoDB 6.0 the balancer compares the amount of data on each shard, not just the number of chunks.</a:t>
            </a:r>
          </a:p>
          <a:p/>
          <a:p>
            <a:r>
              <a:t>  The diagram counts chunks to keep the idea simple.</a:t>
            </a:r>
          </a:p>
          <a:p/>
          <a:p>
            <a:r>
              <a:t>- What it shows</a:t>
            </a:r>
          </a:p>
          <a:p/>
          <a:p>
            <a:r>
              <a:t>  The balancer detects that Shard A holds C1 to C4 while Shard B holds only C5 and Shard C only C6: 4, 1, 1.</a:t>
            </a:r>
          </a:p>
          <a:p/>
          <a:p>
            <a:r>
              <a:t>  It migrates C3 to Shard B and C4 to Shard C. After balancing each shard has two chunks: 2, 2, 2.</a:t>
            </a:r>
          </a:p>
          <a:p/>
          <a:p>
            <a:r>
              <a:t>- How to read it</a:t>
            </a:r>
          </a:p>
          <a:p/>
          <a:p>
            <a:r>
              <a:t>  Follow the red migrate-chunks arrows, then read the after row.</a:t>
            </a:r>
          </a:p>
          <a:p/>
          <a:p>
            <a:r>
              <a:t>- Key point</a:t>
            </a:r>
          </a:p>
          <a:p/>
          <a:p>
            <a:r>
              <a:t>  Queries keep working while ranges move; mongos follows the updated metadata.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Targeted query</a:t>
            </a:r>
          </a:p>
          <a:p/>
          <a:p>
            <a:r>
              <a:t>  A query that includes the shard key, or its leading field, can be routed to one shard or a small set of shards.</a:t>
            </a:r>
          </a:p>
          <a:p/>
          <a:p>
            <a:r>
              <a:t>- How mongos decides</a:t>
            </a:r>
          </a:p>
          <a:p/>
          <a:p>
            <a:r>
              <a:t>  mongos looks up the value in the chunk map from the config servers.</a:t>
            </a:r>
          </a:p>
          <a:p/>
          <a:p>
            <a:r>
              <a:t>  Here that value lives on Shard B, so only Shard B does the work.</a:t>
            </a:r>
          </a:p>
          <a:p/>
          <a:p>
            <a:r>
              <a:t>- Why it matters</a:t>
            </a:r>
          </a:p>
          <a:p/>
          <a:p>
            <a:r>
              <a:t>  MongoDB notes that the fastest sharded queries are generally routed to a single shard using shard-key information.</a:t>
            </a:r>
          </a:p>
          <a:p/>
          <a:p>
            <a:r>
              <a:t>  Shards A and C stay free for other work.</a:t>
            </a:r>
          </a:p>
          <a:p/>
          <a:p>
            <a:r>
              <a:t>- What it shows</a:t>
            </a:r>
          </a:p>
          <a:p/>
          <a:p>
            <a:r>
              <a:t>  mongosh or Compass runs orders.find({ customerId: C1042 }).</a:t>
            </a:r>
          </a:p>
          <a:p/>
          <a:p>
            <a:r>
              <a:t>  The query includes the shard key, so mongos maps customerId to Shard B and sends a targeted query there.</a:t>
            </a:r>
          </a:p>
          <a:p/>
          <a:p>
            <a:r>
              <a:t>  Shards A and C are grey and idle.</a:t>
            </a:r>
          </a:p>
          <a:p/>
          <a:p>
            <a:r>
              <a:t>  Shard B returns the matching orders.</a:t>
            </a:r>
          </a:p>
          <a:p/>
          <a:p>
            <a:r>
              <a:t>- How to read it</a:t>
            </a:r>
          </a:p>
          <a:p/>
          <a:p>
            <a:r>
              <a:t>  Only one path is coloured: client, mongos, Shard B, result.</a:t>
            </a:r>
          </a:p>
          <a:p/>
          <a:p>
            <a:r>
              <a:t>- About the value</a:t>
            </a:r>
          </a:p>
          <a:p/>
          <a:p>
            <a:r>
              <a:t>  C1042 is illustrative.</a:t>
            </a:r>
          </a:p>
          <a:p/>
          <a:p>
            <a:r>
              <a:t>  In training_store you would look up the customer's _id first, as the next slide shows.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targeted query</a:t>
            </a:r>
          </a:p>
          <a:p/>
          <a:p>
            <a:r>
              <a:t>  We look up Aisha Khan, customer C101, and use her _id.</a:t>
            </a:r>
          </a:p>
          <a:p/>
          <a:p>
            <a:r>
              <a:t>  The filter names the leading field of the shard key, so mongos can send it to the shard that owns her range.</a:t>
            </a:r>
          </a:p>
          <a:p/>
          <a:p>
            <a:r>
              <a:t>  On a fresh load she has 5 orders.</a:t>
            </a:r>
          </a:p>
          <a:p/>
          <a:p>
            <a:r>
              <a:t>- The scatter-gather queries</a:t>
            </a:r>
          </a:p>
          <a:p/>
          <a:p>
            <a:r>
              <a:t>  fulfillmentStatus is not in the shard key, so every shard must search.</a:t>
            </a:r>
          </a:p>
          <a:p/>
          <a:p>
            <a:r>
              <a:t>  Three orders are PROCESSING on a fresh load: O6202, O6302 and O6401.</a:t>
            </a:r>
          </a:p>
          <a:p/>
          <a:p>
            <a:r>
              <a:t>  A lookup by _id alone also scatters, because _id is not part of this shard key.</a:t>
            </a:r>
          </a:p>
          <a:p/>
          <a:p>
            <a:r>
              <a:t>- Proving it</a:t>
            </a:r>
          </a:p>
          <a:p/>
          <a:p>
            <a:r>
              <a:t>  On a sharded cluster, explain shows which shards took part; the instructor can compare a targeted plan with a scatter-gather one on the disposable cluster.</a:t>
            </a:r>
          </a:p>
          <a:p/>
          <a:p>
            <a:r>
              <a:t>  On our replica set there is only one place the data can be, so the difference doesn't appear.</a:t>
            </a:r>
          </a:p>
          <a:p/>
          <a:p>
            <a:r>
              <a:t>- Not always wrong</a:t>
            </a:r>
          </a:p>
          <a:p/>
          <a:p>
            <a:r>
              <a:t>  A monthly report may scatter and that's fine.</a:t>
            </a:r>
          </a:p>
          <a:p/>
          <a:p>
            <a:r>
              <a:t>  Frequent, high-volume scatter-gather in the hot path means the shard key doesn't match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production picture</a:t>
            </a:r>
          </a:p>
          <a:p/>
          <a:p>
            <a:r>
              <a:t>  Applications talk to mongos routers, usually more than one.</a:t>
            </a:r>
          </a:p>
          <a:p/>
          <a:p>
            <a:r>
              <a:t>  The routers read metadata from the config server replica set.</a:t>
            </a:r>
          </a:p>
          <a:p/>
          <a:p>
            <a:r>
              <a:t>  The data lives on three shards, and every shard is a three-member replica set.</a:t>
            </a:r>
          </a:p>
          <a:p/>
          <a:p>
            <a:r>
              <a:t>- What is sharded and what is not</a:t>
            </a:r>
          </a:p>
          <a:p/>
          <a:p>
            <a:r>
              <a:t>  Only the orders collection is sharded here.</a:t>
            </a:r>
          </a:p>
          <a:p/>
          <a:p>
            <a:r>
              <a:t>  Its ranges are spread over all three shards.</a:t>
            </a:r>
          </a:p>
          <a:p/>
          <a:p>
            <a:r>
              <a:t>  products, customers and reviews stay unsharded, and unsharded collections live on one shard, the database's primary shard.</a:t>
            </a:r>
          </a:p>
          <a:p/>
          <a:p>
            <a:r>
              <a:t>  They are not copied to every shard.</a:t>
            </a:r>
          </a:p>
          <a:p/>
          <a:p>
            <a:r>
              <a:t>- A server fails in Shard B</a:t>
            </a:r>
          </a:p>
          <a:p/>
          <a:p>
            <a:r>
              <a:t>  The Shard B replica set elects another primary.</a:t>
            </a:r>
          </a:p>
          <a:p/>
          <a:p>
            <a:r>
              <a:t>  Shards A and C keep working, and mongos updates its routing as the topology changes.</a:t>
            </a:r>
          </a:p>
          <a:p/>
          <a:p>
            <a:r>
              <a:t>  The application keeps using the cluster, apart from the short failover pause for Shard B's ranges.</a:t>
            </a:r>
          </a:p>
          <a:p/>
          <a:p>
            <a:r>
              <a:t>- Why draw it ourselves</a:t>
            </a:r>
          </a:p>
          <a:p/>
          <a:p>
            <a:r>
              <a:t>  Some generated diagrams show every collection on every shard, or each shard as one mongod.</a:t>
            </a:r>
          </a:p>
          <a:p/>
          <a:p>
            <a:r>
              <a:t>  Both are wrong for production, so this slide draws the architecture correctly.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Walk the questions</a:t>
            </a:r>
          </a:p>
          <a:p/>
          <a:p>
            <a:r>
              <a:t>  Does the workload need high availability?</a:t>
            </a:r>
          </a:p>
          <a:p/>
          <a:p>
            <a:r>
              <a:t>  If not, as in development and learning, a standalone mongod is enough.</a:t>
            </a:r>
          </a:p>
          <a:p/>
          <a:p>
            <a:r>
              <a:t>  If it does, does the data fit one replica set?</a:t>
            </a:r>
          </a:p>
          <a:p/>
          <a:p>
            <a:r>
              <a:t>  Then a replica set is the answer.</a:t>
            </a:r>
          </a:p>
          <a:p/>
          <a:p>
            <a:r>
              <a:t>- When one replica set is not enough</a:t>
            </a:r>
          </a:p>
          <a:p/>
          <a:p>
            <a:r>
              <a:t>  If it doesn't fit, either scale the replica set's servers up, or shard.</a:t>
            </a:r>
          </a:p>
          <a:p/>
          <a:p>
            <a:r>
              <a:t>  The scale-vertically box still means a replica set, just on bigger servers.</a:t>
            </a:r>
          </a:p>
          <a:p/>
          <a:p>
            <a:r>
              <a:t>- Shard with evidence</a:t>
            </a:r>
          </a:p>
          <a:p/>
          <a:p>
            <a:r>
              <a:t>  Shard when measurements show that one replica set can't hold the data or the writes.</a:t>
            </a:r>
          </a:p>
          <a:p/>
          <a:p>
            <a:r>
              <a:t>  Fix the schema and the indexes first; sharding a badly indexed collection spreads the problem.</a:t>
            </a:r>
          </a:p>
          <a:p/>
          <a:p>
            <a:r>
              <a:t>- Which collection</a:t>
            </a:r>
          </a:p>
          <a:p/>
          <a:p>
            <a:r>
              <a:t>  In training_store, orders grows fastest, so it is the first shard candidate.</a:t>
            </a:r>
          </a:p>
          <a:p/>
          <a:p>
            <a:r>
              <a:t>  products and customers usually stay unsharded for a long time.</a:t>
            </a:r>
          </a:p>
          <a:p/>
          <a:p>
            <a:r>
              <a:t>- What it shows</a:t>
            </a:r>
          </a:p>
          <a:p/>
          <a:p>
            <a:r>
              <a:t>  A flowchart for the training_store workload.</a:t>
            </a:r>
          </a:p>
          <a:p/>
          <a:p>
            <a:r>
              <a:t>  No need for high availability leads to a standalone mongod for development and learning.</a:t>
            </a:r>
          </a:p>
          <a:p/>
          <a:p>
            <a:r>
              <a:t>  Data that fits one replica set leads to a replica set.</a:t>
            </a:r>
          </a:p>
          <a:p/>
          <a:p>
            <a:r>
              <a:t>  Data that doesn't fit leads to the last question: no need for horizontal scale means scale vertically; yes means a sharded cluster whose shards are all replica sets.</a:t>
            </a:r>
          </a:p>
          <a:p/>
          <a:p>
            <a:r>
              <a:t>- How to read it</a:t>
            </a:r>
          </a:p>
          <a:p/>
          <a:p>
            <a:r>
              <a:t>  Start at the top and answer each diamond in turn.</a:t>
            </a:r>
          </a:p>
          <a:p/>
          <a:p>
            <a:r>
              <a:t>- Key point</a:t>
            </a:r>
          </a:p>
          <a:p/>
          <a:p>
            <a:r>
              <a:t>  Each step adds cost and operations work, so only take the next step when the previous one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slide</a:t>
            </a:r>
          </a:p>
          <a:p/>
          <a:p>
            <a:r>
              <a:t>  Before the checks, clear away the beliefs that cause the most trouble.</a:t>
            </a:r>
          </a:p>
          <a:p/>
          <a:p>
            <a:r>
              <a:t>- Writes and reads</a:t>
            </a:r>
          </a:p>
          <a:p/>
          <a:p>
            <a:r>
              <a:t>  A replica set does not spread writes: every write goes to the primary.</a:t>
            </a:r>
          </a:p>
          <a:p/>
          <a:p>
            <a:r>
              <a:t>  Secondary reads can help reporting, but they may be stale and they compete with replication work.</a:t>
            </a:r>
          </a:p>
          <a:p/>
          <a:p>
            <a:r>
              <a:t>- Sharding</a:t>
            </a:r>
          </a:p>
          <a:p/>
          <a:p>
            <a:r>
              <a:t>  Sharding doesn't speed up every query: a query without the shard key may contact every shard.</a:t>
            </a:r>
          </a:p>
          <a:p/>
          <a:p>
            <a:r>
              <a:t>  More shards also mean more servers, routing, monitoring and balancing.</a:t>
            </a:r>
          </a:p>
          <a:p/>
          <a:p>
            <a:r>
              <a:t>  And the shard key is not just an index: it decides where data lives and how queries are routed.</a:t>
            </a:r>
          </a:p>
          <a:p/>
          <a:p>
            <a:r>
              <a:t>- Backups</a:t>
            </a:r>
          </a:p>
          <a:p/>
          <a:p>
            <a:r>
              <a:t>  If someone runs db.orders.deleteMany({}), the delete is replicated to every secondary.</a:t>
            </a:r>
          </a:p>
          <a:p/>
          <a:p>
            <a:r>
              <a:t>  Replication also copies application bugs, bad updates and malicious deletes.</a:t>
            </a:r>
          </a:p>
          <a:p/>
          <a:p>
            <a:r>
              <a:t>  Resilience means replication, plus backups, plus tested restores — Module 8 covers the last two.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Purpose</a:t>
            </a:r>
          </a:p>
          <a:p/>
          <a:p>
            <a:r>
              <a:t>  Replication keeps copies of the same data for high availability and automatic failover.</a:t>
            </a:r>
          </a:p>
          <a:p/>
          <a:p>
            <a:r>
              <a:t>  Sharding divides data across servers for capacity and write throughput.</a:t>
            </a:r>
          </a:p>
          <a:p/>
          <a:p>
            <a:r>
              <a:t>- 2. Oplog</a:t>
            </a:r>
          </a:p>
          <a:p/>
          <a:p>
            <a:r>
              <a:t>  It is a capped collection that records every data change on the primary.</a:t>
            </a:r>
          </a:p>
          <a:p/>
          <a:p>
            <a:r>
              <a:t>  Secondaries copy the entries and apply them in order.</a:t>
            </a:r>
          </a:p>
          <a:p/>
          <a:p>
            <a:r>
              <a:t>- 3. Elections</a:t>
            </a:r>
          </a:p>
          <a:p/>
          <a:p>
            <a:r>
              <a:t>  Members stop receiving the primary's heartbeats.</a:t>
            </a:r>
          </a:p>
          <a:p/>
          <a:p>
            <a:r>
              <a:t>  A candidate needs votes from a majority of voting members, so only one side of a split can ever elect a primary.</a:t>
            </a:r>
          </a:p>
          <a:p/>
          <a:p>
            <a:r>
              <a:t>- 4. Lag</a:t>
            </a:r>
          </a:p>
          <a:p/>
          <a:p>
            <a:r>
              <a:t>  How far a secondary's applied oplog trails the primary.</a:t>
            </a:r>
          </a:p>
          <a:p/>
          <a:p>
            <a:r>
              <a:t>  It causes stale secondary reads, and a member that falls outside the oplog window needs a full resync.</a:t>
            </a:r>
          </a:p>
          <a:p/>
          <a:p>
            <a:r>
              <a:t>- 5. Three settings</a:t>
            </a:r>
          </a:p>
          <a:p/>
          <a:p>
            <a:r>
              <a:t>  Read preference chooses which member serves a read.</a:t>
            </a:r>
          </a:p>
          <a:p/>
          <a:p>
            <a:r>
              <a:t>  Read concern chooses which data it may return.</a:t>
            </a:r>
          </a:p>
          <a:p/>
          <a:p>
            <a:r>
              <a:t>  Write concern chooses how many members must acknowledge a write.</a:t>
            </a:r>
          </a:p>
          <a:p/>
          <a:p>
            <a:r>
              <a:t>- 6. mongos and config servers</a:t>
            </a:r>
          </a:p>
          <a:p/>
          <a:p>
            <a:r>
              <a:t>  mongos routes every application request to the right shards and merges results.</a:t>
            </a:r>
          </a:p>
          <a:p/>
          <a:p>
            <a:r>
              <a:t>  The config servers store the cluster metadata: sharded collections, shard-key ranges and their shards.</a:t>
            </a:r>
          </a:p>
          <a:p/>
          <a:p>
            <a:r>
              <a:t>- 7. fulfillmentStatus</a:t>
            </a:r>
          </a:p>
          <a:p/>
          <a:p>
            <a:r>
              <a:t>  It has only four values, so it can make at most four ranges, and most writes go to the NEW range.</a:t>
            </a:r>
          </a:p>
          <a:p/>
          <a:p>
            <a:r>
              <a:t>- 8. createdAt</a:t>
            </a:r>
          </a:p>
          <a:p/>
          <a:p>
            <a:r>
              <a:t>  Every new order has the largest createdAt so far, so every insert lands in the last range, on one shard.</a:t>
            </a:r>
          </a:p>
          <a:p/>
          <a:p>
            <a:r>
              <a:t>- 9. Routing</a:t>
            </a:r>
          </a:p>
          <a:p/>
          <a:p>
            <a:r>
              <a:t>  A targeted query includes the shard key or its prefix, so mongos sends it to one or a few shards.</a:t>
            </a:r>
          </a:p>
          <a:p/>
          <a:p>
            <a:r>
              <a:t>  A scatter-gather query goes to every shard and mongos merges the results.</a:t>
            </a:r>
          </a:p>
          <a:p/>
          <a:p>
            <a:r>
              <a:t>- 10. Backups</a:t>
            </a:r>
          </a:p>
          <a:p/>
          <a:p>
            <a:r>
              <a:t>  No. Replication copies deletes and mistakes to every member.</a:t>
            </a:r>
          </a:p>
          <a:p/>
          <a:p>
            <a:r>
              <a:t>  Only backups and tested restores recover from them.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7.1.</a:t>
            </a:r>
          </a:p>
          <a:p/>
          <a:p>
            <a:r>
              <a:t>  The worksheet is labs/day-03/exercises/exercise-7.1-replication-or-sharding.md.</a:t>
            </a:r>
          </a:p>
          <a:p/>
          <a:p>
            <a:r>
              <a:t>  It is classroom discussion; learners may look at training_store or rs.status() to test ideas.</a:t>
            </a:r>
          </a:p>
          <a:p/>
          <a:p>
            <a:r>
              <a:t>- Running it</a:t>
            </a:r>
          </a:p>
          <a:p/>
          <a:p>
            <a:r>
              <a:t>  Seven minutes in pairs, then a three-minute debrief.</a:t>
            </a:r>
          </a:p>
          <a:p/>
          <a:p>
            <a:r>
              <a:t>  Reveal the solution column only after the groups share.</a:t>
            </a:r>
          </a:p>
          <a:p/>
          <a:p>
            <a:r>
              <a:t>- The borderline case</a:t>
            </a:r>
          </a:p>
          <a:p/>
          <a:p>
            <a:r>
              <a:t>  Copying data to secondaries does not increase capacity: each member stores the same logical data set.</a:t>
            </a:r>
          </a:p>
          <a:p/>
          <a:p>
            <a:r>
              <a:t>  Extra members add redundancy, not a larger working set.</a:t>
            </a:r>
          </a:p>
          <a:p/>
          <a:p>
            <a:r>
              <a:t>- Link to Lab 6</a:t>
            </a:r>
          </a:p>
          <a:p/>
          <a:p>
            <a:r>
              <a:t>  Day 3 Lab 6, Step 1, adds one more row: recover an order deleted last week.</a:t>
            </a:r>
          </a:p>
          <a:p/>
          <a:p>
            <a:r>
              <a:t>  The answer is a backup, because replication and sharding both copy or keep the delete.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7.2.</a:t>
            </a:r>
          </a:p>
          <a:p/>
          <a:p>
            <a:r>
              <a:t>  The worksheet is labs/day-03/exercises/exercise-7.2-select-read-and-write-settings.md.</a:t>
            </a:r>
          </a:p>
          <a:p/>
          <a:p>
            <a:r>
              <a:t>- Money paths</a:t>
            </a:r>
          </a:p>
          <a:p/>
          <a:p>
            <a:r>
              <a:t>  Payment confirmation reads from the primary, or primaryPreferred only with a documented reason, writes with w majority, and reads with majority, or snapshot inside a transaction.</a:t>
            </a:r>
          </a:p>
          <a:p/>
          <a:p>
            <a:r>
              <a:t>  Reconciliation has the same bias: never read unpaid state from a lagging secondary.</a:t>
            </a:r>
          </a:p>
          <a:p/>
          <a:p>
            <a:r>
              <a:t>- The other four</a:t>
            </a:r>
          </a:p>
          <a:p/>
          <a:p>
            <a:r>
              <a:t>  Catalog browsing can use primaryPreferred or nearest with local reads.</a:t>
            </a:r>
          </a:p>
          <a:p/>
          <a:p>
            <a:r>
              <a:t>  Order status should read from the primary, or with majority, right after a customer pays.</a:t>
            </a:r>
          </a:p>
          <a:p/>
          <a:p>
            <a:r>
              <a:t>  Reporting and analytics can use secondaryPreferred if minutes of delay are acceptable and the secondary has capacity.</a:t>
            </a:r>
          </a:p>
          <a:p/>
          <a:p>
            <a:r>
              <a:t>- What to listen for</a:t>
            </a:r>
          </a:p>
          <a:p/>
          <a:p>
            <a:r>
              <a:t>  The three settings are not interchangeable, and staleness is accepted explicitly, never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7.3.</a:t>
            </a:r>
          </a:p>
          <a:p/>
          <a:p>
            <a:r>
              <a:t>  The worksheet is labs/day-03/exercises/exercise-7.3-evaluate-shard-key-candidates.md.</a:t>
            </a:r>
          </a:p>
          <a:p/>
          <a:p>
            <a:r>
              <a:t>  Use training_store.orders as the mental model: few statuses, many customers, dates that only increase.</a:t>
            </a:r>
          </a:p>
          <a:p/>
          <a:p>
            <a:r>
              <a:t>- Expected scores</a:t>
            </a:r>
          </a:p>
          <a:p/>
          <a:p>
            <a:r>
              <a:t>  paymentStatus has three values: low cardinality, a hotspot and poor targeting.</a:t>
            </a:r>
          </a:p>
          <a:p/>
          <a:p>
            <a:r>
              <a:t>  Ranged createdAt is a monotonic write hotspot.</a:t>
            </a:r>
          </a:p>
          <a:p/>
          <a:p>
            <a:r>
              <a:t>  customerId targets history but may suffer customer skew.</a:t>
            </a:r>
          </a:p>
          <a:p/>
          <a:p>
            <a:r>
              <a:t>  Hashed customerId gives even writes and weak range locality.</a:t>
            </a:r>
          </a:p>
          <a:p/>
          <a:p>
            <a:r>
              <a:t>- The compound keys</a:t>
            </a:r>
          </a:p>
          <a:p/>
          <a:p>
            <a:r>
              <a:t>  { customerId: 1, createdAt: 1 } targets history queries, and ranged writes per customer are usually fine.</a:t>
            </a:r>
          </a:p>
          <a:p/>
          <a:p>
            <a:r>
              <a:t>  The tenantId key only works if queries lead with the tenant; training_store has no tenantId, so treat it as a what-if.</a:t>
            </a:r>
          </a:p>
          <a:p/>
          <a:p>
            <a:r>
              <a:t>  Its second field is the real orderNumber, such as O6401.</a:t>
            </a:r>
          </a:p>
          <a:p/>
          <a:p>
            <a:r>
              <a:t>- The recommendation</a:t>
            </a:r>
          </a:p>
          <a:p/>
          <a:p>
            <a:r>
              <a:t>  { customerId: 1, createdAt: 1 } or hashed customerId, depending on whether date ranges across customers matter.</a:t>
            </a:r>
          </a:p>
          <a:p/>
          <a:p>
            <a:r>
              <a:t>  Risks to monitor: very large customers and scatter-gather global reports.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7.4.</a:t>
            </a:r>
          </a:p>
          <a:p/>
          <a:p>
            <a:r>
              <a:t>  The worksheet is labs/day-03/exercises/exercise-7.4-targeted-or-scatter-gather.md.</a:t>
            </a:r>
          </a:p>
          <a:p/>
          <a:p>
            <a:r>
              <a:t>  As on the slide, c holds C101's customer document, so c._id is the ObjectId stored in orders.customerId.</a:t>
            </a:r>
          </a:p>
          <a:p/>
          <a:p>
            <a:r>
              <a:t>- A to E</a:t>
            </a:r>
          </a:p>
          <a:p/>
          <a:p>
            <a:r>
              <a:t>  A is targeted: one or a few chunks for that customer.</a:t>
            </a:r>
          </a:p>
          <a:p/>
          <a:p>
            <a:r>
              <a:t>  B is a targeted range inside the customer prefix.</a:t>
            </a:r>
          </a:p>
          <a:p/>
          <a:p>
            <a:r>
              <a:t>  C is scatter-gather: paymentStatus is not in the key.</a:t>
            </a:r>
          </a:p>
          <a:p/>
          <a:p>
            <a:r>
              <a:t>  D usually touches many shards, depending on how dates map.</a:t>
            </a:r>
          </a:p>
          <a:p/>
          <a:p>
            <a:r>
              <a:t>  E, a createdAt range under a hashed customerId key, is scatter-gather.</a:t>
            </a:r>
          </a:p>
          <a:p/>
          <a:p>
            <a:r>
              <a:t>- The redesign</a:t>
            </a:r>
          </a:p>
          <a:p/>
          <a:p>
            <a:r>
              <a:t>  If monthly global revenue must be fast, don't pick a shard key that hurts the order path.</a:t>
            </a:r>
          </a:p>
          <a:p/>
          <a:p>
            <a:r>
              <a:t>  Pre-aggregate the report, run it on an analytics node, or accept scatter-gather for a rare job.</a:t>
            </a:r>
          </a:p>
          <a:p/>
          <a:p>
            <a:r>
              <a:t>- Link to Lab 6</a:t>
            </a:r>
          </a:p>
          <a:p/>
          <a:p>
            <a:r>
              <a:t>  Day 3 Lab 6, Step 3, repeats this with fulfillmentStatus and an _id-only lookup, both scatter-gather.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lab</a:t>
            </a:r>
          </a:p>
          <a:p/>
          <a:p>
            <a:r>
              <a:t>  This is Day 3 Lab 6, Replication and Sharding.</a:t>
            </a:r>
          </a:p>
          <a:p/>
          <a:p>
            <a:r>
              <a:t>  The guide is labs/day-03/lab6/LAB-6-GUIDE.md.</a:t>
            </a:r>
          </a:p>
          <a:p/>
          <a:p>
            <a:r>
              <a:t>  Allow 30 to 40 minutes.</a:t>
            </a:r>
          </a:p>
          <a:p/>
          <a:p>
            <a:r>
              <a:t>  Steps 1 to 3 are reasoning on training_store.orders; Steps 4 to 7 inspect a real replica set.</a:t>
            </a:r>
          </a:p>
          <a:p/>
          <a:p>
            <a:r>
              <a:t>- Steps 1 to 3</a:t>
            </a:r>
          </a:p>
          <a:p/>
          <a:p>
            <a:r>
              <a:t>  Step 1 repeats Exercise 7.1 and adds last week's deleted order: the answer is a backup.</a:t>
            </a:r>
          </a:p>
          <a:p/>
          <a:p>
            <a:r>
              <a:t>  Step 2 rejects fulfillmentStatus, flags createdAt and prefers { customerId: 1, createdAt: 1 }.</a:t>
            </a:r>
          </a:p>
          <a:p/>
          <a:p>
            <a:r>
              <a:t>  Step 3 classifies customer history as targeted and the fulfillmentStatus and _id-only lookups as scatter-gather.</a:t>
            </a:r>
          </a:p>
          <a:p/>
          <a:p>
            <a:r>
              <a:t>  On a fresh load 3 orders are PROCESSING: O6202, O6302 and O6401.</a:t>
            </a:r>
          </a:p>
          <a:p/>
          <a:p>
            <a:r>
              <a:t>- Environment</a:t>
            </a:r>
          </a:p>
          <a:p/>
          <a:p>
            <a:r>
              <a:t>  Atlas clusters are replica sets; a local standalone mongod is not.</a:t>
            </a:r>
          </a:p>
          <a:p/>
          <a:p>
            <a:r>
              <a:t>  If rs.status() says the server is not running with --replSet, stop and switch to the instructor's URI.</a:t>
            </a:r>
          </a:p>
          <a:p/>
          <a:p>
            <a:r>
              <a:t>  These commands only read status, so they are safe on a shared cluster; nobody steps anything down.</a:t>
            </a:r>
          </a:p>
          <a:p/>
          <a:p>
            <a:r>
              <a:t>  Failover and sharding commands run only on instructor-controlled, disposable infrastructure.</a:t>
            </a:r>
          </a:p>
          <a:p/>
          <a:p>
            <a:r>
              <a:t>  Never step down or shard a shared class cluster.</a:t>
            </a:r>
          </a:p>
          <a:p/>
          <a:p>
            <a:r>
              <a:t>- Steps 4 to 6: what to record</a:t>
            </a:r>
          </a:p>
          <a:p/>
          <a:p>
            <a:r>
              <a:t>  The set name, the primary host, the secondary hosts, each member's votes and priority, any arbiter, what db.hello() says about the connected member, and the lag of each secondary, even when it is zero.</a:t>
            </a:r>
          </a:p>
          <a:p/>
          <a:p>
            <a:r>
              <a:t>- Step 7: the report</a:t>
            </a:r>
          </a:p>
          <a:p/>
          <a:p>
            <a:r>
              <a:t>  One short paragraph: is there a primary, is a majority reachable, is the lag a concern, and is there any configuration smell, such as an arbiter carrying durability or priority 0 on the only nearby member.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Recap</a:t>
            </a:r>
          </a:p>
          <a:p/>
          <a:p>
            <a:r>
              <a:t>  We separated availability from scale, looked inside a replica set, chose read and write settings, saw lag and rollback, and designed a sharded cluster with a shard key for training_store orders.</a:t>
            </a:r>
          </a:p>
          <a:p/>
          <a:p>
            <a:r>
              <a:t>- Next module</a:t>
            </a:r>
          </a:p>
          <a:p/>
          <a:p>
            <a:r>
              <a:t>  Module 8 consolidates the course: sustainable modeling, query and index optimization, security, backup and recovery, monitoring, troubleshooting and deployment readiness.</a:t>
            </a:r>
          </a:p>
          <a:p/>
          <a:p>
            <a:r>
              <a:t>- Day 3 labs</a:t>
            </a:r>
          </a:p>
          <a:p/>
          <a:p>
            <a:r>
              <a:t>  Day 3 Lab 6, Replication and Sharding, is this module's hands-on lab: the reasoning steps plus the replica-set health check.</a:t>
            </a:r>
          </a:p>
          <a:p/>
          <a:p>
            <a:r>
              <a:t>  Failover and sharding commands run only on instructor-controlled, disposable infrastructure.</a:t>
            </a:r>
          </a:p>
          <a:p/>
          <a:p>
            <a:r>
              <a:t>  Never step down or shard a shared class cluster.</a:t>
            </a:r>
          </a:p>
          <a:p/>
          <a:p>
            <a:r>
              <a:t>- Bring along</a:t>
            </a:r>
          </a:p>
          <a:p/>
          <a:p>
            <a:r>
              <a:t>  Keep the Lab 6 health report and answers and the Exercise 7.3 scores.</a:t>
            </a:r>
          </a:p>
          <a:p/>
          <a:p>
            <a:r>
              <a:t>  Module 8's production-readiness review builds on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"Replicate to stay online. Shard to grow."</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MODULE 7</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Introduction to Replication and Sharding</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How replica sets keep training_store online through a failure — and how sharding lets its orders grow past one server.</a:t>
            </a:r>
          </a:p>
        </p:txBody>
      </p:sp>
      <p:sp>
        <p:nvSpPr>
          <p:cNvPr id="8" name="TextBox 7"/>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MASTERING MONGODB  •  MODULE 7</a:t>
            </a:r>
          </a:p>
        </p:txBody>
      </p:sp>
      <p:sp>
        <p:nvSpPr>
          <p:cNvPr id="9" name="Rounded Rectangle 8"/>
          <p:cNvSpPr/>
          <p:nvPr/>
        </p:nvSpPr>
        <p:spPr>
          <a:xfrm>
            <a:off x="457200" y="4709160"/>
            <a:ext cx="2139696" cy="868680"/>
          </a:xfrm>
          <a:prstGeom prst="roundRect">
            <a:avLst>
              <a:gd name="adj" fmla="val 12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Availability vs scale</a:t>
            </a:r>
          </a:p>
        </p:txBody>
      </p:sp>
      <p:sp>
        <p:nvSpPr>
          <p:cNvPr id="10" name="Rounded Rectangle 9"/>
          <p:cNvSpPr/>
          <p:nvPr/>
        </p:nvSpPr>
        <p:spPr>
          <a:xfrm>
            <a:off x="2734056" y="4709160"/>
            <a:ext cx="2139696" cy="868680"/>
          </a:xfrm>
          <a:prstGeom prst="roundRect">
            <a:avLst>
              <a:gd name="adj" fmla="val 12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Replica sets and failover</a:t>
            </a:r>
          </a:p>
        </p:txBody>
      </p:sp>
      <p:sp>
        <p:nvSpPr>
          <p:cNvPr id="11" name="Rounded Rectangle 10"/>
          <p:cNvSpPr/>
          <p:nvPr/>
        </p:nvSpPr>
        <p:spPr>
          <a:xfrm>
            <a:off x="5010912" y="4709160"/>
            <a:ext cx="2139696" cy="868680"/>
          </a:xfrm>
          <a:prstGeom prst="roundRect">
            <a:avLst>
              <a:gd name="adj" fmla="val 12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Read and write guarantees</a:t>
            </a:r>
          </a:p>
        </p:txBody>
      </p:sp>
      <p:sp>
        <p:nvSpPr>
          <p:cNvPr id="12" name="Rounded Rectangle 11"/>
          <p:cNvSpPr/>
          <p:nvPr/>
        </p:nvSpPr>
        <p:spPr>
          <a:xfrm>
            <a:off x="7287767" y="4709160"/>
            <a:ext cx="2139696" cy="868680"/>
          </a:xfrm>
          <a:prstGeom prst="roundRect">
            <a:avLst>
              <a:gd name="adj" fmla="val 12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Sharded clusters and keys</a:t>
            </a:r>
          </a:p>
        </p:txBody>
      </p:sp>
      <p:sp>
        <p:nvSpPr>
          <p:cNvPr id="13" name="Rounded Rectangle 12"/>
          <p:cNvSpPr/>
          <p:nvPr/>
        </p:nvSpPr>
        <p:spPr>
          <a:xfrm>
            <a:off x="9564624" y="4709160"/>
            <a:ext cx="2139696" cy="868680"/>
          </a:xfrm>
          <a:prstGeom prst="roundRect">
            <a:avLst>
              <a:gd name="adj" fmla="val 12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Routing and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LEARNING OBJECTIVES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What you will understand by the end of this module.</a:t>
            </a:r>
          </a:p>
        </p:txBody>
      </p:sp>
      <p:sp>
        <p:nvSpPr>
          <p:cNvPr id="4" name="Oval 3"/>
          <p:cNvSpPr/>
          <p:nvPr/>
        </p:nvSpPr>
        <p:spPr>
          <a:xfrm>
            <a:off x="457200" y="1252728"/>
            <a:ext cx="382641" cy="382641"/>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527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252728"/>
            <a:ext cx="4939167" cy="382641"/>
          </a:xfrm>
          <a:prstGeom prst="rect">
            <a:avLst/>
          </a:prstGeom>
          <a:noFill/>
        </p:spPr>
        <p:txBody>
          <a:bodyPr wrap="square" anchor="t" lIns="0" rIns="0" tIns="0" bIns="0">
            <a:spAutoFit/>
          </a:bodyPr>
          <a:lstStyle/>
          <a:p>
            <a:pPr algn="l"/>
            <a:r>
              <a:rPr sz="1600" b="1" i="0">
                <a:solidFill>
                  <a:srgbClr val="D1282E"/>
                </a:solidFill>
                <a:latin typeface="Nirmala UI"/>
              </a:rPr>
              <a:t>BY THE END OF THIS MODULE, YOU CAN</a:t>
            </a:r>
          </a:p>
        </p:txBody>
      </p:sp>
      <p:sp>
        <p:nvSpPr>
          <p:cNvPr id="7" name="TextBox 6"/>
          <p:cNvSpPr txBox="1"/>
          <p:nvPr/>
        </p:nvSpPr>
        <p:spPr>
          <a:xfrm>
            <a:off x="457200" y="1759164"/>
            <a:ext cx="5394960" cy="1958217"/>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Tell availability from scalability</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Explain replica-set roles, the oplog, failover</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Choose basic read and write settings</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Describe the parts of a sharded cluster</a:t>
            </a:r>
          </a:p>
          <a:p>
            <a:pPr>
              <a:spcBef>
                <a:spcPts val="0"/>
              </a:spcBef>
              <a:spcAft>
                <a:spcPts val="369"/>
              </a:spcAft>
            </a:pPr>
            <a:r>
              <a:rPr sz="1600" b="1" i="0">
                <a:solidFill>
                  <a:srgbClr val="D1282E"/>
                </a:solidFill>
                <a:latin typeface="Nirmala UI"/>
              </a:rPr>
              <a:t>5. </a:t>
            </a:r>
            <a:r>
              <a:rPr sz="1600" b="0" i="0">
                <a:solidFill>
                  <a:srgbClr val="000000"/>
                </a:solidFill>
                <a:latin typeface="Nirmala UI"/>
              </a:rPr>
              <a:t>Evaluate shard keys and query routing</a:t>
            </a:r>
          </a:p>
          <a:p>
            <a:pPr>
              <a:spcBef>
                <a:spcPts val="0"/>
              </a:spcBef>
              <a:spcAft>
                <a:spcPts val="369"/>
              </a:spcAft>
            </a:pPr>
            <a:r>
              <a:rPr sz="1600" b="1" i="0">
                <a:solidFill>
                  <a:srgbClr val="D1282E"/>
                </a:solidFill>
                <a:latin typeface="Nirmala UI"/>
              </a:rPr>
              <a:t>6. </a:t>
            </a:r>
            <a:r>
              <a:rPr sz="1600" b="0" i="0">
                <a:solidFill>
                  <a:srgbClr val="000000"/>
                </a:solidFill>
                <a:latin typeface="Nirmala UI"/>
              </a:rPr>
              <a:t>Decide when to replicate, shard, or both</a:t>
            </a:r>
          </a:p>
        </p:txBody>
      </p:sp>
      <p:sp>
        <p:nvSpPr>
          <p:cNvPr id="8" name="Oval 7"/>
          <p:cNvSpPr/>
          <p:nvPr/>
        </p:nvSpPr>
        <p:spPr>
          <a:xfrm>
            <a:off x="6172200" y="125272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25272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0" name="TextBox 9"/>
          <p:cNvSpPr txBox="1"/>
          <p:nvPr/>
        </p:nvSpPr>
        <p:spPr>
          <a:xfrm>
            <a:off x="6556248" y="1243584"/>
            <a:ext cx="5148072" cy="347472"/>
          </a:xfrm>
          <a:prstGeom prst="rect">
            <a:avLst/>
          </a:prstGeom>
          <a:noFill/>
        </p:spPr>
        <p:txBody>
          <a:bodyPr wrap="square" anchor="ctr" lIns="0" rIns="0" tIns="0" bIns="0">
            <a:spAutoFit/>
          </a:bodyPr>
          <a:lstStyle/>
          <a:p>
            <a:pPr algn="l"/>
            <a:r>
              <a:rPr sz="1400" b="1" i="0">
                <a:solidFill>
                  <a:srgbClr val="D1282E"/>
                </a:solidFill>
                <a:latin typeface="Nirmala UI"/>
              </a:rPr>
              <a:t>SIX QUESTIONS THIS MODULE ANSWERS</a:t>
            </a:r>
          </a:p>
        </p:txBody>
      </p:sp>
      <p:sp>
        <p:nvSpPr>
          <p:cNvPr id="11" name="Rounded Rectangle 10"/>
          <p:cNvSpPr/>
          <p:nvPr/>
        </p:nvSpPr>
        <p:spPr>
          <a:xfrm>
            <a:off x="6172200" y="1673352"/>
            <a:ext cx="1874519" cy="457200"/>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WHY</a:t>
            </a:r>
          </a:p>
        </p:txBody>
      </p:sp>
      <p:sp>
        <p:nvSpPr>
          <p:cNvPr id="12" name="TextBox 11"/>
          <p:cNvSpPr txBox="1"/>
          <p:nvPr/>
        </p:nvSpPr>
        <p:spPr>
          <a:xfrm>
            <a:off x="8183879" y="1673352"/>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need copies and pieces?</a:t>
            </a:r>
          </a:p>
        </p:txBody>
      </p:sp>
      <p:sp>
        <p:nvSpPr>
          <p:cNvPr id="13" name="Rounded Rectangle 12"/>
          <p:cNvSpPr/>
          <p:nvPr/>
        </p:nvSpPr>
        <p:spPr>
          <a:xfrm>
            <a:off x="6172200" y="2212848"/>
            <a:ext cx="1874519" cy="457200"/>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14" name="TextBox 13"/>
          <p:cNvSpPr txBox="1"/>
          <p:nvPr/>
        </p:nvSpPr>
        <p:spPr>
          <a:xfrm>
            <a:off x="8183879" y="2212848"/>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does a replica set survive failure?</a:t>
            </a:r>
          </a:p>
        </p:txBody>
      </p:sp>
      <p:sp>
        <p:nvSpPr>
          <p:cNvPr id="15" name="Rounded Rectangle 14"/>
          <p:cNvSpPr/>
          <p:nvPr/>
        </p:nvSpPr>
        <p:spPr>
          <a:xfrm>
            <a:off x="6172200" y="2752344"/>
            <a:ext cx="1874519" cy="457200"/>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WHICH</a:t>
            </a:r>
          </a:p>
        </p:txBody>
      </p:sp>
      <p:sp>
        <p:nvSpPr>
          <p:cNvPr id="16" name="TextBox 15"/>
          <p:cNvSpPr txBox="1"/>
          <p:nvPr/>
        </p:nvSpPr>
        <p:spPr>
          <a:xfrm>
            <a:off x="8183879" y="2752344"/>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member serves a read, and when?</a:t>
            </a:r>
          </a:p>
        </p:txBody>
      </p:sp>
      <p:sp>
        <p:nvSpPr>
          <p:cNvPr id="17" name="Rounded Rectangle 16"/>
          <p:cNvSpPr/>
          <p:nvPr/>
        </p:nvSpPr>
        <p:spPr>
          <a:xfrm>
            <a:off x="6172200" y="3291840"/>
            <a:ext cx="1874519" cy="457200"/>
          </a:xfrm>
          <a:prstGeom prst="roundRect">
            <a:avLst>
              <a:gd name="adj" fmla="val 14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WHAT</a:t>
            </a:r>
          </a:p>
        </p:txBody>
      </p:sp>
      <p:sp>
        <p:nvSpPr>
          <p:cNvPr id="18" name="TextBox 17"/>
          <p:cNvSpPr txBox="1"/>
          <p:nvPr/>
        </p:nvSpPr>
        <p:spPr>
          <a:xfrm>
            <a:off x="8183879" y="3291840"/>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makes up a sharded cluster?</a:t>
            </a:r>
          </a:p>
        </p:txBody>
      </p:sp>
      <p:sp>
        <p:nvSpPr>
          <p:cNvPr id="19" name="Rounded Rectangle 18"/>
          <p:cNvSpPr/>
          <p:nvPr/>
        </p:nvSpPr>
        <p:spPr>
          <a:xfrm>
            <a:off x="6172200" y="3831335"/>
            <a:ext cx="1874519" cy="457200"/>
          </a:xfrm>
          <a:prstGeom prst="roundRect">
            <a:avLst>
              <a:gd name="adj" fmla="val 14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20" name="TextBox 19"/>
          <p:cNvSpPr txBox="1"/>
          <p:nvPr/>
        </p:nvSpPr>
        <p:spPr>
          <a:xfrm>
            <a:off x="8183879" y="3831335"/>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choose a shard key?</a:t>
            </a:r>
          </a:p>
        </p:txBody>
      </p:sp>
      <p:sp>
        <p:nvSpPr>
          <p:cNvPr id="21" name="Rounded Rectangle 20"/>
          <p:cNvSpPr/>
          <p:nvPr/>
        </p:nvSpPr>
        <p:spPr>
          <a:xfrm>
            <a:off x="6172200" y="4370831"/>
            <a:ext cx="1874519" cy="457200"/>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WHEN</a:t>
            </a:r>
          </a:p>
        </p:txBody>
      </p:sp>
      <p:sp>
        <p:nvSpPr>
          <p:cNvPr id="22" name="TextBox 21"/>
          <p:cNvSpPr txBox="1"/>
          <p:nvPr/>
        </p:nvSpPr>
        <p:spPr>
          <a:xfrm>
            <a:off x="8183879" y="4370831"/>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we replicate, shard, or both?</a:t>
            </a:r>
          </a:p>
        </p:txBody>
      </p:sp>
      <p:sp>
        <p:nvSpPr>
          <p:cNvPr id="23" name="Oval 22"/>
          <p:cNvSpPr/>
          <p:nvPr/>
        </p:nvSpPr>
        <p:spPr>
          <a:xfrm>
            <a:off x="457200" y="4590288"/>
            <a:ext cx="310896" cy="310896"/>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9028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5" name="TextBox 24"/>
          <p:cNvSpPr txBox="1"/>
          <p:nvPr/>
        </p:nvSpPr>
        <p:spPr>
          <a:xfrm>
            <a:off x="841248" y="4581144"/>
            <a:ext cx="10863072" cy="347472"/>
          </a:xfrm>
          <a:prstGeom prst="rect">
            <a:avLst/>
          </a:prstGeom>
          <a:noFill/>
        </p:spPr>
        <p:txBody>
          <a:bodyPr wrap="square" anchor="ctr" lIns="0" rIns="0" tIns="0" bIns="0">
            <a:spAutoFit/>
          </a:bodyPr>
          <a:lstStyle/>
          <a:p>
            <a:pPr algn="l"/>
            <a:r>
              <a:rPr sz="1400" b="1" i="0">
                <a:solidFill>
                  <a:srgbClr val="D1282E"/>
                </a:solidFill>
                <a:latin typeface="Nirmala UI"/>
              </a:rPr>
              <a:t>MODULE ROADMAP</a:t>
            </a:r>
          </a:p>
        </p:txBody>
      </p:sp>
      <p:sp>
        <p:nvSpPr>
          <p:cNvPr id="26" name="Pentagon 25"/>
          <p:cNvSpPr/>
          <p:nvPr/>
        </p:nvSpPr>
        <p:spPr>
          <a:xfrm>
            <a:off x="457200" y="5029200"/>
            <a:ext cx="1763485" cy="731520"/>
          </a:xfrm>
          <a:prstGeom prst="homePlate">
            <a:avLst>
              <a:gd name="adj" fmla="val 30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548640" y="5029200"/>
            <a:ext cx="1498309" cy="731520"/>
          </a:xfrm>
          <a:prstGeom prst="rect">
            <a:avLst/>
          </a:prstGeom>
          <a:noFill/>
        </p:spPr>
        <p:txBody>
          <a:bodyPr wrap="square" anchor="ctr" lIns="0" rIns="0" tIns="0" bIns="0">
            <a:spAutoFit/>
          </a:bodyPr>
          <a:lstStyle/>
          <a:p>
            <a:pPr algn="ctr"/>
            <a:r>
              <a:rPr sz="1300" b="1" i="0">
                <a:solidFill>
                  <a:srgbClr val="FFFFFF"/>
                </a:solidFill>
                <a:latin typeface="Nirmala UI"/>
              </a:rPr>
              <a:t>Availability</a:t>
            </a:r>
          </a:p>
        </p:txBody>
      </p:sp>
      <p:sp>
        <p:nvSpPr>
          <p:cNvPr id="28" name="Chevron 27"/>
          <p:cNvSpPr/>
          <p:nvPr/>
        </p:nvSpPr>
        <p:spPr>
          <a:xfrm>
            <a:off x="2037805" y="5029200"/>
            <a:ext cx="1763485" cy="731520"/>
          </a:xfrm>
          <a:prstGeom prst="chevron">
            <a:avLst>
              <a:gd name="adj" fmla="val 30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2257261"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Replica sets</a:t>
            </a:r>
          </a:p>
        </p:txBody>
      </p:sp>
      <p:sp>
        <p:nvSpPr>
          <p:cNvPr id="30" name="Chevron 29"/>
          <p:cNvSpPr/>
          <p:nvPr/>
        </p:nvSpPr>
        <p:spPr>
          <a:xfrm>
            <a:off x="3618411" y="5029200"/>
            <a:ext cx="1763485" cy="731520"/>
          </a:xfrm>
          <a:prstGeom prst="chevron">
            <a:avLst>
              <a:gd name="adj" fmla="val 30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1" name="TextBox 30"/>
          <p:cNvSpPr txBox="1"/>
          <p:nvPr/>
        </p:nvSpPr>
        <p:spPr>
          <a:xfrm>
            <a:off x="3837867"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Failover</a:t>
            </a:r>
          </a:p>
        </p:txBody>
      </p:sp>
      <p:sp>
        <p:nvSpPr>
          <p:cNvPr id="32" name="Chevron 31"/>
          <p:cNvSpPr/>
          <p:nvPr/>
        </p:nvSpPr>
        <p:spPr>
          <a:xfrm>
            <a:off x="5199017" y="5029200"/>
            <a:ext cx="1763485" cy="731520"/>
          </a:xfrm>
          <a:prstGeom prst="chevron">
            <a:avLst>
              <a:gd name="adj" fmla="val 30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5418473"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Guarantees</a:t>
            </a:r>
          </a:p>
        </p:txBody>
      </p:sp>
      <p:sp>
        <p:nvSpPr>
          <p:cNvPr id="34" name="Chevron 33"/>
          <p:cNvSpPr/>
          <p:nvPr/>
        </p:nvSpPr>
        <p:spPr>
          <a:xfrm>
            <a:off x="6779622" y="5029200"/>
            <a:ext cx="1763485" cy="731520"/>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5" name="TextBox 34"/>
          <p:cNvSpPr txBox="1"/>
          <p:nvPr/>
        </p:nvSpPr>
        <p:spPr>
          <a:xfrm>
            <a:off x="6999078"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Shard keys</a:t>
            </a:r>
          </a:p>
        </p:txBody>
      </p:sp>
      <p:sp>
        <p:nvSpPr>
          <p:cNvPr id="36" name="Chevron 35"/>
          <p:cNvSpPr/>
          <p:nvPr/>
        </p:nvSpPr>
        <p:spPr>
          <a:xfrm>
            <a:off x="8360228" y="5029200"/>
            <a:ext cx="1763485" cy="731520"/>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7" name="TextBox 36"/>
          <p:cNvSpPr txBox="1"/>
          <p:nvPr/>
        </p:nvSpPr>
        <p:spPr>
          <a:xfrm>
            <a:off x="8579684"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Routing</a:t>
            </a:r>
          </a:p>
        </p:txBody>
      </p:sp>
      <p:sp>
        <p:nvSpPr>
          <p:cNvPr id="38" name="Chevron 37"/>
          <p:cNvSpPr/>
          <p:nvPr/>
        </p:nvSpPr>
        <p:spPr>
          <a:xfrm>
            <a:off x="9940834" y="5029200"/>
            <a:ext cx="1763485" cy="731520"/>
          </a:xfrm>
          <a:prstGeom prst="chevron">
            <a:avLst>
              <a:gd name="adj" fmla="val 30000"/>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9" name="TextBox 38"/>
          <p:cNvSpPr txBox="1"/>
          <p:nvPr/>
        </p:nvSpPr>
        <p:spPr>
          <a:xfrm>
            <a:off x="10160290"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Design</a:t>
            </a:r>
          </a:p>
        </p:txBody>
      </p:sp>
      <p:sp>
        <p:nvSpPr>
          <p:cNvPr id="40" name="Rounded Rectangle 3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Replication keeps the data available; sharding distributes the data and the work.</a:t>
            </a:r>
          </a:p>
        </p:txBody>
      </p:sp>
      <p:sp>
        <p:nvSpPr>
          <p:cNvPr id="42" name="Rectangle 4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KEY TERMS FOR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Plain definitions for the words we'll use most.</a:t>
            </a:r>
          </a:p>
        </p:txBody>
      </p:sp>
      <p:sp>
        <p:nvSpPr>
          <p:cNvPr id="4" name="Rounded Rectangle 3"/>
          <p:cNvSpPr/>
          <p:nvPr/>
        </p:nvSpPr>
        <p:spPr>
          <a:xfrm>
            <a:off x="45720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408176"/>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6" name="TextBox 5"/>
          <p:cNvSpPr txBox="1"/>
          <p:nvPr/>
        </p:nvSpPr>
        <p:spPr>
          <a:xfrm>
            <a:off x="1097280" y="1371600"/>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Replica set</a:t>
            </a:r>
          </a:p>
        </p:txBody>
      </p:sp>
      <p:sp>
        <p:nvSpPr>
          <p:cNvPr id="7" name="TextBox 6"/>
          <p:cNvSpPr txBox="1"/>
          <p:nvPr/>
        </p:nvSpPr>
        <p:spPr>
          <a:xfrm>
            <a:off x="109728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group of mongod servers holding the same data: one primary and its secondaries.</a:t>
            </a:r>
          </a:p>
        </p:txBody>
      </p:sp>
      <p:sp>
        <p:nvSpPr>
          <p:cNvPr id="8" name="Rounded Rectangle 7"/>
          <p:cNvSpPr/>
          <p:nvPr/>
        </p:nvSpPr>
        <p:spPr>
          <a:xfrm>
            <a:off x="621792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Oval 8"/>
          <p:cNvSpPr/>
          <p:nvPr/>
        </p:nvSpPr>
        <p:spPr>
          <a:xfrm>
            <a:off x="6364224" y="1408176"/>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10" name="TextBox 9"/>
          <p:cNvSpPr txBox="1"/>
          <p:nvPr/>
        </p:nvSpPr>
        <p:spPr>
          <a:xfrm>
            <a:off x="6858000" y="1371600"/>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Oplog</a:t>
            </a:r>
          </a:p>
        </p:txBody>
      </p:sp>
      <p:sp>
        <p:nvSpPr>
          <p:cNvPr id="11" name="TextBox 10"/>
          <p:cNvSpPr txBox="1"/>
          <p:nvPr/>
        </p:nvSpPr>
        <p:spPr>
          <a:xfrm>
            <a:off x="685800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The operation log: a capped collection of every change, which secondaries copy and apply.</a:t>
            </a:r>
          </a:p>
        </p:txBody>
      </p:sp>
      <p:sp>
        <p:nvSpPr>
          <p:cNvPr id="12" name="Rounded Rectangle 11"/>
          <p:cNvSpPr/>
          <p:nvPr/>
        </p:nvSpPr>
        <p:spPr>
          <a:xfrm>
            <a:off x="45720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Oval 12"/>
          <p:cNvSpPr/>
          <p:nvPr/>
        </p:nvSpPr>
        <p:spPr>
          <a:xfrm>
            <a:off x="603504" y="2578608"/>
            <a:ext cx="365760" cy="365760"/>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14" name="TextBox 13"/>
          <p:cNvSpPr txBox="1"/>
          <p:nvPr/>
        </p:nvSpPr>
        <p:spPr>
          <a:xfrm>
            <a:off x="1097280" y="2542032"/>
            <a:ext cx="4709160" cy="420624"/>
          </a:xfrm>
          <a:prstGeom prst="rect">
            <a:avLst/>
          </a:prstGeom>
          <a:noFill/>
        </p:spPr>
        <p:txBody>
          <a:bodyPr wrap="square" anchor="ctr" lIns="0" rIns="0" tIns="0" bIns="0">
            <a:spAutoFit/>
          </a:bodyPr>
          <a:lstStyle/>
          <a:p>
            <a:pPr algn="l"/>
            <a:r>
              <a:rPr sz="1500" b="1" i="0">
                <a:solidFill>
                  <a:srgbClr val="0E7C7B"/>
                </a:solidFill>
                <a:latin typeface="Nirmala UI"/>
              </a:rPr>
              <a:t>Election and failover</a:t>
            </a:r>
          </a:p>
        </p:txBody>
      </p:sp>
      <p:sp>
        <p:nvSpPr>
          <p:cNvPr id="15" name="TextBox 14"/>
          <p:cNvSpPr txBox="1"/>
          <p:nvPr/>
        </p:nvSpPr>
        <p:spPr>
          <a:xfrm>
            <a:off x="109728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When the primary is lost, a majority of voters elects a secondary as the new primary.</a:t>
            </a:r>
          </a:p>
        </p:txBody>
      </p:sp>
      <p:sp>
        <p:nvSpPr>
          <p:cNvPr id="16" name="Rounded Rectangle 15"/>
          <p:cNvSpPr/>
          <p:nvPr/>
        </p:nvSpPr>
        <p:spPr>
          <a:xfrm>
            <a:off x="621792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364224" y="2578608"/>
            <a:ext cx="365760" cy="365760"/>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18" name="TextBox 17"/>
          <p:cNvSpPr txBox="1"/>
          <p:nvPr/>
        </p:nvSpPr>
        <p:spPr>
          <a:xfrm>
            <a:off x="6858000" y="2542032"/>
            <a:ext cx="4709160" cy="420624"/>
          </a:xfrm>
          <a:prstGeom prst="rect">
            <a:avLst/>
          </a:prstGeom>
          <a:noFill/>
        </p:spPr>
        <p:txBody>
          <a:bodyPr wrap="square" anchor="ctr" lIns="0" rIns="0" tIns="0" bIns="0">
            <a:spAutoFit/>
          </a:bodyPr>
          <a:lstStyle/>
          <a:p>
            <a:pPr algn="l"/>
            <a:r>
              <a:rPr sz="1500" b="1" i="0">
                <a:solidFill>
                  <a:srgbClr val="2E7D32"/>
                </a:solidFill>
                <a:latin typeface="Nirmala UI"/>
              </a:rPr>
              <a:t>Write concern</a:t>
            </a:r>
          </a:p>
        </p:txBody>
      </p:sp>
      <p:sp>
        <p:nvSpPr>
          <p:cNvPr id="19" name="TextBox 18"/>
          <p:cNvSpPr txBox="1"/>
          <p:nvPr/>
        </p:nvSpPr>
        <p:spPr>
          <a:xfrm>
            <a:off x="685800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How many members must confirm a write before the application gets an answer.</a:t>
            </a:r>
          </a:p>
        </p:txBody>
      </p:sp>
      <p:sp>
        <p:nvSpPr>
          <p:cNvPr id="20" name="Rounded Rectangle 19"/>
          <p:cNvSpPr/>
          <p:nvPr/>
        </p:nvSpPr>
        <p:spPr>
          <a:xfrm>
            <a:off x="45720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Oval 20"/>
          <p:cNvSpPr/>
          <p:nvPr/>
        </p:nvSpPr>
        <p:spPr>
          <a:xfrm>
            <a:off x="603504" y="3749040"/>
            <a:ext cx="365760" cy="365760"/>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22" name="TextBox 21"/>
          <p:cNvSpPr txBox="1"/>
          <p:nvPr/>
        </p:nvSpPr>
        <p:spPr>
          <a:xfrm>
            <a:off x="1097280" y="3712464"/>
            <a:ext cx="4709160" cy="420624"/>
          </a:xfrm>
          <a:prstGeom prst="rect">
            <a:avLst/>
          </a:prstGeom>
          <a:noFill/>
        </p:spPr>
        <p:txBody>
          <a:bodyPr wrap="square" anchor="ctr" lIns="0" rIns="0" tIns="0" bIns="0">
            <a:spAutoFit/>
          </a:bodyPr>
          <a:lstStyle/>
          <a:p>
            <a:pPr algn="l"/>
            <a:r>
              <a:rPr sz="1500" b="1" i="0">
                <a:solidFill>
                  <a:srgbClr val="C9690C"/>
                </a:solidFill>
                <a:latin typeface="Nirmala UI"/>
              </a:rPr>
              <a:t>Read preference and read concern</a:t>
            </a:r>
          </a:p>
        </p:txBody>
      </p:sp>
      <p:sp>
        <p:nvSpPr>
          <p:cNvPr id="23" name="TextBox 22"/>
          <p:cNvSpPr txBox="1"/>
          <p:nvPr/>
        </p:nvSpPr>
        <p:spPr>
          <a:xfrm>
            <a:off x="109728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Which member serves a read — and which data it may return.</a:t>
            </a:r>
          </a:p>
        </p:txBody>
      </p:sp>
      <p:sp>
        <p:nvSpPr>
          <p:cNvPr id="24" name="Rounded Rectangle 23"/>
          <p:cNvSpPr/>
          <p:nvPr/>
        </p:nvSpPr>
        <p:spPr>
          <a:xfrm>
            <a:off x="621792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Oval 24"/>
          <p:cNvSpPr/>
          <p:nvPr/>
        </p:nvSpPr>
        <p:spPr>
          <a:xfrm>
            <a:off x="6364224" y="3749040"/>
            <a:ext cx="365760" cy="365760"/>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26" name="TextBox 25"/>
          <p:cNvSpPr txBox="1"/>
          <p:nvPr/>
        </p:nvSpPr>
        <p:spPr>
          <a:xfrm>
            <a:off x="6858000" y="3712464"/>
            <a:ext cx="4709160" cy="420624"/>
          </a:xfrm>
          <a:prstGeom prst="rect">
            <a:avLst/>
          </a:prstGeom>
          <a:noFill/>
        </p:spPr>
        <p:txBody>
          <a:bodyPr wrap="square" anchor="ctr" lIns="0" rIns="0" tIns="0" bIns="0">
            <a:spAutoFit/>
          </a:bodyPr>
          <a:lstStyle/>
          <a:p>
            <a:pPr algn="l"/>
            <a:r>
              <a:rPr sz="1500" b="1" i="0">
                <a:solidFill>
                  <a:srgbClr val="D1282E"/>
                </a:solidFill>
                <a:latin typeface="Nirmala UI"/>
              </a:rPr>
              <a:t>Sharded cluster</a:t>
            </a:r>
          </a:p>
        </p:txBody>
      </p:sp>
      <p:sp>
        <p:nvSpPr>
          <p:cNvPr id="27" name="TextBox 26"/>
          <p:cNvSpPr txBox="1"/>
          <p:nvPr/>
        </p:nvSpPr>
        <p:spPr>
          <a:xfrm>
            <a:off x="685800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Shards hold the data, config servers hold the metadata, mongos routes every request.</a:t>
            </a:r>
          </a:p>
        </p:txBody>
      </p:sp>
      <p:sp>
        <p:nvSpPr>
          <p:cNvPr id="28" name="Rounded Rectangle 27"/>
          <p:cNvSpPr/>
          <p:nvPr/>
        </p:nvSpPr>
        <p:spPr>
          <a:xfrm>
            <a:off x="45720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03504" y="4919472"/>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7</a:t>
            </a:r>
          </a:p>
        </p:txBody>
      </p:sp>
      <p:sp>
        <p:nvSpPr>
          <p:cNvPr id="30" name="TextBox 29"/>
          <p:cNvSpPr txBox="1"/>
          <p:nvPr/>
        </p:nvSpPr>
        <p:spPr>
          <a:xfrm>
            <a:off x="1097280" y="4882896"/>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Shard key</a:t>
            </a:r>
          </a:p>
        </p:txBody>
      </p:sp>
      <p:sp>
        <p:nvSpPr>
          <p:cNvPr id="31" name="TextBox 30"/>
          <p:cNvSpPr txBox="1"/>
          <p:nvPr/>
        </p:nvSpPr>
        <p:spPr>
          <a:xfrm>
            <a:off x="109728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The indexed field or fields that decide which shard stores each document.</a:t>
            </a:r>
          </a:p>
        </p:txBody>
      </p:sp>
      <p:sp>
        <p:nvSpPr>
          <p:cNvPr id="32" name="Rounded Rectangle 31"/>
          <p:cNvSpPr/>
          <p:nvPr/>
        </p:nvSpPr>
        <p:spPr>
          <a:xfrm>
            <a:off x="621792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Oval 32"/>
          <p:cNvSpPr/>
          <p:nvPr/>
        </p:nvSpPr>
        <p:spPr>
          <a:xfrm>
            <a:off x="6364224" y="4919472"/>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8</a:t>
            </a:r>
          </a:p>
        </p:txBody>
      </p:sp>
      <p:sp>
        <p:nvSpPr>
          <p:cNvPr id="34" name="TextBox 33"/>
          <p:cNvSpPr txBox="1"/>
          <p:nvPr/>
        </p:nvSpPr>
        <p:spPr>
          <a:xfrm>
            <a:off x="6858000" y="4882896"/>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Chunk and balancer</a:t>
            </a:r>
          </a:p>
        </p:txBody>
      </p:sp>
      <p:sp>
        <p:nvSpPr>
          <p:cNvPr id="35" name="TextBox 34"/>
          <p:cNvSpPr txBox="1"/>
          <p:nvPr/>
        </p:nvSpPr>
        <p:spPr>
          <a:xfrm>
            <a:off x="685800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chunk is one range of shard-key values; the balancer moves ranges between shards.</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Agree on the words first — every later slide builds on them.</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FULL FORMS USED IN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abbreviation on these slides, spelled out.</a:t>
            </a:r>
          </a:p>
        </p:txBody>
      </p:sp>
      <p:sp>
        <p:nvSpPr>
          <p:cNvPr id="4" name="Rounded Rectangle 3"/>
          <p:cNvSpPr/>
          <p:nvPr/>
        </p:nvSpPr>
        <p:spPr>
          <a:xfrm>
            <a:off x="457200" y="1344168"/>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CA</a:t>
            </a:r>
          </a:p>
        </p:txBody>
      </p:sp>
      <p:sp>
        <p:nvSpPr>
          <p:cNvPr id="5" name="TextBox 4"/>
          <p:cNvSpPr txBox="1"/>
          <p:nvPr/>
        </p:nvSpPr>
        <p:spPr>
          <a:xfrm>
            <a:off x="157276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Canada (zone label)</a:t>
            </a:r>
          </a:p>
        </p:txBody>
      </p:sp>
      <p:sp>
        <p:nvSpPr>
          <p:cNvPr id="6" name="Rounded Rectangle 5"/>
          <p:cNvSpPr/>
          <p:nvPr/>
        </p:nvSpPr>
        <p:spPr>
          <a:xfrm>
            <a:off x="457200" y="1911095"/>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002060"/>
                </a:solidFill>
                <a:latin typeface="Nirmala UI"/>
              </a:rPr>
              <a:t>COLLSCAN</a:t>
            </a:r>
          </a:p>
        </p:txBody>
      </p:sp>
      <p:sp>
        <p:nvSpPr>
          <p:cNvPr id="7" name="TextBox 6"/>
          <p:cNvSpPr txBox="1"/>
          <p:nvPr/>
        </p:nvSpPr>
        <p:spPr>
          <a:xfrm>
            <a:off x="157276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Collection Scan</a:t>
            </a:r>
          </a:p>
        </p:txBody>
      </p:sp>
      <p:sp>
        <p:nvSpPr>
          <p:cNvPr id="8" name="Rounded Rectangle 7"/>
          <p:cNvSpPr/>
          <p:nvPr/>
        </p:nvSpPr>
        <p:spPr>
          <a:xfrm>
            <a:off x="457200" y="2478024"/>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CPU</a:t>
            </a:r>
          </a:p>
        </p:txBody>
      </p:sp>
      <p:sp>
        <p:nvSpPr>
          <p:cNvPr id="9" name="TextBox 8"/>
          <p:cNvSpPr txBox="1"/>
          <p:nvPr/>
        </p:nvSpPr>
        <p:spPr>
          <a:xfrm>
            <a:off x="157276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Central Processing Unit</a:t>
            </a:r>
          </a:p>
        </p:txBody>
      </p:sp>
      <p:sp>
        <p:nvSpPr>
          <p:cNvPr id="10" name="Rounded Rectangle 9"/>
          <p:cNvSpPr/>
          <p:nvPr/>
        </p:nvSpPr>
        <p:spPr>
          <a:xfrm>
            <a:off x="457200" y="3044952"/>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ESR</a:t>
            </a:r>
          </a:p>
        </p:txBody>
      </p:sp>
      <p:sp>
        <p:nvSpPr>
          <p:cNvPr id="11" name="TextBox 10"/>
          <p:cNvSpPr txBox="1"/>
          <p:nvPr/>
        </p:nvSpPr>
        <p:spPr>
          <a:xfrm>
            <a:off x="1572768" y="2999232"/>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Equality, Sort, Range</a:t>
            </a:r>
          </a:p>
        </p:txBody>
      </p:sp>
      <p:sp>
        <p:nvSpPr>
          <p:cNvPr id="12" name="Rounded Rectangle 11"/>
          <p:cNvSpPr/>
          <p:nvPr/>
        </p:nvSpPr>
        <p:spPr>
          <a:xfrm>
            <a:off x="4282440" y="1344168"/>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EU</a:t>
            </a:r>
          </a:p>
        </p:txBody>
      </p:sp>
      <p:sp>
        <p:nvSpPr>
          <p:cNvPr id="13" name="TextBox 12"/>
          <p:cNvSpPr txBox="1"/>
          <p:nvPr/>
        </p:nvSpPr>
        <p:spPr>
          <a:xfrm>
            <a:off x="539800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European Union (zone label)</a:t>
            </a:r>
          </a:p>
        </p:txBody>
      </p:sp>
      <p:sp>
        <p:nvSpPr>
          <p:cNvPr id="14" name="Rounded Rectangle 13"/>
          <p:cNvSpPr/>
          <p:nvPr/>
        </p:nvSpPr>
        <p:spPr>
          <a:xfrm>
            <a:off x="4282440" y="1911095"/>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HA</a:t>
            </a:r>
          </a:p>
        </p:txBody>
      </p:sp>
      <p:sp>
        <p:nvSpPr>
          <p:cNvPr id="15" name="TextBox 14"/>
          <p:cNvSpPr txBox="1"/>
          <p:nvPr/>
        </p:nvSpPr>
        <p:spPr>
          <a:xfrm>
            <a:off x="539800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High Availability</a:t>
            </a:r>
          </a:p>
        </p:txBody>
      </p:sp>
      <p:sp>
        <p:nvSpPr>
          <p:cNvPr id="16" name="Rounded Rectangle 15"/>
          <p:cNvSpPr/>
          <p:nvPr/>
        </p:nvSpPr>
        <p:spPr>
          <a:xfrm>
            <a:off x="4282440" y="2478024"/>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5B3A9E"/>
                </a:solidFill>
                <a:latin typeface="Nirmala UI"/>
              </a:rPr>
              <a:t>IXSCAN</a:t>
            </a:r>
          </a:p>
        </p:txBody>
      </p:sp>
      <p:sp>
        <p:nvSpPr>
          <p:cNvPr id="17" name="TextBox 16"/>
          <p:cNvSpPr txBox="1"/>
          <p:nvPr/>
        </p:nvSpPr>
        <p:spPr>
          <a:xfrm>
            <a:off x="539800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Index Scan</a:t>
            </a:r>
          </a:p>
        </p:txBody>
      </p:sp>
      <p:sp>
        <p:nvSpPr>
          <p:cNvPr id="18" name="Rounded Rectangle 17"/>
          <p:cNvSpPr/>
          <p:nvPr/>
        </p:nvSpPr>
        <p:spPr>
          <a:xfrm>
            <a:off x="4282440" y="3044952"/>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oplog</a:t>
            </a:r>
          </a:p>
        </p:txBody>
      </p:sp>
      <p:sp>
        <p:nvSpPr>
          <p:cNvPr id="19" name="TextBox 18"/>
          <p:cNvSpPr txBox="1"/>
          <p:nvPr/>
        </p:nvSpPr>
        <p:spPr>
          <a:xfrm>
            <a:off x="5398008" y="2999232"/>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Operations log</a:t>
            </a:r>
          </a:p>
        </p:txBody>
      </p:sp>
      <p:sp>
        <p:nvSpPr>
          <p:cNvPr id="20" name="Rounded Rectangle 19"/>
          <p:cNvSpPr/>
          <p:nvPr/>
        </p:nvSpPr>
        <p:spPr>
          <a:xfrm>
            <a:off x="8107680" y="1344168"/>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RAM</a:t>
            </a:r>
          </a:p>
        </p:txBody>
      </p:sp>
      <p:sp>
        <p:nvSpPr>
          <p:cNvPr id="21" name="TextBox 20"/>
          <p:cNvSpPr txBox="1"/>
          <p:nvPr/>
        </p:nvSpPr>
        <p:spPr>
          <a:xfrm>
            <a:off x="922324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Random Access Memory</a:t>
            </a:r>
          </a:p>
        </p:txBody>
      </p:sp>
      <p:sp>
        <p:nvSpPr>
          <p:cNvPr id="22" name="Rounded Rectangle 21"/>
          <p:cNvSpPr/>
          <p:nvPr/>
        </p:nvSpPr>
        <p:spPr>
          <a:xfrm>
            <a:off x="8107680" y="1911095"/>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URI</a:t>
            </a:r>
          </a:p>
        </p:txBody>
      </p:sp>
      <p:sp>
        <p:nvSpPr>
          <p:cNvPr id="23" name="TextBox 22"/>
          <p:cNvSpPr txBox="1"/>
          <p:nvPr/>
        </p:nvSpPr>
        <p:spPr>
          <a:xfrm>
            <a:off x="922324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Uniform Resource Identifier</a:t>
            </a:r>
          </a:p>
        </p:txBody>
      </p:sp>
      <p:sp>
        <p:nvSpPr>
          <p:cNvPr id="24" name="Rounded Rectangle 23"/>
          <p:cNvSpPr/>
          <p:nvPr/>
        </p:nvSpPr>
        <p:spPr>
          <a:xfrm>
            <a:off x="8107680" y="2478024"/>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US</a:t>
            </a:r>
          </a:p>
        </p:txBody>
      </p:sp>
      <p:sp>
        <p:nvSpPr>
          <p:cNvPr id="25" name="TextBox 24"/>
          <p:cNvSpPr txBox="1"/>
          <p:nvPr/>
        </p:nvSpPr>
        <p:spPr>
          <a:xfrm>
            <a:off x="922324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United States (zone label)</a:t>
            </a:r>
          </a:p>
        </p:txBody>
      </p:sp>
      <p:sp>
        <p:nvSpPr>
          <p:cNvPr id="26" name="Rounded Rectangle 2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When an abbreviation isn't clear, the full form is on this slide.</a:t>
            </a:r>
          </a:p>
        </p:txBody>
      </p:sp>
      <p:sp>
        <p:nvSpPr>
          <p:cNvPr id="28" name="Rectangle 2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FROM MODULE 6 TO MODULE 7</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Our queries are fast on one server — now keep the data online and ready to grow.</a:t>
            </a:r>
          </a:p>
        </p:txBody>
      </p:sp>
      <p:sp>
        <p:nvSpPr>
          <p:cNvPr id="4" name="Rounded Rectangle 3"/>
          <p:cNvSpPr/>
          <p:nvPr/>
        </p:nvSpPr>
        <p:spPr>
          <a:xfrm>
            <a:off x="457200" y="1298448"/>
            <a:ext cx="46634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46634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4389120" cy="420624"/>
          </a:xfrm>
          <a:prstGeom prst="rect">
            <a:avLst/>
          </a:prstGeom>
          <a:noFill/>
        </p:spPr>
        <p:txBody>
          <a:bodyPr wrap="square" anchor="ctr" lIns="0" rIns="0" tIns="0" bIns="0">
            <a:spAutoFit/>
          </a:bodyPr>
          <a:lstStyle/>
          <a:p>
            <a:pPr algn="l"/>
            <a:r>
              <a:rPr sz="1400" b="1" i="0">
                <a:solidFill>
                  <a:srgbClr val="FFFFFF"/>
                </a:solidFill>
                <a:latin typeface="Nirmala UI"/>
              </a:rPr>
              <a:t>MODULE 6 GAVE US</a:t>
            </a:r>
          </a:p>
        </p:txBody>
      </p:sp>
      <p:sp>
        <p:nvSpPr>
          <p:cNvPr id="7" name="Oval 6"/>
          <p:cNvSpPr/>
          <p:nvPr/>
        </p:nvSpPr>
        <p:spPr>
          <a:xfrm>
            <a:off x="640080" y="196596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Indexes shaped like our queries</a:t>
            </a:r>
          </a:p>
        </p:txBody>
      </p:sp>
      <p:sp>
        <p:nvSpPr>
          <p:cNvPr id="9" name="Oval 8"/>
          <p:cNvSpPr/>
          <p:nvPr/>
        </p:nvSpPr>
        <p:spPr>
          <a:xfrm>
            <a:off x="640080" y="25328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41448"/>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explain(): IXSCAN versus COLLSCAN</a:t>
            </a:r>
          </a:p>
        </p:txBody>
      </p:sp>
      <p:sp>
        <p:nvSpPr>
          <p:cNvPr id="11" name="Oval 10"/>
          <p:cNvSpPr/>
          <p:nvPr/>
        </p:nvSpPr>
        <p:spPr>
          <a:xfrm>
            <a:off x="640080" y="309981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08376"/>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The ESR guideline for compound keys</a:t>
            </a:r>
          </a:p>
        </p:txBody>
      </p:sp>
      <p:sp>
        <p:nvSpPr>
          <p:cNvPr id="13" name="Oval 12"/>
          <p:cNvSpPr/>
          <p:nvPr/>
        </p:nvSpPr>
        <p:spPr>
          <a:xfrm>
            <a:off x="640080" y="3666744"/>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575303"/>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 customerId: 1, createdAt: -1 } for history</a:t>
            </a:r>
          </a:p>
        </p:txBody>
      </p:sp>
      <p:sp>
        <p:nvSpPr>
          <p:cNvPr id="15" name="Oval 14"/>
          <p:cNvSpPr/>
          <p:nvPr/>
        </p:nvSpPr>
        <p:spPr>
          <a:xfrm>
            <a:off x="640080" y="4233671"/>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142231"/>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Evidence before changing the design</a:t>
            </a:r>
          </a:p>
        </p:txBody>
      </p:sp>
      <p:sp>
        <p:nvSpPr>
          <p:cNvPr id="17" name="Rounded Rectangle 16"/>
          <p:cNvSpPr/>
          <p:nvPr/>
        </p:nvSpPr>
        <p:spPr>
          <a:xfrm>
            <a:off x="594360" y="4690872"/>
            <a:ext cx="4389120" cy="96012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777240" y="4690872"/>
            <a:ext cx="4023359" cy="960120"/>
          </a:xfrm>
          <a:prstGeom prst="rect">
            <a:avLst/>
          </a:prstGeom>
          <a:noFill/>
        </p:spPr>
        <p:txBody>
          <a:bodyPr wrap="square" anchor="ctr" lIns="0" rIns="0" tIns="0" bIns="0">
            <a:spAutoFit/>
          </a:bodyPr>
          <a:lstStyle/>
          <a:p>
            <a:pPr algn="l"/>
            <a:r>
              <a:rPr sz="1400" b="1" i="0">
                <a:solidFill>
                  <a:srgbClr val="D1282E"/>
                </a:solidFill>
                <a:latin typeface="Nirmala UI"/>
              </a:rPr>
              <a:t>NOW   </a:t>
            </a:r>
            <a:r>
              <a:rPr sz="1400" b="0" i="0">
                <a:solidFill>
                  <a:srgbClr val="000000"/>
                </a:solidFill>
                <a:latin typeface="Nirmala UI"/>
              </a:rPr>
              <a:t>Survive a server failure — and plan how orders can outgrow one server.</a:t>
            </a:r>
          </a:p>
        </p:txBody>
      </p:sp>
      <p:sp>
        <p:nvSpPr>
          <p:cNvPr id="19" name="Oval 18"/>
          <p:cNvSpPr/>
          <p:nvPr/>
        </p:nvSpPr>
        <p:spPr>
          <a:xfrm>
            <a:off x="5486400" y="1298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1" name="TextBox 20"/>
          <p:cNvSpPr txBox="1"/>
          <p:nvPr/>
        </p:nvSpPr>
        <p:spPr>
          <a:xfrm>
            <a:off x="5870448" y="1289304"/>
            <a:ext cx="5833872" cy="347472"/>
          </a:xfrm>
          <a:prstGeom prst="rect">
            <a:avLst/>
          </a:prstGeom>
          <a:noFill/>
        </p:spPr>
        <p:txBody>
          <a:bodyPr wrap="square" anchor="ctr" lIns="0" rIns="0" tIns="0" bIns="0">
            <a:spAutoFit/>
          </a:bodyPr>
          <a:lstStyle/>
          <a:p>
            <a:pPr algn="l"/>
            <a:r>
              <a:rPr sz="1400" b="1" i="0">
                <a:solidFill>
                  <a:srgbClr val="D1282E"/>
                </a:solidFill>
                <a:latin typeface="Nirmala UI"/>
              </a:rPr>
              <a:t>OUR PATH THROUGH MODULE 7</a:t>
            </a:r>
          </a:p>
        </p:txBody>
      </p:sp>
      <p:sp>
        <p:nvSpPr>
          <p:cNvPr id="22" name="Oval 21"/>
          <p:cNvSpPr/>
          <p:nvPr/>
        </p:nvSpPr>
        <p:spPr>
          <a:xfrm>
            <a:off x="5486400" y="1839250"/>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23" name="TextBox 22"/>
          <p:cNvSpPr txBox="1"/>
          <p:nvPr/>
        </p:nvSpPr>
        <p:spPr>
          <a:xfrm>
            <a:off x="5943600" y="1719072"/>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Availability versus scalability</a:t>
            </a:r>
          </a:p>
        </p:txBody>
      </p:sp>
      <p:sp>
        <p:nvSpPr>
          <p:cNvPr id="24" name="Rounded Rectangle 23"/>
          <p:cNvSpPr/>
          <p:nvPr/>
        </p:nvSpPr>
        <p:spPr>
          <a:xfrm>
            <a:off x="10332720" y="1830106"/>
            <a:ext cx="1371600" cy="365760"/>
          </a:xfrm>
          <a:prstGeom prst="roundRect">
            <a:avLst>
              <a:gd name="adj" fmla="val 14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02060"/>
                </a:solidFill>
                <a:latin typeface="Nirmala UI"/>
              </a:rPr>
              <a:t>Part 1</a:t>
            </a:r>
          </a:p>
        </p:txBody>
      </p:sp>
      <p:sp>
        <p:nvSpPr>
          <p:cNvPr id="25" name="Oval 24"/>
          <p:cNvSpPr/>
          <p:nvPr/>
        </p:nvSpPr>
        <p:spPr>
          <a:xfrm>
            <a:off x="5486400" y="2427078"/>
            <a:ext cx="347472" cy="347472"/>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26" name="TextBox 25"/>
          <p:cNvSpPr txBox="1"/>
          <p:nvPr/>
        </p:nvSpPr>
        <p:spPr>
          <a:xfrm>
            <a:off x="5943600" y="2306900"/>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Replica sets, the oplog and elections</a:t>
            </a:r>
          </a:p>
        </p:txBody>
      </p:sp>
      <p:sp>
        <p:nvSpPr>
          <p:cNvPr id="27" name="Rounded Rectangle 26"/>
          <p:cNvSpPr/>
          <p:nvPr/>
        </p:nvSpPr>
        <p:spPr>
          <a:xfrm>
            <a:off x="10332720" y="2417934"/>
            <a:ext cx="1371600" cy="365760"/>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Part 2</a:t>
            </a:r>
          </a:p>
        </p:txBody>
      </p:sp>
      <p:sp>
        <p:nvSpPr>
          <p:cNvPr id="28" name="Oval 27"/>
          <p:cNvSpPr/>
          <p:nvPr/>
        </p:nvSpPr>
        <p:spPr>
          <a:xfrm>
            <a:off x="5486400" y="3014907"/>
            <a:ext cx="347472" cy="347472"/>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29" name="TextBox 28"/>
          <p:cNvSpPr txBox="1"/>
          <p:nvPr/>
        </p:nvSpPr>
        <p:spPr>
          <a:xfrm>
            <a:off x="5943600" y="2894729"/>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Failover and what the application sees</a:t>
            </a:r>
          </a:p>
        </p:txBody>
      </p:sp>
      <p:sp>
        <p:nvSpPr>
          <p:cNvPr id="30" name="Rounded Rectangle 29"/>
          <p:cNvSpPr/>
          <p:nvPr/>
        </p:nvSpPr>
        <p:spPr>
          <a:xfrm>
            <a:off x="10332720" y="3005763"/>
            <a:ext cx="1371600" cy="365760"/>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Part 2</a:t>
            </a:r>
          </a:p>
        </p:txBody>
      </p:sp>
      <p:sp>
        <p:nvSpPr>
          <p:cNvPr id="31" name="Oval 30"/>
          <p:cNvSpPr/>
          <p:nvPr/>
        </p:nvSpPr>
        <p:spPr>
          <a:xfrm>
            <a:off x="5486400" y="3602736"/>
            <a:ext cx="347472" cy="347472"/>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32" name="TextBox 31"/>
          <p:cNvSpPr txBox="1"/>
          <p:nvPr/>
        </p:nvSpPr>
        <p:spPr>
          <a:xfrm>
            <a:off x="5943600" y="3482557"/>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Read preference, read and write concern</a:t>
            </a:r>
          </a:p>
        </p:txBody>
      </p:sp>
      <p:sp>
        <p:nvSpPr>
          <p:cNvPr id="33" name="Rounded Rectangle 32"/>
          <p:cNvSpPr/>
          <p:nvPr/>
        </p:nvSpPr>
        <p:spPr>
          <a:xfrm>
            <a:off x="10332720" y="3593592"/>
            <a:ext cx="1371600" cy="365760"/>
          </a:xfrm>
          <a:prstGeom prst="roundRect">
            <a:avLst>
              <a:gd name="adj" fmla="val 14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E7C7B"/>
                </a:solidFill>
                <a:latin typeface="Nirmala UI"/>
              </a:rPr>
              <a:t>Part 3</a:t>
            </a:r>
          </a:p>
        </p:txBody>
      </p:sp>
      <p:sp>
        <p:nvSpPr>
          <p:cNvPr id="34" name="Oval 33"/>
          <p:cNvSpPr/>
          <p:nvPr/>
        </p:nvSpPr>
        <p:spPr>
          <a:xfrm>
            <a:off x="5486400" y="4190564"/>
            <a:ext cx="347472" cy="347472"/>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35" name="TextBox 34"/>
          <p:cNvSpPr txBox="1"/>
          <p:nvPr/>
        </p:nvSpPr>
        <p:spPr>
          <a:xfrm>
            <a:off x="5943600" y="4070386"/>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Replication lag and rollback</a:t>
            </a:r>
          </a:p>
        </p:txBody>
      </p:sp>
      <p:sp>
        <p:nvSpPr>
          <p:cNvPr id="36" name="Rounded Rectangle 35"/>
          <p:cNvSpPr/>
          <p:nvPr/>
        </p:nvSpPr>
        <p:spPr>
          <a:xfrm>
            <a:off x="10332720" y="4181420"/>
            <a:ext cx="1371600" cy="365760"/>
          </a:xfrm>
          <a:prstGeom prst="roundRect">
            <a:avLst>
              <a:gd name="adj" fmla="val 14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E7C7B"/>
                </a:solidFill>
                <a:latin typeface="Nirmala UI"/>
              </a:rPr>
              <a:t>Part 3</a:t>
            </a:r>
          </a:p>
        </p:txBody>
      </p:sp>
      <p:sp>
        <p:nvSpPr>
          <p:cNvPr id="37" name="Oval 36"/>
          <p:cNvSpPr/>
          <p:nvPr/>
        </p:nvSpPr>
        <p:spPr>
          <a:xfrm>
            <a:off x="5486400" y="4778393"/>
            <a:ext cx="347472" cy="34747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38" name="TextBox 37"/>
          <p:cNvSpPr txBox="1"/>
          <p:nvPr/>
        </p:nvSpPr>
        <p:spPr>
          <a:xfrm>
            <a:off x="5943600" y="4658214"/>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Sharded clusters and shard keys</a:t>
            </a:r>
          </a:p>
        </p:txBody>
      </p:sp>
      <p:sp>
        <p:nvSpPr>
          <p:cNvPr id="39" name="Rounded Rectangle 38"/>
          <p:cNvSpPr/>
          <p:nvPr/>
        </p:nvSpPr>
        <p:spPr>
          <a:xfrm>
            <a:off x="10332720" y="4769249"/>
            <a:ext cx="1371600" cy="365760"/>
          </a:xfrm>
          <a:prstGeom prst="roundRect">
            <a:avLst>
              <a:gd name="adj" fmla="val 14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2E7D32"/>
                </a:solidFill>
                <a:latin typeface="Nirmala UI"/>
              </a:rPr>
              <a:t>Part 4</a:t>
            </a:r>
          </a:p>
        </p:txBody>
      </p:sp>
      <p:sp>
        <p:nvSpPr>
          <p:cNvPr id="40" name="Oval 39"/>
          <p:cNvSpPr/>
          <p:nvPr/>
        </p:nvSpPr>
        <p:spPr>
          <a:xfrm>
            <a:off x="5486400" y="5366221"/>
            <a:ext cx="347472" cy="347472"/>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7</a:t>
            </a:r>
          </a:p>
        </p:txBody>
      </p:sp>
      <p:sp>
        <p:nvSpPr>
          <p:cNvPr id="41" name="TextBox 40"/>
          <p:cNvSpPr txBox="1"/>
          <p:nvPr/>
        </p:nvSpPr>
        <p:spPr>
          <a:xfrm>
            <a:off x="5943600" y="5246043"/>
            <a:ext cx="4297680" cy="587828"/>
          </a:xfrm>
          <a:prstGeom prst="rect">
            <a:avLst/>
          </a:prstGeom>
          <a:noFill/>
        </p:spPr>
        <p:txBody>
          <a:bodyPr wrap="square" anchor="ctr" lIns="0" rIns="0" tIns="0" bIns="0">
            <a:spAutoFit/>
          </a:bodyPr>
          <a:lstStyle/>
          <a:p>
            <a:pPr algn="l"/>
            <a:r>
              <a:rPr sz="1500" b="0" i="0">
                <a:solidFill>
                  <a:srgbClr val="000000"/>
                </a:solidFill>
                <a:latin typeface="Nirmala UI"/>
              </a:rPr>
              <a:t>Chunks, routing and the design decision</a:t>
            </a:r>
          </a:p>
        </p:txBody>
      </p:sp>
      <p:sp>
        <p:nvSpPr>
          <p:cNvPr id="42" name="Rounded Rectangle 41"/>
          <p:cNvSpPr/>
          <p:nvPr/>
        </p:nvSpPr>
        <p:spPr>
          <a:xfrm>
            <a:off x="10332720" y="5357077"/>
            <a:ext cx="1371600" cy="365760"/>
          </a:xfrm>
          <a:prstGeom prst="roundRect">
            <a:avLst>
              <a:gd name="adj" fmla="val 14000"/>
            </a:avLst>
          </a:prstGeom>
          <a:solidFill>
            <a:srgbClr val="FDF0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C9690C"/>
                </a:solidFill>
                <a:latin typeface="Nirmala UI"/>
              </a:rPr>
              <a:t>Part 5</a:t>
            </a:r>
          </a:p>
        </p:txBody>
      </p:sp>
      <p:sp>
        <p:nvSpPr>
          <p:cNvPr id="43" name="Rounded Rectangle 4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Module 6 made one server fast; Module 7 keeps training_store online and lets it grow.</a:t>
            </a:r>
          </a:p>
        </p:txBody>
      </p:sp>
      <p:sp>
        <p:nvSpPr>
          <p:cNvPr id="45" name="Rectangle 4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1: AVAILABILITY AND SCALE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Two different problems — and two different mechanisms.</a:t>
            </a:r>
          </a:p>
        </p:txBody>
      </p:sp>
      <p:sp>
        <p:nvSpPr>
          <p:cNvPr id="4" name="Pentagon 3"/>
          <p:cNvSpPr/>
          <p:nvPr/>
        </p:nvSpPr>
        <p:spPr>
          <a:xfrm>
            <a:off x="457200" y="1298448"/>
            <a:ext cx="2391338" cy="713232"/>
          </a:xfrm>
          <a:prstGeom prst="homePlate">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Part 1</a:t>
            </a:r>
          </a:p>
          <a:p>
            <a:pPr algn="ctr"/>
            <a:r>
              <a:rPr sz="1300" b="1" i="0">
                <a:solidFill>
                  <a:srgbClr val="FFFFFF"/>
                </a:solidFill>
                <a:latin typeface="Nirmala UI"/>
              </a:rPr>
              <a:t>Availability and scale</a:t>
            </a:r>
          </a:p>
        </p:txBody>
      </p:sp>
      <p:sp>
        <p:nvSpPr>
          <p:cNvPr id="6" name="Chevron 5"/>
          <p:cNvSpPr/>
          <p:nvPr/>
        </p:nvSpPr>
        <p:spPr>
          <a:xfrm>
            <a:off x="267114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Replica sets</a:t>
            </a:r>
          </a:p>
        </p:txBody>
      </p:sp>
      <p:sp>
        <p:nvSpPr>
          <p:cNvPr id="8" name="Chevron 7"/>
          <p:cNvSpPr/>
          <p:nvPr/>
        </p:nvSpPr>
        <p:spPr>
          <a:xfrm>
            <a:off x="4885090"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Guarantees and lag</a:t>
            </a:r>
          </a:p>
        </p:txBody>
      </p:sp>
      <p:sp>
        <p:nvSpPr>
          <p:cNvPr id="10" name="Chevron 9"/>
          <p:cNvSpPr/>
          <p:nvPr/>
        </p:nvSpPr>
        <p:spPr>
          <a:xfrm>
            <a:off x="709903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Shard keys</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Routing and design</a:t>
            </a:r>
          </a:p>
        </p:txBody>
      </p:sp>
      <p:sp>
        <p:nvSpPr>
          <p:cNvPr id="14" name="Rounded Rectangle 13"/>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Indexes make single queries fast</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explain() shows the work each query does</a:t>
            </a:r>
          </a:p>
        </p:txBody>
      </p:sp>
      <p:sp>
        <p:nvSpPr>
          <p:cNvPr id="21" name="Oval 20"/>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training_store runs on one server so far</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What should happen when a server fails — and when the data outgrows one server?</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Requirement to mechanism</a:t>
            </a:r>
          </a:p>
        </p:txBody>
      </p:sp>
      <p:sp>
        <p:nvSpPr>
          <p:cNvPr id="29" name="Oval 28"/>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Scaling up versus scaling out</a:t>
            </a:r>
          </a:p>
        </p:txBody>
      </p:sp>
      <p:sp>
        <p:nvSpPr>
          <p:cNvPr id="31" name="Oval 30"/>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Replication versus sharding</a:t>
            </a:r>
          </a:p>
        </p:txBody>
      </p:sp>
      <p:sp>
        <p:nvSpPr>
          <p:cNvPr id="33" name="Oval 32"/>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What neither mechanism does</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HIGH AVAILABILITY AND HORIZONTAL SCALABILITY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Stay online needs a replica set; handle growth needs a sharded cluster.</a:t>
            </a:r>
          </a:p>
        </p:txBody>
      </p:sp>
      <p:sp>
        <p:nvSpPr>
          <p:cNvPr id="4" name="Rounded Rectangle 3"/>
          <p:cNvSpPr/>
          <p:nvPr/>
        </p:nvSpPr>
        <p:spPr>
          <a:xfrm>
            <a:off x="475488" y="1501646"/>
            <a:ext cx="7415783" cy="412902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5" descr="image.jpg"/>
          <p:cNvPicPr>
            <a:picLocks noChangeAspect="1"/>
          </p:cNvPicPr>
          <p:nvPr/>
        </p:nvPicPr>
        <p:blipFill>
          <a:blip r:embed="rId2"/>
          <a:stretch>
            <a:fillRect/>
          </a:stretch>
        </p:blipFill>
        <p:spPr>
          <a:xfrm>
            <a:off x="548640" y="1574798"/>
            <a:ext cx="7269480" cy="3982723"/>
          </a:xfrm>
          <a:prstGeom prst="rect">
            <a:avLst/>
          </a:prstGeom>
        </p:spPr>
      </p:pic>
      <p:sp>
        <p:nvSpPr>
          <p:cNvPr id="6" name="Rounded Rectangle 5"/>
          <p:cNvSpPr/>
          <p:nvPr/>
        </p:nvSpPr>
        <p:spPr>
          <a:xfrm>
            <a:off x="8183880" y="1298448"/>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Stay online → replica set</a:t>
            </a:r>
          </a:p>
        </p:txBody>
      </p:sp>
      <p:sp>
        <p:nvSpPr>
          <p:cNvPr id="8" name="TextBox 7"/>
          <p:cNvSpPr txBox="1"/>
          <p:nvPr/>
        </p:nvSpPr>
        <p:spPr>
          <a:xfrm>
            <a:off x="8321040" y="1664208"/>
            <a:ext cx="3246120" cy="625601"/>
          </a:xfrm>
          <a:prstGeom prst="rect">
            <a:avLst/>
          </a:prstGeom>
          <a:noFill/>
        </p:spPr>
        <p:txBody>
          <a:bodyPr wrap="square" anchor="t" lIns="0" rIns="0" tIns="0" bIns="0">
            <a:spAutoFit/>
          </a:bodyPr>
          <a:lstStyle/>
          <a:p>
            <a:pPr algn="l"/>
            <a:r>
              <a:rPr sz="1200" b="0" i="0">
                <a:solidFill>
                  <a:srgbClr val="000000"/>
                </a:solidFill>
                <a:latin typeface="Nirmala UI"/>
              </a:rPr>
              <a:t>Copies of the same data; if the primary fails, a secondary takes over.</a:t>
            </a:r>
          </a:p>
        </p:txBody>
      </p:sp>
      <p:sp>
        <p:nvSpPr>
          <p:cNvPr id="9" name="Rounded Rectangle 8"/>
          <p:cNvSpPr/>
          <p:nvPr/>
        </p:nvSpPr>
        <p:spPr>
          <a:xfrm>
            <a:off x="8183880" y="2472690"/>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275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Handle growth → sharded cluster</a:t>
            </a:r>
          </a:p>
        </p:txBody>
      </p:sp>
      <p:sp>
        <p:nvSpPr>
          <p:cNvPr id="11" name="TextBox 10"/>
          <p:cNvSpPr txBox="1"/>
          <p:nvPr/>
        </p:nvSpPr>
        <p:spPr>
          <a:xfrm>
            <a:off x="8321040" y="2838450"/>
            <a:ext cx="3246120" cy="625601"/>
          </a:xfrm>
          <a:prstGeom prst="rect">
            <a:avLst/>
          </a:prstGeom>
          <a:noFill/>
        </p:spPr>
        <p:txBody>
          <a:bodyPr wrap="square" anchor="t" lIns="0" rIns="0" tIns="0" bIns="0">
            <a:spAutoFit/>
          </a:bodyPr>
          <a:lstStyle/>
          <a:p>
            <a:pPr algn="l"/>
            <a:r>
              <a:rPr sz="1200" b="0" i="0">
                <a:solidFill>
                  <a:srgbClr val="000000"/>
                </a:solidFill>
                <a:latin typeface="Nirmala UI"/>
              </a:rPr>
              <a:t>mongos spreads data and load across several shards.</a:t>
            </a:r>
          </a:p>
        </p:txBody>
      </p:sp>
      <p:sp>
        <p:nvSpPr>
          <p:cNvPr id="12" name="Rounded Rectangle 11"/>
          <p:cNvSpPr/>
          <p:nvPr/>
        </p:nvSpPr>
        <p:spPr>
          <a:xfrm>
            <a:off x="8183880" y="3646932"/>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0179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Different problems</a:t>
            </a:r>
          </a:p>
        </p:txBody>
      </p:sp>
      <p:sp>
        <p:nvSpPr>
          <p:cNvPr id="14" name="TextBox 13"/>
          <p:cNvSpPr txBox="1"/>
          <p:nvPr/>
        </p:nvSpPr>
        <p:spPr>
          <a:xfrm>
            <a:off x="8321040" y="4012692"/>
            <a:ext cx="3246120" cy="625601"/>
          </a:xfrm>
          <a:prstGeom prst="rect">
            <a:avLst/>
          </a:prstGeom>
          <a:noFill/>
        </p:spPr>
        <p:txBody>
          <a:bodyPr wrap="square" anchor="t" lIns="0" rIns="0" tIns="0" bIns="0">
            <a:spAutoFit/>
          </a:bodyPr>
          <a:lstStyle/>
          <a:p>
            <a:pPr algn="l"/>
            <a:r>
              <a:rPr sz="1200" b="0" i="0">
                <a:solidFill>
                  <a:srgbClr val="000000"/>
                </a:solidFill>
                <a:latin typeface="Nirmala UI"/>
              </a:rPr>
              <a:t>Copies add availability, not capacity. Shards add capacity, not copies.</a:t>
            </a:r>
          </a:p>
        </p:txBody>
      </p:sp>
      <p:sp>
        <p:nvSpPr>
          <p:cNvPr id="15" name="Rounded Rectangle 14"/>
          <p:cNvSpPr/>
          <p:nvPr/>
        </p:nvSpPr>
        <p:spPr>
          <a:xfrm>
            <a:off x="8183880" y="4821174"/>
            <a:ext cx="3520440" cy="1012697"/>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821174"/>
            <a:ext cx="3154680" cy="1012697"/>
          </a:xfrm>
          <a:prstGeom prst="rect">
            <a:avLst/>
          </a:prstGeom>
          <a:noFill/>
        </p:spPr>
        <p:txBody>
          <a:bodyPr wrap="square" anchor="ctr" lIns="0" rIns="0" tIns="0" bIns="0">
            <a:spAutoFit/>
          </a:bodyPr>
          <a:lstStyle/>
          <a:p>
            <a:pPr algn="l"/>
            <a:r>
              <a:rPr sz="1200" b="1" i="0">
                <a:solidFill>
                  <a:srgbClr val="D1282E"/>
                </a:solidFill>
                <a:latin typeface="Nirmala UI"/>
              </a:rPr>
              <a:t>SIMPLIFIED   </a:t>
            </a:r>
            <a:r>
              <a:rPr sz="1200" b="0" i="0">
                <a:solidFill>
                  <a:srgbClr val="000000"/>
                </a:solidFill>
                <a:latin typeface="Nirmala UI"/>
              </a:rPr>
              <a:t>Each shard is drawn as one mongod; in production it is a replica set.</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Name the requirement first: staying online needs replication, growing needs sharding.</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VERTICAL SCALING VS HORIZONTAL SCALING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Scale up one server — or scale out across servers.</a:t>
            </a:r>
          </a:p>
        </p:txBody>
      </p:sp>
      <p:sp>
        <p:nvSpPr>
          <p:cNvPr id="4" name="Rounded Rectangle 3"/>
          <p:cNvSpPr/>
          <p:nvPr/>
        </p:nvSpPr>
        <p:spPr>
          <a:xfrm>
            <a:off x="475488" y="1337815"/>
            <a:ext cx="7415783" cy="445668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6" descr="image.jpg"/>
          <p:cNvPicPr>
            <a:picLocks noChangeAspect="1"/>
          </p:cNvPicPr>
          <p:nvPr/>
        </p:nvPicPr>
        <p:blipFill>
          <a:blip r:embed="rId2"/>
          <a:stretch>
            <a:fillRect/>
          </a:stretch>
        </p:blipFill>
        <p:spPr>
          <a:xfrm>
            <a:off x="548640" y="1410967"/>
            <a:ext cx="7269480" cy="4310384"/>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Vertical: scale up</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More CPU, RAM and storage on one server — simple, until the hardware limit.</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Horizontal: scale out</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Add shards behind mongos; each holds part of the data.</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cost of scaling out</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More servers, routing, balancing and monitoring.</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START SIMPLE   </a:t>
            </a:r>
            <a:r>
              <a:rPr sz="1200" b="0" i="0">
                <a:solidFill>
                  <a:srgbClr val="000000"/>
                </a:solidFill>
                <a:latin typeface="Nirmala UI"/>
              </a:rPr>
              <a:t>Tune schema and indexes before you shard.</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Scale up while one server is enough; scale out when the data or the writes outgrow it.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REPLICATION VERSUS SHARDING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What each mechanism delivers — and what neither does.</a:t>
            </a:r>
          </a:p>
        </p:txBody>
      </p:sp>
      <p:graphicFrame>
        <p:nvGraphicFramePr>
          <p:cNvPr id="4" name="Table 3"/>
          <p:cNvGraphicFramePr>
            <a:graphicFrameLocks noGrp="1"/>
          </p:cNvGraphicFramePr>
          <p:nvPr/>
        </p:nvGraphicFramePr>
        <p:xfrm>
          <a:off x="457200" y="1298448"/>
          <a:ext cx="7955280" cy="4242816"/>
        </p:xfrm>
        <a:graphic>
          <a:graphicData uri="http://schemas.openxmlformats.org/drawingml/2006/table">
            <a:tbl>
              <a:tblPr firstRow="1" bandRow="1">
                <a:tableStyleId>{5C22544A-7EE6-4342-B048-85BDC9FD1C3A}</a:tableStyleId>
              </a:tblPr>
              <a:tblGrid>
                <a:gridCol w="2926080"/>
                <a:gridCol w="2240280"/>
                <a:gridCol w="2788920"/>
              </a:tblGrid>
              <a:tr h="530352">
                <a:tc>
                  <a:txBody>
                    <a:bodyPr/>
                    <a:lstStyle/>
                    <a:p>
                      <a:r>
                        <a:rPr sz="1300" b="1" i="0">
                          <a:solidFill>
                            <a:srgbClr val="FFFFFF"/>
                          </a:solidFill>
                          <a:latin typeface="Nirmala UI"/>
                        </a:rPr>
                        <a:t>Requirement</a:t>
                      </a:r>
                    </a:p>
                  </a:txBody>
                  <a:tcPr anchor="ctr">
                    <a:solidFill>
                      <a:srgbClr val="182F5F"/>
                    </a:solidFill>
                  </a:tcPr>
                </a:tc>
                <a:tc>
                  <a:txBody>
                    <a:bodyPr/>
                    <a:lstStyle/>
                    <a:p>
                      <a:r>
                        <a:rPr sz="1300" b="1" i="0">
                          <a:solidFill>
                            <a:srgbClr val="FFFFFF"/>
                          </a:solidFill>
                          <a:latin typeface="Nirmala UI"/>
                        </a:rPr>
                        <a:t>Replication</a:t>
                      </a:r>
                    </a:p>
                  </a:txBody>
                  <a:tcPr anchor="ctr">
                    <a:solidFill>
                      <a:srgbClr val="182F5F"/>
                    </a:solidFill>
                  </a:tcPr>
                </a:tc>
                <a:tc>
                  <a:txBody>
                    <a:bodyPr/>
                    <a:lstStyle/>
                    <a:p>
                      <a:r>
                        <a:rPr sz="1300" b="1" i="0">
                          <a:solidFill>
                            <a:srgbClr val="FFFFFF"/>
                          </a:solidFill>
                          <a:latin typeface="Nirmala UI"/>
                        </a:rPr>
                        <a:t>Sharding</a:t>
                      </a:r>
                    </a:p>
                  </a:txBody>
                  <a:tcPr anchor="ctr">
                    <a:solidFill>
                      <a:srgbClr val="182F5F"/>
                    </a:solidFill>
                  </a:tcPr>
                </a:tc>
              </a:tr>
              <a:tr h="530352">
                <a:tc>
                  <a:txBody>
                    <a:bodyPr/>
                    <a:lstStyle/>
                    <a:p>
                      <a:r>
                        <a:rPr sz="1300" b="1" i="0">
                          <a:solidFill>
                            <a:srgbClr val="000000"/>
                          </a:solidFill>
                          <a:latin typeface="Nirmala UI"/>
                        </a:rPr>
                        <a:t>Keep several copies</a:t>
                      </a:r>
                    </a:p>
                  </a:txBody>
                  <a:tcPr anchor="ctr">
                    <a:solidFill>
                      <a:srgbClr val="FFFFFF"/>
                    </a:solidFill>
                  </a:tcPr>
                </a:tc>
                <a:tc>
                  <a:txBody>
                    <a:bodyPr/>
                    <a:lstStyle/>
                    <a:p>
                      <a:r>
                        <a:rPr sz="1300" b="0" i="0">
                          <a:solidFill>
                            <a:srgbClr val="000000"/>
                          </a:solidFill>
                          <a:latin typeface="Nirmala UI"/>
                        </a:rPr>
                        <a:t>Yes</a:t>
                      </a:r>
                    </a:p>
                  </a:txBody>
                  <a:tcPr anchor="ctr">
                    <a:solidFill>
                      <a:srgbClr val="FFFFFF"/>
                    </a:solidFill>
                  </a:tcPr>
                </a:tc>
                <a:tc>
                  <a:txBody>
                    <a:bodyPr/>
                    <a:lstStyle/>
                    <a:p>
                      <a:r>
                        <a:rPr sz="1300" b="0" i="0">
                          <a:solidFill>
                            <a:srgbClr val="000000"/>
                          </a:solidFill>
                          <a:latin typeface="Nirmala UI"/>
                        </a:rPr>
                        <a:t>Not by itself</a:t>
                      </a:r>
                    </a:p>
                  </a:txBody>
                  <a:tcPr anchor="ctr">
                    <a:solidFill>
                      <a:srgbClr val="FFFFFF"/>
                    </a:solidFill>
                  </a:tcPr>
                </a:tc>
              </a:tr>
              <a:tr h="530352">
                <a:tc>
                  <a:txBody>
                    <a:bodyPr/>
                    <a:lstStyle/>
                    <a:p>
                      <a:r>
                        <a:rPr sz="1300" b="1" i="0">
                          <a:solidFill>
                            <a:srgbClr val="000000"/>
                          </a:solidFill>
                          <a:latin typeface="Nirmala UI"/>
                        </a:rPr>
                        <a:t>Automatic failover</a:t>
                      </a:r>
                    </a:p>
                  </a:txBody>
                  <a:tcPr anchor="ctr">
                    <a:solidFill>
                      <a:srgbClr val="F5F5F5"/>
                    </a:solidFill>
                  </a:tcPr>
                </a:tc>
                <a:tc>
                  <a:txBody>
                    <a:bodyPr/>
                    <a:lstStyle/>
                    <a:p>
                      <a:r>
                        <a:rPr sz="1300" b="0" i="0">
                          <a:solidFill>
                            <a:srgbClr val="000000"/>
                          </a:solidFill>
                          <a:latin typeface="Nirmala UI"/>
                        </a:rPr>
                        <a:t>Yes</a:t>
                      </a:r>
                    </a:p>
                  </a:txBody>
                  <a:tcPr anchor="ctr">
                    <a:solidFill>
                      <a:srgbClr val="F5F5F5"/>
                    </a:solidFill>
                  </a:tcPr>
                </a:tc>
                <a:tc>
                  <a:txBody>
                    <a:bodyPr/>
                    <a:lstStyle/>
                    <a:p>
                      <a:r>
                        <a:rPr sz="1300" b="0" i="0">
                          <a:solidFill>
                            <a:srgbClr val="000000"/>
                          </a:solidFill>
                          <a:latin typeface="Nirmala UI"/>
                        </a:rPr>
                        <a:t>Per shard, via replication</a:t>
                      </a:r>
                    </a:p>
                  </a:txBody>
                  <a:tcPr anchor="ctr">
                    <a:solidFill>
                      <a:srgbClr val="F5F5F5"/>
                    </a:solidFill>
                  </a:tcPr>
                </a:tc>
              </a:tr>
              <a:tr h="530352">
                <a:tc>
                  <a:txBody>
                    <a:bodyPr/>
                    <a:lstStyle/>
                    <a:p>
                      <a:r>
                        <a:rPr sz="1300" b="1" i="0">
                          <a:solidFill>
                            <a:srgbClr val="000000"/>
                          </a:solidFill>
                          <a:latin typeface="Nirmala UI"/>
                        </a:rPr>
                        <a:t>Grow data capacity</a:t>
                      </a:r>
                    </a:p>
                  </a:txBody>
                  <a:tcPr anchor="ctr">
                    <a:solidFill>
                      <a:srgbClr val="FFFFFF"/>
                    </a:solidFill>
                  </a:tcPr>
                </a:tc>
                <a:tc>
                  <a:txBody>
                    <a:bodyPr/>
                    <a:lstStyle/>
                    <a:p>
                      <a:r>
                        <a:rPr sz="1300" b="0" i="0">
                          <a:solidFill>
                            <a:srgbClr val="000000"/>
                          </a:solidFill>
                          <a:latin typeface="Nirmala UI"/>
                        </a:rPr>
                        <a:t>Limited</a:t>
                      </a:r>
                    </a:p>
                  </a:txBody>
                  <a:tcPr anchor="ctr">
                    <a:solidFill>
                      <a:srgbClr val="FFFFFF"/>
                    </a:solidFill>
                  </a:tcPr>
                </a:tc>
                <a:tc>
                  <a:txBody>
                    <a:bodyPr/>
                    <a:lstStyle/>
                    <a:p>
                      <a:r>
                        <a:rPr sz="1300" b="0" i="0">
                          <a:solidFill>
                            <a:srgbClr val="000000"/>
                          </a:solidFill>
                          <a:latin typeface="Nirmala UI"/>
                        </a:rPr>
                        <a:t>Yes</a:t>
                      </a:r>
                    </a:p>
                  </a:txBody>
                  <a:tcPr anchor="ctr">
                    <a:solidFill>
                      <a:srgbClr val="FFFFFF"/>
                    </a:solidFill>
                  </a:tcPr>
                </a:tc>
              </a:tr>
              <a:tr h="530352">
                <a:tc>
                  <a:txBody>
                    <a:bodyPr/>
                    <a:lstStyle/>
                    <a:p>
                      <a:r>
                        <a:rPr sz="1300" b="1" i="0">
                          <a:solidFill>
                            <a:srgbClr val="000000"/>
                          </a:solidFill>
                          <a:latin typeface="Nirmala UI"/>
                        </a:rPr>
                        <a:t>Spread write load</a:t>
                      </a:r>
                    </a:p>
                  </a:txBody>
                  <a:tcPr anchor="ctr">
                    <a:solidFill>
                      <a:srgbClr val="F5F5F5"/>
                    </a:solidFill>
                  </a:tcPr>
                </a:tc>
                <a:tc>
                  <a:txBody>
                    <a:bodyPr/>
                    <a:lstStyle/>
                    <a:p>
                      <a:r>
                        <a:rPr sz="1300" b="0" i="0">
                          <a:solidFill>
                            <a:srgbClr val="000000"/>
                          </a:solidFill>
                          <a:latin typeface="Nirmala UI"/>
                        </a:rPr>
                        <a:t>Not normally</a:t>
                      </a:r>
                    </a:p>
                  </a:txBody>
                  <a:tcPr anchor="ctr">
                    <a:solidFill>
                      <a:srgbClr val="F5F5F5"/>
                    </a:solidFill>
                  </a:tcPr>
                </a:tc>
                <a:tc>
                  <a:txBody>
                    <a:bodyPr/>
                    <a:lstStyle/>
                    <a:p>
                      <a:r>
                        <a:rPr sz="1300" b="0" i="0">
                          <a:solidFill>
                            <a:srgbClr val="000000"/>
                          </a:solidFill>
                          <a:latin typeface="Nirmala UI"/>
                        </a:rPr>
                        <a:t>Yes</a:t>
                      </a:r>
                    </a:p>
                  </a:txBody>
                  <a:tcPr anchor="ctr">
                    <a:solidFill>
                      <a:srgbClr val="F5F5F5"/>
                    </a:solidFill>
                  </a:tcPr>
                </a:tc>
              </a:tr>
              <a:tr h="530352">
                <a:tc>
                  <a:txBody>
                    <a:bodyPr/>
                    <a:lstStyle/>
                    <a:p>
                      <a:r>
                        <a:rPr sz="1300" b="1" i="0">
                          <a:solidFill>
                            <a:srgbClr val="000000"/>
                          </a:solidFill>
                          <a:latin typeface="Nirmala UI"/>
                        </a:rPr>
                        <a:t>Survive one server failure</a:t>
                      </a:r>
                    </a:p>
                  </a:txBody>
                  <a:tcPr anchor="ctr">
                    <a:solidFill>
                      <a:srgbClr val="FFFFFF"/>
                    </a:solidFill>
                  </a:tcPr>
                </a:tc>
                <a:tc>
                  <a:txBody>
                    <a:bodyPr/>
                    <a:lstStyle/>
                    <a:p>
                      <a:r>
                        <a:rPr sz="1300" b="0" i="0">
                          <a:solidFill>
                            <a:srgbClr val="000000"/>
                          </a:solidFill>
                          <a:latin typeface="Nirmala UI"/>
                        </a:rPr>
                        <a:t>Yes</a:t>
                      </a:r>
                    </a:p>
                  </a:txBody>
                  <a:tcPr anchor="ctr">
                    <a:solidFill>
                      <a:srgbClr val="FFFFFF"/>
                    </a:solidFill>
                  </a:tcPr>
                </a:tc>
                <a:tc>
                  <a:txBody>
                    <a:bodyPr/>
                    <a:lstStyle/>
                    <a:p>
                      <a:r>
                        <a:rPr sz="1300" b="0" i="0">
                          <a:solidFill>
                            <a:srgbClr val="000000"/>
                          </a:solidFill>
                          <a:latin typeface="Nirmala UI"/>
                        </a:rPr>
                        <a:t>Only with replicated shards</a:t>
                      </a:r>
                    </a:p>
                  </a:txBody>
                  <a:tcPr anchor="ctr">
                    <a:solidFill>
                      <a:srgbClr val="FFFFFF"/>
                    </a:solidFill>
                  </a:tcPr>
                </a:tc>
              </a:tr>
              <a:tr h="530352">
                <a:tc>
                  <a:txBody>
                    <a:bodyPr/>
                    <a:lstStyle/>
                    <a:p>
                      <a:r>
                        <a:rPr sz="1300" b="1" i="0">
                          <a:solidFill>
                            <a:srgbClr val="000000"/>
                          </a:solidFill>
                          <a:latin typeface="Nirmala UI"/>
                        </a:rPr>
                        <a:t>Main objective</a:t>
                      </a:r>
                    </a:p>
                  </a:txBody>
                  <a:tcPr anchor="ctr">
                    <a:solidFill>
                      <a:srgbClr val="F5F5F5"/>
                    </a:solidFill>
                  </a:tcPr>
                </a:tc>
                <a:tc>
                  <a:txBody>
                    <a:bodyPr/>
                    <a:lstStyle/>
                    <a:p>
                      <a:r>
                        <a:rPr sz="1300" b="0" i="0">
                          <a:solidFill>
                            <a:srgbClr val="000000"/>
                          </a:solidFill>
                          <a:latin typeface="Nirmala UI"/>
                        </a:rPr>
                        <a:t>Availability</a:t>
                      </a:r>
                    </a:p>
                  </a:txBody>
                  <a:tcPr anchor="ctr">
                    <a:solidFill>
                      <a:srgbClr val="F5F5F5"/>
                    </a:solidFill>
                  </a:tcPr>
                </a:tc>
                <a:tc>
                  <a:txBody>
                    <a:bodyPr/>
                    <a:lstStyle/>
                    <a:p>
                      <a:r>
                        <a:rPr sz="1300" b="0" i="0">
                          <a:solidFill>
                            <a:srgbClr val="000000"/>
                          </a:solidFill>
                          <a:latin typeface="Nirmala UI"/>
                        </a:rPr>
                        <a:t>Capacity and throughput</a:t>
                      </a:r>
                    </a:p>
                  </a:txBody>
                  <a:tcPr anchor="ctr">
                    <a:solidFill>
                      <a:srgbClr val="F5F5F5"/>
                    </a:solidFill>
                  </a:tcPr>
                </a:tc>
              </a:tr>
              <a:tr h="530352">
                <a:tc>
                  <a:txBody>
                    <a:bodyPr/>
                    <a:lstStyle/>
                    <a:p>
                      <a:r>
                        <a:rPr sz="1300" b="1" i="0">
                          <a:solidFill>
                            <a:srgbClr val="000000"/>
                          </a:solidFill>
                          <a:latin typeface="Nirmala UI"/>
                        </a:rPr>
                        <a:t>Undo last week's delete</a:t>
                      </a:r>
                    </a:p>
                  </a:txBody>
                  <a:tcPr anchor="ctr">
                    <a:solidFill>
                      <a:srgbClr val="FFFFFF"/>
                    </a:solidFill>
                  </a:tcPr>
                </a:tc>
                <a:tc>
                  <a:txBody>
                    <a:bodyPr/>
                    <a:lstStyle/>
                    <a:p>
                      <a:r>
                        <a:rPr sz="1300" b="0" i="0">
                          <a:solidFill>
                            <a:srgbClr val="000000"/>
                          </a:solidFill>
                          <a:latin typeface="Nirmala UI"/>
                        </a:rPr>
                        <a:t>No — restore a backup</a:t>
                      </a:r>
                    </a:p>
                  </a:txBody>
                  <a:tcPr anchor="ctr">
                    <a:solidFill>
                      <a:srgbClr val="FFFFFF"/>
                    </a:solidFill>
                  </a:tcPr>
                </a:tc>
                <a:tc>
                  <a:txBody>
                    <a:bodyPr/>
                    <a:lstStyle/>
                    <a:p>
                      <a:r>
                        <a:rPr sz="1300" b="0" i="0">
                          <a:solidFill>
                            <a:srgbClr val="000000"/>
                          </a:solidFill>
                          <a:latin typeface="Nirmala UI"/>
                        </a:rPr>
                        <a:t>No — restore a backup</a:t>
                      </a:r>
                    </a:p>
                  </a:txBody>
                  <a:tcPr anchor="ctr">
                    <a:solidFill>
                      <a:srgbClr val="FFFFFF"/>
                    </a:solidFill>
                  </a:tcPr>
                </a:tc>
              </a:tr>
            </a:tbl>
          </a:graphicData>
        </a:graphic>
      </p:graphicFrame>
      <p:sp>
        <p:nvSpPr>
          <p:cNvPr id="5" name="Rounded Rectangle 4"/>
          <p:cNvSpPr/>
          <p:nvPr/>
        </p:nvSpPr>
        <p:spPr>
          <a:xfrm>
            <a:off x="8732519" y="1298448"/>
            <a:ext cx="297180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8869680" y="1353312"/>
            <a:ext cx="2697480" cy="292608"/>
          </a:xfrm>
          <a:prstGeom prst="rect">
            <a:avLst/>
          </a:prstGeom>
          <a:noFill/>
        </p:spPr>
        <p:txBody>
          <a:bodyPr wrap="square" anchor="ctr" lIns="0" rIns="0" tIns="0" bIns="0">
            <a:spAutoFit/>
          </a:bodyPr>
          <a:lstStyle/>
          <a:p>
            <a:pPr algn="l"/>
            <a:r>
              <a:rPr sz="1300" b="1" i="0">
                <a:solidFill>
                  <a:srgbClr val="002060"/>
                </a:solidFill>
                <a:latin typeface="Nirmala UI"/>
              </a:rPr>
              <a:t>Replication</a:t>
            </a:r>
          </a:p>
        </p:txBody>
      </p:sp>
      <p:sp>
        <p:nvSpPr>
          <p:cNvPr id="7" name="TextBox 6"/>
          <p:cNvSpPr txBox="1"/>
          <p:nvPr/>
        </p:nvSpPr>
        <p:spPr>
          <a:xfrm>
            <a:off x="8869680" y="1664208"/>
            <a:ext cx="2697480" cy="874775"/>
          </a:xfrm>
          <a:prstGeom prst="rect">
            <a:avLst/>
          </a:prstGeom>
          <a:noFill/>
        </p:spPr>
        <p:txBody>
          <a:bodyPr wrap="square" anchor="t" lIns="0" rIns="0" tIns="0" bIns="0">
            <a:spAutoFit/>
          </a:bodyPr>
          <a:lstStyle/>
          <a:p>
            <a:pPr algn="l"/>
            <a:r>
              <a:rPr sz="1200" b="0" i="0">
                <a:solidFill>
                  <a:srgbClr val="000000"/>
                </a:solidFill>
                <a:latin typeface="Nirmala UI"/>
              </a:rPr>
              <a:t>Every member holds the same data — redundancy, not more room.</a:t>
            </a:r>
          </a:p>
        </p:txBody>
      </p:sp>
      <p:sp>
        <p:nvSpPr>
          <p:cNvPr id="8" name="Rounded Rectangle 7"/>
          <p:cNvSpPr/>
          <p:nvPr/>
        </p:nvSpPr>
        <p:spPr>
          <a:xfrm>
            <a:off x="8732519" y="2721864"/>
            <a:ext cx="297180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869680" y="2776728"/>
            <a:ext cx="2697480" cy="292608"/>
          </a:xfrm>
          <a:prstGeom prst="rect">
            <a:avLst/>
          </a:prstGeom>
          <a:noFill/>
        </p:spPr>
        <p:txBody>
          <a:bodyPr wrap="square" anchor="ctr" lIns="0" rIns="0" tIns="0" bIns="0">
            <a:spAutoFit/>
          </a:bodyPr>
          <a:lstStyle/>
          <a:p>
            <a:pPr algn="l"/>
            <a:r>
              <a:rPr sz="1300" b="1" i="0">
                <a:solidFill>
                  <a:srgbClr val="002060"/>
                </a:solidFill>
                <a:latin typeface="Nirmala UI"/>
              </a:rPr>
              <a:t>Sharding</a:t>
            </a:r>
          </a:p>
        </p:txBody>
      </p:sp>
      <p:sp>
        <p:nvSpPr>
          <p:cNvPr id="10" name="TextBox 9"/>
          <p:cNvSpPr txBox="1"/>
          <p:nvPr/>
        </p:nvSpPr>
        <p:spPr>
          <a:xfrm>
            <a:off x="8869680" y="3087624"/>
            <a:ext cx="2697480" cy="874776"/>
          </a:xfrm>
          <a:prstGeom prst="rect">
            <a:avLst/>
          </a:prstGeom>
          <a:noFill/>
        </p:spPr>
        <p:txBody>
          <a:bodyPr wrap="square" anchor="t" lIns="0" rIns="0" tIns="0" bIns="0">
            <a:spAutoFit/>
          </a:bodyPr>
          <a:lstStyle/>
          <a:p>
            <a:pPr algn="l"/>
            <a:r>
              <a:rPr sz="1200" b="0" i="0">
                <a:solidFill>
                  <a:srgbClr val="000000"/>
                </a:solidFill>
                <a:latin typeface="Nirmala UI"/>
              </a:rPr>
              <a:t>Each shard holds part of a collection — room and throughput.</a:t>
            </a:r>
          </a:p>
        </p:txBody>
      </p:sp>
      <p:sp>
        <p:nvSpPr>
          <p:cNvPr id="11" name="Rounded Rectangle 10"/>
          <p:cNvSpPr/>
          <p:nvPr/>
        </p:nvSpPr>
        <p:spPr>
          <a:xfrm>
            <a:off x="8732519" y="4145280"/>
            <a:ext cx="2971800" cy="126187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915399" y="4145280"/>
            <a:ext cx="2606040" cy="1261872"/>
          </a:xfrm>
          <a:prstGeom prst="rect">
            <a:avLst/>
          </a:prstGeom>
          <a:noFill/>
        </p:spPr>
        <p:txBody>
          <a:bodyPr wrap="square" anchor="ctr" lIns="0" rIns="0" tIns="0" bIns="0">
            <a:spAutoFit/>
          </a:bodyPr>
          <a:lstStyle/>
          <a:p>
            <a:pPr algn="l"/>
            <a:r>
              <a:rPr sz="1200" b="1" i="0">
                <a:solidFill>
                  <a:srgbClr val="D1282E"/>
                </a:solidFill>
                <a:latin typeface="Nirmala UI"/>
              </a:rPr>
              <a:t>TOGETHER   </a:t>
            </a:r>
            <a:r>
              <a:rPr sz="1200" b="0" i="0">
                <a:solidFill>
                  <a:srgbClr val="000000"/>
                </a:solidFill>
                <a:latin typeface="Nirmala UI"/>
              </a:rPr>
              <a:t>Production clusters shard the data and replicate every shard.</a:t>
            </a:r>
          </a:p>
        </p:txBody>
      </p:sp>
      <p:sp>
        <p:nvSpPr>
          <p:cNvPr id="13" name="Rounded Rectangle 1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Replication copies the data; sharding divides it — and only a backup undoes a mistake.</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2: REPLICA SETS AND FAILOVER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How several copies of training_store stay in step — and take over.</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Availability and scale</a:t>
            </a:r>
          </a:p>
        </p:txBody>
      </p:sp>
      <p:sp>
        <p:nvSpPr>
          <p:cNvPr id="6" name="Chevron 5"/>
          <p:cNvSpPr/>
          <p:nvPr/>
        </p:nvSpPr>
        <p:spPr>
          <a:xfrm>
            <a:off x="2671145"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Replica sets</a:t>
            </a:r>
          </a:p>
        </p:txBody>
      </p:sp>
      <p:sp>
        <p:nvSpPr>
          <p:cNvPr id="8" name="Chevron 7"/>
          <p:cNvSpPr/>
          <p:nvPr/>
        </p:nvSpPr>
        <p:spPr>
          <a:xfrm>
            <a:off x="4885090"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Guarantees and lag</a:t>
            </a:r>
          </a:p>
        </p:txBody>
      </p:sp>
      <p:sp>
        <p:nvSpPr>
          <p:cNvPr id="10" name="Chevron 9"/>
          <p:cNvSpPr/>
          <p:nvPr/>
        </p:nvSpPr>
        <p:spPr>
          <a:xfrm>
            <a:off x="709903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Shard keys</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Routing and design</a:t>
            </a:r>
          </a:p>
        </p:txBody>
      </p:sp>
      <p:sp>
        <p:nvSpPr>
          <p:cNvPr id="14" name="Rounded Rectangle 13"/>
          <p:cNvSpPr/>
          <p:nvPr/>
        </p:nvSpPr>
        <p:spPr>
          <a:xfrm>
            <a:off x="457200" y="2304288"/>
            <a:ext cx="4937760" cy="240334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Availability and scale are different problems</a:t>
            </a:r>
          </a:p>
        </p:txBody>
      </p:sp>
      <p:sp>
        <p:nvSpPr>
          <p:cNvPr id="19" name="Oval 18"/>
          <p:cNvSpPr/>
          <p:nvPr/>
        </p:nvSpPr>
        <p:spPr>
          <a:xfrm>
            <a:off x="640080" y="36012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5280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Replication keeps copies for availability</a:t>
            </a:r>
          </a:p>
        </p:txBody>
      </p:sp>
      <p:sp>
        <p:nvSpPr>
          <p:cNvPr id="21" name="Oval 20"/>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40035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Sharding divides data for capacity</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does a replica set keep every copy in step — and pick a new primary?</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Primary and secondary members</a:t>
            </a:r>
          </a:p>
        </p:txBody>
      </p:sp>
      <p:sp>
        <p:nvSpPr>
          <p:cNvPr id="29" name="Oval 28"/>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The oplog</a:t>
            </a:r>
          </a:p>
        </p:txBody>
      </p:sp>
      <p:sp>
        <p:nvSpPr>
          <p:cNvPr id="31" name="Oval 30"/>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Elections and majority</a:t>
            </a:r>
          </a:p>
        </p:txBody>
      </p:sp>
      <p:sp>
        <p:nvSpPr>
          <p:cNvPr id="33" name="Oval 32"/>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Automatic failover</a:t>
            </a:r>
          </a:p>
        </p:txBody>
      </p:sp>
      <p:sp>
        <p:nvSpPr>
          <p:cNvPr id="35" name="Oval 34"/>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6" name="TextBox 35"/>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What the application sees</a:t>
            </a:r>
          </a:p>
        </p:txBody>
      </p:sp>
      <p:sp>
        <p:nvSpPr>
          <p:cNvPr id="37" name="Oval 36"/>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8" name="TextBox 37"/>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Checking replica-set health</a:t>
            </a:r>
          </a:p>
        </p:txBody>
      </p:sp>
      <p:sp>
        <p:nvSpPr>
          <p:cNvPr id="39" name="Oval 38"/>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0" name="TextBox 39"/>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Exercise: count the votes</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REPLICA-SET MEMBERS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One primary accepts writes; the secondaries copy the data.</a:t>
            </a:r>
          </a:p>
        </p:txBody>
      </p:sp>
      <p:sp>
        <p:nvSpPr>
          <p:cNvPr id="4" name="Rounded Rectangle 3"/>
          <p:cNvSpPr/>
          <p:nvPr/>
        </p:nvSpPr>
        <p:spPr>
          <a:xfrm>
            <a:off x="475488" y="1793309"/>
            <a:ext cx="7415783" cy="354570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0" descr="image.jpg"/>
          <p:cNvPicPr>
            <a:picLocks noChangeAspect="1"/>
          </p:cNvPicPr>
          <p:nvPr/>
        </p:nvPicPr>
        <p:blipFill>
          <a:blip r:embed="rId2"/>
          <a:stretch>
            <a:fillRect/>
          </a:stretch>
        </p:blipFill>
        <p:spPr>
          <a:xfrm>
            <a:off x="548640" y="1866461"/>
            <a:ext cx="7269480" cy="3399397"/>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Primary</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one member that accepts writes; by default it also serves reads.</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Secondaries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Copy the primary's oplog and apply it — each keeps a full copy.</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Heartbeats and votes</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Members check each other every 2 seconds and vote in elections.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THREE MEMBERS   </a:t>
            </a:r>
            <a:r>
              <a:rPr sz="1200" b="0" i="0">
                <a:solidFill>
                  <a:srgbClr val="000000"/>
                </a:solidFill>
                <a:latin typeface="Nirmala UI"/>
              </a:rPr>
              <a:t>The common minimum for automatic failover.</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replica set has one writable primary; the secondaries keep full copies, ready to take over.</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REPLICATION OPLOG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change is recorded once — and replayed on every secondary.</a:t>
            </a:r>
          </a:p>
        </p:txBody>
      </p:sp>
      <p:sp>
        <p:nvSpPr>
          <p:cNvPr id="4" name="Rounded Rectangle 3"/>
          <p:cNvSpPr/>
          <p:nvPr/>
        </p:nvSpPr>
        <p:spPr>
          <a:xfrm>
            <a:off x="475488" y="2290848"/>
            <a:ext cx="7415783" cy="255062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3" descr="image.jpg"/>
          <p:cNvPicPr>
            <a:picLocks noChangeAspect="1"/>
          </p:cNvPicPr>
          <p:nvPr/>
        </p:nvPicPr>
        <p:blipFill>
          <a:blip r:embed="rId2"/>
          <a:stretch>
            <a:fillRect/>
          </a:stretch>
        </p:blipFill>
        <p:spPr>
          <a:xfrm>
            <a:off x="548640" y="2364000"/>
            <a:ext cx="7269480" cy="2404319"/>
          </a:xfrm>
          <a:prstGeom prst="rect">
            <a:avLst/>
          </a:prstGeom>
        </p:spPr>
      </p:pic>
      <p:sp>
        <p:nvSpPr>
          <p:cNvPr id="6" name="Rounded Rectangle 5"/>
          <p:cNvSpPr/>
          <p:nvPr/>
        </p:nvSpPr>
        <p:spPr>
          <a:xfrm>
            <a:off x="8183880" y="1298448"/>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Record every change</a:t>
            </a:r>
          </a:p>
        </p:txBody>
      </p:sp>
      <p:sp>
        <p:nvSpPr>
          <p:cNvPr id="8" name="TextBox 7"/>
          <p:cNvSpPr txBox="1"/>
          <p:nvPr/>
        </p:nvSpPr>
        <p:spPr>
          <a:xfrm>
            <a:off x="8321040" y="1664208"/>
            <a:ext cx="3246120" cy="625601"/>
          </a:xfrm>
          <a:prstGeom prst="rect">
            <a:avLst/>
          </a:prstGeom>
          <a:noFill/>
        </p:spPr>
        <p:txBody>
          <a:bodyPr wrap="square" anchor="t" lIns="0" rIns="0" tIns="0" bIns="0">
            <a:spAutoFit/>
          </a:bodyPr>
          <a:lstStyle/>
          <a:p>
            <a:pPr algn="l"/>
            <a:r>
              <a:rPr sz="1200" b="0" i="0">
                <a:solidFill>
                  <a:srgbClr val="000000"/>
                </a:solidFill>
                <a:latin typeface="Nirmala UI"/>
              </a:rPr>
              <a:t>The primary logs each insert, update and delete in local.oplog.rs.</a:t>
            </a:r>
          </a:p>
        </p:txBody>
      </p:sp>
      <p:sp>
        <p:nvSpPr>
          <p:cNvPr id="9" name="Rounded Rectangle 8"/>
          <p:cNvSpPr/>
          <p:nvPr/>
        </p:nvSpPr>
        <p:spPr>
          <a:xfrm>
            <a:off x="8183880" y="2472690"/>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275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Secondaries tail it</a:t>
            </a:r>
          </a:p>
        </p:txBody>
      </p:sp>
      <p:sp>
        <p:nvSpPr>
          <p:cNvPr id="11" name="TextBox 10"/>
          <p:cNvSpPr txBox="1"/>
          <p:nvPr/>
        </p:nvSpPr>
        <p:spPr>
          <a:xfrm>
            <a:off x="8321040" y="2838450"/>
            <a:ext cx="3246120" cy="625601"/>
          </a:xfrm>
          <a:prstGeom prst="rect">
            <a:avLst/>
          </a:prstGeom>
          <a:noFill/>
        </p:spPr>
        <p:txBody>
          <a:bodyPr wrap="square" anchor="t" lIns="0" rIns="0" tIns="0" bIns="0">
            <a:spAutoFit/>
          </a:bodyPr>
          <a:lstStyle/>
          <a:p>
            <a:pPr algn="l"/>
            <a:r>
              <a:rPr sz="1200" b="0" i="0">
                <a:solidFill>
                  <a:srgbClr val="000000"/>
                </a:solidFill>
                <a:latin typeface="Nirmala UI"/>
              </a:rPr>
              <a:t>They pull new entries and apply them in order.</a:t>
            </a:r>
          </a:p>
        </p:txBody>
      </p:sp>
      <p:sp>
        <p:nvSpPr>
          <p:cNvPr id="12" name="Rounded Rectangle 11"/>
          <p:cNvSpPr/>
          <p:nvPr/>
        </p:nvSpPr>
        <p:spPr>
          <a:xfrm>
            <a:off x="8183880" y="3646932"/>
            <a:ext cx="3520440" cy="123215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0179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Capped</a:t>
            </a:r>
          </a:p>
        </p:txBody>
      </p:sp>
      <p:sp>
        <p:nvSpPr>
          <p:cNvPr id="14" name="TextBox 13"/>
          <p:cNvSpPr txBox="1"/>
          <p:nvPr/>
        </p:nvSpPr>
        <p:spPr>
          <a:xfrm>
            <a:off x="8321040" y="4012692"/>
            <a:ext cx="3246120" cy="811529"/>
          </a:xfrm>
          <a:prstGeom prst="rect">
            <a:avLst/>
          </a:prstGeom>
          <a:noFill/>
        </p:spPr>
        <p:txBody>
          <a:bodyPr wrap="square" anchor="t" lIns="0" rIns="0" tIns="0" bIns="0">
            <a:spAutoFit/>
          </a:bodyPr>
          <a:lstStyle/>
          <a:p>
            <a:pPr algn="l"/>
            <a:r>
              <a:rPr sz="1200" b="0" i="0">
                <a:solidFill>
                  <a:srgbClr val="000000"/>
                </a:solidFill>
                <a:latin typeface="Nirmala UI"/>
              </a:rPr>
              <a:t>Fixed size: the oldest entries are overwritten — that span is the replication window.</a:t>
            </a:r>
          </a:p>
        </p:txBody>
      </p:sp>
      <p:sp>
        <p:nvSpPr>
          <p:cNvPr id="15" name="Rounded Rectangle 14"/>
          <p:cNvSpPr/>
          <p:nvPr/>
        </p:nvSpPr>
        <p:spPr>
          <a:xfrm>
            <a:off x="8183880" y="5007102"/>
            <a:ext cx="3520440" cy="82677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5007102"/>
            <a:ext cx="3154680" cy="826770"/>
          </a:xfrm>
          <a:prstGeom prst="rect">
            <a:avLst/>
          </a:prstGeom>
          <a:noFill/>
        </p:spPr>
        <p:txBody>
          <a:bodyPr wrap="square" anchor="ctr" lIns="0" rIns="0" tIns="0" bIns="0">
            <a:spAutoFit/>
          </a:bodyPr>
          <a:lstStyle/>
          <a:p>
            <a:pPr algn="l"/>
            <a:r>
              <a:rPr sz="1200" b="1" i="0">
                <a:solidFill>
                  <a:srgbClr val="D1282E"/>
                </a:solidFill>
                <a:latin typeface="Nirmala UI"/>
              </a:rPr>
              <a:t>TOO FAR BEHIND   </a:t>
            </a:r>
            <a:r>
              <a:rPr sz="1200" b="0" i="0">
                <a:solidFill>
                  <a:srgbClr val="000000"/>
                </a:solidFill>
                <a:latin typeface="Nirmala UI"/>
              </a:rPr>
              <a:t>A member offline longer than the window needs a full resync.</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oplog is the replication stream: secondaries replay it in order to stay in step.</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REPLICA-SET ELECTIONS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candidate needs votes from a majority of voting members.</a:t>
            </a:r>
          </a:p>
        </p:txBody>
      </p:sp>
      <p:sp>
        <p:nvSpPr>
          <p:cNvPr id="4" name="Rounded Rectangle 3"/>
          <p:cNvSpPr/>
          <p:nvPr/>
        </p:nvSpPr>
        <p:spPr>
          <a:xfrm>
            <a:off x="475488" y="2160414"/>
            <a:ext cx="7415783" cy="281149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6" descr="image.jpg"/>
          <p:cNvPicPr>
            <a:picLocks noChangeAspect="1"/>
          </p:cNvPicPr>
          <p:nvPr/>
        </p:nvPicPr>
        <p:blipFill>
          <a:blip r:embed="rId2"/>
          <a:stretch>
            <a:fillRect/>
          </a:stretch>
        </p:blipFill>
        <p:spPr>
          <a:xfrm>
            <a:off x="548640" y="2233566"/>
            <a:ext cx="7269480" cy="2665186"/>
          </a:xfrm>
          <a:prstGeom prst="rect">
            <a:avLst/>
          </a:prstGeom>
        </p:spPr>
      </p:pic>
      <p:sp>
        <p:nvSpPr>
          <p:cNvPr id="6" name="Rounded Rectangle 5"/>
          <p:cNvSpPr/>
          <p:nvPr/>
        </p:nvSpPr>
        <p:spPr>
          <a:xfrm>
            <a:off x="8183880" y="1298448"/>
            <a:ext cx="3520440" cy="97942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Trigger</a:t>
            </a:r>
          </a:p>
        </p:txBody>
      </p:sp>
      <p:sp>
        <p:nvSpPr>
          <p:cNvPr id="8" name="TextBox 7"/>
          <p:cNvSpPr txBox="1"/>
          <p:nvPr/>
        </p:nvSpPr>
        <p:spPr>
          <a:xfrm>
            <a:off x="8321040" y="1664208"/>
            <a:ext cx="3246120" cy="558800"/>
          </a:xfrm>
          <a:prstGeom prst="rect">
            <a:avLst/>
          </a:prstGeom>
          <a:noFill/>
        </p:spPr>
        <p:txBody>
          <a:bodyPr wrap="square" anchor="t" lIns="0" rIns="0" tIns="0" bIns="0">
            <a:spAutoFit/>
          </a:bodyPr>
          <a:lstStyle/>
          <a:p>
            <a:pPr algn="l"/>
            <a:r>
              <a:rPr sz="1200" b="0" i="0">
                <a:solidFill>
                  <a:srgbClr val="000000"/>
                </a:solidFill>
                <a:latin typeface="Nirmala UI"/>
              </a:rPr>
              <a:t>The members stop hearing the primary's heartbeat.</a:t>
            </a:r>
          </a:p>
        </p:txBody>
      </p:sp>
      <p:sp>
        <p:nvSpPr>
          <p:cNvPr id="9" name="Rounded Rectangle 8"/>
          <p:cNvSpPr/>
          <p:nvPr/>
        </p:nvSpPr>
        <p:spPr>
          <a:xfrm>
            <a:off x="8183880" y="2405888"/>
            <a:ext cx="3520440" cy="97942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6075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Majority vote</a:t>
            </a:r>
          </a:p>
        </p:txBody>
      </p:sp>
      <p:sp>
        <p:nvSpPr>
          <p:cNvPr id="11" name="TextBox 10"/>
          <p:cNvSpPr txBox="1"/>
          <p:nvPr/>
        </p:nvSpPr>
        <p:spPr>
          <a:xfrm>
            <a:off x="8321040" y="2771648"/>
            <a:ext cx="3246120" cy="558800"/>
          </a:xfrm>
          <a:prstGeom prst="rect">
            <a:avLst/>
          </a:prstGeom>
          <a:noFill/>
        </p:spPr>
        <p:txBody>
          <a:bodyPr wrap="square" anchor="t" lIns="0" rIns="0" tIns="0" bIns="0">
            <a:spAutoFit/>
          </a:bodyPr>
          <a:lstStyle/>
          <a:p>
            <a:pPr algn="l"/>
            <a:r>
              <a:rPr sz="1200" b="0" i="0">
                <a:solidFill>
                  <a:srgbClr val="000000"/>
                </a:solidFill>
                <a:latin typeface="Nirmala UI"/>
              </a:rPr>
              <a:t>Two of three votes win; the most up-to-date eligible member is chosen.</a:t>
            </a:r>
          </a:p>
        </p:txBody>
      </p:sp>
      <p:sp>
        <p:nvSpPr>
          <p:cNvPr id="12" name="TextBox 11"/>
          <p:cNvSpPr txBox="1"/>
          <p:nvPr/>
        </p:nvSpPr>
        <p:spPr>
          <a:xfrm>
            <a:off x="8183880" y="351332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Why odd numbers are common</a:t>
            </a:r>
          </a:p>
        </p:txBody>
      </p:sp>
      <p:sp>
        <p:nvSpPr>
          <p:cNvPr id="13" name="Rounded Rectangle 12"/>
          <p:cNvSpPr/>
          <p:nvPr/>
        </p:nvSpPr>
        <p:spPr>
          <a:xfrm>
            <a:off x="8183880" y="3842512"/>
            <a:ext cx="3520440" cy="110337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voters  majority  can lose</a:t>
            </a:r>
          </a:p>
          <a:p>
            <a:pPr algn="l"/>
            <a:r>
              <a:rPr sz="1200" b="0" i="0">
                <a:solidFill>
                  <a:srgbClr val="000000"/>
                </a:solidFill>
                <a:latin typeface="Consolas"/>
              </a:rPr>
              <a:t>  3        2          1</a:t>
            </a:r>
          </a:p>
          <a:p>
            <a:pPr algn="l"/>
            <a:r>
              <a:rPr sz="1200" b="0" i="0">
                <a:solidFill>
                  <a:srgbClr val="000000"/>
                </a:solidFill>
                <a:latin typeface="Consolas"/>
              </a:rPr>
              <a:t>  4        3          1</a:t>
            </a:r>
          </a:p>
          <a:p>
            <a:pPr algn="l"/>
            <a:r>
              <a:rPr sz="1200" b="0" i="0">
                <a:solidFill>
                  <a:srgbClr val="000000"/>
                </a:solidFill>
                <a:latin typeface="Consolas"/>
              </a:rPr>
              <a:t>  5        3          2</a:t>
            </a:r>
          </a:p>
        </p:txBody>
      </p:sp>
      <p:sp>
        <p:nvSpPr>
          <p:cNvPr id="14" name="Rounded Rectangle 13"/>
          <p:cNvSpPr/>
          <p:nvPr/>
        </p:nvSpPr>
        <p:spPr>
          <a:xfrm>
            <a:off x="8183880" y="5073904"/>
            <a:ext cx="3520440" cy="75996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73904"/>
            <a:ext cx="3154680" cy="759968"/>
          </a:xfrm>
          <a:prstGeom prst="rect">
            <a:avLst/>
          </a:prstGeom>
          <a:noFill/>
        </p:spPr>
        <p:txBody>
          <a:bodyPr wrap="square" anchor="ctr" lIns="0" rIns="0" tIns="0" bIns="0">
            <a:spAutoFit/>
          </a:bodyPr>
          <a:lstStyle/>
          <a:p>
            <a:pPr algn="l"/>
            <a:r>
              <a:rPr sz="1200" b="1" i="0">
                <a:solidFill>
                  <a:srgbClr val="D1282E"/>
                </a:solidFill>
                <a:latin typeface="Nirmala UI"/>
              </a:rPr>
              <a:t>A FOURTH VOTER   </a:t>
            </a:r>
            <a:r>
              <a:rPr sz="1200" b="0" i="0">
                <a:solidFill>
                  <a:srgbClr val="000000"/>
                </a:solidFill>
                <a:latin typeface="Nirmala UI"/>
              </a:rPr>
              <a:t>Adds cost, not failure tolerance.</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Elections need a majority of voters — so three or five members, not two or four.</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AUTOMATIC FAILOVER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Normal, detect, elect, recovered — without an operator.</a:t>
            </a:r>
          </a:p>
        </p:txBody>
      </p:sp>
      <p:sp>
        <p:nvSpPr>
          <p:cNvPr id="4" name="Rounded Rectangle 3"/>
          <p:cNvSpPr/>
          <p:nvPr/>
        </p:nvSpPr>
        <p:spPr>
          <a:xfrm>
            <a:off x="475488" y="2016938"/>
            <a:ext cx="7415783" cy="309844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7" descr="image.jpg"/>
          <p:cNvPicPr>
            <a:picLocks noChangeAspect="1"/>
          </p:cNvPicPr>
          <p:nvPr/>
        </p:nvPicPr>
        <p:blipFill>
          <a:blip r:embed="rId2"/>
          <a:stretch>
            <a:fillRect/>
          </a:stretch>
        </p:blipFill>
        <p:spPr>
          <a:xfrm>
            <a:off x="548640" y="2090090"/>
            <a:ext cx="7269480" cy="2952139"/>
          </a:xfrm>
          <a:prstGeom prst="rect">
            <a:avLst/>
          </a:prstGeom>
        </p:spPr>
      </p:pic>
      <p:sp>
        <p:nvSpPr>
          <p:cNvPr id="6" name="Rounded Rectangle 5"/>
          <p:cNvSpPr/>
          <p:nvPr/>
        </p:nvSpPr>
        <p:spPr>
          <a:xfrm>
            <a:off x="8183880" y="129844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1  Normal</a:t>
            </a:r>
          </a:p>
        </p:txBody>
      </p:sp>
      <p:sp>
        <p:nvSpPr>
          <p:cNvPr id="8" name="TextBox 7"/>
          <p:cNvSpPr txBox="1"/>
          <p:nvPr/>
        </p:nvSpPr>
        <p:spPr>
          <a:xfrm>
            <a:off x="8321040" y="1664208"/>
            <a:ext cx="3246120" cy="617219"/>
          </a:xfrm>
          <a:prstGeom prst="rect">
            <a:avLst/>
          </a:prstGeom>
          <a:noFill/>
        </p:spPr>
        <p:txBody>
          <a:bodyPr wrap="square" anchor="t" lIns="0" rIns="0" tIns="0" bIns="0">
            <a:spAutoFit/>
          </a:bodyPr>
          <a:lstStyle/>
          <a:p>
            <a:pPr algn="l"/>
            <a:r>
              <a:rPr sz="1200" b="0" i="0">
                <a:solidFill>
                  <a:srgbClr val="000000"/>
                </a:solidFill>
                <a:latin typeface="Nirmala UI"/>
              </a:rPr>
              <a:t>Writes go to the primary; the secondaries copy.</a:t>
            </a:r>
          </a:p>
        </p:txBody>
      </p:sp>
      <p:sp>
        <p:nvSpPr>
          <p:cNvPr id="9" name="Rounded Rectangle 8"/>
          <p:cNvSpPr/>
          <p:nvPr/>
        </p:nvSpPr>
        <p:spPr>
          <a:xfrm>
            <a:off x="8183880" y="246430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191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2  Detect</a:t>
            </a:r>
          </a:p>
        </p:txBody>
      </p:sp>
      <p:sp>
        <p:nvSpPr>
          <p:cNvPr id="11" name="TextBox 10"/>
          <p:cNvSpPr txBox="1"/>
          <p:nvPr/>
        </p:nvSpPr>
        <p:spPr>
          <a:xfrm>
            <a:off x="8321040" y="2830068"/>
            <a:ext cx="3246120" cy="617219"/>
          </a:xfrm>
          <a:prstGeom prst="rect">
            <a:avLst/>
          </a:prstGeom>
          <a:noFill/>
        </p:spPr>
        <p:txBody>
          <a:bodyPr wrap="square" anchor="t" lIns="0" rIns="0" tIns="0" bIns="0">
            <a:spAutoFit/>
          </a:bodyPr>
          <a:lstStyle/>
          <a:p>
            <a:pPr algn="l"/>
            <a:r>
              <a:rPr sz="1200" b="0" i="0">
                <a:solidFill>
                  <a:srgbClr val="000000"/>
                </a:solidFill>
                <a:latin typeface="Nirmala UI"/>
              </a:rPr>
              <a:t>Heartbeats are missed — about 10 seconds by default.</a:t>
            </a:r>
          </a:p>
        </p:txBody>
      </p:sp>
      <p:sp>
        <p:nvSpPr>
          <p:cNvPr id="12" name="Rounded Rectangle 11"/>
          <p:cNvSpPr/>
          <p:nvPr/>
        </p:nvSpPr>
        <p:spPr>
          <a:xfrm>
            <a:off x="8183880" y="363016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850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3  Elect</a:t>
            </a:r>
          </a:p>
        </p:txBody>
      </p:sp>
      <p:sp>
        <p:nvSpPr>
          <p:cNvPr id="14" name="TextBox 13"/>
          <p:cNvSpPr txBox="1"/>
          <p:nvPr/>
        </p:nvSpPr>
        <p:spPr>
          <a:xfrm>
            <a:off x="8321040" y="3995928"/>
            <a:ext cx="3246120" cy="617220"/>
          </a:xfrm>
          <a:prstGeom prst="rect">
            <a:avLst/>
          </a:prstGeom>
          <a:noFill/>
        </p:spPr>
        <p:txBody>
          <a:bodyPr wrap="square" anchor="t" lIns="0" rIns="0" tIns="0" bIns="0">
            <a:spAutoFit/>
          </a:bodyPr>
          <a:lstStyle/>
          <a:p>
            <a:pPr algn="l"/>
            <a:r>
              <a:rPr sz="1200" b="0" i="0">
                <a:solidFill>
                  <a:srgbClr val="000000"/>
                </a:solidFill>
                <a:latin typeface="Nirmala UI"/>
              </a:rPr>
              <a:t>Secondary A wins the majority vote and becomes primary.</a:t>
            </a:r>
          </a:p>
        </p:txBody>
      </p:sp>
      <p:sp>
        <p:nvSpPr>
          <p:cNvPr id="15" name="Rounded Rectangle 14"/>
          <p:cNvSpPr/>
          <p:nvPr/>
        </p:nvSpPr>
        <p:spPr>
          <a:xfrm>
            <a:off x="8183880" y="479602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5089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4  Recovered</a:t>
            </a:r>
          </a:p>
        </p:txBody>
      </p:sp>
      <p:sp>
        <p:nvSpPr>
          <p:cNvPr id="17" name="TextBox 16"/>
          <p:cNvSpPr txBox="1"/>
          <p:nvPr/>
        </p:nvSpPr>
        <p:spPr>
          <a:xfrm>
            <a:off x="8321040" y="5161788"/>
            <a:ext cx="3246120" cy="617219"/>
          </a:xfrm>
          <a:prstGeom prst="rect">
            <a:avLst/>
          </a:prstGeom>
          <a:noFill/>
        </p:spPr>
        <p:txBody>
          <a:bodyPr wrap="square" anchor="t" lIns="0" rIns="0" tIns="0" bIns="0">
            <a:spAutoFit/>
          </a:bodyPr>
          <a:lstStyle/>
          <a:p>
            <a:pPr algn="l"/>
            <a:r>
              <a:rPr sz="1200" b="0" i="0">
                <a:solidFill>
                  <a:srgbClr val="000000"/>
                </a:solidFill>
                <a:latin typeface="Nirmala UI"/>
              </a:rPr>
              <a:t>Writes resume; the old primary rejoins as a secondary.</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Failover is automatic, but there is a short window with no primary and no writes.</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APPLICATION BEHAVIOR DURING FAILOVER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Transient error, topology refresh, retry.</a:t>
            </a:r>
          </a:p>
        </p:txBody>
      </p:sp>
      <p:sp>
        <p:nvSpPr>
          <p:cNvPr id="4" name="Rounded Rectangle 3"/>
          <p:cNvSpPr/>
          <p:nvPr/>
        </p:nvSpPr>
        <p:spPr>
          <a:xfrm>
            <a:off x="1996480" y="1316736"/>
            <a:ext cx="8168559" cy="258368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8" descr="image.jpg"/>
          <p:cNvPicPr>
            <a:picLocks noChangeAspect="1"/>
          </p:cNvPicPr>
          <p:nvPr/>
        </p:nvPicPr>
        <p:blipFill>
          <a:blip r:embed="rId2"/>
          <a:stretch>
            <a:fillRect/>
          </a:stretch>
        </p:blipFill>
        <p:spPr>
          <a:xfrm>
            <a:off x="2069632" y="1389888"/>
            <a:ext cx="8022255" cy="2437383"/>
          </a:xfrm>
          <a:prstGeom prst="rect">
            <a:avLst/>
          </a:prstGeom>
        </p:spPr>
      </p:pic>
      <p:sp>
        <p:nvSpPr>
          <p:cNvPr id="6" name="TextBox 5"/>
          <p:cNvSpPr txBox="1"/>
          <p:nvPr/>
        </p:nvSpPr>
        <p:spPr>
          <a:xfrm>
            <a:off x="457200" y="4193031"/>
            <a:ext cx="2674620" cy="310896"/>
          </a:xfrm>
          <a:prstGeom prst="rect">
            <a:avLst/>
          </a:prstGeom>
          <a:noFill/>
        </p:spPr>
        <p:txBody>
          <a:bodyPr wrap="square" anchor="ctr" lIns="0" rIns="0" tIns="0" bIns="0">
            <a:spAutoFit/>
          </a:bodyPr>
          <a:lstStyle/>
          <a:p>
            <a:pPr algn="l"/>
            <a:r>
              <a:rPr sz="1300" b="1" i="0">
                <a:solidFill>
                  <a:srgbClr val="002060"/>
                </a:solidFill>
                <a:latin typeface="Nirmala UI"/>
              </a:rPr>
              <a:t>Connect to the whole set</a:t>
            </a:r>
          </a:p>
        </p:txBody>
      </p:sp>
      <p:sp>
        <p:nvSpPr>
          <p:cNvPr id="7" name="Rounded Rectangle 6"/>
          <p:cNvSpPr/>
          <p:nvPr/>
        </p:nvSpPr>
        <p:spPr>
          <a:xfrm>
            <a:off x="457200" y="4522215"/>
            <a:ext cx="2674620" cy="131165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mongodb://db1:27017,</a:t>
            </a:r>
          </a:p>
          <a:p>
            <a:pPr algn="l"/>
            <a:r>
              <a:rPr sz="1100" b="0" i="0">
                <a:solidFill>
                  <a:srgbClr val="000000"/>
                </a:solidFill>
                <a:latin typeface="Consolas"/>
              </a:rPr>
              <a:t>  db2:27017,db3:27017/</a:t>
            </a:r>
          </a:p>
          <a:p>
            <a:pPr algn="l"/>
            <a:r>
              <a:rPr sz="1100" b="0" i="0">
                <a:solidFill>
                  <a:srgbClr val="000000"/>
                </a:solidFill>
                <a:latin typeface="Consolas"/>
              </a:rPr>
              <a:t>  training_store</a:t>
            </a:r>
          </a:p>
          <a:p>
            <a:pPr algn="l"/>
            <a:r>
              <a:rPr sz="1100" b="0" i="0">
                <a:solidFill>
                  <a:srgbClr val="000000"/>
                </a:solidFill>
                <a:latin typeface="Consolas"/>
              </a:rPr>
              <a:t>  ?replicaSet=trainingRS</a:t>
            </a:r>
          </a:p>
        </p:txBody>
      </p:sp>
      <p:sp>
        <p:nvSpPr>
          <p:cNvPr id="8" name="Rounded Rectangle 7"/>
          <p:cNvSpPr/>
          <p:nvPr/>
        </p:nvSpPr>
        <p:spPr>
          <a:xfrm>
            <a:off x="3314700" y="4193031"/>
            <a:ext cx="2674620" cy="16408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3451860" y="4247895"/>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Transient error</a:t>
            </a:r>
          </a:p>
        </p:txBody>
      </p:sp>
      <p:sp>
        <p:nvSpPr>
          <p:cNvPr id="10" name="TextBox 9"/>
          <p:cNvSpPr txBox="1"/>
          <p:nvPr/>
        </p:nvSpPr>
        <p:spPr>
          <a:xfrm>
            <a:off x="3451860" y="4558792"/>
            <a:ext cx="2400300" cy="1220215"/>
          </a:xfrm>
          <a:prstGeom prst="rect">
            <a:avLst/>
          </a:prstGeom>
          <a:noFill/>
        </p:spPr>
        <p:txBody>
          <a:bodyPr wrap="square" anchor="t" lIns="0" rIns="0" tIns="0" bIns="0">
            <a:spAutoFit/>
          </a:bodyPr>
          <a:lstStyle/>
          <a:p>
            <a:pPr algn="l"/>
            <a:r>
              <a:rPr sz="1200" b="0" i="0">
                <a:solidFill>
                  <a:srgbClr val="000000"/>
                </a:solidFill>
                <a:latin typeface="Nirmala UI"/>
              </a:rPr>
              <a:t>Writes pause during the election; the driver sees a retryable error.</a:t>
            </a:r>
          </a:p>
        </p:txBody>
      </p:sp>
      <p:sp>
        <p:nvSpPr>
          <p:cNvPr id="11" name="Rounded Rectangle 10"/>
          <p:cNvSpPr/>
          <p:nvPr/>
        </p:nvSpPr>
        <p:spPr>
          <a:xfrm>
            <a:off x="6172200" y="4193031"/>
            <a:ext cx="2674620" cy="16408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6309360" y="4247895"/>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Retryable writes</a:t>
            </a:r>
          </a:p>
        </p:txBody>
      </p:sp>
      <p:sp>
        <p:nvSpPr>
          <p:cNvPr id="13" name="TextBox 12"/>
          <p:cNvSpPr txBox="1"/>
          <p:nvPr/>
        </p:nvSpPr>
        <p:spPr>
          <a:xfrm>
            <a:off x="6309360" y="4558792"/>
            <a:ext cx="2400300" cy="1220215"/>
          </a:xfrm>
          <a:prstGeom prst="rect">
            <a:avLst/>
          </a:prstGeom>
          <a:noFill/>
        </p:spPr>
        <p:txBody>
          <a:bodyPr wrap="square" anchor="t" lIns="0" rIns="0" tIns="0" bIns="0">
            <a:spAutoFit/>
          </a:bodyPr>
          <a:lstStyle/>
          <a:p>
            <a:pPr algn="l"/>
            <a:r>
              <a:rPr sz="1200" b="0" i="0">
                <a:solidFill>
                  <a:srgbClr val="000000"/>
                </a:solidFill>
                <a:latin typeface="Nirmala UI"/>
              </a:rPr>
              <a:t>The driver retries an eligible write once, on the new primary.</a:t>
            </a:r>
          </a:p>
        </p:txBody>
      </p:sp>
      <p:sp>
        <p:nvSpPr>
          <p:cNvPr id="14" name="Rounded Rectangle 13"/>
          <p:cNvSpPr/>
          <p:nvPr/>
        </p:nvSpPr>
        <p:spPr>
          <a:xfrm>
            <a:off x="9029700" y="4193031"/>
            <a:ext cx="2674620" cy="164084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212580" y="4193031"/>
            <a:ext cx="2308860" cy="1640840"/>
          </a:xfrm>
          <a:prstGeom prst="rect">
            <a:avLst/>
          </a:prstGeom>
          <a:noFill/>
        </p:spPr>
        <p:txBody>
          <a:bodyPr wrap="square" anchor="ctr" lIns="0" rIns="0" tIns="0" bIns="0">
            <a:spAutoFit/>
          </a:bodyPr>
          <a:lstStyle/>
          <a:p>
            <a:pPr algn="l"/>
            <a:r>
              <a:rPr sz="1200" b="1" i="0">
                <a:solidFill>
                  <a:srgbClr val="D1282E"/>
                </a:solidFill>
                <a:latin typeface="Nirmala UI"/>
              </a:rPr>
              <a:t>DESIGN FOR IT   </a:t>
            </a:r>
            <a:r>
              <a:rPr sz="1200" b="0" i="0">
                <a:solidFill>
                  <a:srgbClr val="000000"/>
                </a:solidFill>
                <a:latin typeface="Nirmala UI"/>
              </a:rPr>
              <a:t>Idempotent operations and timeouts — never a pinned host.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Use a replica-set connection string and retryable, idempotent operations — failover becomes a pause.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CHECKING REPLICA-SET HEALTH</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What rs.status() tells you — and what to watch.</a:t>
            </a:r>
          </a:p>
        </p:txBody>
      </p:sp>
      <p:sp>
        <p:nvSpPr>
          <p:cNvPr id="4" name="Rounded Rectangle 3"/>
          <p:cNvSpPr/>
          <p:nvPr/>
        </p:nvSpPr>
        <p:spPr>
          <a:xfrm>
            <a:off x="475488" y="1998653"/>
            <a:ext cx="7415783" cy="313501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4" descr="image.jpg"/>
          <p:cNvPicPr>
            <a:picLocks noChangeAspect="1"/>
          </p:cNvPicPr>
          <p:nvPr/>
        </p:nvPicPr>
        <p:blipFill>
          <a:blip r:embed="rId2"/>
          <a:stretch>
            <a:fillRect/>
          </a:stretch>
        </p:blipFill>
        <p:spPr>
          <a:xfrm>
            <a:off x="548640" y="2071805"/>
            <a:ext cx="7269480" cy="2988709"/>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Check health in mongosh</a:t>
            </a:r>
          </a:p>
        </p:txBody>
      </p:sp>
      <p:sp>
        <p:nvSpPr>
          <p:cNvPr id="7" name="Rounded Rectangle 6"/>
          <p:cNvSpPr/>
          <p:nvPr/>
        </p:nvSpPr>
        <p:spPr>
          <a:xfrm>
            <a:off x="8183880" y="1627632"/>
            <a:ext cx="3520440"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rs.status()</a:t>
            </a:r>
          </a:p>
          <a:p>
            <a:pPr algn="l"/>
            <a:r>
              <a:rPr sz="1100" b="0" i="0">
                <a:solidFill>
                  <a:srgbClr val="000000"/>
                </a:solidFill>
                <a:latin typeface="Consolas"/>
              </a:rPr>
              <a:t>rs.conf()</a:t>
            </a:r>
          </a:p>
          <a:p>
            <a:pPr algn="l"/>
            <a:r>
              <a:rPr sz="1100" b="0" i="0">
                <a:solidFill>
                  <a:srgbClr val="000000"/>
                </a:solidFill>
                <a:latin typeface="Consolas"/>
              </a:rPr>
              <a:t>rs.printSecondaryReplicationInfo()</a:t>
            </a:r>
          </a:p>
          <a:p>
            <a:pPr algn="l"/>
            <a:r>
              <a:rPr sz="1100" b="0" i="0">
                <a:solidFill>
                  <a:srgbClr val="000000"/>
                </a:solidFill>
                <a:latin typeface="Consolas"/>
              </a:rPr>
              <a:t>db.hello()</a:t>
            </a:r>
          </a:p>
        </p:txBody>
      </p:sp>
      <p:sp>
        <p:nvSpPr>
          <p:cNvPr id="8" name="Rounded Rectangle 7"/>
          <p:cNvSpPr/>
          <p:nvPr/>
        </p:nvSpPr>
        <p:spPr>
          <a:xfrm>
            <a:off x="8183880" y="2792984"/>
            <a:ext cx="3520440" cy="10014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284784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Read the states</a:t>
            </a:r>
          </a:p>
        </p:txBody>
      </p:sp>
      <p:sp>
        <p:nvSpPr>
          <p:cNvPr id="10" name="TextBox 9"/>
          <p:cNvSpPr txBox="1"/>
          <p:nvPr/>
        </p:nvSpPr>
        <p:spPr>
          <a:xfrm>
            <a:off x="8321040" y="3158744"/>
            <a:ext cx="3246120" cy="580813"/>
          </a:xfrm>
          <a:prstGeom prst="rect">
            <a:avLst/>
          </a:prstGeom>
          <a:noFill/>
        </p:spPr>
        <p:txBody>
          <a:bodyPr wrap="square" anchor="t" lIns="0" rIns="0" tIns="0" bIns="0">
            <a:spAutoFit/>
          </a:bodyPr>
          <a:lstStyle/>
          <a:p>
            <a:pPr algn="l"/>
            <a:r>
              <a:rPr sz="1200" b="0" i="0">
                <a:solidFill>
                  <a:srgbClr val="000000"/>
                </a:solidFill>
                <a:latin typeface="Nirmala UI"/>
              </a:rPr>
              <a:t>One PRIMARY, the SECONDARY members, health: 1 on each reachable member.</a:t>
            </a:r>
          </a:p>
        </p:txBody>
      </p:sp>
      <p:sp>
        <p:nvSpPr>
          <p:cNvPr id="11" name="Rounded Rectangle 10"/>
          <p:cNvSpPr/>
          <p:nvPr/>
        </p:nvSpPr>
        <p:spPr>
          <a:xfrm>
            <a:off x="8183880" y="3922437"/>
            <a:ext cx="3520440" cy="10014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3977301"/>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Watch the lag</a:t>
            </a:r>
          </a:p>
        </p:txBody>
      </p:sp>
      <p:sp>
        <p:nvSpPr>
          <p:cNvPr id="13" name="TextBox 12"/>
          <p:cNvSpPr txBox="1"/>
          <p:nvPr/>
        </p:nvSpPr>
        <p:spPr>
          <a:xfrm>
            <a:off x="8321040" y="4288197"/>
            <a:ext cx="3246120" cy="580813"/>
          </a:xfrm>
          <a:prstGeom prst="rect">
            <a:avLst/>
          </a:prstGeom>
          <a:noFill/>
        </p:spPr>
        <p:txBody>
          <a:bodyPr wrap="square" anchor="t" lIns="0" rIns="0" tIns="0" bIns="0">
            <a:spAutoFit/>
          </a:bodyPr>
          <a:lstStyle/>
          <a:p>
            <a:pPr algn="l"/>
            <a:r>
              <a:rPr sz="1200" b="0" i="0">
                <a:solidFill>
                  <a:srgbClr val="000000"/>
                </a:solidFill>
                <a:latin typeface="Nirmala UI"/>
              </a:rPr>
              <a:t>Secondary B is 5 s behind — healthy, but worth watching.</a:t>
            </a:r>
          </a:p>
        </p:txBody>
      </p:sp>
      <p:sp>
        <p:nvSpPr>
          <p:cNvPr id="14" name="Rounded Rectangle 13"/>
          <p:cNvSpPr/>
          <p:nvPr/>
        </p:nvSpPr>
        <p:spPr>
          <a:xfrm>
            <a:off x="8183880" y="5051890"/>
            <a:ext cx="3520440" cy="781981"/>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051890"/>
            <a:ext cx="3154680" cy="781981"/>
          </a:xfrm>
          <a:prstGeom prst="rect">
            <a:avLst/>
          </a:prstGeom>
          <a:noFill/>
        </p:spPr>
        <p:txBody>
          <a:bodyPr wrap="square" anchor="ctr" lIns="0" rIns="0" tIns="0" bIns="0">
            <a:spAutoFit/>
          </a:bodyPr>
          <a:lstStyle/>
          <a:p>
            <a:pPr algn="l"/>
            <a:r>
              <a:rPr sz="1200" b="1" i="0">
                <a:solidFill>
                  <a:srgbClr val="D1282E"/>
                </a:solidFill>
                <a:latin typeface="Nirmala UI"/>
              </a:rPr>
              <a:t>LAB 6   </a:t>
            </a:r>
            <a:r>
              <a:rPr sz="1200" b="0" i="0">
                <a:solidFill>
                  <a:srgbClr val="000000"/>
                </a:solidFill>
                <a:latin typeface="Nirmala UI"/>
              </a:rPr>
              <a:t>Steps 4–7: you'll write this health report on a real replica set.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Measure replica-set health — the primary, the majority and the lag — don't guess it.</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COUNT THE VOTES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Decide whether each replica set can still elect a primary.</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Every member below is a voting, data-bearing member.</a:t>
            </a:r>
          </a:p>
        </p:txBody>
      </p:sp>
      <p:sp>
        <p:nvSpPr>
          <p:cNvPr id="10" name="Rounded Rectangle 9"/>
          <p:cNvSpPr/>
          <p:nvPr/>
        </p:nvSpPr>
        <p:spPr>
          <a:xfrm>
            <a:off x="566928" y="3012440"/>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A  3 members, 1 down</a:t>
            </a:r>
          </a:p>
          <a:p>
            <a:pPr algn="l"/>
            <a:r>
              <a:rPr sz="1100" b="0" i="0">
                <a:solidFill>
                  <a:srgbClr val="000000"/>
                </a:solidFill>
                <a:latin typeface="Consolas"/>
              </a:rPr>
              <a:t>B  3 members, 2 down</a:t>
            </a:r>
          </a:p>
          <a:p>
            <a:pPr algn="l"/>
            <a:r>
              <a:rPr sz="1100" b="0" i="0">
                <a:solidFill>
                  <a:srgbClr val="000000"/>
                </a:solidFill>
                <a:latin typeface="Consolas"/>
              </a:rPr>
              <a:t>C  4 members, 2 down</a:t>
            </a:r>
          </a:p>
          <a:p>
            <a:pPr algn="l"/>
            <a:r>
              <a:rPr sz="1100" b="0" i="0">
                <a:solidFill>
                  <a:srgbClr val="000000"/>
                </a:solidFill>
                <a:latin typeface="Consolas"/>
              </a:rPr>
              <a:t>D  5 members split 3 | 2</a:t>
            </a:r>
          </a:p>
          <a:p>
            <a:pPr algn="l"/>
            <a:r>
              <a:rPr sz="1100" b="0" i="0">
                <a:solidFill>
                  <a:srgbClr val="000000"/>
                </a:solidFill>
                <a:latin typeface="Consolas"/>
              </a:rPr>
              <a:t>   across two data centers;</a:t>
            </a:r>
          </a:p>
          <a:p>
            <a:pPr algn="l"/>
            <a:r>
              <a:rPr sz="1100" b="0" i="0">
                <a:solidFill>
                  <a:srgbClr val="000000"/>
                </a:solidFill>
                <a:latin typeface="Consolas"/>
              </a:rPr>
              <a:t>   the link between them fails</a:t>
            </a:r>
          </a:p>
        </p:txBody>
      </p:sp>
      <p:sp>
        <p:nvSpPr>
          <p:cNvPr id="11" name="Rounded Rectangle 10"/>
          <p:cNvSpPr/>
          <p:nvPr/>
        </p:nvSpPr>
        <p:spPr>
          <a:xfrm>
            <a:off x="4526280" y="1865376"/>
            <a:ext cx="388620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Work out the majority for each set</a:t>
            </a:r>
          </a:p>
        </p:txBody>
      </p:sp>
      <p:sp>
        <p:nvSpPr>
          <p:cNvPr id="16" name="Oval 15"/>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whether a primary can exist</a:t>
            </a:r>
          </a:p>
        </p:txBody>
      </p:sp>
      <p:sp>
        <p:nvSpPr>
          <p:cNvPr id="18" name="Oval 17"/>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what happens to writes</a:t>
            </a:r>
          </a:p>
        </p:txBody>
      </p:sp>
      <p:sp>
        <p:nvSpPr>
          <p:cNvPr id="20" name="Oval 19"/>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Explain why D is split 3 | 2</a:t>
            </a:r>
          </a:p>
        </p:txBody>
      </p:sp>
      <p:sp>
        <p:nvSpPr>
          <p:cNvPr id="22" name="Rounded Rectangle 21"/>
          <p:cNvSpPr/>
          <p:nvPr/>
        </p:nvSpPr>
        <p:spPr>
          <a:xfrm>
            <a:off x="8641080" y="1865376"/>
            <a:ext cx="306324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A  yes — 2 of 3 still vote</a:t>
            </a:r>
          </a:p>
        </p:txBody>
      </p:sp>
      <p:sp>
        <p:nvSpPr>
          <p:cNvPr id="27" name="Oval 26"/>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B  no — 1 of 3: no writes</a:t>
            </a:r>
          </a:p>
        </p:txBody>
      </p:sp>
      <p:sp>
        <p:nvSpPr>
          <p:cNvPr id="29" name="Oval 28"/>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C  no — needs 3 of 4</a:t>
            </a:r>
          </a:p>
        </p:txBody>
      </p:sp>
      <p:sp>
        <p:nvSpPr>
          <p:cNvPr id="31" name="Oval 30"/>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36576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D  the 3-member side elects</a:t>
            </a:r>
          </a:p>
        </p:txBody>
      </p:sp>
      <p:sp>
        <p:nvSpPr>
          <p:cNvPr id="33" name="Oval 32"/>
          <p:cNvSpPr/>
          <p:nvPr/>
        </p:nvSpPr>
        <p:spPr>
          <a:xfrm>
            <a:off x="8778240" y="41330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4" name="TextBox 33"/>
          <p:cNvSpPr txBox="1"/>
          <p:nvPr/>
        </p:nvSpPr>
        <p:spPr>
          <a:xfrm>
            <a:off x="9116567" y="40782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Odd voter counts decide cleanly</a:t>
            </a:r>
          </a:p>
        </p:txBody>
      </p:sp>
      <p:sp>
        <p:nvSpPr>
          <p:cNvPr id="35" name="Rounded Rectangle 3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primary needs a reachable majority of voters — count them before you design.</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3: READ AND WRITE GUARANTEES, LAG AND ROLLBACK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Choose where reads go and when a write counts as safe.</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Availability and scale</a:t>
            </a:r>
          </a:p>
        </p:txBody>
      </p:sp>
      <p:sp>
        <p:nvSpPr>
          <p:cNvPr id="6" name="Chevron 5"/>
          <p:cNvSpPr/>
          <p:nvPr/>
        </p:nvSpPr>
        <p:spPr>
          <a:xfrm>
            <a:off x="267114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Replica sets</a:t>
            </a:r>
          </a:p>
        </p:txBody>
      </p:sp>
      <p:sp>
        <p:nvSpPr>
          <p:cNvPr id="8" name="Chevron 7"/>
          <p:cNvSpPr/>
          <p:nvPr/>
        </p:nvSpPr>
        <p:spPr>
          <a:xfrm>
            <a:off x="4885090"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Guarantees and lag</a:t>
            </a:r>
          </a:p>
        </p:txBody>
      </p:sp>
      <p:sp>
        <p:nvSpPr>
          <p:cNvPr id="10" name="Chevron 9"/>
          <p:cNvSpPr/>
          <p:nvPr/>
        </p:nvSpPr>
        <p:spPr>
          <a:xfrm>
            <a:off x="709903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Shard keys</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Routing and design</a:t>
            </a:r>
          </a:p>
        </p:txBody>
      </p:sp>
      <p:sp>
        <p:nvSpPr>
          <p:cNvPr id="14" name="Rounded Rectangle 13"/>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Writes go to one primary</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Secondaries replay the oplog</a:t>
            </a:r>
          </a:p>
        </p:txBody>
      </p:sp>
      <p:sp>
        <p:nvSpPr>
          <p:cNvPr id="21" name="Oval 20"/>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A majority elects a new primary</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Which member should serve a read — and when is a write really safe?</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Read preference</a:t>
            </a:r>
          </a:p>
        </p:txBody>
      </p:sp>
      <p:sp>
        <p:nvSpPr>
          <p:cNvPr id="29" name="Oval 28"/>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Write concern</a:t>
            </a:r>
          </a:p>
        </p:txBody>
      </p:sp>
      <p:sp>
        <p:nvSpPr>
          <p:cNvPr id="31" name="Oval 30"/>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Read concern</a:t>
            </a:r>
          </a:p>
        </p:txBody>
      </p:sp>
      <p:sp>
        <p:nvSpPr>
          <p:cNvPr id="33" name="Oval 32"/>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The three settings in mongosh</a:t>
            </a:r>
          </a:p>
        </p:txBody>
      </p:sp>
      <p:sp>
        <p:nvSpPr>
          <p:cNvPr id="35" name="Oval 34"/>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6" name="TextBox 35"/>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Replication lag</a:t>
            </a:r>
          </a:p>
        </p:txBody>
      </p:sp>
      <p:sp>
        <p:nvSpPr>
          <p:cNvPr id="37" name="Oval 36"/>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8" name="TextBox 37"/>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Rollback</a:t>
            </a:r>
          </a:p>
        </p:txBody>
      </p:sp>
      <p:sp>
        <p:nvSpPr>
          <p:cNvPr id="39" name="Oval 38"/>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0" name="TextBox 39"/>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Exercise: what did the customer see?</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READ PREFERENCES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Five modes decide which members may serve a read.</a:t>
            </a:r>
          </a:p>
        </p:txBody>
      </p:sp>
      <p:sp>
        <p:nvSpPr>
          <p:cNvPr id="4" name="Rounded Rectangle 3"/>
          <p:cNvSpPr/>
          <p:nvPr/>
        </p:nvSpPr>
        <p:spPr>
          <a:xfrm>
            <a:off x="475488" y="1887973"/>
            <a:ext cx="7415783" cy="335637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4" descr="image.jpg"/>
          <p:cNvPicPr>
            <a:picLocks noChangeAspect="1"/>
          </p:cNvPicPr>
          <p:nvPr/>
        </p:nvPicPr>
        <p:blipFill>
          <a:blip r:embed="rId2"/>
          <a:stretch>
            <a:fillRect/>
          </a:stretch>
        </p:blipFill>
        <p:spPr>
          <a:xfrm>
            <a:off x="548640" y="1961125"/>
            <a:ext cx="7269480" cy="3210069"/>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primary (default)</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Freshest data — the application reads its own writes.</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Preferred modes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primaryPreferred and secondaryPreferred prefer one side, then fall back.</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secondary, nearest</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Any eligible secondary, or the lowest-latency member — may be stale.</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NOT FREE SCALING   </a:t>
            </a:r>
            <a:r>
              <a:rPr sz="1200" b="0" i="0">
                <a:solidFill>
                  <a:srgbClr val="000000"/>
                </a:solidFill>
                <a:latin typeface="Nirmala UI"/>
              </a:rPr>
              <a:t>Secondary reads can lag and compete with replication.</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Read from the primary by default; read from secondaries only where stale data is acceptable.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WRITE CONCERN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How many members must have a write before you get an answer.</a:t>
            </a:r>
          </a:p>
        </p:txBody>
      </p:sp>
      <p:sp>
        <p:nvSpPr>
          <p:cNvPr id="4" name="Rounded Rectangle 3"/>
          <p:cNvSpPr/>
          <p:nvPr/>
        </p:nvSpPr>
        <p:spPr>
          <a:xfrm>
            <a:off x="475488" y="1771289"/>
            <a:ext cx="7415783" cy="358974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8" descr="image.jpg"/>
          <p:cNvPicPr>
            <a:picLocks noChangeAspect="1"/>
          </p:cNvPicPr>
          <p:nvPr/>
        </p:nvPicPr>
        <p:blipFill>
          <a:blip r:embed="rId2"/>
          <a:stretch>
            <a:fillRect/>
          </a:stretch>
        </p:blipFill>
        <p:spPr>
          <a:xfrm>
            <a:off x="548640" y="1844441"/>
            <a:ext cx="7269480" cy="3443437"/>
          </a:xfrm>
          <a:prstGeom prst="rect">
            <a:avLst/>
          </a:prstGeom>
        </p:spPr>
      </p:pic>
      <p:sp>
        <p:nvSpPr>
          <p:cNvPr id="6" name="Rounded Rectangle 5"/>
          <p:cNvSpPr/>
          <p:nvPr/>
        </p:nvSpPr>
        <p:spPr>
          <a:xfrm>
            <a:off x="8183880" y="1298448"/>
            <a:ext cx="3520440" cy="94488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 0</a:t>
            </a:r>
          </a:p>
        </p:txBody>
      </p:sp>
      <p:sp>
        <p:nvSpPr>
          <p:cNvPr id="8" name="TextBox 7"/>
          <p:cNvSpPr txBox="1"/>
          <p:nvPr/>
        </p:nvSpPr>
        <p:spPr>
          <a:xfrm>
            <a:off x="8321040" y="1664208"/>
            <a:ext cx="3246120" cy="524255"/>
          </a:xfrm>
          <a:prstGeom prst="rect">
            <a:avLst/>
          </a:prstGeom>
          <a:noFill/>
        </p:spPr>
        <p:txBody>
          <a:bodyPr wrap="square" anchor="t" lIns="0" rIns="0" tIns="0" bIns="0">
            <a:spAutoFit/>
          </a:bodyPr>
          <a:lstStyle/>
          <a:p>
            <a:pPr algn="l"/>
            <a:r>
              <a:rPr sz="1200" b="0" i="0">
                <a:solidFill>
                  <a:srgbClr val="000000"/>
                </a:solidFill>
                <a:latin typeface="Nirmala UI"/>
              </a:rPr>
              <a:t>No acknowledgment — errors go unseen.</a:t>
            </a:r>
          </a:p>
        </p:txBody>
      </p:sp>
      <p:sp>
        <p:nvSpPr>
          <p:cNvPr id="9" name="Rounded Rectangle 8"/>
          <p:cNvSpPr/>
          <p:nvPr/>
        </p:nvSpPr>
        <p:spPr>
          <a:xfrm>
            <a:off x="8183880" y="2371344"/>
            <a:ext cx="3520440" cy="113080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262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 1</a:t>
            </a:r>
          </a:p>
        </p:txBody>
      </p:sp>
      <p:sp>
        <p:nvSpPr>
          <p:cNvPr id="11" name="TextBox 10"/>
          <p:cNvSpPr txBox="1"/>
          <p:nvPr/>
        </p:nvSpPr>
        <p:spPr>
          <a:xfrm>
            <a:off x="8321040" y="2737104"/>
            <a:ext cx="3246120" cy="710184"/>
          </a:xfrm>
          <a:prstGeom prst="rect">
            <a:avLst/>
          </a:prstGeom>
          <a:noFill/>
        </p:spPr>
        <p:txBody>
          <a:bodyPr wrap="square" anchor="t" lIns="0" rIns="0" tIns="0" bIns="0">
            <a:spAutoFit/>
          </a:bodyPr>
          <a:lstStyle/>
          <a:p>
            <a:pPr algn="l"/>
            <a:r>
              <a:rPr sz="1200" b="0" i="0">
                <a:solidFill>
                  <a:srgbClr val="000000"/>
                </a:solidFill>
                <a:latin typeface="Nirmala UI"/>
              </a:rPr>
              <a:t>The primary has it — lost if the primary fails before replicating.</a:t>
            </a:r>
          </a:p>
        </p:txBody>
      </p:sp>
      <p:sp>
        <p:nvSpPr>
          <p:cNvPr id="12" name="Rounded Rectangle 11"/>
          <p:cNvSpPr/>
          <p:nvPr/>
        </p:nvSpPr>
        <p:spPr>
          <a:xfrm>
            <a:off x="8183880" y="3630168"/>
            <a:ext cx="3520440" cy="113080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850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 "majority"</a:t>
            </a:r>
          </a:p>
        </p:txBody>
      </p:sp>
      <p:sp>
        <p:nvSpPr>
          <p:cNvPr id="14" name="TextBox 13"/>
          <p:cNvSpPr txBox="1"/>
          <p:nvPr/>
        </p:nvSpPr>
        <p:spPr>
          <a:xfrm>
            <a:off x="8321040" y="3995928"/>
            <a:ext cx="3246120" cy="710183"/>
          </a:xfrm>
          <a:prstGeom prst="rect">
            <a:avLst/>
          </a:prstGeom>
          <a:noFill/>
        </p:spPr>
        <p:txBody>
          <a:bodyPr wrap="square" anchor="t" lIns="0" rIns="0" tIns="0" bIns="0">
            <a:spAutoFit/>
          </a:bodyPr>
          <a:lstStyle/>
          <a:p>
            <a:pPr algn="l"/>
            <a:r>
              <a:rPr sz="1200" b="0" i="0">
                <a:solidFill>
                  <a:srgbClr val="000000"/>
                </a:solidFill>
                <a:latin typeface="Nirmala UI"/>
              </a:rPr>
              <a:t>A majority has it — it survives a failover.</a:t>
            </a:r>
          </a:p>
        </p:txBody>
      </p:sp>
      <p:sp>
        <p:nvSpPr>
          <p:cNvPr id="15" name="Rounded Rectangle 14"/>
          <p:cNvSpPr/>
          <p:nvPr/>
        </p:nvSpPr>
        <p:spPr>
          <a:xfrm>
            <a:off x="8183880" y="4888992"/>
            <a:ext cx="3520440" cy="94488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94385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j: true</a:t>
            </a:r>
          </a:p>
        </p:txBody>
      </p:sp>
      <p:sp>
        <p:nvSpPr>
          <p:cNvPr id="17" name="TextBox 16"/>
          <p:cNvSpPr txBox="1"/>
          <p:nvPr/>
        </p:nvSpPr>
        <p:spPr>
          <a:xfrm>
            <a:off x="8321040" y="5254752"/>
            <a:ext cx="3246120" cy="524255"/>
          </a:xfrm>
          <a:prstGeom prst="rect">
            <a:avLst/>
          </a:prstGeom>
          <a:noFill/>
        </p:spPr>
        <p:txBody>
          <a:bodyPr wrap="square" anchor="t" lIns="0" rIns="0" tIns="0" bIns="0">
            <a:spAutoFit/>
          </a:bodyPr>
          <a:lstStyle/>
          <a:p>
            <a:pPr algn="l"/>
            <a:r>
              <a:rPr sz="1200" b="0" i="0">
                <a:solidFill>
                  <a:srgbClr val="000000"/>
                </a:solidFill>
                <a:latin typeface="Nirmala UI"/>
              </a:rPr>
              <a:t>Also wait for the on-disk journal.</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Stronger write concern costs some latency and buys durability — match it to the operation.</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READ CONCERN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Which data a read may return.</a:t>
            </a:r>
          </a:p>
        </p:txBody>
      </p:sp>
      <p:sp>
        <p:nvSpPr>
          <p:cNvPr id="4" name="Rounded Rectangle 3"/>
          <p:cNvSpPr/>
          <p:nvPr/>
        </p:nvSpPr>
        <p:spPr>
          <a:xfrm>
            <a:off x="475488" y="1751724"/>
            <a:ext cx="7415783" cy="362887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9" descr="image.jpg"/>
          <p:cNvPicPr>
            <a:picLocks noChangeAspect="1"/>
          </p:cNvPicPr>
          <p:nvPr/>
        </p:nvPicPr>
        <p:blipFill>
          <a:blip r:embed="rId2"/>
          <a:stretch>
            <a:fillRect/>
          </a:stretch>
        </p:blipFill>
        <p:spPr>
          <a:xfrm>
            <a:off x="548640" y="1824876"/>
            <a:ext cx="7269480" cy="3482567"/>
          </a:xfrm>
          <a:prstGeom prst="rect">
            <a:avLst/>
          </a:prstGeom>
        </p:spPr>
      </p:pic>
      <p:sp>
        <p:nvSpPr>
          <p:cNvPr id="6" name="Rounded Rectangle 5"/>
          <p:cNvSpPr/>
          <p:nvPr/>
        </p:nvSpPr>
        <p:spPr>
          <a:xfrm>
            <a:off x="8183880" y="1298448"/>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local (default)</a:t>
            </a:r>
          </a:p>
        </p:txBody>
      </p:sp>
      <p:sp>
        <p:nvSpPr>
          <p:cNvPr id="8" name="TextBox 7"/>
          <p:cNvSpPr txBox="1"/>
          <p:nvPr/>
        </p:nvSpPr>
        <p:spPr>
          <a:xfrm>
            <a:off x="8321040" y="1664208"/>
            <a:ext cx="3246120" cy="625601"/>
          </a:xfrm>
          <a:prstGeom prst="rect">
            <a:avLst/>
          </a:prstGeom>
          <a:noFill/>
        </p:spPr>
        <p:txBody>
          <a:bodyPr wrap="square" anchor="t" lIns="0" rIns="0" tIns="0" bIns="0">
            <a:spAutoFit/>
          </a:bodyPr>
          <a:lstStyle/>
          <a:p>
            <a:pPr algn="l"/>
            <a:r>
              <a:rPr sz="1200" b="0" i="0">
                <a:solidFill>
                  <a:srgbClr val="000000"/>
                </a:solidFill>
                <a:latin typeface="Nirmala UI"/>
              </a:rPr>
              <a:t>The member's newest data — it could still roll back.</a:t>
            </a:r>
          </a:p>
        </p:txBody>
      </p:sp>
      <p:sp>
        <p:nvSpPr>
          <p:cNvPr id="9" name="Rounded Rectangle 8"/>
          <p:cNvSpPr/>
          <p:nvPr/>
        </p:nvSpPr>
        <p:spPr>
          <a:xfrm>
            <a:off x="8183880" y="2472690"/>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275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majority</a:t>
            </a:r>
          </a:p>
        </p:txBody>
      </p:sp>
      <p:sp>
        <p:nvSpPr>
          <p:cNvPr id="11" name="TextBox 10"/>
          <p:cNvSpPr txBox="1"/>
          <p:nvPr/>
        </p:nvSpPr>
        <p:spPr>
          <a:xfrm>
            <a:off x="8321040" y="2838450"/>
            <a:ext cx="3246120" cy="625601"/>
          </a:xfrm>
          <a:prstGeom prst="rect">
            <a:avLst/>
          </a:prstGeom>
          <a:noFill/>
        </p:spPr>
        <p:txBody>
          <a:bodyPr wrap="square" anchor="t" lIns="0" rIns="0" tIns="0" bIns="0">
            <a:spAutoFit/>
          </a:bodyPr>
          <a:lstStyle/>
          <a:p>
            <a:pPr algn="l"/>
            <a:r>
              <a:rPr sz="1200" b="0" i="0">
                <a:solidFill>
                  <a:srgbClr val="000000"/>
                </a:solidFill>
                <a:latin typeface="Nirmala UI"/>
              </a:rPr>
              <a:t>Only data a majority has — it will not roll back.</a:t>
            </a:r>
          </a:p>
        </p:txBody>
      </p:sp>
      <p:sp>
        <p:nvSpPr>
          <p:cNvPr id="12" name="Rounded Rectangle 11"/>
          <p:cNvSpPr/>
          <p:nvPr/>
        </p:nvSpPr>
        <p:spPr>
          <a:xfrm>
            <a:off x="8183880" y="3646932"/>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0179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snapshot, linearizable</a:t>
            </a:r>
          </a:p>
        </p:txBody>
      </p:sp>
      <p:sp>
        <p:nvSpPr>
          <p:cNvPr id="14" name="TextBox 13"/>
          <p:cNvSpPr txBox="1"/>
          <p:nvPr/>
        </p:nvSpPr>
        <p:spPr>
          <a:xfrm>
            <a:off x="8321040" y="4012692"/>
            <a:ext cx="3246120" cy="625601"/>
          </a:xfrm>
          <a:prstGeom prst="rect">
            <a:avLst/>
          </a:prstGeom>
          <a:noFill/>
        </p:spPr>
        <p:txBody>
          <a:bodyPr wrap="square" anchor="t" lIns="0" rIns="0" tIns="0" bIns="0">
            <a:spAutoFit/>
          </a:bodyPr>
          <a:lstStyle/>
          <a:p>
            <a:pPr algn="l"/>
            <a:r>
              <a:rPr sz="1200" b="0" i="0">
                <a:solidFill>
                  <a:srgbClr val="000000"/>
                </a:solidFill>
                <a:latin typeface="Nirmala UI"/>
              </a:rPr>
              <a:t>Transactions, and the strongest single-document reads.</a:t>
            </a:r>
          </a:p>
        </p:txBody>
      </p:sp>
      <p:sp>
        <p:nvSpPr>
          <p:cNvPr id="15" name="Rounded Rectangle 14"/>
          <p:cNvSpPr/>
          <p:nvPr/>
        </p:nvSpPr>
        <p:spPr>
          <a:xfrm>
            <a:off x="8183880" y="4821174"/>
            <a:ext cx="3520440" cy="1012697"/>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821174"/>
            <a:ext cx="3154680" cy="1012697"/>
          </a:xfrm>
          <a:prstGeom prst="rect">
            <a:avLst/>
          </a:prstGeom>
          <a:noFill/>
        </p:spPr>
        <p:txBody>
          <a:bodyPr wrap="square" anchor="ctr" lIns="0" rIns="0" tIns="0" bIns="0">
            <a:spAutoFit/>
          </a:bodyPr>
          <a:lstStyle/>
          <a:p>
            <a:pPr algn="l"/>
            <a:r>
              <a:rPr sz="1200" b="1" i="0">
                <a:solidFill>
                  <a:srgbClr val="D1282E"/>
                </a:solidFill>
                <a:latin typeface="Nirmala UI"/>
              </a:rPr>
              <a:t>DIFFERENT QUESTION   </a:t>
            </a:r>
            <a:r>
              <a:rPr sz="1200" b="0" i="0">
                <a:solidFill>
                  <a:srgbClr val="000000"/>
                </a:solidFill>
                <a:latin typeface="Nirmala UI"/>
              </a:rPr>
              <a:t>Read preference picks the member; read concern the guarantee.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Read preference chooses where a read runs; read concern chooses what it may return.</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THREE SETTINGS ON TRAINING_STORE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Write concern, read concern and read preference in mongosh.</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Write concern: confirm a payment</a:t>
            </a:r>
          </a:p>
        </p:txBody>
      </p:sp>
      <p:sp>
        <p:nvSpPr>
          <p:cNvPr id="5" name="Rounded Rectangle 4"/>
          <p:cNvSpPr/>
          <p:nvPr/>
        </p:nvSpPr>
        <p:spPr>
          <a:xfrm>
            <a:off x="457200" y="1627632"/>
            <a:ext cx="3596640" cy="22922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db.orders.updateOne(</a:t>
            </a:r>
          </a:p>
          <a:p>
            <a:pPr algn="l"/>
            <a:r>
              <a:rPr sz="1100" b="0" i="0">
                <a:solidFill>
                  <a:srgbClr val="000000"/>
                </a:solidFill>
                <a:latin typeface="Consolas"/>
              </a:rPr>
              <a:t>  { orderNumber: "O6401" },</a:t>
            </a:r>
          </a:p>
          <a:p>
            <a:pPr algn="l"/>
            <a:r>
              <a:rPr sz="1100" b="0" i="0">
                <a:solidFill>
                  <a:srgbClr val="000000"/>
                </a:solidFill>
                <a:latin typeface="Consolas"/>
              </a:rPr>
              <a:t>  { $set: { paymentStatus: "PAID" } },</a:t>
            </a:r>
          </a:p>
          <a:p>
            <a:pPr algn="l"/>
            <a:r>
              <a:rPr sz="1100" b="0" i="0">
                <a:solidFill>
                  <a:srgbClr val="000000"/>
                </a:solidFill>
                <a:latin typeface="Consolas"/>
              </a:rPr>
              <a:t>  { writeConcern: {</a:t>
            </a:r>
          </a:p>
          <a:p>
            <a:pPr algn="l"/>
            <a:r>
              <a:rPr sz="1100" b="0" i="0">
                <a:solidFill>
                  <a:srgbClr val="000000"/>
                </a:solidFill>
                <a:latin typeface="Consolas"/>
              </a:rPr>
              <a:t>      w: "majority",</a:t>
            </a:r>
          </a:p>
          <a:p>
            <a:pPr algn="l"/>
            <a:r>
              <a:rPr sz="1100" b="0" i="0">
                <a:solidFill>
                  <a:srgbClr val="000000"/>
                </a:solidFill>
                <a:latin typeface="Consolas"/>
              </a:rPr>
              <a:t>      wtimeout: 5000 } }</a:t>
            </a:r>
          </a:p>
          <a:p>
            <a:pPr algn="l"/>
            <a:r>
              <a:rPr sz="1100" b="0" i="0">
                <a:solidFill>
                  <a:srgbClr val="000000"/>
                </a:solidFill>
                <a:latin typeface="Consolas"/>
              </a:rPr>
              <a:t>)</a:t>
            </a:r>
          </a:p>
        </p:txBody>
      </p:sp>
      <p:sp>
        <p:nvSpPr>
          <p:cNvPr id="6" name="TextBox 5"/>
          <p:cNvSpPr txBox="1"/>
          <p:nvPr/>
        </p:nvSpPr>
        <p:spPr>
          <a:xfrm>
            <a:off x="428244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Read concern: committed data</a:t>
            </a:r>
          </a:p>
        </p:txBody>
      </p:sp>
      <p:sp>
        <p:nvSpPr>
          <p:cNvPr id="7" name="Rounded Rectangle 6"/>
          <p:cNvSpPr/>
          <p:nvPr/>
        </p:nvSpPr>
        <p:spPr>
          <a:xfrm>
            <a:off x="4282440" y="1627632"/>
            <a:ext cx="3596640" cy="22922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db.orders.find(</a:t>
            </a:r>
          </a:p>
          <a:p>
            <a:pPr algn="l"/>
            <a:r>
              <a:rPr sz="1100" b="0" i="0">
                <a:solidFill>
                  <a:srgbClr val="000000"/>
                </a:solidFill>
                <a:latin typeface="Consolas"/>
              </a:rPr>
              <a:t>  { paymentStatus: "PAID" }</a:t>
            </a:r>
          </a:p>
          <a:p>
            <a:pPr algn="l"/>
            <a:r>
              <a:rPr sz="1100" b="0" i="0">
                <a:solidFill>
                  <a:srgbClr val="000000"/>
                </a:solidFill>
                <a:latin typeface="Consolas"/>
              </a:rPr>
              <a:t>).readConcern("majority")</a:t>
            </a:r>
          </a:p>
        </p:txBody>
      </p:sp>
      <p:sp>
        <p:nvSpPr>
          <p:cNvPr id="8" name="TextBox 7"/>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Read preference: a report</a:t>
            </a:r>
          </a:p>
        </p:txBody>
      </p:sp>
      <p:sp>
        <p:nvSpPr>
          <p:cNvPr id="9" name="Rounded Rectangle 8"/>
          <p:cNvSpPr/>
          <p:nvPr/>
        </p:nvSpPr>
        <p:spPr>
          <a:xfrm>
            <a:off x="8107680" y="1627632"/>
            <a:ext cx="3596640" cy="22922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db.getMongo()</a:t>
            </a:r>
          </a:p>
          <a:p>
            <a:pPr algn="l"/>
            <a:r>
              <a:rPr sz="1100" b="0" i="0">
                <a:solidFill>
                  <a:srgbClr val="000000"/>
                </a:solidFill>
                <a:latin typeface="Consolas"/>
              </a:rPr>
              <a:t>  .setReadPref(</a:t>
            </a:r>
          </a:p>
          <a:p>
            <a:pPr algn="l"/>
            <a:r>
              <a:rPr sz="1100" b="0" i="0">
                <a:solidFill>
                  <a:srgbClr val="000000"/>
                </a:solidFill>
                <a:latin typeface="Consolas"/>
              </a:rPr>
              <a:t>    "secondaryPreferred")</a:t>
            </a:r>
          </a:p>
          <a:p>
            <a:pPr algn="l"/>
            <a:r>
              <a:rPr sz="1100" b="0" i="0">
                <a:solidFill>
                  <a:srgbClr val="000000"/>
                </a:solidFill>
                <a:latin typeface="Consolas"/>
              </a:rPr>
              <a:t>db.orders.countDocuments(</a:t>
            </a:r>
          </a:p>
          <a:p>
            <a:pPr algn="l"/>
            <a:r>
              <a:rPr sz="1100" b="0" i="0">
                <a:solidFill>
                  <a:srgbClr val="000000"/>
                </a:solidFill>
                <a:latin typeface="Consolas"/>
              </a:rPr>
              <a:t>  { fulfillmentStatus:</a:t>
            </a:r>
          </a:p>
          <a:p>
            <a:pPr algn="l"/>
            <a:r>
              <a:rPr sz="1100" b="0" i="0">
                <a:solidFill>
                  <a:srgbClr val="000000"/>
                </a:solidFill>
                <a:latin typeface="Consolas"/>
              </a:rPr>
              <a:t>      "SHIPPED" })</a:t>
            </a:r>
          </a:p>
        </p:txBody>
      </p:sp>
      <p:sp>
        <p:nvSpPr>
          <p:cNvPr id="10" name="Rounded Rectangle 9"/>
          <p:cNvSpPr/>
          <p:nvPr/>
        </p:nvSpPr>
        <p:spPr>
          <a:xfrm>
            <a:off x="457200" y="41484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20331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Write concern</a:t>
            </a:r>
          </a:p>
        </p:txBody>
      </p:sp>
      <p:sp>
        <p:nvSpPr>
          <p:cNvPr id="12" name="TextBox 11"/>
          <p:cNvSpPr txBox="1"/>
          <p:nvPr/>
        </p:nvSpPr>
        <p:spPr>
          <a:xfrm>
            <a:off x="594360" y="45142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How many members confirm the write before the answer.</a:t>
            </a:r>
          </a:p>
        </p:txBody>
      </p:sp>
      <p:sp>
        <p:nvSpPr>
          <p:cNvPr id="13" name="Rounded Rectangle 12"/>
          <p:cNvSpPr/>
          <p:nvPr/>
        </p:nvSpPr>
        <p:spPr>
          <a:xfrm>
            <a:off x="4267200" y="41484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20331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Read concern</a:t>
            </a:r>
          </a:p>
        </p:txBody>
      </p:sp>
      <p:sp>
        <p:nvSpPr>
          <p:cNvPr id="15" name="TextBox 14"/>
          <p:cNvSpPr txBox="1"/>
          <p:nvPr/>
        </p:nvSpPr>
        <p:spPr>
          <a:xfrm>
            <a:off x="4404360" y="45142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Local data, or only majority-committed data.</a:t>
            </a:r>
          </a:p>
        </p:txBody>
      </p:sp>
      <p:sp>
        <p:nvSpPr>
          <p:cNvPr id="16" name="Rounded Rectangle 15"/>
          <p:cNvSpPr/>
          <p:nvPr/>
        </p:nvSpPr>
        <p:spPr>
          <a:xfrm>
            <a:off x="8077200" y="41484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14360" y="420331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Read preference</a:t>
            </a:r>
          </a:p>
        </p:txBody>
      </p:sp>
      <p:sp>
        <p:nvSpPr>
          <p:cNvPr id="18" name="TextBox 17"/>
          <p:cNvSpPr txBox="1"/>
          <p:nvPr/>
        </p:nvSpPr>
        <p:spPr>
          <a:xfrm>
            <a:off x="8214360" y="45142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Which member serves it — this report may lag.</a:t>
            </a:r>
          </a:p>
        </p:txBody>
      </p:sp>
      <p:sp>
        <p:nvSpPr>
          <p:cNvPr id="19" name="Rounded Rectangle 1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Three different settings: who confirms a write, what a read returns, and where it runs.</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REPLICATION LAG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lagging secondary returns stale data.</a:t>
            </a:r>
          </a:p>
        </p:txBody>
      </p:sp>
      <p:sp>
        <p:nvSpPr>
          <p:cNvPr id="4" name="Rounded Rectangle 3"/>
          <p:cNvSpPr/>
          <p:nvPr/>
        </p:nvSpPr>
        <p:spPr>
          <a:xfrm>
            <a:off x="475488" y="1907177"/>
            <a:ext cx="7415783" cy="331796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1" descr="image.jpg"/>
          <p:cNvPicPr>
            <a:picLocks noChangeAspect="1"/>
          </p:cNvPicPr>
          <p:nvPr/>
        </p:nvPicPr>
        <p:blipFill>
          <a:blip r:embed="rId2"/>
          <a:stretch>
            <a:fillRect/>
          </a:stretch>
        </p:blipFill>
        <p:spPr>
          <a:xfrm>
            <a:off x="548640" y="1980329"/>
            <a:ext cx="7269480" cy="3171660"/>
          </a:xfrm>
          <a:prstGeom prst="rect">
            <a:avLst/>
          </a:prstGeom>
        </p:spPr>
      </p:pic>
      <p:sp>
        <p:nvSpPr>
          <p:cNvPr id="6" name="Rounded Rectangle 5"/>
          <p:cNvSpPr/>
          <p:nvPr/>
        </p:nvSpPr>
        <p:spPr>
          <a:xfrm>
            <a:off x="8183880" y="129844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What it is</a:t>
            </a:r>
          </a:p>
        </p:txBody>
      </p:sp>
      <p:sp>
        <p:nvSpPr>
          <p:cNvPr id="8" name="TextBox 7"/>
          <p:cNvSpPr txBox="1"/>
          <p:nvPr/>
        </p:nvSpPr>
        <p:spPr>
          <a:xfrm>
            <a:off x="8321040" y="1664208"/>
            <a:ext cx="3246120" cy="617219"/>
          </a:xfrm>
          <a:prstGeom prst="rect">
            <a:avLst/>
          </a:prstGeom>
          <a:noFill/>
        </p:spPr>
        <p:txBody>
          <a:bodyPr wrap="square" anchor="t" lIns="0" rIns="0" tIns="0" bIns="0">
            <a:spAutoFit/>
          </a:bodyPr>
          <a:lstStyle/>
          <a:p>
            <a:pPr algn="l"/>
            <a:r>
              <a:rPr sz="1200" b="0" i="0">
                <a:solidFill>
                  <a:srgbClr val="000000"/>
                </a:solidFill>
                <a:latin typeface="Nirmala UI"/>
              </a:rPr>
              <a:t>How far a secondary's applied oplog trails the primary — 5 s here.</a:t>
            </a:r>
          </a:p>
        </p:txBody>
      </p:sp>
      <p:sp>
        <p:nvSpPr>
          <p:cNvPr id="9" name="Rounded Rectangle 8"/>
          <p:cNvSpPr/>
          <p:nvPr/>
        </p:nvSpPr>
        <p:spPr>
          <a:xfrm>
            <a:off x="8183880" y="246430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191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Stale read</a:t>
            </a:r>
          </a:p>
        </p:txBody>
      </p:sp>
      <p:sp>
        <p:nvSpPr>
          <p:cNvPr id="11" name="TextBox 10"/>
          <p:cNvSpPr txBox="1"/>
          <p:nvPr/>
        </p:nvSpPr>
        <p:spPr>
          <a:xfrm>
            <a:off x="8321040" y="2830068"/>
            <a:ext cx="3246120" cy="617219"/>
          </a:xfrm>
          <a:prstGeom prst="rect">
            <a:avLst/>
          </a:prstGeom>
          <a:noFill/>
        </p:spPr>
        <p:txBody>
          <a:bodyPr wrap="square" anchor="t" lIns="0" rIns="0" tIns="0" bIns="0">
            <a:spAutoFit/>
          </a:bodyPr>
          <a:lstStyle/>
          <a:p>
            <a:pPr algn="l"/>
            <a:r>
              <a:rPr sz="1200" b="0" i="0">
                <a:solidFill>
                  <a:srgbClr val="000000"/>
                </a:solidFill>
                <a:latin typeface="Nirmala UI"/>
              </a:rPr>
              <a:t>The secondary still says confirmed; the primary says shipped.</a:t>
            </a:r>
          </a:p>
        </p:txBody>
      </p:sp>
      <p:sp>
        <p:nvSpPr>
          <p:cNvPr id="12" name="Rounded Rectangle 11"/>
          <p:cNvSpPr/>
          <p:nvPr/>
        </p:nvSpPr>
        <p:spPr>
          <a:xfrm>
            <a:off x="8183880" y="363016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850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Common causes</a:t>
            </a:r>
          </a:p>
        </p:txBody>
      </p:sp>
      <p:sp>
        <p:nvSpPr>
          <p:cNvPr id="14" name="TextBox 13"/>
          <p:cNvSpPr txBox="1"/>
          <p:nvPr/>
        </p:nvSpPr>
        <p:spPr>
          <a:xfrm>
            <a:off x="8321040" y="3995928"/>
            <a:ext cx="3246120" cy="617220"/>
          </a:xfrm>
          <a:prstGeom prst="rect">
            <a:avLst/>
          </a:prstGeom>
          <a:noFill/>
        </p:spPr>
        <p:txBody>
          <a:bodyPr wrap="square" anchor="t" lIns="0" rIns="0" tIns="0" bIns="0">
            <a:spAutoFit/>
          </a:bodyPr>
          <a:lstStyle/>
          <a:p>
            <a:pPr algn="l"/>
            <a:r>
              <a:rPr sz="1200" b="0" i="0">
                <a:solidFill>
                  <a:srgbClr val="000000"/>
                </a:solidFill>
                <a:latin typeface="Nirmala UI"/>
              </a:rPr>
              <a:t>Slow disk, busy secondary, slow network, write bursts, long operations.</a:t>
            </a:r>
          </a:p>
        </p:txBody>
      </p:sp>
      <p:sp>
        <p:nvSpPr>
          <p:cNvPr id="15" name="Rounded Rectangle 14"/>
          <p:cNvSpPr/>
          <p:nvPr/>
        </p:nvSpPr>
        <p:spPr>
          <a:xfrm>
            <a:off x="8183880" y="479602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5089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First checks</a:t>
            </a:r>
          </a:p>
        </p:txBody>
      </p:sp>
      <p:sp>
        <p:nvSpPr>
          <p:cNvPr id="17" name="TextBox 16"/>
          <p:cNvSpPr txBox="1"/>
          <p:nvPr/>
        </p:nvSpPr>
        <p:spPr>
          <a:xfrm>
            <a:off x="8321040" y="5161788"/>
            <a:ext cx="3246120" cy="617219"/>
          </a:xfrm>
          <a:prstGeom prst="rect">
            <a:avLst/>
          </a:prstGeom>
          <a:noFill/>
        </p:spPr>
        <p:txBody>
          <a:bodyPr wrap="square" anchor="t" lIns="0" rIns="0" tIns="0" bIns="0">
            <a:spAutoFit/>
          </a:bodyPr>
          <a:lstStyle/>
          <a:p>
            <a:pPr algn="l"/>
            <a:r>
              <a:rPr sz="1200" b="0" i="0">
                <a:solidFill>
                  <a:srgbClr val="000000"/>
                </a:solidFill>
                <a:latin typeface="Nirmala UI"/>
              </a:rPr>
              <a:t>Member optimes and lag — then the secondary's CPU and disk.</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Small lag is normal; growing lag means stale reads and slower failover — measure it.</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ROLLBACK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write the majority never saw is undone.</a:t>
            </a:r>
          </a:p>
        </p:txBody>
      </p:sp>
      <p:sp>
        <p:nvSpPr>
          <p:cNvPr id="4" name="Rounded Rectangle 3"/>
          <p:cNvSpPr/>
          <p:nvPr/>
        </p:nvSpPr>
        <p:spPr>
          <a:xfrm>
            <a:off x="475488" y="1665743"/>
            <a:ext cx="7415783" cy="380083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3" descr="image.jpg"/>
          <p:cNvPicPr>
            <a:picLocks noChangeAspect="1"/>
          </p:cNvPicPr>
          <p:nvPr/>
        </p:nvPicPr>
        <p:blipFill>
          <a:blip r:embed="rId2"/>
          <a:stretch>
            <a:fillRect/>
          </a:stretch>
        </p:blipFill>
        <p:spPr>
          <a:xfrm>
            <a:off x="548640" y="1738895"/>
            <a:ext cx="7269480" cy="3654529"/>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Unreplicated write</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old primary accepted shipped with w: 1, then lost its network.</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majority moves on</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other two members elect a primary that never saw it.</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Rollback</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old primary rejoins, undoes the write and saves it to a rollback file.</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PREVENTION   </a:t>
            </a:r>
            <a:r>
              <a:rPr sz="1200" b="0" i="0">
                <a:solidFill>
                  <a:srgbClr val="000000"/>
                </a:solidFill>
                <a:latin typeface="Nirmala UI"/>
              </a:rPr>
              <a:t>w: "majority" writes are not rolled back.</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Only majority-acknowledged writes survive a failover — use them for anything that matters.</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WHAT DID THE CUSTOMER SEE?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Replay a failover during Luis Romero's payment.</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307416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977391"/>
          </a:xfrm>
          <a:prstGeom prst="rect">
            <a:avLst/>
          </a:prstGeom>
          <a:noFill/>
        </p:spPr>
        <p:txBody>
          <a:bodyPr wrap="square" anchor="t" lIns="0" rIns="0" tIns="0" bIns="0">
            <a:spAutoFit/>
          </a:bodyPr>
          <a:lstStyle/>
          <a:p>
            <a:pPr algn="l"/>
            <a:r>
              <a:rPr sz="1400" b="0" i="0">
                <a:solidFill>
                  <a:srgbClr val="000000"/>
                </a:solidFill>
                <a:latin typeface="Nirmala UI"/>
              </a:rPr>
              <a:t>O6401 is PENDING. The payment service sets paymentStatus to PAID with w: 1. The status page reads with secondaryPreferred.</a:t>
            </a:r>
          </a:p>
        </p:txBody>
      </p:sp>
      <p:sp>
        <p:nvSpPr>
          <p:cNvPr id="10" name="Rounded Rectangle 9"/>
          <p:cNvSpPr/>
          <p:nvPr/>
        </p:nvSpPr>
        <p:spPr>
          <a:xfrm>
            <a:off x="566928" y="3446272"/>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10:00:00  PAID written on primary</a:t>
            </a:r>
          </a:p>
          <a:p>
            <a:pPr algn="l"/>
            <a:r>
              <a:rPr sz="1100" b="0" i="0">
                <a:solidFill>
                  <a:srgbClr val="000000"/>
                </a:solidFill>
                <a:latin typeface="Consolas"/>
              </a:rPr>
              <a:t>10:00:00  acknowledged (w: 1)</a:t>
            </a:r>
          </a:p>
          <a:p>
            <a:pPr algn="l"/>
            <a:r>
              <a:rPr sz="1100" b="0" i="0">
                <a:solidFill>
                  <a:srgbClr val="000000"/>
                </a:solidFill>
                <a:latin typeface="Consolas"/>
              </a:rPr>
              <a:t>10:00:01  primary partitioned</a:t>
            </a:r>
          </a:p>
          <a:p>
            <a:pPr algn="l"/>
            <a:r>
              <a:rPr sz="1100" b="0" i="0">
                <a:solidFill>
                  <a:srgbClr val="000000"/>
                </a:solidFill>
                <a:latin typeface="Consolas"/>
              </a:rPr>
              <a:t>10:00:12  secondary elected</a:t>
            </a:r>
          </a:p>
          <a:p>
            <a:pPr algn="l"/>
            <a:r>
              <a:rPr sz="1100" b="0" i="0">
                <a:solidFill>
                  <a:srgbClr val="000000"/>
                </a:solidFill>
                <a:latin typeface="Consolas"/>
              </a:rPr>
              <a:t>10:00:30  old primary rejoins</a:t>
            </a:r>
          </a:p>
        </p:txBody>
      </p:sp>
      <p:sp>
        <p:nvSpPr>
          <p:cNvPr id="11" name="Rounded Rectangle 10"/>
          <p:cNvSpPr/>
          <p:nvPr/>
        </p:nvSpPr>
        <p:spPr>
          <a:xfrm>
            <a:off x="4526280" y="1865376"/>
            <a:ext cx="3886200" cy="307416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State paymentStatus on the new primary</a:t>
            </a:r>
          </a:p>
        </p:txBody>
      </p:sp>
      <p:sp>
        <p:nvSpPr>
          <p:cNvPr id="16" name="Oval 15"/>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what happens to the PAID write</a:t>
            </a:r>
          </a:p>
        </p:txBody>
      </p:sp>
      <p:sp>
        <p:nvSpPr>
          <p:cNvPr id="18" name="Oval 17"/>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what the status page showed</a:t>
            </a:r>
          </a:p>
        </p:txBody>
      </p:sp>
      <p:sp>
        <p:nvSpPr>
          <p:cNvPr id="20" name="Oval 19"/>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Pick the settings you would change</a:t>
            </a:r>
          </a:p>
        </p:txBody>
      </p:sp>
      <p:sp>
        <p:nvSpPr>
          <p:cNvPr id="22" name="Rounded Rectangle 21"/>
          <p:cNvSpPr/>
          <p:nvPr/>
        </p:nvSpPr>
        <p:spPr>
          <a:xfrm>
            <a:off x="8641080" y="1865376"/>
            <a:ext cx="3063240" cy="307416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PENDING — it never got PAID</a:t>
            </a:r>
          </a:p>
        </p:txBody>
      </p:sp>
      <p:sp>
        <p:nvSpPr>
          <p:cNvPr id="27" name="Oval 26"/>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816352"/>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Rolled back, saved to a file</a:t>
            </a:r>
          </a:p>
        </p:txBody>
      </p:sp>
      <p:sp>
        <p:nvSpPr>
          <p:cNvPr id="29" name="Oval 28"/>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3655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PENDING: stale, then wrong</a:t>
            </a:r>
          </a:p>
        </p:txBody>
      </p:sp>
      <p:sp>
        <p:nvSpPr>
          <p:cNvPr id="31" name="Oval 30"/>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3786124"/>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Payment: w: "majority"</a:t>
            </a:r>
          </a:p>
        </p:txBody>
      </p:sp>
      <p:sp>
        <p:nvSpPr>
          <p:cNvPr id="33" name="Oval 32"/>
          <p:cNvSpPr/>
          <p:nvPr/>
        </p:nvSpPr>
        <p:spPr>
          <a:xfrm>
            <a:off x="8778240" y="42616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4" name="TextBox 33"/>
          <p:cNvSpPr txBox="1"/>
          <p:nvPr/>
        </p:nvSpPr>
        <p:spPr>
          <a:xfrm>
            <a:off x="9116567" y="420674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Status page: primary reads</a:t>
            </a:r>
          </a:p>
        </p:txBody>
      </p:sp>
      <p:sp>
        <p:nvSpPr>
          <p:cNvPr id="35" name="Rounded Rectangle 3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 1 can lose an acknowledged write; majority writes plus primary reads keep the customer's view true.</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4: SHARDED CLUSTERS AND SHARD KEYS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Split orders across servers — and choose the key that splits them.</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Availability and scale</a:t>
            </a:r>
          </a:p>
        </p:txBody>
      </p:sp>
      <p:sp>
        <p:nvSpPr>
          <p:cNvPr id="6" name="Chevron 5"/>
          <p:cNvSpPr/>
          <p:nvPr/>
        </p:nvSpPr>
        <p:spPr>
          <a:xfrm>
            <a:off x="267114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Replica sets</a:t>
            </a:r>
          </a:p>
        </p:txBody>
      </p:sp>
      <p:sp>
        <p:nvSpPr>
          <p:cNvPr id="8" name="Chevron 7"/>
          <p:cNvSpPr/>
          <p:nvPr/>
        </p:nvSpPr>
        <p:spPr>
          <a:xfrm>
            <a:off x="4885090"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Guarantees and lag</a:t>
            </a:r>
          </a:p>
        </p:txBody>
      </p:sp>
      <p:sp>
        <p:nvSpPr>
          <p:cNvPr id="10" name="Chevron 9"/>
          <p:cNvSpPr/>
          <p:nvPr/>
        </p:nvSpPr>
        <p:spPr>
          <a:xfrm>
            <a:off x="7099035"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Shard keys</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Routing and design</a:t>
            </a:r>
          </a:p>
        </p:txBody>
      </p:sp>
      <p:sp>
        <p:nvSpPr>
          <p:cNvPr id="14" name="Rounded Rectangle 13"/>
          <p:cNvSpPr/>
          <p:nvPr/>
        </p:nvSpPr>
        <p:spPr>
          <a:xfrm>
            <a:off x="457200" y="2304288"/>
            <a:ext cx="4937760" cy="240334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Replica sets survive a server failure</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Settings trade freshness for load and latency</a:t>
            </a:r>
          </a:p>
        </p:txBody>
      </p:sp>
      <p:sp>
        <p:nvSpPr>
          <p:cNvPr id="21" name="Oval 20"/>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40035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Majority writes survive failover</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is a collection split across shards — and which field should split it?</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Sharded-cluster components</a:t>
            </a:r>
          </a:p>
        </p:txBody>
      </p:sp>
      <p:sp>
        <p:nvSpPr>
          <p:cNvPr id="29" name="Oval 28"/>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Shards as replica sets</a:t>
            </a:r>
          </a:p>
        </p:txBody>
      </p:sp>
      <p:sp>
        <p:nvSpPr>
          <p:cNvPr id="31" name="Oval 30"/>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Cardinality and frequency</a:t>
            </a:r>
          </a:p>
        </p:txBody>
      </p:sp>
      <p:sp>
        <p:nvSpPr>
          <p:cNvPr id="33" name="Oval 32"/>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Monotonic keys</a:t>
            </a:r>
          </a:p>
        </p:txBody>
      </p:sp>
      <p:sp>
        <p:nvSpPr>
          <p:cNvPr id="35" name="Oval 34"/>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6" name="TextBox 35"/>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Ranged sharding</a:t>
            </a:r>
          </a:p>
        </p:txBody>
      </p:sp>
      <p:sp>
        <p:nvSpPr>
          <p:cNvPr id="37" name="Oval 36"/>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8" name="TextBox 37"/>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Hashed and zoned sharding</a:t>
            </a:r>
          </a:p>
        </p:txBody>
      </p:sp>
      <p:sp>
        <p:nvSpPr>
          <p:cNvPr id="39" name="Oval 38"/>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0" name="TextBox 39"/>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Candidate keys for orders</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SHARDED-CLUSTER COMPONENTS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mongos routers, a config server replica set and replica-set shards.</a:t>
            </a:r>
          </a:p>
        </p:txBody>
      </p:sp>
      <p:sp>
        <p:nvSpPr>
          <p:cNvPr id="4" name="Rounded Rectangle 3"/>
          <p:cNvSpPr/>
          <p:nvPr/>
        </p:nvSpPr>
        <p:spPr>
          <a:xfrm>
            <a:off x="475488" y="1512610"/>
            <a:ext cx="7415783" cy="410709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9" descr="image.jpg"/>
          <p:cNvPicPr>
            <a:picLocks noChangeAspect="1"/>
          </p:cNvPicPr>
          <p:nvPr/>
        </p:nvPicPr>
        <p:blipFill>
          <a:blip r:embed="rId2"/>
          <a:stretch>
            <a:fillRect/>
          </a:stretch>
        </p:blipFill>
        <p:spPr>
          <a:xfrm>
            <a:off x="548640" y="1585762"/>
            <a:ext cx="7269480" cy="3960794"/>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mongos</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router applications connect to; it stores no collection data.</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Config server replica set</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Holds the metadata: which ranges live on which shard.</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Shards</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Each is a replica set holding part of the sharded data.</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ONLY SHARDED COLLECTIONS SPLIT   </a:t>
            </a:r>
            <a:r>
              <a:rPr sz="1200" b="0" i="0">
                <a:solidFill>
                  <a:srgbClr val="000000"/>
                </a:solidFill>
                <a:latin typeface="Nirmala UI"/>
              </a:rPr>
              <a:t>The rest stay on one shard.</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Applications talk to mongos; config servers hold the map; shards hold the data.</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SHARDS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Each shard is a replica set holding part of the collection.</a:t>
            </a:r>
          </a:p>
        </p:txBody>
      </p:sp>
      <p:sp>
        <p:nvSpPr>
          <p:cNvPr id="4" name="Rounded Rectangle 3"/>
          <p:cNvSpPr/>
          <p:nvPr/>
        </p:nvSpPr>
        <p:spPr>
          <a:xfrm>
            <a:off x="475488" y="1490857"/>
            <a:ext cx="7415783" cy="415060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0" descr="image.jpg"/>
          <p:cNvPicPr>
            <a:picLocks noChangeAspect="1"/>
          </p:cNvPicPr>
          <p:nvPr/>
        </p:nvPicPr>
        <p:blipFill>
          <a:blip r:embed="rId2"/>
          <a:stretch>
            <a:fillRect/>
          </a:stretch>
        </p:blipFill>
        <p:spPr>
          <a:xfrm>
            <a:off x="548640" y="1564009"/>
            <a:ext cx="7269480" cy="4004300"/>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Part of the collection</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Each shard owns its own ranges of orders — here by customerId.</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 replica set per shard</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A primary and two secondaries, with its own elections.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Illustrative labels</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A–H, I–P, Q–Z stand in for ranges; our customerId is an ObjectId.</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NEVER A SINGLE MONGOD   </a:t>
            </a:r>
            <a:r>
              <a:rPr sz="1200" b="0" i="0">
                <a:solidFill>
                  <a:srgbClr val="000000"/>
                </a:solidFill>
                <a:latin typeface="Nirmala UI"/>
              </a:rPr>
              <a:t>An unreplicated shard is a single point of failure.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Sharding distributes the data between shards; replication keeps each shard available.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CARDINALITY AND FREQUENCY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Many distinct values spread evenly; a few values create hotspots.</a:t>
            </a:r>
          </a:p>
        </p:txBody>
      </p:sp>
      <p:sp>
        <p:nvSpPr>
          <p:cNvPr id="4" name="Rounded Rectangle 3"/>
          <p:cNvSpPr/>
          <p:nvPr/>
        </p:nvSpPr>
        <p:spPr>
          <a:xfrm>
            <a:off x="475488" y="2051455"/>
            <a:ext cx="7415783" cy="302940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6" descr="image.jpg"/>
          <p:cNvPicPr>
            <a:picLocks noChangeAspect="1"/>
          </p:cNvPicPr>
          <p:nvPr/>
        </p:nvPicPr>
        <p:blipFill>
          <a:blip r:embed="rId2"/>
          <a:stretch>
            <a:fillRect/>
          </a:stretch>
        </p:blipFill>
        <p:spPr>
          <a:xfrm>
            <a:off x="548640" y="2124607"/>
            <a:ext cx="7269480" cy="2883104"/>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customerId: high</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Many distinct values — many split points, an even spread.</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status: low</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A handful of values — each one is a bucket that can't split.</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Frequency matters too</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One huge customer can still make one range hot.</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TRAINING_STORE   </a:t>
            </a:r>
            <a:r>
              <a:rPr sz="1200" b="0" i="0">
                <a:solidFill>
                  <a:srgbClr val="000000"/>
                </a:solidFill>
                <a:latin typeface="Nirmala UI"/>
              </a:rPr>
              <a:t>fulfillmentStatus has only four values.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Choose a shard key with many values that occur evenly — never a status field.</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MONOTONIC SHARD KEYS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Always-increasing values pile into the newest range.</a:t>
            </a:r>
          </a:p>
        </p:txBody>
      </p:sp>
      <p:sp>
        <p:nvSpPr>
          <p:cNvPr id="4" name="Rounded Rectangle 3"/>
          <p:cNvSpPr/>
          <p:nvPr/>
        </p:nvSpPr>
        <p:spPr>
          <a:xfrm>
            <a:off x="475488" y="1777463"/>
            <a:ext cx="7415783" cy="3577392"/>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8" descr="image.jpg"/>
          <p:cNvPicPr>
            <a:picLocks noChangeAspect="1"/>
          </p:cNvPicPr>
          <p:nvPr/>
        </p:nvPicPr>
        <p:blipFill>
          <a:blip r:embed="rId2"/>
          <a:stretch>
            <a:fillRect/>
          </a:stretch>
        </p:blipFill>
        <p:spPr>
          <a:xfrm>
            <a:off x="548640" y="1850615"/>
            <a:ext cx="7269480" cy="3431088"/>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Always increasing</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createdAt, sequential order numbers, ObjectId-based _id.</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Ranged key → hotspot</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Every new order lands in the top range, on one shard.</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Fixes</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Hash the value, or lead with a high-cardinality field such as customerId.</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DIAGRAM FIELD   </a:t>
            </a:r>
            <a:r>
              <a:rPr sz="1200" b="0" i="0">
                <a:solidFill>
                  <a:srgbClr val="000000"/>
                </a:solidFill>
                <a:latin typeface="Nirmala UI"/>
              </a:rPr>
              <a:t>orderDate stands for our createdAt.</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monotonic ranged key sends every new write to one shard — hash it or lead with another field.</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RANGED SHARDING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Sorted shard-key values cut into contiguous ranges.</a:t>
            </a:r>
          </a:p>
        </p:txBody>
      </p:sp>
      <p:sp>
        <p:nvSpPr>
          <p:cNvPr id="4" name="Rounded Rectangle 3"/>
          <p:cNvSpPr/>
          <p:nvPr/>
        </p:nvSpPr>
        <p:spPr>
          <a:xfrm>
            <a:off x="475488" y="1933080"/>
            <a:ext cx="7415783" cy="326615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0" descr="image.jpg"/>
          <p:cNvPicPr>
            <a:picLocks noChangeAspect="1"/>
          </p:cNvPicPr>
          <p:nvPr/>
        </p:nvPicPr>
        <p:blipFill>
          <a:blip r:embed="rId2"/>
          <a:stretch>
            <a:fillRect/>
          </a:stretch>
        </p:blipFill>
        <p:spPr>
          <a:xfrm>
            <a:off x="548640" y="2006232"/>
            <a:ext cx="7269480" cy="3119854"/>
          </a:xfrm>
          <a:prstGeom prst="rect">
            <a:avLst/>
          </a:prstGeom>
        </p:spPr>
      </p:pic>
      <p:sp>
        <p:nvSpPr>
          <p:cNvPr id="6" name="Rounded Rectangle 5"/>
          <p:cNvSpPr/>
          <p:nvPr/>
        </p:nvSpPr>
        <p:spPr>
          <a:xfrm>
            <a:off x="8183880" y="1298448"/>
            <a:ext cx="3520440" cy="11098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Contiguous ranges</a:t>
            </a:r>
          </a:p>
        </p:txBody>
      </p:sp>
      <p:sp>
        <p:nvSpPr>
          <p:cNvPr id="8" name="TextBox 7"/>
          <p:cNvSpPr txBox="1"/>
          <p:nvPr/>
        </p:nvSpPr>
        <p:spPr>
          <a:xfrm>
            <a:off x="8321040" y="1664208"/>
            <a:ext cx="3246120" cy="689271"/>
          </a:xfrm>
          <a:prstGeom prst="rect">
            <a:avLst/>
          </a:prstGeom>
          <a:noFill/>
        </p:spPr>
        <p:txBody>
          <a:bodyPr wrap="square" anchor="t" lIns="0" rIns="0" tIns="0" bIns="0">
            <a:spAutoFit/>
          </a:bodyPr>
          <a:lstStyle/>
          <a:p>
            <a:pPr algn="l"/>
            <a:r>
              <a:rPr sz="1200" b="0" i="0">
                <a:solidFill>
                  <a:srgbClr val="000000"/>
                </a:solidFill>
                <a:latin typeface="Nirmala UI"/>
              </a:rPr>
              <a:t>Sorted values are cut into ranges; each range lives on one shard.</a:t>
            </a:r>
          </a:p>
        </p:txBody>
      </p:sp>
      <p:sp>
        <p:nvSpPr>
          <p:cNvPr id="9" name="Rounded Rectangle 8"/>
          <p:cNvSpPr/>
          <p:nvPr/>
        </p:nvSpPr>
        <p:spPr>
          <a:xfrm>
            <a:off x="8183880" y="2536359"/>
            <a:ext cx="3520440" cy="11098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9122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Good for ranges</a:t>
            </a:r>
          </a:p>
        </p:txBody>
      </p:sp>
      <p:sp>
        <p:nvSpPr>
          <p:cNvPr id="11" name="TextBox 10"/>
          <p:cNvSpPr txBox="1"/>
          <p:nvPr/>
        </p:nvSpPr>
        <p:spPr>
          <a:xfrm>
            <a:off x="8321040" y="2902119"/>
            <a:ext cx="3246120" cy="689271"/>
          </a:xfrm>
          <a:prstGeom prst="rect">
            <a:avLst/>
          </a:prstGeom>
          <a:noFill/>
        </p:spPr>
        <p:txBody>
          <a:bodyPr wrap="square" anchor="t" lIns="0" rIns="0" tIns="0" bIns="0">
            <a:spAutoFit/>
          </a:bodyPr>
          <a:lstStyle/>
          <a:p>
            <a:pPr algn="l"/>
            <a:r>
              <a:rPr sz="1200" b="0" i="0">
                <a:solidFill>
                  <a:srgbClr val="000000"/>
                </a:solidFill>
                <a:latin typeface="Nirmala UI"/>
              </a:rPr>
              <a:t>One customer's orders, or a date span, stay on few shards.</a:t>
            </a:r>
          </a:p>
        </p:txBody>
      </p:sp>
      <p:sp>
        <p:nvSpPr>
          <p:cNvPr id="12" name="Rounded Rectangle 11"/>
          <p:cNvSpPr/>
          <p:nvPr/>
        </p:nvSpPr>
        <p:spPr>
          <a:xfrm>
            <a:off x="8183880" y="3774270"/>
            <a:ext cx="3520440" cy="11098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82913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Risk</a:t>
            </a:r>
          </a:p>
        </p:txBody>
      </p:sp>
      <p:sp>
        <p:nvSpPr>
          <p:cNvPr id="14" name="TextBox 13"/>
          <p:cNvSpPr txBox="1"/>
          <p:nvPr/>
        </p:nvSpPr>
        <p:spPr>
          <a:xfrm>
            <a:off x="8321040" y="4140030"/>
            <a:ext cx="3246120" cy="689271"/>
          </a:xfrm>
          <a:prstGeom prst="rect">
            <a:avLst/>
          </a:prstGeom>
          <a:noFill/>
        </p:spPr>
        <p:txBody>
          <a:bodyPr wrap="square" anchor="t" lIns="0" rIns="0" tIns="0" bIns="0">
            <a:spAutoFit/>
          </a:bodyPr>
          <a:lstStyle/>
          <a:p>
            <a:pPr algn="l"/>
            <a:r>
              <a:rPr sz="1200" b="0" i="0">
                <a:solidFill>
                  <a:srgbClr val="000000"/>
                </a:solidFill>
                <a:latin typeface="Nirmala UI"/>
              </a:rPr>
              <a:t>A monotonic key sends all new writes to the last range.</a:t>
            </a:r>
          </a:p>
        </p:txBody>
      </p:sp>
      <p:sp>
        <p:nvSpPr>
          <p:cNvPr id="15" name="TextBox 14"/>
          <p:cNvSpPr txBox="1"/>
          <p:nvPr/>
        </p:nvSpPr>
        <p:spPr>
          <a:xfrm>
            <a:off x="8183880" y="501218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A ranged compound key</a:t>
            </a:r>
          </a:p>
        </p:txBody>
      </p:sp>
      <p:sp>
        <p:nvSpPr>
          <p:cNvPr id="16" name="Rounded Rectangle 15"/>
          <p:cNvSpPr/>
          <p:nvPr/>
        </p:nvSpPr>
        <p:spPr>
          <a:xfrm>
            <a:off x="8183880" y="5341366"/>
            <a:ext cx="3520440" cy="49250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customerId: 1, createdAt: 1 }</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Ranged sharding keeps neighbours together — great for range queries, risky for rising keys.</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HASHED SHARDING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Hash the value, then distribute the hash ranges.</a:t>
            </a:r>
          </a:p>
        </p:txBody>
      </p:sp>
      <p:sp>
        <p:nvSpPr>
          <p:cNvPr id="4" name="Rounded Rectangle 3"/>
          <p:cNvSpPr/>
          <p:nvPr/>
        </p:nvSpPr>
        <p:spPr>
          <a:xfrm>
            <a:off x="475488" y="1651725"/>
            <a:ext cx="7415783" cy="382886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1" descr="image.jpg"/>
          <p:cNvPicPr>
            <a:picLocks noChangeAspect="1"/>
          </p:cNvPicPr>
          <p:nvPr/>
        </p:nvPicPr>
        <p:blipFill>
          <a:blip r:embed="rId2"/>
          <a:stretch>
            <a:fillRect/>
          </a:stretch>
        </p:blipFill>
        <p:spPr>
          <a:xfrm>
            <a:off x="548640" y="1724877"/>
            <a:ext cx="7269480" cy="3682565"/>
          </a:xfrm>
          <a:prstGeom prst="rect">
            <a:avLst/>
          </a:prstGeom>
        </p:spPr>
      </p:pic>
      <p:sp>
        <p:nvSpPr>
          <p:cNvPr id="6" name="Rounded Rectangle 5"/>
          <p:cNvSpPr/>
          <p:nvPr/>
        </p:nvSpPr>
        <p:spPr>
          <a:xfrm>
            <a:off x="8183880" y="1298448"/>
            <a:ext cx="3520440" cy="11098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Hash first</a:t>
            </a:r>
          </a:p>
        </p:txBody>
      </p:sp>
      <p:sp>
        <p:nvSpPr>
          <p:cNvPr id="8" name="TextBox 7"/>
          <p:cNvSpPr txBox="1"/>
          <p:nvPr/>
        </p:nvSpPr>
        <p:spPr>
          <a:xfrm>
            <a:off x="8321040" y="1664208"/>
            <a:ext cx="3246120" cy="689271"/>
          </a:xfrm>
          <a:prstGeom prst="rect">
            <a:avLst/>
          </a:prstGeom>
          <a:noFill/>
        </p:spPr>
        <p:txBody>
          <a:bodyPr wrap="square" anchor="t" lIns="0" rIns="0" tIns="0" bIns="0">
            <a:spAutoFit/>
          </a:bodyPr>
          <a:lstStyle/>
          <a:p>
            <a:pPr algn="l"/>
            <a:r>
              <a:rPr sz="1200" b="0" i="0">
                <a:solidFill>
                  <a:srgbClr val="000000"/>
                </a:solidFill>
                <a:latin typeface="Nirmala UI"/>
              </a:rPr>
              <a:t>MongoDB hashes customerId and ranges the hash values.</a:t>
            </a:r>
          </a:p>
        </p:txBody>
      </p:sp>
      <p:sp>
        <p:nvSpPr>
          <p:cNvPr id="9" name="Rounded Rectangle 8"/>
          <p:cNvSpPr/>
          <p:nvPr/>
        </p:nvSpPr>
        <p:spPr>
          <a:xfrm>
            <a:off x="8183880" y="2536359"/>
            <a:ext cx="3520440" cy="11098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9122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Even spread</a:t>
            </a:r>
          </a:p>
        </p:txBody>
      </p:sp>
      <p:sp>
        <p:nvSpPr>
          <p:cNvPr id="11" name="TextBox 10"/>
          <p:cNvSpPr txBox="1"/>
          <p:nvPr/>
        </p:nvSpPr>
        <p:spPr>
          <a:xfrm>
            <a:off x="8321040" y="2902119"/>
            <a:ext cx="3246120" cy="689271"/>
          </a:xfrm>
          <a:prstGeom prst="rect">
            <a:avLst/>
          </a:prstGeom>
          <a:noFill/>
        </p:spPr>
        <p:txBody>
          <a:bodyPr wrap="square" anchor="t" lIns="0" rIns="0" tIns="0" bIns="0">
            <a:spAutoFit/>
          </a:bodyPr>
          <a:lstStyle/>
          <a:p>
            <a:pPr algn="l"/>
            <a:r>
              <a:rPr sz="1200" b="0" i="0">
                <a:solidFill>
                  <a:srgbClr val="000000"/>
                </a:solidFill>
                <a:latin typeface="Nirmala UI"/>
              </a:rPr>
              <a:t>Neighbours C101, C102 and C103 land on different shards.</a:t>
            </a:r>
          </a:p>
        </p:txBody>
      </p:sp>
      <p:sp>
        <p:nvSpPr>
          <p:cNvPr id="12" name="Rounded Rectangle 11"/>
          <p:cNvSpPr/>
          <p:nvPr/>
        </p:nvSpPr>
        <p:spPr>
          <a:xfrm>
            <a:off x="8183880" y="3774270"/>
            <a:ext cx="3520440" cy="11098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82913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Trade-off</a:t>
            </a:r>
          </a:p>
        </p:txBody>
      </p:sp>
      <p:sp>
        <p:nvSpPr>
          <p:cNvPr id="14" name="TextBox 13"/>
          <p:cNvSpPr txBox="1"/>
          <p:nvPr/>
        </p:nvSpPr>
        <p:spPr>
          <a:xfrm>
            <a:off x="8321040" y="4140030"/>
            <a:ext cx="3246120" cy="689271"/>
          </a:xfrm>
          <a:prstGeom prst="rect">
            <a:avLst/>
          </a:prstGeom>
          <a:noFill/>
        </p:spPr>
        <p:txBody>
          <a:bodyPr wrap="square" anchor="t" lIns="0" rIns="0" tIns="0" bIns="0">
            <a:spAutoFit/>
          </a:bodyPr>
          <a:lstStyle/>
          <a:p>
            <a:pPr algn="l"/>
            <a:r>
              <a:rPr sz="1200" b="0" i="0">
                <a:solidFill>
                  <a:srgbClr val="000000"/>
                </a:solidFill>
                <a:latin typeface="Nirmala UI"/>
              </a:rPr>
              <a:t>Equality finds stay targeted; range queries on the field scatter.</a:t>
            </a:r>
          </a:p>
        </p:txBody>
      </p:sp>
      <p:sp>
        <p:nvSpPr>
          <p:cNvPr id="15" name="TextBox 14"/>
          <p:cNvSpPr txBox="1"/>
          <p:nvPr/>
        </p:nvSpPr>
        <p:spPr>
          <a:xfrm>
            <a:off x="8183880" y="501218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A hashed key</a:t>
            </a:r>
          </a:p>
        </p:txBody>
      </p:sp>
      <p:sp>
        <p:nvSpPr>
          <p:cNvPr id="16" name="Rounded Rectangle 15"/>
          <p:cNvSpPr/>
          <p:nvPr/>
        </p:nvSpPr>
        <p:spPr>
          <a:xfrm>
            <a:off x="8183880" y="5341366"/>
            <a:ext cx="3520440" cy="49250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customerId: "hashed" }</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Hashed sharding spreads writes evenly — and gives up efficient range queries on that field.</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ZONED SHARDING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Zone ranges pin chosen data to chosen shards.</a:t>
            </a:r>
          </a:p>
        </p:txBody>
      </p:sp>
      <p:sp>
        <p:nvSpPr>
          <p:cNvPr id="4" name="Rounded Rectangle 3"/>
          <p:cNvSpPr/>
          <p:nvPr/>
        </p:nvSpPr>
        <p:spPr>
          <a:xfrm>
            <a:off x="475488" y="1773462"/>
            <a:ext cx="7415783" cy="358539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2" descr="image.jpg"/>
          <p:cNvPicPr>
            <a:picLocks noChangeAspect="1"/>
          </p:cNvPicPr>
          <p:nvPr/>
        </p:nvPicPr>
        <p:blipFill>
          <a:blip r:embed="rId2"/>
          <a:stretch>
            <a:fillRect/>
          </a:stretch>
        </p:blipFill>
        <p:spPr>
          <a:xfrm>
            <a:off x="548640" y="1846614"/>
            <a:ext cx="7269480" cy="3439090"/>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Pin ranges to shards</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Canadian orders stay on the Canada-zone shard.</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Why</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Data residency, and keeping data near its users.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Needs a key prefix</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We'd add a region field and lead the shard key with it.</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WATCH THE SKEW   </a:t>
            </a:r>
            <a:r>
              <a:rPr sz="1200" b="0" i="0">
                <a:solidFill>
                  <a:srgbClr val="000000"/>
                </a:solidFill>
                <a:latin typeface="Nirmala UI"/>
              </a:rPr>
              <a:t>A popular zone means hot shards.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Zones place data deliberately — for residency or locality — but can concentrate load.</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COMPARING CANDIDATE SHARD KEYS FOR ORDERS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Six candidates for training_store.orders — five on real fields, one what-if.</a:t>
            </a:r>
          </a:p>
        </p:txBody>
      </p:sp>
      <p:graphicFrame>
        <p:nvGraphicFramePr>
          <p:cNvPr id="4" name="Table 3"/>
          <p:cNvGraphicFramePr>
            <a:graphicFrameLocks noGrp="1"/>
          </p:cNvGraphicFramePr>
          <p:nvPr/>
        </p:nvGraphicFramePr>
        <p:xfrm>
          <a:off x="457200" y="1298448"/>
          <a:ext cx="7955280" cy="3840480"/>
        </p:xfrm>
        <a:graphic>
          <a:graphicData uri="http://schemas.openxmlformats.org/drawingml/2006/table">
            <a:tbl>
              <a:tblPr firstRow="1" bandRow="1">
                <a:tableStyleId>{5C22544A-7EE6-4342-B048-85BDC9FD1C3A}</a:tableStyleId>
              </a:tblPr>
              <a:tblGrid>
                <a:gridCol w="3017520"/>
                <a:gridCol w="2286000"/>
                <a:gridCol w="2651760"/>
              </a:tblGrid>
              <a:tr h="548640">
                <a:tc>
                  <a:txBody>
                    <a:bodyPr/>
                    <a:lstStyle/>
                    <a:p>
                      <a:r>
                        <a:rPr sz="1300" b="1" i="0">
                          <a:solidFill>
                            <a:srgbClr val="FFFFFF"/>
                          </a:solidFill>
                          <a:latin typeface="Nirmala UI"/>
                        </a:rPr>
                        <a:t>Candidate</a:t>
                      </a:r>
                    </a:p>
                  </a:txBody>
                  <a:tcPr anchor="ctr">
                    <a:solidFill>
                      <a:srgbClr val="182F5F"/>
                    </a:solidFill>
                  </a:tcPr>
                </a:tc>
                <a:tc>
                  <a:txBody>
                    <a:bodyPr/>
                    <a:lstStyle/>
                    <a:p>
                      <a:r>
                        <a:rPr sz="1300" b="1" i="0">
                          <a:solidFill>
                            <a:srgbClr val="FFFFFF"/>
                          </a:solidFill>
                          <a:latin typeface="Nirmala UI"/>
                        </a:rPr>
                        <a:t>Strength</a:t>
                      </a:r>
                    </a:p>
                  </a:txBody>
                  <a:tcPr anchor="ctr">
                    <a:solidFill>
                      <a:srgbClr val="182F5F"/>
                    </a:solidFill>
                  </a:tcPr>
                </a:tc>
                <a:tc>
                  <a:txBody>
                    <a:bodyPr/>
                    <a:lstStyle/>
                    <a:p>
                      <a:r>
                        <a:rPr sz="1300" b="1" i="0">
                          <a:solidFill>
                            <a:srgbClr val="FFFFFF"/>
                          </a:solidFill>
                          <a:latin typeface="Nirmala UI"/>
                        </a:rPr>
                        <a:t>Concern</a:t>
                      </a:r>
                    </a:p>
                  </a:txBody>
                  <a:tcPr anchor="ctr">
                    <a:solidFill>
                      <a:srgbClr val="182F5F"/>
                    </a:solidFill>
                  </a:tcPr>
                </a:tc>
              </a:tr>
              <a:tr h="548640">
                <a:tc>
                  <a:txBody>
                    <a:bodyPr/>
                    <a:lstStyle/>
                    <a:p>
                      <a:r>
                        <a:rPr sz="1300" b="1" i="0">
                          <a:solidFill>
                            <a:srgbClr val="000000"/>
                          </a:solidFill>
                          <a:latin typeface="Nirmala UI"/>
                        </a:rPr>
                        <a:t>{ fulfillmentStatus: 1 }</a:t>
                      </a:r>
                    </a:p>
                  </a:txBody>
                  <a:tcPr anchor="ctr">
                    <a:solidFill>
                      <a:srgbClr val="FFFFFF"/>
                    </a:solidFill>
                  </a:tcPr>
                </a:tc>
                <a:tc>
                  <a:txBody>
                    <a:bodyPr/>
                    <a:lstStyle/>
                    <a:p>
                      <a:r>
                        <a:rPr sz="1300" b="0" i="0">
                          <a:solidFill>
                            <a:srgbClr val="000000"/>
                          </a:solidFill>
                          <a:latin typeface="Nirmala UI"/>
                        </a:rPr>
                        <a:t>Status queries</a:t>
                      </a:r>
                    </a:p>
                  </a:txBody>
                  <a:tcPr anchor="ctr">
                    <a:solidFill>
                      <a:srgbClr val="FFFFFF"/>
                    </a:solidFill>
                  </a:tcPr>
                </a:tc>
                <a:tc>
                  <a:txBody>
                    <a:bodyPr/>
                    <a:lstStyle/>
                    <a:p>
                      <a:r>
                        <a:rPr sz="1300" b="0" i="0">
                          <a:solidFill>
                            <a:srgbClr val="000000"/>
                          </a:solidFill>
                          <a:latin typeface="Nirmala UI"/>
                        </a:rPr>
                        <a:t>4 values: low cardinality</a:t>
                      </a:r>
                    </a:p>
                  </a:txBody>
                  <a:tcPr anchor="ctr">
                    <a:solidFill>
                      <a:srgbClr val="FFFFFF"/>
                    </a:solidFill>
                  </a:tcPr>
                </a:tc>
              </a:tr>
              <a:tr h="548640">
                <a:tc>
                  <a:txBody>
                    <a:bodyPr/>
                    <a:lstStyle/>
                    <a:p>
                      <a:r>
                        <a:rPr sz="1300" b="1" i="0">
                          <a:solidFill>
                            <a:srgbClr val="000000"/>
                          </a:solidFill>
                          <a:latin typeface="Nirmala UI"/>
                        </a:rPr>
                        <a:t>{ createdAt: 1 }</a:t>
                      </a:r>
                    </a:p>
                  </a:txBody>
                  <a:tcPr anchor="ctr">
                    <a:solidFill>
                      <a:srgbClr val="F5F5F5"/>
                    </a:solidFill>
                  </a:tcPr>
                </a:tc>
                <a:tc>
                  <a:txBody>
                    <a:bodyPr/>
                    <a:lstStyle/>
                    <a:p>
                      <a:r>
                        <a:rPr sz="1300" b="0" i="0">
                          <a:solidFill>
                            <a:srgbClr val="000000"/>
                          </a:solidFill>
                          <a:latin typeface="Nirmala UI"/>
                        </a:rPr>
                        <a:t>Date-range queries</a:t>
                      </a:r>
                    </a:p>
                  </a:txBody>
                  <a:tcPr anchor="ctr">
                    <a:solidFill>
                      <a:srgbClr val="F5F5F5"/>
                    </a:solidFill>
                  </a:tcPr>
                </a:tc>
                <a:tc>
                  <a:txBody>
                    <a:bodyPr/>
                    <a:lstStyle/>
                    <a:p>
                      <a:r>
                        <a:rPr sz="1300" b="0" i="0">
                          <a:solidFill>
                            <a:srgbClr val="000000"/>
                          </a:solidFill>
                          <a:latin typeface="Nirmala UI"/>
                        </a:rPr>
                        <a:t>Monotonic: write hotspot</a:t>
                      </a:r>
                    </a:p>
                  </a:txBody>
                  <a:tcPr anchor="ctr">
                    <a:solidFill>
                      <a:srgbClr val="F5F5F5"/>
                    </a:solidFill>
                  </a:tcPr>
                </a:tc>
              </a:tr>
              <a:tr h="548640">
                <a:tc>
                  <a:txBody>
                    <a:bodyPr/>
                    <a:lstStyle/>
                    <a:p>
                      <a:r>
                        <a:rPr sz="1300" b="1" i="0">
                          <a:solidFill>
                            <a:srgbClr val="000000"/>
                          </a:solidFill>
                          <a:latin typeface="Nirmala UI"/>
                        </a:rPr>
                        <a:t>{ customerId: 1 }</a:t>
                      </a:r>
                    </a:p>
                  </a:txBody>
                  <a:tcPr anchor="ctr">
                    <a:solidFill>
                      <a:srgbClr val="FFFFFF"/>
                    </a:solidFill>
                  </a:tcPr>
                </a:tc>
                <a:tc>
                  <a:txBody>
                    <a:bodyPr/>
                    <a:lstStyle/>
                    <a:p>
                      <a:r>
                        <a:rPr sz="1300" b="0" i="0">
                          <a:solidFill>
                            <a:srgbClr val="000000"/>
                          </a:solidFill>
                          <a:latin typeface="Nirmala UI"/>
                        </a:rPr>
                        <a:t>Customer history</a:t>
                      </a:r>
                    </a:p>
                  </a:txBody>
                  <a:tcPr anchor="ctr">
                    <a:solidFill>
                      <a:srgbClr val="FFFFFF"/>
                    </a:solidFill>
                  </a:tcPr>
                </a:tc>
                <a:tc>
                  <a:txBody>
                    <a:bodyPr/>
                    <a:lstStyle/>
                    <a:p>
                      <a:r>
                        <a:rPr sz="1300" b="0" i="0">
                          <a:solidFill>
                            <a:srgbClr val="000000"/>
                          </a:solidFill>
                          <a:latin typeface="Nirmala UI"/>
                        </a:rPr>
                        <a:t>A huge customer concentrates</a:t>
                      </a:r>
                    </a:p>
                  </a:txBody>
                  <a:tcPr anchor="ctr">
                    <a:solidFill>
                      <a:srgbClr val="FFFFFF"/>
                    </a:solidFill>
                  </a:tcPr>
                </a:tc>
              </a:tr>
              <a:tr h="548640">
                <a:tc>
                  <a:txBody>
                    <a:bodyPr/>
                    <a:lstStyle/>
                    <a:p>
                      <a:r>
                        <a:rPr sz="1300" b="1" i="0">
                          <a:solidFill>
                            <a:srgbClr val="000000"/>
                          </a:solidFill>
                          <a:latin typeface="Nirmala UI"/>
                        </a:rPr>
                        <a:t>{ customerId: "hashed" }</a:t>
                      </a:r>
                    </a:p>
                  </a:txBody>
                  <a:tcPr anchor="ctr">
                    <a:solidFill>
                      <a:srgbClr val="F5F5F5"/>
                    </a:solidFill>
                  </a:tcPr>
                </a:tc>
                <a:tc>
                  <a:txBody>
                    <a:bodyPr/>
                    <a:lstStyle/>
                    <a:p>
                      <a:r>
                        <a:rPr sz="1300" b="0" i="0">
                          <a:solidFill>
                            <a:srgbClr val="000000"/>
                          </a:solidFill>
                          <a:latin typeface="Nirmala UI"/>
                        </a:rPr>
                        <a:t>Even write spread</a:t>
                      </a:r>
                    </a:p>
                  </a:txBody>
                  <a:tcPr anchor="ctr">
                    <a:solidFill>
                      <a:srgbClr val="F5F5F5"/>
                    </a:solidFill>
                  </a:tcPr>
                </a:tc>
                <a:tc>
                  <a:txBody>
                    <a:bodyPr/>
                    <a:lstStyle/>
                    <a:p>
                      <a:r>
                        <a:rPr sz="1300" b="0" i="0">
                          <a:solidFill>
                            <a:srgbClr val="000000"/>
                          </a:solidFill>
                          <a:latin typeface="Nirmala UI"/>
                        </a:rPr>
                        <a:t>Ranges scatter</a:t>
                      </a:r>
                    </a:p>
                  </a:txBody>
                  <a:tcPr anchor="ctr">
                    <a:solidFill>
                      <a:srgbClr val="F5F5F5"/>
                    </a:solidFill>
                  </a:tcPr>
                </a:tc>
              </a:tr>
              <a:tr h="548640">
                <a:tc>
                  <a:txBody>
                    <a:bodyPr/>
                    <a:lstStyle/>
                    <a:p>
                      <a:r>
                        <a:rPr sz="1300" b="1" i="0">
                          <a:solidFill>
                            <a:srgbClr val="000000"/>
                          </a:solidFill>
                          <a:latin typeface="Nirmala UI"/>
                        </a:rPr>
                        <a:t>{ customerId: 1,
  createdAt: 1 }</a:t>
                      </a:r>
                    </a:p>
                  </a:txBody>
                  <a:tcPr anchor="ctr">
                    <a:solidFill>
                      <a:srgbClr val="FFFFFF"/>
                    </a:solidFill>
                  </a:tcPr>
                </a:tc>
                <a:tc>
                  <a:txBody>
                    <a:bodyPr/>
                    <a:lstStyle/>
                    <a:p>
                      <a:r>
                        <a:rPr sz="1300" b="0" i="0">
                          <a:solidFill>
                            <a:srgbClr val="000000"/>
                          </a:solidFill>
                          <a:latin typeface="Nirmala UI"/>
                        </a:rPr>
                        <a:t>History + date range</a:t>
                      </a:r>
                    </a:p>
                  </a:txBody>
                  <a:tcPr anchor="ctr">
                    <a:solidFill>
                      <a:srgbClr val="FFFFFF"/>
                    </a:solidFill>
                  </a:tcPr>
                </a:tc>
                <a:tc>
                  <a:txBody>
                    <a:bodyPr/>
                    <a:lstStyle/>
                    <a:p>
                      <a:r>
                        <a:rPr sz="1300" b="0" i="0">
                          <a:solidFill>
                            <a:srgbClr val="000000"/>
                          </a:solidFill>
                          <a:latin typeface="Nirmala UI"/>
                        </a:rPr>
                        <a:t>Depends on customer skew</a:t>
                      </a:r>
                    </a:p>
                  </a:txBody>
                  <a:tcPr anchor="ctr">
                    <a:solidFill>
                      <a:srgbClr val="FFFFFF"/>
                    </a:solidFill>
                  </a:tcPr>
                </a:tc>
              </a:tr>
              <a:tr h="548640">
                <a:tc>
                  <a:txBody>
                    <a:bodyPr/>
                    <a:lstStyle/>
                    <a:p>
                      <a:r>
                        <a:rPr sz="1300" b="1" i="0">
                          <a:solidFill>
                            <a:srgbClr val="000000"/>
                          </a:solidFill>
                          <a:latin typeface="Nirmala UI"/>
                        </a:rPr>
                        <a:t>{ region: 1, customerId: 1 }</a:t>
                      </a:r>
                    </a:p>
                  </a:txBody>
                  <a:tcPr anchor="ctr">
                    <a:solidFill>
                      <a:srgbClr val="F5F5F5"/>
                    </a:solidFill>
                  </a:tcPr>
                </a:tc>
                <a:tc>
                  <a:txBody>
                    <a:bodyPr/>
                    <a:lstStyle/>
                    <a:p>
                      <a:r>
                        <a:rPr sz="1300" b="0" i="0">
                          <a:solidFill>
                            <a:srgbClr val="000000"/>
                          </a:solidFill>
                          <a:latin typeface="Nirmala UI"/>
                        </a:rPr>
                        <a:t>Regional placement</a:t>
                      </a:r>
                    </a:p>
                  </a:txBody>
                  <a:tcPr anchor="ctr">
                    <a:solidFill>
                      <a:srgbClr val="F5F5F5"/>
                    </a:solidFill>
                  </a:tcPr>
                </a:tc>
                <a:tc>
                  <a:txBody>
                    <a:bodyPr/>
                    <a:lstStyle/>
                    <a:p>
                      <a:r>
                        <a:rPr sz="1300" b="0" i="0">
                          <a:solidFill>
                            <a:srgbClr val="000000"/>
                          </a:solidFill>
                          <a:latin typeface="Nirmala UI"/>
                        </a:rPr>
                        <a:t>Needs a new region field</a:t>
                      </a:r>
                    </a:p>
                  </a:txBody>
                  <a:tcPr anchor="ctr">
                    <a:solidFill>
                      <a:srgbClr val="F5F5F5"/>
                    </a:solidFill>
                  </a:tcPr>
                </a:tc>
              </a:tr>
            </a:tbl>
          </a:graphicData>
        </a:graphic>
      </p:graphicFrame>
      <p:sp>
        <p:nvSpPr>
          <p:cNvPr id="5" name="Rounded Rectangle 4"/>
          <p:cNvSpPr/>
          <p:nvPr/>
        </p:nvSpPr>
        <p:spPr>
          <a:xfrm>
            <a:off x="8732519" y="1298448"/>
            <a:ext cx="2971800" cy="14813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8869680" y="1353312"/>
            <a:ext cx="2697480" cy="292608"/>
          </a:xfrm>
          <a:prstGeom prst="rect">
            <a:avLst/>
          </a:prstGeom>
          <a:noFill/>
        </p:spPr>
        <p:txBody>
          <a:bodyPr wrap="square" anchor="ctr" lIns="0" rIns="0" tIns="0" bIns="0">
            <a:spAutoFit/>
          </a:bodyPr>
          <a:lstStyle/>
          <a:p>
            <a:pPr algn="l"/>
            <a:r>
              <a:rPr sz="1300" b="1" i="0">
                <a:solidFill>
                  <a:srgbClr val="002060"/>
                </a:solidFill>
                <a:latin typeface="Nirmala UI"/>
              </a:rPr>
              <a:t>Our pick to test</a:t>
            </a:r>
          </a:p>
        </p:txBody>
      </p:sp>
      <p:sp>
        <p:nvSpPr>
          <p:cNvPr id="7" name="TextBox 6"/>
          <p:cNvSpPr txBox="1"/>
          <p:nvPr/>
        </p:nvSpPr>
        <p:spPr>
          <a:xfrm>
            <a:off x="8869680" y="1664208"/>
            <a:ext cx="2697480" cy="1060703"/>
          </a:xfrm>
          <a:prstGeom prst="rect">
            <a:avLst/>
          </a:prstGeom>
          <a:noFill/>
        </p:spPr>
        <p:txBody>
          <a:bodyPr wrap="square" anchor="t" lIns="0" rIns="0" tIns="0" bIns="0">
            <a:spAutoFit/>
          </a:bodyPr>
          <a:lstStyle/>
          <a:p>
            <a:pPr algn="l"/>
            <a:r>
              <a:rPr sz="1200" b="0" i="0">
                <a:solidFill>
                  <a:srgbClr val="000000"/>
                </a:solidFill>
                <a:latin typeface="Nirmala UI"/>
              </a:rPr>
              <a:t>{ customerId: 1, createdAt: 1 } — it matches Module 6's history query.</a:t>
            </a:r>
          </a:p>
        </p:txBody>
      </p:sp>
      <p:sp>
        <p:nvSpPr>
          <p:cNvPr id="8" name="Rounded Rectangle 7"/>
          <p:cNvSpPr/>
          <p:nvPr/>
        </p:nvSpPr>
        <p:spPr>
          <a:xfrm>
            <a:off x="8732519" y="2907791"/>
            <a:ext cx="297180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869680" y="2962656"/>
            <a:ext cx="2697480" cy="292608"/>
          </a:xfrm>
          <a:prstGeom prst="rect">
            <a:avLst/>
          </a:prstGeom>
          <a:noFill/>
        </p:spPr>
        <p:txBody>
          <a:bodyPr wrap="square" anchor="ctr" lIns="0" rIns="0" tIns="0" bIns="0">
            <a:spAutoFit/>
          </a:bodyPr>
          <a:lstStyle/>
          <a:p>
            <a:pPr algn="l"/>
            <a:r>
              <a:rPr sz="1300" b="1" i="0">
                <a:solidFill>
                  <a:srgbClr val="002060"/>
                </a:solidFill>
                <a:latin typeface="Nirmala UI"/>
              </a:rPr>
              <a:t>Validate it</a:t>
            </a:r>
          </a:p>
        </p:txBody>
      </p:sp>
      <p:sp>
        <p:nvSpPr>
          <p:cNvPr id="10" name="TextBox 9"/>
          <p:cNvSpPr txBox="1"/>
          <p:nvPr/>
        </p:nvSpPr>
        <p:spPr>
          <a:xfrm>
            <a:off x="8869680" y="3273551"/>
            <a:ext cx="2697480" cy="874776"/>
          </a:xfrm>
          <a:prstGeom prst="rect">
            <a:avLst/>
          </a:prstGeom>
          <a:noFill/>
        </p:spPr>
        <p:txBody>
          <a:bodyPr wrap="square" anchor="t" lIns="0" rIns="0" tIns="0" bIns="0">
            <a:spAutoFit/>
          </a:bodyPr>
          <a:lstStyle/>
          <a:p>
            <a:pPr algn="l"/>
            <a:r>
              <a:rPr sz="1200" b="0" i="0">
                <a:solidFill>
                  <a:srgbClr val="000000"/>
                </a:solidFill>
                <a:latin typeface="Nirmala UI"/>
              </a:rPr>
              <a:t>Test with production-like data and traffic before you choose.</a:t>
            </a:r>
          </a:p>
        </p:txBody>
      </p:sp>
      <p:sp>
        <p:nvSpPr>
          <p:cNvPr id="11" name="Rounded Rectangle 10"/>
          <p:cNvSpPr/>
          <p:nvPr/>
        </p:nvSpPr>
        <p:spPr>
          <a:xfrm>
            <a:off x="8732519" y="4331208"/>
            <a:ext cx="297180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915399" y="4331208"/>
            <a:ext cx="2606040" cy="1075944"/>
          </a:xfrm>
          <a:prstGeom prst="rect">
            <a:avLst/>
          </a:prstGeom>
          <a:noFill/>
        </p:spPr>
        <p:txBody>
          <a:bodyPr wrap="square" anchor="ctr" lIns="0" rIns="0" tIns="0" bIns="0">
            <a:spAutoFit/>
          </a:bodyPr>
          <a:lstStyle/>
          <a:p>
            <a:pPr algn="l"/>
            <a:r>
              <a:rPr sz="1200" b="1" i="0">
                <a:solidFill>
                  <a:srgbClr val="D1282E"/>
                </a:solidFill>
                <a:latin typeface="Nirmala UI"/>
              </a:rPr>
              <a:t>NO UNIVERSAL KEY   </a:t>
            </a:r>
            <a:r>
              <a:rPr sz="1200" b="0" i="0">
                <a:solidFill>
                  <a:srgbClr val="000000"/>
                </a:solidFill>
                <a:latin typeface="Nirmala UI"/>
              </a:rPr>
              <a:t>Choose from the workload.</a:t>
            </a:r>
          </a:p>
        </p:txBody>
      </p:sp>
      <p:sp>
        <p:nvSpPr>
          <p:cNvPr id="13" name="Rounded Rectangle 1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No shard key is universally right — score each candidate against the real workload.</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SHARDING A COLLECTION — INSTRUCTOR DEMONSTRATION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Run through mongos, on a disposable cluster only.</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Ranged compound key</a:t>
            </a:r>
          </a:p>
        </p:txBody>
      </p:sp>
      <p:sp>
        <p:nvSpPr>
          <p:cNvPr id="5" name="Rounded Rectangle 4"/>
          <p:cNvSpPr/>
          <p:nvPr/>
        </p:nvSpPr>
        <p:spPr>
          <a:xfrm>
            <a:off x="457200" y="1627632"/>
            <a:ext cx="3596640" cy="225094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disposable lab cluster only</a:t>
            </a:r>
          </a:p>
          <a:p>
            <a:pPr algn="l"/>
            <a:r>
              <a:rPr sz="1200" b="0" i="0">
                <a:solidFill>
                  <a:srgbClr val="000000"/>
                </a:solidFill>
                <a:latin typeface="Consolas"/>
              </a:rPr>
              <a:t>db.orders.createIndex(</a:t>
            </a:r>
          </a:p>
          <a:p>
            <a:pPr algn="l"/>
            <a:r>
              <a:rPr sz="1200" b="0" i="0">
                <a:solidFill>
                  <a:srgbClr val="000000"/>
                </a:solidFill>
                <a:latin typeface="Consolas"/>
              </a:rPr>
              <a:t>  { customerId: 1, createdAt: 1 })</a:t>
            </a:r>
          </a:p>
          <a:p>
            <a:pPr algn="l"/>
            <a:r>
              <a:rPr sz="1200" b="0" i="0">
                <a:solidFill>
                  <a:srgbClr val="000000"/>
                </a:solidFill>
                <a:latin typeface="Consolas"/>
              </a:rPr>
              <a:t>sh.shardCollection(</a:t>
            </a:r>
          </a:p>
          <a:p>
            <a:pPr algn="l"/>
            <a:r>
              <a:rPr sz="1200" b="0" i="0">
                <a:solidFill>
                  <a:srgbClr val="000000"/>
                </a:solidFill>
                <a:latin typeface="Consolas"/>
              </a:rPr>
              <a:t>  "training_store.orders",</a:t>
            </a:r>
          </a:p>
          <a:p>
            <a:pPr algn="l"/>
            <a:r>
              <a:rPr sz="1200" b="0" i="0">
                <a:solidFill>
                  <a:srgbClr val="000000"/>
                </a:solidFill>
                <a:latin typeface="Consolas"/>
              </a:rPr>
              <a:t>  { customerId: 1, createdAt: 1 })</a:t>
            </a:r>
          </a:p>
        </p:txBody>
      </p:sp>
      <p:sp>
        <p:nvSpPr>
          <p:cNvPr id="6" name="TextBox 5"/>
          <p:cNvSpPr txBox="1"/>
          <p:nvPr/>
        </p:nvSpPr>
        <p:spPr>
          <a:xfrm>
            <a:off x="428244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Or a hashed key</a:t>
            </a:r>
          </a:p>
        </p:txBody>
      </p:sp>
      <p:sp>
        <p:nvSpPr>
          <p:cNvPr id="7" name="Rounded Rectangle 6"/>
          <p:cNvSpPr/>
          <p:nvPr/>
        </p:nvSpPr>
        <p:spPr>
          <a:xfrm>
            <a:off x="4282440" y="1627632"/>
            <a:ext cx="3596640" cy="225094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sh.shardCollection(</a:t>
            </a:r>
          </a:p>
          <a:p>
            <a:pPr algn="l"/>
            <a:r>
              <a:rPr sz="1200" b="0" i="0">
                <a:solidFill>
                  <a:srgbClr val="000000"/>
                </a:solidFill>
                <a:latin typeface="Consolas"/>
              </a:rPr>
              <a:t>  "training_store.orders",</a:t>
            </a:r>
          </a:p>
          <a:p>
            <a:pPr algn="l"/>
            <a:r>
              <a:rPr sz="1200" b="0" i="0">
                <a:solidFill>
                  <a:srgbClr val="000000"/>
                </a:solidFill>
                <a:latin typeface="Consolas"/>
              </a:rPr>
              <a:t>  { customerId: "hashed" })</a:t>
            </a:r>
          </a:p>
        </p:txBody>
      </p:sp>
      <p:sp>
        <p:nvSpPr>
          <p:cNvPr id="8" name="TextBox 7"/>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Inspect the result</a:t>
            </a:r>
          </a:p>
        </p:txBody>
      </p:sp>
      <p:sp>
        <p:nvSpPr>
          <p:cNvPr id="9" name="Rounded Rectangle 8"/>
          <p:cNvSpPr/>
          <p:nvPr/>
        </p:nvSpPr>
        <p:spPr>
          <a:xfrm>
            <a:off x="8107680" y="1627632"/>
            <a:ext cx="3596640" cy="225094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sh.status()</a:t>
            </a:r>
          </a:p>
          <a:p>
            <a:pPr algn="l"/>
            <a:r>
              <a:rPr sz="1200" b="0" i="0">
                <a:solidFill>
                  <a:srgbClr val="000000"/>
                </a:solidFill>
                <a:latin typeface="Consolas"/>
              </a:rPr>
              <a:t>db.orders</a:t>
            </a:r>
          </a:p>
          <a:p>
            <a:pPr algn="l"/>
            <a:r>
              <a:rPr sz="1200" b="0" i="0">
                <a:solidFill>
                  <a:srgbClr val="000000"/>
                </a:solidFill>
                <a:latin typeface="Consolas"/>
              </a:rPr>
              <a:t>  .getShardDistribution()</a:t>
            </a:r>
          </a:p>
        </p:txBody>
      </p:sp>
      <p:sp>
        <p:nvSpPr>
          <p:cNvPr id="10" name="Rounded Rectangle 9"/>
          <p:cNvSpPr/>
          <p:nvPr/>
        </p:nvSpPr>
        <p:spPr>
          <a:xfrm>
            <a:off x="457200" y="4107179"/>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16204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Through mongos</a:t>
            </a:r>
          </a:p>
        </p:txBody>
      </p:sp>
      <p:sp>
        <p:nvSpPr>
          <p:cNvPr id="12" name="TextBox 11"/>
          <p:cNvSpPr txBox="1"/>
          <p:nvPr/>
        </p:nvSpPr>
        <p:spPr>
          <a:xfrm>
            <a:off x="594360" y="4472940"/>
            <a:ext cx="3352800" cy="737615"/>
          </a:xfrm>
          <a:prstGeom prst="rect">
            <a:avLst/>
          </a:prstGeom>
          <a:noFill/>
        </p:spPr>
        <p:txBody>
          <a:bodyPr wrap="square" anchor="t" lIns="0" rIns="0" tIns="0" bIns="0">
            <a:spAutoFit/>
          </a:bodyPr>
          <a:lstStyle/>
          <a:p>
            <a:pPr algn="l"/>
            <a:r>
              <a:rPr sz="1200" b="0" i="0">
                <a:solidFill>
                  <a:srgbClr val="000000"/>
                </a:solidFill>
                <a:latin typeface="Nirmala UI"/>
              </a:rPr>
              <a:t>Sharding commands run on a mongos connection.</a:t>
            </a:r>
          </a:p>
        </p:txBody>
      </p:sp>
      <p:sp>
        <p:nvSpPr>
          <p:cNvPr id="13" name="Rounded Rectangle 12"/>
          <p:cNvSpPr/>
          <p:nvPr/>
        </p:nvSpPr>
        <p:spPr>
          <a:xfrm>
            <a:off x="4267200" y="4107179"/>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16204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Index first</a:t>
            </a:r>
          </a:p>
        </p:txBody>
      </p:sp>
      <p:sp>
        <p:nvSpPr>
          <p:cNvPr id="15" name="TextBox 14"/>
          <p:cNvSpPr txBox="1"/>
          <p:nvPr/>
        </p:nvSpPr>
        <p:spPr>
          <a:xfrm>
            <a:off x="4404360" y="4472940"/>
            <a:ext cx="3352800" cy="737615"/>
          </a:xfrm>
          <a:prstGeom prst="rect">
            <a:avLst/>
          </a:prstGeom>
          <a:noFill/>
        </p:spPr>
        <p:txBody>
          <a:bodyPr wrap="square" anchor="t" lIns="0" rIns="0" tIns="0" bIns="0">
            <a:spAutoFit/>
          </a:bodyPr>
          <a:lstStyle/>
          <a:p>
            <a:pPr algn="l"/>
            <a:r>
              <a:rPr sz="1200" b="0" i="0">
                <a:solidFill>
                  <a:srgbClr val="000000"/>
                </a:solidFill>
                <a:latin typeface="Nirmala UI"/>
              </a:rPr>
              <a:t>The shard key needs a supporting index.</a:t>
            </a:r>
          </a:p>
        </p:txBody>
      </p:sp>
      <p:sp>
        <p:nvSpPr>
          <p:cNvPr id="16" name="Rounded Rectangle 15"/>
          <p:cNvSpPr/>
          <p:nvPr/>
        </p:nvSpPr>
        <p:spPr>
          <a:xfrm>
            <a:off x="8077200" y="4107179"/>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14360" y="416204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Disposable only</a:t>
            </a:r>
          </a:p>
        </p:txBody>
      </p:sp>
      <p:sp>
        <p:nvSpPr>
          <p:cNvPr id="18" name="TextBox 17"/>
          <p:cNvSpPr txBox="1"/>
          <p:nvPr/>
        </p:nvSpPr>
        <p:spPr>
          <a:xfrm>
            <a:off x="8214360" y="4472940"/>
            <a:ext cx="3352800" cy="737615"/>
          </a:xfrm>
          <a:prstGeom prst="rect">
            <a:avLst/>
          </a:prstGeom>
          <a:noFill/>
        </p:spPr>
        <p:txBody>
          <a:bodyPr wrap="square" anchor="t" lIns="0" rIns="0" tIns="0" bIns="0">
            <a:spAutoFit/>
          </a:bodyPr>
          <a:lstStyle/>
          <a:p>
            <a:pPr algn="l"/>
            <a:r>
              <a:rPr sz="1200" b="0" i="0">
                <a:solidFill>
                  <a:srgbClr val="000000"/>
                </a:solidFill>
                <a:latin typeface="Nirmala UI"/>
              </a:rPr>
              <a:t>Never shard the shared class cluster.</a:t>
            </a:r>
          </a:p>
        </p:txBody>
      </p:sp>
      <p:sp>
        <p:nvSpPr>
          <p:cNvPr id="19" name="Rounded Rectangle 1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Shard with a supporting index, through mongos, on a disposable cluster — then inspect the result.</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5: DISTRIBUTION, ROUTING AND DESIGN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How ranges move, how queries find them — and when to shard at all.</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Availability and scale</a:t>
            </a:r>
          </a:p>
        </p:txBody>
      </p:sp>
      <p:sp>
        <p:nvSpPr>
          <p:cNvPr id="6" name="Chevron 5"/>
          <p:cNvSpPr/>
          <p:nvPr/>
        </p:nvSpPr>
        <p:spPr>
          <a:xfrm>
            <a:off x="267114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Replica sets</a:t>
            </a:r>
          </a:p>
        </p:txBody>
      </p:sp>
      <p:sp>
        <p:nvSpPr>
          <p:cNvPr id="8" name="Chevron 7"/>
          <p:cNvSpPr/>
          <p:nvPr/>
        </p:nvSpPr>
        <p:spPr>
          <a:xfrm>
            <a:off x="4885090"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Guarantees and lag</a:t>
            </a:r>
          </a:p>
        </p:txBody>
      </p:sp>
      <p:sp>
        <p:nvSpPr>
          <p:cNvPr id="10" name="Chevron 9"/>
          <p:cNvSpPr/>
          <p:nvPr/>
        </p:nvSpPr>
        <p:spPr>
          <a:xfrm>
            <a:off x="709903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4</a:t>
            </a:r>
          </a:p>
          <a:p>
            <a:pPr algn="ctr"/>
            <a:r>
              <a:rPr sz="1300" b="1" i="0">
                <a:solidFill>
                  <a:srgbClr val="FFFFFF"/>
                </a:solidFill>
                <a:latin typeface="Nirmala UI"/>
              </a:rPr>
              <a:t>Shard keys</a:t>
            </a:r>
          </a:p>
        </p:txBody>
      </p:sp>
      <p:sp>
        <p:nvSpPr>
          <p:cNvPr id="12" name="Chevron 11"/>
          <p:cNvSpPr/>
          <p:nvPr/>
        </p:nvSpPr>
        <p:spPr>
          <a:xfrm>
            <a:off x="9312981"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Routing and design</a:t>
            </a:r>
          </a:p>
        </p:txBody>
      </p:sp>
      <p:sp>
        <p:nvSpPr>
          <p:cNvPr id="14" name="Rounded Rectangle 13"/>
          <p:cNvSpPr/>
          <p:nvPr/>
        </p:nvSpPr>
        <p:spPr>
          <a:xfrm>
            <a:off x="457200" y="2304288"/>
            <a:ext cx="4937760" cy="257556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mongos, config servers and replica-set shards</a:t>
            </a:r>
          </a:p>
        </p:txBody>
      </p:sp>
      <p:sp>
        <p:nvSpPr>
          <p:cNvPr id="19" name="Oval 18"/>
          <p:cNvSpPr/>
          <p:nvPr/>
        </p:nvSpPr>
        <p:spPr>
          <a:xfrm>
            <a:off x="640080" y="36012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5280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A good key: many values, even use, not monotonic</a:t>
            </a:r>
          </a:p>
        </p:txBody>
      </p:sp>
      <p:sp>
        <p:nvSpPr>
          <p:cNvPr id="21" name="Oval 20"/>
          <p:cNvSpPr/>
          <p:nvPr/>
        </p:nvSpPr>
        <p:spPr>
          <a:xfrm>
            <a:off x="640080" y="42489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41757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Ranged, hashed and zoned sharding</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ranges stay balanced and queries find them — and when should we shard?</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Chunks</a:t>
            </a:r>
          </a:p>
        </p:txBody>
      </p:sp>
      <p:sp>
        <p:nvSpPr>
          <p:cNvPr id="29" name="Oval 28"/>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The balancer</a:t>
            </a:r>
          </a:p>
        </p:txBody>
      </p:sp>
      <p:sp>
        <p:nvSpPr>
          <p:cNvPr id="31" name="Oval 30"/>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Targeted queries</a:t>
            </a:r>
          </a:p>
        </p:txBody>
      </p:sp>
      <p:sp>
        <p:nvSpPr>
          <p:cNvPr id="33" name="Oval 32"/>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Targeted versus scatter-gather</a:t>
            </a:r>
          </a:p>
        </p:txBody>
      </p:sp>
      <p:sp>
        <p:nvSpPr>
          <p:cNvPr id="35" name="Oval 34"/>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6" name="TextBox 35"/>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Replication and sharding together</a:t>
            </a:r>
          </a:p>
        </p:txBody>
      </p:sp>
      <p:sp>
        <p:nvSpPr>
          <p:cNvPr id="37" name="Oval 36"/>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8" name="TextBox 37"/>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The deployment decision</a:t>
            </a:r>
          </a:p>
        </p:txBody>
      </p:sp>
      <p:sp>
        <p:nvSpPr>
          <p:cNvPr id="39" name="Oval 38"/>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0" name="TextBox 39"/>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Misconceptions and anti-patterns</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CHUNKS AND DATA DISTRIBUTION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The key space is cut into ranges; ranges are spread over shards.</a:t>
            </a:r>
          </a:p>
        </p:txBody>
      </p:sp>
      <p:sp>
        <p:nvSpPr>
          <p:cNvPr id="4" name="Rounded Rectangle 3"/>
          <p:cNvSpPr/>
          <p:nvPr/>
        </p:nvSpPr>
        <p:spPr>
          <a:xfrm>
            <a:off x="475488" y="1823462"/>
            <a:ext cx="7415783" cy="3485395"/>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5" descr="image.jpg"/>
          <p:cNvPicPr>
            <a:picLocks noChangeAspect="1"/>
          </p:cNvPicPr>
          <p:nvPr/>
        </p:nvPicPr>
        <p:blipFill>
          <a:blip r:embed="rId2"/>
          <a:stretch>
            <a:fillRect/>
          </a:stretch>
        </p:blipFill>
        <p:spPr>
          <a:xfrm>
            <a:off x="548640" y="1896614"/>
            <a:ext cx="7269480" cy="3339091"/>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Chunks are ranges</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Each non-overlapping range of the key lives on one shard.</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Not documents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MongoDB moves whole ranges, never single documents.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Metadata</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config servers record which shard owns each range.</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TRAINING DATA   </a:t>
            </a:r>
            <a:r>
              <a:rPr sz="1200" b="0" i="0">
                <a:solidFill>
                  <a:srgbClr val="000000"/>
                </a:solidFill>
                <a:latin typeface="Nirmala UI"/>
              </a:rPr>
              <a:t>Tiny data sets often sit in one range.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Data is placed and moved range by range — the chunk map is what mongos routes with.</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BALANCER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Detect imbalance, migrate ranges, even out the shards.</a:t>
            </a:r>
          </a:p>
        </p:txBody>
      </p:sp>
      <p:sp>
        <p:nvSpPr>
          <p:cNvPr id="4" name="Rounded Rectangle 3"/>
          <p:cNvSpPr/>
          <p:nvPr/>
        </p:nvSpPr>
        <p:spPr>
          <a:xfrm>
            <a:off x="475488" y="1632863"/>
            <a:ext cx="7415783" cy="386659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7" descr="image.jpg"/>
          <p:cNvPicPr>
            <a:picLocks noChangeAspect="1"/>
          </p:cNvPicPr>
          <p:nvPr/>
        </p:nvPicPr>
        <p:blipFill>
          <a:blip r:embed="rId2"/>
          <a:stretch>
            <a:fillRect/>
          </a:stretch>
        </p:blipFill>
        <p:spPr>
          <a:xfrm>
            <a:off x="548640" y="1706015"/>
            <a:ext cx="7269480" cy="3720289"/>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Detect imbalance</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Shard A holds four chunks; Shards B and C hold one each.</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Migrate ranges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C3 moves to Shard B, C4 to Shard C — two chunks each.</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Costs resources</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Migrations use network, disk and CPU — monitor them.</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MODERN VERSIONS   </a:t>
            </a:r>
            <a:r>
              <a:rPr sz="1200" b="0" i="0">
                <a:solidFill>
                  <a:srgbClr val="000000"/>
                </a:solidFill>
                <a:latin typeface="Nirmala UI"/>
              </a:rPr>
              <a:t>Balance by data size, not chunk count.</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balancer evens out the shards automatically — but migrations have a cost, so watch them.</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TARGETED QUERIES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query that includes the shard key goes to one shard.</a:t>
            </a:r>
          </a:p>
        </p:txBody>
      </p:sp>
      <p:sp>
        <p:nvSpPr>
          <p:cNvPr id="4" name="Rounded Rectangle 3"/>
          <p:cNvSpPr/>
          <p:nvPr/>
        </p:nvSpPr>
        <p:spPr>
          <a:xfrm>
            <a:off x="475488" y="2049577"/>
            <a:ext cx="7415783" cy="303316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9" descr="image.jpg"/>
          <p:cNvPicPr>
            <a:picLocks noChangeAspect="1"/>
          </p:cNvPicPr>
          <p:nvPr/>
        </p:nvPicPr>
        <p:blipFill>
          <a:blip r:embed="rId2"/>
          <a:stretch>
            <a:fillRect/>
          </a:stretch>
        </p:blipFill>
        <p:spPr>
          <a:xfrm>
            <a:off x="548640" y="2122729"/>
            <a:ext cx="7269480" cy="2886860"/>
          </a:xfrm>
          <a:prstGeom prst="rect">
            <a:avLst/>
          </a:prstGeom>
        </p:spPr>
      </p:pic>
      <p:sp>
        <p:nvSpPr>
          <p:cNvPr id="6" name="Rounded Rectangle 5"/>
          <p:cNvSpPr/>
          <p:nvPr/>
        </p:nvSpPr>
        <p:spPr>
          <a:xfrm>
            <a:off x="8183880" y="1298448"/>
            <a:ext cx="3520440" cy="95326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Includes the shard key</a:t>
            </a:r>
          </a:p>
        </p:txBody>
      </p:sp>
      <p:sp>
        <p:nvSpPr>
          <p:cNvPr id="8" name="TextBox 7"/>
          <p:cNvSpPr txBox="1"/>
          <p:nvPr/>
        </p:nvSpPr>
        <p:spPr>
          <a:xfrm>
            <a:off x="8321040" y="1664208"/>
            <a:ext cx="3246120" cy="532638"/>
          </a:xfrm>
          <a:prstGeom prst="rect">
            <a:avLst/>
          </a:prstGeom>
          <a:noFill/>
        </p:spPr>
        <p:txBody>
          <a:bodyPr wrap="square" anchor="t" lIns="0" rIns="0" tIns="0" bIns="0">
            <a:spAutoFit/>
          </a:bodyPr>
          <a:lstStyle/>
          <a:p>
            <a:pPr algn="l"/>
            <a:r>
              <a:rPr sz="1200" b="0" i="0">
                <a:solidFill>
                  <a:srgbClr val="000000"/>
                </a:solidFill>
                <a:latin typeface="Nirmala UI"/>
              </a:rPr>
              <a:t>find({ customerId: … }) names the key.</a:t>
            </a:r>
          </a:p>
        </p:txBody>
      </p:sp>
      <p:sp>
        <p:nvSpPr>
          <p:cNvPr id="9" name="Rounded Rectangle 8"/>
          <p:cNvSpPr/>
          <p:nvPr/>
        </p:nvSpPr>
        <p:spPr>
          <a:xfrm>
            <a:off x="8183880" y="2379726"/>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3459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mongos routes</a:t>
            </a:r>
          </a:p>
        </p:txBody>
      </p:sp>
      <p:sp>
        <p:nvSpPr>
          <p:cNvPr id="11" name="TextBox 10"/>
          <p:cNvSpPr txBox="1"/>
          <p:nvPr/>
        </p:nvSpPr>
        <p:spPr>
          <a:xfrm>
            <a:off x="8321040" y="2745486"/>
            <a:ext cx="3246120" cy="718566"/>
          </a:xfrm>
          <a:prstGeom prst="rect">
            <a:avLst/>
          </a:prstGeom>
          <a:noFill/>
        </p:spPr>
        <p:txBody>
          <a:bodyPr wrap="square" anchor="t" lIns="0" rIns="0" tIns="0" bIns="0">
            <a:spAutoFit/>
          </a:bodyPr>
          <a:lstStyle/>
          <a:p>
            <a:pPr algn="l"/>
            <a:r>
              <a:rPr sz="1200" b="0" i="0">
                <a:solidFill>
                  <a:srgbClr val="000000"/>
                </a:solidFill>
                <a:latin typeface="Nirmala UI"/>
              </a:rPr>
              <a:t>The chunk map says Shard B — only Shard B works.</a:t>
            </a:r>
          </a:p>
        </p:txBody>
      </p:sp>
      <p:sp>
        <p:nvSpPr>
          <p:cNvPr id="12" name="Rounded Rectangle 11"/>
          <p:cNvSpPr/>
          <p:nvPr/>
        </p:nvSpPr>
        <p:spPr>
          <a:xfrm>
            <a:off x="8183880" y="3646932"/>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0179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fastest shape</a:t>
            </a:r>
          </a:p>
        </p:txBody>
      </p:sp>
      <p:sp>
        <p:nvSpPr>
          <p:cNvPr id="14" name="TextBox 13"/>
          <p:cNvSpPr txBox="1"/>
          <p:nvPr/>
        </p:nvSpPr>
        <p:spPr>
          <a:xfrm>
            <a:off x="8321040" y="4012692"/>
            <a:ext cx="3246120" cy="718565"/>
          </a:xfrm>
          <a:prstGeom prst="rect">
            <a:avLst/>
          </a:prstGeom>
          <a:noFill/>
        </p:spPr>
        <p:txBody>
          <a:bodyPr wrap="square" anchor="t" lIns="0" rIns="0" tIns="0" bIns="0">
            <a:spAutoFit/>
          </a:bodyPr>
          <a:lstStyle/>
          <a:p>
            <a:pPr algn="l"/>
            <a:r>
              <a:rPr sz="1200" b="0" i="0">
                <a:solidFill>
                  <a:srgbClr val="000000"/>
                </a:solidFill>
                <a:latin typeface="Nirmala UI"/>
              </a:rPr>
              <a:t>Shards A and C stay free for other queries.</a:t>
            </a:r>
          </a:p>
        </p:txBody>
      </p:sp>
      <p:sp>
        <p:nvSpPr>
          <p:cNvPr id="15" name="Rounded Rectangle 14"/>
          <p:cNvSpPr/>
          <p:nvPr/>
        </p:nvSpPr>
        <p:spPr>
          <a:xfrm>
            <a:off x="8183880" y="4914138"/>
            <a:ext cx="3520440" cy="91973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14138"/>
            <a:ext cx="3154680" cy="919734"/>
          </a:xfrm>
          <a:prstGeom prst="rect">
            <a:avLst/>
          </a:prstGeom>
          <a:noFill/>
        </p:spPr>
        <p:txBody>
          <a:bodyPr wrap="square" anchor="ctr" lIns="0" rIns="0" tIns="0" bIns="0">
            <a:spAutoFit/>
          </a:bodyPr>
          <a:lstStyle/>
          <a:p>
            <a:pPr algn="l"/>
            <a:r>
              <a:rPr sz="1200" b="1" i="0">
                <a:solidFill>
                  <a:srgbClr val="D1282E"/>
                </a:solidFill>
                <a:latin typeface="Nirmala UI"/>
              </a:rPr>
              <a:t>VALUE SHOWN   </a:t>
            </a:r>
            <a:r>
              <a:rPr sz="1200" b="0" i="0">
                <a:solidFill>
                  <a:srgbClr val="000000"/>
                </a:solidFill>
                <a:latin typeface="Nirmala UI"/>
              </a:rPr>
              <a:t>C1042 is illustrative; ours is an ObjectId.</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Put the shard key in your hot-path queries so mongos can target one shard.</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TARGETED OR SCATTER-GATHER ON TRAINING_STORE?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Assume orders is sharded on { customerId: 1, createdAt: 1 }.</a:t>
            </a:r>
          </a:p>
        </p:txBody>
      </p:sp>
      <p:sp>
        <p:nvSpPr>
          <p:cNvPr id="4" name="Oval 3"/>
          <p:cNvSpPr/>
          <p:nvPr/>
        </p:nvSpPr>
        <p:spPr>
          <a:xfrm>
            <a:off x="45720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5" name="TextBox 4"/>
          <p:cNvSpPr txBox="1"/>
          <p:nvPr/>
        </p:nvSpPr>
        <p:spPr>
          <a:xfrm>
            <a:off x="786384" y="1298448"/>
            <a:ext cx="3267456" cy="310896"/>
          </a:xfrm>
          <a:prstGeom prst="rect">
            <a:avLst/>
          </a:prstGeom>
          <a:noFill/>
        </p:spPr>
        <p:txBody>
          <a:bodyPr wrap="square" anchor="ctr" lIns="0" rIns="0" tIns="0" bIns="0">
            <a:spAutoFit/>
          </a:bodyPr>
          <a:lstStyle/>
          <a:p>
            <a:pPr algn="l"/>
            <a:r>
              <a:rPr sz="1300" b="1" i="0">
                <a:solidFill>
                  <a:srgbClr val="2E7D32"/>
                </a:solidFill>
                <a:latin typeface="Nirmala UI"/>
              </a:rPr>
              <a:t>Targeted: shard-key prefix</a:t>
            </a:r>
          </a:p>
        </p:txBody>
      </p:sp>
      <p:sp>
        <p:nvSpPr>
          <p:cNvPr id="6" name="Rounded Rectangle 5"/>
          <p:cNvSpPr/>
          <p:nvPr/>
        </p:nvSpPr>
        <p:spPr>
          <a:xfrm>
            <a:off x="457200" y="1627632"/>
            <a:ext cx="3596640" cy="2193162"/>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const c = db.customers.findOne(</a:t>
            </a:r>
          </a:p>
          <a:p>
            <a:pPr algn="l"/>
            <a:r>
              <a:rPr sz="1300" b="0" i="0">
                <a:solidFill>
                  <a:srgbClr val="000000"/>
                </a:solidFill>
                <a:latin typeface="Consolas"/>
              </a:rPr>
              <a:t>  { customerNumber: "C101" })</a:t>
            </a:r>
          </a:p>
          <a:p>
            <a:pPr algn="l"/>
            <a:r>
              <a:rPr sz="1300" b="0" i="0">
                <a:solidFill>
                  <a:srgbClr val="000000"/>
                </a:solidFill>
                <a:latin typeface="Consolas"/>
              </a:rPr>
              <a:t>db.orders</a:t>
            </a:r>
          </a:p>
          <a:p>
            <a:pPr algn="l"/>
            <a:r>
              <a:rPr sz="1300" b="0" i="0">
                <a:solidFill>
                  <a:srgbClr val="000000"/>
                </a:solidFill>
                <a:latin typeface="Consolas"/>
              </a:rPr>
              <a:t>  .find({ customerId: c._id })</a:t>
            </a:r>
          </a:p>
          <a:p>
            <a:pPr algn="l"/>
            <a:r>
              <a:rPr sz="1300" b="0" i="0">
                <a:solidFill>
                  <a:srgbClr val="000000"/>
                </a:solidFill>
                <a:latin typeface="Consolas"/>
              </a:rPr>
              <a:t>  .sort({ createdAt: -1 })</a:t>
            </a:r>
          </a:p>
        </p:txBody>
      </p:sp>
      <p:sp>
        <p:nvSpPr>
          <p:cNvPr id="7" name="Oval 6"/>
          <p:cNvSpPr/>
          <p:nvPr/>
        </p:nvSpPr>
        <p:spPr>
          <a:xfrm>
            <a:off x="4282440" y="132588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8" name="TextBox 7"/>
          <p:cNvSpPr txBox="1"/>
          <p:nvPr/>
        </p:nvSpPr>
        <p:spPr>
          <a:xfrm>
            <a:off x="4611624" y="1298448"/>
            <a:ext cx="3267456" cy="310896"/>
          </a:xfrm>
          <a:prstGeom prst="rect">
            <a:avLst/>
          </a:prstGeom>
          <a:noFill/>
        </p:spPr>
        <p:txBody>
          <a:bodyPr wrap="square" anchor="ctr" lIns="0" rIns="0" tIns="0" bIns="0">
            <a:spAutoFit/>
          </a:bodyPr>
          <a:lstStyle/>
          <a:p>
            <a:pPr algn="l"/>
            <a:r>
              <a:rPr sz="1300" b="1" i="0">
                <a:solidFill>
                  <a:srgbClr val="D1282E"/>
                </a:solidFill>
                <a:latin typeface="Nirmala UI"/>
              </a:rPr>
              <a:t>Scatter-gather: no shard key</a:t>
            </a:r>
          </a:p>
        </p:txBody>
      </p:sp>
      <p:sp>
        <p:nvSpPr>
          <p:cNvPr id="9" name="Rounded Rectangle 8"/>
          <p:cNvSpPr/>
          <p:nvPr/>
        </p:nvSpPr>
        <p:spPr>
          <a:xfrm>
            <a:off x="4282440" y="1627632"/>
            <a:ext cx="3596640" cy="2193162"/>
          </a:xfrm>
          <a:prstGeom prst="roundRect">
            <a:avLst>
              <a:gd name="adj" fmla="val 6000"/>
            </a:avLst>
          </a:prstGeom>
          <a:solidFill>
            <a:srgbClr val="FDECE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db.orders.find(</a:t>
            </a:r>
          </a:p>
          <a:p>
            <a:pPr algn="l"/>
            <a:r>
              <a:rPr sz="1300" b="0" i="0">
                <a:solidFill>
                  <a:srgbClr val="000000"/>
                </a:solidFill>
                <a:latin typeface="Consolas"/>
              </a:rPr>
              <a:t>  { fulfillmentStatus:</a:t>
            </a:r>
          </a:p>
          <a:p>
            <a:pPr algn="l"/>
            <a:r>
              <a:rPr sz="1300" b="0" i="0">
                <a:solidFill>
                  <a:srgbClr val="000000"/>
                </a:solidFill>
                <a:latin typeface="Consolas"/>
              </a:rPr>
              <a:t>      "PROCESSING" })</a:t>
            </a:r>
          </a:p>
          <a:p>
            <a:pPr algn="l"/>
            <a:r>
              <a:rPr sz="1300" b="0" i="0">
                <a:solidFill>
                  <a:srgbClr val="000000"/>
                </a:solidFill>
                <a:latin typeface="Consolas"/>
              </a:rPr>
              <a:t>db.orders.find(</a:t>
            </a:r>
          </a:p>
          <a:p>
            <a:pPr algn="l"/>
            <a:r>
              <a:rPr sz="1300" b="0" i="0">
                <a:solidFill>
                  <a:srgbClr val="000000"/>
                </a:solidFill>
                <a:latin typeface="Consolas"/>
              </a:rPr>
              <a:t>  { _id: someOrderId })</a:t>
            </a:r>
          </a:p>
        </p:txBody>
      </p:sp>
      <p:sp>
        <p:nvSpPr>
          <p:cNvPr id="10" name="TextBox 9"/>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Check it with explain</a:t>
            </a:r>
          </a:p>
        </p:txBody>
      </p:sp>
      <p:sp>
        <p:nvSpPr>
          <p:cNvPr id="11" name="Rounded Rectangle 10"/>
          <p:cNvSpPr/>
          <p:nvPr/>
        </p:nvSpPr>
        <p:spPr>
          <a:xfrm>
            <a:off x="8107680" y="1627632"/>
            <a:ext cx="3596640" cy="219316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a:t>
            </a:r>
          </a:p>
          <a:p>
            <a:pPr algn="l"/>
            <a:r>
              <a:rPr sz="1300" b="0" i="0">
                <a:solidFill>
                  <a:srgbClr val="000000"/>
                </a:solidFill>
                <a:latin typeface="Consolas"/>
              </a:rPr>
              <a:t>  .find({ customerId: c._id })</a:t>
            </a:r>
          </a:p>
          <a:p>
            <a:pPr algn="l"/>
            <a:r>
              <a:rPr sz="1300" b="0" i="0">
                <a:solidFill>
                  <a:srgbClr val="000000"/>
                </a:solidFill>
                <a:latin typeface="Consolas"/>
              </a:rPr>
              <a:t>  .explain()</a:t>
            </a:r>
          </a:p>
          <a:p>
            <a:pPr algn="l"/>
            <a:r>
              <a:rPr sz="1300" b="0" i="0">
                <a:solidFill>
                  <a:srgbClr val="000000"/>
                </a:solidFill>
                <a:latin typeface="Consolas"/>
              </a:rPr>
              <a:t>// winningPlan lists</a:t>
            </a:r>
          </a:p>
          <a:p>
            <a:pPr algn="l"/>
            <a:r>
              <a:rPr sz="1300" b="0" i="0">
                <a:solidFill>
                  <a:srgbClr val="000000"/>
                </a:solidFill>
                <a:latin typeface="Consolas"/>
              </a:rPr>
              <a:t>// the shards used</a:t>
            </a:r>
          </a:p>
        </p:txBody>
      </p:sp>
      <p:sp>
        <p:nvSpPr>
          <p:cNvPr id="12" name="Rounded Rectangle 11"/>
          <p:cNvSpPr/>
          <p:nvPr/>
        </p:nvSpPr>
        <p:spPr>
          <a:xfrm>
            <a:off x="457200" y="404939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594360" y="410425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Targeted</a:t>
            </a:r>
          </a:p>
        </p:txBody>
      </p:sp>
      <p:sp>
        <p:nvSpPr>
          <p:cNvPr id="14" name="TextBox 13"/>
          <p:cNvSpPr txBox="1"/>
          <p:nvPr/>
        </p:nvSpPr>
        <p:spPr>
          <a:xfrm>
            <a:off x="594360" y="4415155"/>
            <a:ext cx="3352800" cy="737615"/>
          </a:xfrm>
          <a:prstGeom prst="rect">
            <a:avLst/>
          </a:prstGeom>
          <a:noFill/>
        </p:spPr>
        <p:txBody>
          <a:bodyPr wrap="square" anchor="t" lIns="0" rIns="0" tIns="0" bIns="0">
            <a:spAutoFit/>
          </a:bodyPr>
          <a:lstStyle/>
          <a:p>
            <a:pPr algn="l"/>
            <a:r>
              <a:rPr sz="1200" b="0" i="0">
                <a:solidFill>
                  <a:srgbClr val="000000"/>
                </a:solidFill>
                <a:latin typeface="Nirmala UI"/>
              </a:rPr>
              <a:t>mongos sends it to the shard owning that customer's range.</a:t>
            </a:r>
          </a:p>
        </p:txBody>
      </p:sp>
      <p:sp>
        <p:nvSpPr>
          <p:cNvPr id="15" name="Rounded Rectangle 14"/>
          <p:cNvSpPr/>
          <p:nvPr/>
        </p:nvSpPr>
        <p:spPr>
          <a:xfrm>
            <a:off x="4267200" y="404939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4404360" y="410425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Scatter-gather</a:t>
            </a:r>
          </a:p>
        </p:txBody>
      </p:sp>
      <p:sp>
        <p:nvSpPr>
          <p:cNvPr id="17" name="TextBox 16"/>
          <p:cNvSpPr txBox="1"/>
          <p:nvPr/>
        </p:nvSpPr>
        <p:spPr>
          <a:xfrm>
            <a:off x="4404360" y="4415155"/>
            <a:ext cx="3352800" cy="737615"/>
          </a:xfrm>
          <a:prstGeom prst="rect">
            <a:avLst/>
          </a:prstGeom>
          <a:noFill/>
        </p:spPr>
        <p:txBody>
          <a:bodyPr wrap="square" anchor="t" lIns="0" rIns="0" tIns="0" bIns="0">
            <a:spAutoFit/>
          </a:bodyPr>
          <a:lstStyle/>
          <a:p>
            <a:pPr algn="l"/>
            <a:r>
              <a:rPr sz="1200" b="0" i="0">
                <a:solidFill>
                  <a:srgbClr val="000000"/>
                </a:solidFill>
                <a:latin typeface="Nirmala UI"/>
              </a:rPr>
              <a:t>Every shard runs it; mongos merges the results.</a:t>
            </a:r>
          </a:p>
        </p:txBody>
      </p:sp>
      <p:sp>
        <p:nvSpPr>
          <p:cNvPr id="18" name="Rounded Rectangle 17"/>
          <p:cNvSpPr/>
          <p:nvPr/>
        </p:nvSpPr>
        <p:spPr>
          <a:xfrm>
            <a:off x="8077200" y="404939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9" name="TextBox 18"/>
          <p:cNvSpPr txBox="1"/>
          <p:nvPr/>
        </p:nvSpPr>
        <p:spPr>
          <a:xfrm>
            <a:off x="8214360" y="410425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Not always wrong</a:t>
            </a:r>
          </a:p>
        </p:txBody>
      </p:sp>
      <p:sp>
        <p:nvSpPr>
          <p:cNvPr id="20" name="TextBox 19"/>
          <p:cNvSpPr txBox="1"/>
          <p:nvPr/>
        </p:nvSpPr>
        <p:spPr>
          <a:xfrm>
            <a:off x="8214360" y="4415155"/>
            <a:ext cx="3352800" cy="737615"/>
          </a:xfrm>
          <a:prstGeom prst="rect">
            <a:avLst/>
          </a:prstGeom>
          <a:noFill/>
        </p:spPr>
        <p:txBody>
          <a:bodyPr wrap="square" anchor="t" lIns="0" rIns="0" tIns="0" bIns="0">
            <a:spAutoFit/>
          </a:bodyPr>
          <a:lstStyle/>
          <a:p>
            <a:pPr algn="l"/>
            <a:r>
              <a:rPr sz="1200" b="0" i="0">
                <a:solidFill>
                  <a:srgbClr val="000000"/>
                </a:solidFill>
                <a:latin typeface="Nirmala UI"/>
              </a:rPr>
              <a:t>Fine for rare reports — costly in the hot path.</a:t>
            </a:r>
          </a:p>
        </p:txBody>
      </p:sp>
      <p:sp>
        <p:nvSpPr>
          <p:cNvPr id="21" name="Rounded Rectangle 20"/>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Queries with the shard-key prefix are targeted; the rest ask every shard — keep those rare.</a:t>
            </a:r>
          </a:p>
        </p:txBody>
      </p:sp>
      <p:sp>
        <p:nvSpPr>
          <p:cNvPr id="23" name="Rectangle 2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REPLICATION AND SHARDING TOGETHER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production-style cluster: orders sharded, every shard a replica set.</a:t>
            </a:r>
          </a:p>
        </p:txBody>
      </p:sp>
      <p:sp>
        <p:nvSpPr>
          <p:cNvPr id="4" name="Rounded Rectangle 3"/>
          <p:cNvSpPr/>
          <p:nvPr/>
        </p:nvSpPr>
        <p:spPr>
          <a:xfrm>
            <a:off x="1371600" y="1298448"/>
            <a:ext cx="2743200" cy="420624"/>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424242"/>
                </a:solidFill>
                <a:latin typeface="Nirmala UI"/>
              </a:rPr>
              <a:t>Application (driver)</a:t>
            </a:r>
          </a:p>
        </p:txBody>
      </p:sp>
      <p:cxnSp>
        <p:nvCxnSpPr>
          <p:cNvPr id="5" name="Connector 4"/>
          <p:cNvCxnSpPr/>
          <p:nvPr/>
        </p:nvCxnSpPr>
        <p:spPr>
          <a:xfrm flipH="1">
            <a:off x="1645920" y="1746504"/>
            <a:ext cx="685800" cy="265176"/>
          </a:xfrm>
          <a:prstGeom prst="line">
            <a:avLst/>
          </a:prstGeom>
          <a:ln w="22225">
            <a:solidFill>
              <a:srgbClr val="182F5F"/>
            </a:solidFill>
            <a:tailEnd type="triangle" w="med" h="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85800" y="2048256"/>
            <a:ext cx="1920240" cy="56692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Nirmala UI"/>
              </a:rPr>
              <a:t>mongos 1</a:t>
            </a:r>
          </a:p>
          <a:p>
            <a:pPr algn="ctr"/>
            <a:r>
              <a:rPr sz="1100" b="0" i="0">
                <a:solidFill>
                  <a:srgbClr val="FFFFFF"/>
                </a:solidFill>
                <a:latin typeface="Nirmala UI"/>
              </a:rPr>
              <a:t>query router</a:t>
            </a:r>
          </a:p>
        </p:txBody>
      </p:sp>
      <p:cxnSp>
        <p:nvCxnSpPr>
          <p:cNvPr id="7" name="Connector 6"/>
          <p:cNvCxnSpPr/>
          <p:nvPr/>
        </p:nvCxnSpPr>
        <p:spPr>
          <a:xfrm>
            <a:off x="3154680" y="1746504"/>
            <a:ext cx="685800" cy="265176"/>
          </a:xfrm>
          <a:prstGeom prst="line">
            <a:avLst/>
          </a:prstGeom>
          <a:ln w="22225">
            <a:solidFill>
              <a:srgbClr val="182F5F"/>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80360" y="2048256"/>
            <a:ext cx="1920240" cy="56692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Nirmala UI"/>
              </a:rPr>
              <a:t>mongos 2</a:t>
            </a:r>
          </a:p>
          <a:p>
            <a:pPr algn="ctr"/>
            <a:r>
              <a:rPr sz="1100" b="0" i="0">
                <a:solidFill>
                  <a:srgbClr val="FFFFFF"/>
                </a:solidFill>
                <a:latin typeface="Nirmala UI"/>
              </a:rPr>
              <a:t>query router</a:t>
            </a:r>
          </a:p>
        </p:txBody>
      </p:sp>
      <p:sp>
        <p:nvSpPr>
          <p:cNvPr id="9" name="Can 8"/>
          <p:cNvSpPr/>
          <p:nvPr/>
        </p:nvSpPr>
        <p:spPr>
          <a:xfrm>
            <a:off x="5897880" y="1847088"/>
            <a:ext cx="2148840" cy="932688"/>
          </a:xfrm>
          <a:prstGeom prst="can">
            <a:avLst>
              <a:gd name="adj" fmla="val 18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5897880" y="2052279"/>
            <a:ext cx="2148840" cy="690189"/>
          </a:xfrm>
          <a:prstGeom prst="rect">
            <a:avLst/>
          </a:prstGeom>
          <a:noFill/>
        </p:spPr>
        <p:txBody>
          <a:bodyPr wrap="square" anchor="ctr" lIns="0" rIns="0" tIns="0" bIns="0">
            <a:spAutoFit/>
          </a:bodyPr>
          <a:lstStyle/>
          <a:p>
            <a:pPr algn="ctr"/>
            <a:r>
              <a:rPr sz="1200" b="1" i="0">
                <a:solidFill>
                  <a:srgbClr val="FFFFFF"/>
                </a:solidFill>
                <a:latin typeface="Nirmala UI"/>
              </a:rPr>
              <a:t>Config server</a:t>
            </a:r>
          </a:p>
          <a:p>
            <a:pPr algn="ctr"/>
            <a:r>
              <a:rPr sz="1200" b="1" i="0">
                <a:solidFill>
                  <a:srgbClr val="FFFFFF"/>
                </a:solidFill>
                <a:latin typeface="Nirmala UI"/>
              </a:rPr>
              <a:t>replica set</a:t>
            </a:r>
          </a:p>
        </p:txBody>
      </p:sp>
      <p:cxnSp>
        <p:nvCxnSpPr>
          <p:cNvPr id="11" name="Connector 10"/>
          <p:cNvCxnSpPr/>
          <p:nvPr/>
        </p:nvCxnSpPr>
        <p:spPr>
          <a:xfrm>
            <a:off x="4846320" y="2331720"/>
            <a:ext cx="1005840" cy="0"/>
          </a:xfrm>
          <a:prstGeom prst="line">
            <a:avLst/>
          </a:prstGeom>
          <a:ln w="19050">
            <a:solidFill>
              <a:srgbClr val="A86D33"/>
            </a:solidFill>
            <a:prstDash val="dash"/>
            <a:tailEnd type="triangle" w="med" h="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00600" y="1975104"/>
            <a:ext cx="1097280" cy="274320"/>
          </a:xfrm>
          <a:prstGeom prst="rect">
            <a:avLst/>
          </a:prstGeom>
          <a:noFill/>
        </p:spPr>
        <p:txBody>
          <a:bodyPr wrap="square" anchor="ctr" lIns="0" rIns="0" tIns="0" bIns="0">
            <a:spAutoFit/>
          </a:bodyPr>
          <a:lstStyle/>
          <a:p>
            <a:pPr algn="ctr"/>
            <a:r>
              <a:rPr sz="1100" b="1" i="0">
                <a:solidFill>
                  <a:srgbClr val="C9690C"/>
                </a:solidFill>
                <a:latin typeface="Nirmala UI"/>
              </a:rPr>
              <a:t>metadata</a:t>
            </a:r>
          </a:p>
        </p:txBody>
      </p:sp>
      <p:cxnSp>
        <p:nvCxnSpPr>
          <p:cNvPr id="13" name="Connector 12"/>
          <p:cNvCxnSpPr/>
          <p:nvPr/>
        </p:nvCxnSpPr>
        <p:spPr>
          <a:xfrm>
            <a:off x="1645920" y="2642616"/>
            <a:ext cx="15240" cy="438912"/>
          </a:xfrm>
          <a:prstGeom prst="line">
            <a:avLst/>
          </a:prstGeom>
          <a:ln w="12700">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661160" y="2642616"/>
            <a:ext cx="2179320" cy="438912"/>
          </a:xfrm>
          <a:prstGeom prst="line">
            <a:avLst/>
          </a:prstGeom>
          <a:ln w="12700">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57200" y="3118104"/>
            <a:ext cx="2407920" cy="271576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Round Same Side Corner Rectangle 15"/>
          <p:cNvSpPr/>
          <p:nvPr/>
        </p:nvSpPr>
        <p:spPr>
          <a:xfrm>
            <a:off x="457200" y="3118104"/>
            <a:ext cx="240792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594360" y="3118104"/>
            <a:ext cx="2133600" cy="420624"/>
          </a:xfrm>
          <a:prstGeom prst="rect">
            <a:avLst/>
          </a:prstGeom>
          <a:noFill/>
        </p:spPr>
        <p:txBody>
          <a:bodyPr wrap="square" anchor="ctr" lIns="0" rIns="0" tIns="0" bIns="0">
            <a:spAutoFit/>
          </a:bodyPr>
          <a:lstStyle/>
          <a:p>
            <a:pPr algn="l"/>
            <a:r>
              <a:rPr sz="1200" b="1" i="0">
                <a:solidFill>
                  <a:srgbClr val="FFFFFF"/>
                </a:solidFill>
                <a:latin typeface="Nirmala UI"/>
              </a:rPr>
              <a:t>SHARD A · PRIMARY SHARD</a:t>
            </a:r>
          </a:p>
        </p:txBody>
      </p:sp>
      <p:sp>
        <p:nvSpPr>
          <p:cNvPr id="18" name="Rounded Rectangle 17"/>
          <p:cNvSpPr/>
          <p:nvPr/>
        </p:nvSpPr>
        <p:spPr>
          <a:xfrm>
            <a:off x="594360" y="3648456"/>
            <a:ext cx="650240" cy="384048"/>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a:t>
            </a:r>
          </a:p>
        </p:txBody>
      </p:sp>
      <p:sp>
        <p:nvSpPr>
          <p:cNvPr id="19" name="Rounded Rectangle 18"/>
          <p:cNvSpPr/>
          <p:nvPr/>
        </p:nvSpPr>
        <p:spPr>
          <a:xfrm>
            <a:off x="1336040" y="3648456"/>
            <a:ext cx="650240" cy="38404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S</a:t>
            </a:r>
          </a:p>
        </p:txBody>
      </p:sp>
      <p:sp>
        <p:nvSpPr>
          <p:cNvPr id="20" name="Rounded Rectangle 19"/>
          <p:cNvSpPr/>
          <p:nvPr/>
        </p:nvSpPr>
        <p:spPr>
          <a:xfrm>
            <a:off x="2077720" y="3648456"/>
            <a:ext cx="650240" cy="38404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S</a:t>
            </a:r>
          </a:p>
        </p:txBody>
      </p:sp>
      <p:sp>
        <p:nvSpPr>
          <p:cNvPr id="21" name="TextBox 20"/>
          <p:cNvSpPr txBox="1"/>
          <p:nvPr/>
        </p:nvSpPr>
        <p:spPr>
          <a:xfrm>
            <a:off x="594360" y="4069080"/>
            <a:ext cx="2133600" cy="274320"/>
          </a:xfrm>
          <a:prstGeom prst="rect">
            <a:avLst/>
          </a:prstGeom>
          <a:noFill/>
        </p:spPr>
        <p:txBody>
          <a:bodyPr wrap="square" anchor="ctr" lIns="0" rIns="0" tIns="0" bIns="0">
            <a:spAutoFit/>
          </a:bodyPr>
          <a:lstStyle/>
          <a:p>
            <a:pPr algn="ctr"/>
            <a:r>
              <a:rPr sz="1100" b="0" i="0">
                <a:solidFill>
                  <a:srgbClr val="595959"/>
                </a:solidFill>
                <a:latin typeface="Nirmala UI"/>
              </a:rPr>
              <a:t>replica set · own elections</a:t>
            </a:r>
          </a:p>
        </p:txBody>
      </p:sp>
      <p:sp>
        <p:nvSpPr>
          <p:cNvPr id="22" name="Rounded Rectangle 21"/>
          <p:cNvSpPr/>
          <p:nvPr/>
        </p:nvSpPr>
        <p:spPr>
          <a:xfrm>
            <a:off x="594360" y="4416552"/>
            <a:ext cx="2133600" cy="402336"/>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orders ranges 1 · 4</a:t>
            </a:r>
          </a:p>
        </p:txBody>
      </p:sp>
      <p:sp>
        <p:nvSpPr>
          <p:cNvPr id="23" name="Rounded Rectangle 22"/>
          <p:cNvSpPr/>
          <p:nvPr/>
        </p:nvSpPr>
        <p:spPr>
          <a:xfrm>
            <a:off x="594360" y="4910328"/>
            <a:ext cx="2133600" cy="731520"/>
          </a:xfrm>
          <a:prstGeom prst="roundRect">
            <a:avLst>
              <a:gd name="adj" fmla="val 14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i="0">
                <a:solidFill>
                  <a:srgbClr val="0E7C7B"/>
                </a:solidFill>
                <a:latin typeface="Nirmala UI"/>
              </a:rPr>
              <a:t>Unsharded: products,</a:t>
            </a:r>
          </a:p>
          <a:p>
            <a:pPr algn="ctr"/>
            <a:r>
              <a:rPr sz="1100" b="1" i="0">
                <a:solidFill>
                  <a:srgbClr val="0E7C7B"/>
                </a:solidFill>
                <a:latin typeface="Nirmala UI"/>
              </a:rPr>
              <a:t>customers and reviews</a:t>
            </a:r>
          </a:p>
          <a:p>
            <a:pPr algn="ctr"/>
            <a:r>
              <a:rPr sz="1100" b="0" i="0">
                <a:solidFill>
                  <a:srgbClr val="0E7C7B"/>
                </a:solidFill>
                <a:latin typeface="Nirmala UI"/>
              </a:rPr>
              <a:t>on the primary shard</a:t>
            </a:r>
          </a:p>
        </p:txBody>
      </p:sp>
      <p:cxnSp>
        <p:nvCxnSpPr>
          <p:cNvPr id="24" name="Connector 23"/>
          <p:cNvCxnSpPr/>
          <p:nvPr/>
        </p:nvCxnSpPr>
        <p:spPr>
          <a:xfrm>
            <a:off x="1645920" y="2642616"/>
            <a:ext cx="2606040" cy="438912"/>
          </a:xfrm>
          <a:prstGeom prst="line">
            <a:avLst/>
          </a:prstGeom>
          <a:ln w="12700">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840480" y="2642616"/>
            <a:ext cx="411480" cy="438912"/>
          </a:xfrm>
          <a:prstGeom prst="line">
            <a:avLst/>
          </a:prstGeom>
          <a:ln w="12700">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048000" y="3118104"/>
            <a:ext cx="2407920" cy="271576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Round Same Side Corner Rectangle 26"/>
          <p:cNvSpPr/>
          <p:nvPr/>
        </p:nvSpPr>
        <p:spPr>
          <a:xfrm>
            <a:off x="3048000" y="3118104"/>
            <a:ext cx="2407920" cy="420624"/>
          </a:xfrm>
          <a:prstGeom prst="round2SameRect">
            <a:avLst>
              <a:gd name="adj1" fmla="val 22000"/>
              <a:gd name="adj2" fmla="val 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8" name="TextBox 27"/>
          <p:cNvSpPr txBox="1"/>
          <p:nvPr/>
        </p:nvSpPr>
        <p:spPr>
          <a:xfrm>
            <a:off x="3185160" y="3118104"/>
            <a:ext cx="2133600" cy="420624"/>
          </a:xfrm>
          <a:prstGeom prst="rect">
            <a:avLst/>
          </a:prstGeom>
          <a:noFill/>
        </p:spPr>
        <p:txBody>
          <a:bodyPr wrap="square" anchor="ctr" lIns="0" rIns="0" tIns="0" bIns="0">
            <a:spAutoFit/>
          </a:bodyPr>
          <a:lstStyle/>
          <a:p>
            <a:pPr algn="l"/>
            <a:r>
              <a:rPr sz="1200" b="1" i="0">
                <a:solidFill>
                  <a:srgbClr val="FFFFFF"/>
                </a:solidFill>
                <a:latin typeface="Nirmala UI"/>
              </a:rPr>
              <a:t>SHARD B</a:t>
            </a:r>
          </a:p>
        </p:txBody>
      </p:sp>
      <p:sp>
        <p:nvSpPr>
          <p:cNvPr id="29" name="Rounded Rectangle 28"/>
          <p:cNvSpPr/>
          <p:nvPr/>
        </p:nvSpPr>
        <p:spPr>
          <a:xfrm>
            <a:off x="3185160" y="3648456"/>
            <a:ext cx="650240" cy="384048"/>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a:t>
            </a:r>
          </a:p>
        </p:txBody>
      </p:sp>
      <p:sp>
        <p:nvSpPr>
          <p:cNvPr id="30" name="Rounded Rectangle 29"/>
          <p:cNvSpPr/>
          <p:nvPr/>
        </p:nvSpPr>
        <p:spPr>
          <a:xfrm>
            <a:off x="3926840" y="3648456"/>
            <a:ext cx="650240" cy="38404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S</a:t>
            </a:r>
          </a:p>
        </p:txBody>
      </p:sp>
      <p:sp>
        <p:nvSpPr>
          <p:cNvPr id="31" name="Rounded Rectangle 30"/>
          <p:cNvSpPr/>
          <p:nvPr/>
        </p:nvSpPr>
        <p:spPr>
          <a:xfrm>
            <a:off x="4668520" y="3648456"/>
            <a:ext cx="650240" cy="38404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S</a:t>
            </a:r>
          </a:p>
        </p:txBody>
      </p:sp>
      <p:sp>
        <p:nvSpPr>
          <p:cNvPr id="32" name="TextBox 31"/>
          <p:cNvSpPr txBox="1"/>
          <p:nvPr/>
        </p:nvSpPr>
        <p:spPr>
          <a:xfrm>
            <a:off x="3185160" y="4069080"/>
            <a:ext cx="2133600" cy="274320"/>
          </a:xfrm>
          <a:prstGeom prst="rect">
            <a:avLst/>
          </a:prstGeom>
          <a:noFill/>
        </p:spPr>
        <p:txBody>
          <a:bodyPr wrap="square" anchor="ctr" lIns="0" rIns="0" tIns="0" bIns="0">
            <a:spAutoFit/>
          </a:bodyPr>
          <a:lstStyle/>
          <a:p>
            <a:pPr algn="ctr"/>
            <a:r>
              <a:rPr sz="1100" b="0" i="0">
                <a:solidFill>
                  <a:srgbClr val="595959"/>
                </a:solidFill>
                <a:latin typeface="Nirmala UI"/>
              </a:rPr>
              <a:t>replica set · own elections</a:t>
            </a:r>
          </a:p>
        </p:txBody>
      </p:sp>
      <p:sp>
        <p:nvSpPr>
          <p:cNvPr id="33" name="Rounded Rectangle 32"/>
          <p:cNvSpPr/>
          <p:nvPr/>
        </p:nvSpPr>
        <p:spPr>
          <a:xfrm>
            <a:off x="3185160" y="4416552"/>
            <a:ext cx="2133600" cy="402336"/>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orders ranges 2 · 5</a:t>
            </a:r>
          </a:p>
        </p:txBody>
      </p:sp>
      <p:cxnSp>
        <p:nvCxnSpPr>
          <p:cNvPr id="34" name="Connector 33"/>
          <p:cNvCxnSpPr/>
          <p:nvPr/>
        </p:nvCxnSpPr>
        <p:spPr>
          <a:xfrm>
            <a:off x="1645920" y="2642616"/>
            <a:ext cx="5196840" cy="438912"/>
          </a:xfrm>
          <a:prstGeom prst="line">
            <a:avLst/>
          </a:prstGeom>
          <a:ln w="12700">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840480" y="2642616"/>
            <a:ext cx="3002280" cy="438912"/>
          </a:xfrm>
          <a:prstGeom prst="line">
            <a:avLst/>
          </a:prstGeom>
          <a:ln w="12700">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638800" y="3118104"/>
            <a:ext cx="2407920" cy="271576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7" name="Round Same Side Corner Rectangle 36"/>
          <p:cNvSpPr/>
          <p:nvPr/>
        </p:nvSpPr>
        <p:spPr>
          <a:xfrm>
            <a:off x="5638800" y="3118104"/>
            <a:ext cx="240792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8" name="TextBox 37"/>
          <p:cNvSpPr txBox="1"/>
          <p:nvPr/>
        </p:nvSpPr>
        <p:spPr>
          <a:xfrm>
            <a:off x="5775960" y="3118104"/>
            <a:ext cx="2133600" cy="420624"/>
          </a:xfrm>
          <a:prstGeom prst="rect">
            <a:avLst/>
          </a:prstGeom>
          <a:noFill/>
        </p:spPr>
        <p:txBody>
          <a:bodyPr wrap="square" anchor="ctr" lIns="0" rIns="0" tIns="0" bIns="0">
            <a:spAutoFit/>
          </a:bodyPr>
          <a:lstStyle/>
          <a:p>
            <a:pPr algn="l"/>
            <a:r>
              <a:rPr sz="1200" b="1" i="0">
                <a:solidFill>
                  <a:srgbClr val="FFFFFF"/>
                </a:solidFill>
                <a:latin typeface="Nirmala UI"/>
              </a:rPr>
              <a:t>SHARD C</a:t>
            </a:r>
          </a:p>
        </p:txBody>
      </p:sp>
      <p:sp>
        <p:nvSpPr>
          <p:cNvPr id="39" name="Rounded Rectangle 38"/>
          <p:cNvSpPr/>
          <p:nvPr/>
        </p:nvSpPr>
        <p:spPr>
          <a:xfrm>
            <a:off x="5775960" y="3648456"/>
            <a:ext cx="650240" cy="384048"/>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a:t>
            </a:r>
          </a:p>
        </p:txBody>
      </p:sp>
      <p:sp>
        <p:nvSpPr>
          <p:cNvPr id="40" name="Rounded Rectangle 39"/>
          <p:cNvSpPr/>
          <p:nvPr/>
        </p:nvSpPr>
        <p:spPr>
          <a:xfrm>
            <a:off x="6517640" y="3648456"/>
            <a:ext cx="650240" cy="38404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S</a:t>
            </a:r>
          </a:p>
        </p:txBody>
      </p:sp>
      <p:sp>
        <p:nvSpPr>
          <p:cNvPr id="41" name="Rounded Rectangle 40"/>
          <p:cNvSpPr/>
          <p:nvPr/>
        </p:nvSpPr>
        <p:spPr>
          <a:xfrm>
            <a:off x="7259320" y="3648456"/>
            <a:ext cx="650240" cy="38404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S</a:t>
            </a:r>
          </a:p>
        </p:txBody>
      </p:sp>
      <p:sp>
        <p:nvSpPr>
          <p:cNvPr id="42" name="TextBox 41"/>
          <p:cNvSpPr txBox="1"/>
          <p:nvPr/>
        </p:nvSpPr>
        <p:spPr>
          <a:xfrm>
            <a:off x="5775960" y="4069080"/>
            <a:ext cx="2133600" cy="274320"/>
          </a:xfrm>
          <a:prstGeom prst="rect">
            <a:avLst/>
          </a:prstGeom>
          <a:noFill/>
        </p:spPr>
        <p:txBody>
          <a:bodyPr wrap="square" anchor="ctr" lIns="0" rIns="0" tIns="0" bIns="0">
            <a:spAutoFit/>
          </a:bodyPr>
          <a:lstStyle/>
          <a:p>
            <a:pPr algn="ctr"/>
            <a:r>
              <a:rPr sz="1100" b="0" i="0">
                <a:solidFill>
                  <a:srgbClr val="595959"/>
                </a:solidFill>
                <a:latin typeface="Nirmala UI"/>
              </a:rPr>
              <a:t>replica set · own elections</a:t>
            </a:r>
          </a:p>
        </p:txBody>
      </p:sp>
      <p:sp>
        <p:nvSpPr>
          <p:cNvPr id="43" name="Rounded Rectangle 42"/>
          <p:cNvSpPr/>
          <p:nvPr/>
        </p:nvSpPr>
        <p:spPr>
          <a:xfrm>
            <a:off x="5775960" y="4416552"/>
            <a:ext cx="2133600" cy="402336"/>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orders ranges 3 · 6</a:t>
            </a:r>
          </a:p>
        </p:txBody>
      </p:sp>
      <p:sp>
        <p:nvSpPr>
          <p:cNvPr id="44" name="Rounded Rectangle 43"/>
          <p:cNvSpPr/>
          <p:nvPr/>
        </p:nvSpPr>
        <p:spPr>
          <a:xfrm>
            <a:off x="8366760" y="1298448"/>
            <a:ext cx="3337560" cy="123215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45" name="TextBox 44"/>
          <p:cNvSpPr txBox="1"/>
          <p:nvPr/>
        </p:nvSpPr>
        <p:spPr>
          <a:xfrm>
            <a:off x="8503920" y="1353312"/>
            <a:ext cx="3063240" cy="292608"/>
          </a:xfrm>
          <a:prstGeom prst="rect">
            <a:avLst/>
          </a:prstGeom>
          <a:noFill/>
        </p:spPr>
        <p:txBody>
          <a:bodyPr wrap="square" anchor="ctr" lIns="0" rIns="0" tIns="0" bIns="0">
            <a:spAutoFit/>
          </a:bodyPr>
          <a:lstStyle/>
          <a:p>
            <a:pPr algn="l"/>
            <a:r>
              <a:rPr sz="1300" b="1" i="0">
                <a:solidFill>
                  <a:srgbClr val="002060"/>
                </a:solidFill>
                <a:latin typeface="Nirmala UI"/>
              </a:rPr>
              <a:t>Sharding splits orders</a:t>
            </a:r>
          </a:p>
        </p:txBody>
      </p:sp>
      <p:sp>
        <p:nvSpPr>
          <p:cNvPr id="46" name="TextBox 45"/>
          <p:cNvSpPr txBox="1"/>
          <p:nvPr/>
        </p:nvSpPr>
        <p:spPr>
          <a:xfrm>
            <a:off x="8503920" y="1664208"/>
            <a:ext cx="3063240" cy="811529"/>
          </a:xfrm>
          <a:prstGeom prst="rect">
            <a:avLst/>
          </a:prstGeom>
          <a:noFill/>
        </p:spPr>
        <p:txBody>
          <a:bodyPr wrap="square" anchor="t" lIns="0" rIns="0" tIns="0" bIns="0">
            <a:spAutoFit/>
          </a:bodyPr>
          <a:lstStyle/>
          <a:p>
            <a:pPr algn="l"/>
            <a:r>
              <a:rPr sz="1200" b="0" i="0">
                <a:solidFill>
                  <a:srgbClr val="000000"/>
                </a:solidFill>
                <a:latin typeface="Nirmala UI"/>
              </a:rPr>
              <a:t>Its ranges are spread over three shards; mongos routes each request by shard key.</a:t>
            </a:r>
          </a:p>
        </p:txBody>
      </p:sp>
      <p:sp>
        <p:nvSpPr>
          <p:cNvPr id="47" name="Rounded Rectangle 46"/>
          <p:cNvSpPr/>
          <p:nvPr/>
        </p:nvSpPr>
        <p:spPr>
          <a:xfrm>
            <a:off x="8366760" y="2658618"/>
            <a:ext cx="333756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48" name="TextBox 47"/>
          <p:cNvSpPr txBox="1"/>
          <p:nvPr/>
        </p:nvSpPr>
        <p:spPr>
          <a:xfrm>
            <a:off x="8503920" y="2713482"/>
            <a:ext cx="3063240" cy="292608"/>
          </a:xfrm>
          <a:prstGeom prst="rect">
            <a:avLst/>
          </a:prstGeom>
          <a:noFill/>
        </p:spPr>
        <p:txBody>
          <a:bodyPr wrap="square" anchor="ctr" lIns="0" rIns="0" tIns="0" bIns="0">
            <a:spAutoFit/>
          </a:bodyPr>
          <a:lstStyle/>
          <a:p>
            <a:pPr algn="l"/>
            <a:r>
              <a:rPr sz="1300" b="1" i="0">
                <a:solidFill>
                  <a:srgbClr val="002060"/>
                </a:solidFill>
                <a:latin typeface="Nirmala UI"/>
              </a:rPr>
              <a:t>Replication protects each shard</a:t>
            </a:r>
          </a:p>
        </p:txBody>
      </p:sp>
      <p:sp>
        <p:nvSpPr>
          <p:cNvPr id="49" name="TextBox 48"/>
          <p:cNvSpPr txBox="1"/>
          <p:nvPr/>
        </p:nvSpPr>
        <p:spPr>
          <a:xfrm>
            <a:off x="8503920" y="3024377"/>
            <a:ext cx="3063240" cy="625601"/>
          </a:xfrm>
          <a:prstGeom prst="rect">
            <a:avLst/>
          </a:prstGeom>
          <a:noFill/>
        </p:spPr>
        <p:txBody>
          <a:bodyPr wrap="square" anchor="t" lIns="0" rIns="0" tIns="0" bIns="0">
            <a:spAutoFit/>
          </a:bodyPr>
          <a:lstStyle/>
          <a:p>
            <a:pPr algn="l"/>
            <a:r>
              <a:rPr sz="1200" b="0" i="0">
                <a:solidFill>
                  <a:srgbClr val="000000"/>
                </a:solidFill>
                <a:latin typeface="Nirmala UI"/>
              </a:rPr>
              <a:t>Every shard is its own replica set — P is the primary, S a secondary.</a:t>
            </a:r>
          </a:p>
        </p:txBody>
      </p:sp>
      <p:sp>
        <p:nvSpPr>
          <p:cNvPr id="50" name="Rounded Rectangle 49"/>
          <p:cNvSpPr/>
          <p:nvPr/>
        </p:nvSpPr>
        <p:spPr>
          <a:xfrm>
            <a:off x="8366760" y="3832860"/>
            <a:ext cx="333756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1" name="TextBox 50"/>
          <p:cNvSpPr txBox="1"/>
          <p:nvPr/>
        </p:nvSpPr>
        <p:spPr>
          <a:xfrm>
            <a:off x="8503920" y="3887723"/>
            <a:ext cx="3063240" cy="292608"/>
          </a:xfrm>
          <a:prstGeom prst="rect">
            <a:avLst/>
          </a:prstGeom>
          <a:noFill/>
        </p:spPr>
        <p:txBody>
          <a:bodyPr wrap="square" anchor="ctr" lIns="0" rIns="0" tIns="0" bIns="0">
            <a:spAutoFit/>
          </a:bodyPr>
          <a:lstStyle/>
          <a:p>
            <a:pPr algn="l"/>
            <a:r>
              <a:rPr sz="1300" b="1" i="0">
                <a:solidFill>
                  <a:srgbClr val="002060"/>
                </a:solidFill>
                <a:latin typeface="Nirmala UI"/>
              </a:rPr>
              <a:t>If a Shard B server fails</a:t>
            </a:r>
          </a:p>
        </p:txBody>
      </p:sp>
      <p:sp>
        <p:nvSpPr>
          <p:cNvPr id="52" name="TextBox 51"/>
          <p:cNvSpPr txBox="1"/>
          <p:nvPr/>
        </p:nvSpPr>
        <p:spPr>
          <a:xfrm>
            <a:off x="8503920" y="4198620"/>
            <a:ext cx="3063240" cy="625601"/>
          </a:xfrm>
          <a:prstGeom prst="rect">
            <a:avLst/>
          </a:prstGeom>
          <a:noFill/>
        </p:spPr>
        <p:txBody>
          <a:bodyPr wrap="square" anchor="t" lIns="0" rIns="0" tIns="0" bIns="0">
            <a:spAutoFit/>
          </a:bodyPr>
          <a:lstStyle/>
          <a:p>
            <a:pPr algn="l"/>
            <a:r>
              <a:rPr sz="1200" b="0" i="0">
                <a:solidFill>
                  <a:srgbClr val="000000"/>
                </a:solidFill>
                <a:latin typeface="Nirmala UI"/>
              </a:rPr>
              <a:t>Shard B elects a new primary; Shards A and C keep serving.</a:t>
            </a:r>
          </a:p>
        </p:txBody>
      </p:sp>
      <p:sp>
        <p:nvSpPr>
          <p:cNvPr id="53" name="Rounded Rectangle 52"/>
          <p:cNvSpPr/>
          <p:nvPr/>
        </p:nvSpPr>
        <p:spPr>
          <a:xfrm>
            <a:off x="8366760" y="5007102"/>
            <a:ext cx="3337560" cy="82677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4" name="TextBox 53"/>
          <p:cNvSpPr txBox="1"/>
          <p:nvPr/>
        </p:nvSpPr>
        <p:spPr>
          <a:xfrm>
            <a:off x="8549640" y="5007102"/>
            <a:ext cx="2971800" cy="826770"/>
          </a:xfrm>
          <a:prstGeom prst="rect">
            <a:avLst/>
          </a:prstGeom>
          <a:noFill/>
        </p:spPr>
        <p:txBody>
          <a:bodyPr wrap="square" anchor="ctr" lIns="0" rIns="0" tIns="0" bIns="0">
            <a:spAutoFit/>
          </a:bodyPr>
          <a:lstStyle/>
          <a:p>
            <a:pPr algn="l"/>
            <a:r>
              <a:rPr sz="1200" b="1" i="0">
                <a:solidFill>
                  <a:srgbClr val="D1282E"/>
                </a:solidFill>
                <a:latin typeface="Nirmala UI"/>
              </a:rPr>
              <a:t>PRIMARY SHARD   </a:t>
            </a:r>
            <a:r>
              <a:rPr sz="1200" b="0" i="0">
                <a:solidFill>
                  <a:srgbClr val="000000"/>
                </a:solidFill>
                <a:latin typeface="Nirmala UI"/>
              </a:rPr>
              <a:t>Unsharded collections live on one shard, not on all.</a:t>
            </a:r>
          </a:p>
        </p:txBody>
      </p:sp>
      <p:sp>
        <p:nvSpPr>
          <p:cNvPr id="55" name="Rounded Rectangle 5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Sharding distributes the data; replication protects every shard — production clusters need both.</a:t>
            </a:r>
          </a:p>
        </p:txBody>
      </p:sp>
      <p:sp>
        <p:nvSpPr>
          <p:cNvPr id="57" name="Rectangle 5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6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DEPLOYMENT DECISION FRAMEWORK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Standalone, replica set, scale up — or shard.</a:t>
            </a:r>
          </a:p>
        </p:txBody>
      </p:sp>
      <p:sp>
        <p:nvSpPr>
          <p:cNvPr id="4" name="Rounded Rectangle 3"/>
          <p:cNvSpPr/>
          <p:nvPr/>
        </p:nvSpPr>
        <p:spPr>
          <a:xfrm>
            <a:off x="475488" y="1385945"/>
            <a:ext cx="7415783" cy="436042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71" descr="image.jpg"/>
          <p:cNvPicPr>
            <a:picLocks noChangeAspect="1"/>
          </p:cNvPicPr>
          <p:nvPr/>
        </p:nvPicPr>
        <p:blipFill>
          <a:blip r:embed="rId2"/>
          <a:stretch>
            <a:fillRect/>
          </a:stretch>
        </p:blipFill>
        <p:spPr>
          <a:xfrm>
            <a:off x="548640" y="1459097"/>
            <a:ext cx="7269480" cy="4214125"/>
          </a:xfrm>
          <a:prstGeom prst="rect">
            <a:avLst/>
          </a:prstGeom>
        </p:spPr>
      </p:pic>
      <p:sp>
        <p:nvSpPr>
          <p:cNvPr id="6" name="Rounded Rectangle 5"/>
          <p:cNvSpPr/>
          <p:nvPr/>
        </p:nvSpPr>
        <p:spPr>
          <a:xfrm>
            <a:off x="8183880" y="1298448"/>
            <a:ext cx="3520440" cy="95326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Development or learning</a:t>
            </a:r>
          </a:p>
        </p:txBody>
      </p:sp>
      <p:sp>
        <p:nvSpPr>
          <p:cNvPr id="8" name="TextBox 7"/>
          <p:cNvSpPr txBox="1"/>
          <p:nvPr/>
        </p:nvSpPr>
        <p:spPr>
          <a:xfrm>
            <a:off x="8321040" y="1664208"/>
            <a:ext cx="3246120" cy="532638"/>
          </a:xfrm>
          <a:prstGeom prst="rect">
            <a:avLst/>
          </a:prstGeom>
          <a:noFill/>
        </p:spPr>
        <p:txBody>
          <a:bodyPr wrap="square" anchor="t" lIns="0" rIns="0" tIns="0" bIns="0">
            <a:spAutoFit/>
          </a:bodyPr>
          <a:lstStyle/>
          <a:p>
            <a:pPr algn="l"/>
            <a:r>
              <a:rPr sz="1200" b="0" i="0">
                <a:solidFill>
                  <a:srgbClr val="000000"/>
                </a:solidFill>
                <a:latin typeface="Nirmala UI"/>
              </a:rPr>
              <a:t>A standalone mongod is enough.</a:t>
            </a:r>
          </a:p>
        </p:txBody>
      </p:sp>
      <p:sp>
        <p:nvSpPr>
          <p:cNvPr id="9" name="Rounded Rectangle 8"/>
          <p:cNvSpPr/>
          <p:nvPr/>
        </p:nvSpPr>
        <p:spPr>
          <a:xfrm>
            <a:off x="8183880" y="2379726"/>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3459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Production</a:t>
            </a:r>
          </a:p>
        </p:txBody>
      </p:sp>
      <p:sp>
        <p:nvSpPr>
          <p:cNvPr id="11" name="TextBox 10"/>
          <p:cNvSpPr txBox="1"/>
          <p:nvPr/>
        </p:nvSpPr>
        <p:spPr>
          <a:xfrm>
            <a:off x="8321040" y="2745486"/>
            <a:ext cx="3246120" cy="718566"/>
          </a:xfrm>
          <a:prstGeom prst="rect">
            <a:avLst/>
          </a:prstGeom>
          <a:noFill/>
        </p:spPr>
        <p:txBody>
          <a:bodyPr wrap="square" anchor="t" lIns="0" rIns="0" tIns="0" bIns="0">
            <a:spAutoFit/>
          </a:bodyPr>
          <a:lstStyle/>
          <a:p>
            <a:pPr algn="l"/>
            <a:r>
              <a:rPr sz="1200" b="0" i="0">
                <a:solidFill>
                  <a:srgbClr val="000000"/>
                </a:solidFill>
                <a:latin typeface="Nirmala UI"/>
              </a:rPr>
              <a:t>Start with a replica set of at least three members.</a:t>
            </a:r>
          </a:p>
        </p:txBody>
      </p:sp>
      <p:sp>
        <p:nvSpPr>
          <p:cNvPr id="12" name="Rounded Rectangle 11"/>
          <p:cNvSpPr/>
          <p:nvPr/>
        </p:nvSpPr>
        <p:spPr>
          <a:xfrm>
            <a:off x="8183880" y="3646932"/>
            <a:ext cx="352044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0179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Outgrown one replica set?</a:t>
            </a:r>
          </a:p>
        </p:txBody>
      </p:sp>
      <p:sp>
        <p:nvSpPr>
          <p:cNvPr id="14" name="TextBox 13"/>
          <p:cNvSpPr txBox="1"/>
          <p:nvPr/>
        </p:nvSpPr>
        <p:spPr>
          <a:xfrm>
            <a:off x="8321040" y="4012692"/>
            <a:ext cx="3246120" cy="718565"/>
          </a:xfrm>
          <a:prstGeom prst="rect">
            <a:avLst/>
          </a:prstGeom>
          <a:noFill/>
        </p:spPr>
        <p:txBody>
          <a:bodyPr wrap="square" anchor="t" lIns="0" rIns="0" tIns="0" bIns="0">
            <a:spAutoFit/>
          </a:bodyPr>
          <a:lstStyle/>
          <a:p>
            <a:pPr algn="l"/>
            <a:r>
              <a:rPr sz="1200" b="0" i="0">
                <a:solidFill>
                  <a:srgbClr val="000000"/>
                </a:solidFill>
                <a:latin typeface="Nirmala UI"/>
              </a:rPr>
              <a:t>Scale up first; shard when one set can't hold the data or writes.</a:t>
            </a:r>
          </a:p>
        </p:txBody>
      </p:sp>
      <p:sp>
        <p:nvSpPr>
          <p:cNvPr id="15" name="Rounded Rectangle 14"/>
          <p:cNvSpPr/>
          <p:nvPr/>
        </p:nvSpPr>
        <p:spPr>
          <a:xfrm>
            <a:off x="8183880" y="4914138"/>
            <a:ext cx="3520440" cy="91973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14138"/>
            <a:ext cx="3154680" cy="919734"/>
          </a:xfrm>
          <a:prstGeom prst="rect">
            <a:avLst/>
          </a:prstGeom>
          <a:noFill/>
        </p:spPr>
        <p:txBody>
          <a:bodyPr wrap="square" anchor="ctr" lIns="0" rIns="0" tIns="0" bIns="0">
            <a:spAutoFit/>
          </a:bodyPr>
          <a:lstStyle/>
          <a:p>
            <a:pPr algn="l"/>
            <a:r>
              <a:rPr sz="1200" b="1" i="0">
                <a:solidFill>
                  <a:srgbClr val="D1282E"/>
                </a:solidFill>
                <a:latin typeface="Nirmala UI"/>
              </a:rPr>
              <a:t>SHARD WITH EVIDENCE   </a:t>
            </a:r>
            <a:r>
              <a:rPr sz="1200" b="0" i="0">
                <a:solidFill>
                  <a:srgbClr val="000000"/>
                </a:solidFill>
                <a:latin typeface="Nirmala UI"/>
              </a:rPr>
              <a:t>Fix schema and indexes first.</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Replicate every production deployment; shard only when measurements show you must.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MISCONCEPTIONS AND ANTI-PATTERNS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Beliefs that lead first distributed designs into trouble.</a:t>
            </a:r>
          </a:p>
        </p:txBody>
      </p:sp>
      <p:sp>
        <p:nvSpPr>
          <p:cNvPr id="4" name="TextBox 3"/>
          <p:cNvSpPr txBox="1"/>
          <p:nvPr/>
        </p:nvSpPr>
        <p:spPr>
          <a:xfrm>
            <a:off x="457200" y="1298448"/>
            <a:ext cx="3291840" cy="310896"/>
          </a:xfrm>
          <a:prstGeom prst="rect">
            <a:avLst/>
          </a:prstGeom>
          <a:noFill/>
        </p:spPr>
        <p:txBody>
          <a:bodyPr wrap="square" anchor="t" lIns="0" rIns="0" tIns="0" bIns="0">
            <a:spAutoFit/>
          </a:bodyPr>
          <a:lstStyle/>
          <a:p>
            <a:pPr algn="l"/>
            <a:r>
              <a:rPr sz="1300" b="1" i="0">
                <a:solidFill>
                  <a:srgbClr val="D1282E"/>
                </a:solidFill>
                <a:latin typeface="Nirmala UI"/>
              </a:rPr>
              <a:t>MISCONCEPTION</a:t>
            </a:r>
          </a:p>
        </p:txBody>
      </p:sp>
      <p:sp>
        <p:nvSpPr>
          <p:cNvPr id="5" name="TextBox 4"/>
          <p:cNvSpPr txBox="1"/>
          <p:nvPr/>
        </p:nvSpPr>
        <p:spPr>
          <a:xfrm>
            <a:off x="4069080" y="1298448"/>
            <a:ext cx="3291840" cy="310896"/>
          </a:xfrm>
          <a:prstGeom prst="rect">
            <a:avLst/>
          </a:prstGeom>
          <a:noFill/>
        </p:spPr>
        <p:txBody>
          <a:bodyPr wrap="square" anchor="t" lIns="0" rIns="0" tIns="0" bIns="0">
            <a:spAutoFit/>
          </a:bodyPr>
          <a:lstStyle/>
          <a:p>
            <a:pPr algn="l"/>
            <a:r>
              <a:rPr sz="1300" b="1" i="0">
                <a:solidFill>
                  <a:srgbClr val="2E7D32"/>
                </a:solidFill>
                <a:latin typeface="Nirmala UI"/>
              </a:rPr>
              <a:t>REALITY</a:t>
            </a:r>
          </a:p>
        </p:txBody>
      </p:sp>
      <p:sp>
        <p:nvSpPr>
          <p:cNvPr id="6" name="Rounded Rectangle 5"/>
          <p:cNvSpPr/>
          <p:nvPr/>
        </p:nvSpPr>
        <p:spPr>
          <a:xfrm>
            <a:off x="457200" y="1709928"/>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A replica set spreads writes over its members</a:t>
            </a:r>
          </a:p>
        </p:txBody>
      </p:sp>
      <p:cxnSp>
        <p:nvCxnSpPr>
          <p:cNvPr id="7" name="Connector 6"/>
          <p:cNvCxnSpPr/>
          <p:nvPr/>
        </p:nvCxnSpPr>
        <p:spPr>
          <a:xfrm>
            <a:off x="3730752" y="2078431"/>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069080" y="1709928"/>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All writes go to the primary; the secondaries copy them</a:t>
            </a:r>
          </a:p>
        </p:txBody>
      </p:sp>
      <p:sp>
        <p:nvSpPr>
          <p:cNvPr id="9" name="Rounded Rectangle 8"/>
          <p:cNvSpPr/>
          <p:nvPr/>
        </p:nvSpPr>
        <p:spPr>
          <a:xfrm>
            <a:off x="457200" y="2556662"/>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Secondary reads always make apps faster</a:t>
            </a:r>
          </a:p>
        </p:txBody>
      </p:sp>
      <p:cxnSp>
        <p:nvCxnSpPr>
          <p:cNvPr id="10" name="Connector 9"/>
          <p:cNvCxnSpPr/>
          <p:nvPr/>
        </p:nvCxnSpPr>
        <p:spPr>
          <a:xfrm>
            <a:off x="3730752" y="2925165"/>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069080" y="2556662"/>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They may be stale and compete with replication</a:t>
            </a:r>
          </a:p>
        </p:txBody>
      </p:sp>
      <p:sp>
        <p:nvSpPr>
          <p:cNvPr id="12" name="Rounded Rectangle 11"/>
          <p:cNvSpPr/>
          <p:nvPr/>
        </p:nvSpPr>
        <p:spPr>
          <a:xfrm>
            <a:off x="457200" y="3403396"/>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Sharding speeds up every query</a:t>
            </a:r>
          </a:p>
        </p:txBody>
      </p:sp>
      <p:cxnSp>
        <p:nvCxnSpPr>
          <p:cNvPr id="13" name="Connector 12"/>
          <p:cNvCxnSpPr/>
          <p:nvPr/>
        </p:nvCxnSpPr>
        <p:spPr>
          <a:xfrm>
            <a:off x="3730752" y="3771899"/>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069080" y="3403396"/>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Queries without the shard key ask every shard</a:t>
            </a:r>
          </a:p>
        </p:txBody>
      </p:sp>
      <p:sp>
        <p:nvSpPr>
          <p:cNvPr id="15" name="Rounded Rectangle 14"/>
          <p:cNvSpPr/>
          <p:nvPr/>
        </p:nvSpPr>
        <p:spPr>
          <a:xfrm>
            <a:off x="457200" y="4250131"/>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Replication is a backup</a:t>
            </a:r>
          </a:p>
        </p:txBody>
      </p:sp>
      <p:cxnSp>
        <p:nvCxnSpPr>
          <p:cNvPr id="16" name="Connector 15"/>
          <p:cNvCxnSpPr/>
          <p:nvPr/>
        </p:nvCxnSpPr>
        <p:spPr>
          <a:xfrm>
            <a:off x="3730752" y="4618634"/>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69080" y="4250131"/>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A deleteMany is replicated too — keep real backups</a:t>
            </a:r>
          </a:p>
        </p:txBody>
      </p:sp>
      <p:sp>
        <p:nvSpPr>
          <p:cNvPr id="18" name="Rounded Rectangle 17"/>
          <p:cNvSpPr/>
          <p:nvPr/>
        </p:nvSpPr>
        <p:spPr>
          <a:xfrm>
            <a:off x="457200" y="5096865"/>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The shard key is just another index</a:t>
            </a:r>
          </a:p>
        </p:txBody>
      </p:sp>
      <p:cxnSp>
        <p:nvCxnSpPr>
          <p:cNvPr id="19" name="Connector 18"/>
          <p:cNvCxnSpPr/>
          <p:nvPr/>
        </p:nvCxnSpPr>
        <p:spPr>
          <a:xfrm>
            <a:off x="3730752" y="5465368"/>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9080" y="5096865"/>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It decides placement and routing — and is hard to change</a:t>
            </a:r>
          </a:p>
        </p:txBody>
      </p:sp>
      <p:sp>
        <p:nvSpPr>
          <p:cNvPr id="21" name="TextBox 20"/>
          <p:cNvSpPr txBox="1"/>
          <p:nvPr/>
        </p:nvSpPr>
        <p:spPr>
          <a:xfrm>
            <a:off x="7772400" y="1298448"/>
            <a:ext cx="3931920" cy="310896"/>
          </a:xfrm>
          <a:prstGeom prst="rect">
            <a:avLst/>
          </a:prstGeom>
          <a:noFill/>
        </p:spPr>
        <p:txBody>
          <a:bodyPr wrap="square" anchor="t" lIns="0" rIns="0" tIns="0" bIns="0">
            <a:spAutoFit/>
          </a:bodyPr>
          <a:lstStyle/>
          <a:p>
            <a:pPr algn="l"/>
            <a:r>
              <a:rPr sz="1300" b="1" i="0">
                <a:solidFill>
                  <a:srgbClr val="D1282E"/>
                </a:solidFill>
                <a:latin typeface="Nirmala UI"/>
              </a:rPr>
              <a:t>ANTI-PATTERNS TO AVOID</a:t>
            </a:r>
          </a:p>
        </p:txBody>
      </p:sp>
      <p:sp>
        <p:nvSpPr>
          <p:cNvPr id="22" name="Oval 21"/>
          <p:cNvSpPr/>
          <p:nvPr/>
        </p:nvSpPr>
        <p:spPr>
          <a:xfrm>
            <a:off x="7772400" y="1673352"/>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3" name="TextBox 22"/>
          <p:cNvSpPr txBox="1"/>
          <p:nvPr/>
        </p:nvSpPr>
        <p:spPr>
          <a:xfrm>
            <a:off x="8138160" y="1645920"/>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Connecting to one host, not the set</a:t>
            </a:r>
          </a:p>
        </p:txBody>
      </p:sp>
      <p:sp>
        <p:nvSpPr>
          <p:cNvPr id="24" name="Oval 23"/>
          <p:cNvSpPr/>
          <p:nvPr/>
        </p:nvSpPr>
        <p:spPr>
          <a:xfrm>
            <a:off x="7772400" y="1984248"/>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8138160" y="1956816"/>
            <a:ext cx="3566160" cy="475996"/>
          </a:xfrm>
          <a:prstGeom prst="rect">
            <a:avLst/>
          </a:prstGeom>
          <a:noFill/>
        </p:spPr>
        <p:txBody>
          <a:bodyPr wrap="square" anchor="ctr" lIns="0" rIns="0" tIns="0" bIns="0">
            <a:spAutoFit/>
          </a:bodyPr>
          <a:lstStyle/>
          <a:p>
            <a:pPr algn="l"/>
            <a:r>
              <a:rPr sz="1300" b="0" i="0">
                <a:solidFill>
                  <a:srgbClr val="000000"/>
                </a:solidFill>
                <a:latin typeface="Nirmala UI"/>
              </a:rPr>
              <a:t>Two or four voters instead of three or five</a:t>
            </a:r>
          </a:p>
        </p:txBody>
      </p:sp>
      <p:sp>
        <p:nvSpPr>
          <p:cNvPr id="26" name="Oval 25"/>
          <p:cNvSpPr/>
          <p:nvPr/>
        </p:nvSpPr>
        <p:spPr>
          <a:xfrm>
            <a:off x="7772400" y="2460244"/>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8138160" y="2432812"/>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Sharding on fulfillmentStatus</a:t>
            </a:r>
          </a:p>
        </p:txBody>
      </p:sp>
      <p:sp>
        <p:nvSpPr>
          <p:cNvPr id="28" name="Oval 27"/>
          <p:cNvSpPr/>
          <p:nvPr/>
        </p:nvSpPr>
        <p:spPr>
          <a:xfrm>
            <a:off x="7772400" y="277114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8138160" y="2743708"/>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A ranged key on createdAt</a:t>
            </a:r>
          </a:p>
        </p:txBody>
      </p:sp>
      <p:sp>
        <p:nvSpPr>
          <p:cNvPr id="30" name="Oval 29"/>
          <p:cNvSpPr/>
          <p:nvPr/>
        </p:nvSpPr>
        <p:spPr>
          <a:xfrm>
            <a:off x="7772400" y="3082036"/>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8138160" y="3054604"/>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Sharding before fixing indexes</a:t>
            </a:r>
          </a:p>
        </p:txBody>
      </p:sp>
      <p:sp>
        <p:nvSpPr>
          <p:cNvPr id="32" name="Rounded Rectangle 31"/>
          <p:cNvSpPr/>
          <p:nvPr/>
        </p:nvSpPr>
        <p:spPr>
          <a:xfrm>
            <a:off x="7772400" y="3493516"/>
            <a:ext cx="393192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7955279" y="3493516"/>
            <a:ext cx="3566160" cy="1075944"/>
          </a:xfrm>
          <a:prstGeom prst="rect">
            <a:avLst/>
          </a:prstGeom>
          <a:noFill/>
        </p:spPr>
        <p:txBody>
          <a:bodyPr wrap="square" anchor="ctr" lIns="0" rIns="0" tIns="0" bIns="0">
            <a:spAutoFit/>
          </a:bodyPr>
          <a:lstStyle/>
          <a:p>
            <a:pPr algn="l"/>
            <a:r>
              <a:rPr sz="1200" b="1" i="0">
                <a:solidFill>
                  <a:srgbClr val="D1282E"/>
                </a:solidFill>
                <a:latin typeface="Nirmala UI"/>
              </a:rPr>
              <a:t>REMEMBER   </a:t>
            </a:r>
            <a:r>
              <a:rPr sz="1200" b="0" i="0">
                <a:solidFill>
                  <a:srgbClr val="000000"/>
                </a:solidFill>
                <a:latin typeface="Nirmala UI"/>
              </a:rPr>
              <a:t>Replicate to stay online, shard to grow, back up to recover.</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Most distributed-design problems come from mixing up availability, scale and recovery.</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KNOWLEDGE CHECK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Answer in your own words — then compare with a partner.</a:t>
            </a:r>
          </a:p>
        </p:txBody>
      </p:sp>
      <p:sp>
        <p:nvSpPr>
          <p:cNvPr id="4" name="Rounded Rectangle 3"/>
          <p:cNvSpPr/>
          <p:nvPr/>
        </p:nvSpPr>
        <p:spPr>
          <a:xfrm>
            <a:off x="45720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565452"/>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6" name="TextBox 5"/>
          <p:cNvSpPr txBox="1"/>
          <p:nvPr/>
        </p:nvSpPr>
        <p:spPr>
          <a:xfrm>
            <a:off x="114300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is the main purpose of replication? Of sharding?</a:t>
            </a:r>
          </a:p>
        </p:txBody>
      </p:sp>
      <p:sp>
        <p:nvSpPr>
          <p:cNvPr id="7" name="Rounded Rectangle 6"/>
          <p:cNvSpPr/>
          <p:nvPr/>
        </p:nvSpPr>
        <p:spPr>
          <a:xfrm>
            <a:off x="45720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Oval 7"/>
          <p:cNvSpPr/>
          <p:nvPr/>
        </p:nvSpPr>
        <p:spPr>
          <a:xfrm>
            <a:off x="603504" y="2593238"/>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9" name="TextBox 8"/>
          <p:cNvSpPr txBox="1"/>
          <p:nvPr/>
        </p:nvSpPr>
        <p:spPr>
          <a:xfrm>
            <a:off x="114300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the oplog do?</a:t>
            </a:r>
          </a:p>
        </p:txBody>
      </p:sp>
      <p:sp>
        <p:nvSpPr>
          <p:cNvPr id="10" name="Rounded Rectangle 9"/>
          <p:cNvSpPr/>
          <p:nvPr/>
        </p:nvSpPr>
        <p:spPr>
          <a:xfrm>
            <a:off x="45720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Oval 10"/>
          <p:cNvSpPr/>
          <p:nvPr/>
        </p:nvSpPr>
        <p:spPr>
          <a:xfrm>
            <a:off x="603504" y="3621024"/>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12" name="TextBox 11"/>
          <p:cNvSpPr txBox="1"/>
          <p:nvPr/>
        </p:nvSpPr>
        <p:spPr>
          <a:xfrm>
            <a:off x="114300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starts an election, and why is a majority needed?</a:t>
            </a:r>
          </a:p>
        </p:txBody>
      </p:sp>
      <p:sp>
        <p:nvSpPr>
          <p:cNvPr id="13" name="Rounded Rectangle 12"/>
          <p:cNvSpPr/>
          <p:nvPr/>
        </p:nvSpPr>
        <p:spPr>
          <a:xfrm>
            <a:off x="45720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Oval 13"/>
          <p:cNvSpPr/>
          <p:nvPr/>
        </p:nvSpPr>
        <p:spPr>
          <a:xfrm>
            <a:off x="603504" y="4648809"/>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4</a:t>
            </a:r>
          </a:p>
        </p:txBody>
      </p:sp>
      <p:sp>
        <p:nvSpPr>
          <p:cNvPr id="15" name="TextBox 14"/>
          <p:cNvSpPr txBox="1"/>
          <p:nvPr/>
        </p:nvSpPr>
        <p:spPr>
          <a:xfrm>
            <a:off x="114300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is replication lag, and why does it matter?</a:t>
            </a:r>
          </a:p>
        </p:txBody>
      </p:sp>
      <p:sp>
        <p:nvSpPr>
          <p:cNvPr id="16" name="Rounded Rectangle 15"/>
          <p:cNvSpPr/>
          <p:nvPr/>
        </p:nvSpPr>
        <p:spPr>
          <a:xfrm>
            <a:off x="45720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03504" y="5676595"/>
            <a:ext cx="384048" cy="384048"/>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5</a:t>
            </a:r>
          </a:p>
        </p:txBody>
      </p:sp>
      <p:sp>
        <p:nvSpPr>
          <p:cNvPr id="18" name="TextBox 17"/>
          <p:cNvSpPr txBox="1"/>
          <p:nvPr/>
        </p:nvSpPr>
        <p:spPr>
          <a:xfrm>
            <a:off x="114300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Read preference, read concern, write concern: what does each control?</a:t>
            </a:r>
          </a:p>
        </p:txBody>
      </p:sp>
      <p:sp>
        <p:nvSpPr>
          <p:cNvPr id="19" name="Rounded Rectangle 18"/>
          <p:cNvSpPr/>
          <p:nvPr/>
        </p:nvSpPr>
        <p:spPr>
          <a:xfrm>
            <a:off x="626364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Oval 19"/>
          <p:cNvSpPr/>
          <p:nvPr/>
        </p:nvSpPr>
        <p:spPr>
          <a:xfrm>
            <a:off x="6409944" y="1565452"/>
            <a:ext cx="384048" cy="384048"/>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6</a:t>
            </a:r>
          </a:p>
        </p:txBody>
      </p:sp>
      <p:sp>
        <p:nvSpPr>
          <p:cNvPr id="21" name="TextBox 20"/>
          <p:cNvSpPr txBox="1"/>
          <p:nvPr/>
        </p:nvSpPr>
        <p:spPr>
          <a:xfrm>
            <a:off x="694944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mongos do? What do config servers store?</a:t>
            </a:r>
          </a:p>
        </p:txBody>
      </p:sp>
      <p:sp>
        <p:nvSpPr>
          <p:cNvPr id="22" name="Rounded Rectangle 21"/>
          <p:cNvSpPr/>
          <p:nvPr/>
        </p:nvSpPr>
        <p:spPr>
          <a:xfrm>
            <a:off x="626364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Oval 22"/>
          <p:cNvSpPr/>
          <p:nvPr/>
        </p:nvSpPr>
        <p:spPr>
          <a:xfrm>
            <a:off x="6409944" y="2593238"/>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7</a:t>
            </a:r>
          </a:p>
        </p:txBody>
      </p:sp>
      <p:sp>
        <p:nvSpPr>
          <p:cNvPr id="24" name="TextBox 23"/>
          <p:cNvSpPr txBox="1"/>
          <p:nvPr/>
        </p:nvSpPr>
        <p:spPr>
          <a:xfrm>
            <a:off x="694944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is fulfillmentStatus a poor shard key?</a:t>
            </a:r>
          </a:p>
        </p:txBody>
      </p:sp>
      <p:sp>
        <p:nvSpPr>
          <p:cNvPr id="25" name="Rounded Rectangle 24"/>
          <p:cNvSpPr/>
          <p:nvPr/>
        </p:nvSpPr>
        <p:spPr>
          <a:xfrm>
            <a:off x="626364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Oval 25"/>
          <p:cNvSpPr/>
          <p:nvPr/>
        </p:nvSpPr>
        <p:spPr>
          <a:xfrm>
            <a:off x="6409944" y="3621024"/>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8</a:t>
            </a:r>
          </a:p>
        </p:txBody>
      </p:sp>
      <p:sp>
        <p:nvSpPr>
          <p:cNvPr id="27" name="TextBox 26"/>
          <p:cNvSpPr txBox="1"/>
          <p:nvPr/>
        </p:nvSpPr>
        <p:spPr>
          <a:xfrm>
            <a:off x="694944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can a ranged key on createdAt create a hotspot?</a:t>
            </a:r>
          </a:p>
        </p:txBody>
      </p:sp>
      <p:sp>
        <p:nvSpPr>
          <p:cNvPr id="28" name="Rounded Rectangle 27"/>
          <p:cNvSpPr/>
          <p:nvPr/>
        </p:nvSpPr>
        <p:spPr>
          <a:xfrm>
            <a:off x="626364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409944" y="4648809"/>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9</a:t>
            </a:r>
          </a:p>
        </p:txBody>
      </p:sp>
      <p:sp>
        <p:nvSpPr>
          <p:cNvPr id="30" name="TextBox 29"/>
          <p:cNvSpPr txBox="1"/>
          <p:nvPr/>
        </p:nvSpPr>
        <p:spPr>
          <a:xfrm>
            <a:off x="694944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Targeted versus scatter-gather: what is the difference?</a:t>
            </a:r>
          </a:p>
        </p:txBody>
      </p:sp>
      <p:sp>
        <p:nvSpPr>
          <p:cNvPr id="31" name="Rounded Rectangle 30"/>
          <p:cNvSpPr/>
          <p:nvPr/>
        </p:nvSpPr>
        <p:spPr>
          <a:xfrm>
            <a:off x="626364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2" name="Oval 31"/>
          <p:cNvSpPr/>
          <p:nvPr/>
        </p:nvSpPr>
        <p:spPr>
          <a:xfrm>
            <a:off x="6409944" y="5676595"/>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10</a:t>
            </a:r>
          </a:p>
        </p:txBody>
      </p:sp>
      <p:sp>
        <p:nvSpPr>
          <p:cNvPr id="33" name="TextBox 32"/>
          <p:cNvSpPr txBox="1"/>
          <p:nvPr/>
        </p:nvSpPr>
        <p:spPr>
          <a:xfrm>
            <a:off x="694944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Is replication a replacement for backups?</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7.1 — REPLICATION OR SHARDING?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7 checkpoint A: match each requirement to its mechanism.</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A</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6551676" y="1298448"/>
            <a:ext cx="515264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labs/day-03/exercises/exercise-7.1-replication-or-sharding.md</a:t>
            </a:r>
          </a:p>
        </p:txBody>
      </p:sp>
      <p:sp>
        <p:nvSpPr>
          <p:cNvPr id="7" name="Rounded Rectangle 6"/>
          <p:cNvSpPr/>
          <p:nvPr/>
        </p:nvSpPr>
        <p:spPr>
          <a:xfrm>
            <a:off x="457200" y="1865376"/>
            <a:ext cx="384048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Write Replication, Sharding, Both or Neither yet for each requirement.</a:t>
            </a:r>
          </a:p>
        </p:txBody>
      </p:sp>
      <p:sp>
        <p:nvSpPr>
          <p:cNvPr id="11" name="Rounded Rectangle 10"/>
          <p:cNvSpPr/>
          <p:nvPr/>
        </p:nvSpPr>
        <p:spPr>
          <a:xfrm>
            <a:off x="566928" y="3012440"/>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1  Survive one server failure</a:t>
            </a:r>
          </a:p>
          <a:p>
            <a:pPr algn="l"/>
            <a:r>
              <a:rPr sz="1100" b="0" i="0">
                <a:solidFill>
                  <a:srgbClr val="000000"/>
                </a:solidFill>
                <a:latin typeface="Consolas"/>
              </a:rPr>
              <a:t>2  Increase total data capacity</a:t>
            </a:r>
          </a:p>
          <a:p>
            <a:pPr algn="l"/>
            <a:r>
              <a:rPr sz="1100" b="0" i="0">
                <a:solidFill>
                  <a:srgbClr val="000000"/>
                </a:solidFill>
                <a:latin typeface="Consolas"/>
              </a:rPr>
              <a:t>3  Elect a replacement primary</a:t>
            </a:r>
          </a:p>
          <a:p>
            <a:pPr algn="l"/>
            <a:r>
              <a:rPr sz="1100" b="0" i="0">
                <a:solidFill>
                  <a:srgbClr val="000000"/>
                </a:solidFill>
                <a:latin typeface="Consolas"/>
              </a:rPr>
              <a:t>4  Distribute write load</a:t>
            </a:r>
          </a:p>
          <a:p>
            <a:pPr algn="l"/>
            <a:r>
              <a:rPr sz="1100" b="0" i="0">
                <a:solidFill>
                  <a:srgbClr val="000000"/>
                </a:solidFill>
                <a:latin typeface="Consolas"/>
              </a:rPr>
              <a:t>5  A local development database</a:t>
            </a:r>
          </a:p>
          <a:p>
            <a:pPr algn="l"/>
            <a:r>
              <a:rPr sz="1100" b="0" i="0">
                <a:solidFill>
                  <a:srgbClr val="000000"/>
                </a:solidFill>
                <a:latin typeface="Consolas"/>
              </a:rPr>
              <a:t>6  Production availability + scale</a:t>
            </a:r>
          </a:p>
        </p:txBody>
      </p:sp>
      <p:sp>
        <p:nvSpPr>
          <p:cNvPr id="12" name="Rounded Rectangle 11"/>
          <p:cNvSpPr/>
          <p:nvPr/>
        </p:nvSpPr>
        <p:spPr>
          <a:xfrm>
            <a:off x="4526280" y="1865376"/>
            <a:ext cx="388620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Classify requirements 1–3</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Classify requirements 4–6</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Explain why secondaries add no capacity</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Compare with Lab 6: last week's delete</a:t>
            </a:r>
          </a:p>
        </p:txBody>
      </p:sp>
      <p:sp>
        <p:nvSpPr>
          <p:cNvPr id="23" name="Rounded Rectangle 22"/>
          <p:cNvSpPr/>
          <p:nvPr/>
        </p:nvSpPr>
        <p:spPr>
          <a:xfrm>
            <a:off x="8641080" y="1865376"/>
            <a:ext cx="306324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 Replication · 2 Sharding</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3 Replication · 4 Sharding</a:t>
            </a:r>
          </a:p>
        </p:txBody>
      </p:sp>
      <p:sp>
        <p:nvSpPr>
          <p:cNvPr id="30" name="Oval 29"/>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5 Neither yet: standalone</a:t>
            </a:r>
          </a:p>
        </p:txBody>
      </p:sp>
      <p:sp>
        <p:nvSpPr>
          <p:cNvPr id="32" name="Oval 31"/>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657600"/>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6 Both: sharded replica sets</a:t>
            </a:r>
          </a:p>
        </p:txBody>
      </p:sp>
      <p:sp>
        <p:nvSpPr>
          <p:cNvPr id="34" name="Oval 33"/>
          <p:cNvSpPr/>
          <p:nvPr/>
        </p:nvSpPr>
        <p:spPr>
          <a:xfrm>
            <a:off x="8778240" y="42616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20674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Same data on each member</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Copies give availability, shards give capacity — and development needs neither yet.</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7.2 — SELECT READ AND WRITE SETTINGS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7 checkpoint B: choose settings per business operation.</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B</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20 MIN</a:t>
            </a:r>
          </a:p>
        </p:txBody>
      </p:sp>
      <p:sp>
        <p:nvSpPr>
          <p:cNvPr id="6" name="Rounded Rectangle 5"/>
          <p:cNvSpPr/>
          <p:nvPr/>
        </p:nvSpPr>
        <p:spPr>
          <a:xfrm>
            <a:off x="6007608" y="1298448"/>
            <a:ext cx="5696712"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labs/day-03/exercises/exercise-7.2-select-read-and-write-settings.md</a:t>
            </a:r>
          </a:p>
        </p:txBody>
      </p:sp>
      <p:sp>
        <p:nvSpPr>
          <p:cNvPr id="7" name="Rounded Rectangle 6"/>
          <p:cNvSpPr/>
          <p:nvPr/>
        </p:nvSpPr>
        <p:spPr>
          <a:xfrm>
            <a:off x="457200" y="1865376"/>
            <a:ext cx="384048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For each operation choose a read preference, a read concern and a write concern.</a:t>
            </a:r>
          </a:p>
        </p:txBody>
      </p:sp>
      <p:sp>
        <p:nvSpPr>
          <p:cNvPr id="11" name="Rounded Rectangle 10"/>
          <p:cNvSpPr/>
          <p:nvPr/>
        </p:nvSpPr>
        <p:spPr>
          <a:xfrm>
            <a:off x="566928" y="3229356"/>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Payment confirmation</a:t>
            </a:r>
          </a:p>
          <a:p>
            <a:pPr algn="l"/>
            <a:r>
              <a:rPr sz="1100" b="0" i="0">
                <a:solidFill>
                  <a:srgbClr val="000000"/>
                </a:solidFill>
                <a:latin typeface="Consolas"/>
              </a:rPr>
              <a:t>Financial reconciliation</a:t>
            </a:r>
          </a:p>
          <a:p>
            <a:pPr algn="l"/>
            <a:r>
              <a:rPr sz="1100" b="0" i="0">
                <a:solidFill>
                  <a:srgbClr val="000000"/>
                </a:solidFill>
                <a:latin typeface="Consolas"/>
              </a:rPr>
              <a:t>Product-catalog browsing</a:t>
            </a:r>
          </a:p>
          <a:p>
            <a:pPr algn="l"/>
            <a:r>
              <a:rPr sz="1100" b="0" i="0">
                <a:solidFill>
                  <a:srgbClr val="000000"/>
                </a:solidFill>
                <a:latin typeface="Consolas"/>
              </a:rPr>
              <a:t>Customer order status</a:t>
            </a:r>
          </a:p>
          <a:p>
            <a:pPr algn="l"/>
            <a:r>
              <a:rPr sz="1100" b="0" i="0">
                <a:solidFill>
                  <a:srgbClr val="000000"/>
                </a:solidFill>
                <a:latin typeface="Consolas"/>
              </a:rPr>
              <a:t>Operational reporting</a:t>
            </a:r>
          </a:p>
          <a:p>
            <a:pPr algn="l"/>
            <a:r>
              <a:rPr sz="1100" b="0" i="0">
                <a:solidFill>
                  <a:srgbClr val="000000"/>
                </a:solidFill>
                <a:latin typeface="Consolas"/>
              </a:rPr>
              <a:t>Noncritical analytics</a:t>
            </a:r>
          </a:p>
        </p:txBody>
      </p:sp>
      <p:sp>
        <p:nvSpPr>
          <p:cNvPr id="12" name="Rounded Rectangle 11"/>
          <p:cNvSpPr/>
          <p:nvPr/>
        </p:nvSpPr>
        <p:spPr>
          <a:xfrm>
            <a:off x="4526280" y="1865376"/>
            <a:ext cx="388620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Set the two money paths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State what you refuse to trade away</a:t>
            </a:r>
          </a:p>
        </p:txBody>
      </p:sp>
      <p:sp>
        <p:nvSpPr>
          <p:cNvPr id="19" name="Oval 18"/>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Set catalog, status and reporting</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One sentence on staleness for each</a:t>
            </a:r>
          </a:p>
        </p:txBody>
      </p:sp>
      <p:sp>
        <p:nvSpPr>
          <p:cNvPr id="23" name="Rounded Rectangle 22"/>
          <p:cNvSpPr/>
          <p:nvPr/>
        </p:nvSpPr>
        <p:spPr>
          <a:xfrm>
            <a:off x="8641080" y="1865376"/>
            <a:ext cx="306324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Payment: primary + majority</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Reconciliation: same bias</a:t>
            </a:r>
          </a:p>
        </p:txBody>
      </p:sp>
      <p:sp>
        <p:nvSpPr>
          <p:cNvPr id="30" name="Oval 29"/>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2369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Catalog: primaryPreferred ok</a:t>
            </a:r>
          </a:p>
        </p:txBody>
      </p:sp>
      <p:sp>
        <p:nvSpPr>
          <p:cNvPr id="32" name="Oval 31"/>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7861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Status: primary after payment</a:t>
            </a:r>
          </a:p>
        </p:txBody>
      </p:sp>
      <p:sp>
        <p:nvSpPr>
          <p:cNvPr id="34" name="Oval 33"/>
          <p:cNvSpPr/>
          <p:nvPr/>
        </p:nvSpPr>
        <p:spPr>
          <a:xfrm>
            <a:off x="8778240" y="43901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335272"/>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Analytics: secondaryPreferred</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Money paths get primary reads and majority writes; staleness is accepted only where it's harmless.</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7.3 — EVALUATE SHARD-KEY CANDIDATES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7 checkpoint C: score keys for training_store.orders.</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C</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20 MIN</a:t>
            </a:r>
          </a:p>
        </p:txBody>
      </p:sp>
      <p:sp>
        <p:nvSpPr>
          <p:cNvPr id="6" name="Rounded Rectangle 5"/>
          <p:cNvSpPr/>
          <p:nvPr/>
        </p:nvSpPr>
        <p:spPr>
          <a:xfrm>
            <a:off x="6085332" y="1298448"/>
            <a:ext cx="5618988"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labs/day-03/exercises/exercise-7.3-evaluate-shard-key-candidates.md</a:t>
            </a:r>
          </a:p>
        </p:txBody>
      </p:sp>
      <p:sp>
        <p:nvSpPr>
          <p:cNvPr id="7" name="Rounded Rectangle 6"/>
          <p:cNvSpPr/>
          <p:nvPr/>
        </p:nvSpPr>
        <p:spPr>
          <a:xfrm>
            <a:off x="457200" y="1865376"/>
            <a:ext cx="3840480" cy="34726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1194308"/>
          </a:xfrm>
          <a:prstGeom prst="rect">
            <a:avLst/>
          </a:prstGeom>
          <a:noFill/>
        </p:spPr>
        <p:txBody>
          <a:bodyPr wrap="square" anchor="t" lIns="0" rIns="0" tIns="0" bIns="0">
            <a:spAutoFit/>
          </a:bodyPr>
          <a:lstStyle/>
          <a:p>
            <a:pPr algn="l"/>
            <a:r>
              <a:rPr sz="1400" b="0" i="0">
                <a:solidFill>
                  <a:srgbClr val="000000"/>
                </a:solidFill>
                <a:latin typeface="Nirmala UI"/>
              </a:rPr>
              <a:t>Score each candidate 1–5 on cardinality, distribution, write scale, targeting, hotspot risk, locality and growth. tenantId is a what-if: training_store has none.</a:t>
            </a:r>
          </a:p>
        </p:txBody>
      </p:sp>
      <p:sp>
        <p:nvSpPr>
          <p:cNvPr id="11" name="Rounded Rectangle 10"/>
          <p:cNvSpPr/>
          <p:nvPr/>
        </p:nvSpPr>
        <p:spPr>
          <a:xfrm>
            <a:off x="566928" y="3663188"/>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paymentStatus: 1 }</a:t>
            </a:r>
          </a:p>
          <a:p>
            <a:pPr algn="l"/>
            <a:r>
              <a:rPr sz="1100" b="0" i="0">
                <a:solidFill>
                  <a:srgbClr val="000000"/>
                </a:solidFill>
                <a:latin typeface="Consolas"/>
              </a:rPr>
              <a:t>{ createdAt: 1 }</a:t>
            </a:r>
          </a:p>
          <a:p>
            <a:pPr algn="l"/>
            <a:r>
              <a:rPr sz="1100" b="0" i="0">
                <a:solidFill>
                  <a:srgbClr val="000000"/>
                </a:solidFill>
                <a:latin typeface="Consolas"/>
              </a:rPr>
              <a:t>{ customerId: 1 }</a:t>
            </a:r>
          </a:p>
          <a:p>
            <a:pPr algn="l"/>
            <a:r>
              <a:rPr sz="1100" b="0" i="0">
                <a:solidFill>
                  <a:srgbClr val="000000"/>
                </a:solidFill>
                <a:latin typeface="Consolas"/>
              </a:rPr>
              <a:t>{ customerId: "hashed" }</a:t>
            </a:r>
          </a:p>
          <a:p>
            <a:pPr algn="l"/>
            <a:r>
              <a:rPr sz="1100" b="0" i="0">
                <a:solidFill>
                  <a:srgbClr val="000000"/>
                </a:solidFill>
                <a:latin typeface="Consolas"/>
              </a:rPr>
              <a:t>{ tenantId: 1, orderNumber: 1 }</a:t>
            </a:r>
          </a:p>
          <a:p>
            <a:pPr algn="l"/>
            <a:r>
              <a:rPr sz="1100" b="0" i="0">
                <a:solidFill>
                  <a:srgbClr val="000000"/>
                </a:solidFill>
                <a:latin typeface="Consolas"/>
              </a:rPr>
              <a:t>{ customerId: 1, createdAt: 1 }</a:t>
            </a:r>
          </a:p>
        </p:txBody>
      </p:sp>
      <p:sp>
        <p:nvSpPr>
          <p:cNvPr id="12" name="Rounded Rectangle 11"/>
          <p:cNvSpPr/>
          <p:nvPr/>
        </p:nvSpPr>
        <p:spPr>
          <a:xfrm>
            <a:off x="4526280" y="1865376"/>
            <a:ext cx="3886200" cy="34726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Score all six candidates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Reject the low-cardinality key</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Flag the monotonic key</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Recommend one; name two risks</a:t>
            </a:r>
          </a:p>
        </p:txBody>
      </p:sp>
      <p:sp>
        <p:nvSpPr>
          <p:cNvPr id="23" name="Rounded Rectangle 22"/>
          <p:cNvSpPr/>
          <p:nvPr/>
        </p:nvSpPr>
        <p:spPr>
          <a:xfrm>
            <a:off x="8641080" y="1865376"/>
            <a:ext cx="3063240" cy="34726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paymentStatus: rejected</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createdAt: write hotspot</a:t>
            </a:r>
          </a:p>
        </p:txBody>
      </p:sp>
      <p:sp>
        <p:nvSpPr>
          <p:cNvPr id="30" name="Oval 29"/>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Hashed: even, no ranges</a:t>
            </a:r>
          </a:p>
        </p:txBody>
      </p:sp>
      <p:sp>
        <p:nvSpPr>
          <p:cNvPr id="32" name="Oval 31"/>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6576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Pick customerId + createdAt</a:t>
            </a:r>
          </a:p>
        </p:txBody>
      </p:sp>
      <p:sp>
        <p:nvSpPr>
          <p:cNvPr id="34" name="Oval 33"/>
          <p:cNvSpPr/>
          <p:nvPr/>
        </p:nvSpPr>
        <p:spPr>
          <a:xfrm>
            <a:off x="8778240" y="41330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0782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Risks: big customers, reports</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defensible shard key matches the hot query — and still names the risks you'll monitor.</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7.4 — TARGETED OR SCATTER-GATHER?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7 checkpoint D: classify five queries by their routing.</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D</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318504" y="1298448"/>
            <a:ext cx="5385816"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labs/day-03/exercises/exercise-7.4-targeted-or-scatter-gather.md</a:t>
            </a:r>
          </a:p>
        </p:txBody>
      </p:sp>
      <p:sp>
        <p:nvSpPr>
          <p:cNvPr id="7" name="Rounded Rectangle 6"/>
          <p:cNvSpPr/>
          <p:nvPr/>
        </p:nvSpPr>
        <p:spPr>
          <a:xfrm>
            <a:off x="457200" y="1865376"/>
            <a:ext cx="3840480" cy="290779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Shard key: { customerId: 1, createdAt: 1 }. c is customer C101.</a:t>
            </a:r>
          </a:p>
        </p:txBody>
      </p:sp>
      <p:sp>
        <p:nvSpPr>
          <p:cNvPr id="11" name="Rounded Rectangle 10"/>
          <p:cNvSpPr/>
          <p:nvPr/>
        </p:nvSpPr>
        <p:spPr>
          <a:xfrm>
            <a:off x="566928" y="3012440"/>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A { customerId: c._id }</a:t>
            </a:r>
          </a:p>
          <a:p>
            <a:pPr algn="l"/>
            <a:r>
              <a:rPr sz="1100" b="0" i="0">
                <a:solidFill>
                  <a:srgbClr val="000000"/>
                </a:solidFill>
                <a:latin typeface="Consolas"/>
              </a:rPr>
              <a:t>B { customerId: c._id,</a:t>
            </a:r>
          </a:p>
          <a:p>
            <a:pPr algn="l"/>
            <a:r>
              <a:rPr sz="1100" b="0" i="0">
                <a:solidFill>
                  <a:srgbClr val="000000"/>
                </a:solidFill>
                <a:latin typeface="Consolas"/>
              </a:rPr>
              <a:t>    createdAt: { $gte: start } }</a:t>
            </a:r>
          </a:p>
          <a:p>
            <a:pPr algn="l"/>
            <a:r>
              <a:rPr sz="1100" b="0" i="0">
                <a:solidFill>
                  <a:srgbClr val="000000"/>
                </a:solidFill>
                <a:latin typeface="Consolas"/>
              </a:rPr>
              <a:t>C { paymentStatus: "PAID" }</a:t>
            </a:r>
          </a:p>
          <a:p>
            <a:pPr algn="l"/>
            <a:r>
              <a:rPr sz="1100" b="0" i="0">
                <a:solidFill>
                  <a:srgbClr val="000000"/>
                </a:solidFill>
                <a:latin typeface="Consolas"/>
              </a:rPr>
              <a:t>D { createdAt: { $gte: start } }</a:t>
            </a:r>
          </a:p>
          <a:p>
            <a:pPr algn="l"/>
            <a:r>
              <a:rPr sz="1100" b="0" i="0">
                <a:solidFill>
                  <a:srgbClr val="000000"/>
                </a:solidFill>
                <a:latin typeface="Consolas"/>
              </a:rPr>
              <a:t>E D again, key hashed customerId</a:t>
            </a:r>
          </a:p>
        </p:txBody>
      </p:sp>
      <p:sp>
        <p:nvSpPr>
          <p:cNvPr id="12" name="Rounded Rectangle 11"/>
          <p:cNvSpPr/>
          <p:nvPr/>
        </p:nvSpPr>
        <p:spPr>
          <a:xfrm>
            <a:off x="4526280" y="1865376"/>
            <a:ext cx="3886200" cy="290779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Classify queries A and B</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Classify queries C and D</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Classify E under the hashed key</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Fix a slow monthly revenue report</a:t>
            </a:r>
          </a:p>
        </p:txBody>
      </p:sp>
      <p:sp>
        <p:nvSpPr>
          <p:cNvPr id="23" name="Rounded Rectangle 22"/>
          <p:cNvSpPr/>
          <p:nvPr/>
        </p:nvSpPr>
        <p:spPr>
          <a:xfrm>
            <a:off x="8641080" y="1865376"/>
            <a:ext cx="3063240" cy="290779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A, B targeted: key prefix</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C scatter-gather</a:t>
            </a:r>
          </a:p>
        </p:txBody>
      </p:sp>
      <p:sp>
        <p:nvSpPr>
          <p:cNvPr id="30" name="Oval 29"/>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D many shards or all</a:t>
            </a:r>
          </a:p>
        </p:txBody>
      </p:sp>
      <p:sp>
        <p:nvSpPr>
          <p:cNvPr id="32" name="Oval 31"/>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6576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E scatter-gather</a:t>
            </a:r>
          </a:p>
        </p:txBody>
      </p:sp>
      <p:sp>
        <p:nvSpPr>
          <p:cNvPr id="34" name="Oval 33"/>
          <p:cNvSpPr/>
          <p:nvPr/>
        </p:nvSpPr>
        <p:spPr>
          <a:xfrm>
            <a:off x="8778240" y="41330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078224"/>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Pre-aggregate, don't re-key</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leading shard-key field decides routing — reports without it need a different design, not a new key.</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6 — REPLICATION AND SHARDING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3 hands-on: choose the mechanism, reason about shard keys, check a replica set.</a:t>
            </a:r>
          </a:p>
        </p:txBody>
      </p:sp>
      <p:sp>
        <p:nvSpPr>
          <p:cNvPr id="4" name="Rounded Rectangle 3"/>
          <p:cNvSpPr/>
          <p:nvPr/>
        </p:nvSpPr>
        <p:spPr>
          <a:xfrm>
            <a:off x="457200" y="1298448"/>
            <a:ext cx="1490472"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LAB</a:t>
            </a:r>
          </a:p>
        </p:txBody>
      </p:sp>
      <p:sp>
        <p:nvSpPr>
          <p:cNvPr id="5" name="Rounded Rectangle 4"/>
          <p:cNvSpPr/>
          <p:nvPr/>
        </p:nvSpPr>
        <p:spPr>
          <a:xfrm>
            <a:off x="2084831"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40 MIN</a:t>
            </a:r>
          </a:p>
        </p:txBody>
      </p:sp>
      <p:sp>
        <p:nvSpPr>
          <p:cNvPr id="6" name="Rounded Rectangle 5"/>
          <p:cNvSpPr/>
          <p:nvPr/>
        </p:nvSpPr>
        <p:spPr>
          <a:xfrm>
            <a:off x="8883396" y="1298448"/>
            <a:ext cx="282092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labs/day-03/lab6/LAB-6-GUIDE.md</a:t>
            </a:r>
          </a:p>
        </p:txBody>
      </p:sp>
      <p:sp>
        <p:nvSpPr>
          <p:cNvPr id="7" name="Rounded Rectangle 6"/>
          <p:cNvSpPr/>
          <p:nvPr/>
        </p:nvSpPr>
        <p:spPr>
          <a:xfrm>
            <a:off x="457200" y="1865376"/>
            <a:ext cx="3840480" cy="3090672"/>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977391"/>
          </a:xfrm>
          <a:prstGeom prst="rect">
            <a:avLst/>
          </a:prstGeom>
          <a:noFill/>
        </p:spPr>
        <p:txBody>
          <a:bodyPr wrap="square" anchor="t" lIns="0" rIns="0" tIns="0" bIns="0">
            <a:spAutoFit/>
          </a:bodyPr>
          <a:lstStyle/>
          <a:p>
            <a:pPr algn="l"/>
            <a:r>
              <a:rPr sz="1400" b="0" i="0">
                <a:solidFill>
                  <a:srgbClr val="000000"/>
                </a:solidFill>
                <a:latin typeface="Nirmala UI"/>
              </a:rPr>
              <a:t>Steps 1–3 work on paper. Steps 4–7 need the instructor's replica-set or Atlas URI; a standalone mongod is not a replica set.</a:t>
            </a:r>
          </a:p>
        </p:txBody>
      </p:sp>
      <p:sp>
        <p:nvSpPr>
          <p:cNvPr id="11" name="Rounded Rectangle 10"/>
          <p:cNvSpPr/>
          <p:nvPr/>
        </p:nvSpPr>
        <p:spPr>
          <a:xfrm>
            <a:off x="566928" y="3446272"/>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use training_store</a:t>
            </a:r>
          </a:p>
          <a:p>
            <a:pPr algn="l"/>
            <a:r>
              <a:rPr sz="1100" b="0" i="0">
                <a:solidFill>
                  <a:srgbClr val="000000"/>
                </a:solidFill>
                <a:latin typeface="Consolas"/>
              </a:rPr>
              <a:t>rs.status()</a:t>
            </a:r>
          </a:p>
          <a:p>
            <a:pPr algn="l"/>
            <a:r>
              <a:rPr sz="1100" b="0" i="0">
                <a:solidFill>
                  <a:srgbClr val="000000"/>
                </a:solidFill>
                <a:latin typeface="Consolas"/>
              </a:rPr>
              <a:t>rs.conf()</a:t>
            </a:r>
          </a:p>
          <a:p>
            <a:pPr algn="l"/>
            <a:r>
              <a:rPr sz="1100" b="0" i="0">
                <a:solidFill>
                  <a:srgbClr val="000000"/>
                </a:solidFill>
                <a:latin typeface="Consolas"/>
              </a:rPr>
              <a:t>db.hello()</a:t>
            </a:r>
          </a:p>
          <a:p>
            <a:pPr algn="l"/>
            <a:r>
              <a:rPr sz="1100" b="0" i="0">
                <a:solidFill>
                  <a:srgbClr val="000000"/>
                </a:solidFill>
                <a:latin typeface="Consolas"/>
              </a:rPr>
              <a:t>rs.printSecondaryReplicationInfo()</a:t>
            </a:r>
          </a:p>
        </p:txBody>
      </p:sp>
      <p:sp>
        <p:nvSpPr>
          <p:cNvPr id="12" name="Rounded Rectangle 11"/>
          <p:cNvSpPr/>
          <p:nvPr/>
        </p:nvSpPr>
        <p:spPr>
          <a:xfrm>
            <a:off x="4526280" y="1865376"/>
            <a:ext cx="3886200" cy="3090672"/>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1 Mechanism for six requirements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2–3 Shard keys and query routing</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4 Confirm a replica set</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5–6 Record members, votes and lag</a:t>
            </a:r>
          </a:p>
        </p:txBody>
      </p:sp>
      <p:sp>
        <p:nvSpPr>
          <p:cNvPr id="23" name="Oval 22"/>
          <p:cNvSpPr/>
          <p:nvPr/>
        </p:nvSpPr>
        <p:spPr>
          <a:xfrm>
            <a:off x="4663440" y="42793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24" name="TextBox 23"/>
          <p:cNvSpPr txBox="1"/>
          <p:nvPr/>
        </p:nvSpPr>
        <p:spPr>
          <a:xfrm>
            <a:off x="5056632" y="42245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7 Write a short health report</a:t>
            </a:r>
          </a:p>
        </p:txBody>
      </p:sp>
      <p:sp>
        <p:nvSpPr>
          <p:cNvPr id="25" name="Rounded Rectangle 24"/>
          <p:cNvSpPr/>
          <p:nvPr/>
        </p:nvSpPr>
        <p:spPr>
          <a:xfrm>
            <a:off x="8641080" y="1865376"/>
            <a:ext cx="3063240" cy="3090672"/>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Round Same Side Corner Rectangle 25"/>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8" name="Oval 27"/>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Last week's delete: a backup</a:t>
            </a:r>
          </a:p>
        </p:txBody>
      </p:sp>
      <p:sp>
        <p:nvSpPr>
          <p:cNvPr id="30" name="Oval 29"/>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29448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fulfillmentStatus rejected</a:t>
            </a:r>
          </a:p>
        </p:txBody>
      </p:sp>
      <p:sp>
        <p:nvSpPr>
          <p:cNvPr id="32" name="Oval 31"/>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3655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Status-only query scatters</a:t>
            </a:r>
          </a:p>
        </p:txBody>
      </p:sp>
      <p:sp>
        <p:nvSpPr>
          <p:cNvPr id="34" name="Oval 33"/>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3786124"/>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One PRIMARY, health: 1</a:t>
            </a:r>
          </a:p>
        </p:txBody>
      </p:sp>
      <p:sp>
        <p:nvSpPr>
          <p:cNvPr id="36" name="Oval 35"/>
          <p:cNvSpPr/>
          <p:nvPr/>
        </p:nvSpPr>
        <p:spPr>
          <a:xfrm>
            <a:off x="8778240" y="42616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7" name="TextBox 36"/>
          <p:cNvSpPr txBox="1"/>
          <p:nvPr/>
        </p:nvSpPr>
        <p:spPr>
          <a:xfrm>
            <a:off x="9116567" y="420674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Lag measured, often 0–2 s</a:t>
            </a:r>
          </a:p>
        </p:txBody>
      </p:sp>
      <p:sp>
        <p:nvSpPr>
          <p:cNvPr id="38" name="Rounded Rectangle 3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Name the mechanism, defend the shard key, and report health as measured — not assumed.</a:t>
            </a:r>
          </a:p>
        </p:txBody>
      </p:sp>
      <p:sp>
        <p:nvSpPr>
          <p:cNvPr id="40" name="Rectangle 3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7 SUMMARY AND WHAT'S NEXT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From one replica set to a sharded cluster.</a:t>
            </a:r>
          </a:p>
        </p:txBody>
      </p:sp>
      <p:sp>
        <p:nvSpPr>
          <p:cNvPr id="4" name="Rounded Rectangle 3"/>
          <p:cNvSpPr/>
          <p:nvPr/>
        </p:nvSpPr>
        <p:spPr>
          <a:xfrm>
            <a:off x="457200" y="1298448"/>
            <a:ext cx="55778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55778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5303520" cy="420624"/>
          </a:xfrm>
          <a:prstGeom prst="rect">
            <a:avLst/>
          </a:prstGeom>
          <a:noFill/>
        </p:spPr>
        <p:txBody>
          <a:bodyPr wrap="square" anchor="ctr" lIns="0" rIns="0" tIns="0" bIns="0">
            <a:spAutoFit/>
          </a:bodyPr>
          <a:lstStyle/>
          <a:p>
            <a:pPr algn="l"/>
            <a:r>
              <a:rPr sz="1400" b="1" i="0">
                <a:solidFill>
                  <a:srgbClr val="FFFFFF"/>
                </a:solidFill>
                <a:latin typeface="Nirmala UI"/>
              </a:rPr>
              <a:t>YOU CAN NOW</a:t>
            </a:r>
          </a:p>
        </p:txBody>
      </p:sp>
      <p:sp>
        <p:nvSpPr>
          <p:cNvPr id="7" name="Oval 6"/>
          <p:cNvSpPr/>
          <p:nvPr/>
        </p:nvSpPr>
        <p:spPr>
          <a:xfrm>
            <a:off x="640080" y="2029967"/>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Tell availability from scalability</a:t>
            </a:r>
          </a:p>
        </p:txBody>
      </p:sp>
      <p:sp>
        <p:nvSpPr>
          <p:cNvPr id="9" name="Oval 8"/>
          <p:cNvSpPr/>
          <p:nvPr/>
        </p:nvSpPr>
        <p:spPr>
          <a:xfrm>
            <a:off x="640080" y="263347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78024"/>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Explain the primary, secondaries, oplog and elections</a:t>
            </a:r>
          </a:p>
        </p:txBody>
      </p:sp>
      <p:sp>
        <p:nvSpPr>
          <p:cNvPr id="11" name="Oval 10"/>
          <p:cNvSpPr/>
          <p:nvPr/>
        </p:nvSpPr>
        <p:spPr>
          <a:xfrm>
            <a:off x="640080" y="323697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81528"/>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Choose read preference, read and write concern</a:t>
            </a:r>
          </a:p>
        </p:txBody>
      </p:sp>
      <p:sp>
        <p:nvSpPr>
          <p:cNvPr id="13" name="Oval 12"/>
          <p:cNvSpPr/>
          <p:nvPr/>
        </p:nvSpPr>
        <p:spPr>
          <a:xfrm>
            <a:off x="640080" y="3840479"/>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685031"/>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Explain replication lag and rollback</a:t>
            </a:r>
          </a:p>
        </p:txBody>
      </p:sp>
      <p:sp>
        <p:nvSpPr>
          <p:cNvPr id="15" name="Oval 14"/>
          <p:cNvSpPr/>
          <p:nvPr/>
        </p:nvSpPr>
        <p:spPr>
          <a:xfrm>
            <a:off x="640080" y="4443983"/>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288536"/>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Evaluate shard keys and query routing</a:t>
            </a:r>
          </a:p>
        </p:txBody>
      </p:sp>
      <p:sp>
        <p:nvSpPr>
          <p:cNvPr id="17" name="Oval 16"/>
          <p:cNvSpPr/>
          <p:nvPr/>
        </p:nvSpPr>
        <p:spPr>
          <a:xfrm>
            <a:off x="640080" y="5047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4892040"/>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Decide when to replicate, shard, or both</a:t>
            </a:r>
          </a:p>
        </p:txBody>
      </p:sp>
      <p:sp>
        <p:nvSpPr>
          <p:cNvPr id="19" name="Rounded Rectangle 18"/>
          <p:cNvSpPr/>
          <p:nvPr/>
        </p:nvSpPr>
        <p:spPr>
          <a:xfrm>
            <a:off x="6400800" y="1298448"/>
            <a:ext cx="5303520" cy="2788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Round Same Side Corner Rectangle 19"/>
          <p:cNvSpPr/>
          <p:nvPr/>
        </p:nvSpPr>
        <p:spPr>
          <a:xfrm>
            <a:off x="6400800" y="1298448"/>
            <a:ext cx="530352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TextBox 20"/>
          <p:cNvSpPr txBox="1"/>
          <p:nvPr/>
        </p:nvSpPr>
        <p:spPr>
          <a:xfrm>
            <a:off x="6537960" y="1298448"/>
            <a:ext cx="5029200" cy="420624"/>
          </a:xfrm>
          <a:prstGeom prst="rect">
            <a:avLst/>
          </a:prstGeom>
          <a:noFill/>
        </p:spPr>
        <p:txBody>
          <a:bodyPr wrap="square" anchor="ctr" lIns="0" rIns="0" tIns="0" bIns="0">
            <a:spAutoFit/>
          </a:bodyPr>
          <a:lstStyle/>
          <a:p>
            <a:pPr algn="l"/>
            <a:r>
              <a:rPr sz="1300" b="1" i="0">
                <a:solidFill>
                  <a:srgbClr val="FFFFFF"/>
                </a:solidFill>
                <a:latin typeface="Nirmala UI"/>
              </a:rPr>
              <a:t>NEXT: MODULE 8 — BEST PRACTICES</a:t>
            </a:r>
          </a:p>
        </p:txBody>
      </p:sp>
      <p:sp>
        <p:nvSpPr>
          <p:cNvPr id="22" name="Oval 21"/>
          <p:cNvSpPr/>
          <p:nvPr/>
        </p:nvSpPr>
        <p:spPr>
          <a:xfrm>
            <a:off x="6583680" y="195681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23" name="TextBox 22"/>
          <p:cNvSpPr txBox="1"/>
          <p:nvPr/>
        </p:nvSpPr>
        <p:spPr>
          <a:xfrm>
            <a:off x="7059168" y="1847088"/>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What will we actually run in production?</a:t>
            </a:r>
          </a:p>
        </p:txBody>
      </p:sp>
      <p:sp>
        <p:nvSpPr>
          <p:cNvPr id="24" name="Oval 23"/>
          <p:cNvSpPr/>
          <p:nvPr/>
        </p:nvSpPr>
        <p:spPr>
          <a:xfrm>
            <a:off x="6583680" y="2615184"/>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25" name="TextBox 24"/>
          <p:cNvSpPr txBox="1"/>
          <p:nvPr/>
        </p:nvSpPr>
        <p:spPr>
          <a:xfrm>
            <a:off x="7059168" y="2505456"/>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 we secure, back up and restore it?</a:t>
            </a:r>
          </a:p>
        </p:txBody>
      </p:sp>
      <p:sp>
        <p:nvSpPr>
          <p:cNvPr id="26" name="Oval 25"/>
          <p:cNvSpPr/>
          <p:nvPr/>
        </p:nvSpPr>
        <p:spPr>
          <a:xfrm>
            <a:off x="6583680" y="3273552"/>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27" name="TextBox 26"/>
          <p:cNvSpPr txBox="1"/>
          <p:nvPr/>
        </p:nvSpPr>
        <p:spPr>
          <a:xfrm>
            <a:off x="7059168" y="3163824"/>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 we monitor and troubleshoot it?</a:t>
            </a:r>
          </a:p>
        </p:txBody>
      </p:sp>
      <p:sp>
        <p:nvSpPr>
          <p:cNvPr id="28" name="Rounded Rectangle 27"/>
          <p:cNvSpPr/>
          <p:nvPr/>
        </p:nvSpPr>
        <p:spPr>
          <a:xfrm>
            <a:off x="6400800" y="4270248"/>
            <a:ext cx="5303520" cy="156362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6583680" y="4270248"/>
            <a:ext cx="4937760" cy="1563624"/>
          </a:xfrm>
          <a:prstGeom prst="rect">
            <a:avLst/>
          </a:prstGeom>
          <a:noFill/>
        </p:spPr>
        <p:txBody>
          <a:bodyPr wrap="square" anchor="ctr" lIns="0" rIns="0" tIns="0" bIns="0">
            <a:spAutoFit/>
          </a:bodyPr>
          <a:lstStyle/>
          <a:p>
            <a:pPr algn="l"/>
            <a:r>
              <a:rPr sz="1500" b="1" i="0">
                <a:solidFill>
                  <a:srgbClr val="D1282E"/>
                </a:solidFill>
                <a:latin typeface="Nirmala UI"/>
              </a:rPr>
              <a:t>BRING ALONG   </a:t>
            </a:r>
            <a:r>
              <a:rPr sz="1500" b="0" i="0">
                <a:solidFill>
                  <a:srgbClr val="000000"/>
                </a:solidFill>
                <a:latin typeface="Nirmala UI"/>
              </a:rPr>
              <a:t>Your Lab 6 health report and answers, and your shard-key scores from Exercise 7.3.</a:t>
            </a:r>
          </a:p>
        </p:txBody>
      </p:sp>
      <p:sp>
        <p:nvSpPr>
          <p:cNvPr id="30" name="Rounded Rectangle 2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Module 8 turns replication, sharding and backups into a production checklist.</a:t>
            </a:r>
          </a:p>
        </p:txBody>
      </p:sp>
      <p:sp>
        <p:nvSpPr>
          <p:cNvPr id="32" name="Rectangle 3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