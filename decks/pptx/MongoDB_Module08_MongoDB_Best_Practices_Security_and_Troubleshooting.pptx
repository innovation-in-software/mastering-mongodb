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MongoDB Best Practices, Security, and Troubleshooting.</a:t>
            </a:r>
          </a:p>
          <a:p/>
          <a:p>
            <a:r>
              <a:t>The slide says: A database is not production-ready merely because it accepts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Module Learning Objectives.</a:t>
            </a:r>
          </a:p>
          <a:p/>
          <a:p>
            <a:r>
              <a:t>The slide title is: Module Learning Objectives.</a:t>
            </a:r>
          </a:p>
          <a:p/>
          <a:p>
            <a:r>
              <a:t>The slide says: Participants will learn to:.</a:t>
            </a:r>
          </a:p>
          <a:p/>
          <a:p>
            <a:r>
              <a:t>Bullet 1 on the slide: Review MongoDB solutions systematically.</a:t>
            </a:r>
          </a:p>
          <a:p/>
          <a:p>
            <a:r>
              <a:t>Bullet 2 on the slide: Recognize design and operational risks.</a:t>
            </a:r>
          </a:p>
          <a:p/>
          <a:p>
            <a:r>
              <a:t>Bullet 3 on the slide: Protect databases and credentials.</a:t>
            </a:r>
          </a:p>
          <a:p/>
          <a:p>
            <a:r>
              <a:t>Bullet 4 on the slide: Monitor health and performance.</a:t>
            </a:r>
          </a:p>
          <a:p/>
          <a:p>
            <a:r>
              <a:t>Bullet 5 on the slide: Troubleshoot common problems.</a:t>
            </a:r>
          </a:p>
          <a:p/>
          <a:p>
            <a:r>
              <a:t>Bullet 6 on the slide: Verify recovery capabilities.</a:t>
            </a:r>
          </a:p>
          <a:p/>
          <a:p>
            <a:r>
              <a:t>Bullet 7 on the slide: Make controlled production changes.</a:t>
            </a:r>
          </a:p>
          <a:p/>
          <a:p>
            <a:r>
              <a:t>Bullet 8 on the slide: Establish an improvement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module brings together data modeling, querying, aggregation, indexing, security and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application’s most important operations: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appropriate because order items: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 works well when related data: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Referencing is generally better when related data: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 identifies unbounded arrays as a schema anti-pattern because they can produce oversized documents and reduce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 should contain information commonly used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several names for the same concept: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Use consistent field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Poor consistency: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Use consistent BSON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order should preserve the information applicable when it was 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MongoDB’s flexible model can still enforce essential business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Use Schema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Schema-validation rules can cover only the fields the application needs to control; they do not necessarily need to define every possible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schemas change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Migration process: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tuning should follow evidence: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query shape includes: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aggregation pipelines, place selective `$match` stages early when logically possible: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application queries: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returning an unbounded result set: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sending many individual writes: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indexes for frequent, important query patterns: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many workloads, begin with: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Whether this is best depends 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index: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high documents-examined-to-documents-returned ratio can indicate an inefficient query or missing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collection scan is not automatically wrong. It may be appropriate when: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Potential tools include: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Profiling can add overhead, especially at aggressive settings. MongoDB warns that the database profiler can degrade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Profiler behavior and performance impact should be evaluated before use on a busy production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 at least: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working set is the data and index information actively used by the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 should not be exposed to an untrusted network without appropriate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Authentication answers: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 documents `security.authorization` as the setting that enables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Authorization answers: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giving an application broad administrative privileges.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place credentials directly in: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Protect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TLS protects data in transit between: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Depending on the deployment, use: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monitoring should detect: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Replication is not a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Backups are useful only if restoration works. Schedule restoration exercises rather than assuming backups are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vague descriptions such as: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4: Identify the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the same test and compare: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Possible causes: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Authentication succeeded, but the user lacks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Typical code: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expose the raw database error to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failed schema rule may generate error code `121`.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Applications using transactions should follow the driver’s supported retry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Possible causes: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cause: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log: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useful log record may contain: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Database operations should not wait indefinitely.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retried request should not unintentionally create duplicate business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sales report showing the top products for a selected date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Confirm that `orderedAt` is a BSON Date rather than a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2: Construct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it: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stage is: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4: Identify the indexable pipeline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with the baseline: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behavior on a sufficiently large and selective dataset: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an alternative index for controlled comparison: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 the current product record: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8: Add product-category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Performance tuning must not change the report’s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Step 9: Validate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testing shows the reverse-order index is unnecessary: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Data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Indexes.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Availability and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course progression can be summarized as follows: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important principles are: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prompts to close the course: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completing the module, learners should be able to review a MongoDB application from schema, query, performance, security and operational perspectives—and justify each recommendation with...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8.1 — Review and Improve a Data Model.</a:t>
            </a:r>
          </a:p>
          <a:p/>
          <a:p>
            <a:r>
              <a:t>The slide title is: Demo 8.1 — Review and Improve a Data Model.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Start from mixed prices, unbounded reviews, string dates, and a password hash on the document.</a:t>
            </a:r>
          </a:p>
          <a:p/>
          <a:p>
            <a:r>
              <a:t>Bullet 3 on the slide: Correct types, split reviews, standardize names, add validation, protect secrets.</a:t>
            </a:r>
          </a:p>
          <a:p/>
          <a:p>
            <a:r>
              <a:t>Bullet 4 on the slide: Keep the catalog and order access patterns fast.</a:t>
            </a:r>
          </a:p>
          <a:p/>
          <a:p>
            <a:r>
              <a:t>The figure on this slide is titled: Review and Improve a Data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8.1 — Review a Document Model.</a:t>
            </a:r>
          </a:p>
          <a:p/>
          <a:p>
            <a:r>
              <a:t>The slide title is: Exercise 8.1 — Review a Document Model.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Score an order-shaped document and rewrite the boundary, snapshots, and first validator.</a:t>
            </a:r>
          </a:p>
          <a:p/>
          <a:p>
            <a:r>
              <a:t>Bullet 3 on the slide: Lab guide: [Exercise 8.1](../slide-exercises/module-08/exercise-8.1-review-a-document-model.md).</a:t>
            </a:r>
          </a:p>
          <a:p/>
          <a:p>
            <a:r>
              <a:t>The figure on this slide is titled: Order versus customer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8.1 — Review a Document Model. We have about 15 min for this lab.</a:t>
            </a:r>
          </a:p>
          <a:p/>
          <a:p>
            <a:r>
              <a:t>Evaluate an order-shaped document for access patterns, snapshots, types, growth, sensitive data, and validation.</a:t>
            </a:r>
          </a:p>
          <a:p/>
          <a:p>
            <a:r>
              <a:t>The full lab guide is in slide-exercises/module-08/exercise-8.1-review-a-document-model.md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Score the document.</a:t>
            </a:r>
          </a:p>
          <a:p/>
          <a:p>
            <a:r>
              <a:t>Step 2 — Rewrite the boundary.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8.1 — Steps 1–2.</a:t>
            </a:r>
          </a:p>
          <a:p/>
          <a:p>
            <a:r>
              <a:t>The slide says: Lab guide: [Exercise 8.1](../slide-exercises/module-08/exercise-8.1-review-a-document-model.md).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Review this order-shaped document and mark each area as strong, risky, or missing: access patterns, ownership, duplication, BSON types, array growth, historical snapshots, sensitive fields, and validation. { _id: ObjectI.</a:t>
            </a:r>
          </a:p>
          <a:p/>
          <a:p>
            <a:r>
              <a:t>Bullet 2 on the slide: Expected: Risky/missing: price as string, date as string, unbounded notes, live customer fields (email, loyalty, password hash) instead of a snapshot plus a reference,.</a:t>
            </a:r>
          </a:p>
          <a:p/>
          <a:p>
            <a:r>
              <a:t>Bullet 3 on the slide: Do: Write the corrected document boundary: what stays on the order, what is referenced, and one validation rule you would add first.</a:t>
            </a:r>
          </a:p>
          <a:p/>
          <a:p>
            <a:r>
              <a:t>Bullet 4 on the slide: Expected: Order keeps orderNumber, customerId, purchase-time name/address/price snapshots, items, statuses, Decimal128 total, Date createdAt. Customer master stays in 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8.2 — Find the Schema Anti-Patterns.</a:t>
            </a:r>
          </a:p>
          <a:p/>
          <a:p>
            <a:r>
              <a:t>The slide title is: Exercise 8.2 — Find the Schema Anti-Patterns.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Name seven anti-patterns on a messy product document and sketch the repair.</a:t>
            </a:r>
          </a:p>
          <a:p/>
          <a:p>
            <a:r>
              <a:t>Bullet 3 on the slide: Lab guide: [Exercise 8.2](../slide-exercises/module-08/exercise-8.2-find-the-schema-anti-patterns.md).</a:t>
            </a:r>
          </a:p>
          <a:p/>
          <a:p>
            <a:r>
              <a:t>The figure on this slide is titled: Schema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8.2 — Find the Schema Anti-Patterns. We have about 15 min for this lab.</a:t>
            </a:r>
          </a:p>
          <a:p/>
          <a:p>
            <a:r>
              <a:t>Identify unbounded arrays, textual prices, inconsistent names, and related anti-patterns, then sketch a repair.</a:t>
            </a:r>
          </a:p>
          <a:p/>
          <a:p>
            <a:r>
              <a:t>The full lab guide is in slide-exercises/module-08/exercise-8.2-find-the-schema-anti-patterns.md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Name the anti-patterns.</a:t>
            </a:r>
          </a:p>
          <a:p/>
          <a:p>
            <a:r>
              <a:t>Step 2 — Corrected sketch.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8.2 — Steps 1–2.</a:t>
            </a:r>
          </a:p>
          <a:p/>
          <a:p>
            <a:r>
              <a:t>The slide says: Lab guide: [Exercise 8.2](../slide-exercises/module-08/exercise-8.2-find-the-schema-anti-patterns.md).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On the product document below, list every anti-pattern from the module list. { Product_Name: "Trail shoe", productPrice: "89.99", details: { catalog: { store: { web: { active: "yes" } } } }, customer: { email: "aisha@exa.</a:t>
            </a:r>
          </a:p>
          <a:p/>
          <a:p>
            <a:r>
              <a:t>Bullet 2 on the slide: Expected: Unbounded reviews; price as text; mixed names (Product_Name vs productPrice); unnecessary nesting; live customer data on a product; missing sku/category/Dec.</a:t>
            </a:r>
          </a:p>
          <a:p/>
          <a:p>
            <a:r>
              <a:t>Bullet 3 on the slide: Do: Sketch the replacement: product core fields, where reviews live, and how customer data is removed.</a:t>
            </a:r>
          </a:p>
          <a:p/>
          <a:p>
            <a:r>
              <a:t>Bullet 4 on the slide: Expected: products: sku, name, category, Decimal128 price, Boolean active, Date updatedAt, bounded attributes. reviews collection keyed by productId. No customer object 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8.2 — Diagnose a Slow Query.</a:t>
            </a:r>
          </a:p>
          <a:p/>
          <a:p>
            <a:r>
              <a:t>The slide title is: Demo 8.2 — Diagnose a Slow Query.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Capture the query → explain("executionStats").</a:t>
            </a:r>
          </a:p>
          <a:p/>
          <a:p>
            <a:r>
              <a:t>Bullet 3 on the slide: Spot COLLSCAN or weak scanning.</a:t>
            </a:r>
          </a:p>
          <a:p/>
          <a:p>
            <a:r>
              <a:t>Bullet 4 on the slide: Fix filter, sort, projection; add an index; compare examined vs returned.</a:t>
            </a:r>
          </a:p>
          <a:p/>
          <a:p>
            <a:r>
              <a:t>Bullet 5 on the slide: Discuss write and storage cost.</a:t>
            </a:r>
          </a:p>
          <a:p/>
          <a:p>
            <a:r>
              <a:t>The figure on this slide is titled: Diagnose a Slow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8.3 — Review a Query and Projection.</a:t>
            </a:r>
          </a:p>
          <a:p/>
          <a:p>
            <a:r>
              <a:t>The slide title is: Exercise 8.3 — Review a Query and Projection.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Rewrite find({}) into a selective, projected, sorted, limited query and name an ESR index.</a:t>
            </a:r>
          </a:p>
          <a:p/>
          <a:p>
            <a:r>
              <a:t>Bullet 3 on the slide: Lab guide: [Exercise 8.3](../slide-exercises/module-08/exercise-8.3-review-a-query-and-projection.md).</a:t>
            </a:r>
          </a:p>
          <a:p/>
          <a:p>
            <a:r>
              <a:t>The figure on this slide is titled: Selective query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8.3 — Review a Query and Projection. We have about 15 min for this lab.</a:t>
            </a:r>
          </a:p>
          <a:p/>
          <a:p>
            <a:r>
              <a:t>Rewrite a broad find into a selective, projected, sorted, limited query with an ESR index.</a:t>
            </a:r>
          </a:p>
          <a:p/>
          <a:p>
            <a:r>
              <a:t>The full lab guide is in slide-exercises/module-08/exercise-8.3-review-a-query-and-projection.md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Rewrite the query.</a:t>
            </a:r>
          </a:p>
          <a:p/>
          <a:p>
            <a:r>
              <a:t>Step 2 — Name a candidate index.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8.3 — Steps 1–2.</a:t>
            </a:r>
          </a:p>
          <a:p/>
          <a:p>
            <a:r>
              <a:t>The slide says: Lab guide: [Exercise 8.3](../slide-exercises/module-08/exercise-8.3-review-a-query-and-projection.md).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The application only needs C101’s paid orders, newest first, ten at a time, showing orderNumber, fulfillmentStatus, total, and createdAt. Rewrite: db.orders.find({}).</a:t>
            </a:r>
          </a:p>
          <a:p/>
          <a:p>
            <a:r>
              <a:t>Bullet 2 on the slide: Expected: Filter on customerId + paymentStatus PAID; projection of the four fields (and usually _id: 0); .sort({ createdAt: -1 }); .limit(10).</a:t>
            </a:r>
          </a:p>
          <a:p/>
          <a:p>
            <a:r>
              <a:t>Bullet 3 on the slide: Do: Write one compound index that supports the filter and sort. Label equality vs sort fields.</a:t>
            </a:r>
          </a:p>
          <a:p/>
          <a:p>
            <a:r>
              <a:t>Bullet 4 on the slide: Expected: { customerId: 1, paymentStatus: 1, createdAt: -1 } — equality, equality, sort. Do not lead with createdAt.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8.3 — Tune an Aggregation Pipeline.</a:t>
            </a:r>
          </a:p>
          <a:p/>
          <a:p>
            <a:r>
              <a:t>The slide title is: Demo 8.3 — Tune an Aggregation Pipeline.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Start with $lookup → $unwind → $match → $group → $sort.</a:t>
            </a:r>
          </a:p>
          <a:p/>
          <a:p>
            <a:r>
              <a:t>Bullet 3 on the slide: Aim for $match → $project → (maybe lookup) → controlled unwind → $group → $sort.</a:t>
            </a:r>
          </a:p>
          <a:p/>
          <a:p>
            <a:r>
              <a:t>Bullet 4 on the slide: Business logic decides the exact order.</a:t>
            </a:r>
          </a:p>
          <a:p/>
          <a:p>
            <a:r>
              <a:t>Bullet 5 on the slide: Measure before and after.</a:t>
            </a:r>
          </a:p>
          <a:p/>
          <a:p>
            <a:r>
              <a:t>The figure on this slide is titled: Tune an Aggregation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8.4 — Optimize an Aggregation Pipeline.</a:t>
            </a:r>
          </a:p>
          <a:p/>
          <a:p>
            <a:r>
              <a:t>The slide title is: Exercise 8.4 — Optimize an Aggregation Pipeline.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Name defects in a lookup-first pipeline and propose a safer stage order that does not double-count.</a:t>
            </a:r>
          </a:p>
          <a:p/>
          <a:p>
            <a:r>
              <a:t>Bullet 3 on the slide: Lab guide: [Exercise 8.4](../slide-exercises/module-08/exercise-8.4-optimize-an-aggregation-pipeline.md).</a:t>
            </a:r>
          </a:p>
          <a:p/>
          <a:p>
            <a:r>
              <a:t>The figure on this slide is titled: Unwind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8.4 — Optimize an Aggregation Pipeline. We have about 20 min for this lab.</a:t>
            </a:r>
          </a:p>
          <a:p/>
          <a:p>
            <a:r>
              <a:t>Reorder a lookup-first pipeline and avoid double-counting parent totals after $unwind.</a:t>
            </a:r>
          </a:p>
          <a:p/>
          <a:p>
            <a:r>
              <a:t>The full lab guide is in slide-exercises/module-08/exercise-8.4-optimize-an-aggregation-pipeline.md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Name the defects.</a:t>
            </a:r>
          </a:p>
          <a:p/>
          <a:p>
            <a:r>
              <a:t>Step 2 — Propose a safer order.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8.4 — Steps 1–2.</a:t>
            </a:r>
          </a:p>
          <a:p/>
          <a:p>
            <a:r>
              <a:t>The slide says: Lab guide: [Exercise 8.4](../slide-exercises/module-08/exercise-8.4-optimize-an-aggregation-pipeline.md).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The pipeline runs $lookup customers, then $unwind items, then $match PAID, then $sort by date, then $group summing total. List what is wrong and why $group after $unwind can over-count revenue.</a:t>
            </a:r>
          </a:p>
          <a:p/>
          <a:p>
            <a:r>
              <a:t>Bullet 2 on the slide: Expected: Lookup and unwind happen before filtering; unused customer fields travel the pipeline; sort before the final metric is wasted work; summing parent total after.</a:t>
            </a:r>
          </a:p>
          <a:p/>
          <a:p>
            <a:r>
              <a:t>Bullet 3 on the slide: Do: Write a conceptual stage order that preserves paid-order monthly revenue and unique customers. State where $unwind is allowed.</a:t>
            </a:r>
          </a:p>
          <a:p/>
          <a:p>
            <a:r>
              <a:t>Bullet 4 on the slide: Expected: $match PAID (and date window if any) → $project needed fields → $set month → group for order-level metrics first, or unwind only to sum line quantities. 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8.5 — Rationalize an Index Portfolio.</a:t>
            </a:r>
          </a:p>
          <a:p/>
          <a:p>
            <a:r>
              <a:t>The slide title is: Exercise 8.5 — Rationalize an Index Portfolio.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Map overlapping category indexes, low-selectivity active, and a hide-then-monitor plan.</a:t>
            </a:r>
          </a:p>
          <a:p/>
          <a:p>
            <a:r>
              <a:t>Bullet 3 on the slide: Lab guide: [Exercise 8.5](../slide-exercises/module-08/exercise-8.5-rationalize-an-index-portfolio.md).</a:t>
            </a:r>
          </a:p>
          <a:p/>
          <a:p>
            <a:r>
              <a:t>The figure on this slide is titled: Overlapping category indexes.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8.5 — Rationalize an Index Portfolio. We have about 20 min for this lab.</a:t>
            </a:r>
          </a:p>
          <a:p/>
          <a:p>
            <a:r>
              <a:t>Map overlapping prefixes, low-selectivity keys, and a hide-then-monitor removal plan.</a:t>
            </a:r>
          </a:p>
          <a:p/>
          <a:p>
            <a:r>
              <a:t>The full lab guide is in slide-exercises/module-08/exercise-8.5-rationalize-an-index-portfolio.md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Map overlap.</a:t>
            </a:r>
          </a:p>
          <a:p/>
          <a:p>
            <a:r>
              <a:t>Step 2 — Safe testing plan.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8.5 — Steps 1–2.</a:t>
            </a:r>
          </a:p>
          <a:p/>
          <a:p>
            <a:r>
              <a:t>The slide says: Lab guide: [Exercise 8.5](../slide-exercises/module-08/exercise-8.5-rationalize-an-index-portfolio.md).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Given these indexes, mark which prefixes overlap and which queries each can support: { category: 1 } { category: 1, price: 1 } { category: 1, price: 1, name: 1 } { active: 1 } { category: 1, active: 1, price: 1 }.</a:t>
            </a:r>
          </a:p>
          <a:p/>
          <a:p>
            <a:r>
              <a:t>Bullet 2 on the slide: Expected: The three category+price variants overlap; { category: 1 } is a prefix of the others. { active: 1 } is low-selectivity and does not overlap those prefixes.</a:t>
            </a:r>
          </a:p>
          <a:p/>
          <a:p>
            <a:r>
              <a:t>Bullet 3 on the slide: Do: Write the sequence before dropping any index: workload review, explain, hide, monitor, drop with rollback. Name one index you would not hide on appearance alone.</a:t>
            </a:r>
          </a:p>
          <a:p/>
          <a:p>
            <a:r>
              <a:t>Bullet 4 on the slide: Expected: Hide { category: 1 } only after catalog and reporting explains still use a remaining compound index. Do not hide { category: 1, active: 1, price: 1 } withou.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Demo 8.4 — Apply Collection Validation.</a:t>
            </a:r>
          </a:p>
          <a:p/>
          <a:p>
            <a:r>
              <a:t>The slide title is: Demo 8.4 — Apply Collection Validation.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Require orderNumber, customerId, items, statuses, decimal total, createdAt.</a:t>
            </a:r>
          </a:p>
          <a:p/>
          <a:p>
            <a:r>
              <a:t>Bullet 3 on the slide: Test valid insert, missing field, wrong type, illegal status.</a:t>
            </a:r>
          </a:p>
          <a:p/>
          <a:p>
            <a:r>
              <a:t>Bullet 4 on the slide: Prefer training_store_ops so orders stays loadable.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8.5 — Demonstrate Role-Based Access.</a:t>
            </a:r>
          </a:p>
          <a:p/>
          <a:p>
            <a:r>
              <a:t>The slide title is: Demo 8.5 — Demonstrate Role-Based Access.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Instructor-controlled environment only.</a:t>
            </a:r>
          </a:p>
          <a:p/>
          <a:p>
            <a:r>
              <a:t>Bullet 3 on the slide: App user: readWrite data; reporter: read; monitor: metrics; admin: separate identity.</a:t>
            </a:r>
          </a:p>
          <a:p/>
          <a:p>
            <a:r>
              <a:t>Bullet 4 on the slide: Never display real credentials.</a:t>
            </a:r>
          </a:p>
          <a:p/>
          <a:p>
            <a:r>
              <a:t>The figure on this slide is titled: Demonstrate Role-Based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8.6 — Identify an Unsafe Configuration.</a:t>
            </a:r>
          </a:p>
          <a:p/>
          <a:p>
            <a:r>
              <a:t>The slide title is: Demo 8.6 — Identify an Unsafe Configuration.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10 min.</a:t>
            </a:r>
          </a:p>
          <a:p/>
          <a:p>
            <a:r>
              <a:t>Bullet 2 on the slide: Public bind, auth disabled, shared admin, no TLS, no backup, no monitoring.</a:t>
            </a:r>
          </a:p>
          <a:p/>
          <a:p>
            <a:r>
              <a:t>Bullet 3 on the slide: Participants name risks and controls.</a:t>
            </a:r>
          </a:p>
          <a:p/>
          <a:p>
            <a:r>
              <a:t>The figure on this slide is titled: Identify an Unsafe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8.6 — Design Least-Privilege Roles.</a:t>
            </a:r>
          </a:p>
          <a:p/>
          <a:p>
            <a:r>
              <a:t>The slide title is: Exercise 8.6 — Design Least-Privilege Roles.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Permit/deny matrix for app, reporting, support, monitoring, backup, and DBA identities.</a:t>
            </a:r>
          </a:p>
          <a:p/>
          <a:p>
            <a:r>
              <a:t>Bullet 3 on the slide: Lab guide: [Exercise 8.6](../slide-exercises/module-08/exercise-8.6-design-least-privilege-roles.md).</a:t>
            </a:r>
          </a:p>
          <a:p/>
          <a:p>
            <a:r>
              <a:t>The figure on this slide is titled: Least-privilege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8.6 — Design Least-Privilege Roles. We have about 20 min for this lab.</a:t>
            </a:r>
          </a:p>
          <a:p/>
          <a:p>
            <a:r>
              <a:t>Define permit and deny operations for application, reporting, support, monitoring, backup, and DBA identities.</a:t>
            </a:r>
          </a:p>
          <a:p/>
          <a:p>
            <a:r>
              <a:t>The full lab guide is in slide-exercises/module-08/exercise-8.6-design-least-privilege-roles.md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Fill the permission matrix.</a:t>
            </a:r>
          </a:p>
          <a:p/>
          <a:p>
            <a:r>
              <a:t>Step 2 — Call out the anti-pattern.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8.6 — Steps 1–2.</a:t>
            </a:r>
          </a:p>
          <a:p/>
          <a:p>
            <a:r>
              <a:t>The slide says: Lab guide: [Exercise 8.6](../slide-exercises/module-08/exercise-8.6-design-least-privilege-roles.md).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For each identity — application service, reporting service, support engineer, monitoring service, backup service, database administrator — list one permitted operation and one prohibited operation on training_store.</a:t>
            </a:r>
          </a:p>
          <a:p/>
          <a:p>
            <a:r>
              <a:t>Bullet 2 on the slide: Expected: App: read/write app collections, not userAdmin. Reporting: read approved collections, not update. Support: read (maybe limited PII), not drop. Monitoring: clust.</a:t>
            </a:r>
          </a:p>
          <a:p/>
          <a:p>
            <a:r>
              <a:t>Bullet 3 on the slide: Do: Write two sentences on why the application must not use a cluster-administrator account, even in training-like environments that later become production.</a:t>
            </a:r>
          </a:p>
          <a:p/>
          <a:p>
            <a:r>
              <a:t>Bullet 4 on the slide: Expected: A stolen app credential would inherit every privilege. Least privilege limits blast radius and makes audit trails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8.7 — Identify Security Risks.</a:t>
            </a:r>
          </a:p>
          <a:p/>
          <a:p>
            <a:r>
              <a:t>The slide title is: Exercise 8.7 — Identify Security Risks.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Rank six fictional risks and attach one mitigation to each.</a:t>
            </a:r>
          </a:p>
          <a:p/>
          <a:p>
            <a:r>
              <a:t>Bullet 3 on the slide: Lab guide: [Exercise 8.7](../slide-exercises/module-08/exercise-8.7-identify-security-risks.md).</a:t>
            </a:r>
          </a:p>
          <a:p/>
          <a:p>
            <a:r>
              <a:t>The figure on this slide is titled: Security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8.7 — Identify Security Risks. We have about 15 min for this lab.</a:t>
            </a:r>
          </a:p>
          <a:p/>
          <a:p>
            <a:r>
              <a:t>Rank public exposure, shared admin, secrets in git, missing TLS, open backups, and prod-in-dev, then mitigate.</a:t>
            </a:r>
          </a:p>
          <a:p/>
          <a:p>
            <a:r>
              <a:t>The full lab guide is in slide-exercises/module-08/exercise-8.7-identify-security-risks.md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Rank the six risks.</a:t>
            </a:r>
          </a:p>
          <a:p/>
          <a:p>
            <a:r>
              <a:t>Step 2 — Propose mitigations.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8.7 — Steps 1–2.</a:t>
            </a:r>
          </a:p>
          <a:p/>
          <a:p>
            <a:r>
              <a:t>The slide says: Lab guide: [Exercise 8.7](../slide-exercises/module-08/exercise-8.7-identify-security-risks.md).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Rank these from most urgent to least: public database endpoint; shared administrator account; plaintext URI in source control; no TLS; unprotected backups; production data copied to development. Give a one-line business.</a:t>
            </a:r>
          </a:p>
          <a:p/>
          <a:p>
            <a:r>
              <a:t>Bullet 2 on the slide: Expected: Typical top three: public endpoint (internet attack surface), no TLS (credential and data interception), secrets in source control (credential leak). Shared adm.</a:t>
            </a:r>
          </a:p>
          <a:p/>
          <a:p>
            <a:r>
              <a:t>Bullet 3 on the slide: Do: For each of the six, write one concrete control (network, identity, encryption, secret storage, or data handling).</a:t>
            </a:r>
          </a:p>
          <a:p/>
          <a:p>
            <a:r>
              <a:t>Bullet 4 on the slide: Expected: Private network + allowlist; named accounts + MFA/rotation; secret manager; TLS with validation; encrypted backups with access control; masked or synthetic non-.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8.9 — Test a Backup and Restore Workflow.</a:t>
            </a:r>
          </a:p>
          <a:p/>
          <a:p>
            <a:r>
              <a:t>The slide title is: Demo 8.9 — Test a Backup and Restore Workflow.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Known test data → backup → change data → restore to an isolated target.</a:t>
            </a:r>
          </a:p>
          <a:p/>
          <a:p>
            <a:r>
              <a:t>Bullet 3 on the slide: Validate counts, samples, indexes, access, duration.</a:t>
            </a:r>
          </a:p>
          <a:p/>
          <a:p>
            <a:r>
              <a:t>Bullet 4 on the slide: Disposable environment only.</a:t>
            </a:r>
          </a:p>
          <a:p/>
          <a:p>
            <a:r>
              <a:t>The figure on this slide is titled: Test a Backup and Restore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8.8 — Define RPO and RTO.</a:t>
            </a:r>
          </a:p>
          <a:p/>
          <a:p>
            <a:r>
              <a:t>The slide title is: Exercise 8.8 — Define RPO and RTO.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Set RPO, RTO, frequency, method, and validation for catalog, customers, orders, payments, and reviews.</a:t>
            </a:r>
          </a:p>
          <a:p/>
          <a:p>
            <a:r>
              <a:t>Bullet 3 on the slide: Lab guide: [Exercise 8.8](../slide-exercises/module-08/exercise-8.8-define-rpo-and-rto.md).</a:t>
            </a:r>
          </a:p>
          <a:p/>
          <a:p>
            <a:r>
              <a:t>The figure on this slide is titled: RPO and 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8.8 — Define RPO and RTO. We have about 15 min for this lab.</a:t>
            </a:r>
          </a:p>
          <a:p/>
          <a:p>
            <a:r>
              <a:t>Set recovery objectives, backup frequency, method, and validation for catalog, customers, orders, payments, and reviews.</a:t>
            </a:r>
          </a:p>
          <a:p/>
          <a:p>
            <a:r>
              <a:t>The full lab guide is in slide-exercises/module-08/exercise-8.8-define-rpo-and-rto.md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Assign objectives.</a:t>
            </a:r>
          </a:p>
          <a:p/>
          <a:p>
            <a:r>
              <a:t>Step 2 — Name validation.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8.8 — Steps 1–2.</a:t>
            </a:r>
          </a:p>
          <a:p/>
          <a:p>
            <a:r>
              <a:t>The slide says: Lab guide: [Exercise 8.8](../slide-exercises/module-08/exercise-8.8-define-rpo-and-rto.md).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For product catalog, customer profiles, orders, payments, and reviews, write RPO, RTO, and a backup frequency that could meet the RPO. Use the store as a small retailer, not a global bank.</a:t>
            </a:r>
          </a:p>
          <a:p/>
          <a:p>
            <a:r>
              <a:t>Bullet 2 on the slide: Expected: Payments and orders typically get the tightest RPO (minutes) and tested point-in-time recovery. Catalog can often tolerate a longer RPO. Reviews are usually the.</a:t>
            </a:r>
          </a:p>
          <a:p/>
          <a:p>
            <a:r>
              <a:t>Bullet 3 on the slide: Do: For orders, write how you would prove a restore: counts, sample order numbers, indexes, and a checkout read.</a:t>
            </a:r>
          </a:p>
          <a:p/>
          <a:p>
            <a:r>
              <a:t>Bullet 4 on the slide: Expected: Compare countDocuments to the pre-restore note; find O5001 and a paid total; getIndexes(); application can read an order. Backup success alone is not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8.7 — Inspect Health and Performance Metrics.</a:t>
            </a:r>
          </a:p>
          <a:p/>
          <a:p>
            <a:r>
              <a:t>The slide title is: Demo 8.7 — Inspect Health and Performance Metrics.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Ops rate, query latency, connections, CPU, memory, disk, lag, storage, slow queries.</a:t>
            </a:r>
          </a:p>
          <a:p/>
          <a:p>
            <a:r>
              <a:t>Bullet 3 on the slide: Correlate with a simulated load bump.</a:t>
            </a:r>
          </a:p>
          <a:p/>
          <a:p>
            <a:r>
              <a:t>The figure on this slide is titled: Inspect Health and Performance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Demo 8.8 — Read and Correlate MongoDB Logs.</a:t>
            </a:r>
          </a:p>
          <a:p/>
          <a:p>
            <a:r>
              <a:t>The slide title is: Demo 8.8 — Read and Correlate MongoDB Logs.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Trace connection failure, auth failure, slow query, election, replication and storage warnings.</a:t>
            </a:r>
          </a:p>
          <a:p/>
          <a:p>
            <a:r>
              <a:t>Bullet 3 on the slide: Align timestamps with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8.9 — Design a Monitoring Dashboard.</a:t>
            </a:r>
          </a:p>
          <a:p/>
          <a:p>
            <a:r>
              <a:t>The slide title is: Exercise 8.9 — Design a Monitoring Dashboard.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Choose at most twelve on-call tiles, each with a purpose question, and drop two vanity metrics.</a:t>
            </a:r>
          </a:p>
          <a:p/>
          <a:p>
            <a:r>
              <a:t>Bullet 3 on the slide: Lab guide: [Exercise 8.9](../slide-exercises/module-08/exercise-8.9-design-a-monitoring-dashboard.md).</a:t>
            </a:r>
          </a:p>
          <a:p/>
          <a:p>
            <a:r>
              <a:t>The figure on this slide is titled: Dashboard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8.9 — Design a Monitoring Dashboard. We have about 20 min for this lab.</a:t>
            </a:r>
          </a:p>
          <a:p/>
          <a:p>
            <a:r>
              <a:t>Select essential on-call metrics with a purpose for each tile and drop vanity signals.</a:t>
            </a:r>
          </a:p>
          <a:p/>
          <a:p>
            <a:r>
              <a:t>The full lab guide is in slide-exercises/module-08/exercise-8.9-design-a-monitoring-dashboard.md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Pick twelve tiles.</a:t>
            </a:r>
          </a:p>
          <a:p/>
          <a:p>
            <a:r>
              <a:t>Step 2 — Drop two candidates.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8.9 — Steps 1–2.</a:t>
            </a:r>
          </a:p>
          <a:p/>
          <a:p>
            <a:r>
              <a:t>The slide says: Lab guide: [Exercise 8.9](../slide-exercises/module-08/exercise-8.9-design-a-monitoring-dashboard.md).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Choose at most twelve dashboard tiles that a weekday on-call would actually use. For each, write the metric and the question it answers. Reject vanity metrics.</a:t>
            </a:r>
          </a:p>
          <a:p/>
          <a:p>
            <a:r>
              <a:t>Bullet 2 on the slide: Expected: Examples: primary/alive, request latency p99, slow ops, CPU, disk %, connections vs limit, replication lag, oplog window, targeted vs scatter (if sharded), back.</a:t>
            </a:r>
          </a:p>
          <a:p/>
          <a:p>
            <a:r>
              <a:t>Bullet 3 on the slide: Do: Name two metrics you would leave off the primary dashboard and why.</a:t>
            </a:r>
          </a:p>
          <a:p/>
          <a:p>
            <a:r>
              <a:t>Bullet 4 on the slide: Expected: Per-collection document counts or raw opcounters without a baseline are noise. Shard-balancer internals may belong on a secondary view unless the cluster is sha.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8.10 — Set Alert Priorities.</a:t>
            </a:r>
          </a:p>
          <a:p/>
          <a:p>
            <a:r>
              <a:t>The slide title is: Exercise 8.10 — Set Alert Priorities.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Classify eight alerts and attach first actions for critical and high.</a:t>
            </a:r>
          </a:p>
          <a:p/>
          <a:p>
            <a:r>
              <a:t>Bullet 3 on the slide: Lab guide: [Exercise 8.10](../slide-exercises/module-08/exercise-8.10-set-alert-priorities.md).</a:t>
            </a:r>
          </a:p>
          <a:p/>
          <a:p>
            <a:r>
              <a:t>The figure on this slide is titled: Alert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8.10 — Set Alert Priorities. We have about 15 min for this lab.</a:t>
            </a:r>
          </a:p>
          <a:p/>
          <a:p>
            <a:r>
              <a:t>Classify operational alerts and attach a first action for critical and high events.</a:t>
            </a:r>
          </a:p>
          <a:p/>
          <a:p>
            <a:r>
              <a:t>The full lab guide is in slide-exercises/module-08/exercise-8.10-set-alert-priorities.md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Classify eight alerts.</a:t>
            </a:r>
          </a:p>
          <a:p/>
          <a:p>
            <a:r>
              <a:t>Step 2 — Attach first actions.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8.10 — Steps 1–2.</a:t>
            </a:r>
          </a:p>
          <a:p/>
          <a:p>
            <a:r>
              <a:t>The slide says: Lab guide: [Exercise 8.10](../slide-exercises/module-08/exercise-8.10-set-alert-priorities.md).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Classify: no primary; increasing replication lag; disk 90% full; backup failed; authentication-failure spike; slow-query increase; one secondary unavailable; high connection usage.</a:t>
            </a:r>
          </a:p>
          <a:p/>
          <a:p>
            <a:r>
              <a:t>Bullet 2 on the slide: Expected: Critical: no primary. High: disk 90%, backup failed, auth-failure spike, lag still growing toward oplog risk. Medium: one secondary down (if majority remains),.</a:t>
            </a:r>
          </a:p>
          <a:p/>
          <a:p>
            <a:r>
              <a:t>Bullet 3 on the slide: Do: For critical and high items, write the first action and the runbook name you would open.</a:t>
            </a:r>
          </a:p>
          <a:p/>
          <a:p>
            <a:r>
              <a:t>Bullet 4 on the slide: Expected: No primary → check replica-set status and network, do not reconfigure hastily. Disk 90% → identify growth, free space, page the owner. Backup failed → verify 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8.11 — Diagnose an Operational Incident.</a:t>
            </a:r>
          </a:p>
          <a:p/>
          <a:p>
            <a:r>
              <a:t>The slide title is: Exercise 8.11 — Diagnose an Operational Incident.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Post-release slowness: examined docs up, no election, filter changed, indexes unchanged.</a:t>
            </a:r>
          </a:p>
          <a:p/>
          <a:p>
            <a:r>
              <a:t>Bullet 3 on the slide: Lab guide: [Exercise 8.11](../slide-exercises/module-08/exercise-8.11-diagnose-an-operational-incident.md).</a:t>
            </a:r>
          </a:p>
          <a:p/>
          <a:p>
            <a:r>
              <a:t>The figure on this slide is titled: Slow application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8.11 — Diagnose an Operational Incident. We have about 20 min for this lab.</a:t>
            </a:r>
          </a:p>
          <a:p/>
          <a:p>
            <a:r>
              <a:t>Explain post-release slowness from a filter change using examined-document growth, not failover.</a:t>
            </a:r>
          </a:p>
          <a:p/>
          <a:p>
            <a:r>
              <a:t>The full lab guide is in slide-exercises/module-08/exercise-8.11-diagnose-an-operational-incident.md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Form the hypothesis.</a:t>
            </a:r>
          </a:p>
          <a:p/>
          <a:p>
            <a:r>
              <a:t>Step 2 — Mitigate and prevent.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8.11 — Steps 1–2.</a:t>
            </a:r>
          </a:p>
          <a:p/>
          <a:p>
            <a:r>
              <a:t>The slide says: Lab guide: [Exercise 8.11](../slide-exercises/module-08/exercise-8.11-diagnose-an-operational-incident.md).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Evidence: CPU moderately up; documents examined up sharply; no election; connections normal; a query filter changed; indexes unchanged. What is the likely cause, and what is not the cause?.</a:t>
            </a:r>
          </a:p>
          <a:p/>
          <a:p>
            <a:r>
              <a:t>Bullet 2 on the slide: Expected: Likely: the new filter no longer uses the existing index (predicate, type, or field name), causing a collection scan or a weakly selective plan. Not: failover,.</a:t>
            </a:r>
          </a:p>
          <a:p/>
          <a:p>
            <a:r>
              <a:t>Bullet 3 on the slide: Do: Write immediate mitigation, evidence to collect, permanent correction, and one prevention action for the next release.</a:t>
            </a:r>
          </a:p>
          <a:p/>
          <a:p>
            <a:r>
              <a:t>Bullet 4 on the slide: Expected: Mitigate: revert the filter or add a matching index if the new shape is intended. Collect: the exact query, explain before/after, deploy diff. Permanent: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8.12 — Create an Operational Runbook.</a:t>
            </a:r>
          </a:p>
          <a:p/>
          <a:p>
            <a:r>
              <a:t>The slide title is: Exercise 8.12 — Create an Operational Runbook.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Fill a twelve-section runbook for one named alert.</a:t>
            </a:r>
          </a:p>
          <a:p/>
          <a:p>
            <a:r>
              <a:t>Bullet 3 on the slide: Lab guide: [Exercise 8.12](../slide-exercises/module-08/exercise-8.12-create-an-operational-runbook.md).</a:t>
            </a:r>
          </a:p>
          <a:p/>
          <a:p>
            <a:r>
              <a:t>The figure on this slide is titled: Incident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8.12 — Create an Operational Runbook. We have about 20 min for this lab.</a:t>
            </a:r>
          </a:p>
          <a:p/>
          <a:p>
            <a:r>
              <a:t>Write a twelve-section runbook for one named MongoDB alert.</a:t>
            </a:r>
          </a:p>
          <a:p/>
          <a:p>
            <a:r>
              <a:t>The full lab guide is in slide-exercises/module-08/exercise-8.12-create-an-operational-runbook.md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Fill the template.</a:t>
            </a:r>
          </a:p>
          <a:p/>
          <a:p>
            <a:r>
              <a:t>Step 2 — Add a verification step.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8.12 — Steps 1–2.</a:t>
            </a:r>
          </a:p>
          <a:p/>
          <a:p>
            <a:r>
              <a:t>The slide says: Lab guide: [Exercise 8.12](../slide-exercises/module-08/exercise-8.12-create-an-operational-runbook.md).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Pick one event. Write: alert name, meaning, business impact, required access, diagnostic commands, expected normal state, decision points, corrective actions, escalation, rollback, verification, and where the incident is.</a:t>
            </a:r>
          </a:p>
          <a:p/>
          <a:p>
            <a:r>
              <a:t>Bullet 2 on the slide: Expected: A complete page exists. Diagnostics are real commands (rs.status(), explain, disk checks). Corrective actions are sequenced. Escalation has a person or role.</a:t>
            </a:r>
          </a:p>
          <a:p/>
          <a:p>
            <a:r>
              <a:t>Bullet 3 on the slide: Do: Write how you know the incident is over (metric + user-facing check) and what you will change so it does not recur silently.</a:t>
            </a:r>
          </a:p>
          <a:p/>
          <a:p>
            <a:r>
              <a:t>Bullet 4 on the slide: Expected: Example: primary exists for 15 minutes, checkout succeeds, lag &lt; baseline. Follow-up: alert threshold, dashboard tile, or change-review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8.10 — Conduct a Production-Readiness Review.</a:t>
            </a:r>
          </a:p>
          <a:p/>
          <a:p>
            <a:r>
              <a:t>The slide title is: Demo 8.10 — Conduct a Production-Readiness Review.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Score schema, queries, indexes, security, availability, backup, monitoring, runbooks, ownership.</a:t>
            </a:r>
          </a:p>
          <a:p/>
          <a:p>
            <a:r>
              <a:t>Bullet 3 on the slide: Prioritize critical / high / medium / low improvements.</a:t>
            </a:r>
          </a:p>
          <a:p/>
          <a:p>
            <a:r>
              <a:t>The figure on this slide is titled: Conduct a Production-Readiness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8.13 — Complete a Production-Readiness Assessment.</a:t>
            </a:r>
          </a:p>
          <a:p/>
          <a:p>
            <a:r>
              <a:t>The slide title is: Exercise 8.13 — Complete a Production-Readiness Assessment.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25 min.</a:t>
            </a:r>
          </a:p>
          <a:p/>
          <a:p>
            <a:r>
              <a:t>Bullet 2 on the slide: Score nine areas of the fictional deployment and classify ready / conditional / not ready.</a:t>
            </a:r>
          </a:p>
          <a:p/>
          <a:p>
            <a:r>
              <a:t>Bullet 3 on the slide: Lab guide: [Exercise 8.13](../slide-exercises/module-08/exercise-8.13-complete-a-production-readiness-assessment.md).</a:t>
            </a:r>
          </a:p>
          <a:p/>
          <a:p>
            <a:r>
              <a:t>The figure on this slide is titled: Production-readiness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8.13 — Complete a Production-Readiness Assessment. We have about 25 min for this lab.</a:t>
            </a:r>
          </a:p>
          <a:p/>
          <a:p>
            <a:r>
              <a:t>Score a fictional deployment and classify it as ready, ready with conditions, or not ready.</a:t>
            </a:r>
          </a:p>
          <a:p/>
          <a:p>
            <a:r>
              <a:t>The full lab guide is in slide-exercises/module-08/exercise-8.13-complete-a-production-readiness-assessment.md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Score nine areas.</a:t>
            </a:r>
          </a:p>
          <a:p/>
          <a:p>
            <a:r>
              <a:t>Step 2 — Classify the deployment.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8.13 — Steps 1–2.</a:t>
            </a:r>
          </a:p>
          <a:p/>
          <a:p>
            <a:r>
              <a:t>The slide says: Lab guide: [Exercise 8.13](../slide-exercises/module-08/exercise-8.13-complete-a-production-readiness-assessment.md).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Using the fictional training_store production story on the slides (no validation, mixed price types, embedded unbounded reviews, broad queries, overlapping indexes, shared admin credentials, public network, untested fa.</a:t>
            </a:r>
          </a:p>
          <a:p/>
          <a:p>
            <a:r>
              <a:t>Bullet 2 on the slide: Expected: Most areas are Not ready. Indexes might be Conditional if some useful keys exist but overlap is unproven. Availability is Conditional (replica set exists, failo.</a:t>
            </a:r>
          </a:p>
          <a:p/>
          <a:p>
            <a:r>
              <a:t>Bullet 3 on the slide: Do: Choose one overall label and list the three conditions that would have to be true before a go-live.</a:t>
            </a:r>
          </a:p>
          <a:p/>
          <a:p>
            <a:r>
              <a:t>Bullet 4 on the slide: Expected: Not production-ready. Conditions typically: authentication + network restriction, tested backup restore, and indexed selective queries with a baseline. Shared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Module Summary.</a:t>
            </a:r>
          </a:p>
          <a:p/>
          <a:p>
            <a:r>
              <a:t>The slide title is: Module Summary.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Intentional data modeling and efficient queries.</a:t>
            </a:r>
          </a:p>
          <a:p/>
          <a:p>
            <a:r>
              <a:t>Bullet 2 on the slide: Evidence-based indexes and layered security.</a:t>
            </a:r>
          </a:p>
          <a:p/>
          <a:p>
            <a:r>
              <a:t>Bullet 3 on the slide: Tested backups, monitoring, and alerting.</a:t>
            </a:r>
          </a:p>
          <a:p/>
          <a:p>
            <a:r>
              <a:t>Bullet 4 on the slide: Reliable replication and deliberate scaling.</a:t>
            </a:r>
          </a:p>
          <a:p/>
          <a:p>
            <a:r>
              <a:t>Bullet 5 on the slide: Documented troubleshooting and controlled change.</a:t>
            </a:r>
          </a:p>
          <a:p/>
          <a:p>
            <a:r>
              <a:t>The figure on this slide is titled: Module 8 sits on Modules 1–7.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Hands-on Labs — Time-box Guide.</a:t>
            </a:r>
          </a:p>
          <a:p/>
          <a:p>
            <a:r>
              <a:t>The slide title is: Hands-on Labs — Time-box Guide.</a:t>
            </a:r>
          </a:p>
          <a:p/>
          <a:p>
            <a:r>
              <a:t>The slide says: Full sequence: Labs 8.1–8.11 (~4 hours if every laptop does everything).</a:t>
            </a:r>
          </a:p>
          <a:p/>
          <a:p>
            <a:r>
              <a:t>The slide says: In the 3-day package, prefer:.</a:t>
            </a:r>
          </a:p>
          <a:p/>
          <a:p>
            <a:r>
              <a:t>The slide says: 1. Lab 8.2 query/projection.</a:t>
            </a:r>
          </a:p>
          <a:p/>
          <a:p>
            <a:r>
              <a:t>The slide says: 2. Lab 8.3 monthly pipeline (or 8.4 if 5.6 already landed).</a:t>
            </a:r>
          </a:p>
          <a:p/>
          <a:p>
            <a:r>
              <a:t>The slide says: 3. Lab 8.6 validation on training_store_ops.</a:t>
            </a:r>
          </a:p>
          <a:p/>
          <a:p>
            <a:r>
              <a:t>The slide says: 4. Lab 8.9 backup/restore isolated.</a:t>
            </a:r>
          </a:p>
          <a:p/>
          <a:p>
            <a:r>
              <a:t>The slide says: 5. Lab 8.11 integrated challenge.</a:t>
            </a:r>
          </a:p>
          <a:p/>
          <a:p>
            <a:r>
              <a:t>The slide says: Discussion labs 8.7, 8.8, 8.10 can be instructor-led with the worksheets.</a:t>
            </a:r>
          </a:p>
          <a:p/>
          <a:p>
            <a:r>
              <a:t>Number 1 on the slide: Lab 8.2 query/projection.</a:t>
            </a:r>
          </a:p>
          <a:p/>
          <a:p>
            <a:r>
              <a:t>Number 2 on the slide: Lab 8.3 monthly pipeline (or 8.4 if 5.6 already landed).</a:t>
            </a:r>
          </a:p>
          <a:p/>
          <a:p>
            <a:r>
              <a:t>Number 3 on the slide: Lab 8.6 validation on training_store_ops.</a:t>
            </a:r>
          </a:p>
          <a:p/>
          <a:p>
            <a:r>
              <a:t>Number 4 on the slide: Lab 8.9 backup/restore isolated.</a:t>
            </a:r>
          </a:p>
          <a:p/>
          <a:p>
            <a:r>
              <a:t>Number 5 on the slide: Lab 8.11 integrated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8.1 — Data-Model Review and Repair.</a:t>
            </a:r>
          </a:p>
          <a:p/>
          <a:p>
            <a:r>
              <a:t>The slide title is: Lab 8.1 — Data-Model Review and Repair.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25 min.</a:t>
            </a:r>
          </a:p>
          <a:p/>
          <a:p>
            <a:r>
              <a:t>Bullet 2 on the slide: Inspect types, growth, and snapshots; propose validation and an XBAD migration note.</a:t>
            </a:r>
          </a:p>
          <a:p/>
          <a:p>
            <a:r>
              <a:t>Bullet 3 on the slide: Lab guide: [Lab 8.1](../slide-exercises/module-08/lab-8.1-data-model-review-and-repair.md).</a:t>
            </a:r>
          </a:p>
          <a:p/>
          <a:p>
            <a:r>
              <a:t>The figure on this slide is titled: Model repair.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8.1 — Steps 1–2.</a:t>
            </a:r>
          </a:p>
          <a:p/>
          <a:p>
            <a:r>
              <a:t>The slide title is: Lab 8.1 — Steps 1–2.</a:t>
            </a:r>
          </a:p>
          <a:p/>
          <a:p>
            <a:r>
              <a:t>The slide says: Lab guide: [Lab 8.1](../slide-exercises/module-08/lab-8.1-data-model-review-and-repair.md).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Inspect types and names.</a:t>
            </a:r>
          </a:p>
          <a:p/>
          <a:p>
            <a:r>
              <a:t>Step 2 — Check growth and snapshots.</a:t>
            </a:r>
          </a:p>
          <a:p/>
          <a:p>
            <a:r>
              <a:t>Bullet 1 on the slide: Do: Run and record field-name and type surprises: use training_store db.products.find({}, { sku: 1, name: 1, price: 1, active: 1 }).limit(5) db.products.find({ sku: "XBAD" }, { sku: 1, price: 1 }) db.products.aggregate([ { $.</a:t>
            </a:r>
          </a:p>
          <a:p/>
          <a:p>
            <a:r>
              <a:t>Bullet 2 on the slide: Expected: XBAD shows price as string. Healthy products show Decimal128. That mixed type is the catalog anti-pattern to repair.</a:t>
            </a:r>
          </a:p>
          <a:p/>
          <a:p>
            <a:r>
              <a:t>Bullet 3 on the slide: Do: Compare db.products.findOne({}, { reviews: 1, sku: 1 }) with db.reviews.findOne() and db.orders.findOne({ orderNumber: "O5001" }, { items: 1, customerId: 1, shippingAddress: 1 }). Note whether reviews are embedded.</a:t>
            </a:r>
          </a:p>
          <a:p/>
          <a:p>
            <a:r>
              <a:t>Bullet 4 on the slide: Expected: Reviews live in reviews (good). Orders embed line snapshots and reference customerId (good). Call out any missing snapshot fields you would still add (for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8.1 — Steps 3–3.</a:t>
            </a:r>
          </a:p>
          <a:p/>
          <a:p>
            <a:r>
              <a:t>The slide title is: Lab 8.1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Propose validation and migration.</a:t>
            </a:r>
          </a:p>
          <a:p/>
          <a:p>
            <a:r>
              <a:t>Bullet 1 on the slide: Do: Write: (1) three validator rules for products, (2) what to do with XBAD, (3) whether to migrate in place or insert into a new collection first.</a:t>
            </a:r>
          </a:p>
          <a:p/>
          <a:p>
            <a:r>
              <a:t>Bullet 2 on the slide: Expected: Rules include sku string, Decimal128 price, Boolean active. XBAD is converted or quarantined. Prefer adding compatible fields and validationAction: "warn" 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8.2 — Query and Projection Optimization.</a:t>
            </a:r>
          </a:p>
          <a:p/>
          <a:p>
            <a:r>
              <a:t>The slide title is: Lab 8.2 — Query and Projection Optimization.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25 min.</a:t>
            </a:r>
          </a:p>
          <a:p/>
          <a:p>
            <a:r>
              <a:t>Bullet 2 on the slide: Baseline find({}), then filter, project, sort, limit, explain, and recommend an ESR index.</a:t>
            </a:r>
          </a:p>
          <a:p/>
          <a:p>
            <a:r>
              <a:t>Bullet 3 on the slide: Lab guide: [Lab 8.2](../slide-exercises/module-08/lab-8.2-query-and-projection-optimization.md).</a:t>
            </a:r>
          </a:p>
          <a:p/>
          <a:p>
            <a:r>
              <a:t>The figure on this slide is titled: Query optimization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8.2 — Steps 1–2.</a:t>
            </a:r>
          </a:p>
          <a:p/>
          <a:p>
            <a:r>
              <a:t>The slide title is: Lab 8.2 — Steps 1–2.</a:t>
            </a:r>
          </a:p>
          <a:p/>
          <a:p>
            <a:r>
              <a:t>The slide says: Lab guide: [Lab 8.2](../slide-exercises/module-08/lab-8.2-query-and-projection-optimization.md).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Baseline the broad query.</a:t>
            </a:r>
          </a:p>
          <a:p/>
          <a:p>
            <a:r>
              <a:t>Step 2 — Add filter, projection, sort, and limit.</a:t>
            </a:r>
          </a:p>
          <a:p/>
          <a:p>
            <a:r>
              <a:t>Bullet 1 on the slide: Do: Run and record nReturned and totalDocsExamined: use training_store db.orders.find({}).explain("executionStats").</a:t>
            </a:r>
          </a:p>
          <a:p/>
          <a:p>
            <a:r>
              <a:t>Bullet 2 on the slide: Expected: The plan examines every order. nReturned equals the collection size. This is the ‘return everything’ anti-pattern.</a:t>
            </a:r>
          </a:p>
          <a:p/>
          <a:p>
            <a:r>
              <a:t>Bullet 3 on the slide: Do: Look up C101’s _id, then run: const c101 = db.customers.findOne({ customerNumber: "C101" })._id db.orders.find( { customerId: c101, paymentStatus: "PAID" }, { _id: 0, orderNumber: 1, fulfillmentStatus: 1, total: 1, cre.</a:t>
            </a:r>
          </a:p>
          <a:p/>
          <a:p>
            <a:r>
              <a:t>Bullet 4 on the slide: Expected: Only C101 paid orders, shaped fields, newest first, at most ten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8.2 — Steps 3–3.</a:t>
            </a:r>
          </a:p>
          <a:p/>
          <a:p>
            <a:r>
              <a:t>The slide title is: Lab 8.2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Explain and recommend an index.</a:t>
            </a:r>
          </a:p>
          <a:p/>
          <a:p>
            <a:r>
              <a:t>Bullet 1 on the slide: Do: Run .explain("executionStats") on the improved query. Record winning stage, docs examined, and whether a SORT stage appears. Write one candidate index.</a:t>
            </a:r>
          </a:p>
          <a:p/>
          <a:p>
            <a:r>
              <a:t>Bullet 2 on the slide: Expected: Likely COLLSCAN on this small set unless Module 6 indexes remain. Candidate { customerId: 1, paymentStatus: 1, createdAt: -1 }. Note examined vs returned.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8.3 — Aggregation Pipeline Construction.</a:t>
            </a:r>
          </a:p>
          <a:p/>
          <a:p>
            <a:r>
              <a:t>The slide title is: Lab 8.3 — Aggregation Pipeline Construction.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30 min.</a:t>
            </a:r>
          </a:p>
          <a:p/>
          <a:p>
            <a:r>
              <a:t>Bullet 2 on the slide: Monthly paid sales with six metrics; two $group stages so unwind does not inflate revenue.</a:t>
            </a:r>
          </a:p>
          <a:p/>
          <a:p>
            <a:r>
              <a:t>Bullet 3 on the slide: Lab guide: [Lab 8.3](../slide-exercises/module-08/lab-8.3-aggregation-pipeline-construction.md).</a:t>
            </a:r>
          </a:p>
          <a:p/>
          <a:p>
            <a:r>
              <a:t>The figure on this slide is titled: Monthly sales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8.3 — Steps 1–2.</a:t>
            </a:r>
          </a:p>
          <a:p/>
          <a:p>
            <a:r>
              <a:t>The slide title is: Lab 8.3 — Steps 1–2.</a:t>
            </a:r>
          </a:p>
          <a:p/>
          <a:p>
            <a:r>
              <a:t>The slide says: Lab guide: [Lab 8.3](../slide-exercises/module-08/lab-8.3-aggregation-pipeline-construction.md).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Filter and stamp the month.</a:t>
            </a:r>
          </a:p>
          <a:p/>
          <a:p>
            <a:r>
              <a:t>Step 2 — Unwind safely, then group twice.</a:t>
            </a:r>
          </a:p>
          <a:p/>
          <a:p>
            <a:r>
              <a:t>Bullet 1 on the slide: Do: Start a pipeline that matches paymentStatus: "PAID" and sets month from createdAt (UTC date-to-string YYYY-MM is acceptable in training). db.orders.aggregate([ { $match: { paymentStatus: "PAID" } }, { $set: { mon.</a:t>
            </a:r>
          </a:p>
          <a:p/>
          <a:p>
            <a:r>
              <a:t>Bullet 2 on the slide: Expected: About 13 paid orders remain. Each document has a month such as 2026-07.</a:t>
            </a:r>
          </a:p>
          <a:p/>
          <a:p>
            <a:r>
              <a:t>Bullet 3 on the slide: Do: Unwind items, group by { month: "$month", orderNumber: "$orderNumber" } keeping total with $first, customerId with $first, and units as $sum of $items.quantity. Then group by month: `orderCount: { $sum:.</a:t>
            </a:r>
          </a:p>
          <a:p/>
          <a:p>
            <a:r>
              <a:t>Bullet 4 on the slide: Expected: Revenue is not multiplied by line count. Units come from item quantities. July–September 2026 months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8.3 — Steps 3–3.</a:t>
            </a:r>
          </a:p>
          <a:p/>
          <a:p>
            <a:r>
              <a:t>The slide title is: Lab 8.3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Sort and shape.</a:t>
            </a:r>
          </a:p>
          <a:p/>
          <a:p>
            <a:r>
              <a:t>Bullet 1 on the slide: Do: Add $set for uniqueCustomerCount: { $size: "$uniqueCustomers" } and averageOrderValue: { $divide: ["$revenue", "$orderCount"] }, $sort by _id / month, and a final $project that outputs month, orderCount, reve.</a:t>
            </a:r>
          </a:p>
          <a:p/>
          <a:p>
            <a:r>
              <a:t>Bullet 2 on the slide: Expected: One document per month, sorted, with all six business metrics. No leftover _id object unless you alias it to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8.4 — Aggregation Pipeline Tuning.</a:t>
            </a:r>
          </a:p>
          <a:p/>
          <a:p>
            <a:r>
              <a:t>The slide title is: Lab 8.4 — Aggregation Pipeline Tuning.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25 min.</a:t>
            </a:r>
          </a:p>
          <a:p/>
          <a:p>
            <a:r>
              <a:t>Bullet 2 on the slide: Compare lookup-first versus match-first; verify C101 revenue by hand.</a:t>
            </a:r>
          </a:p>
          <a:p/>
          <a:p>
            <a:r>
              <a:t>Bullet 3 on the slide: Lab guide: [Lab 8.4](../slide-exercises/module-08/lab-8.4-aggregation-pipeline-tuning.md).</a:t>
            </a:r>
          </a:p>
          <a:p/>
          <a:p>
            <a:r>
              <a:t>The figure on this slide is titled: Pipeline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8.4 — Steps 1–2.</a:t>
            </a:r>
          </a:p>
          <a:p/>
          <a:p>
            <a:r>
              <a:t>The slide title is: Lab 8.4 — Steps 1–2.</a:t>
            </a:r>
          </a:p>
          <a:p/>
          <a:p>
            <a:r>
              <a:t>The slide says: Lab guide: [Lab 8.4](../slide-exercises/module-08/lab-8.4-aggregation-pipeline-tuning.md).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Run the slow shape.</a:t>
            </a:r>
          </a:p>
          <a:p/>
          <a:p>
            <a:r>
              <a:t>Step 2 — Rewrite and compare.</a:t>
            </a:r>
          </a:p>
          <a:p/>
          <a:p>
            <a:r>
              <a:t>Bullet 1 on the slide: Do: Run this inefficient pipeline once and save the result documents plus explain("executionStats") notes (stage order, docs leaving $lookup): db.orders.aggregate([ { $lookup: { from: "customers", localField: "customerId.</a:t>
            </a:r>
          </a:p>
          <a:p/>
          <a:p>
            <a:r>
              <a:t>Bullet 2 on the slide: Expected: Lookup and unwind run on unpaid orders too. Revenue is inflated where orders have multiple items. Record the output even if the numbers look ‘busy’.</a:t>
            </a:r>
          </a:p>
          <a:p/>
          <a:p>
            <a:r>
              <a:t>Bullet 3 on the slide: Do: Rewrite: $match PAID first, $project only fields you need, $group by customerId summing $total without unwinding, then $lookup names, then $sort. Compare revenue to a manual find of paid totals for C1.</a:t>
            </a:r>
          </a:p>
          <a:p/>
          <a:p>
            <a:r>
              <a:t>Bullet 4 on the slide: Expected: C101’s paid total sum matches the grouped revenue. Unpaid orders never enter $lookup. Explain shows a smaller working set after $match.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8.4 — Steps 3–3.</a:t>
            </a:r>
          </a:p>
          <a:p/>
          <a:p>
            <a:r>
              <a:t>The slide title is: Lab 8.4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Index recommendation.</a:t>
            </a:r>
          </a:p>
          <a:p/>
          <a:p>
            <a:r>
              <a:t>Bullet 1 on the slide: Do: Write whether { paymentStatus: 1, createdAt: -1 } (or { paymentStatus: 1 }) would help this pipeline’s $match, and whether a $lookup on customers._id already has an index.</a:t>
            </a:r>
          </a:p>
          <a:p/>
          <a:p>
            <a:r>
              <a:t>Bullet 2 on the slide: Expected: _id is already indexed. A paymentStatus (and optional date) index can support the early $match. Do not index every grouped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8.5 — Index Design and Validation.</a:t>
            </a:r>
          </a:p>
          <a:p/>
          <a:p>
            <a:r>
              <a:t>The slide title is: Lab 8.5 — Index Design and Validation.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25 min.</a:t>
            </a:r>
          </a:p>
          <a:p/>
          <a:p>
            <a:r>
              <a:t>Bullet 2 on the slide: Inventory indexes, create history and paid-report keys, explain, do not drop.</a:t>
            </a:r>
          </a:p>
          <a:p/>
          <a:p>
            <a:r>
              <a:t>Bullet 3 on the slide: Lab guide: [Lab 8.5](../slide-exercises/module-08/lab-8.5-index-design-and-validation.md).</a:t>
            </a:r>
          </a:p>
          <a:p/>
          <a:p>
            <a:r>
              <a:t>The figure on this slide is titled: Index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8.5 — Steps 1–2.</a:t>
            </a:r>
          </a:p>
          <a:p/>
          <a:p>
            <a:r>
              <a:t>The slide title is: Lab 8.5 — Steps 1–2.</a:t>
            </a:r>
          </a:p>
          <a:p/>
          <a:p>
            <a:r>
              <a:t>The slide says: Lab guide: [Lab 8.5](../slide-exercises/module-08/lab-8.5-index-design-and-validation.md).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List current indexes.</a:t>
            </a:r>
          </a:p>
          <a:p/>
          <a:p>
            <a:r>
              <a:t>Step 2 — Create or reuse two useful indexes.</a:t>
            </a:r>
          </a:p>
          <a:p/>
          <a:p>
            <a:r>
              <a:t>Bullet 1 on the slide: Do: Run db.orders.getIndexes(), db.products.getIndexes(), and db.reviews.getIndexes(). Note leftovers from Module 6.</a:t>
            </a:r>
          </a:p>
          <a:p/>
          <a:p>
            <a:r>
              <a:t>Bullet 2 on the slide: Expected: A written inventory exists. _id_ is present. Extra indexes from Day 3 morning are labeled, not blindly dropped.</a:t>
            </a:r>
          </a:p>
          <a:p/>
          <a:p>
            <a:r>
              <a:t>Bullet 3 on the slide: Do: If missing, create training indexes (names optional): db.orders.createIndex( { customerId: 1, paymentStatus: 1, createdAt: -1 }, { name: "ix_orders_cust_pay_date" } ) db.orders.createIndex( { paymentStatus: 1, createdAt:.</a:t>
            </a:r>
          </a:p>
          <a:p/>
          <a:p>
            <a:r>
              <a:t>Bullet 4 on the slide: Expected: Winning plans show IXSCAN (unless a better leftover index wins). Examined counts are written down. Prefix overlap between the two new indexes is noted.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8.5 — Steps 3–3.</a:t>
            </a:r>
          </a:p>
          <a:p/>
          <a:p>
            <a:r>
              <a:t>The slide title is: Lab 8.5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Overlap decision.</a:t>
            </a:r>
          </a:p>
          <a:p/>
          <a:p>
            <a:r>
              <a:t>Bullet 1 on the slide: Do: State whether both new indexes should survive in production, or whether one prefix makes the other a hide candidate. Do not drop indexes in this lab.</a:t>
            </a:r>
          </a:p>
          <a:p/>
          <a:p>
            <a:r>
              <a:t>Bullet 2 on the slide: Expected: A sentence exists: keep both only if both query shapes are hot; otherwise hide the redundant one after monitoring. No dropIndex in this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8.6 — Schema Validation Implementation.</a:t>
            </a:r>
          </a:p>
          <a:p/>
          <a:p>
            <a:r>
              <a:t>The slide title is: Lab 8.6 — Schema Validation Implementation.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Validator on training_store_ops.orders_validated; prove valid and three invalid inserts.</a:t>
            </a:r>
          </a:p>
          <a:p/>
          <a:p>
            <a:r>
              <a:t>Bullet 3 on the slide: Lab guide: [Lab 8.6](../slide-exercises/module-08/lab-8.6-schema-validation-implementation.md).</a:t>
            </a:r>
          </a:p>
          <a:p/>
          <a:p>
            <a:r>
              <a:t>The figure on this slide is titled: Collection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8.6 — Steps 1–2.</a:t>
            </a:r>
          </a:p>
          <a:p/>
          <a:p>
            <a:r>
              <a:t>The slide title is: Lab 8.6 — Steps 1–2.</a:t>
            </a:r>
          </a:p>
          <a:p/>
          <a:p>
            <a:r>
              <a:t>The slide says: Lab guide: [Lab 8.6](../slide-exercises/module-08/lab-8.6-schema-validation-implementation.md).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Create a scratch collection.</a:t>
            </a:r>
          </a:p>
          <a:p/>
          <a:p>
            <a:r>
              <a:t>Step 2 — Attach the validator.</a:t>
            </a:r>
          </a:p>
          <a:p/>
          <a:p>
            <a:r>
              <a:t>Bullet 1 on the slide: Do: Copy two paid orders into a new collection so production-shaped data exists without locking orders: use training_store_ops db.orders_validated.drop() db.getSiblingDB("training_store").orders.find({ paymentStatus: "PAID.</a:t>
            </a:r>
          </a:p>
          <a:p/>
          <a:p>
            <a:r>
              <a:t>Bullet 2 on the slide: Expected: training_store_ops.orders_validated has two documents.</a:t>
            </a:r>
          </a:p>
          <a:p/>
          <a:p>
            <a:r>
              <a:t>Bullet 3 on the slide: Do: Run collMod (or createCollection) with $jsonSchema requiring orderNumber (string), customerId (objectId), items (array minItems: 1), paymentStatus enum PAID/PENDING/FAILED, fulfillmentStatus enum.</a:t>
            </a:r>
          </a:p>
          <a:p/>
          <a:p>
            <a:r>
              <a:t>Bullet 4 on the slide: Expected: collMod / create succeeds. db.getCollectionInfos({ name: "orders_validated" }) shows the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8.6 — Steps 3–3.</a:t>
            </a:r>
          </a:p>
          <a:p/>
          <a:p>
            <a:r>
              <a:t>The slide title is: Lab 8.6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Prove accept and reject.</a:t>
            </a:r>
          </a:p>
          <a:p/>
          <a:p>
            <a:r>
              <a:t>Bullet 1 on the slide: Do: Insert one valid order (new orderNumber). Then attempt: missing orderNumber; total: "9.99"; paymentStatus: "PAID_NOW". Record the error messages.</a:t>
            </a:r>
          </a:p>
          <a:p/>
          <a:p>
            <a:r>
              <a:t>Bullet 2 on the slide: Expected: Valid insert succeeds. Each invalid insert is rejected. Existing copied documents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8.7 — Security Configuration Review.</a:t>
            </a:r>
          </a:p>
          <a:p/>
          <a:p>
            <a:r>
              <a:t>The slide title is: Lab 8.7 — Security Configuration Review.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25 min.</a:t>
            </a:r>
          </a:p>
          <a:p/>
          <a:p>
            <a:r>
              <a:t>Bullet 2 on the slide: Mark findings on the fictional YAML; P1–P3 remediation; role sketches with redacted passwords.</a:t>
            </a:r>
          </a:p>
          <a:p/>
          <a:p>
            <a:r>
              <a:t>Bullet 3 on the slide: Lab guide: [Lab 8.7](../slide-exercises/module-08/lab-8.7-security-configuration-review.md).</a:t>
            </a:r>
          </a:p>
          <a:p/>
          <a:p>
            <a:r>
              <a:t>The figure on this slide is titled: Unsafe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8.7 — Steps 1–2.</a:t>
            </a:r>
          </a:p>
          <a:p/>
          <a:p>
            <a:r>
              <a:t>The slide title is: Lab 8.7 — Steps 1–2.</a:t>
            </a:r>
          </a:p>
          <a:p/>
          <a:p>
            <a:r>
              <a:t>The slide says: Lab guide: [Lab 8.7](../slide-exercises/module-08/lab-8.7-security-configuration-review.md).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Mark every finding.</a:t>
            </a:r>
          </a:p>
          <a:p/>
          <a:p>
            <a:r>
              <a:t>Step 2 — Prioritize remediation.</a:t>
            </a:r>
          </a:p>
          <a:p/>
          <a:p>
            <a:r>
              <a:t>Bullet 1 on the slide: Do: Read the fictional configuration in the worksheet below. List every unsafe item under network, identity, encryption, secrets, backup, logging, and environment.</a:t>
            </a:r>
          </a:p>
          <a:p/>
          <a:p>
            <a:r>
              <a:t>Bullet 2 on the slide: Expected: Findings include bindIp: 0.0.0.0 with no auth, disabled security, shared admin/admin, mongodb:// without TLS, URI in source, open backup bucket, verbose log.</a:t>
            </a:r>
          </a:p>
          <a:p/>
          <a:p>
            <a:r>
              <a:t>Bullet 3 on the slide: Do: Write a P1 / P2 / P3 list with owners (role names, not classmates’ personal emails). P1 must be items that would stop a go-live.</a:t>
            </a:r>
          </a:p>
          <a:p/>
          <a:p>
            <a:r>
              <a:t>Bullet 4 on the slide: Expected: P1: enable auth, restrict bind/firewall, TLS, remove secrets from git, stop public backup. P2: least-privilege roles, log redaction, env separation. P3: audit 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8.7 — Steps 3–3.</a:t>
            </a:r>
          </a:p>
          <a:p/>
          <a:p>
            <a:r>
              <a:t>The slide title is: Lab 8.7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Design roles only.</a:t>
            </a:r>
          </a:p>
          <a:p/>
          <a:p>
            <a:r>
              <a:t>Bullet 1 on the slide: Do: Do not enable authentication on the shared class database. Write createRole / createUser sketches for appUser and reportUser using placeholder names only.</a:t>
            </a:r>
          </a:p>
          <a:p/>
          <a:p>
            <a:r>
              <a:t>Bullet 2 on the slide: Expected: appUser: readWrite on training_store. reportUser: read on training_store. Neither is root. No real passwords in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8.8 — Monitoring and Log Analysis.</a:t>
            </a:r>
          </a:p>
          <a:p/>
          <a:p>
            <a:r>
              <a:t>The slide title is: Lab 8.8 — Monitoring and Log Analysis.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25 min.</a:t>
            </a:r>
          </a:p>
          <a:p/>
          <a:p>
            <a:r>
              <a:t>Bullet 2 on the slide: Timeline from sample logs; cause is the filter field/case change; propose an alert.</a:t>
            </a:r>
          </a:p>
          <a:p/>
          <a:p>
            <a:r>
              <a:t>Bullet 3 on the slide: Lab guide: [Lab 8.8](../slide-exercises/module-08/lab-8.8-monitoring-and-log-analysis.md).</a:t>
            </a:r>
          </a:p>
          <a:p/>
          <a:p>
            <a:r>
              <a:t>The figure on this slide is titled: Log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8.8 — Steps 1–2.</a:t>
            </a:r>
          </a:p>
          <a:p/>
          <a:p>
            <a:r>
              <a:t>The slide title is: Lab 8.8 — Steps 1–2.</a:t>
            </a:r>
          </a:p>
          <a:p/>
          <a:p>
            <a:r>
              <a:t>The slide says: Lab guide: [Lab 8.8](../slide-exercises/module-08/lab-8.8-monitoring-and-log-analysis.md).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Build the timeline.</a:t>
            </a:r>
          </a:p>
          <a:p/>
          <a:p>
            <a:r>
              <a:t>Step 2 — Name cause and alert.</a:t>
            </a:r>
          </a:p>
          <a:p/>
          <a:p>
            <a:r>
              <a:t>Bullet 1 on the slide: Do: Using the sample log and metric extract below, write a timeline with at least four rows: time, signal, source (app or mongod).</a:t>
            </a:r>
          </a:p>
          <a:p/>
          <a:p>
            <a:r>
              <a:t>Bullet 2 on the slide: Expected: Order is roughly: deploy at 14:02 → query shape change in app logs → documentsExamined rise at 14:04 → slow query log lines → customer checkout latency. No elec.</a:t>
            </a:r>
          </a:p>
          <a:p/>
          <a:p>
            <a:r>
              <a:t>Bullet 3 on the slide: Do: State the likely root cause in one sentence. Write one alert (metric, threshold idea, severity) that would have paged sooner, and one runbook step to add.</a:t>
            </a:r>
          </a:p>
          <a:p/>
          <a:p>
            <a:r>
              <a:t>Bullet 4 on the slide: Expected: Cause: post-deploy filter no longer matches the index. Alert: slow query rate or examined/returned ratio vs baseline, high severity during checkout hours. Runbo.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8.8 — Steps 3–3.</a:t>
            </a:r>
          </a:p>
          <a:p/>
          <a:p>
            <a:r>
              <a:t>The slide title is: Lab 8.8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Recommend a dashboard change.</a:t>
            </a:r>
          </a:p>
          <a:p/>
          <a:p>
            <a:r>
              <a:t>Bullet 1 on the slide: Do: Name two tiles that should sit next to each other so this incident is obvious next time.</a:t>
            </a:r>
          </a:p>
          <a:p/>
          <a:p>
            <a:r>
              <a:t>Bullet 2 on the slide: Expected: Application p99 latency beside mongod slow-ops / documents examined (or query planner collection-scan count). CPU-only would have missed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8.9 — Backup and Restore Verification.</a:t>
            </a:r>
          </a:p>
          <a:p/>
          <a:p>
            <a:r>
              <a:t>The slide title is: Lab 8.9 — Backup and Restore Verification.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30 min.</a:t>
            </a:r>
          </a:p>
          <a:p/>
          <a:p>
            <a:r>
              <a:t>Bullet 2 on the slide: Dump training_store; restore to training_store_restore; verify counts, sample, indexes, duration vs RTO.</a:t>
            </a:r>
          </a:p>
          <a:p/>
          <a:p>
            <a:r>
              <a:t>Bullet 3 on the slide: Lab guide: [Lab 8.9](../slide-exercises/module-08/lab-8.9-backup-and-restore-verification.md).</a:t>
            </a:r>
          </a:p>
          <a:p/>
          <a:p>
            <a:r>
              <a:t>The figure on this slide is titled: Backup and restore.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8.9 — Steps 1–2.</a:t>
            </a:r>
          </a:p>
          <a:p/>
          <a:p>
            <a:r>
              <a:t>The slide title is: Lab 8.9 — Steps 1–2.</a:t>
            </a:r>
          </a:p>
          <a:p/>
          <a:p>
            <a:r>
              <a:t>The slide says: Lab guide: [Lab 8.9](../slide-exercises/module-08/lab-8.9-backup-and-restore-verification.md).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Record the source.</a:t>
            </a:r>
          </a:p>
          <a:p/>
          <a:p>
            <a:r>
              <a:t>Step 2 — Take a backup.</a:t>
            </a:r>
          </a:p>
          <a:p/>
          <a:p>
            <a:r>
              <a:t>Bullet 1 on the slide: Do: In notes: db.orders.countDocuments(), db.products.countDocuments(), three orderNumber values, and db.orders.getIndexes(). Use training_store.</a:t>
            </a:r>
          </a:p>
          <a:p/>
          <a:p>
            <a:r>
              <a:t>Bullet 2 on the slide: Expected: Counts match the loader (about 17 orders, 13 products) unless the class mutated data — write the actual numbers. Three order numbers and index names are recorde.</a:t>
            </a:r>
          </a:p>
          <a:p/>
          <a:p>
            <a:r>
              <a:t>Bullet 3 on the slide: Do: From the course repo in PowerShell (MongoDB Database Tools must be on PATH), run: New-Item -ItemType Directory -Force -Path .\datasets\backups | Out-Null mongodump --uri="mongodb://localhost:27017" --db=training_store --.</a:t>
            </a:r>
          </a:p>
          <a:p/>
          <a:p>
            <a:r>
              <a:t>Bullet 4 on the slide: Expected: A dump directory (or JSON export) exists. The command finished without authentication errors (or the instructor supplied a URI).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8.9 — Steps 3–3.</a:t>
            </a:r>
          </a:p>
          <a:p/>
          <a:p>
            <a:r>
              <a:t>The slide title is: Lab 8.9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Restore isolated and verify.</a:t>
            </a:r>
          </a:p>
          <a:p/>
          <a:p>
            <a:r>
              <a:t>Bullet 1 on the slide: Do: Restore into a new database name: mongorestore --uri="mongodb://localhost:27017" --nsFrom="training_store." --nsTo="training_store_restore." --drop ".\datasets\backups\lab89\training_store" Then in mongosh: compa.</a:t>
            </a:r>
          </a:p>
          <a:p/>
          <a:p>
            <a:r>
              <a:t>Bullet 2 on the slide: Expected: Counts match the source note. Sample order exists. Indexes are present (rebuild may apply for some logical imports). Elapsed time is written and compared to a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8.10 — Troubleshooting Challenge.</a:t>
            </a:r>
          </a:p>
          <a:p/>
          <a:p>
            <a:r>
              <a:t>The slide title is: Lab 8.10 — Troubleshooting Challenge.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30 min.</a:t>
            </a:r>
          </a:p>
          <a:p/>
          <a:p>
            <a:r>
              <a:t>Bullet 2 on the slide: Five concurrent symptoms; do not collapse them; ordered investigation plus verify steps.</a:t>
            </a:r>
          </a:p>
          <a:p/>
          <a:p>
            <a:r>
              <a:t>Bullet 3 on the slide: Lab guide: [Lab 8.10](../slide-exercises/module-08/lab-8.10-troubleshooting-challenge.md).</a:t>
            </a:r>
          </a:p>
          <a:p/>
          <a:p>
            <a:r>
              <a:t>The figure on this slide is titled: Multi-incident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8.10 — Steps 1–2.</a:t>
            </a:r>
          </a:p>
          <a:p/>
          <a:p>
            <a:r>
              <a:t>The slide title is: Lab 8.10 — Steps 1–2.</a:t>
            </a:r>
          </a:p>
          <a:p/>
          <a:p>
            <a:r>
              <a:t>The slide says: Lab guide: [Lab 8.10](../slide-exercises/module-08/lab-8.10-troubleshooting-challenge.md).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Separate the incidents.</a:t>
            </a:r>
          </a:p>
          <a:p/>
          <a:p>
            <a:r>
              <a:t>Step 2 — Order the investigation.</a:t>
            </a:r>
          </a:p>
          <a:p/>
          <a:p>
            <a:r>
              <a:t>Bullet 1 on the slide: Do: Symptoms: product browsing is slow; some orders are missing from a report; secondary lag is increasing; authentication failures appear in logs; disk utilization is approaching its threshold. Write five problem statements.</a:t>
            </a:r>
          </a:p>
          <a:p/>
          <a:p>
            <a:r>
              <a:t>Bullet 2 on the slide: Expected: Five independent hypotheses exist (for example: missing catalog index; report $match type/status bug; secondary I/O or network; brute force or bad app secret;.</a:t>
            </a:r>
          </a:p>
          <a:p/>
          <a:p>
            <a:r>
              <a:t>Bullet 3 on the slide: Do: Rank what you would check first for a live checkout site and why. Attach one evidence source per symptom (explain, log field, rs.printSecondaryReplicationInfo(), auth log, db.stats() / disk).</a:t>
            </a:r>
          </a:p>
          <a:p/>
          <a:p>
            <a:r>
              <a:t>Bullet 4 on the slide: Expected: Auth failures and disk may be P1 if they threaten availability; lag if oplog is at risk; slow browse if revenue is hurting; missing report rows if finance is bl.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8.10 — Steps 3–3.</a:t>
            </a:r>
          </a:p>
          <a:p/>
          <a:p>
            <a:r>
              <a:t>The slide title is: Lab 8.10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Actions and verification.</a:t>
            </a:r>
          </a:p>
          <a:p/>
          <a:p>
            <a:r>
              <a:t>Bullet 1 on the slide: Do: For each of the five: one immediate action, one long-term correction, one verification signal.</a:t>
            </a:r>
          </a:p>
          <a:p/>
          <a:p>
            <a:r>
              <a:t>Bullet 2 on the slide: Expected: Table with 5 rows. Immediate actions are reversible (hide index, rotate a leaked demo password, page storage). Verification is a metric or query result, not ‘lo.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Lab 8.11 — Final Integrated Production Challenge.</a:t>
            </a:r>
          </a:p>
          <a:p/>
          <a:p>
            <a:r>
              <a:t>The slide title is: Lab 8.11 — Final Integrated Production Challenge.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45–60 min.</a:t>
            </a:r>
          </a:p>
          <a:p/>
          <a:p>
            <a:r>
              <a:t>Bullet 2 on the slide: Schema fix, validation, pipeline, explains, ops pack, and a scored checklist.</a:t>
            </a:r>
          </a:p>
          <a:p/>
          <a:p>
            <a:r>
              <a:t>Bullet 3 on the slide: Lab guide: [Lab 8.11](../slide-exercises/module-08/lab-8.11-final-integrated-production-challenge.md).</a:t>
            </a:r>
          </a:p>
          <a:p/>
          <a:p>
            <a:r>
              <a:t>The figure on this slide is titled: Integrated production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8.11 — Steps 1–2.</a:t>
            </a:r>
          </a:p>
          <a:p/>
          <a:p>
            <a:r>
              <a:t>The slide title is: Lab 8.11 — Steps 1–2.</a:t>
            </a:r>
          </a:p>
          <a:p/>
          <a:p>
            <a:r>
              <a:t>The slide says: Lab guide: [Lab 8.11](../slide-exercises/module-08/lab-8.11-final-integrated-production-challenge.md).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1 — Fix one schema problem.</a:t>
            </a:r>
          </a:p>
          <a:p/>
          <a:p>
            <a:r>
              <a:t>Step 2 — Validation + monthly pipeline.</a:t>
            </a:r>
          </a:p>
          <a:p/>
          <a:p>
            <a:r>
              <a:t>Bullet 1 on the slide: Do: Document XBAD’s string price (or another real defect you found). On training_store_ops, copy products and convert the bad price or quarantine the document. Do not silently rewrite historical orders.</a:t>
            </a:r>
          </a:p>
          <a:p/>
          <a:p>
            <a:r>
              <a:t>Bullet 2 on the slide: Expected: A before/after note exists. training_store catalog may stay unchanged; the ops copy shows the repaired type.</a:t>
            </a:r>
          </a:p>
          <a:p/>
          <a:p>
            <a:r>
              <a:t>Bullet 3 on the slide: Do: Reuse or complete Lab 8.6 validation on orders_validated. Run your Lab 8.3/8.4 monthly paid-sales pipeline against training_store.orders and save the result documents.</a:t>
            </a:r>
          </a:p>
          <a:p/>
          <a:p>
            <a:r>
              <a:t>Bullet 4 on the slide: Expected: Validator rejects a bad insert. Pipeline output has month, order count, revenue, AOV, unique customers, units sold.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Lab 8.11 — Steps 3–4.</a:t>
            </a:r>
          </a:p>
          <a:p/>
          <a:p>
            <a:r>
              <a:t>The slide title is: Lab 8.11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Indexes and explain.</a:t>
            </a:r>
          </a:p>
          <a:p/>
          <a:p>
            <a:r>
              <a:t>Step 4 — Ops pack.</a:t>
            </a:r>
          </a:p>
          <a:p/>
          <a:p>
            <a:r>
              <a:t>Bullet 1 on the slide: Do: Ensure at least one history index and one paid-report index exist (create on training_store only if the instructor allows Day 3 leftovers). Explain the C101 history query and the pipeline $match. Record IXSCAN vs COL.</a:t>
            </a:r>
          </a:p>
          <a:p/>
          <a:p>
            <a:r>
              <a:t>Bullet 2 on the slide: Expected: Two explain summaries are in the notes. Overlap is mentioned if both indexes share a prefix.</a:t>
            </a:r>
          </a:p>
          <a:p/>
          <a:p>
            <a:r>
              <a:t>Bullet 3 on the slide: Do: In one page: least-privilege table (app vs report vs admin); RPO/RTO for orders; three critical alerts; one runbook (backup failed or no primary); checklist scores for the six production-readiness areas.</a:t>
            </a:r>
          </a:p>
          <a:p/>
          <a:p>
            <a:r>
              <a:t>Bullet 4 on the slide: Expected: The page is complete. Classification is Ready with conditions or Not ready, with evidence. No production-ready claim without auth, tested restore, and restricte.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8.14 — Production-Readiness Review for training_store.</a:t>
            </a:r>
          </a:p>
          <a:p/>
          <a:p>
            <a:r>
              <a:t>The slide title is: Exercise 8.14 — Production-Readiness Review for training_store.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45 min.</a:t>
            </a:r>
          </a:p>
          <a:p/>
          <a:p>
            <a:r>
              <a:t>Bullet 2 on the slide: Six-part action plan and a classification with evidence. Not production-ready is the defensible call.</a:t>
            </a:r>
          </a:p>
          <a:p/>
          <a:p>
            <a:r>
              <a:t>Bullet 3 on the slide: Lab guide: [Exercise 8.14](../slide-exercises/module-08/exercise-8.14-practical-challenge.md).</a:t>
            </a:r>
          </a:p>
          <a:p/>
          <a:p>
            <a:r>
              <a:t>The figure on this slide is titled: Practical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8.14 — Production-Readiness Review for training_store. We have about 45 min for this lab.</a:t>
            </a:r>
          </a:p>
          <a:p/>
          <a:p>
            <a:r>
              <a:t>Produce a six-part action plan and an evidence-based production-readiness classification.</a:t>
            </a:r>
          </a:p>
          <a:p/>
          <a:p>
            <a:r>
              <a:t>The full lab guide is in slide-exercises/module-08/exercise-8.14-practical-challenge.md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Write model and performance recommendations.</a:t>
            </a:r>
          </a:p>
          <a:p/>
          <a:p>
            <a:r>
              <a:t>Step 2 — Write security, reliability, and monitoring.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8.14 — Steps 1–2.</a:t>
            </a:r>
          </a:p>
          <a:p/>
          <a:p>
            <a:r>
              <a:t>The slide says: Lab guide: [Exercise 8.14](../slide-exercises/module-08/exercise-8.14-practical-challenge.md).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Correct BSON types; separate unbounded reviews; preserve order snapshots; add validation; plan migration. Then rewrite broad queries, add projections, tune the sales aggregation, recommend indexes, flag redundant indexes.</a:t>
            </a:r>
          </a:p>
          <a:p/>
          <a:p>
            <a:r>
              <a:t>Bullet 2 on the slide: Expected: A two-section note exists. Reviews are a collection. Prices are Decimal128. Queries are selective. Indexes follow ESR. At least one overlapping index is flagged.</a:t>
            </a:r>
          </a:p>
          <a:p/>
          <a:p>
            <a:r>
              <a:t>Bullet 3 on the slide: Do: Restrict network access; replace shared credentials; least privilege; TLS; secret storage; audit privileged activity. Test failover; review lag and oplog; define RPO/RTO; test restore. Add query, connection, storage, rep.</a:t>
            </a:r>
          </a:p>
          <a:p/>
          <a:p>
            <a:r>
              <a:t>Bullet 4 on the slide: Expected: Security list includes network, authn, authz, TLS, secrets. Reliability includes tested failover and restore plus RPO/RTO. Monitoring has owners, not only metri.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3–3.</a:t>
            </a:r>
          </a:p>
          <a:p/>
          <a:p>
            <a:r>
              <a:t>Step 3 — Classify with evidence.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8.14 — Steps 3–3.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Select Production-ready, Ready with conditions, or Not production-ready. Cite evidence from the current environment list (no validation, public network, untested restore, CPU-only monitoring, and the rest).</a:t>
            </a:r>
          </a:p>
          <a:p/>
          <a:p>
            <a:r>
              <a:t>Bullet 2 on the slide: Expected: Not production-ready is the defensible call. Ready with conditions is acceptable only if conditions are explicit and blocking. Production-ready is not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Final Course Knowledge Assessment.</a:t>
            </a:r>
          </a:p>
          <a:p/>
          <a:p>
            <a:r>
              <a:t>The slide title is: Final Course Knowledge Assessment.</a:t>
            </a:r>
          </a:p>
          <a:p/>
          <a:p>
            <a:r>
              <a:t>The slide says: Write short answers (pairs or solo):.</a:t>
            </a:r>
          </a:p>
          <a:p/>
          <a:p>
            <a:r>
              <a:t>The slide says: 1. Why design schemas around access patterns?.</a:t>
            </a:r>
          </a:p>
          <a:p/>
          <a:p>
            <a:r>
              <a:t>The slide says: 2. Why are unbounded arrays dangerous?.</a:t>
            </a:r>
          </a:p>
          <a:p/>
          <a:p>
            <a:r>
              <a:t>The slide says: 3. Why return only required fields?.</a:t>
            </a:r>
          </a:p>
          <a:p/>
          <a:p>
            <a:r>
              <a:t>The slide says: 4. Why reduce aggregation input early?.</a:t>
            </a:r>
          </a:p>
          <a:p/>
          <a:p>
            <a:r>
              <a:t>The slide says: 5. What risk does $unwind introduce?.</a:t>
            </a:r>
          </a:p>
          <a:p/>
          <a:p>
            <a:r>
              <a:t>The slide says: 6. Why index $lookup foreign fields?.</a:t>
            </a:r>
          </a:p>
          <a:p/>
          <a:p>
            <a:r>
              <a:t>The slide says: 7. Why not index every field?.</a:t>
            </a:r>
          </a:p>
          <a:p/>
          <a:p>
            <a:r>
              <a:t>The slide says: 8. What is least privilege?.</a:t>
            </a:r>
          </a:p>
          <a:p/>
          <a:p>
            <a:r>
              <a:t>The slide says: 9. Authentication vs authorization?.</a:t>
            </a:r>
          </a:p>
          <a:p/>
          <a:p>
            <a:r>
              <a:t>The slide says: 10. Why TLS?.</a:t>
            </a:r>
          </a:p>
          <a:p/>
          <a:p>
            <a:r>
              <a:t>Number 1 on the slide: Why design schemas around access patterns?.</a:t>
            </a:r>
          </a:p>
          <a:p/>
          <a:p>
            <a:r>
              <a:t>Number 2 on the slide: Why are unbounded arrays dangerous?.</a:t>
            </a:r>
          </a:p>
          <a:p/>
          <a:p>
            <a:r>
              <a:t>Number 3 on the slide: Why return only required fields?.</a:t>
            </a:r>
          </a:p>
          <a:p/>
          <a:p>
            <a:r>
              <a:t>Number 4 on the slide: Why reduce aggregation input early?.</a:t>
            </a:r>
          </a:p>
          <a:p/>
          <a:p>
            <a:r>
              <a:t>Number 5 on the slide: What risk does $unwind introduce?.</a:t>
            </a:r>
          </a:p>
          <a:p/>
          <a:p>
            <a:r>
              <a:t>Number 6 on the slide: Why index $lookup foreign fields?.</a:t>
            </a:r>
          </a:p>
          <a:p/>
          <a:p>
            <a:r>
              <a:t>Number 7 on the slide: Why not index every field?.</a:t>
            </a:r>
          </a:p>
          <a:p/>
          <a:p>
            <a:r>
              <a:t>Number 8 on the slide: What is least privilege?.</a:t>
            </a:r>
          </a:p>
          <a:p/>
          <a:p>
            <a:r>
              <a:t>Number 9 on the slide: Authentication vs authorization?.</a:t>
            </a:r>
          </a:p>
          <a:p/>
          <a:p>
            <a:r>
              <a:t>Number 10 on the slide: Why TLS?.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Final Course Knowledge Assessment (continued).</a:t>
            </a:r>
          </a:p>
          <a:p/>
          <a:p>
            <a:r>
              <a:t>The slide title is: Final Course Knowledge Assessment (continued).</a:t>
            </a:r>
          </a:p>
          <a:p/>
          <a:p>
            <a:r>
              <a:t>The slide says: 11. Why keep credentials out of source code?.</a:t>
            </a:r>
          </a:p>
          <a:p/>
          <a:p>
            <a:r>
              <a:t>The slide says: 12. Why is replication not a backup?.</a:t>
            </a:r>
          </a:p>
          <a:p/>
          <a:p>
            <a:r>
              <a:t>The slide says: 13. What do RPO and RTO mean?.</a:t>
            </a:r>
          </a:p>
          <a:p/>
          <a:p>
            <a:r>
              <a:t>The slide says: 14. Why test restores?.</a:t>
            </a:r>
          </a:p>
          <a:p/>
          <a:p>
            <a:r>
              <a:t>The slide says: 15. Metrics for a slow query?.</a:t>
            </a:r>
          </a:p>
          <a:p/>
          <a:p>
            <a:r>
              <a:t>The slide says: 16. Metrics for replication problems?.</a:t>
            </a:r>
          </a:p>
          <a:p/>
          <a:p>
            <a:r>
              <a:t>The slide says: 17. What makes an alert actionable?.</a:t>
            </a:r>
          </a:p>
          <a:p/>
          <a:p>
            <a:r>
              <a:t>The slide says: 18. What belongs in a runbook?.</a:t>
            </a:r>
          </a:p>
          <a:p/>
          <a:p>
            <a:r>
              <a:t>The slide says: 19. Why rollback plans for production changes?.</a:t>
            </a:r>
          </a:p>
          <a:p/>
          <a:p>
            <a:r>
              <a:t>The slide says: 20. What evidence is required before calling a deployment production-ready?.</a:t>
            </a:r>
          </a:p>
          <a:p/>
          <a:p>
            <a:r>
              <a:t>Number 11 on the slide: Why keep credentials out of source code?.</a:t>
            </a:r>
          </a:p>
          <a:p/>
          <a:p>
            <a:r>
              <a:t>Number 12 on the slide: Why is replication not a backup?.</a:t>
            </a:r>
          </a:p>
          <a:p/>
          <a:p>
            <a:r>
              <a:t>Number 13 on the slide: What do RPO and RTO mean?.</a:t>
            </a:r>
          </a:p>
          <a:p/>
          <a:p>
            <a:r>
              <a:t>Number 14 on the slide: Why test restores?.</a:t>
            </a:r>
          </a:p>
          <a:p/>
          <a:p>
            <a:r>
              <a:t>Number 15 on the slide: Metrics for a slow query?.</a:t>
            </a:r>
          </a:p>
          <a:p/>
          <a:p>
            <a:r>
              <a:t>Number 16 on the slide: Metrics for replication problems?.</a:t>
            </a:r>
          </a:p>
          <a:p/>
          <a:p>
            <a:r>
              <a:t>Number 17 on the slide: What makes an alert actionable?.</a:t>
            </a:r>
          </a:p>
          <a:p/>
          <a:p>
            <a:r>
              <a:t>Number 18 on the slide: What belongs in a runbook?.</a:t>
            </a:r>
          </a:p>
          <a:p/>
          <a:p>
            <a:r>
              <a:t>Number 19 on the slide: Why rollback plans for production changes?.</a:t>
            </a:r>
          </a:p>
          <a:p/>
          <a:p>
            <a:r>
              <a:t>Number 20 on the slide: What evidence is required before calling a deployment production-ready?.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Final Practical Assessment.</a:t>
            </a:r>
          </a:p>
          <a:p/>
          <a:p>
            <a:r>
              <a:t>The slide title is: Final Practical Assessment.</a:t>
            </a:r>
          </a:p>
          <a:p/>
          <a:p>
            <a:r>
              <a:t>The slide says: Design a production-oriented e-commerce MongoDB solution:.</a:t>
            </a:r>
          </a:p>
          <a:p/>
          <a:p>
            <a:r>
              <a:t>The slide says: 1. Collections and sample documents.</a:t>
            </a:r>
          </a:p>
          <a:p/>
          <a:p>
            <a:r>
              <a:t>The slide says: 2. Embed vs reference decisions.</a:t>
            </a:r>
          </a:p>
          <a:p/>
          <a:p>
            <a:r>
              <a:t>The slide says: 3. CRUD queries and one aggregation.</a:t>
            </a:r>
          </a:p>
          <a:p/>
          <a:p>
            <a:r>
              <a:t>The slide says: 4. Index strategy; replica-set architecture; sharding recommendation.</a:t>
            </a:r>
          </a:p>
          <a:p/>
          <a:p>
            <a:r>
              <a:t>The slide says: 5. Security checklist; backup/recovery; monitoring; one runbook.</a:t>
            </a:r>
          </a:p>
          <a:p/>
          <a:p>
            <a:r>
              <a:t>The slide says: Bar: correct BSON types, access-pattern design, bounded growth, accurate queries and aggregations, evidence-based indexes, HA and scale that match the load, least privilege, tested recovery, actionable ops.</a:t>
            </a:r>
          </a:p>
          <a:p/>
          <a:p>
            <a:r>
              <a:t>Number 1 on the slide: Collections and sample documents.</a:t>
            </a:r>
          </a:p>
          <a:p/>
          <a:p>
            <a:r>
              <a:t>Number 2 on the slide: Embed vs reference decisions.</a:t>
            </a:r>
          </a:p>
          <a:p/>
          <a:p>
            <a:r>
              <a:t>Number 3 on the slide: CRUD queries and one aggregation.</a:t>
            </a:r>
          </a:p>
          <a:p/>
          <a:p>
            <a:r>
              <a:t>Number 4 on the slide: Index strategy; replica-set architecture; sharding recommendation.</a:t>
            </a:r>
          </a:p>
          <a:p/>
          <a:p>
            <a:r>
              <a:t>Number 5 on the slide: Security checklist; backup/recovery; monitoring; one runbook.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Participant Action Plan.</a:t>
            </a:r>
          </a:p>
          <a:p/>
          <a:p>
            <a:r>
              <a:t>The slide title is: Participant Action Plan.</a:t>
            </a:r>
          </a:p>
          <a:p/>
          <a:p>
            <a:r>
              <a:t>The slide says: Before the next work week, write:.</a:t>
            </a:r>
          </a:p>
          <a:p/>
          <a:p>
            <a:r>
              <a:t>Bullet 1 on the slide: One schema or validation change you will propose.</a:t>
            </a:r>
          </a:p>
          <a:p/>
          <a:p>
            <a:r>
              <a:t>Bullet 2 on the slide: One query or index you will explain.</a:t>
            </a:r>
          </a:p>
          <a:p/>
          <a:p>
            <a:r>
              <a:t>Bullet 3 on the slide: One security control you will verify (auth, network, secrets).</a:t>
            </a:r>
          </a:p>
          <a:p/>
          <a:p>
            <a:r>
              <a:t>Bullet 4 on the slide: One restore test you will schedule.</a:t>
            </a:r>
          </a:p>
          <a:p/>
          <a:p>
            <a:r>
              <a:t>Bullet 5 on the slide: One alert or runbook you will add.</a:t>
            </a:r>
          </a:p>
          <a:p/>
          <a:p>
            <a:r>
              <a:t>Bullet 6 on the slide: A named owner for each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Module 8 Completion Checklist.</a:t>
            </a:r>
          </a:p>
          <a:p/>
          <a:p>
            <a:r>
              <a:t>The slide title is: Module 8 Completion Checklist.</a:t>
            </a:r>
          </a:p>
          <a:p/>
          <a:p>
            <a:r>
              <a:t>The slide says: Participants can:.</a:t>
            </a:r>
          </a:p>
          <a:p/>
          <a:p>
            <a:r>
              <a:t>Bullet 1 on the slide: [ ] Review and improve a MongoDB data model.</a:t>
            </a:r>
          </a:p>
          <a:p/>
          <a:p>
            <a:r>
              <a:t>Bullet 2 on the slide: [ ] Spot query and aggregation inefficiencies.</a:t>
            </a:r>
          </a:p>
          <a:p/>
          <a:p>
            <a:r>
              <a:t>Bullet 3 on the slide: [ ] Recommend and validate indexes.</a:t>
            </a:r>
          </a:p>
          <a:p/>
          <a:p>
            <a:r>
              <a:t>Bullet 4 on the slide: [ ] Apply layered security and least privilege.</a:t>
            </a:r>
          </a:p>
          <a:p/>
          <a:p>
            <a:r>
              <a:t>Bullet 5 on the slide: [ ] Explain backup/recovery, RPO, and RTO.</a:t>
            </a:r>
          </a:p>
          <a:p/>
          <a:p>
            <a:r>
              <a:t>Bullet 6 on the slide: [ ] Select metrics and actionable alerts.</a:t>
            </a:r>
          </a:p>
          <a:p/>
          <a:p>
            <a:r>
              <a:t>Bullet 7 on the slide: [ ] Diagnose common incidents and write a runbook.</a:t>
            </a:r>
          </a:p>
          <a:p/>
          <a:p>
            <a:r>
              <a:t>Bullet 8 on the slide: [ ] Complete a production-readiness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Questions and Answers.</a:t>
            </a:r>
          </a:p>
          <a:p/>
          <a:p>
            <a:r>
              <a:t>The slide title is: Questions and Answers.</a:t>
            </a:r>
          </a:p>
          <a:p/>
          <a:p>
            <a:r>
              <a:t>The slide says: Open floor.</a:t>
            </a:r>
          </a:p>
          <a:p/>
          <a:p>
            <a:r>
              <a:t>The slide says: Parking-lot prompts if the room is quiet:.</a:t>
            </a:r>
          </a:p>
          <a:p/>
          <a:p>
            <a:r>
              <a:t>The slide says: Driver-language wiring belongs in the sample-app README, not a new module.</a:t>
            </a:r>
          </a:p>
          <a:p/>
          <a:p>
            <a:r>
              <a:t>Bullet 1 on the slide: Would you go live on training_store tonight? Why not?.</a:t>
            </a:r>
          </a:p>
          <a:p/>
          <a:p>
            <a:r>
              <a:t>Bullet 2 on the slide: Where does your current team store the database URI?.</a:t>
            </a:r>
          </a:p>
          <a:p/>
          <a:p>
            <a:r>
              <a:t>Bullet 3 on the slide: When did you last restore a backup on purpose?.</a:t>
            </a:r>
          </a:p>
          <a:p/>
          <a:p>
            <a:r>
              <a:t>Bullet 4 on the slide: Which alert would you delete this week?.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Course Review.</a:t>
            </a:r>
          </a:p>
          <a:p/>
          <a:p>
            <a:r>
              <a:t>The slide title is: Course Review.</a:t>
            </a:r>
          </a:p>
          <a:p/>
          <a:p>
            <a:r>
              <a:t>The slide says: Day 1 — Why documents, a working instance, a schema for training_store.</a:t>
            </a:r>
          </a:p>
          <a:p/>
          <a:p>
            <a:r>
              <a:t>The slide says: Day 2 — Query language and aggregation on the same data.</a:t>
            </a:r>
          </a:p>
          <a:p/>
          <a:p>
            <a:r>
              <a:t>The slide says: Day 3 — Indexes and explain; replica sets and sharding; production operations.</a:t>
            </a:r>
          </a:p>
          <a:p/>
          <a:p>
            <a:r>
              <a:t>The slide says: The dataset stayed still so the skills could compound.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Next Steps and Continued Learning.</a:t>
            </a:r>
          </a:p>
          <a:p/>
          <a:p>
            <a:r>
              <a:t>The slide title is: Next Steps and Continued Learning.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Apply the six-area checklist to one real database.</a:t>
            </a:r>
          </a:p>
          <a:p/>
          <a:p>
            <a:r>
              <a:t>Bullet 2 on the slide: Schedule a restore test and a failover test.</a:t>
            </a:r>
          </a:p>
          <a:p/>
          <a:p>
            <a:r>
              <a:t>Bullet 3 on the slide: Read current MongoDB security and ops manuals for your version and platform.</a:t>
            </a:r>
          </a:p>
          <a:p/>
          <a:p>
            <a:r>
              <a:t>Bullet 4 on the slide: Practice explain on the queries that pay the bills.</a:t>
            </a:r>
          </a:p>
          <a:p/>
          <a:p>
            <a:r>
              <a:t>Bullet 5 on the slide: Keep secrets out of git.</a:t>
            </a:r>
          </a:p>
          <a:p/>
          <a:p>
            <a:r>
              <a:t>The figure on this slide is titled: From indexed shapes to operable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MongoDB Best Practices, Security, and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A database is not production-ready merely because it accepts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Data Modeling Guidelines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Performance &amp; Indexing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Security Considerations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Backups &amp; Troubleshooting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4624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Production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MODULE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7366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36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53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YOU WILL BE ABLE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7716"/>
            <a:ext cx="11247120" cy="350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Review MongoDB solutions systematically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Recognize design and operational risks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Protect databases and credentials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Monitor health and performance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Troubleshoot common problems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Verify recovery capabilities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Make controlled production changes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Establish an improvement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5882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588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405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2868"/>
            <a:ext cx="1124712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This module brings together data modeling, querying, aggregation, indexing, security and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1455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 production-ready MongoDB solution should be: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98290"/>
            <a:ext cx="11247120" cy="2383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Correct for the application’s access patterns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Efficient at expected data volumes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Secure by default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Observable and recoverable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Resilient to application and infrastructure failures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Maintainable as requirements evolve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MODEL AROUND ACCESS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2787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278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0958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1920"/>
            <a:ext cx="3840480" cy="707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MongoDB’s flexible schema allows documents to evolve, but flexibility should be governed by explicit design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1199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Start with the application’s most important operations: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9310"/>
            <a:ext cx="3840480" cy="18055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What data is read together?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What data is updated together?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Which queries run most often?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Which operations are latency-sensitive?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How large can each relationship become?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Which information must remain historically accurate?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06336"/>
            <a:ext cx="3840480" cy="506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For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an order can embed its purchased items: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035" y="1735016"/>
            <a:ext cx="7242810" cy="36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44541"/>
            <a:ext cx="7223760" cy="3624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MODEL AROUND ACCESS PATTERNS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is appropriate because order items: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Belong to one order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Are normally retrieved with the order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Form a bounded group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Must preserve historical product and price information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11948"/>
            <a:ext cx="11247120" cy="20116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103388"/>
            <a:ext cx="10991088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orderNumber: "ORD-2026-1001",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customerId: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items: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sku: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unitPrice: NumberDecimal("39.99"),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quantity: 2,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lineTotal: NumberDecimal("79.98")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total: NumberDecimal("90.38"),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status: "Delivered"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EMBED BOUNDED, OWNED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287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28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45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692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Embedding works well when related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57164"/>
            <a:ext cx="11247120" cy="1561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Belongs to one parent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Is normally accessed with the parent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Has a practical size limit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Is updated with the parent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Benefits from single-document atomicity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0972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Examples: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49964"/>
            <a:ext cx="11247120" cy="1258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Order items inside an order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Shipping address snapshot inside an order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 small number of addresses inside a customer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Product specifications inside a 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REFERENCE INDEPENDENT OR UNBOUNDED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821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821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1992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2262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Referencing is generally better when related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97556"/>
            <a:ext cx="11247120" cy="123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Grows without a practical limit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Is shared among many documents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Changes independently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Must be queried separately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Would make the parent document excessively large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5386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Product reviews should normally be independent documents: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068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Avoid placing every review in the product: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75974"/>
            <a:ext cx="11247120" cy="172669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167414"/>
            <a:ext cx="10991088" cy="156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productId: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customerId: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rating: 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comment: "Excellent product.",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createdAt: new Date()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REFERENCE INDEPENDENT OR UNBOUNDED INFORMATION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2016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16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0187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1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MongoDB identifies unbounded arrays as a schema anti-pattern because they can produce oversized documents and reduce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9622"/>
            <a:ext cx="11247120" cy="19110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301062"/>
            <a:ext cx="10991088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reviews: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// Potentially millions of reviews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KEEP DOCUMENTS FOCUSED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85077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8507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6678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9125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 document should contain information commonly used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95960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Avoid bloated documents containing: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22795"/>
            <a:ext cx="11247120" cy="1604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Large fields rarely returned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Unbounded event histories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Repeated copies of unrelated records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Large binary objects that most queries do not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18655"/>
            <a:ext cx="1124712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Large documents can reduce working-set efficiency and increase disk access. Separating information that is not commonly retrieved together can improve performance.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CONSISTENT FIELD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691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69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863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80966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Avoid several names for the same concept: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6378"/>
            <a:ext cx="384048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Choose and enforce one: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56510"/>
            <a:ext cx="384048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common convention is: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6642"/>
            <a:ext cx="1847088" cy="8717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18082"/>
            <a:ext cx="1591056" cy="70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{ customerId: ObjectId("...")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{ customer_id: ObjectId("...")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{ custId: ObjectId("...")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4026642"/>
            <a:ext cx="1847088" cy="8717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4118082"/>
            <a:ext cx="1591056" cy="707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customerId: ObjectId("...")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71035" y="2029135"/>
            <a:ext cx="7242809" cy="3055761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38660"/>
            <a:ext cx="7223759" cy="303671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CONSISTENT FIELD NAMES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98242"/>
            <a:ext cx="11247120" cy="16261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789682"/>
            <a:ext cx="10991088" cy="1461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Collections: plural nouns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Fields: camelCase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Booleans: active, verifiedPurchase, emailConfirmed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Dates: createdAt, updatedAt, orderedAt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References: customerId, productId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CONSISTENT BSON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9087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908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725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49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Poor consistency: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450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Preferred: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1518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Recommended examples: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5316"/>
            <a:ext cx="5550408" cy="8549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76756"/>
            <a:ext cx="5294376" cy="6903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{ price: "39.99"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{ price: 39.99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{ price: NumberDecimal("39.99")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085316"/>
            <a:ext cx="5550408" cy="8549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176756"/>
            <a:ext cx="5294376" cy="6903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price: NumberDecimal("39.99")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CONSISTENT BSON TYPES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36192"/>
          <a:ext cx="112471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1008"/>
                <a:gridCol w="5846112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Business value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irmala UI"/>
                        </a:rPr>
                        <a:t>Suitable type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Monetary 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Decimal128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Timestamp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BSON Date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Count or quantity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Identifier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ObjectId or consistently defined key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Status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Boolean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Multiple values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Array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Nirmala UI"/>
                        </a:rPr>
                        <a:t>Structured sub-object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Nirmala UI"/>
                        </a:rPr>
                        <a:t>Embedded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PRESERVE HISTORICAL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826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826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4997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2310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An order should preserve the information applicable when it was placed.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7246"/>
            <a:ext cx="3840480" cy="818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If the current product is renamed or repriced, the historical order remains accurate.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36878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This is intentional duplication, not accidental inconsistency.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11814"/>
            <a:ext cx="3840480" cy="18608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03254"/>
            <a:ext cx="3584448" cy="1696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items: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productId: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productName: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unitPrice: NumberDecimal("39.99")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1909598"/>
            <a:ext cx="7242810" cy="329483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19123"/>
            <a:ext cx="7223760" cy="327578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SCHEMA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0108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0108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8279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85132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MongoDB’s flexible model can still enforce essential business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25824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Example validator for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035" y="2140641"/>
            <a:ext cx="7242810" cy="283274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50166"/>
            <a:ext cx="7223760" cy="281369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SCHEMA VALIDATION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96796"/>
            <a:ext cx="5550408" cy="35204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888236"/>
            <a:ext cx="5294376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db.createCollection("validated_products",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validator: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$jsonSchema: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bsonType: "object",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required: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"sku",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"name",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"price",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"stock",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"active"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properties: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sku: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bsonType: "string",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description: "SKU must be a string"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name: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bsonType: "string",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minLength: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category: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bsonType: "string"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bsonType: "decimal",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minimum: NumberDecimal("0")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796796"/>
            <a:ext cx="5550408" cy="35204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1888236"/>
            <a:ext cx="5294376" cy="3355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bsonType: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"int",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"long"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minimum: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active: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bsonType: "bool"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tags: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bsonType: "array",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items: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  bsonType: "string"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validationLevel: "strict",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validationAction: "error"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SCHEMA VALIDATION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07007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0700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871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91055"/>
            <a:ext cx="1124712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Schema-validation rules can cover only the fields the application needs to control; they do not necessarily need to define every possible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42816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Use validation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26353"/>
            <a:ext cx="11247120" cy="21239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Required fields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Data types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Allowed enumerations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Numeric ranges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Nested structures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Application invariants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41775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Validation should complement—not replace—application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PLAN FOR SCHEMA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591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59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763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9966"/>
            <a:ext cx="384048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Production schemas change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1727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Suppose version 1 uses: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Version 2 adds: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38801"/>
            <a:ext cx="384048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Useful migration approaches include: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0562"/>
            <a:ext cx="184708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82002"/>
            <a:ext cx="15910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NumberDecimal("39.99")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490562"/>
            <a:ext cx="184708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582002"/>
            <a:ext cx="15910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schemaVersion: 2,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pricing: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amount: NumberDecimal("39.99"),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currency: "CAD"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2010332"/>
            <a:ext cx="7242809" cy="3093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19857"/>
            <a:ext cx="7223759" cy="307431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PLAN FOR SCHEMA EVOLUTION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287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28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459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6926"/>
            <a:ext cx="11247120" cy="14745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Background batch migration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Migration during deployment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Read-old/write-new application logic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Lazy migration when a document is accessed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Explicit schema-version fields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Temporary compatibility with both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2890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Migration process: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58184"/>
            <a:ext cx="11247120" cy="14745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Add application support for both formats.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Begin writing the new format.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Migrate existing documents in controlled batches.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Measure progress and failures.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Add or update validation rules.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Remove obsolete compatibility code after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24148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Avoid applying a massive untested update to a production collection.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PERFORMANCE OPTIMIZATION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1520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152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9691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9925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Performance tuning should follow evidence: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6938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Do not begin by creating many speculative indexes.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39518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130958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Observe → Measure → Diagnose → Change → Measure again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UNDERSTAND QUERY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25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25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52963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299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A query shape includes: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7296"/>
            <a:ext cx="3840480" cy="1409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Filter fields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Operators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Sort fields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Projection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Collation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Limit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Aggregation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88315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20312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Potential index: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52309"/>
            <a:ext cx="1847088" cy="15087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343749"/>
            <a:ext cx="1591056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customerId: customerId,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status: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orderNumber: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total: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orderedAt: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}).limit(20)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252309"/>
            <a:ext cx="1847088" cy="15087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343749"/>
            <a:ext cx="1591056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db.orders.createIndex({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customerId: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status: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2410096"/>
            <a:ext cx="7242810" cy="229383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19621"/>
            <a:ext cx="7223760" cy="227478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FILTER EARLY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628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6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4800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033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In aggregation pipelines, place selective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stages early when logically possible: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5574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Filtering before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reduces the number of documents and array elements processed downstream.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61160"/>
            <a:ext cx="11247120" cy="23134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552600"/>
            <a:ext cx="1099108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status: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$gte: ISODate("2026-09-01T00:00:00Z")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$unwind: "$items"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"$items.productId",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unitsSold: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"$items.quantity"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PROJECT ONLY NEEDED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For application queries: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3008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This reduces unnecessary network transfer and application 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7944"/>
            <a:ext cx="3840480" cy="1287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Within aggregation, early projection may help when it removes very large fields, although MongoDB can optimize straightforward field dependencies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66968"/>
            <a:ext cx="3840480" cy="18608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58408"/>
            <a:ext cx="3584448" cy="1696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sku: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price: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1781242"/>
            <a:ext cx="7242810" cy="35515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90767"/>
            <a:ext cx="7223760" cy="353249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LIMIT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808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808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7979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213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Avoid returning an unbounded result set: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226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Use pagination for user-facing lists.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239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For large datasets, range-based pagination is often more scalable than large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$skip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27810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319250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customerId: customerId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}).limit(25)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227810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319250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customerId: customerId,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$lt: lastSeenDate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-1,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_id: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}).limit(25)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BULK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5010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010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3182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415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Instead of sending many individual writes: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428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Bulk operations can reduce client-server round trips.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74420"/>
            <a:ext cx="11247120" cy="281635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965860"/>
            <a:ext cx="1099108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db.products.bulkWrite([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updateOne: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filter: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sku: "ELEC-1001"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update: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$inc: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stock: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updateOne: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filter: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sku: "ELEC-1002"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update: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$inc: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stock: 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ATOMIC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Prefer: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300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This is safer than: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3248"/>
            <a:ext cx="11247120" cy="95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Reading the stock into the application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Calculating a new value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Writing it back separately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964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 guarded filter prevents stock from falling below zero in this operation.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9888"/>
            <a:ext cx="11247120" cy="19446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031328"/>
            <a:ext cx="10991088" cy="1780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sku: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$gte: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$inc: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stock: -2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INDEX IMPORTANT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798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798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3969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2032"/>
            <a:ext cx="384048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Create indexes for frequent, important query patterns: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2724"/>
            <a:ext cx="3840480" cy="29001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974164"/>
            <a:ext cx="3584448" cy="2735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db.products.createIndex(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sku: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unique: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db.products.createIndex({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category: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price: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db.orders.createIndex({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customerId: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orderedAt: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db.reviews.createIndex({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productId: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createdAt: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2159311"/>
            <a:ext cx="7242810" cy="279541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68836"/>
            <a:ext cx="7223760" cy="2776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FOLLOW COMPOUND-INDEX FIELD ORDER CAREFULLY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8765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876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6936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7170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For many workloads, begin with: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1944"/>
            <a:ext cx="11247120" cy="954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Equality fields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Sort fields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Range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5834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Example query: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9858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 candidate index might be: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38824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30264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status: "Completed",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$gte: ISODate("2026-09-01T00:00:00Z")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total: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438824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530264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db.orders.createIndex({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status: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total: -1,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FOLLOW COMPOUND-INDEX FIELD ORDER CAREFULLY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5299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529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347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370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Whether this is best depends 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717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Date selectivity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Importance of avoiding an in-memory sort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Distribution of statuses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Result size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Frequency of the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0919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Validate it with realistic data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explain()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AVOID EXCESSIVE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627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62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799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032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Each index: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57161"/>
            <a:ext cx="11247120" cy="23837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Uses storage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Consumes cache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Adds insert cost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Adds update cost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Adds delete cost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Increases operational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3237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Before creating an index, identify the query it serves.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5920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Before dropping one, hide and test it where appropriate.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MEASURE WITH EXPLAIN()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407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40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578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7811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Use: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846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For aggregation: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9881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Review: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9162"/>
            <a:ext cx="11247120" cy="1431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winningPlan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nReturned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totalDocsExamined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totalKeysExamined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executionTimeMillis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Collection scan versus index scan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Blocking sorts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Index bounds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31826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23266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status: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}).explain("executionStats")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431826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523266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db.orders.explain(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"executionStats"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).aggregate([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status: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MEASURE WITH EXPLAIN()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92143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143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90314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0547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high documents-examined-to-documents-returned ratio can indicate an inefficient query or missing 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TYPICAL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7828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7828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5999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62329"/>
          <a:ext cx="11247120" cy="2127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279"/>
                <a:gridCol w="7438841"/>
              </a:tblGrid>
              <a:tr h="303862"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Stage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7" b="1">
                          <a:solidFill>
                            <a:srgbClr val="FFFFFF"/>
                          </a:solidFill>
                          <a:latin typeface="Nirmala UI"/>
                        </a:rPr>
                        <a:t>Meaning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COLLSCAN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Collection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IXSCAN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Index scan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FETCH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Retrieve full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SORT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Sort results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Group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3862">
                <a:tc>
                  <a:txBody>
                    <a:bodyPr/>
                    <a:lstStyle/>
                    <a:p>
                      <a:r>
                        <a:rPr sz="1107" b="1">
                          <a:solidFill>
                            <a:srgbClr val="000000"/>
                          </a:solidFill>
                          <a:latin typeface="Nirmala UI"/>
                        </a:rPr>
                        <a:t>PROJECTION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7" b="0">
                          <a:solidFill>
                            <a:srgbClr val="000000"/>
                          </a:solidFill>
                          <a:latin typeface="Nirmala UI"/>
                        </a:rPr>
                        <a:t>Reshape output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08080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A collection scan is not automatically wrong. It may be appropriate when: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77746"/>
            <a:ext cx="11247120" cy="1084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collection is small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Most documents must be returned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operation is an occasional administrative task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An index would not be selective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MONITOR SLOW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75587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7558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5729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9635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Potential tools include: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43172"/>
            <a:ext cx="11247120" cy="2470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MongoDB diagnostic logs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Database profiler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Atlas Query Profiler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Atlas Performance Advisor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MongoDB Compass explain plans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Application performance monitoring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Driver command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04971"/>
            <a:ext cx="1124712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MongoDB’s diagnostic logs record slow operations, while its profiler and Atlas tools help identify inefficient query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DATABASE PROFILER CAUTION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1696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1696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9867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1010"/>
            <a:ext cx="1124712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Profiling can add overhead, especially at aggressive settings. MongoDB warns that the database profiler can degrade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9597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Enable it deliberately and with an appropriate threshold or filter: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56432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Check the current configuration: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83267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Return to disabled profiling: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10102"/>
            <a:ext cx="5550408" cy="9052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601542"/>
            <a:ext cx="5294376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db.setProfilingLevel(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slowms: 200,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sampleRate: 0.2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510102"/>
            <a:ext cx="5550408" cy="9052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601542"/>
            <a:ext cx="5294376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db.getProfilingStatus()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DATABASE PROFILER CAUTION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3263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326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143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668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Profiler behavior and performance impact should be evaluated before use on a busy production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22092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4013532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db.setProfilingLevel(0)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RESOURCE AND CAPACITY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50971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509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326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5019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Monitor at least: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0313"/>
            <a:ext cx="11247120" cy="337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CPU utilization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Memory utilization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Disk latency and throughput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Available disk space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Network throughput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Connection count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Query latency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Replication lag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Oplog window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Cache pressure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Page faults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Active operations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Shard balance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Chunk migrations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WORKING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6706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70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487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1116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 working set is the data and index information actively used by the workload.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91356"/>
            <a:ext cx="1124712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If the active working set does not fit efficiently in memory, MongoDB must perform more disk I/O, increasing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6292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Possible responses include: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06532"/>
            <a:ext cx="11247120" cy="216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Improve indexes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Reduce unnecessary data retrieval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Archive cold data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Remodel large documents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Increase memory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Separate workloads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Scale horizontally when justified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1797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179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9968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2018"/>
            <a:ext cx="3840480" cy="818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MongoDB should not be exposed to an untrusted network without appropriate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1650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 secure deployment uses multiple layers: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6586"/>
            <a:ext cx="3840480" cy="818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MongoDB’s self-managed security checklist emphasizes authentication, TLS and restricted network exposure.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96218"/>
            <a:ext cx="3840480" cy="172669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87658"/>
            <a:ext cx="3584448" cy="1562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Network controls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TLS encryption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Authentication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Authorization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Encryption at rest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Auditing and monitoring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Backups and recovery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1789457"/>
            <a:ext cx="7242810" cy="353511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98982"/>
            <a:ext cx="7223760" cy="351606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ENABLE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1032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103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920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94368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Authentication answers: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34608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Never rely only on network location as proof of identity.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9544"/>
            <a:ext cx="3840480" cy="818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For a self-managed deployment, authorization must be enabled through the MongoDB security configuration.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9176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Conceptual configuration: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59416"/>
            <a:ext cx="3840480" cy="7711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650856"/>
            <a:ext cx="3584448" cy="606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security: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authorization: enabled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035" y="2130725"/>
            <a:ext cx="7242809" cy="285258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40250"/>
            <a:ext cx="7223759" cy="283353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Who is connecting?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ENABLE AUTHENTICATION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6872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7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5043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77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MongoDB documents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security.authorization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as the setting that enables authorization.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5818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Create administrative users before enforcing authentication according to the supported deployment procedure.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APPLY 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9630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963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801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0352"/>
            <a:ext cx="384048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Authorization answers: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5646"/>
            <a:ext cx="384048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Create role-appropriate accounts: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0940"/>
            <a:ext cx="3840480" cy="123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Application read/write user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Reporting read-only user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Backup operator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Monitoring user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Database 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8770"/>
            <a:ext cx="384048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Example application user: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34064"/>
            <a:ext cx="3840480" cy="18105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125504"/>
            <a:ext cx="358444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db.createUser({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user: "trainingStoreApp",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pwd: passwordPrompt(),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roles: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role: "readWrite",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  db: "training_store"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035" y="1683938"/>
            <a:ext cx="7242810" cy="3746155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93463"/>
            <a:ext cx="7223760" cy="372710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What may this identity do?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APPLY LEAST PRIVILEGE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5299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529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347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370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Avoid giving an application broad administrative privileges.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71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Use separate identities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77306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Applications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Developers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Administrators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Automated jobs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Monitoring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PROTECT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7254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72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5425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658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Do not place credentials directly 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8585"/>
            <a:ext cx="11247120" cy="1409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Source code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Git repositories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Container images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Shared screenshots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Course materials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Shell-history commands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Unprotected configuration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89604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Use: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1601"/>
            <a:ext cx="11247120" cy="1214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Environment-specific secret stores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Cloud secret-management services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Kubernetes Secrets with appropriate protection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Rotated credentials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Short-lived authentication when supported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Restricted service accounts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27783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A connection string should be treated as sensitive: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PROTECT CREDENTIALS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079699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3171139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mongodb+srv://username:&lt;password&gt;@cluster.example.net/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ENCRYPT TRAFFIC WITH TLS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7253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725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5425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56586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TLS protects data in transit between: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53529"/>
            <a:ext cx="11247120" cy="1084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Applications and MongoDB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Administrative tools and MongoDB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Replica-set members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Sharded-cluster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821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MongoDB supports TLS for encrypting network traffic.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6764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Production clients should: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23707"/>
            <a:ext cx="11247120" cy="1344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Validate the server certificate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Use trusted certificate authorities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Avoid disabling certificate validation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Protect private keys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Rotate expiring certificates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RESTRICT NETWORK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287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28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45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692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Use: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57164"/>
            <a:ext cx="11247120" cy="247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Private networks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Firewalls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Security groups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Atlas IP access lists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Private endpoints where appropriate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Restricted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bindIp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settings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Segmented administrative access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VPN or controlled bastion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1896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Do not expose port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27017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broadly to the public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5920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Consolas"/>
              </a:rPr>
              <a:t>bindIp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controls the interfaces on which a self-managed MongoDB process listens.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PROTECT DATA AT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1163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116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2875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75211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Depending on the deployment, use: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0505"/>
            <a:ext cx="11247120" cy="123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Encrypted storage volumes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Cloud-provider encryption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MongoDB-supported encryption features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Key-management systems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Client-side field-level protection for sensitive fields where appropriate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8335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Highly sensitive data might include: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3629"/>
            <a:ext cx="11247120" cy="1236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Government identifiers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Payment-related information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Medical information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Authentication secrets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Private customer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81459"/>
            <a:ext cx="11247120" cy="4682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Passwords should not be stored as plain text. Application passwords require an appropriate password-hashing design; encryption is not a substitute for secure password hashing.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AUDIT IMPORTANT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3564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3564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1736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19696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Security monitoring should detect: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9936"/>
            <a:ext cx="11247120" cy="247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Failed authentication attempts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Privilege changes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User creation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Unusual exports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Unexpected schema or index changes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Large deletions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Configuration changes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Access from unusual 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21736"/>
            <a:ext cx="1124712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Audit capabilities vary by MongoDB edition and deployment model. Application-level audit events may also be necessary.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BACKUPS AND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7189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718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5360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5938"/>
            <a:ext cx="384048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Replication is not a backup.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6286"/>
            <a:ext cx="384048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An accidental deletion is replicated: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6634"/>
            <a:ext cx="384048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A recovery plan should define: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86982"/>
            <a:ext cx="3840480" cy="16044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Backup frequency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Retention period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Encryption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Offsite or separate-account storage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Point-in-time recovery requirements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Restore procedures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Restore testing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Recovery time objective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Recovery point objective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82834"/>
            <a:ext cx="384048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874274"/>
            <a:ext cx="358444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db.orders.deleteMany({})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035" y="1888221"/>
            <a:ext cx="7242810" cy="333759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97746"/>
            <a:ext cx="7223760" cy="33185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RECOVERY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309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3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481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7146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Recovery Point Objective (RPO)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asks: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2558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Recovery Time Objective (RTO)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asks: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7970"/>
            <a:ext cx="3840480" cy="18198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Backups are useful only if restoration works. Schedule restoration exercises rather than assuming backups are valid.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829347"/>
            <a:ext cx="7242810" cy="3455337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38872"/>
            <a:ext cx="7223760" cy="343628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How much data loss is acceptable?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1: DEFINE THE SYMPTOM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005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005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176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409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Use a systematic process: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423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Avoid vague descriptions such as: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436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Prefer: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04494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695934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Symptom → Scope → Evidence → Layer → Cause → Fix → Verify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82090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273530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MongoDB is slow.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59686"/>
            <a:ext cx="11247120" cy="7711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4851126"/>
            <a:ext cx="10991088" cy="606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The customer order-history endpoint increased from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100 ms to 2.5 seconds after the September release.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2: DETERMINE THE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343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34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515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748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Ask: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4321"/>
            <a:ext cx="11247120" cy="316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One query or all queries?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One application instance or every instance?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One collection or the complete database?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One replica-set member or the entire cluster?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Reads, writes or both?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Continuous or intermittent?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Started after a deployment?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Related to data growth or traffic?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3: GATHER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849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84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0020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254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Collect: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2784"/>
            <a:ext cx="11247120" cy="337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Application error and trace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Timestamp and timezone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Query shape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explain()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result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MongoDB logs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Driver logs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Server metrics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Replica-set status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Current operations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Recent schema and index changes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Deployment changes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4: IDENTIFY THE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61518"/>
          <a:ext cx="11247120" cy="3899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9207"/>
                <a:gridCol w="8067913"/>
              </a:tblGrid>
              <a:tr h="354505">
                <a:tc>
                  <a:txBody>
                    <a:bodyPr/>
                    <a:lstStyle/>
                    <a:p>
                      <a:pPr algn="l"/>
                      <a:r>
                        <a:rPr sz="1292" b="1">
                          <a:solidFill>
                            <a:srgbClr val="FFFFFF"/>
                          </a:solidFill>
                          <a:latin typeface="Nirmala UI"/>
                        </a:rPr>
                        <a:t>Layer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2" b="1">
                          <a:solidFill>
                            <a:srgbClr val="FFFFFF"/>
                          </a:solidFill>
                          <a:latin typeface="Nirmala UI"/>
                        </a:rPr>
                        <a:t>Example issue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Incorrect filter or unbounded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Driver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Pool exhaustion or timeout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DNS, firewall or TLS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Query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Collection scan or expensive sort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Unbounded 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Missing or unsuitable compound 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CPU, memory or disk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Replication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Lag or election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Sharding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Scatter-gather or imbalance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Security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Authentication or authorization failure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5: APPLY THE SMALLEST SAFE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2157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2157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0328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562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Examples: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5754"/>
            <a:ext cx="11247120" cy="264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Add a targeted index.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Bound a query with a date range.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Correct a connection-string option.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Increase an undersized pool after measuring.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Rewrite an unbounded array model.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Fix a role rather than granting administrator access.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6: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5393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39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564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7982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Repeat the same test and compare: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394"/>
            <a:ext cx="3840480" cy="264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Latency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Documents examined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Keys examined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Error rate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Resource usage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Application behavior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035" y="2244121"/>
            <a:ext cx="7242810" cy="262578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253646"/>
            <a:ext cx="7223760" cy="26067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CONNECTION REFUSED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58813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881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40525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2861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Possible causes: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4858"/>
            <a:ext cx="3840480" cy="1214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mongod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is stopped.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Incorrect host or port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Firewall restriction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bindIp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restriction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Container port not exposed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DNS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1040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Checks: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3037"/>
            <a:ext cx="3840480" cy="391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Operating-system checks may include service state and port connectivity.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95910"/>
            <a:ext cx="384048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787350"/>
            <a:ext cx="358444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db.hello()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035" y="2492482"/>
            <a:ext cx="7242810" cy="21290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502007"/>
            <a:ext cx="7223760" cy="211001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AUTHENTICATION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36831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3683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1854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20879"/>
            <a:ext cx="1124712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Check: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4525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Username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Password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Authentication database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Authentication mechanism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Credential encoding</a:t>
            </a:r>
          </a:p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Atlas database-user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10601"/>
            <a:ext cx="1124712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The database user may have been created in </a:t>
            </a:r>
            <a:r>
              <a:rPr sz="1000" b="0" i="0">
                <a:solidFill>
                  <a:srgbClr val="000000"/>
                </a:solidFill>
                <a:latin typeface="Consolas"/>
              </a:rPr>
              <a:t>admin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 even though the application accesses </a:t>
            </a:r>
            <a:r>
              <a:rPr sz="1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64247"/>
            <a:ext cx="11247120" cy="262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84"/>
              </a:spcAft>
            </a:pPr>
            <a:r>
              <a:rPr sz="1000" b="0" i="0">
                <a:solidFill>
                  <a:srgbClr val="000000"/>
                </a:solidFill>
                <a:latin typeface="Nirmala UI"/>
              </a:rPr>
              <a:t>Example: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17893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809333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mongodb://user@host/training_store?authSource=admin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AUTHORIZATION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6875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687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58587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0923"/>
            <a:ext cx="3840480" cy="1038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Authentication succeeded, but the user lacks permission.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91262"/>
            <a:ext cx="3840480" cy="16424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Inspect the current connection’s authenticated roles through appropriate administrative methods and grant only the required privilege.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25105"/>
            <a:ext cx="3840480" cy="1038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Do not solve every authorization error by assigning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root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71035" y="1781145"/>
            <a:ext cx="7242810" cy="3551741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90670"/>
            <a:ext cx="7223760" cy="353269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SLOW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7049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704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5220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45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Run: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1481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Check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8424"/>
            <a:ext cx="11247120" cy="1604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COLLSCAN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Large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totalDocsExamined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Large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totalKeysExamined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Blocking sort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Low selectivity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Excessive result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44282"/>
            <a:ext cx="11247120" cy="16261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235722"/>
            <a:ext cx="10991088" cy="1461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customerId: customerId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orderedAt: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}).explain("executionStats")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DUPLICATE-KEY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47497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4749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2920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54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Typical code: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2848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Likely causes: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5431"/>
            <a:ext cx="11247120" cy="10848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Duplicate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_id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Duplicate SKU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Duplicate email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Compound unique-index violation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0172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Treat expected uniqueness conflicts as business outcomes where appropriate: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98666"/>
            <a:ext cx="555040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790106"/>
            <a:ext cx="5294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E11000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698666"/>
            <a:ext cx="555040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790106"/>
            <a:ext cx="5294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“This email is already registered.”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DUPLICATE-KEY ERROR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308907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890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7078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311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Do not expose the raw database error to the user.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DOCUMENT-VALIDATION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677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677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848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82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failed schema rule may generate error code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121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095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Possible causes: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41086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Missing required field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Incorrect BSON type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Value outside allowed range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Invalid nested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1013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Log the validation details securely and return a safe application-level message.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WRITE CONFLICT OR TRANSIENT TRANSACTION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535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535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706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940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Applications using transactions should follow the driver’s supported retry pattern.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48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Avoid blindly retrying every operation. A retry should be: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4946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Supported for that error type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Bounded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Observable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Safe from duplicate side effects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Designed for idempotency where possible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REPLICATION LAG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4046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404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22178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24514"/>
            <a:ext cx="384048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Check: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1457"/>
            <a:ext cx="384048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Possible causes: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8400"/>
            <a:ext cx="3840480" cy="1604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Slow secondary storage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Network delay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Heavy write volume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Long-running operations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Undersized oplog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Resource saturation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14258"/>
            <a:ext cx="384048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805698"/>
            <a:ext cx="358444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rs.status()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1035" y="1495693"/>
            <a:ext cx="7242809" cy="412264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05218"/>
            <a:ext cx="7223759" cy="410359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NO PRIMARY AVAILABLE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7632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76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5803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60372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Possible causes: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00612"/>
            <a:ext cx="11247120" cy="1561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Election in progress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Loss of voting majority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Network partition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Misconfigured replica set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Multiple members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3172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Check: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93412"/>
            <a:ext cx="11247120" cy="7711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684852"/>
            <a:ext cx="10991088" cy="606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rs.status()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db.hello()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SHARDED QUERY CONTACTS EVERY SHARD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792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792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964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197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Likely cause: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21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Query does not include an appropriate shard-key predicate.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224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Investigate: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62372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Shard key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Query shape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Targeting information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Data distribution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Whether the workload has changed since shard-key selection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RETURN APPROPRIATE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8307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830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20019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2355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Internal log: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4352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User-facing response: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6349"/>
            <a:ext cx="384048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Do not expose: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8346"/>
            <a:ext cx="3840480" cy="1409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Stack traces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Server hostnames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Database names unnecessarily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Connection strings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Credentials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Internal topology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Complete raw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19365"/>
            <a:ext cx="1847088" cy="7879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10805"/>
            <a:ext cx="1591056" cy="623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MongoServerError: E11000 duplicate key error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collection: training_store.customers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index: uq_customers_email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319365"/>
            <a:ext cx="1847088" cy="7879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410805"/>
            <a:ext cx="1591056" cy="623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An account already exists for that email address.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1684942"/>
            <a:ext cx="7242810" cy="37441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94467"/>
            <a:ext cx="7223760" cy="372509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STRUCTURED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525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525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5696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930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useful log record may contain: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943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Avoid logging credentials or unrestricted personal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99566"/>
            <a:ext cx="11247120" cy="276606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991006"/>
            <a:ext cx="10991088" cy="2601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event: "order_query_failed",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requestId: "REQ-2026-1025",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operation: "findCustomerOrders",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customerId: "masked-or-authorized-value",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durationMs: 2200,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errorCategory: "database_timeout",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occurredAt: "2026-09-22T18:20:00Z"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USE TIMEOUTS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151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151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322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7555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Database operations should not wait indefinitely.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590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Configure appropriate: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96254"/>
            <a:ext cx="11247120" cy="1084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Server-selection timeout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Connection timeout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Socket timeout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Operation time limit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Transaction timeout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Application request timeout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7254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For selected operations: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8289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Timeouts must be chosen according to the workload. Extremely low limits can create avoidable failures.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93238"/>
            <a:ext cx="1124712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484678"/>
            <a:ext cx="1099108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status: "Processing"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}).maxTimeMS(3000)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DESIGN IDEMPOTENT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A retried request should not unintentionally create duplicate business effects.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476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Use: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36762"/>
            <a:ext cx="11247120" cy="10199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Unique request keys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Unique order numbers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Upserts where semantically appropriate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Guarded state transitions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Idempotency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810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Example: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80104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Running it again does not rematch an already shipped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12101"/>
            <a:ext cx="11247120" cy="18440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103541"/>
            <a:ext cx="10991088" cy="1679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db.orders.updateOne(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orderNumber: "ORD-2026-1002",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status: "Processing"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status: "Shipped"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$currentDate: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shippedAt: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BUSINESS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0145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14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8316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8550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Create a sales report showing the top products for a selected date range.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574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 report must: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5984"/>
            <a:ext cx="11247120" cy="277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Include only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Shipped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Delivered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Completed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orders.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Include orders from September 2026.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Expand individual order items.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Group by product.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Calculate units sold.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Calculate sales revenue.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Count the number of contributing orders.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Sort by revenue.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Return the top ten products.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1: VERIFY THE DATA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533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53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570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93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Confirm that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orderedAt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a BSON Date rather than a string.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29512"/>
            <a:ext cx="11247120" cy="333603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420952"/>
            <a:ext cx="10991088" cy="3171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orderNumber: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status: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orderedAt: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total: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orderedAt: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2: CONSTRUCT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97964"/>
            <a:ext cx="5550408" cy="31181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089404"/>
            <a:ext cx="5294376" cy="2953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const salesPipeline =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$gte: ISODate("2026-09-01T00:00:00Z"),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$lt: ISODate("2026-10-01T00:00:00Z")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$unwind: "$items"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productId: "$items.productId",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sku: "$items.sku",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productName: "$items.productName"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997964"/>
            <a:ext cx="5550408" cy="31181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2089404"/>
            <a:ext cx="5294376" cy="2953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unitsSold: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"$items.quantity"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revenue: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"$items.lineTotal"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orderIds: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$addToSet: "$_id"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productId: "$_id.productId",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sku: "$_id.sku",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productName: "$_id.productName",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unitsSold: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revenue: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orderCount: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$size: "$orderIds"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2: CONSTRUCT THE PIPELINE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5028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5028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3199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3433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Run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4466"/>
            <a:ext cx="5550408" cy="13746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195906"/>
            <a:ext cx="5294376" cy="1210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revenue: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$limit: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];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104466"/>
            <a:ext cx="5550408" cy="13746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195906"/>
            <a:ext cx="5294376" cy="1210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db.orders.aggregate(salesPipeline)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3: EXPLAIN THE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3227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322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39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1632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Record: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645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On a small classroom dataset, differences may be tiny. The important lesson is how the execution plan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1868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883308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db.orders.explain(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"executionStats"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).aggregate(salesPipeline)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791868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883308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Winning input stage: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Documents examined: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Keys examined: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Documents returned by the initial match: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Execution time: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Blocking sort present: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4: IDENTIFY THE INDEXABLE PIPELINE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6397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6397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4568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802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first stage 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815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relevant fields are: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828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Candidate compound index: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58418"/>
            <a:ext cx="5550408" cy="17099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849858"/>
            <a:ext cx="529437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$gte: ISODate("2026-09-01T00:00:00Z"),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$lt: ISODate("2026-10-01T00:00:00Z")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758418"/>
            <a:ext cx="5550408" cy="17099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3849858"/>
            <a:ext cx="529437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status     → equality-style membership condition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orderedAt  → date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4: IDENTIFY THE INDEXABLE PIPELINE STAGE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40736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932176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status: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orderedAt: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5: CREATE THE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5866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586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403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4271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Verify: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12848"/>
            <a:ext cx="5550408" cy="140817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204288"/>
            <a:ext cx="5294376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db.orders.createIndex(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status: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orderedAt: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  name: "idx_orders_status_orderedAt"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112848"/>
            <a:ext cx="5550408" cy="140817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204288"/>
            <a:ext cx="5294376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db.orders.getIndexes()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6: EXPLAIN THE TUNED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2093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209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3805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76141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Compare with the baseline: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351435"/>
          <a:ext cx="11247120" cy="1949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460"/>
                <a:gridCol w="1415913"/>
                <a:gridCol w="7989747"/>
              </a:tblGrid>
              <a:tr h="278540">
                <a:tc>
                  <a:txBody>
                    <a:bodyPr/>
                    <a:lstStyle/>
                    <a:p>
                      <a:pPr algn="l"/>
                      <a:r>
                        <a:rPr sz="1015" b="1">
                          <a:solidFill>
                            <a:srgbClr val="FFFFFF"/>
                          </a:solidFill>
                          <a:latin typeface="Nirmala UI"/>
                        </a:rPr>
                        <a:t>Metric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5" b="1">
                          <a:solidFill>
                            <a:srgbClr val="FFFFFF"/>
                          </a:solidFill>
                          <a:latin typeface="Nirmala UI"/>
                        </a:rPr>
                        <a:t>Before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5" b="1">
                          <a:solidFill>
                            <a:srgbClr val="FFFFFF"/>
                          </a:solidFill>
                          <a:latin typeface="Nirmala UI"/>
                        </a:rPr>
                        <a:t>After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8540">
                <a:tc>
                  <a:txBody>
                    <a:bodyPr/>
                    <a:lstStyle/>
                    <a:p>
                      <a:r>
                        <a:rPr sz="1015" b="1">
                          <a:solidFill>
                            <a:srgbClr val="000000"/>
                          </a:solidFill>
                          <a:latin typeface="Nirmala UI"/>
                        </a:rPr>
                        <a:t>Collection 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8540">
                <a:tc>
                  <a:txBody>
                    <a:bodyPr/>
                    <a:lstStyle/>
                    <a:p>
                      <a:r>
                        <a:rPr sz="1015" b="1">
                          <a:solidFill>
                            <a:srgbClr val="000000"/>
                          </a:solidFill>
                          <a:latin typeface="Nirmala UI"/>
                        </a:rPr>
                        <a:t>Index scan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result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result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8540">
                <a:tc>
                  <a:txBody>
                    <a:bodyPr/>
                    <a:lstStyle/>
                    <a:p>
                      <a:r>
                        <a:rPr sz="1015" b="1">
                          <a:solidFill>
                            <a:srgbClr val="000000"/>
                          </a:solidFill>
                          <a:latin typeface="Nirmala UI"/>
                        </a:rPr>
                        <a:t>Documents examined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8540">
                <a:tc>
                  <a:txBody>
                    <a:bodyPr/>
                    <a:lstStyle/>
                    <a:p>
                      <a:r>
                        <a:rPr sz="1015" b="1">
                          <a:solidFill>
                            <a:srgbClr val="000000"/>
                          </a:solidFill>
                          <a:latin typeface="Nirmala UI"/>
                        </a:rPr>
                        <a:t>Keys examined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value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value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78540">
                <a:tc>
                  <a:txBody>
                    <a:bodyPr/>
                    <a:lstStyle/>
                    <a:p>
                      <a:r>
                        <a:rPr sz="1015" b="1">
                          <a:solidFill>
                            <a:srgbClr val="000000"/>
                          </a:solidFill>
                          <a:latin typeface="Nirmala UI"/>
                        </a:rPr>
                        <a:t>Documents matched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8540">
                <a:tc>
                  <a:txBody>
                    <a:bodyPr/>
                    <a:lstStyle/>
                    <a:p>
                      <a:r>
                        <a:rPr sz="1015" b="1">
                          <a:solidFill>
                            <a:srgbClr val="000000"/>
                          </a:solidFill>
                          <a:latin typeface="Nirmala UI"/>
                        </a:rPr>
                        <a:t>Execution time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value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5" b="0">
                          <a:solidFill>
                            <a:srgbClr val="000000"/>
                          </a:solidFill>
                          <a:latin typeface="Nirmala UI"/>
                        </a:rPr>
                        <a:t>Record value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392655"/>
            <a:ext cx="1124712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484095"/>
            <a:ext cx="1099108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db.orders.explain(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"executionStats"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).aggregate(salesPipeline)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6: EXPLAIN THE TUNED PIPELINE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535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535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706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940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Expected behavior on a sufficiently large and selective dataset: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3953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can use the compound index.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Fewer unrelated order documents are examined.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Less data reaches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Less data reaches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Downstream processing becomes less expensive.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4155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index does not directly perform the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; it reduces the input that the aggregation must group.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7: TEST THE FIELD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2447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244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0619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0852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Create an alternative index for controlled comparison: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865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Test each index using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hint()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48790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640230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db.orders.createIndex(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orderedAt: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status: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"idx_orders_orderedAt_status_test"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548790"/>
            <a:ext cx="5550408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640230"/>
            <a:ext cx="5294376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db.orders.explain(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"executionStats"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).aggregate(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salesPipeline,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hint: "idx_orders_status_orderedAt"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7: TEST THE FIELD ORDER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41123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4112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22835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5171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Compare: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2114"/>
            <a:ext cx="11247120" cy="1344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Keys examined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Documents examined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Execution time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Index bounds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Behavior across different months and status distributions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5818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Do not keep both automatically. Retain the index that best supports the broader workload, not merely one isolated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55132"/>
            <a:ext cx="11247120" cy="19446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946572"/>
            <a:ext cx="10991088" cy="1780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db.orders.explain(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"executionStats"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).aggregate(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salesPipeline,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hint: "idx_orders_orderedAt_status_test"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8: ADD PRODUCT-CATEGORY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Join the current product record: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2900"/>
            <a:ext cx="11247120" cy="37216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234340"/>
            <a:ext cx="10991088" cy="3557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const categorySalesPipeline =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   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   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   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  $gte: ISODate("2026-09-01T00:00:00Z"),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  $lt: ISODate("2026-10-01T00:00:00Z")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$unwind: "$items"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$lookup: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from: "products",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localField: "items.productId",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foreignField: "_id",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as: "product"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},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8: ADD PRODUCT-CATEGORY ANALYSIS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48256"/>
            <a:ext cx="5550408" cy="30175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139696"/>
            <a:ext cx="5294376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$unwind: "$product"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$group: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"$product.category",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unitsSold: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"$items.quantity"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revenue: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$sum: "$items.lineTotal"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uniqueCustomers: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$addToSet: "$customerId"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$project: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category: "$_id",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unitsSold: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revenue: 1,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2048256"/>
            <a:ext cx="5550408" cy="30175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2139696"/>
            <a:ext cx="5294376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customerCount: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$size: "$uniqueCustomers"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$sort: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revenue: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];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8: ADD PRODUCT-CATEGORY ANALYSIS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4756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475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2927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316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Run: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01746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foreign field used by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products._id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which already has an index by default.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7158"/>
            <a:ext cx="11247120" cy="4861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298598"/>
            <a:ext cx="10991088" cy="3215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db.orders.aggregate(categorySalesPipeline)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9: VALIDATE CORRECTNESS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2920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2920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091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324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Performance tuning must not change the report’s meaning.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833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Check: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535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Validate sample totals manually: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364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Confirm: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93776"/>
            <a:ext cx="5550408" cy="16093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185216"/>
            <a:ext cx="5294376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db.orders.countDocuments({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status: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"Completed"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$gte: ISODate("2026-09-01T00:00:00Z"),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$lt: ISODate("2026-10-01T00:00:00Z")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093776"/>
            <a:ext cx="5550408" cy="16093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185216"/>
            <a:ext cx="5294376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orderNumber: "ORD-2026-1001"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9: VALIDATE CORRECTNESS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015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015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7186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4202"/>
            <a:ext cx="11247120" cy="30765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Included statuses are correct.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Date boundaries are correct.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Cancelled orders are excluded.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Quantities are not double-counted.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lineTotal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uses a consistent numeric type.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Missing product matches are handled intentionally.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The report timezone matches the business requirement.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STEP 10: CLEAN UP THE TEST-ONLY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9087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908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725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49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If testing shows the reverse-order index is unnecessary: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450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Keep: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1518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only if it supports an important workload and provides measurable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5316"/>
            <a:ext cx="5550408" cy="8549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76756"/>
            <a:ext cx="5294376" cy="6903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db.orders.dropIndex(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"idx_orders_orderedAt_status_test"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085316"/>
            <a:ext cx="5550408" cy="8549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176756"/>
            <a:ext cx="5294376" cy="6903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idx_orders_status_orderedAt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5803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5803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39748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2084"/>
            <a:ext cx="3840480" cy="3340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Documents reflect access patterns.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Embedded arrays are bounded.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Historical snapshots are intentional.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Field names and BSON types are consistent.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Large documents have been evaluated.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Validation rules protect essential invariants.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Schema evolution has a migration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902984"/>
            <a:ext cx="7242810" cy="13080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912509"/>
            <a:ext cx="7223760" cy="128901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0664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66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8835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0688"/>
            <a:ext cx="11247120" cy="264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Results are filtered and bounded.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Pagination is implemented where required.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Queries use appropriate projection.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Array queries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where necessary.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Dates and timezones are handled consistently.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Expensive query shapes have been tested at realistic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INDEXES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0664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66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8835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0688"/>
            <a:ext cx="11247120" cy="264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Important query shapes have supporting indexes.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Compound field order has been validated.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Unique indexes enforce business rules.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Redundant and unused indexes are reviewed.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Write overhead has been measured.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Explain plans have been captured before and after tuning.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0664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66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8835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0688"/>
            <a:ext cx="11247120" cy="264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Selective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stages appear early.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expansion is controlled.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fields are indexed appropriately.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Grouping cardinality is understood.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Large sorts are monitored.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Output is verified for correctness.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5854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58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4025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2588"/>
            <a:ext cx="3840480" cy="2939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Authentication is enabled.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Least-privilege roles are used.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TLS protects network traffic.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Credentials are stored securely.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Network exposure is restricted.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Sensitive fields are protected appropriately.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Security activity is monitored.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Dependencies and MongoDB versions are patched according to policy.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1913126"/>
            <a:ext cx="7242810" cy="328777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2651"/>
            <a:ext cx="7223760" cy="32687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AVAILABILITY AND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015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015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7186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4202"/>
            <a:ext cx="11247120" cy="30765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Production deployments use appropriate replication.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Clients use topology-aware connection strings.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Read and write concerns match business requirements.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Backups are independent from replication.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Restore procedures are tested.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RPO and RTO are documented.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Failover behavior is tested.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8360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360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6531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7648"/>
            <a:ext cx="3840480" cy="3889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Metrics and alerts are configured.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Slow queries are monitored.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Logs are centralized and protected.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Capacity trends are reviewed.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Replication lag is monitored.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Disk space alerts are configured.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Deployment changes are documented.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Operational runbooks exist.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982516"/>
            <a:ext cx="7242810" cy="114899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992041"/>
            <a:ext cx="7223760" cy="112994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COURSE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3023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302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4735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7071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The course progression can be summarized as follows: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337311"/>
          <a:ext cx="11247120" cy="319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3723"/>
                <a:gridCol w="6163397"/>
              </a:tblGrid>
              <a:tr h="354505">
                <a:tc>
                  <a:txBody>
                    <a:bodyPr/>
                    <a:lstStyle/>
                    <a:p>
                      <a:pPr algn="l"/>
                      <a:r>
                        <a:rPr sz="1292" b="1">
                          <a:solidFill>
                            <a:srgbClr val="FFFFFF"/>
                          </a:solidFill>
                          <a:latin typeface="Nirmala UI"/>
                        </a:rPr>
                        <a:t>Module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92" b="1">
                          <a:solidFill>
                            <a:srgbClr val="FFFFFF"/>
                          </a:solidFill>
                          <a:latin typeface="Nirmala UI"/>
                        </a:rPr>
                        <a:t>Core capability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1. Introduction to NoSQL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Select an appropriate database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2. Installation and Setup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Establish and verify MongoDB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3. Data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Design documents around access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4. Query Language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Retrieve and manipulate documents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5. Aggregation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Transform data into analytical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6. Indexing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Improve query performance using evidence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7. Replication and Sharding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Design for availability and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505">
                <a:tc>
                  <a:txBody>
                    <a:bodyPr/>
                    <a:lstStyle/>
                    <a:p>
                      <a:r>
                        <a:rPr sz="1292" b="1">
                          <a:solidFill>
                            <a:srgbClr val="000000"/>
                          </a:solidFill>
                          <a:latin typeface="Nirmala UI"/>
                        </a:rPr>
                        <a:t>8. Best Practices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2" b="0">
                          <a:solidFill>
                            <a:srgbClr val="000000"/>
                          </a:solidFill>
                          <a:latin typeface="Nirmala UI"/>
                        </a:rPr>
                        <a:t>Operate MongoDB securely and reliably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COURSE WRAP-UP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3190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3190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361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595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The most important principles are: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9487"/>
            <a:ext cx="11247120" cy="3509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Model around how the application uses data.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Embed bounded data that belongs together.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Reference shared, independent or unbounded data.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Keep field names and data types consistent.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Design indexes around real query shapes.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Measure performance before and after optimization.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Filter early in aggregation pipelines.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Apply authentication, authorization, TLS and network restrictions.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Treat replication, sharding and backups as different capabilities.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Troubleshoot from evidence instead of assumptions.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QUESTION-AND-ANSWER DISCUSSION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3190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319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36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5952"/>
            <a:ext cx="1124712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Use these prompts to close the course: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91246"/>
            <a:ext cx="11247120" cy="36177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When would you choose MongoDB instead of a relational database?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When should related data be embedded?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When should related data be referenced?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Why is an unbounded array dangerous?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What is the difference between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find()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and aggregation?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How does a compound-index prefix affect query support?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Why can too many indexes harm performance?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What does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COLLSCAN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mean?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How are replication and sharding different?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Why is replication not a backup?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What makes a strong shard key?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12.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How would you diagnose a suddenly slow API endpoint?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13.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Which security controls are essential before production?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14.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How would you prevent duplicate order processing?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1" i="0">
                <a:solidFill>
                  <a:srgbClr val="D1282E"/>
                </a:solidFill>
                <a:latin typeface="Nirmala UI"/>
              </a:rPr>
              <a:t>15.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Which metrics would you monitor after deployment?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QUESTION-AND-ANSWER DISCUSSION PROMPTS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75379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5379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3550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37838"/>
            <a:ext cx="11247120" cy="114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After completing the module, learners should be able to review a MongoDB application from schema, query, performance, security and operational perspectives—and justify each recommendation with observable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8.1 — REVIEW AND IMPROVE A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0433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43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860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88380"/>
            <a:ext cx="11247120" cy="2448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Start from mixed prices, unbounded reviews, string dates, and a password hash on the document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Correct types, split reviews, standardize names, add validation, protect secrets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Keep the catalog and order access patterns fast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 — REVIEW A DOCUMENT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Score an order-shaped document and rewrite the boundary, snapshots, and first validator.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Score the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Review this order-shaped document and mark each area as strong, risky, or missing: access patterns, ownership, duplication, BSON types, array growth, historical snapshots, sensitive fields, and validation. { _id: ObjectI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Risky/missing: price as string, date as string, unbounded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notes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live customer fields (email, loyalty, password hash) instead of a snapshot plus a reference,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Rewrite the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Write the corrected document boundary: what stays on the order, what is referenced, and one validation rule you would add first.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Order keeps orderNumber, customerId, purchase-time name/address/price snapshots, items, statuses, Decimal128 total, Date createdAt. Customer master stays in cus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8.2 — FIND THE SCHEMA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Name seven anti-patterns on a messy product document and sketch the repair.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7155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715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886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120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8120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737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432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Name the anti-patterns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1265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On the product document below, list every anti-pattern from the module list. { Product_Name: "Trail shoe", productPrice: "89.99", details: { catalog: { store: { web: { active: "yes" } } } }, customer: { email: "aisha@exa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Unbounded reviews; price as text; mixed names (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Product_Name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vs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productPrice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); unnecessary nesting; live customer data on a product; missing sku/category/Dec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032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Corrected sketch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7270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Sketch the replacement: product core fields, where reviews live, and how customer data is removed.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products: sku, name, category, Decimal128 price, Boolean active, Date updatedAt, bounded attributes. reviews collection keyed by productId. No customer object 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8.2 — DIAGNOSE A SLOW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2312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231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048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717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Capture the query →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explain("executionStats")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Spot COLLSCAN or weak scanning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Fix filter, sort, projection; add an index; compare examined vs returned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Discuss write and storage 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8.3 — REVIEW A QUERY AND 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Rewrite find({}) into a selective, projected, sorted, limited query and name an ESR index.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7739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773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9451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81787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81787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796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4906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Rewrite the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1849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The application only needs C101’s paid orders, newest first, ten at a time, showing orderNumber, fulfillmentStatus, total, and createdAt. Rewrite: db.orders.find({})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Filter on customerId + paymentStatus PAID; projection of the four fields (and usually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_id: 0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);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.sort({ createdAt: -1 })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;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.limit(10)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911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Name a candidate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7854"/>
            <a:ext cx="11247120" cy="565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Write one compound index that supports the filter and sort. Label equality vs sort fields.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{ customerId: 1, paymentStatus: 1, createdAt: -1 }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— equality, equality, sort. Do not lead with createdAt.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8.3 — TUNE AN AGGREGATION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5548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5548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3719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39534"/>
            <a:ext cx="11247120" cy="254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Start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$sort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Aim for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→ (maybe lookup) → controlled unwind →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$sort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Business logic decides the exact order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Measure before and 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8.4 — OPTIMIZE AN AGGREGATION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Name defects in a lookup-first pipeline and propose a safer stage order that does not double-count.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Name the defects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The pipeline runs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customers, then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items, then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PAID, then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by date, then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summing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total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List what is wrong and why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after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can over-count revenue.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Lookup and unwind happen before filtering; unused customer fields travel the pipeline; sort before the final metric is wasted work; summing parent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total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Propose a safer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Write a conceptual stage order that preserves paid-order monthly revenue and unique customers. State where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is allowed.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PAID (and date window if any) →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needed fields →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month → group for order-level metrics first, or unwind only to sum line quantities. `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8.5 — RATIONALIZE AN INDEX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Map overlapping category indexes, low-selectivity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and a hide-then-monitor plan.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8.5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Map overlap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Given these indexes, mark which prefixes overlap and which queries each can support: { category: 1 } { category: 1, price: 1 } { category: 1, price: 1, name: 1 } { active: 1 } { category: 1, active: 1, price: 1 }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The three category+price variants overlap;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{ category: 1 }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is a prefix of the others.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{ active: 1 }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is low-selectivity and does not overlap those prefixes.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Safe testing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Write the sequence before dropping any index: workload review, explain, hide, monitor, drop with rollback. Name one index you would not hide on appearance alone.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Hide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{ category: 1 }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only after catalog and reporting explains still use a remaining compound index. Do not hide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{ category: 1, active: 1, price: 1 }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withou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8.4 — APPLY COLLECTION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3961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396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213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3660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Require orderNumber, customerId, items, statuses, decimal total, createdAt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Test valid insert, missing field, wrong type, illegal status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Prefer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training_store_ops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so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orders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stays loadable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8.5 — DEMONSTRATE ROLE-BASED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7197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719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536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6020"/>
            <a:ext cx="11247120" cy="2112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Instructor-controlled environment only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App user: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readWrite data; reporter: read; monitor: metrics; admin: separate identity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Never display real credentials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8.6 — IDENTIFY AN UNSAFE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65609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40146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Public bind, auth disabled, shared admin, no TLS, no backup, no monitoring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Participants name risks and controls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8.6 — DESIGN LEAST-PRIVILEGE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Permit/deny matrix for app, reporting, support, monitoring, backup, and DBA identities.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8.6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Fill the permission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For each identity — application service, reporting service, support engineer, monitoring service, backup service, database administrator — list one permitted operation and one prohibited operation on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App: read/write app collections, not userAdmin. Reporting: read approved collections, not update. Support: read (maybe limited PII), not drop. Monitoring: clust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Call out the anti-pattern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Write two sentences on why the application must not use a cluster-administrator account, even in training-like environments that later become production.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 stolen app credential would inherit every privilege. Least privilege limits blast radius and makes audit trails meaningful.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8.7 — IDENTIFY SECURITY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Rank six fictional risks and attach one mitigation to each.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8.7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8.7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7155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715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886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120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8120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737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432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Rank the six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1265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Rank these from most urgent to least: public database endpoint; shared administrator account; plaintext URI in source control; no TLS; unprotected backups; production data copied to development. Give a one-line business 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Typical top three: public endpoint (internet attack surface), no TLS (credential and data interception), secrets in source control (credential leak). Shared adm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032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Propose mitigations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7270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For each of the six, write one concrete control (network, identity, encryption, secret storage, or data handling).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Private network + allowlist; named accounts + MFA/rotation; secret manager; TLS with validation; encrypted backups with access control; masked or synthetic non-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8.9 — TEST A BACKUP AND RESTORE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3961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396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213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23660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Known test data → backup → change data → restore to an isolated target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Validate counts, samples, indexes, access, duration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Disposable environment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8.8 — DEFINE RPO AND 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Set RPO, RTO, frequency, method, and validation for catalog, customers, orders, payments, and reviews.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8.8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8.8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7155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715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886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120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8120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737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432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Assign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1265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For product catalog, customer profiles, orders, payments, and reviews, write RPO, RTO, and a backup frequency that could meet the RPO. Use the store as a small retailer, not a global bank.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Payments and orders typically get the tightest RPO (minutes) and tested point-in-time recovery. Catalog can often tolerate a longer RPO. Reviews are usually the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032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Name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7270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For orders, write how you would prove a restore: counts, sample order numbers, indexes, and a checkout read.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Compare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countDocuments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to the pre-restore note; find O5001 and a paid total;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getIndexes()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; application can read an order. Backup success alone is not enough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8.7 — INSPECT HEALTH AND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Ops rate, query latency, connections, CPU, memory, disk, lag, storage, slow queries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Correlate with a simulated load bump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8.8 — READ AND CORRELATE MONGODB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Trace connection failure, auth failure, slow query, election, replication and storage warnings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Align timestamps with the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8.9 — DESIGN A MONITORING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Choose at most twelve on-call tiles, each with a purpose question, and drop two vanity metrics.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8.9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8.9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7155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715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886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120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8120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737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432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Pick twelve tiles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1265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Choose at most twelve dashboard tiles that a weekday on-call would actually use. For each, write the metric and the question it answers. Reject vanity metrics.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Examples: primary/alive, request latency p99, slow ops, CPU, disk %, connections vs limit, replication lag, oplog window, targeted vs scatter (if sharded),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032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Drop two candidates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7270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Name two metrics you would leave off the primary dashboard and why.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Per-collection document counts or raw opcounters without a baseline are noise. Shard-balancer internals may belong on a secondary view unless the cluster is sha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8.10 — SET ALERT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Classify eight alerts and attach first actions for critical and high.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8.10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7155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715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886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120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8120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737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432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Classify eight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1265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Classify: no primary; increasing replication lag; disk 90% full; backup failed; authentication-failure spike; slow-query increase; one secondary unavailable; high connection usage.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Critical: no primary. High: disk 90%, backup failed, auth-failure spike, lag still growing toward oplog risk. Medium: one secondary down (if majority remains),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032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Attach first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7270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For critical and high items, write the first action and the runbook name you would open.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No primary → check replica-set status and network, do not reconfigure hastily. Disk 90% → identify growth, free space, page the owner. Backup failed → verify jo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8.11 — DIAGNOSE AN OPERATIONAL 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Post-release slowness: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examined docs up, no election, filter changed, indexes unchanged.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7155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715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886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120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8120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737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432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Form the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1265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Evidence: CPU moderately up; documents examined up sharply; no election; connections normal; a query filter changed; indexes unchanged. What is the likely cause, and what is not the cause?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Likely: the new filter no longer uses the existing index (predicate, type, or field name), causing a collection scan or a weakly selective plan. Not: failover,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032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Mitigate and prevent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7270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Write immediate mitigation, evidence to collect, permanent correction, and one prevention action for the next release.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Mitigate: revert the filter or add a matching index if the new shape is intended. Collect: the exact query, explain before/after, deploy diff. Permanent: 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8.12 — CREATE AN OPERATIONAL 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Fill a twelve-section runbook for one named alert.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7155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715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886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120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8120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737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432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Fill the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1265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Pick one event. Write: alert name, meaning, business impact, required access, diagnostic commands, expected normal state, decision points, corrective actions, escalation, rollback, verification, and where the incident is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 complete page exists. Diagnostics are real commands (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rs.status()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explain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disk checks). Corrective actions are sequenced. Escalation has a person or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032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Add a verification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7270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Write how you know the incident is over (metric + user-facing check) and what you will change so it does not recur silently.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Example: primary exists for 15 minutes, checkout succeeds, lag &lt; baseline. Follow-up: alert threshold, dashboard tile, or change-review item.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8.10 — CONDUCT A PRODUCTION-READINESS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Score schema, queries, indexes, security, availability, backup, monitoring, runbooks, ownership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Prioritize critical / high / medium / low improvements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8.13 — COMPLETE A PRODUCTION-READINESS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Score nine areas of the fictional deployment and classify ready / conditional / not ready.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97155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97155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78867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81203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81203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2737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4322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Score nine areas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21265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Using the fictional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production story on the slides (no validation, mixed price types, embedded unbounded reviews, broad queries, overlapping indexes, shared admin credentials, public network, untested fa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Most areas are Not ready. Indexes might be Conditional if some useful keys exist but overlap is unproven. Availability is Conditional (replica set exists, failo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032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Classify the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77270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Choose one overall label and list the three conditions that would have to be true before a go-live.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Not production-ready. Conditions typically: authentication + network restriction, tested backup restore, and indexed selective queries with a baseline. Shared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8492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49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66638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8974"/>
            <a:ext cx="3840480" cy="3886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Intentional data modeling and efficient queries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Evidence-based indexes and layered security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Tested backups, monitoring, and alerting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Reliable replication and deliberate scaling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Documented troubleshooting and controlled change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781202"/>
            <a:ext cx="7242810" cy="155162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790727"/>
            <a:ext cx="7223760" cy="153257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HANDS-ON LABS — TIME-BOX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792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792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964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197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Full sequence: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Labs 8.1–8.11 (~4 hours if every laptop does everything).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21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In the 3-day package,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prefer: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2240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Lab 8.2 query/projection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Lab 8.3 monthly pipeline (or 8.4 if 5.6 already landed)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Lab 8.6 validation on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training_store_ops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Lab 8.9 backup/restore isolated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Lab 8.11 integrated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942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Discussion labs 8.7, 8.8, 8.10 can be instructor-led with the worksheets.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8.1 — DATA-MODEL REVIEW AND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Inspect types, growth, and snapshots; propose validation and an XBAD migration note.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Inspect types and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Run and record field-name and type surprises: use training_store db.products.find({}, { sku: 1, name: 1, price: 1, active: 1 }).limit(5) db.products.find({ sku: "XBAD" }, { sku: 1, price: 1 }) db.products.aggregate([ { $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shows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as string. Healthy products show Decimal128. That mixed type is the catalog anti-pattern to repair.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Check growth and snapshots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Compare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db.products.findOne({}, { reviews: 1, sku: 1 })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db.reviews.findOne()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db.orders.findOne({ orderNumber: "O5001" }, { items: 1, customerId: 1, shippingAddress: 1 })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Note whether reviews are embedded 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Reviews live in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reviews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(good). Orders embed line snapshots and reference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(good). Call out any missing snapshot fields you would still add (for 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8.1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Propose validation and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Write: (1) three validator rules for products, (2) what to do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(3) whether to migrate in place or insert into a new collection first.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Rules include sku string, Decimal128 price, Boolean active.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converted or quarantined. Prefer adding compatible fields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validationAction: "warn"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8.2 — QUERY AND PROJECTION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Baseline find({}), then filter, project, sort, limit, explain, and recommend an ESR index.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98323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832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80035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82371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82371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8547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25490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Baseline the broad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2433"/>
            <a:ext cx="11247120" cy="565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Run and record nReturned and totalDocsExamined: use training_store db.orders.find({}).explain("executionStats")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The plan examines every order. nReturned equals the collection size. This is the ‘return everything’ anti-pattern.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79159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Add filter, projection, sort, and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6102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Look up C101’s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then run: const c101 = db.customers.findOne({ customerNumber: "C101" }).</a:t>
            </a:r>
            <a:r>
              <a:rPr sz="1200" b="0" i="1">
                <a:solidFill>
                  <a:srgbClr val="000000"/>
                </a:solidFill>
                <a:latin typeface="Nirmala UI"/>
              </a:rPr>
              <a:t>id db.orders.find( { customerId: c101, paymentStatus: "PAID" }, {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id: 0, orderNumber: 1, fulfillmentStatus: 1, total: 1, cre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Only C101 paid orders, shaped fields, newest first, at most ten documents.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8.2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Explain and recommend an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.explain("executionStats")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the improved query. Record winning stage, docs examined, and whether a SORT stage appears. Write one candidate index.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Likely COLLSCAN on this small set unless Module 6 indexes remain. Candidate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customerId: 1, paymentStatus: 1, createdAt: -1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Note examined vs returned.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8.3 — AGGREGATION PIPELINE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30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Monthly paid sales with six metrics; two $group stages so unwind does not inflate revenue.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7739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773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9451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81787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81787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796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4906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Filter and stamp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1849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Start a pipeline that matches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paymentStatus: "PAID"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and sets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month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from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(UTC date-to-string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YYYY-MM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is acceptable in training). db.orders.aggregate([ { $match: { paymentStatus: "PAID" } }, { $set: { mon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About 13 paid orders remain. Each document has a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month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such as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2026-07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Unwind safely, then group twice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Unwind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items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group by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{ month: "$month", orderNumber: "$orderNumber" }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keeping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total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$first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$first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units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$sum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of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$items.quantity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Then group by month: `orderCount: { $sum: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Revenue is not multiplied by line count. Units come from item quantities. July–September 2026 months appear.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8.3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Sort and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Add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uniqueCustomerCount: { $size: "$uniqueCustomers"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averageOrderValue: { $divide: ["$revenue", "$orderCount"]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by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/ month, and a final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that outputs month, orderCount, reve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One document per month, sorted, with all six business metrics. No leftover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object unless you alias it to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month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8.4 — AGGREGATION PIPELINE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Compare lookup-first versus match-first; verify C101 revenue by hand.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Run the slow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Run this inefficient pipeline once and save the result documents plus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explain("executionStats")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notes (stage order, docs leaving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): db.orders.aggregate([ { $lookup: { from: "customers", localField: "customerId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Lookup and unwind run on unpaid orders too. Revenue is inflated where orders have multiple items. Record the output even if the numbers look ‘busy’.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Rewrite and 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Rewrite: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PAID first,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only fields you need,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by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summing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$total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without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unwinding, then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names, then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Compare revenue to a manual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find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of paid totals for C1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C101’s paid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total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sum matches the grouped revenue. Unpaid orders never enter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Explain shows a smaller working set after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8.4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Index 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Write whether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paymentStatus: 1, createdAt: -1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paymentStatus: 1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) would help this pipeline’s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and whether a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customers._id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already has an index.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already indexed. A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paymentStatus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(and optional date) index can support the early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Do not index every grouped field.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8.5 — INDEX DESIGN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Inventory indexes, create history and paid-report keys, explain, do not drop.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8.5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7739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773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9451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81787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81787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796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4906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List current indexes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1849"/>
            <a:ext cx="11247120" cy="5652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Run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db.orders.getIndexes()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db.products.getIndexes()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db.reviews.getIndexes()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Note leftovers from Module 6.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 written inventory exists.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_id_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is present. Extra indexes from Day 3 morning are labeled, not blindly dropped.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7857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Create or reuse two useful indexes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75518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If missing, create training indexes (names optional): db.orders.createIndex( { customerId: 1, paymentStatus: 1, createdAt: -1 }, { name: "ix</a:t>
            </a:r>
            <a:r>
              <a:rPr sz="1200" b="0" i="1">
                <a:solidFill>
                  <a:srgbClr val="000000"/>
                </a:solidFill>
                <a:latin typeface="Nirmala UI"/>
              </a:rPr>
              <a:t>orders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cust</a:t>
            </a:r>
            <a:r>
              <a:rPr sz="1200" b="0" i="1">
                <a:solidFill>
                  <a:srgbClr val="000000"/>
                </a:solidFill>
                <a:latin typeface="Nirmala UI"/>
              </a:rPr>
              <a:t>pay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date" } ) db.orders.createIndex( { paymentStatus: 1, createdAt: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Winning plans show IXSCAN (unless a better leftover index wins). Examined counts are written down. Prefix overlap between the two new indexes is noted.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8.5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6717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71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488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12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13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Overlap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1484"/>
            <a:ext cx="11247120" cy="158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State whether both new indexes should survive in production, or whether one prefix makes the other a hide candidate. Do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not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drop indexes in this lab.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 sentence exists: keep both only if both query shapes are hot; otherwise hide the redundant one after monitoring. No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dropIndex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 this 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8.6 — SCHEMA VALIDATION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Validator on training</a:t>
            </a:r>
            <a:r>
              <a:rPr sz="2000" b="0" i="1">
                <a:solidFill>
                  <a:srgbClr val="000000"/>
                </a:solidFill>
                <a:latin typeface="Nirmala UI"/>
              </a:rPr>
              <a:t>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ops.orders_validated; prove valid and three invalid inserts.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8.6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7739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773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9451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81787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81787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796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4906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Create a scratch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1849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Copy two paid orders into a new collection so production-shaped data exists without locking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orders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: use training</a:t>
            </a:r>
            <a:r>
              <a:rPr sz="1200" b="0" i="1">
                <a:solidFill>
                  <a:srgbClr val="000000"/>
                </a:solidFill>
                <a:latin typeface="Nirmala UI"/>
              </a:rPr>
              <a:t>store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ops db.orders</a:t>
            </a:r>
            <a:r>
              <a:rPr sz="1200" b="0" i="1">
                <a:solidFill>
                  <a:srgbClr val="000000"/>
                </a:solidFill>
                <a:latin typeface="Nirmala UI"/>
              </a:rPr>
              <a:t>validated.drop() db.getSiblingDB("training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store").orders.find({ paymentStatus: "PAID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training_store_ops.orders_validated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has two documents.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Attach the validator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Run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collMod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(or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createCollection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) with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$jsonSchema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requiring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(string),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customerId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(objectId),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items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(array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minItems: 1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),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paymentStatus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enum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PAID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/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PENDING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/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FAILED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fulfillmentStatus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enum 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collMod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/ create succeeds.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db.getCollectionInfos({ name: "orders_validated" })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shows the validator.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8.6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6717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71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488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12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13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Prove accept and reject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1484"/>
            <a:ext cx="11247120" cy="158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Insert one valid order (new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). Then attempt: missing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;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total: "9.99"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;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paymentStatus: "PAID_NOW"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Record the error messages.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Valid insert succeeds. Each invalid insert is rejected. Existing copied documents remain.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8.7 — SECURITY CONFIGURATION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Mark findings on the fictional YAML; P1–P3 remediation; role sketches with redacted passwords.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8.7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8.7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Mark every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Read the fictional configuration in the worksheet below. List every unsafe item under network, identity, encryption, secrets, backup, logging, and environment.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Findings include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bindIp: 0.0.0.0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with no auth, disabled security, shared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admin/admin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mongodb:// without TLS, URI in source, open backup bucket, verbose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Prioritize remediation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Write a P1 / P2 / P3 list with owners (role names, not classmates’ personal emails). P1 must be items that would stop a go-live.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P1: enable auth, restrict bind/firewall, TLS, remove secrets from git, stop public backup. P2: least-privilege roles, log redaction, env separation. P3: audit 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8.7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Design roles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Do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not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enable authentication on the shared class database. Write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createRole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/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createUser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sketches for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appUser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reportUser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using placeholder names only.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appUser: readWrite on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reportUser: read on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Neither is root. No real passwords in the notes.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8.8 — MONITORING AND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Timeline from sample logs; cause is the filter field/case change; propose an alert.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8.8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8.8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Build the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Using the sample log and metric extract below, write a timeline with at least four rows: time, signal, source (app or mongod).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Order is roughly: deploy at 14:02 → query shape change in app logs → documentsExamined rise at 14:04 → slow query log lines → customer checkout latency. No elec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Name cause and alert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State the likely root cause in one sentence. Write one alert (metric, threshold idea, severity) that would have paged sooner, and one runbook step to add.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Cause: post-deploy filter no longer matches the index. Alert: slow query rate or examined/returned ratio vs baseline, high severity during checkout hours. Runbo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8.8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6717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71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488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12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13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Recommend a dashboard 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1484"/>
            <a:ext cx="11247120" cy="158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Name two tiles that should sit next to each other so this incident is obvious next time.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Application p99 latency beside mongod slow-ops / documents examined (or query planner collection-scan count). CPU-only would have missed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8.9 — BACKUP AND RESTORE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30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Dump training</a:t>
            </a:r>
            <a:r>
              <a:rPr sz="2000" b="0" i="1">
                <a:solidFill>
                  <a:srgbClr val="000000"/>
                </a:solidFill>
                <a:latin typeface="Nirmala UI"/>
              </a:rPr>
              <a:t>store; restore to training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store_restore; verify counts, sample, indexes, duration vs RTO.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8.9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8.9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Record the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In notes: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db.orders.countDocuments()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db.products.countDocuments()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three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values, and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db.orders.getIndexes()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Use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Counts match the loader (about 17 orders, 13 products) unless the class mutated data — write the actual numbers. Three order numbers and index names are recorde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Take a 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From the course repo in PowerShell (MongoDB Database Tools must be on PATH), run: New-Item -ItemType Directory -Force -Path .\datasets\backups | Out-Null mongodump --uri="mongodb://localhost:27017" --db=training_store --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 dump directory (or JSON export) exists. The command finished without authentication errors (or the instructor supplied a URI).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8.9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189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18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360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594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607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Restore isolated and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6204"/>
            <a:ext cx="11247120" cy="2252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Restore into a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new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database name: mongorestore --uri="mongodb://localhost:27017" --nsFrom="training</a:t>
            </a:r>
            <a:r>
              <a:rPr sz="2000" b="0" i="1">
                <a:solidFill>
                  <a:srgbClr val="000000"/>
                </a:solidFill>
                <a:latin typeface="Nirmala UI"/>
              </a:rPr>
              <a:t>store.*" --nsTo="training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store</a:t>
            </a:r>
            <a:r>
              <a:rPr sz="2000" b="0" i="1">
                <a:solidFill>
                  <a:srgbClr val="000000"/>
                </a:solidFill>
                <a:latin typeface="Nirmala UI"/>
              </a:rPr>
              <a:t>restore.*" --drop ".\datasets\backups\lab89\training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store" Then in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mongosh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 compa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Counts match the source note. Sample order exists. Indexes are present (rebuild may apply for some logical imports). Elapsed time is written and compared to a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8.10 — TROUBLESHOOTING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30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Five concurrent symptoms; do not collapse them; ordered investigation plus verify steps.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8.10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Separate the incidents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Symptoms: product browsing is slow; some orders are missing from a report; secondary lag is increasing; authentication failures appear in logs; disk utilization is approaching its threshold. Write five problem statements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Five independent hypotheses exist (for example: missing catalog index; report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type/status bug; secondary I/O or network; brute force or bad app secret;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Order the investigation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Rank what you would check first for a live checkout site and why. Attach one evidence source per symptom (explain, log field,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rs.printSecondaryReplicationInfo()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auth log,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db.stats()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/ disk).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Auth failures and disk may be P1 if they threaten availability; lag if oplog is at risk; slow browse if revenue is hurting; missing report rows if finance is bl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8.10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Actions and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For each of the five: one immediate action, one long-term correction, one verification signal.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Table with 5 rows. Immediate actions are reversible (hide index, rotate a leaked demo password, page storage). Verification is a metric or query result, not ‘lo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8.11 — FINAL INTEGRATED PRODUCTION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45–60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Schema fix, validation, pipeline, explains, ops pack, and a scored checklist.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8.11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7739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7739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9451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81787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81787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Lab 8.11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796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4906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Fix one schema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1849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Document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’s string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(or another real defect you found). On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training_store_ops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, copy products and convert the bad price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or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quarantine the document. Do not silently rewrite historical orders.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 before/after note exists.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catalog may stay unchanged; the ops copy shows the repaired 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Validation + monthly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766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Reuse or complete Lab 8.6 validation on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orders_validated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. Run your Lab 8.3/8.4 monthly paid-sales pipeline against </a:t>
            </a:r>
            <a:r>
              <a:rPr sz="1200" b="0" i="0">
                <a:solidFill>
                  <a:srgbClr val="000000"/>
                </a:solidFill>
                <a:latin typeface="Consolas"/>
              </a:rPr>
              <a:t>training_store.orders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and save the result documents.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Validator rejects a bad insert. Pipeline output has month, order count, revenue, AOV, unique customers, units sold.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LAB 8.11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1841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184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001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02460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42700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000000"/>
                </a:solidFill>
                <a:latin typeface="Nirmala UI"/>
              </a:rPr>
              <a:t>Step 3 — Indexes and 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2940"/>
            <a:ext cx="11247120" cy="886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Ensure at least one history index and one paid-report index exist (create on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only if the instructor allows Day 3 leftovers). Explain the C101 history query and the pipeline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 Record IXSCAN vs COL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Two explain summaries are in the notes. Overlap is mentioned if both indexes share a prefix.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60956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000000"/>
                </a:solidFill>
                <a:latin typeface="Nirmala UI"/>
              </a:rPr>
              <a:t>Step 4 — Ops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01196"/>
            <a:ext cx="11247120" cy="1121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In one page: least-privilege table (app vs report vs admin); RPO/RTO for orders; three critical alerts; one runbook (backup failed or no primary); checklist scores for the six production-readiness areas.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The page is complete. Classification is Ready with conditions or Not ready, with evidence. No production-ready claim without auth, tested restore, and restricte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8.14 — PRODUCTION-READINESS REVIEW FOR TRAINING_STORE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45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Six-part action plan and a classification with evidence. Not production-ready is the defensible call.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96571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965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782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0619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0619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8.14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6795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3738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1 — Write model and performance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20681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Correct BSON types; separate unbounded reviews; preserve order snapshots; add validation; plan migration. Then rewrite broad queries, add projections, tune the sales aggregation, recommend indexes, flag redundant indexes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A two-section note exists. Reviews are a collection. Prices are Decimal128. Queries are selective. Indexes follow ESR. At least one overlapping index is flagged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79743"/>
            <a:ext cx="11247120" cy="3055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1" i="0">
                <a:solidFill>
                  <a:srgbClr val="000000"/>
                </a:solidFill>
                <a:latin typeface="Nirmala UI"/>
              </a:rPr>
              <a:t>Step 2 — Write security, reliability, and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76686"/>
            <a:ext cx="11247120" cy="9676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Restrict network access; replace shared credentials; least privilege; TLS; secret storage; audit privileged activity. Test failover; review lag and oplog; define RPO/RTO; test restore. Add query, connection, storage, rep</a:t>
            </a:r>
          </a:p>
          <a:p>
            <a:pPr>
              <a:spcBef>
                <a:spcPts val="0"/>
              </a:spcBef>
              <a:spcAft>
                <a:spcPts val="461"/>
              </a:spcAft>
            </a:pPr>
            <a:r>
              <a:rPr sz="12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2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 Security list includes network, authn, authz, TLS, secrets. Reliability includes tested failover and restore plus RPO/RTO. Monitoring has owners, not only metri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8.14 — STEPS 3–3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189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18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360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594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607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Classify with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6204"/>
            <a:ext cx="11247120" cy="2252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Select Production-ready, Ready with conditions, or Not production-ready. Cite evidence from the current environment list (no validation, public network, untested restore, CPU-only monitoring, and the rest).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Not production-ready is the defensible call. Ready with conditions is acceptable only if conditions are explicit and blocking. Production-ready is not justified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FINAL COURSE KNOWLEDGE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3190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3190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1361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595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Write short answers (pairs or solo):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9487"/>
            <a:ext cx="11247120" cy="35094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Why design schemas around access patterns?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Why are unbounded arrays dangerous?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Why return only required fields?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Why reduce aggregation input early?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What risk does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$unwind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introduce?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Why index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$lookup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foreign fields?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Why not index every field?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What is least privilege?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Authentication vs authorization?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Why TLS?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FINAL COURSE KNOWLEDGE ASSESSMENT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5718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5718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3889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1229"/>
            <a:ext cx="11247120" cy="3942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keep credentials out of source code?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12.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is replication not a backup?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13.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What do RPO and RTO mean?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14.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test restores?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15.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Metrics for a slow query?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16.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Metrics for replication problems?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17.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What makes an alert actionable?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18.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What belongs in a runbook?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19.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Why rollback plans for production changes?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20.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What evidence is required before calling a deployment production-ready?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FINAL PRACTICAL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09583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0958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1295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9363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Design a production-oriented e-commerce MongoDB solution: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0466"/>
            <a:ext cx="11247120" cy="1994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Collections and sample documents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Embed vs reference decisions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CRUD queries and one aggregation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Index strategy; replica-set architecture; sharding recommendation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Security checklist; backup/recovery; monitoring; one runbook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06001"/>
            <a:ext cx="11247120" cy="122529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406001"/>
            <a:ext cx="11027664" cy="1225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BAR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correct BSON types, access-pattern design, bounded growth, accurate queries and aggregations, evidence-based indexes, HA and scale that match the load, least privilege, tested recovery, actionable 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PARTICIPANT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2157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2157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0328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562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Before the next work week, write: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5754"/>
            <a:ext cx="11247120" cy="264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schema or validation change you will propose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query or index you will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explain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security control you will verify (auth, network, secrets)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restore test you will schedule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alert or runbook you will add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 named owner for each 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8 COMPLETION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343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343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515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748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Participants can: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94321"/>
            <a:ext cx="11247120" cy="316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[ ] Review and improve a MongoDB data model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[ ] Spot query and aggregation inefficiencies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[ ] Recommend and validate indexes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[ ] Apply layered security and least privilege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[ ] Explain backup/recovery, RPO, and RTO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[ ] Select metrics and actionable alerts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[ ] Diagnose common incidents and write a runbook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[ ] Complete a production-readiness assessment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QUESTIONS AND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8441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8441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6612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846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Open floor.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3859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Parking-lot prompts if the room is quiet: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726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Would you go live on training_store tonight? Why not?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Where does your current team store the database URI?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When did you last restore a backup on purpose?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Which alert would you delete this week?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777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Driver-language wiring belongs in the sample-app README, not a new module.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COURSE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3387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338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155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79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Day 1 — Why documents, a working instance, a schema for training_store.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880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Day 2 — Query language and aggregation on the same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5818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Day 3 — Indexes and explain; replica sets and sharding; production operations.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2831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dataset stayed still so the skills could compound.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NEXT STEPS AND CONTINUED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8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23126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231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048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717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Apply the six-area checklist to one real database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Schedule a restore test and a failover test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Read current MongoDB security and ops manuals for your version and platform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Practice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explain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the queries that pay the bills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Keep secrets out of git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183</Slides>
  <Notes>183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183</vt:i4>
      </vt:variant>
    </vt:vector>
  </HeadingPairs>
  <TitlesOfParts>
    <vt:vector size="18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