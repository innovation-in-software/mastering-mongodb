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last module</a:t>
            </a:r>
          </a:p>
          <a:p/>
          <a:p>
            <a:r>
              <a:t>  This is the final module of the course.</a:t>
            </a:r>
          </a:p>
          <a:p/>
          <a:p>
            <a:r>
              <a:t>  We stop learning new MongoDB features and start asking whether a MongoDB solution is safe to run for real.</a:t>
            </a:r>
          </a:p>
          <a:p/>
          <a:p>
            <a:r>
              <a:t>- Production-ready is a claim you prove</a:t>
            </a:r>
          </a:p>
          <a:p/>
          <a:p>
            <a:r>
              <a:t>  A database that accepts queries is only functional.</a:t>
            </a:r>
          </a:p>
          <a:p/>
          <a:p>
            <a:r>
              <a:t>  Production-ready means the model holds up, queries are measured, access is locked down, restores are tested and someone can diagnose problems.</a:t>
            </a:r>
          </a:p>
          <a:p/>
          <a:p>
            <a:r>
              <a:t>- Same dataset</a:t>
            </a:r>
          </a:p>
          <a:p/>
          <a:p>
            <a:r>
              <a:t>  Everything uses training_store: 6 customers, 13 products, 17 orders and 6 reviews.</a:t>
            </a:r>
          </a:p>
          <a:p/>
          <a:p>
            <a:r>
              <a:t>  By the end we decide whether it could go live — and why not yet.</a:t>
            </a:r>
          </a:p>
          <a:p/>
          <a:p/>
          <a:p>
            <a:r>
              <a:t>REAL-WORLD EXAMPLES</a:t>
            </a:r>
          </a:p>
          <a:p>
            <a:r>
              <a:t>-------------------</a:t>
            </a:r>
          </a:p>
          <a:p/>
          <a:p>
            <a:r>
              <a:t>- Many real outages are not exotic bugs.</a:t>
            </a:r>
          </a:p>
          <a:p/>
          <a:p>
            <a:r>
              <a:t>  They are a missing index after a release, an expired certificate, a disk that filled up, or a backup nobody had ever restored.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By the end of this module</a:t>
            </a:r>
          </a:p>
          <a:p/>
          <a:p>
            <a:r>
              <a:t>  Learners can apply modeling, validation and schema-evolution rules, and tune queries, pipelines and indexes with explain evidence.</a:t>
            </a:r>
          </a:p>
          <a:p/>
          <a:p>
            <a:r>
              <a:t>  They can secure access with authentication, least privilege, TLS and network limits, and plan backups against RPO and RTO.</a:t>
            </a:r>
          </a:p>
          <a:p/>
          <a:p>
            <a:r>
              <a:t>  They can monitor health, troubleshoot by layer, and judge production readiness.</a:t>
            </a:r>
          </a:p>
          <a:p/>
          <a:p>
            <a:r>
              <a:t>- Six questions</a:t>
            </a:r>
          </a:p>
          <a:p/>
          <a:p>
            <a:r>
              <a:t>  Is the model safe to grow?</a:t>
            </a:r>
          </a:p>
          <a:p/>
          <a:p>
            <a:r>
              <a:t>  How do we prove it is fast?</a:t>
            </a:r>
          </a:p>
          <a:p/>
          <a:p>
            <a:r>
              <a:t>  Who may do what?</a:t>
            </a:r>
          </a:p>
          <a:p/>
          <a:p>
            <a:r>
              <a:t>  Can we recover?</a:t>
            </a:r>
          </a:p>
          <a:p/>
          <a:p>
            <a:r>
              <a:t>  What is wrong right now?</a:t>
            </a:r>
          </a:p>
          <a:p/>
          <a:p>
            <a:r>
              <a:t>  Are we ready to go live?</a:t>
            </a:r>
          </a:p>
          <a:p/>
          <a:p>
            <a:r>
              <a:t>- How the module runs</a:t>
            </a:r>
          </a:p>
          <a:p/>
          <a:p>
            <a:r>
              <a:t>  Five parts, three short practice exercises, a knowledge check, three official checkpoints — Exercises 8.1 to 8.3 — and Lab 7, which closes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Read each term once and give a quick example from the training_store sample database.</a:t>
            </a:r>
          </a:p>
          <a:p/>
          <a:p>
            <a:r>
              <a:t>- Schema validation</a:t>
            </a:r>
          </a:p>
          <a:p/>
          <a:p>
            <a:r>
              <a:t>  $jsonSchema rules the server checks on every insert and update — required fields, types, enums.</a:t>
            </a:r>
          </a:p>
          <a:p/>
          <a:p>
            <a:r>
              <a:t>- Query shape</a:t>
            </a:r>
          </a:p>
          <a:p/>
          <a:p>
            <a:r>
              <a:t>  A query's filter, sort and projection.</a:t>
            </a:r>
          </a:p>
          <a:p/>
          <a:p>
            <a:r>
              <a:t>  Indexes are designed around shapes, not single queries.</a:t>
            </a:r>
          </a:p>
          <a:p/>
          <a:p>
            <a:r>
              <a:t>- ESR rule</a:t>
            </a:r>
          </a:p>
          <a:p/>
          <a:p>
            <a:r>
              <a:t>  Order compound-index keys Equality first, then Sort, then Range.</a:t>
            </a:r>
          </a:p>
          <a:p/>
          <a:p>
            <a:r>
              <a:t>- Least privilege</a:t>
            </a:r>
          </a:p>
          <a:p/>
          <a:p>
            <a:r>
              <a:t>  Give each identity only the actions and collections its job needs — nothing more.</a:t>
            </a:r>
          </a:p>
          <a:p/>
          <a:p>
            <a:r>
              <a:t>- TLS</a:t>
            </a:r>
          </a:p>
          <a:p/>
          <a:p>
            <a:r>
              <a:t>  Transport Layer Security: encrypts traffic between clients, servers and cluster members.</a:t>
            </a:r>
          </a:p>
          <a:p/>
          <a:p>
            <a:r>
              <a:t>- RPO and RTO</a:t>
            </a:r>
          </a:p>
          <a:p/>
          <a:p>
            <a:r>
              <a:t>  How much data you may lose, and how long recovery may take — both are time targets.</a:t>
            </a:r>
          </a:p>
          <a:p/>
          <a:p>
            <a:r>
              <a:t>- Restore test</a:t>
            </a:r>
          </a:p>
          <a:p/>
          <a:p>
            <a:r>
              <a:t>  Proving a backup by restoring it to an isolated target and checking counts, samples and indexes.</a:t>
            </a:r>
          </a:p>
          <a:p/>
          <a:p>
            <a:r>
              <a:t>- Runbook</a:t>
            </a:r>
          </a:p>
          <a:p/>
          <a:p>
            <a:r>
              <a:t>  Written steps for one alert: checks, fixes, escalation, rollback and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Don't read every row.</a:t>
            </a:r>
          </a:p>
          <a:p/>
          <a:p>
            <a:r>
              <a:t>  Point out the few this module uses most, and say the full list is here for reference.</a:t>
            </a:r>
          </a:p>
          <a:p/>
          <a:p>
            <a:r>
              <a:t>- Reference</a:t>
            </a:r>
          </a:p>
          <a:p/>
          <a:p>
            <a:r>
              <a:t>  BSON is Binary JSON; COLLSCAN is Collection Scan; CPU is Central Processing Unit; DBA is Database Administrator; ESR is Equality, Sort, Range; ID is Identifier; IP is Internet Protocol; IXSCAN is Index Scan; RBAC is Role-Based Access Control; RPO is Recovery Point Objective; RTO is Recovery Time Objective; TLS is Transport Layer Security; URI is Uniform Resource Identifier; UTC is Coordinated Universal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Bridge from Module 7</a:t>
            </a:r>
          </a:p>
          <a:p/>
          <a:p>
            <a:r>
              <a:t>  Module 7 gave us a replica set for availability and sharding for scale.</a:t>
            </a:r>
          </a:p>
          <a:p/>
          <a:p>
            <a:r>
              <a:t>  Both are necessary for production, but neither makes the data correct, secure or recoverable on its own.</a:t>
            </a:r>
          </a:p>
          <a:p/>
          <a:p>
            <a:r>
              <a:t>- The path</a:t>
            </a:r>
          </a:p>
          <a:p/>
          <a:p>
            <a:r>
              <a:t>  We review the data model, measure performance, lock down access, prove we can recover, and learn a method for diagnosing problems.</a:t>
            </a:r>
          </a:p>
          <a:p/>
          <a:p>
            <a:r>
              <a:t>  The module ends with a readiness review of training_store.</a:t>
            </a:r>
          </a:p>
          <a:p/>
          <a:p>
            <a:r>
              <a:t>- The last module</a:t>
            </a:r>
          </a:p>
          <a:p/>
          <a:p>
            <a:r>
              <a:t>  This is the final module of the course.</a:t>
            </a:r>
          </a:p>
          <a:p/>
          <a:p>
            <a:r>
              <a:t>  The closing slides look back over all eight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Three stages</a:t>
            </a:r>
          </a:p>
          <a:p/>
          <a:p>
            <a:r>
              <a:t>  Functional: mongosh and Compass talk to one mongod with the four training_store collections.</a:t>
            </a:r>
          </a:p>
          <a:p/>
          <a:p>
            <a:r>
              <a:t>  It works, and that is all.</a:t>
            </a:r>
          </a:p>
          <a:p/>
          <a:p>
            <a:r>
              <a:t>  Hardened: authentication and TLS, indexes, validation and backups are added.</a:t>
            </a:r>
          </a:p>
          <a:p/>
          <a:p>
            <a:r>
              <a:t>  Production-ready: a three-member replica set behind authentication and TLS, with monitoring, alerts and automated backups.</a:t>
            </a:r>
          </a:p>
          <a:p/>
          <a:p>
            <a:r>
              <a:t>- Where training_store is today</a:t>
            </a:r>
          </a:p>
          <a:p/>
          <a:p>
            <a:r>
              <a:t>  Our class instance is firmly in the first column.</a:t>
            </a:r>
          </a:p>
          <a:p/>
          <a:p>
            <a:r>
              <a:t>  No authentication, one server, no validator, no tested restore.</a:t>
            </a:r>
          </a:p>
          <a:p/>
          <a:p>
            <a:r>
              <a:t>  That is fine for learning — and the reason Lab 7 ends with not ready.</a:t>
            </a:r>
          </a:p>
          <a:p/>
          <a:p>
            <a:r>
              <a:t>- Module 7 link</a:t>
            </a:r>
          </a:p>
          <a:p/>
          <a:p>
            <a:r>
              <a:t>  The replica set in the third column is exactly what Module 7 built.</a:t>
            </a:r>
          </a:p>
          <a:p/>
          <a:p>
            <a:r>
              <a:t>  Replication gives availability; this module adds everything around it.</a:t>
            </a:r>
          </a:p>
          <a:p/>
          <a:p>
            <a:r>
              <a:t>- What it shows</a:t>
            </a:r>
          </a:p>
          <a:p/>
          <a:p>
            <a:r>
              <a:t>  Three columns.</a:t>
            </a:r>
          </a:p>
          <a:p/>
          <a:p>
            <a:r>
              <a:t>  Functional: clients and one mongod with training_store.</a:t>
            </a:r>
          </a:p>
          <a:p/>
          <a:p>
            <a:r>
              <a:t>  Hardened: the same server plus Auth + TLS, indexes, validation and backups.</a:t>
            </a:r>
          </a:p>
          <a:p/>
          <a:p>
            <a:r>
              <a:t>  Production-ready: Auth + TLS in front of a three-member replica set, with monitoring, alerts and automated backup.</a:t>
            </a:r>
          </a:p>
          <a:p/>
          <a:p>
            <a:r>
              <a:t>- How to read it</a:t>
            </a:r>
          </a:p>
          <a:p/>
          <a:p>
            <a:r>
              <a:t>  Follow the arrows: secure and optimize, then replicate and operate.</a:t>
            </a:r>
          </a:p>
          <a:p/>
          <a:p>
            <a:r>
              <a:t>- Key point</a:t>
            </a:r>
          </a:p>
          <a:p/>
          <a:p>
            <a:r>
              <a:t>  Each step adds controls around the same data; the collections don't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start with the model</a:t>
            </a:r>
          </a:p>
          <a:p/>
          <a:p>
            <a:r>
              <a:t>  Most performance and correctness problems start in the document design.</a:t>
            </a:r>
          </a:p>
          <a:p/>
          <a:p>
            <a:r>
              <a:t>  An index can't fix an unbounded array.</a:t>
            </a:r>
          </a:p>
          <a:p/>
          <a:p>
            <a:r>
              <a:t>- What this part does</a:t>
            </a:r>
          </a:p>
          <a:p/>
          <a:p>
            <a:r>
              <a:t>  We review training_store's model against six rules and find the real defects the loader left in it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Two questions</a:t>
            </a:r>
          </a:p>
          <a:p/>
          <a:p>
            <a:r>
              <a:t>  First: is the data read and updated together with its parent?</a:t>
            </a:r>
          </a:p>
          <a:p/>
          <a:p>
            <a:r>
              <a:t>  If yes, is it bounded?</a:t>
            </a:r>
          </a:p>
          <a:p/>
          <a:p>
            <a:r>
              <a:t>  Bounded and owned data is embedded — order items in an order.</a:t>
            </a:r>
          </a:p>
          <a:p/>
          <a:p>
            <a:r>
              <a:t>  If it grows without limit, reference it — reviews point to a product.</a:t>
            </a:r>
          </a:p>
          <a:p/>
          <a:p>
            <a:r>
              <a:t>- The other branch</a:t>
            </a:r>
          </a:p>
          <a:p/>
          <a:p>
            <a:r>
              <a:t>  If the data is not read together, ask whether many documents share it.</a:t>
            </a:r>
          </a:p>
          <a:p/>
          <a:p>
            <a:r>
              <a:t>  Shared data such as a customer is referenced by customerId.</a:t>
            </a:r>
          </a:p>
          <a:p/>
          <a:p>
            <a:r>
              <a:t>  Owned local detail such as product dimensions can still be embedded.</a:t>
            </a:r>
          </a:p>
          <a:p/>
          <a:p>
            <a:r>
              <a:t>- training_store already follows this</a:t>
            </a:r>
          </a:p>
          <a:p/>
          <a:p>
            <a:r>
              <a:t>  Orders embed items and a shippingAddress snapshot.</a:t>
            </a:r>
          </a:p>
          <a:p/>
          <a:p>
            <a:r>
              <a:t>  They reference the customer with customerId.</a:t>
            </a:r>
          </a:p>
          <a:p/>
          <a:p>
            <a:r>
              <a:t>  Reviews live in their own collection and carry productId and customerId.</a:t>
            </a:r>
          </a:p>
          <a:p/>
          <a:p>
            <a:r>
              <a:t>- The anti-pattern to name</a:t>
            </a:r>
          </a:p>
          <a:p/>
          <a:p>
            <a:r>
              <a:t>  Putting every review inside its product.</a:t>
            </a:r>
          </a:p>
          <a:p/>
          <a:p>
            <a:r>
              <a:t>  A popular product's document would grow without limit and approach the 16 MB document limit, and every product read would drag the reviews along.</a:t>
            </a:r>
          </a:p>
          <a:p/>
          <a:p>
            <a:r>
              <a:t>- What it shows</a:t>
            </a:r>
          </a:p>
          <a:p/>
          <a:p>
            <a:r>
              <a:t>  A decision tree: read and updated together?</a:t>
            </a:r>
          </a:p>
          <a:p/>
          <a:p>
            <a:r>
              <a:t>  Then bounded size?</a:t>
            </a:r>
          </a:p>
          <a:p/>
          <a:p>
            <a:r>
              <a:t>  Otherwise shared by many?</a:t>
            </a:r>
          </a:p>
          <a:p/>
          <a:p>
            <a:r>
              <a:t>  Each leaf is EMBED or REFERENCE with a training_store example.</a:t>
            </a:r>
          </a:p>
          <a:p/>
          <a:p>
            <a:r>
              <a:t>- How to read it</a:t>
            </a:r>
          </a:p>
          <a:p/>
          <a:p>
            <a:r>
              <a:t>  Left branch: order items embed; reviews are referenced because they grow without limit.</a:t>
            </a:r>
          </a:p>
          <a:p/>
          <a:p>
            <a:r>
              <a:t>  Right branch: customers are referenced because they are shared; product dimensions embed because they are owned.</a:t>
            </a:r>
          </a:p>
          <a:p/>
          <a:p>
            <a:r>
              <a:t>- Key point</a:t>
            </a:r>
          </a:p>
          <a:p/>
          <a:p>
            <a:r>
              <a:t>  Embed bounded, owned data.</a:t>
            </a:r>
          </a:p>
          <a:p/>
          <a:p>
            <a:r>
              <a:t>  Reference shared, independent or unbounded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Mixed input</a:t>
            </a:r>
          </a:p>
          <a:p/>
          <a:p>
            <a:r>
              <a:t>  The left panel shows the same idea written three ways: product_id or productId, Price or price, and the price as a string, a number or with an ObjectId key.</a:t>
            </a:r>
          </a:p>
          <a:p/>
          <a:p>
            <a:r>
              <a:t>  Queries on one spelling silently miss the others.</a:t>
            </a:r>
          </a:p>
          <a:p/>
          <a:p>
            <a:r>
              <a:t>- Normalize, then validate</a:t>
            </a:r>
          </a:p>
          <a:p/>
          <a:p>
            <a:r>
              <a:t>  Pick one name per concept in camelCase and one BSON type per field: ObjectId for references, Decimal128 for money, Date for timestamps.</a:t>
            </a:r>
          </a:p>
          <a:p/>
          <a:p>
            <a:r>
              <a:t>- training_store has real drift</a:t>
            </a:r>
          </a:p>
          <a:p/>
          <a:p>
            <a:r>
              <a:t>  Product XBAD, the Legacy Cable Pack, stores price as the string '49.99'.</a:t>
            </a:r>
          </a:p>
          <a:p/>
          <a:p>
            <a:r>
              <a:t>  The other 12 products use Decimal128.</a:t>
            </a:r>
          </a:p>
          <a:p/>
          <a:p>
            <a:r>
              <a:t>  A range query on price never matches XBAD, and a sort puts it in the wrong place.</a:t>
            </a:r>
          </a:p>
          <a:p/>
          <a:p>
            <a:r>
              <a:t>- Stray fields too</a:t>
            </a:r>
          </a:p>
          <a:p/>
          <a:p>
            <a:r>
              <a:t>  L190 carries legacyName and A410 carries temporaryNote.</a:t>
            </a:r>
          </a:p>
          <a:p/>
          <a:p>
            <a:r>
              <a:t>  Neither is part of the product model — they are leftovers to clean up.</a:t>
            </a:r>
          </a:p>
          <a:p/>
          <a:p>
            <a:r>
              <a:t>- What it shows</a:t>
            </a:r>
          </a:p>
          <a:p/>
          <a:p>
            <a:r>
              <a:t>  Three product documents with different names and types are standardized, normalized and validated, then written as one canonical shape: _id ObjectId, productId ObjectId, name String, price Decimal128, createdAt Date.</a:t>
            </a:r>
          </a:p>
          <a:p/>
          <a:p>
            <a:r>
              <a:t>- How to read it</a:t>
            </a:r>
          </a:p>
          <a:p/>
          <a:p>
            <a:r>
              <a:t>  Left: the drift.</a:t>
            </a:r>
          </a:p>
          <a:p/>
          <a:p>
            <a:r>
              <a:t>  Middle: the four fixes.</a:t>
            </a:r>
          </a:p>
          <a:p/>
          <a:p>
            <a:r>
              <a:t>  Right: camelCase names and stable BSON types.</a:t>
            </a:r>
          </a:p>
          <a:p/>
          <a:p>
            <a:r>
              <a:t>- Key point</a:t>
            </a:r>
          </a:p>
          <a:p/>
          <a:p>
            <a:r>
              <a:t>  One name and one type per concept, enforced by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Wrong type</a:t>
            </a:r>
          </a:p>
          <a:p/>
          <a:p>
            <a:r>
              <a:t>  Twelve products store price as Decimal128.</a:t>
            </a:r>
          </a:p>
          <a:p/>
          <a:p>
            <a:r>
              <a:t>  XBAD, the Legacy Cable Pack, stores the string '49.99'.</a:t>
            </a:r>
          </a:p>
          <a:p/>
          <a:p>
            <a:r>
              <a:t>  A query such as price less than 50 never matches it, and a price sort puts it after every number, because BSON sorts numbers before strings.</a:t>
            </a:r>
          </a:p>
          <a:p/>
          <a:p>
            <a:r>
              <a:t>- Stray fields</a:t>
            </a:r>
          </a:p>
          <a:p/>
          <a:p>
            <a:r>
              <a:t>  L190, the Refurbished Laptop, has a legacyName.</a:t>
            </a:r>
          </a:p>
          <a:p/>
          <a:p>
            <a:r>
              <a:t>  A410, the Wireless Mouse, has a temporaryNote that says remove after review.</a:t>
            </a:r>
          </a:p>
          <a:p/>
          <a:p>
            <a:r>
              <a:t>  Neither field belongs to the product model.</a:t>
            </a:r>
          </a:p>
          <a:p/>
          <a:p>
            <a:r>
              <a:t>- The fix</a:t>
            </a:r>
          </a:p>
          <a:p/>
          <a:p>
            <a:r>
              <a:t>  Lab 7 counts XBAD's string price as not-ready evidence.</a:t>
            </a:r>
          </a:p>
          <a:p/>
          <a:p>
            <a:r>
              <a:t>  Convert the value with $toDecimal in a small, verified update, add a validator so it can't happen again, and remove the stray fields once nothing reads them.</a:t>
            </a:r>
          </a:p>
          <a:p/>
          <a:p>
            <a:r>
              <a:t>- Don't change the shared class data</a:t>
            </a:r>
          </a:p>
          <a:p/>
          <a:p>
            <a:r>
              <a:t>  Other modules' labs rely on these defects, so demonstrate the fix on training_store_ops or reload with load.js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Copy at purchase</a:t>
            </a:r>
          </a:p>
          <a:p/>
          <a:p>
            <a:r>
              <a:t>  When the order is placed, the product's name and price are copied into the order.</a:t>
            </a:r>
          </a:p>
          <a:p/>
          <a:p>
            <a:r>
              <a:t>  Later the product's price changes from 89 to 99, but the order still says 89.</a:t>
            </a:r>
          </a:p>
          <a:p/>
          <a:p>
            <a:r>
              <a:t>- Intentional duplication</a:t>
            </a:r>
          </a:p>
          <a:p/>
          <a:p>
            <a:r>
              <a:t>  This is not inconsistency.</a:t>
            </a:r>
          </a:p>
          <a:p/>
          <a:p>
            <a:r>
              <a:t>  It is the historical truth of what the customer paid.</a:t>
            </a:r>
          </a:p>
          <a:p/>
          <a:p>
            <a:r>
              <a:t>- In training_store</a:t>
            </a:r>
          </a:p>
          <a:p/>
          <a:p>
            <a:r>
              <a:t>  The loader's snap() function copies productId, sku, name, quantity and unitPrice into each order item.</a:t>
            </a:r>
          </a:p>
          <a:p/>
          <a:p>
            <a:r>
              <a:t>  For example, O6102 keeps the Running Shoe at 129.99 and the Wireless Keyboard at 49.99, even though the keyboard now has a discountPrice of 39.99.</a:t>
            </a:r>
          </a:p>
          <a:p/>
          <a:p>
            <a:r>
              <a:t>  The diagram's Course Bundle P101 is a generic example.</a:t>
            </a:r>
          </a:p>
          <a:p/>
          <a:p>
            <a:r>
              <a:t>- What it shows</a:t>
            </a:r>
          </a:p>
          <a:p/>
          <a:p>
            <a:r>
              <a:t>  Product P101, Course Bundle, costs 89 at purchase.</a:t>
            </a:r>
          </a:p>
          <a:p/>
          <a:p>
            <a:r>
              <a:t>  The order copies the name and price into a productSnapshot.</a:t>
            </a:r>
          </a:p>
          <a:p/>
          <a:p>
            <a:r>
              <a:t>  Later the product price becomes 99, but the order still keeps 89.</a:t>
            </a:r>
          </a:p>
          <a:p/>
          <a:p>
            <a:r>
              <a:t>- How to read it</a:t>
            </a:r>
          </a:p>
          <a:p/>
          <a:p>
            <a:r>
              <a:t>  Copy at purchase, later update, historical truth.</a:t>
            </a:r>
          </a:p>
          <a:p/>
          <a:p>
            <a:r>
              <a:t>- Key point</a:t>
            </a:r>
          </a:p>
          <a:p/>
          <a:p>
            <a:r>
              <a:t>  Snapshot duplication is deliberate: it records what happened.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validation does</a:t>
            </a:r>
          </a:p>
          <a:p/>
          <a:p>
            <a:r>
              <a:t>  mongod checks every insert and update against the collection's $jsonSchema.</a:t>
            </a:r>
          </a:p>
          <a:p/>
          <a:p>
            <a:r>
              <a:t>  A valid document is stored; an invalid one is rejected with a validation error, code 121.</a:t>
            </a:r>
          </a:p>
          <a:p/>
          <a:p>
            <a:r>
              <a:t>- Read the diagram's rule</a:t>
            </a:r>
          </a:p>
          <a:p/>
          <a:p>
            <a:r>
              <a:t>  It requires name as a string, price as a number of zero or more, and a boolean flag.</a:t>
            </a:r>
          </a:p>
          <a:p/>
          <a:p>
            <a:r>
              <a:t>  In $jsonSchema, bsonType number accepts int, long, double and Decimal128, so our Decimal128 prices pass it.</a:t>
            </a:r>
          </a:p>
          <a:p/>
          <a:p>
            <a:r>
              <a:t>  training_store calls its flag active; inStock is the diagram's generic name.</a:t>
            </a:r>
          </a:p>
          <a:p/>
          <a:p>
            <a:r>
              <a:t>- Cover what matters</a:t>
            </a:r>
          </a:p>
          <a:p/>
          <a:p>
            <a:r>
              <a:t>  A validator does not have to list every field.</a:t>
            </a:r>
          </a:p>
          <a:p/>
          <a:p>
            <a:r>
              <a:t>  Required fields, types, enums and ranges are enough.</a:t>
            </a:r>
          </a:p>
          <a:p/>
          <a:p>
            <a:r>
              <a:t>  It complements application validation; it doesn't replace it.</a:t>
            </a:r>
          </a:p>
          <a:p/>
          <a:p>
            <a:r>
              <a:t>- What it shows</a:t>
            </a:r>
          </a:p>
          <a:p/>
          <a:p>
            <a:r>
              <a:t>  Inserts and updates from mongosh and Compass reach mongod, where a $jsonSchema rule on products checks the document.</a:t>
            </a:r>
          </a:p>
          <a:p/>
          <a:p>
            <a:r>
              <a:t>  Valid documents are stored; invalid ones are rejected with a validation error.</a:t>
            </a:r>
          </a:p>
          <a:p/>
          <a:p>
            <a:r>
              <a:t>- How to read it</a:t>
            </a:r>
          </a:p>
          <a:p/>
          <a:p>
            <a:r>
              <a:t>  Green path valid, red path invalid.</a:t>
            </a:r>
          </a:p>
          <a:p/>
          <a:p>
            <a:r>
              <a:t>- Key point</a:t>
            </a:r>
          </a:p>
          <a:p/>
          <a:p>
            <a:r>
              <a:t>  A flexible schema can still refuse bad data at the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a scratch database</a:t>
            </a:r>
          </a:p>
          <a:p/>
          <a:p>
            <a:r>
              <a:t>  Lab 7, Step 3 builds the validator on training_store_ops.orders_validated.</a:t>
            </a:r>
          </a:p>
          <a:p/>
          <a:p>
            <a:r>
              <a:t>  The class orders collection stays loadable for everyone else.</a:t>
            </a:r>
          </a:p>
          <a:p/>
          <a:p>
            <a:r>
              <a:t>- The rule</a:t>
            </a:r>
          </a:p>
          <a:p/>
          <a:p>
            <a:r>
              <a:t>  Three fields are required.</a:t>
            </a:r>
          </a:p>
          <a:p/>
          <a:p>
            <a:r>
              <a:t>  orderNumber must be a string, total must be a Decimal128, and paymentStatus must be PAID, PENDING or FAILED — the three values training_store really uses.</a:t>
            </a:r>
          </a:p>
          <a:p/>
          <a:p>
            <a:r>
              <a:t>- The two inserts</a:t>
            </a:r>
          </a:p>
          <a:p/>
          <a:p>
            <a:r>
              <a:t>  OPS-1 is accepted.</a:t>
            </a:r>
          </a:p>
          <a:p/>
          <a:p>
            <a:r>
              <a:t>  OPS-BAD is rejected because total is the string '10.00'.</a:t>
            </a:r>
          </a:p>
          <a:p/>
          <a:p>
            <a:r>
              <a:t>  The error is code 121, and mongosh shows which rule failed in the details.</a:t>
            </a:r>
          </a:p>
          <a:p/>
          <a:p>
            <a:r>
              <a:t>- Decimal128 or NumberDecimal</a:t>
            </a:r>
          </a:p>
          <a:p/>
          <a:p>
            <a:r>
              <a:t>  The lab guide writes NumberDecimal.</a:t>
            </a:r>
          </a:p>
          <a:p/>
          <a:p>
            <a:r>
              <a:t>  In mongosh it is the same constructor as Decimal128, which this deck uses everywhere.</a:t>
            </a:r>
          </a:p>
          <a:p/>
          <a:p>
            <a:r>
              <a:t>- Going further</a:t>
            </a:r>
          </a:p>
          <a:p/>
          <a:p>
            <a:r>
              <a:t>  A fuller validator adds customerId as objectId, items as an array with at least one element, fulfillmentStatus as an enum and createdAt as a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Versions side by side</a:t>
            </a:r>
          </a:p>
          <a:p/>
          <a:p>
            <a:r>
              <a:t>  Version 1 has name and price.</a:t>
            </a:r>
          </a:p>
          <a:p/>
          <a:p>
            <a:r>
              <a:t>  Version 2 adds an optional category, so old and new documents are both valid.</a:t>
            </a:r>
          </a:p>
          <a:p/>
          <a:p>
            <a:r>
              <a:t>  Version 3 backfills category everywhere and then tightens the validator.</a:t>
            </a:r>
          </a:p>
          <a:p/>
          <a:p>
            <a:r>
              <a:t>- Old app keeps working</a:t>
            </a:r>
          </a:p>
          <a:p/>
          <a:p>
            <a:r>
              <a:t>  The arrows from the old app show backward compatibility: it can still read v1 and v2 documents while the migration runs.</a:t>
            </a:r>
          </a:p>
          <a:p/>
          <a:p>
            <a:r>
              <a:t>- The safe order</a:t>
            </a:r>
          </a:p>
          <a:p/>
          <a:p>
            <a:r>
              <a:t>  Teach the application both shapes, write the new shape, migrate in controlled batches, measure, tighten validation, and only then remove the old code path.</a:t>
            </a:r>
          </a:p>
          <a:p/>
          <a:p>
            <a:r>
              <a:t>  Never run one huge untested updateMany on production.</a:t>
            </a:r>
          </a:p>
          <a:p/>
          <a:p>
            <a:r>
              <a:t>- What it shows</a:t>
            </a:r>
          </a:p>
          <a:p/>
          <a:p>
            <a:r>
              <a:t>  Three document versions with schemaVersion 1, 2 and 3.</a:t>
            </a:r>
          </a:p>
          <a:p/>
          <a:p>
            <a:r>
              <a:t>  Version 2 adds an optional category; version 3 backfills it and updates the validator.</a:t>
            </a:r>
          </a:p>
          <a:p/>
          <a:p>
            <a:r>
              <a:t>- How to read it</a:t>
            </a:r>
          </a:p>
          <a:p/>
          <a:p>
            <a:r>
              <a:t>  The old app still reads v1 and v2: that is backward compatibility during the migration.</a:t>
            </a:r>
          </a:p>
          <a:p/>
          <a:p>
            <a:r>
              <a:t>- Key point</a:t>
            </a:r>
          </a:p>
          <a:p/>
          <a:p>
            <a:r>
              <a:t>  Evolve in compatible steps; tighten validation last.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it</a:t>
            </a:r>
          </a:p>
          <a:p/>
          <a:p>
            <a:r>
              <a:t>  Pairs, five minutes to predict, then run the four inserts on the scratch collection from the previous slide.</a:t>
            </a:r>
          </a:p>
          <a:p/>
          <a:p>
            <a:r>
              <a:t>- A and B</a:t>
            </a:r>
          </a:p>
          <a:p/>
          <a:p>
            <a:r>
              <a:t>  A satisfies all three rules.</a:t>
            </a:r>
          </a:p>
          <a:p/>
          <a:p>
            <a:r>
              <a:t>  B fails the enum: PAID_NOW is not one of the allowed values.</a:t>
            </a:r>
          </a:p>
          <a:p/>
          <a:p>
            <a:r>
              <a:t>- C and D</a:t>
            </a:r>
          </a:p>
          <a:p/>
          <a:p>
            <a:r>
              <a:t>  C has no orderNumber, so it fails required.</a:t>
            </a:r>
          </a:p>
          <a:p/>
          <a:p>
            <a:r>
              <a:t>  D fails the type rule: the literal 9.99 is a double, not a Decimal128, even though it looks like money.</a:t>
            </a:r>
          </a:p>
          <a:p/>
          <a:p>
            <a:r>
              <a:t>- Extra fields</a:t>
            </a:r>
          </a:p>
          <a:p/>
          <a:p>
            <a:r>
              <a:t>  The validator lists properties but doesn't set additionalProperties to false, so a document with an extra note field is accepted.</a:t>
            </a:r>
          </a:p>
          <a:p/>
          <a:p>
            <a:r>
              <a:t>  That is usually what you want while a schema evolves.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Evidence first</a:t>
            </a:r>
          </a:p>
          <a:p/>
          <a:p>
            <a:r>
              <a:t>  Performance work follows evidence.</a:t>
            </a:r>
          </a:p>
          <a:p/>
          <a:p>
            <a:r>
              <a:t>  Don't start by creating many speculative indexes.</a:t>
            </a:r>
          </a:p>
          <a:p/>
          <a:p>
            <a:r>
              <a:t>- Small data, real lessons</a:t>
            </a:r>
          </a:p>
          <a:p/>
          <a:p>
            <a:r>
              <a:t>  On 17 orders every query is fast.</a:t>
            </a:r>
          </a:p>
          <a:p/>
          <a:p>
            <a:r>
              <a:t>  We watch the plan shape and the examined counts, which are what change at production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anti-pattern</a:t>
            </a:r>
          </a:p>
          <a:p/>
          <a:p>
            <a:r>
              <a:t>  find with an empty filter returns every product with every field.</a:t>
            </a:r>
          </a:p>
          <a:p/>
          <a:p>
            <a:r>
              <a:t>  On 13 documents it is harmless.</a:t>
            </a:r>
          </a:p>
          <a:p/>
          <a:p>
            <a:r>
              <a:t>  On a real catalog it moves megabytes over the network for one page.</a:t>
            </a:r>
          </a:p>
          <a:p/>
          <a:p>
            <a:r>
              <a:t>- The better query</a:t>
            </a:r>
          </a:p>
          <a:p/>
          <a:p>
            <a:r>
              <a:t>  This is Lab 7, Step 1.</a:t>
            </a:r>
          </a:p>
          <a:p/>
          <a:p>
            <a:r>
              <a:t>  Only active laptops match: the Business Laptop at 1299.99 and the Ultrabook at 1899.99.</a:t>
            </a:r>
          </a:p>
          <a:p/>
          <a:p>
            <a:r>
              <a:t>  The Refurbished Laptop, L190, is inactive.</a:t>
            </a:r>
          </a:p>
          <a:p/>
          <a:p>
            <a:r>
              <a:t>  Prices print as Decimal128 values.</a:t>
            </a:r>
          </a:p>
          <a:p/>
          <a:p>
            <a:r>
              <a:t>- Candidate index</a:t>
            </a:r>
          </a:p>
          <a:p/>
          <a:p>
            <a:r>
              <a:t>  Equality on category and active, then the price sort: category 1, active 1, price 1.</a:t>
            </a:r>
          </a:p>
          <a:p/>
          <a:p>
            <a:r>
              <a:t>  Lab 7 asks learners to propose it without dropping existing indexes.</a:t>
            </a:r>
          </a:p>
          <a:p/>
          <a:p>
            <a:r>
              <a:t>- Pagination</a:t>
            </a:r>
          </a:p>
          <a:p/>
          <a:p>
            <a:r>
              <a:t>  For deep pages, prefer range pagination — the next page starts after the last price and _id seen — over large skip values, which still read every skipped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Shrink the stream first</a:t>
            </a:r>
          </a:p>
          <a:p/>
          <a:p>
            <a:r>
              <a:t>  The pipeline starts with many orders and many fields.</a:t>
            </a:r>
          </a:p>
          <a:p/>
          <a:p>
            <a:r>
              <a:t>  $match keeps only the paid orders, $project keeps only the two fields the report needs, and $group then works on far less data.</a:t>
            </a:r>
          </a:p>
          <a:p/>
          <a:p>
            <a:r>
              <a:t>- The numbers are illustrative</a:t>
            </a:r>
          </a:p>
          <a:p/>
          <a:p>
            <a:r>
              <a:t>  The diagram shows 10,000 orders reduced to 1,200.</a:t>
            </a:r>
          </a:p>
          <a:p/>
          <a:p>
            <a:r>
              <a:t>  Our class dataset has 17 orders, 13 of them paid, so timings will barely move.</a:t>
            </a:r>
          </a:p>
          <a:p/>
          <a:p>
            <a:r>
              <a:t>  What matters is the shape of the plan.</a:t>
            </a:r>
          </a:p>
          <a:p/>
          <a:p>
            <a:r>
              <a:t>- Field name</a:t>
            </a:r>
          </a:p>
          <a:p/>
          <a:p>
            <a:r>
              <a:t>  The diagram's status is a generic name.</a:t>
            </a:r>
          </a:p>
          <a:p/>
          <a:p>
            <a:r>
              <a:t>  In training_store the payment state is paymentStatus and the order date is createdAt.</a:t>
            </a:r>
          </a:p>
          <a:p/>
          <a:p>
            <a:r>
              <a:t>- Indexes help only at the start</a:t>
            </a:r>
          </a:p>
          <a:p/>
          <a:p>
            <a:r>
              <a:t>  A $match at the start of the pipeline can use an index.</a:t>
            </a:r>
          </a:p>
          <a:p/>
          <a:p>
            <a:r>
              <a:t>  After $unwind or $group, the documents are new and no index applies.</a:t>
            </a:r>
          </a:p>
          <a:p/>
          <a:p>
            <a:r>
              <a:t>- What it shows</a:t>
            </a:r>
          </a:p>
          <a:p/>
          <a:p>
            <a:r>
              <a:t>  10,000 orders enter; $match keeps 1,200 paid orders; $project keeps two fields; $group totals by customer.</a:t>
            </a:r>
          </a:p>
          <a:p/>
          <a:p>
            <a:r>
              <a:t>- How to read it</a:t>
            </a:r>
          </a:p>
          <a:p/>
          <a:p>
            <a:r>
              <a:t>  Each box shows how much data flows to the next stage.</a:t>
            </a:r>
          </a:p>
          <a:p/>
          <a:p>
            <a:r>
              <a:t>- Key point</a:t>
            </a:r>
          </a:p>
          <a:p/>
          <a:p>
            <a:r>
              <a:t>  Less input to $unwind and $group means less work everywhere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pipeline</a:t>
            </a:r>
          </a:p>
          <a:p/>
          <a:p>
            <a:r>
              <a:t>  $match keeps the 13 paid orders.</a:t>
            </a:r>
          </a:p>
          <a:p/>
          <a:p>
            <a:r>
              <a:t>  $group turns createdAt into a year-month string and counts and sums per month.</a:t>
            </a:r>
          </a:p>
          <a:p/>
          <a:p>
            <a:r>
              <a:t>  $sort puts the months in order.</a:t>
            </a:r>
          </a:p>
          <a:p/>
          <a:p>
            <a:r>
              <a:t>- The result</a:t>
            </a:r>
          </a:p>
          <a:p/>
          <a:p>
            <a:r>
              <a:t>  July has 3 orders for 1835.95, August 4 for 2731.92 and September 6 for 4550.57.</a:t>
            </a:r>
          </a:p>
          <a:p/>
          <a:p>
            <a:r>
              <a:t>  Together that is 13 orders and 9118.44.</a:t>
            </a:r>
          </a:p>
          <a:p/>
          <a:p>
            <a:r>
              <a:t>- Why not the guide's version</a:t>
            </a:r>
          </a:p>
          <a:p/>
          <a:p>
            <a:r>
              <a:t>  The content guide filters on status and orderedAt and sums items.lineTotal.</a:t>
            </a:r>
          </a:p>
          <a:p/>
          <a:p>
            <a:r>
              <a:t>  training_store has none of those fields; it has paymentStatus, createdAt and items with quantity and unitPrice.</a:t>
            </a:r>
          </a:p>
          <a:p/>
          <a:p>
            <a:r>
              <a:t>  Line revenue would be quantity times unitPrice with $multiply.</a:t>
            </a:r>
          </a:p>
          <a:p/>
          <a:p>
            <a:r>
              <a:t>- Time zones</a:t>
            </a:r>
          </a:p>
          <a:p/>
          <a:p>
            <a:r>
              <a:t>  Month boundaries are in UTC.</a:t>
            </a:r>
          </a:p>
          <a:p/>
          <a:p>
            <a:r>
              <a:t>  If the business reports in Toronto time, pass a timezone to $dateToString, or orders near midnight move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Check the answer, not only the speed</a:t>
            </a:r>
          </a:p>
          <a:p/>
          <a:p>
            <a:r>
              <a:t>  The pipeline says revenue is 300.</a:t>
            </a:r>
          </a:p>
          <a:p/>
          <a:p>
            <a:r>
              <a:t>  A control total, calculated separately, also says 300.</a:t>
            </a:r>
          </a:p>
          <a:p/>
          <a:p>
            <a:r>
              <a:t>  Only when both agree is the report validated.</a:t>
            </a:r>
          </a:p>
          <a:p/>
          <a:p>
            <a:r>
              <a:t>- The $unwind trap in our data</a:t>
            </a:r>
          </a:p>
          <a:p/>
          <a:p>
            <a:r>
              <a:t>  Unwinding items and then summing the order total counts each order once per item.</a:t>
            </a:r>
          </a:p>
          <a:p/>
          <a:p>
            <a:r>
              <a:t>  For paid orders the true revenue is 9118.44, but the unwound version reports 12119.25, because 13 orders become 21 item rows.</a:t>
            </a:r>
          </a:p>
          <a:p/>
          <a:p>
            <a:r>
              <a:t>- A simple control</a:t>
            </a:r>
          </a:p>
          <a:p/>
          <a:p>
            <a:r>
              <a:t>  countDocuments with paymentStatus PAID returns 13.</a:t>
            </a:r>
          </a:p>
          <a:p/>
          <a:p>
            <a:r>
              <a:t>  If the pipeline's orderCount doesn't also add up to 13, something is double counted or filtered wrongly.</a:t>
            </a:r>
          </a:p>
          <a:p/>
          <a:p>
            <a:r>
              <a:t>- What it shows</a:t>
            </a:r>
          </a:p>
          <a:p/>
          <a:p>
            <a:r>
              <a:t>  Three sample orders totalling 120, 80 and 100.</a:t>
            </a:r>
          </a:p>
          <a:p/>
          <a:p>
            <a:r>
              <a:t>  The $group result says 300; a separate control total also says 300; the report is validated.</a:t>
            </a:r>
          </a:p>
          <a:p/>
          <a:p>
            <a:r>
              <a:t>- How to read it</a:t>
            </a:r>
          </a:p>
          <a:p/>
          <a:p>
            <a:r>
              <a:t>  Aggregate, recalculate, compare, then validate.</a:t>
            </a:r>
          </a:p>
          <a:p/>
          <a:p>
            <a:r>
              <a:t>- Key point</a:t>
            </a:r>
          </a:p>
          <a:p/>
          <a:p>
            <a:r>
              <a:t>  A fast report that is wrong is still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From query to index</a:t>
            </a:r>
          </a:p>
          <a:p/>
          <a:p>
            <a:r>
              <a:t>  The frequent query filters on a customer and a payment state and sorts by date.</a:t>
            </a:r>
          </a:p>
          <a:p/>
          <a:p>
            <a:r>
              <a:t>  The compound index lists the two equality fields first and the sort field last: equality, equality, sort.</a:t>
            </a:r>
          </a:p>
          <a:p/>
          <a:p>
            <a:r>
              <a:t>- The payoff</a:t>
            </a:r>
          </a:p>
          <a:p/>
          <a:p>
            <a:r>
              <a:t>  IXSCAN walks a narrow index range, examines about as many keys as it returns, and avoids a collection scan and an in-memory sort.</a:t>
            </a:r>
          </a:p>
          <a:p/>
          <a:p>
            <a:r>
              <a:t>- Map it to training_store</a:t>
            </a:r>
          </a:p>
          <a:p/>
          <a:p>
            <a:r>
              <a:t>  The diagram uses generic names: status, orderDate and a string customer code.</a:t>
            </a:r>
          </a:p>
          <a:p/>
          <a:p>
            <a:r>
              <a:t>  Our fields are customerId, an ObjectId, paymentStatus and createdAt, so the index is customerId 1, paymentStatus 1, createdAt -1 — the one Exercise 8.1 recommends.</a:t>
            </a:r>
          </a:p>
          <a:p/>
          <a:p>
            <a:r>
              <a:t>- Every index has a cost</a:t>
            </a:r>
          </a:p>
          <a:p/>
          <a:p>
            <a:r>
              <a:t>  Each index uses disk and cache and slows every insert, update and delete.</a:t>
            </a:r>
          </a:p>
          <a:p/>
          <a:p>
            <a:r>
              <a:t>  Name the query an index serves before creating it, and hide an index to test before dropping it.</a:t>
            </a:r>
          </a:p>
          <a:p/>
          <a:p>
            <a:r>
              <a:t>- What it shows</a:t>
            </a:r>
          </a:p>
          <a:p/>
          <a:p>
            <a:r>
              <a:t>  The frequent query filters by customerId and status and sorts by orderDate.</a:t>
            </a:r>
          </a:p>
          <a:p/>
          <a:p>
            <a:r>
              <a:t>  The compound index customerId + status + orderDate follows Equality, Equality, Sort.</a:t>
            </a:r>
          </a:p>
          <a:p/>
          <a:p>
            <a:r>
              <a:t>  IXSCAN examines 20 keys and returns 20 documents; no COLLSCAN.</a:t>
            </a:r>
          </a:p>
          <a:p/>
          <a:p>
            <a:r>
              <a:t>- How to read it</a:t>
            </a:r>
          </a:p>
          <a:p/>
          <a:p>
            <a:r>
              <a:t>  The coloured arrows map each query field to its index position.</a:t>
            </a:r>
          </a:p>
          <a:p/>
          <a:p>
            <a:r>
              <a:t>- Key point</a:t>
            </a:r>
          </a:p>
          <a:p/>
          <a:p>
            <a:r>
              <a:t>  Design indexes around the query shapes the application really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Four numbers to read</a:t>
            </a:r>
          </a:p>
          <a:p/>
          <a:p>
            <a:r>
              <a:t>  nReturned, totalKeysExamined, totalDocsExamined and executionTimeMillis.</a:t>
            </a:r>
          </a:p>
          <a:p/>
          <a:p>
            <a:r>
              <a:t>  In the diagram all three counts are 24: the plan examined exactly what it returned.</a:t>
            </a:r>
          </a:p>
          <a:p/>
          <a:p>
            <a:r>
              <a:t>- Plan stages</a:t>
            </a:r>
          </a:p>
          <a:p/>
          <a:p>
            <a:r>
              <a:t>  IXSCAN reads the index, FETCH loads the documents.</a:t>
            </a:r>
          </a:p>
          <a:p/>
          <a:p>
            <a:r>
              <a:t>  COLLSCAN means every document was read.</a:t>
            </a:r>
          </a:p>
          <a:p/>
          <a:p>
            <a:r>
              <a:t>  A SORT stage means an in-memory sort that an index could have avoided.</a:t>
            </a:r>
          </a:p>
          <a:p/>
          <a:p>
            <a:r>
              <a:t>- Our dataset</a:t>
            </a:r>
          </a:p>
          <a:p/>
          <a:p>
            <a:r>
              <a:t>  Before an index, C101's paid-order history is a COLLSCAN that examines all 17 orders to return 4.</a:t>
            </a:r>
          </a:p>
          <a:p/>
          <a:p>
            <a:r>
              <a:t>  With the ESR index it examines 4 keys and 4 documents, with no SORT stage.</a:t>
            </a:r>
          </a:p>
          <a:p/>
          <a:p>
            <a:r>
              <a:t>- A scan is not always wrong</a:t>
            </a:r>
          </a:p>
          <a:p/>
          <a:p>
            <a:r>
              <a:t>  On a tiny collection, or when most documents are returned anyway, a collection scan can be the right plan.</a:t>
            </a:r>
          </a:p>
          <a:p/>
          <a:p>
            <a:r>
              <a:t>- What it shows</a:t>
            </a:r>
          </a:p>
          <a:p/>
          <a:p>
            <a:r>
              <a:t>  orders.find by customerId with explain('executionStats').</a:t>
            </a:r>
          </a:p>
          <a:p/>
          <a:p>
            <a:r>
              <a:t>  The winning plan is IXSCAN on customerId_1, then FETCH, returning 24 documents.</a:t>
            </a:r>
          </a:p>
          <a:p/>
          <a:p>
            <a:r>
              <a:t>  nReturned, keysExamined and docsExamined are all 24; executionTimeMillis is 3.</a:t>
            </a:r>
          </a:p>
          <a:p/>
          <a:p>
            <a:r>
              <a:t>- How to read it</a:t>
            </a:r>
          </a:p>
          <a:p/>
          <a:p>
            <a:r>
              <a:t>  Examined roughly equal to returned is an efficient plan.</a:t>
            </a:r>
          </a:p>
          <a:p/>
          <a:p>
            <a:r>
              <a:t>- Key point</a:t>
            </a:r>
          </a:p>
          <a:p/>
          <a:p>
            <a:r>
              <a:t>  explain() is the evidence behind every index decision.</a:t>
            </a:r>
          </a:p>
          <a:p/>
          <a:p>
            <a:r>
              <a:t>- Getting c101</a:t>
            </a:r>
          </a:p>
          <a:p/>
          <a:p>
            <a:r>
              <a:t>  const c101 = db.customers.findOne({ customerNumber: "C101" })._id.</a:t>
            </a:r>
          </a:p>
          <a:p/>
          <a:p>
            <a:r>
              <a:t>  customerId is an ObjectId in training_store, not the string C101.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it</a:t>
            </a:r>
          </a:p>
          <a:p/>
          <a:p>
            <a:r>
              <a:t>  Individually for eight minutes, then compare.</a:t>
            </a:r>
          </a:p>
          <a:p/>
          <a:p>
            <a:r>
              <a:t>  Run explain on the instructor screen for at least one shape.</a:t>
            </a:r>
          </a:p>
          <a:p/>
          <a:p>
            <a:r>
              <a:t>- Shapes 1 and 2</a:t>
            </a:r>
          </a:p>
          <a:p/>
          <a:p>
            <a:r>
              <a:t>  Catalog: two equality fields, then the sort — category 1, active 1, price 1.</a:t>
            </a:r>
          </a:p>
          <a:p/>
          <a:p>
            <a:r>
              <a:t>  History: equality on customerId, then the sort on createdAt descending.</a:t>
            </a:r>
          </a:p>
          <a:p/>
          <a:p>
            <a:r>
              <a:t>- Shape 3</a:t>
            </a:r>
          </a:p>
          <a:p/>
          <a:p>
            <a:r>
              <a:t>  Equality on paymentStatus, then the date range: paymentStatus 1, createdAt 1.</a:t>
            </a:r>
          </a:p>
          <a:p/>
          <a:p>
            <a:r>
              <a:t>  createdAt -1 works equally well, because an index range can be scanned in either direction.</a:t>
            </a:r>
          </a:p>
          <a:p/>
          <a:p>
            <a:r>
              <a:t>- Overlap</a:t>
            </a:r>
          </a:p>
          <a:p/>
          <a:p>
            <a:r>
              <a:t>  If the history index also includes paymentStatus, as in Exercise 8.1, the two order indexes overlap.</a:t>
            </a:r>
          </a:p>
          <a:p/>
          <a:p>
            <a:r>
              <a:t>  Keep both only if both shapes are hot; otherwise hide one and monitor.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now</a:t>
            </a:r>
          </a:p>
          <a:p/>
          <a:p>
            <a:r>
              <a:t>  A correct, fast database that anyone can reach is not production-ready.</a:t>
            </a:r>
          </a:p>
          <a:p/>
          <a:p>
            <a:r>
              <a:t>  This part locks it down.</a:t>
            </a:r>
          </a:p>
          <a:p/>
          <a:p>
            <a:r>
              <a:t>- Safety in class</a:t>
            </a:r>
          </a:p>
          <a:p/>
          <a:p>
            <a:r>
              <a:t>  Don't enable authentication on the shared class instance.</a:t>
            </a:r>
          </a:p>
          <a:p/>
          <a:p>
            <a:r>
              <a:t>  We design users and roles, and demonstrate only on a disposable environment.</a:t>
            </a:r>
          </a:p>
          <a:p/>
          <a:p>
            <a:r>
              <a:t>  Never show a real password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Layers, not a single switch</a:t>
            </a:r>
          </a:p>
          <a:p/>
          <a:p>
            <a:r>
              <a:t>  Traffic is encrypted with TLS.</a:t>
            </a:r>
          </a:p>
          <a:p/>
          <a:p>
            <a:r>
              <a:t>  Then every connection is authenticated, authorized through roles, and limited to least privilege.</a:t>
            </a:r>
          </a:p>
          <a:p/>
          <a:p>
            <a:r>
              <a:t>  Data files are encrypted at rest, and security events go to audit logs.</a:t>
            </a:r>
          </a:p>
          <a:p/>
          <a:p>
            <a:r>
              <a:t>- Why layers</a:t>
            </a:r>
          </a:p>
          <a:p/>
          <a:p>
            <a:r>
              <a:t>  If one control fails — a leaked password, a misconfigured firewall — the others still limit the damage.</a:t>
            </a:r>
          </a:p>
          <a:p/>
          <a:p>
            <a:r>
              <a:t>- Our class instance</a:t>
            </a:r>
          </a:p>
          <a:p/>
          <a:p>
            <a:r>
              <a:t>  The training instance runs without authentication on localhost.</a:t>
            </a:r>
          </a:p>
          <a:p/>
          <a:p>
            <a:r>
              <a:t>  That is acceptable only because it is a disposable learning environment on one machine.</a:t>
            </a:r>
          </a:p>
          <a:p/>
          <a:p>
            <a:r>
              <a:t>- What it shows</a:t>
            </a:r>
          </a:p>
          <a:p/>
          <a:p>
            <a:r>
              <a:t>  Clients connect over TLS, pass through authenticate, authorize with RBAC and least privilege, and reach training_store over an encrypted connection.</a:t>
            </a:r>
          </a:p>
          <a:p/>
          <a:p>
            <a:r>
              <a:t>  The data is encrypted at rest and activity goes to audit logs.</a:t>
            </a:r>
          </a:p>
          <a:p/>
          <a:p>
            <a:r>
              <a:t>- How to read it</a:t>
            </a:r>
          </a:p>
          <a:p/>
          <a:p>
            <a:r>
              <a:t>  Left to right is the path of every request.</a:t>
            </a:r>
          </a:p>
          <a:p/>
          <a:p>
            <a:r>
              <a:t>- Key point</a:t>
            </a:r>
          </a:p>
          <a:p/>
          <a:p>
            <a:r>
              <a:t>  Security is layered: no single control is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Who is connecting?</a:t>
            </a:r>
          </a:p>
          <a:p/>
          <a:p>
            <a:r>
              <a:t>  Authentication proves identity.</a:t>
            </a:r>
          </a:p>
          <a:p/>
          <a:p>
            <a:r>
              <a:t>  mongosh or Compass sends a username and password over TLS; mongod checks them against its user records.</a:t>
            </a:r>
          </a:p>
          <a:p/>
          <a:p>
            <a:r>
              <a:t>- Success and failure</a:t>
            </a:r>
          </a:p>
          <a:p/>
          <a:p>
            <a:r>
              <a:t>  Valid credentials give an authenticated session on training_store.</a:t>
            </a:r>
          </a:p>
          <a:p/>
          <a:p>
            <a:r>
              <a:t>  Invalid credentials are refused before any data is touched.</a:t>
            </a:r>
          </a:p>
          <a:p/>
          <a:p>
            <a:r>
              <a:t>- Turning it on</a:t>
            </a:r>
          </a:p>
          <a:p/>
          <a:p>
            <a:r>
              <a:t>  On a self-managed server, security.authorization: enabled in mongod.conf switches access control on.</a:t>
            </a:r>
          </a:p>
          <a:p/>
          <a:p>
            <a:r>
              <a:t>  Create the first administrative user before enforcing it, following the documented procedure.</a:t>
            </a:r>
          </a:p>
          <a:p/>
          <a:p>
            <a:r>
              <a:t>- Never trust location alone</a:t>
            </a:r>
          </a:p>
          <a:p/>
          <a:p>
            <a:r>
              <a:t>  Being on the same network is not proof of identity.</a:t>
            </a:r>
          </a:p>
          <a:p/>
          <a:p>
            <a:r>
              <a:t>- What it shows</a:t>
            </a:r>
          </a:p>
          <a:p/>
          <a:p>
            <a:r>
              <a:t>  Credentials go over TLS to authenticate the identity.</a:t>
            </a:r>
          </a:p>
          <a:p/>
          <a:p>
            <a:r>
              <a:t>  mongod verifies them against its user records.</a:t>
            </a:r>
          </a:p>
          <a:p/>
          <a:p>
            <a:r>
              <a:t>  Success opens an authenticated session; invalid credentials are locked out.</a:t>
            </a:r>
          </a:p>
          <a:p/>
          <a:p>
            <a:r>
              <a:t>- How to read it</a:t>
            </a:r>
          </a:p>
          <a:p/>
          <a:p>
            <a:r>
              <a:t>  Green path success, red path refusal.</a:t>
            </a:r>
          </a:p>
          <a:p/>
          <a:p>
            <a:r>
              <a:t>- Key point</a:t>
            </a:r>
          </a:p>
          <a:p/>
          <a:p>
            <a:r>
              <a:t>  No valid identity, no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Grant only what the job needs</a:t>
            </a:r>
          </a:p>
          <a:p/>
          <a:p>
            <a:r>
              <a:t>  The support analyst needs to read reviews.</a:t>
            </a:r>
          </a:p>
          <a:p/>
          <a:p>
            <a:r>
              <a:t>  The minimum role allows the find action on the reviews collection only.</a:t>
            </a:r>
          </a:p>
          <a:p/>
          <a:p>
            <a:r>
              <a:t>  Products, customers and orders stay locked, and there is no write at all.</a:t>
            </a:r>
          </a:p>
          <a:p/>
          <a:p>
            <a:r>
              <a:t>- Blast radius</a:t>
            </a:r>
          </a:p>
          <a:p/>
          <a:p>
            <a:r>
              <a:t>  If this analyst's credentials leak, the attacker can read reviews — nothing else.</a:t>
            </a:r>
          </a:p>
          <a:p/>
          <a:p>
            <a:r>
              <a:t>  That is the point of least privilege.</a:t>
            </a:r>
          </a:p>
          <a:p/>
          <a:p>
            <a:r>
              <a:t>- Separate identities</a:t>
            </a:r>
          </a:p>
          <a:p/>
          <a:p>
            <a:r>
              <a:t>  The application, reporting, support, monitoring, backup and the DBA each get their own user and role.</a:t>
            </a:r>
          </a:p>
          <a:p/>
          <a:p>
            <a:r>
              <a:t>  Exercise 8.2 builds exactly this matrix.</a:t>
            </a:r>
          </a:p>
          <a:p/>
          <a:p>
            <a:r>
              <a:t>- What it shows</a:t>
            </a:r>
          </a:p>
          <a:p/>
          <a:p>
            <a:r>
              <a:t>  A support analyst needs to read reviews.</a:t>
            </a:r>
          </a:p>
          <a:p/>
          <a:p>
            <a:r>
              <a:t>  The minimum role grants find on reviews only.</a:t>
            </a:r>
          </a:p>
          <a:p/>
          <a:p>
            <a:r>
              <a:t>  Products, customers and orders stay locked; there is no write and no access to other collections.</a:t>
            </a:r>
          </a:p>
          <a:p/>
          <a:p>
            <a:r>
              <a:t>- How to read it</a:t>
            </a:r>
          </a:p>
          <a:p/>
          <a:p>
            <a:r>
              <a:t>  One green unlocked row; everything else is locked.</a:t>
            </a:r>
          </a:p>
          <a:p/>
          <a:p>
            <a:r>
              <a:t>- Key point</a:t>
            </a:r>
          </a:p>
          <a:p/>
          <a:p>
            <a:r>
              <a:t>  Least privilege limits the damage any one identity can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Don't run this in class</a:t>
            </a:r>
          </a:p>
          <a:p/>
          <a:p>
            <a:r>
              <a:t>  Exercise 8.2 is design only: don't enable authentication on the shared class database.</a:t>
            </a:r>
          </a:p>
          <a:p/>
          <a:p>
            <a:r>
              <a:t>  Show these commands on a disposable instance if you demonstrate them.</a:t>
            </a:r>
          </a:p>
          <a:p/>
          <a:p>
            <a:r>
              <a:t>- The two users</a:t>
            </a:r>
          </a:p>
          <a:p/>
          <a:p>
            <a:r>
              <a:t>  trainingStoreApp can read and write training_store and nothing else.</a:t>
            </a:r>
          </a:p>
          <a:p/>
          <a:p>
            <a:r>
              <a:t>  reportUser can only read.</a:t>
            </a:r>
          </a:p>
          <a:p/>
          <a:p>
            <a:r>
              <a:t>  Neither can create users, drop databases or touch other databases.</a:t>
            </a:r>
          </a:p>
          <a:p/>
          <a:p>
            <a:r>
              <a:t>- The custom role</a:t>
            </a:r>
          </a:p>
          <a:p/>
          <a:p>
            <a:r>
              <a:t>  reviewReader allows only find on the reviews collection.</a:t>
            </a:r>
          </a:p>
          <a:p/>
          <a:p>
            <a:r>
              <a:t>  It is the support analyst from the least-privilege diagram.</a:t>
            </a:r>
          </a:p>
          <a:p/>
          <a:p>
            <a:r>
              <a:t>  Grant it with db.grantRolesToUser.</a:t>
            </a:r>
          </a:p>
          <a:p/>
          <a:p>
            <a:r>
              <a:t>- Passwords</a:t>
            </a:r>
          </a:p>
          <a:p/>
          <a:p>
            <a:r>
              <a:t>  passwordPrompt() asks for the password interactively, so it never appears in the script, in shell history or in a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network path</a:t>
            </a:r>
          </a:p>
          <a:p/>
          <a:p>
            <a:r>
              <a:t>  Clients connect over TLS to a firewall that allows only trusted IP addresses on port 27017.</a:t>
            </a:r>
          </a:p>
          <a:p/>
          <a:p>
            <a:r>
              <a:t>  Behind it, mongod sits on a private network and requires TLS itself.</a:t>
            </a:r>
          </a:p>
          <a:p/>
          <a:p>
            <a:r>
              <a:t>- Untrusted sources are blocked</a:t>
            </a:r>
          </a:p>
          <a:p/>
          <a:p>
            <a:r>
              <a:t>  Traffic from the internet never reaches mongod.</a:t>
            </a:r>
          </a:p>
          <a:p/>
          <a:p>
            <a:r>
              <a:t>  Never expose port 27017 broadly to the public internet.</a:t>
            </a:r>
          </a:p>
          <a:p/>
          <a:p>
            <a:r>
              <a:t>- bindIp</a:t>
            </a:r>
          </a:p>
          <a:p/>
          <a:p>
            <a:r>
              <a:t>  bindIp controls which network interfaces mongod listens on.</a:t>
            </a:r>
          </a:p>
          <a:p/>
          <a:p>
            <a:r>
              <a:t>  List localhost plus the specific private address the application uses.</a:t>
            </a:r>
          </a:p>
          <a:p/>
          <a:p>
            <a:r>
              <a:t>  Binding to every interface on a reachable host, with authentication off, is how databases end up exposed.</a:t>
            </a:r>
          </a:p>
          <a:p/>
          <a:p>
            <a:r>
              <a:t>- Managed option</a:t>
            </a:r>
          </a:p>
          <a:p/>
          <a:p>
            <a:r>
              <a:t>  On MongoDB Atlas the same idea is an IP access list or a private endpoint.</a:t>
            </a:r>
          </a:p>
          <a:p/>
          <a:p>
            <a:r>
              <a:t>- What it shows</a:t>
            </a:r>
          </a:p>
          <a:p/>
          <a:p>
            <a:r>
              <a:t>  mongosh and Compass connect over TLS to a firewall that allows trusted IPs on port 27017.</a:t>
            </a:r>
          </a:p>
          <a:p/>
          <a:p>
            <a:r>
              <a:t>  mongod lives in a trusted network and requires TLS.</a:t>
            </a:r>
          </a:p>
          <a:p/>
          <a:p>
            <a:r>
              <a:t>  An untrusted source is blocked.</a:t>
            </a:r>
          </a:p>
          <a:p/>
          <a:p>
            <a:r>
              <a:t>- How to read it</a:t>
            </a:r>
          </a:p>
          <a:p/>
          <a:p>
            <a:r>
              <a:t>  Only the green path reaches the database.</a:t>
            </a:r>
          </a:p>
          <a:p/>
          <a:p>
            <a:r>
              <a:t>- Key point</a:t>
            </a:r>
          </a:p>
          <a:p/>
          <a:p>
            <a:r>
              <a:t>  Unreachable is the strongest protection.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hardened file</a:t>
            </a:r>
          </a:p>
          <a:p/>
          <a:p>
            <a:r>
              <a:t>  mongod listens on localhost and one private address, 10.0.1.15 in this sketch.</a:t>
            </a:r>
          </a:p>
          <a:p/>
          <a:p>
            <a:r>
              <a:t>  requireTLS refuses unencrypted connections, and authorization enabled turns on access control.</a:t>
            </a:r>
          </a:p>
          <a:p/>
          <a:p>
            <a:r>
              <a:t>  The paths and the address are placeholders.</a:t>
            </a:r>
          </a:p>
          <a:p/>
          <a:p>
            <a:r>
              <a:t>- The anti-pattern</a:t>
            </a:r>
          </a:p>
          <a:p/>
          <a:p>
            <a:r>
              <a:t>  Binding to every interface on a reachable host with no security section means anyone who can reach the port can read or delete everything.</a:t>
            </a:r>
          </a:p>
          <a:p/>
          <a:p>
            <a:r>
              <a:t>  This is shown only as a warning — never use it.</a:t>
            </a:r>
          </a:p>
          <a:p/>
          <a:p>
            <a:r>
              <a:t>- Connection strings</a:t>
            </a:r>
          </a:p>
          <a:p/>
          <a:p>
            <a:r>
              <a:t>  Treat a connection string as a secret.</a:t>
            </a:r>
          </a:p>
          <a:p/>
          <a:p>
            <a:r>
              <a:t>  The application should read it from a secret manager or protected environment variable, with its own least-privilege user, never the admin account.</a:t>
            </a:r>
          </a:p>
          <a:p/>
          <a:p>
            <a:r>
              <a:t>- Client side</a:t>
            </a:r>
          </a:p>
          <a:p/>
          <a:p>
            <a:r>
              <a:t>  Production clients connect with tls=true, validate the server certificate against a trusted certificate authority, and rotate certificates before they expire.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slide</a:t>
            </a:r>
          </a:p>
          <a:p/>
          <a:p>
            <a:r>
              <a:t>  Before we move on, clear away the beliefs that cause the most common real incidents.</a:t>
            </a:r>
          </a:p>
          <a:p/>
          <a:p>
            <a:r>
              <a:t>- Network and identity</a:t>
            </a:r>
          </a:p>
          <a:p/>
          <a:p>
            <a:r>
              <a:t>  Being inside the network doesn't prove identity.</a:t>
            </a:r>
          </a:p>
          <a:p/>
          <a:p>
            <a:r>
              <a:t>  Every connection authenticates, and each service uses its own least-privilege user.</a:t>
            </a:r>
          </a:p>
          <a:p/>
          <a:p>
            <a:r>
              <a:t>- Encryption</a:t>
            </a:r>
          </a:p>
          <a:p/>
          <a:p>
            <a:r>
              <a:t>  TLS protects traffic everywhere, not only on the internet.</a:t>
            </a:r>
          </a:p>
          <a:p/>
          <a:p>
            <a:r>
              <a:t>  Encryption at rest protects files and backups.</a:t>
            </a:r>
          </a:p>
          <a:p/>
          <a:p>
            <a:r>
              <a:t>  Application passwords are hashed, never just encrypted.</a:t>
            </a:r>
          </a:p>
          <a:p/>
          <a:p>
            <a:r>
              <a:t>- Anti-patterns</a:t>
            </a:r>
          </a:p>
          <a:p/>
          <a:p>
            <a:r>
              <a:t>  Look for these six risks in any review: a public endpoint, a shared administrator, secrets in source control, no TLS, unprotected backups and production data in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question</a:t>
            </a:r>
          </a:p>
          <a:p/>
          <a:p>
            <a:r>
              <a:t>  Security reduces the chance of damage; recovery limits its cost.</a:t>
            </a:r>
          </a:p>
          <a:p/>
          <a:p>
            <a:r>
              <a:t>  Mistakes and bad releases still happen.</a:t>
            </a:r>
          </a:p>
          <a:p/>
          <a:p>
            <a:r>
              <a:t>- The lab</a:t>
            </a:r>
          </a:p>
          <a:p/>
          <a:p>
            <a:r>
              <a:t>  Lab 7, Step 4 dumps training_store and restores it into an isolated database, training_store_restore.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Replication</a:t>
            </a:r>
          </a:p>
          <a:p/>
          <a:p>
            <a:r>
              <a:t>  The primary copies every change to the secondaries continuously.</a:t>
            </a:r>
          </a:p>
          <a:p/>
          <a:p>
            <a:r>
              <a:t>  If the primary fails, a secondary is elected.</a:t>
            </a:r>
          </a:p>
          <a:p/>
          <a:p>
            <a:r>
              <a:t>  That is high availability.</a:t>
            </a:r>
          </a:p>
          <a:p/>
          <a:p>
            <a:r>
              <a:t>- Why it's not a backup</a:t>
            </a:r>
          </a:p>
          <a:p/>
          <a:p>
            <a:r>
              <a:t>  The red marks show the problem: a bad change on the primary is replicated too.</a:t>
            </a:r>
          </a:p>
          <a:p/>
          <a:p>
            <a:r>
              <a:t>  Run db.orders.deleteMany({}) and every member loses the orders within seconds.</a:t>
            </a:r>
          </a:p>
          <a:p/>
          <a:p>
            <a:r>
              <a:t>- Backup</a:t>
            </a:r>
          </a:p>
          <a:p/>
          <a:p>
            <a:r>
              <a:t>  Backups are separate, immutable copies taken on a schedule.</a:t>
            </a:r>
          </a:p>
          <a:p/>
          <a:p>
            <a:r>
              <a:t>  They let you restore an earlier state — the state before the mistake.</a:t>
            </a:r>
          </a:p>
          <a:p/>
          <a:p>
            <a:r>
              <a:t>- You need both</a:t>
            </a:r>
          </a:p>
          <a:p/>
          <a:p>
            <a:r>
              <a:t>  Replication for staying up, backups for going back.</a:t>
            </a:r>
          </a:p>
          <a:p/>
          <a:p>
            <a:r>
              <a:t>- What it shows</a:t>
            </a:r>
          </a:p>
          <a:p/>
          <a:p>
            <a:r>
              <a:t>  Left: a primary replicating continuously to two secondaries with automatic failover; a bad change is replicated to all three.</a:t>
            </a:r>
          </a:p>
          <a:p/>
          <a:p>
            <a:r>
              <a:t>  Right: scheduled immutable backups in a repository, used to restore an earlier state.</a:t>
            </a:r>
          </a:p>
          <a:p/>
          <a:p>
            <a:r>
              <a:t>- How to read it</a:t>
            </a:r>
          </a:p>
          <a:p/>
          <a:p>
            <a:r>
              <a:t>  The red marks on the left are the same damaged data on every member.</a:t>
            </a:r>
          </a:p>
          <a:p/>
          <a:p>
            <a:r>
              <a:t>- Key point</a:t>
            </a:r>
          </a:p>
          <a:p/>
          <a:p>
            <a:r>
              <a:t>  Replication keeps you running; backups let you go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Read the timeline</a:t>
            </a:r>
          </a:p>
          <a:p/>
          <a:p>
            <a:r>
              <a:t>  The last backup ran at 10:00.</a:t>
            </a:r>
          </a:p>
          <a:p/>
          <a:p>
            <a:r>
              <a:t>  The failure happened at 10:15.</a:t>
            </a:r>
          </a:p>
          <a:p/>
          <a:p>
            <a:r>
              <a:t>  Service was restored at 10:45.</a:t>
            </a:r>
          </a:p>
          <a:p/>
          <a:p>
            <a:r>
              <a:t>- RPO</a:t>
            </a:r>
          </a:p>
          <a:p/>
          <a:p>
            <a:r>
              <a:t>  Recovery Point Objective: how much data you may lose.</a:t>
            </a:r>
          </a:p>
          <a:p/>
          <a:p>
            <a:r>
              <a:t>  Here, the orders placed between 10:00 and 10:15 are at risk, so the RPO is 15 minutes.</a:t>
            </a:r>
          </a:p>
          <a:p/>
          <a:p>
            <a:r>
              <a:t>- RTO</a:t>
            </a:r>
          </a:p>
          <a:p/>
          <a:p>
            <a:r>
              <a:t>  Recovery Time Objective: how long recovery may take.</a:t>
            </a:r>
          </a:p>
          <a:p/>
          <a:p>
            <a:r>
              <a:t>  From 10:15 to 10:45 is 30 minutes.</a:t>
            </a:r>
          </a:p>
          <a:p/>
          <a:p>
            <a:r>
              <a:t>- Business decides</a:t>
            </a:r>
          </a:p>
          <a:p/>
          <a:p>
            <a:r>
              <a:t>  Orders and payments usually need the tightest RPO, often minutes with point-in-time recovery.</a:t>
            </a:r>
          </a:p>
          <a:p/>
          <a:p>
            <a:r>
              <a:t>  Reviews can usually tolerate more.</a:t>
            </a:r>
          </a:p>
          <a:p/>
          <a:p>
            <a:r>
              <a:t>- What it shows</a:t>
            </a:r>
          </a:p>
          <a:p/>
          <a:p>
            <a:r>
              <a:t>  A timeline.</a:t>
            </a:r>
          </a:p>
          <a:p/>
          <a:p>
            <a:r>
              <a:t>  The last backup is at 10:00, the failure at 10:15, and service is restored at 10:45.</a:t>
            </a:r>
          </a:p>
          <a:p/>
          <a:p>
            <a:r>
              <a:t>  RPO is 15 minutes of possible data loss; RTO is 30 minutes of downtime.</a:t>
            </a:r>
          </a:p>
          <a:p/>
          <a:p>
            <a:r>
              <a:t>- How to read it</a:t>
            </a:r>
          </a:p>
          <a:p/>
          <a:p>
            <a:r>
              <a:t>  RPO looks back from the failure; RTO looks forward to recovery.</a:t>
            </a:r>
          </a:p>
          <a:p/>
          <a:p>
            <a:r>
              <a:t>- Key point</a:t>
            </a:r>
          </a:p>
          <a:p/>
          <a:p>
            <a:r>
              <a:t>  Both are business targets measured in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Restore somewhere safe</a:t>
            </a:r>
          </a:p>
          <a:p/>
          <a:p>
            <a:r>
              <a:t>  The backup is restored into an isolated test environment, never over the live database.</a:t>
            </a:r>
          </a:p>
          <a:p/>
          <a:p>
            <a:r>
              <a:t>- Automated checks</a:t>
            </a:r>
          </a:p>
          <a:p/>
          <a:p>
            <a:r>
              <a:t>  Check that the collections exist, the document counts match, and sample queries return the expected documents.</a:t>
            </a:r>
          </a:p>
          <a:p/>
          <a:p>
            <a:r>
              <a:t>  Then record how long it took, so the RTO is measured, not guessed.</a:t>
            </a:r>
          </a:p>
          <a:p/>
          <a:p>
            <a:r>
              <a:t>- Lab 7, Step 4</a:t>
            </a:r>
          </a:p>
          <a:p/>
          <a:p>
            <a:r>
              <a:t>  Learners dump training_store and restore it into training_store_restore.</a:t>
            </a:r>
          </a:p>
          <a:p/>
          <a:p>
            <a:r>
              <a:t>  They compare counts — 17 orders and 13 products — find one recorded order number, and check getIndexes().</a:t>
            </a:r>
          </a:p>
          <a:p/>
          <a:p>
            <a:r>
              <a:t>- What it shows</a:t>
            </a:r>
          </a:p>
          <a:p/>
          <a:p>
            <a:r>
              <a:t>  A mongodump snapshot is restored into an isolated test environment.</a:t>
            </a:r>
          </a:p>
          <a:p/>
          <a:p>
            <a:r>
              <a:t>  Automated checks confirm collections, document counts and sample queries.</a:t>
            </a:r>
          </a:p>
          <a:p/>
          <a:p>
            <a:r>
              <a:t>  The restore is verified: data intact, RTO measured.</a:t>
            </a:r>
          </a:p>
          <a:p/>
          <a:p>
            <a:r>
              <a:t>- How to read it</a:t>
            </a:r>
          </a:p>
          <a:p/>
          <a:p>
            <a:r>
              <a:t>  Restore, validate, confirm.</a:t>
            </a:r>
          </a:p>
          <a:p/>
          <a:p>
            <a:r>
              <a:t>- Key point</a:t>
            </a:r>
          </a:p>
          <a:p/>
          <a:p>
            <a:r>
              <a:t>  A backup is only proven when a restore has worked.</a:t>
            </a:r>
          </a:p>
          <a:p/>
          <a:p>
            <a:r>
              <a:t>- The commands</a:t>
            </a:r>
          </a:p>
          <a:p/>
          <a:p>
            <a:r>
              <a:t>  mongodump writes a logical BSON copy of training_store.</a:t>
            </a:r>
          </a:p>
          <a:p/>
          <a:p>
            <a:r>
              <a:t>  mongorestore loads it into training_store_restore; --drop replaces that restore database only.</a:t>
            </a:r>
          </a:p>
          <a:p/>
          <a:p>
            <a:r>
              <a:t>  Then compare countDocuments in both databases.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Production systems fail in ordinary ways.</a:t>
            </a:r>
          </a:p>
          <a:p/>
          <a:p>
            <a:r>
              <a:t>  The skill is to notice early and to diagnose from evidence instead of guessing.</a:t>
            </a:r>
          </a:p>
          <a:p/>
          <a:p>
            <a:r>
              <a:t>- How it ends</a:t>
            </a:r>
          </a:p>
          <a:p/>
          <a:p>
            <a:r>
              <a:t>  The part closes with the readiness checklist that Lab 7 uses to score training_store.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Three groups of metrics</a:t>
            </a:r>
          </a:p>
          <a:p/>
          <a:p>
            <a:r>
              <a:t>  Database metrics: operations per second, connections and replication lag.</a:t>
            </a:r>
          </a:p>
          <a:p/>
          <a:p>
            <a:r>
              <a:t>  Query metrics: latency, documents scanned versus returned, and slow queries.</a:t>
            </a:r>
          </a:p>
          <a:p/>
          <a:p>
            <a:r>
              <a:t>  Resource metrics: CPU, memory and disk I/O.</a:t>
            </a:r>
          </a:p>
          <a:p/>
          <a:p>
            <a:r>
              <a:t>- One health view</a:t>
            </a:r>
          </a:p>
          <a:p/>
          <a:p>
            <a:r>
              <a:t>  All three feed one dashboard.</a:t>
            </a:r>
          </a:p>
          <a:p/>
          <a:p>
            <a:r>
              <a:t>  A slow query shows up as latency and scanned documents before it shows up as CPU.</a:t>
            </a:r>
          </a:p>
          <a:p/>
          <a:p>
            <a:r>
              <a:t>- The profiler</a:t>
            </a:r>
          </a:p>
          <a:p/>
          <a:p>
            <a:r>
              <a:t>  db.setProfilingLevel(1) with slowms 200 and sampleRate 0.2 records a sample of operations slower than 200 milliseconds into system.profile.</a:t>
            </a:r>
          </a:p>
          <a:p/>
          <a:p>
            <a:r>
              <a:t>  The profiler adds overhead, so turn it on deliberately and back off with db.setProfilingLevel(0).</a:t>
            </a:r>
          </a:p>
          <a:p/>
          <a:p>
            <a:r>
              <a:t>- What it shows</a:t>
            </a:r>
          </a:p>
          <a:p/>
          <a:p>
            <a:r>
              <a:t>  Database metrics: operations per second, connections, replication lag.</a:t>
            </a:r>
          </a:p>
          <a:p/>
          <a:p>
            <a:r>
              <a:t>  Query metrics: query latency, scanned versus returned, slow queries.</a:t>
            </a:r>
          </a:p>
          <a:p/>
          <a:p>
            <a:r>
              <a:t>  Resource metrics: CPU, memory, disk I/O.</a:t>
            </a:r>
          </a:p>
          <a:p/>
          <a:p>
            <a:r>
              <a:t>- How to read it</a:t>
            </a:r>
          </a:p>
          <a:p/>
          <a:p>
            <a:r>
              <a:t>  All three groups feed the health dashboard on the right.</a:t>
            </a:r>
          </a:p>
          <a:p/>
          <a:p>
            <a:r>
              <a:t>- Key point</a:t>
            </a:r>
          </a:p>
          <a:p/>
          <a:p>
            <a:r>
              <a:t>  Watch the query metrics, not only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Four boxes</a:t>
            </a:r>
          </a:p>
          <a:p/>
          <a:p>
            <a:r>
              <a:t>  Symptom: the orders query is slow.</a:t>
            </a:r>
          </a:p>
          <a:p/>
          <a:p>
            <a:r>
              <a:t>  Layer: the problem is in query execution inside mongod.</a:t>
            </a:r>
          </a:p>
          <a:p/>
          <a:p>
            <a:r>
              <a:t>  Cause: the filter on customerId has no index, so it scans the collection.</a:t>
            </a:r>
          </a:p>
          <a:p/>
          <a:p>
            <a:r>
              <a:t>  Fix: create the customerId index and latency returns to normal.</a:t>
            </a:r>
          </a:p>
          <a:p/>
          <a:p>
            <a:r>
              <a:t>- The verify loop</a:t>
            </a:r>
          </a:p>
          <a:p/>
          <a:p>
            <a:r>
              <a:t>  The arrow back to the symptom matters most.</a:t>
            </a:r>
          </a:p>
          <a:p/>
          <a:p>
            <a:r>
              <a:t>  Repeat the same test and compare latency, keys and documents examined.</a:t>
            </a:r>
          </a:p>
          <a:p/>
          <a:p>
            <a:r>
              <a:t>- The full framework</a:t>
            </a:r>
          </a:p>
          <a:p/>
          <a:p>
            <a:r>
              <a:t>  The content guide adds two steps: scope — one query or all, one instance or every instance — and evidence: logs, explain, metrics and recent changes.</a:t>
            </a:r>
          </a:p>
          <a:p/>
          <a:p>
            <a:r>
              <a:t>- Smallest safe fix</a:t>
            </a:r>
          </a:p>
          <a:p/>
          <a:p>
            <a:r>
              <a:t>  Add a targeted index, bound a query, correct a connection string, or fix one role.</a:t>
            </a:r>
          </a:p>
          <a:p/>
          <a:p>
            <a:r>
              <a:t>  Not: restart everything, or grant root.</a:t>
            </a:r>
          </a:p>
          <a:p/>
          <a:p>
            <a:r>
              <a:t>- What it shows</a:t>
            </a:r>
          </a:p>
          <a:p/>
          <a:p>
            <a:r>
              <a:t>  The orders query is slow.</a:t>
            </a:r>
          </a:p>
          <a:p/>
          <a:p>
            <a:r>
              <a:t>  The layer is query execution in mongod.</a:t>
            </a:r>
          </a:p>
          <a:p/>
          <a:p>
            <a:r>
              <a:t>  The cause is a collection scan for customerId: a missing index.</a:t>
            </a:r>
          </a:p>
          <a:p/>
          <a:p>
            <a:r>
              <a:t>  The fix creates orders.customerId_1 and latency is restored.</a:t>
            </a:r>
          </a:p>
          <a:p/>
          <a:p>
            <a:r>
              <a:t>- How to read it</a:t>
            </a:r>
          </a:p>
          <a:p/>
          <a:p>
            <a:r>
              <a:t>  Reproduce, isolate the layer, confirm with explain, then verify from the symptom again.</a:t>
            </a:r>
          </a:p>
          <a:p/>
          <a:p>
            <a:r>
              <a:t>- Key point</a:t>
            </a:r>
          </a:p>
          <a:p/>
          <a:p>
            <a:r>
              <a:t>  Evidence first, then the smallest safe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Process and network</a:t>
            </a:r>
          </a:p>
          <a:p/>
          <a:p>
            <a:r>
              <a:t>  Connection refused means nothing is listening where the client points: mongod is stopped, the host or port is wrong, a firewall or container port blocks it, or bindIp doesn't include that interface.</a:t>
            </a:r>
          </a:p>
          <a:p/>
          <a:p>
            <a:r>
              <a:t>  The fix is the correct interface — never every interface.</a:t>
            </a:r>
          </a:p>
          <a:p/>
          <a:p>
            <a:r>
              <a:t>- Security</a:t>
            </a:r>
          </a:p>
          <a:p/>
          <a:p>
            <a:r>
              <a:t>  Authentication failed is about identity: check the user, the password and authSource.</a:t>
            </a:r>
          </a:p>
          <a:p/>
          <a:p>
            <a:r>
              <a:t>  A user created in admin needs authSource=admin in the URI.</a:t>
            </a:r>
          </a:p>
          <a:p/>
          <a:p>
            <a:r>
              <a:t>  not authorized means login worked but a role is missing.</a:t>
            </a:r>
          </a:p>
          <a:p/>
          <a:p>
            <a:r>
              <a:t>- Data rules</a:t>
            </a:r>
          </a:p>
          <a:p/>
          <a:p>
            <a:r>
              <a:t>  E11000 comes from a unique index.</a:t>
            </a:r>
          </a:p>
          <a:p/>
          <a:p>
            <a:r>
              <a:t>  In training_store, inserting a second customer with aisha@example.com violates email_unique.</a:t>
            </a:r>
          </a:p>
          <a:p/>
          <a:p>
            <a:r>
              <a:t>  Code 121 is a validator rejection.</a:t>
            </a:r>
          </a:p>
          <a:p/>
          <a:p>
            <a:r>
              <a:t>- Cluster</a:t>
            </a:r>
          </a:p>
          <a:p/>
          <a:p>
            <a:r>
              <a:t>  For lag or no primary, run rs.status() and db.hello(): look for a lost majority, an election or an undersized oplog.</a:t>
            </a:r>
          </a:p>
          <a:p/>
          <a:p>
            <a:r>
              <a:t>  A query that contacts every shard is missing the shard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Follow one request</a:t>
            </a:r>
          </a:p>
          <a:p/>
          <a:p>
            <a:r>
              <a:t>  Product search takes 2.8 seconds.</a:t>
            </a:r>
          </a:p>
          <a:p/>
          <a:p>
            <a:r>
              <a:t>  The trace shows a query on training_store.products that filters by category and sorts by price.</a:t>
            </a:r>
          </a:p>
          <a:p/>
          <a:p>
            <a:r>
              <a:t>- Explain, fix, verify</a:t>
            </a:r>
          </a:p>
          <a:p/>
          <a:p>
            <a:r>
              <a:t>  explain() shows COLLSCAN — no matching index.</a:t>
            </a:r>
          </a:p>
          <a:p/>
          <a:p>
            <a:r>
              <a:t>  A compound index on category and price supports both the filter and the sort, and the plan becomes IXSCAN at 85 milliseconds.</a:t>
            </a:r>
          </a:p>
          <a:p/>
          <a:p>
            <a:r>
              <a:t>- Matches our data</a:t>
            </a:r>
          </a:p>
          <a:p/>
          <a:p>
            <a:r>
              <a:t>  This is the same category-and-price index Module 1 showed in mongosh.</a:t>
            </a:r>
          </a:p>
          <a:p/>
          <a:p>
            <a:r>
              <a:t>  For the active-only catalog page, Lab 7 suggests category, active, price.</a:t>
            </a:r>
          </a:p>
          <a:p/>
          <a:p>
            <a:r>
              <a:t>- What it shows</a:t>
            </a:r>
          </a:p>
          <a:p/>
          <a:p>
            <a:r>
              <a:t>  A slow product search is traced to training_store.products with a category filter and a price sort.</a:t>
            </a:r>
          </a:p>
          <a:p/>
          <a:p>
            <a:r>
              <a:t>  explain() shows COLLSCAN; a compound index on category and price makes it IXSCAN at 85 ms.</a:t>
            </a:r>
          </a:p>
          <a:p/>
          <a:p>
            <a:r>
              <a:t>- How to read it</a:t>
            </a:r>
          </a:p>
          <a:p/>
          <a:p>
            <a:r>
              <a:t>  Trace, inspect, explain, fix, verify.</a:t>
            </a:r>
          </a:p>
          <a:p/>
          <a:p>
            <a:r>
              <a:t>- Key point</a:t>
            </a:r>
          </a:p>
          <a:p/>
          <a:p>
            <a:r>
              <a:t>  Start from the request the user felt, not from the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Duplicate key</a:t>
            </a:r>
          </a:p>
          <a:p/>
          <a:p>
            <a:r>
              <a:t>  customers has a unique index, email_unique, on contact.email.</a:t>
            </a:r>
          </a:p>
          <a:p/>
          <a:p>
            <a:r>
              <a:t>  Aisha Khan already uses aisha@example.com, so this insert fails with E11000.</a:t>
            </a:r>
          </a:p>
          <a:p/>
          <a:p>
            <a:r>
              <a:t>  The content guide calls the index uq_customers_email; in training_store it is email_unique.</a:t>
            </a:r>
          </a:p>
          <a:p/>
          <a:p>
            <a:r>
              <a:t>- What the user sees</a:t>
            </a:r>
          </a:p>
          <a:p/>
          <a:p>
            <a:r>
              <a:t>  Log the full error internally, without credentials or complete documents.</a:t>
            </a:r>
          </a:p>
          <a:p/>
          <a:p>
            <a:r>
              <a:t>  Show the user a business message, never the stack trace, host names or collection names.</a:t>
            </a:r>
          </a:p>
          <a:p/>
          <a:p>
            <a:r>
              <a:t>- Guarded update</a:t>
            </a:r>
          </a:p>
          <a:p/>
          <a:p>
            <a:r>
              <a:t>  O6302 is PROCESSING in the loaded data.</a:t>
            </a:r>
          </a:p>
          <a:p/>
          <a:p>
            <a:r>
              <a:t>  The filter includes the current state, so the first run ships it and a retry matches nothing.</a:t>
            </a:r>
          </a:p>
          <a:p/>
          <a:p>
            <a:r>
              <a:t>  Run it only on a copy, or reload with load.js afterwards.</a:t>
            </a:r>
          </a:p>
          <a:p/>
          <a:p>
            <a:r>
              <a:t>- Timeouts</a:t>
            </a:r>
          </a:p>
          <a:p/>
          <a:p>
            <a:r>
              <a:t>  maxTimeMS(3000) stops this query after three seconds.</a:t>
            </a:r>
          </a:p>
          <a:p/>
          <a:p>
            <a:r>
              <a:t>  Configure server-selection, connection and socket timeouts in the driver too, and choose values from the workload.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it</a:t>
            </a:r>
          </a:p>
          <a:p/>
          <a:p>
            <a:r>
              <a:t>  Pairs for five minutes, then go round the room, one message per pair.</a:t>
            </a:r>
          </a:p>
          <a:p/>
          <a:p>
            <a:r>
              <a:t>- A and B</a:t>
            </a:r>
          </a:p>
          <a:p/>
          <a:p>
            <a:r>
              <a:t>  A: nothing is listening on localhost 27017.</a:t>
            </a:r>
          </a:p>
          <a:p/>
          <a:p>
            <a:r>
              <a:t>  Check that mongod is running and the port is right, then connect and run db.hello().</a:t>
            </a:r>
          </a:p>
          <a:p/>
          <a:p>
            <a:r>
              <a:t>  B: check the user name, the password source and authSource.</a:t>
            </a:r>
          </a:p>
          <a:p/>
          <a:p>
            <a:r>
              <a:t>- C</a:t>
            </a:r>
          </a:p>
          <a:p/>
          <a:p>
            <a:r>
              <a:t>  Login worked; the role is missing.</a:t>
            </a:r>
          </a:p>
          <a:p/>
          <a:p>
            <a:r>
              <a:t>  Grant find on orders or a read role — never root.</a:t>
            </a:r>
          </a:p>
          <a:p/>
          <a:p>
            <a:r>
              <a:t>- D and E</a:t>
            </a:r>
          </a:p>
          <a:p/>
          <a:p>
            <a:r>
              <a:t>  D is a duplicate email: an expected business outcome, shown to the user as a friendly message.</a:t>
            </a:r>
          </a:p>
          <a:p/>
          <a:p>
            <a:r>
              <a:t>  E is a validator rejection, code 121: read the details to see which rule failed.</a:t>
            </a:r>
          </a:p>
          <a:p/>
          <a:p>
            <a:r>
              <a:t>- What not to do</a:t>
            </a:r>
          </a:p>
          <a:p/>
          <a:p>
            <a:r>
              <a:t>  Don't disable authentication, grant root, or bind to every interface to make an error disappear.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use it</a:t>
            </a:r>
          </a:p>
          <a:p/>
          <a:p>
            <a:r>
              <a:t>  This is the checklist Lab 7, Step 5 uses.</a:t>
            </a:r>
          </a:p>
          <a:p/>
          <a:p>
            <a:r>
              <a:t>  For each area, ask for evidence: an explain output, a restore log, a role list, an alert rule.</a:t>
            </a:r>
          </a:p>
          <a:p/>
          <a:p>
            <a:r>
              <a:t>- Model, queries, indexes</a:t>
            </a:r>
          </a:p>
          <a:p/>
          <a:p>
            <a:r>
              <a:t>  Bounded arrays, consistent types, a validator and a migration plan.</a:t>
            </a:r>
          </a:p>
          <a:p/>
          <a:p>
            <a:r>
              <a:t>  Queries filtered and limited, pipelines checked against a control.</a:t>
            </a:r>
          </a:p>
          <a:p/>
          <a:p>
            <a:r>
              <a:t>  Every index tied to a query shape and confirmed with explain.</a:t>
            </a:r>
          </a:p>
          <a:p/>
          <a:p>
            <a:r>
              <a:t>- Security and recovery</a:t>
            </a:r>
          </a:p>
          <a:p/>
          <a:p>
            <a:r>
              <a:t>  Authentication and least privilege, TLS, a closed network, secrets outside code.</a:t>
            </a:r>
          </a:p>
          <a:p/>
          <a:p>
            <a:r>
              <a:t>  A replica set with tested failover, backups separate from replication, and a restore measured against RPO and RTO.</a:t>
            </a:r>
          </a:p>
          <a:p/>
          <a:p>
            <a:r>
              <a:t>- Operations</a:t>
            </a:r>
          </a:p>
          <a:p/>
          <a:p>
            <a:r>
              <a:t>  Metrics and alerts with owners, runbooks for the critical alerts, and changes reviewed with explain before release.</a:t>
            </a:r>
          </a:p>
          <a:p/>
          <a:p>
            <a:r>
              <a:t>- training_store today</a:t>
            </a:r>
          </a:p>
          <a:p/>
          <a:p>
            <a:r>
              <a:t>  Against this list our class instance is not ready: no authentication, one server, XBAD's string price, no validator and no tested restore.</a:t>
            </a:r>
          </a:p>
          <a:p/>
          <a:p>
            <a:r>
              <a:t>  That is the expected answer in Lab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- 1. Access patterns</a:t>
            </a:r>
          </a:p>
          <a:p/>
          <a:p>
            <a:r>
              <a:t>  Store together what the application reads and updates together, so common operations need one read.</a:t>
            </a:r>
          </a:p>
          <a:p/>
          <a:p>
            <a:r>
              <a:t>- 2. Reference</a:t>
            </a:r>
          </a:p>
          <a:p/>
          <a:p>
            <a:r>
              <a:t>  When the data is shared, changes independently, is queried on its own or grows without limit — like reviews.</a:t>
            </a:r>
          </a:p>
          <a:p/>
          <a:p>
            <a:r>
              <a:t>- 3. Validation</a:t>
            </a:r>
          </a:p>
          <a:p/>
          <a:p>
            <a:r>
              <a:t>  The database enforces required fields, types, enums and ranges, and rejects bad writes with code 121.</a:t>
            </a:r>
          </a:p>
          <a:p/>
          <a:p>
            <a:r>
              <a:t>- 4. $unwind</a:t>
            </a:r>
          </a:p>
          <a:p/>
          <a:p>
            <a:r>
              <a:t>  Each order becomes one row per item, so summing the order total counts it several times: 12119.25 instead of 9118.44 for paid orders.</a:t>
            </a:r>
          </a:p>
          <a:p/>
          <a:p>
            <a:r>
              <a:t>- 5. ESR</a:t>
            </a:r>
          </a:p>
          <a:p/>
          <a:p>
            <a:r>
              <a:t>  In a compound index, put equality fields first, then the sort field, then range fields.</a:t>
            </a:r>
          </a:p>
          <a:p/>
          <a:p>
            <a:r>
              <a:t>- 6. Examined versus returned</a:t>
            </a:r>
          </a:p>
          <a:p/>
          <a:p>
            <a:r>
              <a:t>  A missing or unsuitable index: the plan reads many more keys or documents than it returns.</a:t>
            </a:r>
          </a:p>
          <a:p/>
          <a:p>
            <a:r>
              <a:t>- 7. Replication</a:t>
            </a:r>
          </a:p>
          <a:p/>
          <a:p>
            <a:r>
              <a:t>  It copies every change, including mistakes such as deleteMany, to every member within seconds.</a:t>
            </a:r>
          </a:p>
          <a:p/>
          <a:p>
            <a:r>
              <a:t>- 8. RPO and RTO</a:t>
            </a:r>
          </a:p>
          <a:p/>
          <a:p>
            <a:r>
              <a:t>  RPO is how much data may be lost; RTO is how long recovery may take.</a:t>
            </a:r>
          </a:p>
          <a:p/>
          <a:p>
            <a:r>
              <a:t>  Both are measured in time.</a:t>
            </a:r>
          </a:p>
          <a:p/>
          <a:p>
            <a:r>
              <a:t>- 9. Authentication and authorization</a:t>
            </a:r>
          </a:p>
          <a:p/>
          <a:p>
            <a:r>
              <a:t>  Authentication proves who you are; authorization decides what you may do.</a:t>
            </a:r>
          </a:p>
          <a:p/>
          <a:p>
            <a:r>
              <a:t>- 10. Slow endpoint</a:t>
            </a:r>
          </a:p>
          <a:p/>
          <a:p>
            <a:r>
              <a:t>  Define the symptom precisely, scope it, collect evidence — the query shape and its explain, logs and recent changes — then fix the layer at fault and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Exercise 8.1.</a:t>
            </a:r>
          </a:p>
          <a:p/>
          <a:p>
            <a:r>
              <a:t>  The worksheet is labs/day-03/exercises/exercise-8.1-review-a-query-and-projection.md.</a:t>
            </a:r>
          </a:p>
          <a:p/>
          <a:p>
            <a:r>
              <a:t>  Lab 7, Step 1 applies the same habits to the catalog query.</a:t>
            </a:r>
          </a:p>
          <a:p/>
          <a:p>
            <a:r>
              <a:t>- The customer id</a:t>
            </a:r>
          </a:p>
          <a:p/>
          <a:p>
            <a:r>
              <a:t>  customerId is an ObjectId, so first run const c101 = db.customers.findOne({ customerNumber: "C101" })._id.</a:t>
            </a:r>
          </a:p>
          <a:p/>
          <a:p>
            <a:r>
              <a:t>- The answer</a:t>
            </a:r>
          </a:p>
          <a:p/>
          <a:p>
            <a:r>
              <a:t>  Filter on customerId and paymentStatus PAID; project orderNumber, fulfillmentStatus, total and createdAt with _id 0; sort createdAt descending; limit 10.</a:t>
            </a:r>
          </a:p>
          <a:p/>
          <a:p>
            <a:r>
              <a:t>  It returns Aisha Khan's four paid orders: O6306, O6301, O6201 and O6101.</a:t>
            </a:r>
          </a:p>
          <a:p/>
          <a:p>
            <a:r>
              <a:t>  Her pending order O5001 is excluded.</a:t>
            </a:r>
          </a:p>
          <a:p/>
          <a:p>
            <a:r>
              <a:t>- The index</a:t>
            </a:r>
          </a:p>
          <a:p/>
          <a:p>
            <a:r>
              <a:t>  customerId 1, paymentStatus 1, createdAt -1: equality, equality, sort.</a:t>
            </a:r>
          </a:p>
          <a:p/>
          <a:p>
            <a:r>
              <a:t>  Don't lead with createdAt.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Exercise 8.2.</a:t>
            </a:r>
          </a:p>
          <a:p/>
          <a:p>
            <a:r>
              <a:t>  The worksheet is labs/day-03/exercises/exercise-8.2-design-least-privilege-roles.md.</a:t>
            </a:r>
          </a:p>
          <a:p/>
          <a:p>
            <a:r>
              <a:t>  It is a design exercise; no authentication is enabled.</a:t>
            </a:r>
          </a:p>
          <a:p/>
          <a:p>
            <a:r>
              <a:t>- The matrix</a:t>
            </a:r>
          </a:p>
          <a:p/>
          <a:p>
            <a:r>
              <a:t>  The application reads and writes its collections but can't administer users.</a:t>
            </a:r>
          </a:p>
          <a:p/>
          <a:p>
            <a:r>
              <a:t>  Reporting reads approved collections but can't update.</a:t>
            </a:r>
          </a:p>
          <a:p/>
          <a:p>
            <a:r>
              <a:t>  Support reads, perhaps with limited personal data, but can't drop.</a:t>
            </a:r>
          </a:p>
          <a:p/>
          <a:p>
            <a:r>
              <a:t>  Monitoring gets clusterMonitor-style rights and no data writes.</a:t>
            </a:r>
          </a:p>
          <a:p/>
          <a:p>
            <a:r>
              <a:t>  Backup gets backup privileges, not arbitrary deletes.</a:t>
            </a:r>
          </a:p>
          <a:p/>
          <a:p>
            <a:r>
              <a:t>  The DBA has administration under change control and is never used by the application.</a:t>
            </a:r>
          </a:p>
          <a:p/>
          <a:p>
            <a:r>
              <a:t>- The anti-pattern</a:t>
            </a:r>
          </a:p>
          <a:p/>
          <a:p>
            <a:r>
              <a:t>  If the application used a cluster administrator, one stolen application credential would inherit every privilege.</a:t>
            </a:r>
          </a:p>
          <a:p/>
          <a:p>
            <a:r>
              <a:t>  Least privilege limits the blast radius and makes audit trails meaningful.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Exercise 8.3.</a:t>
            </a:r>
          </a:p>
          <a:p/>
          <a:p>
            <a:r>
              <a:t>  The worksheet is labs/day-03/exercises/exercise-8.3-define-rpo-and-rto.md.</a:t>
            </a:r>
          </a:p>
          <a:p/>
          <a:p>
            <a:r>
              <a:t>- Objectives</a:t>
            </a:r>
          </a:p>
          <a:p/>
          <a:p>
            <a:r>
              <a:t>  Orders and payments usually get the tightest RPO, in minutes, with tested point-in-time recovery.</a:t>
            </a:r>
          </a:p>
          <a:p/>
          <a:p>
            <a:r>
              <a:t>  The catalog can often tolerate a longer RPO because it can be rebuilt.</a:t>
            </a:r>
          </a:p>
          <a:p/>
          <a:p>
            <a:r>
              <a:t>  Reviews are the most tolerant.</a:t>
            </a:r>
          </a:p>
          <a:p/>
          <a:p>
            <a:r>
              <a:t>  Checkout's RTO should be shorter than the RTO for reviews.</a:t>
            </a:r>
          </a:p>
          <a:p/>
          <a:p>
            <a:r>
              <a:t>- Proving an orders restore</a:t>
            </a:r>
          </a:p>
          <a:p/>
          <a:p>
            <a:r>
              <a:t>  Compare countDocuments with the pre-restore note — 17 on a fresh load.</a:t>
            </a:r>
          </a:p>
          <a:p/>
          <a:p>
            <a:r>
              <a:t>  Find O5001 and check a paid total.</a:t>
            </a:r>
          </a:p>
          <a:p/>
          <a:p>
            <a:r>
              <a:t>  Run getIndexes().</a:t>
            </a:r>
          </a:p>
          <a:p/>
          <a:p>
            <a:r>
              <a:t>  Confirm the application can read an order.</a:t>
            </a:r>
          </a:p>
          <a:p/>
          <a:p>
            <a:r>
              <a:t>  Backup success alone is not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lab</a:t>
            </a:r>
          </a:p>
          <a:p/>
          <a:p>
            <a:r>
              <a:t>  This is Lab 7, the Day 3 lab: labs/day-03/lab7/LAB-7-GUIDE.md.</a:t>
            </a:r>
          </a:p>
          <a:p/>
          <a:p>
            <a:r>
              <a:t>  It takes 45 to 60 minutes.</a:t>
            </a:r>
          </a:p>
          <a:p/>
          <a:p>
            <a:r>
              <a:t>  Expected outputs for every step are in labs/day-03/lab7/solution/LAB-7-SOLUTION.md.</a:t>
            </a:r>
          </a:p>
          <a:p/>
          <a:p>
            <a:r>
              <a:t>- Steps 1 to 3</a:t>
            </a:r>
          </a:p>
          <a:p/>
          <a:p>
            <a:r>
              <a:t>  Step 1 rewrites the catalog query and proposes category 1, active 1, price 1 without dropping existing indexes.</a:t>
            </a:r>
          </a:p>
          <a:p/>
          <a:p>
            <a:r>
              <a:t>  Step 2 is the monthly pipeline from Part 2.</a:t>
            </a:r>
          </a:p>
          <a:p/>
          <a:p>
            <a:r>
              <a:t>  Step 3 is the validator on training_store_ops.orders_validated.</a:t>
            </a:r>
          </a:p>
          <a:p/>
          <a:p>
            <a:r>
              <a:t>- Step 4</a:t>
            </a:r>
          </a:p>
          <a:p/>
          <a:p>
            <a:r>
              <a:t>  Dump training_store and restore into training_store_restore.</a:t>
            </a:r>
          </a:p>
          <a:p/>
          <a:p>
            <a:r>
              <a:t>  Both databases show 13 products.</a:t>
            </a:r>
          </a:p>
          <a:p/>
          <a:p>
            <a:r>
              <a:t>  If the classroom image has no Database Tools, use the Exercise 8.3 restore-proof answer instead.</a:t>
            </a:r>
          </a:p>
          <a:p/>
          <a:p>
            <a:r>
              <a:t>- Step 5</a:t>
            </a:r>
          </a:p>
          <a:p/>
          <a:p>
            <a:r>
              <a:t>  The defensible answer is not ready.</a:t>
            </a:r>
          </a:p>
          <a:p/>
          <a:p>
            <a:r>
              <a:t>  Evidence includes XBAD's string price, no authentication in class, tiny data, no stock field, and no restore tested in the learner's own environment.</a:t>
            </a:r>
          </a:p>
          <a:p/>
          <a:p>
            <a:r>
              <a:t>  Conditions for go-live: typed money, authentication and TLS, a restore drill, least-privilege roles and explain on real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whole course in one picture</a:t>
            </a:r>
          </a:p>
          <a:p/>
          <a:p>
            <a:r>
              <a:t>  mongosh and Compass connect to mongod, which holds training_store, its four collections, documents and fields.</a:t>
            </a:r>
          </a:p>
          <a:p/>
          <a:p>
            <a:r>
              <a:t>- The path we took</a:t>
            </a:r>
          </a:p>
          <a:p/>
          <a:p>
            <a:r>
              <a:t>  CRUD and aggregation on Day 2.</a:t>
            </a:r>
          </a:p>
          <a:p/>
          <a:p>
            <a:r>
              <a:t>  Indexes and validation, replication and sharding on Day 3.</a:t>
            </a:r>
          </a:p>
          <a:p/>
          <a:p>
            <a:r>
              <a:t>  And finally security, backup and monitoring in this module.</a:t>
            </a:r>
          </a:p>
          <a:p/>
          <a:p>
            <a:r>
              <a:t>- Ask the room</a:t>
            </a:r>
          </a:p>
          <a:p/>
          <a:p>
            <a:r>
              <a:t>  Ask learners which box they would find hardest to get right in their own systems — and why.</a:t>
            </a:r>
          </a:p>
          <a:p/>
          <a:p>
            <a:r>
              <a:t>- What it shows</a:t>
            </a:r>
          </a:p>
          <a:p/>
          <a:p>
            <a:r>
              <a:t>  mongosh and Compass connect to mongod and training_store; the course moves through CRUD and aggregation, indexes and validation, replication and sharding, and security, backup and monitoring.</a:t>
            </a:r>
          </a:p>
          <a:p/>
          <a:p>
            <a:r>
              <a:t>- How to use it</a:t>
            </a:r>
          </a:p>
          <a:p/>
          <a:p>
            <a:r>
              <a:t>  Point to each block and ask the class what they can now do with it.</a:t>
            </a:r>
          </a:p>
          <a:p/>
          <a:p>
            <a:r>
              <a:t>- Key point</a:t>
            </a:r>
          </a:p>
          <a:p/>
          <a:p>
            <a:r>
              <a:t>  Each module added one layer to the same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Recap</a:t>
            </a:r>
          </a:p>
          <a:p/>
          <a:p>
            <a:r>
              <a:t>  Across eight modules we chose a data model, set up MongoDB, designed documents, queried and aggregated them, indexed with evidence, replicated and sharded, and finally learned to run it securely and reliably — all on training_store.</a:t>
            </a:r>
          </a:p>
          <a:p/>
          <a:p>
            <a:r>
              <a:t>- The ten principles</a:t>
            </a:r>
          </a:p>
          <a:p/>
          <a:p>
            <a:r>
              <a:t>  Model around how the application uses data.</a:t>
            </a:r>
          </a:p>
          <a:p/>
          <a:p>
            <a:r>
              <a:t>  Embed bounded data that belongs together; reference shared or unbounded data.</a:t>
            </a:r>
          </a:p>
          <a:p/>
          <a:p>
            <a:r>
              <a:t>  Keep names and types consistent.</a:t>
            </a:r>
          </a:p>
          <a:p/>
          <a:p>
            <a:r>
              <a:t>  Design indexes around real query shapes.</a:t>
            </a:r>
          </a:p>
          <a:p/>
          <a:p>
            <a:r>
              <a:t>  Measure before and after.</a:t>
            </a:r>
          </a:p>
          <a:p/>
          <a:p>
            <a:r>
              <a:t>  Filter early in pipelines.</a:t>
            </a:r>
          </a:p>
          <a:p/>
          <a:p>
            <a:r>
              <a:t>  Apply authentication, authorization, TLS and network limits.</a:t>
            </a:r>
          </a:p>
          <a:p/>
          <a:p>
            <a:r>
              <a:t>  Treat replication, sharding and backups as different capabilities.</a:t>
            </a:r>
          </a:p>
          <a:p/>
          <a:p>
            <a:r>
              <a:t>  Troubleshoot from evidence.</a:t>
            </a:r>
          </a:p>
          <a:p/>
          <a:p>
            <a:r>
              <a:t>- Next steps</a:t>
            </a:r>
          </a:p>
          <a:p/>
          <a:p>
            <a:r>
              <a:t>  Ask each participant for one action: a schema or validation change, a query to explain, a security control to verify, a restore test to schedule, or an alert that needs a runbook.</a:t>
            </a:r>
          </a:p>
          <a:p/>
          <a:p>
            <a:r>
              <a:t>  Recommend the current MongoDB security checklist and operations documentation for their version.</a:t>
            </a:r>
          </a:p>
          <a:p/>
          <a:p>
            <a:r>
              <a:t>- Close</a:t>
            </a:r>
          </a:p>
          <a:p/>
          <a:p>
            <a:r>
              <a:t>  Thank the group, take final questions, and collect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3216" y="10972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Nirmala UI"/>
              </a:rPr>
              <a:t>"Production-ready is proven, not assumed."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MODULE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MongoDB Best Practices, Security, and Troubleshooting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Model, tune, secure, recover and diagnose training_store — and decide whether it is ready for production.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MASTERING MONGODB  •  MODULE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Data modeling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34056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Performance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10912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87767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Backup and recovery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64624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Troubleshooting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What you will be able to do by the end of this module.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52728"/>
            <a:ext cx="382641" cy="382641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382641" cy="3826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993" y="1252728"/>
            <a:ext cx="4939167" cy="3826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BY THE END OF THIS MODULE, YOU 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59164"/>
            <a:ext cx="5394960" cy="2498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Apply modeling, validation and evolution rules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Tune queries, pipelines and indexes with explain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Secure access with auth, roles, TLS, network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Plan backups and prove restores (RPO, RTO)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Monitor health and troubleshoot by layer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Judge training_store's production readiness</a:t>
            </a:r>
          </a:p>
        </p:txBody>
      </p:sp>
      <p:sp>
        <p:nvSpPr>
          <p:cNvPr id="8" name="Oval 7"/>
          <p:cNvSpPr/>
          <p:nvPr/>
        </p:nvSpPr>
        <p:spPr>
          <a:xfrm>
            <a:off x="6172200" y="125272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2527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1243584"/>
            <a:ext cx="5148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SIX QUESTIONS THIS MODULE ANSWERS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73352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1673352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model safe to grow?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212848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HOW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212848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do we prove it is fast?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752344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752344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may do what — and from where?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91840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291840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we recover from a mistake?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831335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831335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is wrong right now?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370831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4370831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we ready to go live?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4590288"/>
            <a:ext cx="310896" cy="310896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902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581144"/>
            <a:ext cx="10863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MODULE ROADMAP</a:t>
            </a:r>
          </a:p>
        </p:txBody>
      </p:sp>
      <p:sp>
        <p:nvSpPr>
          <p:cNvPr id="26" name="Pentagon 25"/>
          <p:cNvSpPr/>
          <p:nvPr/>
        </p:nvSpPr>
        <p:spPr>
          <a:xfrm>
            <a:off x="457200" y="5029200"/>
            <a:ext cx="1763485" cy="731520"/>
          </a:xfrm>
          <a:prstGeom prst="homePlate">
            <a:avLst>
              <a:gd name="adj" fmla="val 30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029200"/>
            <a:ext cx="149830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Model</a:t>
            </a:r>
          </a:p>
        </p:txBody>
      </p:sp>
      <p:sp>
        <p:nvSpPr>
          <p:cNvPr id="28" name="Chevron 27"/>
          <p:cNvSpPr/>
          <p:nvPr/>
        </p:nvSpPr>
        <p:spPr>
          <a:xfrm>
            <a:off x="2037805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57261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Validate</a:t>
            </a:r>
          </a:p>
        </p:txBody>
      </p:sp>
      <p:sp>
        <p:nvSpPr>
          <p:cNvPr id="30" name="Chevron 29"/>
          <p:cNvSpPr/>
          <p:nvPr/>
        </p:nvSpPr>
        <p:spPr>
          <a:xfrm>
            <a:off x="3618411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37867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Tune</a:t>
            </a:r>
          </a:p>
        </p:txBody>
      </p:sp>
      <p:sp>
        <p:nvSpPr>
          <p:cNvPr id="32" name="Chevron 31"/>
          <p:cNvSpPr/>
          <p:nvPr/>
        </p:nvSpPr>
        <p:spPr>
          <a:xfrm>
            <a:off x="5199017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18473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Secure</a:t>
            </a:r>
          </a:p>
        </p:txBody>
      </p:sp>
      <p:sp>
        <p:nvSpPr>
          <p:cNvPr id="34" name="Chevron 33"/>
          <p:cNvSpPr/>
          <p:nvPr/>
        </p:nvSpPr>
        <p:spPr>
          <a:xfrm>
            <a:off x="6779622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9078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Recover</a:t>
            </a:r>
          </a:p>
        </p:txBody>
      </p:sp>
      <p:sp>
        <p:nvSpPr>
          <p:cNvPr id="36" name="Chevron 35"/>
          <p:cNvSpPr/>
          <p:nvPr/>
        </p:nvSpPr>
        <p:spPr>
          <a:xfrm>
            <a:off x="8360228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79684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Diagnose</a:t>
            </a:r>
          </a:p>
        </p:txBody>
      </p:sp>
      <p:sp>
        <p:nvSpPr>
          <p:cNvPr id="38" name="Chevron 37"/>
          <p:cNvSpPr/>
          <p:nvPr/>
        </p:nvSpPr>
        <p:spPr>
          <a:xfrm>
            <a:off x="9940834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60290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Go-live?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Production-ready is a claim you prove with evidence — not a feeling you have.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KEY TERMS FOR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Plain definitions for the words we'll use most.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408176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Schema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$jsonSchema rules the server checks on every insert and update — required fields, types, enums.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64224" y="1408176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Query shape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query's filter, sort and projection. Indexes are designed around shapes, not single queries.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2578608"/>
            <a:ext cx="365760" cy="36576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7C7B"/>
                </a:solidFill>
                <a:latin typeface="Nirmala UI"/>
              </a:rPr>
              <a:t>ESR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Order compound-index keys Equality first, then Sort, then Range.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2578608"/>
            <a:ext cx="365760" cy="365760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Nirmala UI"/>
              </a:rPr>
              <a:t>Least privilege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Give each identity only the actions and collections its job needs — nothing more.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" y="3749040"/>
            <a:ext cx="365760" cy="365760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690C"/>
                </a:solidFill>
                <a:latin typeface="Nirmala UI"/>
              </a:rPr>
              <a:t>TLS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Transport Layer Security: encrypts traffic between clients, servers and cluster members.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3749040"/>
            <a:ext cx="365760" cy="365760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RPO and RTO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How much data you may lose, and how long recovery may take — both are time targets.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4919472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Restore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Proving a backup by restoring it to an isolated target and checking counts, samples and indexes.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64224" y="4919472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Runbook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Written steps for one alert: checks, fixes, escalation, rollback and verification.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Agree on the words first — every later slide builds on them.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FULL FORMS USED IN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Every abbreviation on these slides, spelled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BSON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Binary 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00" b="1" i="0">
                <a:solidFill>
                  <a:srgbClr val="002060"/>
                </a:solidFill>
                <a:latin typeface="Nirmala UI"/>
              </a:rPr>
              <a:t>COLLSCAN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Collection Scan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Central Processing Unit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Database Administrator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ESR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Equality, Sort, Range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244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800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Identifier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244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800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Internet Protocol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244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00" b="1" i="0">
                <a:solidFill>
                  <a:srgbClr val="5B3A9E"/>
                </a:solidFill>
                <a:latin typeface="Nirmala UI"/>
              </a:rPr>
              <a:t>IXSCAN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800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Index Scan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4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RBAC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800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Role-Based Access Control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244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RPO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800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Recovery Point Objective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768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RTO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324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Recovery Time Objective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768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TLS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324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Transport Layer Security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768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URI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324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Uniform Resource Identifier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768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UTC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324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Coordinated Universal Time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When an abbreviation isn't clear, the full form is on this slide.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FROM MODULE 7 TO MODULE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cluster stays up and scales — now make it safe to run for real.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46634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46634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4389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MODULE 7 GAVE US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Replica sets: primary and secondaries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328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Elections and automatic failover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09981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08376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Read and write concerns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666744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75303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Shard keys, chunks and mongos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233671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42231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Targeted versus scatter-gather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690872"/>
            <a:ext cx="4389120" cy="9601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90872"/>
            <a:ext cx="402335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NOW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Put the practices around it: model, tune, secure, back up, monitor and diagnose.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0" y="129844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1298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1289304"/>
            <a:ext cx="58338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OUR PATH THROUGH MODULE 8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0" y="1888236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719072"/>
            <a:ext cx="4297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Model and validate documents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1879092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Part 1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0" y="2574036"/>
            <a:ext cx="347472" cy="34747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404872"/>
            <a:ext cx="4297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Query, pipeline and index habits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2564891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Part 2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0" y="3259836"/>
            <a:ext cx="347472" cy="34747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090672"/>
            <a:ext cx="4297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Authentication, roles, TLS, network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20" y="3250691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Part 3</a:t>
            </a:r>
          </a:p>
        </p:txBody>
      </p:sp>
      <p:sp>
        <p:nvSpPr>
          <p:cNvPr id="31" name="Oval 30"/>
          <p:cNvSpPr/>
          <p:nvPr/>
        </p:nvSpPr>
        <p:spPr>
          <a:xfrm>
            <a:off x="5486400" y="3945635"/>
            <a:ext cx="347472" cy="34747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776472"/>
            <a:ext cx="4297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Backups, RPO, RTO and restore tests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2720" y="3936491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2E7D32"/>
                </a:solidFill>
                <a:latin typeface="Nirmala UI"/>
              </a:rPr>
              <a:t>Part 4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0" y="4631436"/>
            <a:ext cx="347472" cy="34747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462272"/>
            <a:ext cx="4297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Metrics and troubleshooting by layer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32720" y="4622292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C9690C"/>
                </a:solidFill>
                <a:latin typeface="Nirmala UI"/>
              </a:rPr>
              <a:t>Part 5</a:t>
            </a:r>
          </a:p>
        </p:txBody>
      </p:sp>
      <p:sp>
        <p:nvSpPr>
          <p:cNvPr id="37" name="Oval 36"/>
          <p:cNvSpPr/>
          <p:nvPr/>
        </p:nvSpPr>
        <p:spPr>
          <a:xfrm>
            <a:off x="5486400" y="5317236"/>
            <a:ext cx="347472" cy="34747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148072"/>
            <a:ext cx="42976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Production-readiness review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32720" y="5308092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C9690C"/>
                </a:solidFill>
                <a:latin typeface="Nirmala UI"/>
              </a:rPr>
              <a:t>Part 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Module 7 kept training_store available; Module 8 makes it correct, secure and recoverable.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FROM FUNCTIONAL TO PRODUCTION-READY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What changes between “it works” and “we can run it”.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66942"/>
            <a:ext cx="7415783" cy="379843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40094"/>
            <a:ext cx="7269480" cy="365213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Functional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One mongod, no security — where our class instance is today.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Hardened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Auth + TLS, indexes, validation and backups.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Production-ready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replica set with monitoring, alerts and automated backup.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SAME DATA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The four collections never change — the controls 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Production-ready is the same data with proven controls around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1: DATA-MODELING GUIDELINES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Flexible schema, governed by explicit rules.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Data model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Performance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Security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Backup &amp; recovery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Operate &amp; diagnose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You modeled training_store in Module 3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You queried, aggregated and indexed it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You replicated and sharded 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Will this document model still hold up as data, features and teams grow?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Embed or reference: document boundaries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Consistent field names and BSON types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Historical snapshots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Schema validation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60730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54329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Planning schema evolution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CHOOSE DOCUMENT BOUNDARIES CAREFULLY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Embed bounded, owned data — reference shared or unbounded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42023"/>
            <a:ext cx="7415783" cy="424827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15175"/>
            <a:ext cx="7269480" cy="410196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Embed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Order items and the shipping address: read with the order, bounded, owned.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Customers are shared; reviews grow without limit.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ANTI-PATTERN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Every review inside its product — an unbounded array.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Embed what belongs to one parent and stays bounded; reference the rest.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USE CONSISTENT FIELD NAMES AND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One name and one BSON type per concept.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910313"/>
            <a:ext cx="7415783" cy="331169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83465"/>
            <a:ext cx="7269480" cy="316538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Names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camelCase, one spelling: productId — never product_id or prodId.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Decimal128 for money, Date for time, ObjectId for references.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IN OUR DATA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XBAD stores price as the string "49.99".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field with two spellings or two types quietly breaks queries, sorts and indexes.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FIND THE DRIFT IN TRAINING_STORE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Three queries that expose type and naming problems.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Prices stored with the wrong 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62242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db.products.find(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{ price: { $type: "string" } },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{ _id: 0, sku: 1, price: 1 }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{ sku: 'XBAD', price: '49.99' }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db.products.countDocuments(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{ price: { $type: "decimal" } })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506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Fields outside the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5060" y="1627632"/>
            <a:ext cx="5509260" cy="262242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db.products.find(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{ $or: [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{ legacyName: { $exists: true } },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{ temporaryNote: { $exists: true } }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] },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{ _id: 0, sku: 1 }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{ sku: 'L190' }, { sku: 'A410'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47865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53351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$type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84441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Finds values whose BSON type differs from the rule.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200" y="447865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4360" y="453351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$exists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4360" y="484441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Finds stray fields left by old code or manual edits.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4478655"/>
            <a:ext cx="3627120" cy="11582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0080" y="4478655"/>
            <a:ext cx="3261360" cy="1158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FIX PLAN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Migrate XBAD to Decimal128, then validate.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Measure the drift before you fix it — $type and $exists turn a hunch into a 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PRESERVE HISTORICAL SNAPSHOTS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order keeps what the customer actually paid.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05923"/>
            <a:ext cx="7415783" cy="352047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9075"/>
            <a:ext cx="7269480" cy="337416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Copy at purchase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name and price are copied into the order.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Later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product's price changes; the order doesn't.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training_store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Each item keeps sku, name, quantity and unitPrice.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INTENTIONAL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Snapshot duplication records history — it isn't a bug.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Copy the values that must stay historically true into the order at the moment it is placed.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APPLY SCHEMA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flexible model can still refuse bad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036915"/>
            <a:ext cx="7415783" cy="3058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10067"/>
            <a:ext cx="7269480" cy="29121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Fields that must exist, e.g. orderNumber and total.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Types and enums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total must be decimal; paymentStatus one of three values.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Rejected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An invalid write fails with code 121, Document failed validation.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NOT A REPLACEMENT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Keep validating in the application too.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Schema validation turns the rules the model depends on into rules the database enforces.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 VALIDATOR ON A SCRATCH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Lab 7, Step 3 — training_store_ops, so the class orders stay untouched.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Create the collection with $jsonSchema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5509260" cy="380669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use training_store_ops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db.createCollection("orders_validated", 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validator: { $jsonSchema: 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bsonType: "object",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required: ["orderNumber", "total",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         "paymentStatus"],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properties: 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orderNumber: { bsonType: "string" },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total: { bsonType: "decimal" },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paymentStatus: 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  enum: ["PAID", "PENDING", "FAILED"] }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} } },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validationAction: "error"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506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Prove accept and reject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380669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db.orders_validated.insertOne({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orderNumber: "OPS-1",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total: Decimal128("10.00"),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paymentStatus: "PAID" })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acknowledged: true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db.orders_validated.insertOne({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orderNumber: "OPS-BAD",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total: "10.00",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paymentStatus: "PAID" })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MongoServerError: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  Document failed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Test a validator with one good document and one bad one before you trust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PLAN FOR SCHEMA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Change the shape in compatible steps.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900895"/>
            <a:ext cx="7415783" cy="33305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74047"/>
            <a:ext cx="7269480" cy="31842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Nirmala UI"/>
              </a:rPr>
              <a:t>MIGRATION ORDER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Support both shapes in the app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Start writing the new shape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Migrate old documents in batches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Measure progress and failures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2916935"/>
            <a:ext cx="256032" cy="25603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889503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Tighten validation, remove old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332841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32841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AVOID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One huge untested updateMany on production.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Evolve the schema in backward-compatible steps and tighten the validator last.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PREDICT THE VALIDATOR'S 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Accepted or rejected? Decide before you run each insert.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76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760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orders_validated requires orderNumber (string), total (decimal) and paymentStatus (PAID, PENDING or FAILED).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29356"/>
            <a:ext cx="3621024" cy="212699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A {orderNumber:"OPS-2",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total:Decimal128("24.99"),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paymentStatus:"PENDING"}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B {orderNumber:"OPS-3",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total:Decimal128("5.00"),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paymentStatus:"PAID_NOW"}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C {total:Decimal128("5.00"),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paymentStatus:"PAID"}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 {orderNumber:"OPS-4",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total:9.99, paymentStatus:"PAID"}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76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Mark each insert accepted or rejected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9941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the rule each rejection breaks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6474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592576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Say whether an extra field such as note is allowed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4245864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4191000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Run them on training_store_ops to check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76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accepted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871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816352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B rejected: enum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2918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236976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 rejected: required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371246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3657600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D rejected: 9.99 is a double</a:t>
            </a:r>
          </a:p>
        </p:txBody>
      </p:sp>
      <p:sp>
        <p:nvSpPr>
          <p:cNvPr id="33" name="Oval 32"/>
          <p:cNvSpPr/>
          <p:nvPr/>
        </p:nvSpPr>
        <p:spPr>
          <a:xfrm>
            <a:off x="8778240" y="426161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6567" y="420674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Extra fields pass — no additionalProperties rule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validator enforces only the rules you wrote — know exactly which ones those are.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2: PERFORMANCE HABITS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Observe → measure → diagnose → change → measure again.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Data model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Performance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Security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Backup &amp; recovery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Operate &amp; diagnose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403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Documents are bounded and consistently typed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6012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5280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Snapshots are intentional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0767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035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Validation protects the essentials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 we prove a query or a report is fast — and still correct?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Filter, project, sort and limit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Reduce pipeline input early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Validate aggregation results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ESR compound indexes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60730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54329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Reading explain plans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ASK ONLY FOR WHAT THE PAGE NEEDS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 catalog page: filter, project, sort and limit.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Anti-pattern: return everything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5509260" cy="2300478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db.products.find({})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all 13 products, every field,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including attributes</a:t>
            </a:r>
          </a:p>
        </p:txBody>
      </p:sp>
      <p:sp>
        <p:nvSpPr>
          <p:cNvPr id="7" name="Oval 6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Better: one bounded, shaped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60" y="1627632"/>
            <a:ext cx="5509260" cy="2300478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db.products.find(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{ category: "LAPTOP", active: true },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{ _id: 0, sku: 1, name: 1, price: 1 }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).sort({ price: 1 }).limit(20)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L100 Business Laptop  1299.99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L110 Ultrabook        1899.99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5671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21157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52247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Selective predicates; L190 is inactive and drops 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7200" y="415671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4360" y="421157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4360" y="452247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Return three fields, not attributes.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415671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4360" y="421157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4360" y="452247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Bound every user-facing list; paginate by range.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Every user-facing query should be filtered, projected, sorted and limited.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REDUCE PIPELINE INPUT EARLY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$match and $project before the expensive stages.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225631"/>
            <a:ext cx="7415783" cy="26810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98783"/>
            <a:ext cx="7269480" cy="25347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13919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$match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718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Keep only paid orders; an early $match can use an index.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65654"/>
            <a:ext cx="3520440" cy="95326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62051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$project early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31414"/>
            <a:ext cx="3246120" cy="5326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Carry only the fields later stages need.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646932"/>
            <a:ext cx="3520440" cy="113919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01795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training_store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012692"/>
            <a:ext cx="3246120" cy="718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field is paymentStatus: 13 of 17 orders are PAID.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14138"/>
            <a:ext cx="3520440" cy="91973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14138"/>
            <a:ext cx="3154680" cy="9197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SCALE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The diagram's 10,000 orders are illustrative.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Filter and trim at the start of the pipeline, so every later stage has less to do.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MONTHLY PAID REVENUE — BUILT SAFELY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Lab 7, Step 2: group whole orders, not unwound items.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5509260" cy="272973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db.orders.aggregate([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{ $match: { paymentStatus: "PAID" } },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{ $group: 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_id: { $dateToString: 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  format: "%Y-%m",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  date: "$createdAt" } },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orderCount: { $sum: 1 },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revenue: { $sum: "$total" } } },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{ $sort: { _id: 1 } }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506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72973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{ _id: '2026-07', orderCount: 3,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revenue: Decimal128('1835.95') }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{ _id: '2026-08', orderCount: 4,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revenue: Decimal128('2731.92') }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{ _id: '2026-09', orderCount: 6,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revenue: Decimal128('4550.57') 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8597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6408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$match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95173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Only the 13 paid orders enter the pipeline.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58597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6408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Group whole 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495173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total is summed once per order.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58597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6408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Months in UTC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495173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$dateToString uses UTC unless you pass a timezone.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Put $match first and sum order-level fields before any $unwind.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VALIDATE AGGREGATION CALCULATIONS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 fast report can still be wrong.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5945" y="1316736"/>
            <a:ext cx="10129628" cy="30662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097" y="1389888"/>
            <a:ext cx="9983324" cy="29199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Control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countDocuments({ paymentStatus: "PAID" }) → 13 orders.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47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18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The $unwind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18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Unwind items, then sum $total: 13 orders become 21 rows.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Our numbers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True revenue 9118.44 — the unwound sum says 12119.25.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9700" y="4675632"/>
            <a:ext cx="2674620" cy="11582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2580" y="4675632"/>
            <a:ext cx="2308860" cy="1158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RULE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Check every report against an independent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Verify a pipeline's totals against an independent control before anyone trusts the report.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INDEXING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Equality, then Sort, then Range — built from the real query shape.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027807"/>
            <a:ext cx="7415783" cy="30767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0959"/>
            <a:ext cx="7269480" cy="293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The same shape in training_store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110337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db.orders.createIndex({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customerId: 1,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paymentStatus: 1,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createdAt: -1 })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2859024"/>
            <a:ext cx="3520440" cy="97942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91388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ESR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224784"/>
            <a:ext cx="324612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Equality fields first, the sort next, range fields last.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3966464"/>
            <a:ext cx="3520440" cy="97942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40213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Each index costs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332224"/>
            <a:ext cx="3246120" cy="558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Disk, cache and extra work on every write.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5073904"/>
            <a:ext cx="3520440" cy="75996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5073904"/>
            <a:ext cx="3154680" cy="759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BEFORE DROPPING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Hide the index, monitor, then drop.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Build each compound index from a real query shape, in ESR order, and know what it costs.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REVIEW EXPLAIN PLANS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explain("executionStats") is the evidence behind every index.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112589"/>
            <a:ext cx="7415783" cy="290714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85741"/>
            <a:ext cx="7269480" cy="27608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C101's paid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130149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db.orders.find({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customerId: c101,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paymentStatus: "PAID" })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.sort({ createdAt: -1 })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.explain("executionStats")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305714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311200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No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42290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COLLSCAN: 17 documents examined, 4 returned, plus a SORT.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4480560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453542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ESR 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846320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IXSCAN: 4 keys, 4 documents, no SORT stage.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Compare examined with returned — a large gap means a missing or unsuitable index.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DESIGN THE INDEX FOR EACH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Three real training_store queries — one compound index each.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760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Write the index for each shape, label each key E, S or R, then confirm with explain.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29356"/>
            <a:ext cx="3621024" cy="140055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1 Catalog: category "LAPTOP",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active true, sort price asc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2 History: customerId = c101,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sort createdAt desc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3 Report: paymentStatus "PAID",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createdAt in September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Write an index for each shape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8529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Label every key E, S or R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3649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3101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Check the plan with explain()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3822191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37673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the extra cost of each index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1 { category, active, price }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2 { customerId: 1, createdAt: -1 }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3 { paymentStatus, createdAt }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043171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IXSCAN and no SORT stage</a:t>
            </a:r>
          </a:p>
        </p:txBody>
      </p:sp>
      <p:sp>
        <p:nvSpPr>
          <p:cNvPr id="33" name="Oval 32"/>
          <p:cNvSpPr/>
          <p:nvPr/>
        </p:nvSpPr>
        <p:spPr>
          <a:xfrm>
            <a:off x="8778240" y="4518659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6567" y="4463795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Each slows inserts and updates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An index is designed for a query shape — write the shape down first.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3: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Authentication, authorization, TLS and network exposure.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Data model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Performance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Security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Backup &amp; recovery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Operate &amp; diagnose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The model is bounded and validated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Queries are shaped and indexed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Results are checked for correctness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Who can reach the database, who are they, and what may they do?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Security in layers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Authentication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Least-privilege roles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Network exposure and TLS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60730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54329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Configuration and credentials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MONGODB SECURITY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Every request passes several controls.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86507"/>
            <a:ext cx="7415783" cy="375930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3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9659"/>
            <a:ext cx="7269480" cy="361300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transit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TLS from every client and between members.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Identity and rights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Authenticate, authorize with roles, least privilege.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At rest and 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Encrypted storage; audit logs of security events.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DEFENSE IN DEPTH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If one layer fails, the others still hold.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Layer the controls, so one mistake never exposes everything.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Who is connecting?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006068"/>
            <a:ext cx="7415783" cy="312018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3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79220"/>
            <a:ext cx="7269480" cy="29738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Turn on access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90525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# mongod.conf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security: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authorization: enabled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266090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71576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First user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02666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Create an administrator before enforcing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4084320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4139183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Identity, not 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450080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trusted network is not proof of identity.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Enable access control, so every connection must prove who it 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PRINCIPLE OF LEAST PRIVILEGE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Grant only the access each job requires.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79642"/>
            <a:ext cx="7415783" cy="397303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3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52794"/>
            <a:ext cx="7269480" cy="382673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13080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710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readWrite on training_store — never clusterAdmin.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57272"/>
            <a:ext cx="3520440" cy="9448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6121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23032"/>
            <a:ext cx="3246120" cy="5242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read only.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630168"/>
            <a:ext cx="3520440" cy="9448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68503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95928"/>
            <a:ext cx="3246120" cy="524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find on reviews, as in the diagram.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703064"/>
            <a:ext cx="3520440" cy="113080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7579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068824"/>
            <a:ext cx="3246120" cy="710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Monitoring, backup and DBA each get their own identity.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Give every identity its own account and only the privileges its job needs.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USERS AND ROLES — SKETCHED, NOT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Placeholder names, prompted passwords; a disposable instance only.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Application and reporting users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5509260" cy="2910839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use training_store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db.createUser({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user: "trainingStoreApp",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pwd: passwordPrompt(),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roles: [{ role: "readWrite",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        db: "training_store" }]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})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db.createUser({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user: "reportUser",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pwd: passwordPrompt(),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roles: [{ role: "read",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        db: "training_store" }]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7" name="Oval 6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A custom role: read reviews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60" y="1627632"/>
            <a:ext cx="5509260" cy="2910839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db.createRole({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role: "reviewReader",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privileges: [{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resource: { db: "training_store",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            collection: "reviews" },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actions: ["find"]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}],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roles: []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67072"/>
            <a:ext cx="3627120" cy="1066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821935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passwordPrompt()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132832"/>
            <a:ext cx="3352800" cy="64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password is typed, never stored in the script or history.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7200" y="4767072"/>
            <a:ext cx="3627120" cy="1066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4360" y="4821935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Built-in roles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4360" y="5132832"/>
            <a:ext cx="3352800" cy="64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readWrite and read cover most services.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4767072"/>
            <a:ext cx="3627120" cy="1066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4360" y="4821935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Custom roles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4360" y="5132832"/>
            <a:ext cx="3352800" cy="64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Narrow a role to single collections and actions.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Create one identity per job, with the smallest role that works, and never type a real password into a script.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NETWORK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Make the database unreachable to anyone who shouldn't reach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99549"/>
            <a:ext cx="7415783" cy="35332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3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2701"/>
            <a:ext cx="7269480" cy="33869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Firewall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Allow trusted IPs on 27017; block everything else.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Private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mongod lives on a private subnet, never the public internet.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bindIp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Listen only on localhost and the private address clients use.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ATLAS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IP access lists and private endpoints.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Don't expose port 27017 broadly — restrict who can reach mongod before anyone tries to log 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SECURE CONFIGURATION AND CONNECTION STRINGS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 hardened mongod.conf — and the anti-pattern it replaces.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Hardened (sketch)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5509260" cy="2622422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net: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port: 27017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bindIp: 127.0.0.1,10.0.1.15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tls: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mode: requireTLS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certificateKeyFile: /etc/mongo/server.pem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CAFile: /etc/mongo/ca.pem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security: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authorization: enabled</a:t>
            </a:r>
          </a:p>
        </p:txBody>
      </p:sp>
      <p:sp>
        <p:nvSpPr>
          <p:cNvPr id="7" name="Oval 6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Anti-pattern — never ship this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60" y="1627632"/>
            <a:ext cx="5509260" cy="2622422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net: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bindIp: 0.0.0.0   # every interface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# no security section: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#   access control off, no TLS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URI with a password in source code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mongodb://admin:&lt;password&gt;@db:27017/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7865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53351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Listen narrowly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84441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Localhost plus one private address.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7200" y="447865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4360" y="453351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TLS everywhere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4360" y="484441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Validate certificates; never disable checks.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447865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4360" y="453351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Secrets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4360" y="484441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Load the URI from a secret store at runtime.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Bind narrowly, require TLS and authentication, and keep credentials out of code and configuration files.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SECURITY MISCONCEPTIONS AND 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Beliefs that leave real databases exposed.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MISCONCEPTION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REALITY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09928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It's on our network, so it's safe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30752" y="2078431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69080" y="1709928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Authenticate every connection — location isn't identity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56662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The app needs admin to be safe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30752" y="2925165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69080" y="2556662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Least privilege: readWrite on its own 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03396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TLS is only for the internet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30752" y="3771899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3403396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Encrypt inside the data center and between members too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0131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Encryption replaces password hashing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30752" y="4618634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69080" y="4250131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Hash application passwords; encrypt sensitive fields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96865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Fix not-authorized by granting root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30752" y="5465368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69080" y="5096865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Grant the one missing privilege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29844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ANTI-PATTERNS TO AVOID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645920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Port 27017 open to the internet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1956816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One shared administrator account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267712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Passwords in code, Git or screenshots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0" y="2606039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578608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Unencrypted backup files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0" y="2916935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889503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Production data copied into development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3328416"/>
            <a:ext cx="393192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3328416"/>
            <a:ext cx="356616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REMEMBER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Unreachable, authenticated, least privilege, encrypted.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Most breaches come from simple gaps — exposure, shared accounts and leaked credentials.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4: BACKUPS AND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Replication keeps you running. Backups let you go back.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Data model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Performance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Security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Backup &amp; recovery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Operate &amp; diagnose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575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Access is authenticated and least-privilege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6012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5280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Traffic is encrypted; the network is closed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2489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1757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Credentials live outside the code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If someone deletes the orders tonight, what do we lose — and how long until we are back?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Replication versus backup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Recovery objectives: RPO and RTO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Restore testing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REPLICATION VS.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Two different capabilities — you need both.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04918"/>
            <a:ext cx="7415783" cy="432248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4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78070"/>
            <a:ext cx="7269480" cy="41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An accidental delete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7071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db.orders.deleteMany({})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// replicated to every member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2462784"/>
            <a:ext cx="3520440" cy="11734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51764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828544"/>
            <a:ext cx="3246120" cy="7528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Copies every change, good or bad, in 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3764280"/>
            <a:ext cx="3520440" cy="11734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381914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Backup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130040"/>
            <a:ext cx="3246120" cy="7528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Immutable copies from before the mistake.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5065776"/>
            <a:ext cx="3520440" cy="76809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5065776"/>
            <a:ext cx="31546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RULE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Replication is not a backup.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Replication protects availability; only an independent backup protects you from a bad change.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RECOVERY POINT AND RECOVERY TIME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How much data you may lose, and how long you may be down.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22686"/>
            <a:ext cx="7415783" cy="368694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4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95838"/>
            <a:ext cx="7269480" cy="354064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RPO = 15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Changes since the 10:00 backup are at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RTO = 30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Service restored at 10:45 after a 10:15 failure.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Set per data 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Orders and payments tight; reviews more tolerant.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EXERCISE 8.3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You'll set these for training_store.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RPO and RTO are business targets in minutes — choose the backup method that meets them.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RESTORE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 backup is proven only by a restore.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90852"/>
            <a:ext cx="7415783" cy="335061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4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4004"/>
            <a:ext cx="7269480" cy="32043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Lab 7, Step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113639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mongodump --uri="mongodb://localhost:27017"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--db=training_store --out=&lt;dir&gt;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mongorestore --uri="mongodb://localhost:27017"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--db=training_store_restore --drop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&lt;dir&gt;/training_store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289204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94690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Verify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25780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17 orders, 13 products, a sample order and its indexes.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431546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431546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NEVER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Restore over training_store itself.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Schedule restore tests into an isolated target, and measure the time against the RTO.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5: OPERATE AND DIAGNOSE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Monitor the right signals and troubleshoot from evidence.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Data model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Performance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Security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Backup &amp; recovery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Operate &amp; diagnose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Replication is not a backup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RPO and RTO are time targets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Restores are tested, not assumed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Something is wrong in production — how do we find out what, and fix only that?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Metrics that matter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 troubleshooting method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Common errors by layer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 slow-search investigation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Safe error handling</a:t>
            </a:r>
          </a:p>
        </p:txBody>
      </p:sp>
      <p:sp>
        <p:nvSpPr>
          <p:cNvPr id="37" name="Oval 36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production-readiness checklist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DATABASE, QUERY, AND RESOURCE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Three groups of signals — one health view.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48389"/>
            <a:ext cx="7415783" cy="403554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4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21541"/>
            <a:ext cx="7269480" cy="38892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Sample slow 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121894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db.setProfilingLevel(1,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{ slowms: 200, sampleRate: 0.2 })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db.system.profile.find()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.sort({ ts: -1 }).limit(5)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db.setProfilingLevel(0)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297459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302945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Also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34035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Disk space, oplog window, backup status, authentication failures.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439801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439801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PROFILER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Adds overhead — enable it deliberately.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Monitor query evidence and replication, not only CPU — slow queries show up there first.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TROUBLESHOOTING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Symptom → scope → evidence → layer → cause → fix → verify.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133515"/>
            <a:ext cx="7415783" cy="286528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5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06667"/>
            <a:ext cx="7269480" cy="271898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Precise symptom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Not “MongoDB is slow” but “order history went from 100 ms to 2.5 s”.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Scope and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One query or all? Logs, explain, metrics, recent changes.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Smallest safe 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One index, one role, one setting — then verify.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LOOP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Re-run the same test after every fix.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Troubleshoot from evidence, one layer at a time, and verify with the same 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COMMON PROBLEMS, BY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error message usually names the layer.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98448"/>
          <a:ext cx="71323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783080"/>
                <a:gridCol w="301752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irmala UI"/>
                        </a:rPr>
                        <a:t>Symptom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irmala UI"/>
                        </a:rPr>
                        <a:t>Likely layer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irmala UI"/>
                        </a:rPr>
                        <a:t>First check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Nirmala UI"/>
                        </a:rPr>
                        <a:t>Connection refused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Nirmala UI"/>
                        </a:rPr>
                        <a:t>Process, network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Nirmala UI"/>
                        </a:rPr>
                        <a:t>mongod up? host, port, firewall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Nirmala UI"/>
                        </a:rPr>
                        <a:t>Authentication failed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Nirmala UI"/>
                        </a:rPr>
                        <a:t>Security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Nirmala UI"/>
                        </a:rPr>
                        <a:t>user, password, authSource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Nirmala UI"/>
                        </a:rPr>
                        <a:t>not authorized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Nirmala UI"/>
                        </a:rPr>
                        <a:t>Security: roles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Nirmala UI"/>
                        </a:rPr>
                        <a:t>user's roles on that collection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Nirmala UI"/>
                        </a:rPr>
                        <a:t>E11000 duplicate key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Nirmala UI"/>
                        </a:rPr>
                        <a:t>Index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Nirmala UI"/>
                        </a:rPr>
                        <a:t>which unique index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Nirmala UI"/>
                        </a:rPr>
                        <a:t>Document failed 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Nirmala UI"/>
                        </a:rPr>
                        <a:t>Schema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Nirmala UI"/>
                        </a:rPr>
                        <a:t>missing field, type, enum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Nirmala UI"/>
                        </a:rPr>
                        <a:t>Slow query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Nirmala UI"/>
                        </a:rPr>
                        <a:t>Query, index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Nirmala UI"/>
                        </a:rPr>
                        <a:t>explain: COLLSCAN, SORT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Nirmala UI"/>
                        </a:rPr>
                        <a:t>Lag or no primary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Nirmala UI"/>
                        </a:rPr>
                        <a:t>Replication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Nirmala UI"/>
                        </a:rPr>
                        <a:t>rs.status(), majority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Nirmala UI"/>
                        </a:rPr>
                        <a:t>Every shard contacted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Nirmala UI"/>
                        </a:rPr>
                        <a:t>Sharding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Nirmala UI"/>
                        </a:rPr>
                        <a:t>shard key in the filter?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298448"/>
            <a:ext cx="379476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353312"/>
            <a:ext cx="3520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Authenticated ≠ authorized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664208"/>
            <a:ext cx="352044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Wrong authSource fails login; a missing role fails the command.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2721864"/>
            <a:ext cx="379476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776728"/>
            <a:ext cx="3520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Never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87624"/>
            <a:ext cx="352044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Grant root, disable auth or bind to every interface to make an error go away.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4145280"/>
            <a:ext cx="379476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4145280"/>
            <a:ext cx="342900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EXERCISE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Name the layer for five real messages.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Read the error, name the layer, then check that layer first.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SLOW APPLICATION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Follow the user's request down to the plan.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7" y="1800666"/>
            <a:ext cx="11210544" cy="209842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5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873818"/>
            <a:ext cx="11064240" cy="195212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Trace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slow search filters by category and sorts by price.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47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18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18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COLLSCAN — no index matches the shape.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Fix and 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{ category: 1, price: 1 } → IXSCAN, 85 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9700" y="4675632"/>
            <a:ext cx="2674620" cy="11582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2580" y="4675632"/>
            <a:ext cx="2308860" cy="1158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SAME INDEX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The one Module 1 showed in mongosh.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Start from the request the user felt, and verify with the same request.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HANDLE ERRORS SAFELY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Business messages, repeatable writes and bounded waits.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Expected conflict → safe message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83705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db.customers.insertOne({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customerNumber: "C999",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contact: { email: "aisha@example.com" }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})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MongoServerError: E11000 duplicate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  key error ... index: email_unique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user sees: "An account already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  exists for that email."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Guarded, repeatable transition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837052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db.orders.updateOne(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{ orderNumber: "O6302",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fulfillmentStatus: "PROCESSING" },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{ $set: { fulfillmentStatus: "SHIPPED" },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$currentDate: { shippedAt: true } }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1st run: modifiedCount 1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2nd run: matchedCount 0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db.orders.find({ fulfillmentStatus: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"PROCESSING" }).maxTimeMS(3000)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93285"/>
            <a:ext cx="3627120" cy="114058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74814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Log internally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059045"/>
            <a:ext cx="3352800" cy="719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raw error, securely, with a request 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693285"/>
            <a:ext cx="3627120" cy="114058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74814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Idempotent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5059045"/>
            <a:ext cx="3352800" cy="719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retry can't ship the order twice.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693285"/>
            <a:ext cx="3627120" cy="114058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74814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Timeouts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5059045"/>
            <a:ext cx="3352800" cy="719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 operation waits forever.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Turn database errors into safe messages, and design writes that are safe to retry.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WHICH LAYER IS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Five messages from the training_store application.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543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the layer and the first check for each message.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12440"/>
            <a:ext cx="3621024" cy="194538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A connect ECONNREFUSED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127.0.0.1:27017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B Authentication failed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(user trainingStoreApp)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C not authorized on training_store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to execute command { find: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"orders" 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 E11000 ... index: email_unique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E Document failed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the layer for A–E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8529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Write the first check or command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3649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3101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Say what you would not do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3822191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37673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Pick one to add to a runbook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process or network: is mongod up?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B identity: authSource and user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 roles: grant only find on orders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D business conflict: safe message</a:t>
            </a:r>
          </a:p>
        </p:txBody>
      </p:sp>
      <p:sp>
        <p:nvSpPr>
          <p:cNvPr id="33" name="Oval 32"/>
          <p:cNvSpPr/>
          <p:nvPr/>
        </p:nvSpPr>
        <p:spPr>
          <a:xfrm>
            <a:off x="8778240" y="464718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6567" y="4592319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 schema: which rule failed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message names the layer — read it before you change anything.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PRODUCTION-READINESS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Six areas — each needs evidence, not assumptions.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3596640" cy="2167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35966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3322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DATA MODEL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19491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974848" cy="515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Arrays bounded; snapshots intentional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46430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43912"/>
            <a:ext cx="2974848" cy="515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One name and one BSON type per field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97942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59024"/>
            <a:ext cx="2974848" cy="515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Validator plus a migration plan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40" y="1298448"/>
            <a:ext cx="3596640" cy="2167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4282440" y="1298448"/>
            <a:ext cx="35966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1298448"/>
            <a:ext cx="3322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QUERIES AND AGGREGATION</a:t>
            </a:r>
          </a:p>
        </p:txBody>
      </p:sp>
      <p:sp>
        <p:nvSpPr>
          <p:cNvPr id="16" name="Oval 15"/>
          <p:cNvSpPr/>
          <p:nvPr/>
        </p:nvSpPr>
        <p:spPr>
          <a:xfrm>
            <a:off x="4419600" y="1949196"/>
            <a:ext cx="274320" cy="27432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5360" y="1828800"/>
            <a:ext cx="2974848" cy="515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Filtered, projected, limited</a:t>
            </a:r>
          </a:p>
        </p:txBody>
      </p:sp>
      <p:sp>
        <p:nvSpPr>
          <p:cNvPr id="18" name="Oval 17"/>
          <p:cNvSpPr/>
          <p:nvPr/>
        </p:nvSpPr>
        <p:spPr>
          <a:xfrm>
            <a:off x="4419600" y="2464308"/>
            <a:ext cx="274320" cy="27432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5360" y="2343912"/>
            <a:ext cx="2974848" cy="515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$match first; no $unwind double count</a:t>
            </a:r>
          </a:p>
        </p:txBody>
      </p:sp>
      <p:sp>
        <p:nvSpPr>
          <p:cNvPr id="20" name="Oval 19"/>
          <p:cNvSpPr/>
          <p:nvPr/>
        </p:nvSpPr>
        <p:spPr>
          <a:xfrm>
            <a:off x="4419600" y="2979420"/>
            <a:ext cx="274320" cy="27432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5360" y="2859024"/>
            <a:ext cx="2974848" cy="515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Results checked against a control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7680" y="1298448"/>
            <a:ext cx="3596640" cy="2167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107680" y="1298448"/>
            <a:ext cx="35966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4840" y="1298448"/>
            <a:ext cx="3322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INDEXES</a:t>
            </a:r>
          </a:p>
        </p:txBody>
      </p:sp>
      <p:sp>
        <p:nvSpPr>
          <p:cNvPr id="25" name="Oval 24"/>
          <p:cNvSpPr/>
          <p:nvPr/>
        </p:nvSpPr>
        <p:spPr>
          <a:xfrm>
            <a:off x="8244840" y="1949196"/>
            <a:ext cx="274320" cy="27432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0600" y="1828800"/>
            <a:ext cx="2974848" cy="515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Each index serves a named shape</a:t>
            </a:r>
          </a:p>
        </p:txBody>
      </p:sp>
      <p:sp>
        <p:nvSpPr>
          <p:cNvPr id="27" name="Oval 26"/>
          <p:cNvSpPr/>
          <p:nvPr/>
        </p:nvSpPr>
        <p:spPr>
          <a:xfrm>
            <a:off x="8244840" y="2464308"/>
            <a:ext cx="274320" cy="27432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0600" y="2343912"/>
            <a:ext cx="2974848" cy="515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ESR order confirmed with explain</a:t>
            </a:r>
          </a:p>
        </p:txBody>
      </p:sp>
      <p:sp>
        <p:nvSpPr>
          <p:cNvPr id="29" name="Oval 28"/>
          <p:cNvSpPr/>
          <p:nvPr/>
        </p:nvSpPr>
        <p:spPr>
          <a:xfrm>
            <a:off x="8244840" y="2979420"/>
            <a:ext cx="274320" cy="27432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0600" y="2859024"/>
            <a:ext cx="2974848" cy="515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Redundant keys hidden, then dropped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666744"/>
            <a:ext cx="3596640" cy="2167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457200" y="3666744"/>
            <a:ext cx="35966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666744"/>
            <a:ext cx="3322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SECURITY</a:t>
            </a:r>
          </a:p>
        </p:txBody>
      </p:sp>
      <p:sp>
        <p:nvSpPr>
          <p:cNvPr id="34" name="Oval 33"/>
          <p:cNvSpPr/>
          <p:nvPr/>
        </p:nvSpPr>
        <p:spPr>
          <a:xfrm>
            <a:off x="594360" y="4317492"/>
            <a:ext cx="274320" cy="274320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4197096"/>
            <a:ext cx="2974848" cy="515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Authentication on; least privilege</a:t>
            </a:r>
          </a:p>
        </p:txBody>
      </p:sp>
      <p:sp>
        <p:nvSpPr>
          <p:cNvPr id="36" name="Oval 35"/>
          <p:cNvSpPr/>
          <p:nvPr/>
        </p:nvSpPr>
        <p:spPr>
          <a:xfrm>
            <a:off x="594360" y="4832604"/>
            <a:ext cx="274320" cy="274320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712208"/>
            <a:ext cx="2974848" cy="515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TLS; private network; no public 27017</a:t>
            </a:r>
          </a:p>
        </p:txBody>
      </p:sp>
      <p:sp>
        <p:nvSpPr>
          <p:cNvPr id="38" name="Oval 37"/>
          <p:cNvSpPr/>
          <p:nvPr/>
        </p:nvSpPr>
        <p:spPr>
          <a:xfrm>
            <a:off x="594360" y="5347716"/>
            <a:ext cx="274320" cy="274320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227320"/>
            <a:ext cx="2974848" cy="515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Secrets in a manager, not in code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82440" y="3666744"/>
            <a:ext cx="3596640" cy="2167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4282440" y="3666744"/>
            <a:ext cx="35966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19600" y="3666744"/>
            <a:ext cx="3322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AVAILABILITY AND RECOVERY</a:t>
            </a:r>
          </a:p>
        </p:txBody>
      </p:sp>
      <p:sp>
        <p:nvSpPr>
          <p:cNvPr id="43" name="Oval 42"/>
          <p:cNvSpPr/>
          <p:nvPr/>
        </p:nvSpPr>
        <p:spPr>
          <a:xfrm>
            <a:off x="4419600" y="4317492"/>
            <a:ext cx="274320" cy="274320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85360" y="4197096"/>
            <a:ext cx="2974848" cy="515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Replica set; failover tested</a:t>
            </a:r>
          </a:p>
        </p:txBody>
      </p:sp>
      <p:sp>
        <p:nvSpPr>
          <p:cNvPr id="45" name="Oval 44"/>
          <p:cNvSpPr/>
          <p:nvPr/>
        </p:nvSpPr>
        <p:spPr>
          <a:xfrm>
            <a:off x="4419600" y="4832604"/>
            <a:ext cx="274320" cy="274320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85360" y="4712208"/>
            <a:ext cx="2974848" cy="515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Backups separate from replication</a:t>
            </a:r>
          </a:p>
        </p:txBody>
      </p:sp>
      <p:sp>
        <p:nvSpPr>
          <p:cNvPr id="47" name="Oval 46"/>
          <p:cNvSpPr/>
          <p:nvPr/>
        </p:nvSpPr>
        <p:spPr>
          <a:xfrm>
            <a:off x="4419600" y="5347716"/>
            <a:ext cx="274320" cy="274320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85360" y="5227320"/>
            <a:ext cx="2974848" cy="515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Restore tested against RPO and RTO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07680" y="3666744"/>
            <a:ext cx="3596640" cy="2167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>
            <a:off x="8107680" y="3666744"/>
            <a:ext cx="35966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44840" y="3666744"/>
            <a:ext cx="3322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OPERATIONS</a:t>
            </a:r>
          </a:p>
        </p:txBody>
      </p:sp>
      <p:sp>
        <p:nvSpPr>
          <p:cNvPr id="52" name="Oval 51"/>
          <p:cNvSpPr/>
          <p:nvPr/>
        </p:nvSpPr>
        <p:spPr>
          <a:xfrm>
            <a:off x="8244840" y="4317492"/>
            <a:ext cx="274320" cy="274320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10600" y="4197096"/>
            <a:ext cx="2974848" cy="515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Metrics, slow queries, alerts</a:t>
            </a:r>
          </a:p>
        </p:txBody>
      </p:sp>
      <p:sp>
        <p:nvSpPr>
          <p:cNvPr id="54" name="Oval 53"/>
          <p:cNvSpPr/>
          <p:nvPr/>
        </p:nvSpPr>
        <p:spPr>
          <a:xfrm>
            <a:off x="8244840" y="4832604"/>
            <a:ext cx="274320" cy="274320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10600" y="4712208"/>
            <a:ext cx="2974848" cy="515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Runbooks with owners</a:t>
            </a:r>
          </a:p>
        </p:txBody>
      </p:sp>
      <p:sp>
        <p:nvSpPr>
          <p:cNvPr id="56" name="Oval 55"/>
          <p:cNvSpPr/>
          <p:nvPr/>
        </p:nvSpPr>
        <p:spPr>
          <a:xfrm>
            <a:off x="8244840" y="5347716"/>
            <a:ext cx="274320" cy="274320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10600" y="5227320"/>
            <a:ext cx="2974848" cy="515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Changes reviewed with explain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Go live only when every area has evidence — a single “not ready” area blocks the launch.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Answer in your own words — then compare with a partner.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565452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design documents around access patterns?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593238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When should related data be referenced?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3504" y="3621024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does schema validation add?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4648809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can $unwind over-count revenue?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5676595"/>
            <a:ext cx="384048" cy="384048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does the ESR rule say?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9944" y="1565452"/>
            <a:ext cx="384048" cy="384048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Examined ≫ returned — what does it suggest?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2593238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is replication not a backup?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621024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do RPO and RTO measure?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9944" y="4648809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Authentication vs. authorization?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9944" y="5676595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 you start on a slow endpoint?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8.1 — REVIEW A QUERY AND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Module 8 checkpoint A: from find({}) to a bounded, indexed query.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5332" y="1298448"/>
            <a:ext cx="5618988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labs/day-03/exercises/exercise-8.1-review-a-query-and-projection.md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9773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app needs C101's paid orders, newest first, ten at a time: orderNumber, fulfillmentStatus, total and createdAt. Today it runs: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46272"/>
            <a:ext cx="3621024" cy="49250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db.orders.find({})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65376"/>
            <a:ext cx="388620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Add a selective filter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28529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Project the four fields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33649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33101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Sort newest first and limit to ten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3822191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6632" y="37673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a compound index, labelled E or 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1865376"/>
            <a:ext cx="306324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SOLUTION (AFTER DEBRIEF)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customerId: c101, paymentStatus: "PAID"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{ _id: 0, orderNumber: 1, … }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.sort({ createdAt: -1 }).limit(10)</a:t>
            </a:r>
          </a:p>
        </p:txBody>
      </p:sp>
      <p:sp>
        <p:nvSpPr>
          <p:cNvPr id="32" name="Oval 31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{ customerId: 1, paymentStatus: 1, createdAt: -1 }</a:t>
            </a:r>
          </a:p>
        </p:txBody>
      </p:sp>
      <p:sp>
        <p:nvSpPr>
          <p:cNvPr id="34" name="Oval 33"/>
          <p:cNvSpPr/>
          <p:nvPr/>
        </p:nvSpPr>
        <p:spPr>
          <a:xfrm>
            <a:off x="8778240" y="464718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7" y="4592319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4 orders: O6306, O6301, O6201, O6101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production query is selective, shaped, ordered, bounded — and backed by an index.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8.2 — DESIGN LEAST-PRIVILEGE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Module 8 checkpoint B: a permit / deny matrix for six identities.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20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63056" y="1298448"/>
            <a:ext cx="5541264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labs/day-03/exercises/exercise-8.2-design-least-privilege-roles.md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760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For each identity, list one permitted and one prohibited operation on training_store.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29356"/>
            <a:ext cx="3621024" cy="140055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1 Application service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2 Reporting service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3 Support engineer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4 Monitoring service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5 Backup service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6 Database administrator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65376"/>
            <a:ext cx="388620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Fill the permit / deny matrix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28529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Choose a role for each identity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33649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33101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Explain why the app never uses clusterAdmin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39634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6632" y="39085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Use placeholder names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1865376"/>
            <a:ext cx="306324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SOLUTION (AFTER DEBRIEF)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App: readWrite, never userAdmin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2944876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Reporting: read only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342036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3365500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Support: limited read, never drop</a:t>
            </a:r>
          </a:p>
        </p:txBody>
      </p:sp>
      <p:sp>
        <p:nvSpPr>
          <p:cNvPr id="32" name="Oval 31"/>
          <p:cNvSpPr/>
          <p:nvPr/>
        </p:nvSpPr>
        <p:spPr>
          <a:xfrm>
            <a:off x="8778240" y="396951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3914647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Monitoring: clusterMonitor, no writes</a:t>
            </a:r>
          </a:p>
        </p:txBody>
      </p:sp>
      <p:sp>
        <p:nvSpPr>
          <p:cNvPr id="34" name="Oval 33"/>
          <p:cNvSpPr/>
          <p:nvPr/>
        </p:nvSpPr>
        <p:spPr>
          <a:xfrm>
            <a:off x="8778240" y="4518659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7" y="4463795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Backup: backup role; DBA: separate identity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Least privilege limits the blast radius of any stolen credential.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8.3 — DEFINE RPO AND RTO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Module 8 checkpoint C: recovery targets for each part of the store.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0296" y="1298448"/>
            <a:ext cx="4764024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labs/day-03/exercises/exercise-8.3-define-rpo-and-rto.md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543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Treat training_store as a small retailer, not a global bank.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12440"/>
            <a:ext cx="3621024" cy="140055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Data sets to plan: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product catalog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customer profiles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orders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payments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reviews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65376"/>
            <a:ext cx="388620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Write RPO and RTO for each data set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29941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Pick a backup frequency that meets each RPO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36474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3592576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Describe how you would prove an orders restore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1865376"/>
            <a:ext cx="306324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SOLUTION (AFTER DEBRIEF)</a:t>
            </a:r>
          </a:p>
        </p:txBody>
      </p:sp>
      <p:sp>
        <p:nvSpPr>
          <p:cNvPr id="24" name="Oval 23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Orders, payments: RPO in minutes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Catalog: longer RPO is acceptable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3494023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Reviews: the most tolerant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396951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3914647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Checkout RTO shorter than reviews</a:t>
            </a:r>
          </a:p>
        </p:txBody>
      </p:sp>
      <p:sp>
        <p:nvSpPr>
          <p:cNvPr id="32" name="Oval 31"/>
          <p:cNvSpPr/>
          <p:nvPr/>
        </p:nvSpPr>
        <p:spPr>
          <a:xfrm>
            <a:off x="8778240" y="4518659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4463795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Prove it: counts, O5001, indexes, a read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backup job that succeeded is not a recovery plan — a measured restore is.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LAB 7 — PRODUCTION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course's final lab: treat training_store as a go-live candidate.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1700784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LAB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95144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60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83396" y="1298448"/>
            <a:ext cx="2820924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labs/day-03/lab7/LAB-7-GUIDE.md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6555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543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Reload first if Day 2–3 writes remain. Never restore over training_store.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12440"/>
            <a:ext cx="3621024" cy="121894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1 Stop the catalog collection scan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2 Monthly paid-order pipeline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3 Validator on training_store_ops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4 Restore to training_store_restore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5 Score go-live with 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65376"/>
            <a:ext cx="3886200" cy="36555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Filter, project, sort, limit, explain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29941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Build the pipeline with $match first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36474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3592576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Prove one accepted and one rejected insert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4245864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6632" y="4191000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Restore and compare product counts</a:t>
            </a:r>
          </a:p>
        </p:txBody>
      </p:sp>
      <p:sp>
        <p:nvSpPr>
          <p:cNvPr id="23" name="Oval 22"/>
          <p:cNvSpPr/>
          <p:nvPr/>
        </p:nvSpPr>
        <p:spPr>
          <a:xfrm>
            <a:off x="4663440" y="4703064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6632" y="4648200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Classify: ready, conditional or not ready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1865376"/>
            <a:ext cx="3063240" cy="36555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RESULTS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239572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Two active laptops returned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2871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2816352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Three months: July to September</a:t>
            </a:r>
          </a:p>
        </p:txBody>
      </p:sp>
      <p:sp>
        <p:nvSpPr>
          <p:cNvPr id="32" name="Oval 31"/>
          <p:cNvSpPr/>
          <p:nvPr/>
        </p:nvSpPr>
        <p:spPr>
          <a:xfrm>
            <a:off x="8778240" y="342036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3365500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OPS-BAD rejected</a:t>
            </a:r>
          </a:p>
        </p:txBody>
      </p:sp>
      <p:sp>
        <p:nvSpPr>
          <p:cNvPr id="34" name="Oval 33"/>
          <p:cNvSpPr/>
          <p:nvPr/>
        </p:nvSpPr>
        <p:spPr>
          <a:xfrm>
            <a:off x="8778240" y="38409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7" y="3786124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13 products in both databases</a:t>
            </a:r>
          </a:p>
        </p:txBody>
      </p:sp>
      <p:sp>
        <p:nvSpPr>
          <p:cNvPr id="36" name="Oval 35"/>
          <p:cNvSpPr/>
          <p:nvPr/>
        </p:nvSpPr>
        <p:spPr>
          <a:xfrm>
            <a:off x="8778240" y="43901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16567" y="4335272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Not ready — with named evidence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Lab 7 turns the whole course into one production-readiness review.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THE COURSE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One database, eight modules, one layer at a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9198" y="1316736"/>
            <a:ext cx="10123122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6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350" y="1389888"/>
            <a:ext cx="9976818" cy="43525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Every module added one layer to the same training_store database.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COURSE SUMMARY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why NoSQL exists to running MongoDB securely and reliably.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5778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55778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5303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 CAN NOW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029967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Choose a data model and design documents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3347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78024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Install, connect and load MongoDB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3697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81528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Query, update and aggregate documents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40479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85031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Index from query shapes and explain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443983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288536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Replicate for availability; shard for scale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047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892040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Secure, back up, monitor and troubleshoot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298448"/>
            <a:ext cx="530352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400800" y="1298448"/>
            <a:ext cx="530352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298448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irmala UI"/>
              </a:rPr>
              <a:t>NEXT: APPLY IT TO YOUR OWN SYSTEMS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1956816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1847088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Which query will you explain first?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2615184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2505456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When will you test a restore?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3273552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3163824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Which alert needs a runbook?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270248"/>
            <a:ext cx="5303520" cy="156362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270248"/>
            <a:ext cx="4937760" cy="1563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TAKE WITH YOU   </a:t>
            </a:r>
            <a:r>
              <a:rPr sz="1500" b="0" i="0">
                <a:solidFill>
                  <a:srgbClr val="000000"/>
                </a:solidFill>
                <a:latin typeface="Nirmala UI"/>
              </a:rPr>
              <a:t>The readiness checklist, your Lab 7 scorecard and one action for next week.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Model around access patterns, measure before tuning, secure by default and prove every recovery.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