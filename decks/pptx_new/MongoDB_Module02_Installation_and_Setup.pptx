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module matters</a:t>
            </a:r>
          </a:p>
          <a:p/>
          <a:p>
            <a:r>
              <a:t>  Every later lab needs a working MongoDB and a client that can reach it.</a:t>
            </a:r>
          </a:p>
          <a:p/>
          <a:p>
            <a:r>
              <a:t>  This module builds that environment and, just as important, proves it works.</a:t>
            </a:r>
          </a:p>
          <a:p/>
          <a:p>
            <a:r>
              <a:t>- What this module does</a:t>
            </a:r>
          </a:p>
          <a:p/>
          <a:p>
            <a:r>
              <a:t>  We choose where MongoDB runs, install or provision it, start it, connect with mongosh and Compass, run our first commands in training_store, and finish with security basics and troubleshooting.</a:t>
            </a:r>
          </a:p>
          <a:p/>
          <a:p>
            <a:r>
              <a:t>- The quote</a:t>
            </a:r>
          </a:p>
          <a:p/>
          <a:p>
            <a:r>
              <a:t>  A shell prompt is not proof.</a:t>
            </a:r>
          </a:p>
          <a:p/>
          <a:p>
            <a:r>
              <a:t>  A ping proves the server answers; a write and a read prove the environment is usable.</a:t>
            </a:r>
          </a:p>
          <a:p/>
          <a:p>
            <a:r>
              <a:t>  That is the standard for this module.</a:t>
            </a:r>
          </a:p>
          <a:p/>
          <a:p>
            <a:r>
              <a:t>- Where the course goes next</a:t>
            </a:r>
          </a:p>
          <a:p/>
          <a:p>
            <a:r>
              <a:t>  Module 3, Data Modeling with MongoDB, starts by loading the full training_store dataset on the environment you build today.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A new developer joins a team and gets a connection string on day one.</a:t>
            </a:r>
          </a:p>
          <a:p/>
          <a:p>
            <a:r>
              <a:t>  Before touching application code, they connect, ping, and write and read a test document.</a:t>
            </a:r>
          </a:p>
          <a:p/>
          <a:p>
            <a:r>
              <a:t>  That ten-minute check avoids hours of debugging the wrong layer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Walk through the six objectives on the left.</a:t>
            </a:r>
          </a:p>
          <a:p/>
          <a:p>
            <a:r>
              <a:t>  Learners choose a deployment option and explain the roles of mongod, mongosh, Compass and drivers.</a:t>
            </a:r>
          </a:p>
          <a:p/>
          <a:p>
            <a:r>
              <a:t>  They install or provision MongoDB, start it and connect with a connection string.</a:t>
            </a:r>
          </a:p>
          <a:p/>
          <a:p>
            <a:r>
              <a:t>  They create training_store, run insert, find, update and delete checks, protect credentials and diagnose common failures.</a:t>
            </a:r>
          </a:p>
          <a:p/>
          <a:p>
            <a:r>
              <a:t>- Six questions this module answers</a:t>
            </a:r>
          </a:p>
          <a:p/>
          <a:p>
            <a:r>
              <a:t>  Where should MongoDB run?</a:t>
            </a:r>
          </a:p>
          <a:p/>
          <a:p>
            <a:r>
              <a:t>  How do I install and start mongod?</a:t>
            </a:r>
          </a:p>
          <a:p/>
          <a:p>
            <a:r>
              <a:t>  How does a client find the server?</a:t>
            </a:r>
          </a:p>
          <a:p/>
          <a:p>
            <a:r>
              <a:t>  What proves the environment works?</a:t>
            </a:r>
          </a:p>
          <a:p/>
          <a:p>
            <a:r>
              <a:t>  How do I keep passwords out of sight?</a:t>
            </a:r>
          </a:p>
          <a:p/>
          <a:p>
            <a:r>
              <a:t>  And what do I check when it won't connect?</a:t>
            </a:r>
          </a:p>
          <a:p/>
          <a:p>
            <a:r>
              <a:t>- Set the expectation</a:t>
            </a:r>
          </a:p>
          <a:p/>
          <a:p>
            <a:r>
              <a:t>  The roadmap at the bottom is also the order of the hands-on lab.</a:t>
            </a:r>
          </a:p>
          <a:p/>
          <a:p>
            <a:r>
              <a:t>  The standard is proof: ping, write and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training_store sample database.</a:t>
            </a:r>
          </a:p>
          <a:p/>
          <a:p>
            <a:r>
              <a:t>- mongod</a:t>
            </a:r>
          </a:p>
          <a:p/>
          <a:p>
            <a:r>
              <a:t>  The MongoDB server process: it listens on a port, stores the data files and answers every request.</a:t>
            </a:r>
          </a:p>
          <a:p/>
          <a:p>
            <a:r>
              <a:t>- mongosh</a:t>
            </a:r>
          </a:p>
          <a:p/>
          <a:p>
            <a:r>
              <a:t>  The MongoDB Shell: a command-line client that sends commands to mongod and prints the results.</a:t>
            </a:r>
          </a:p>
          <a:p/>
          <a:p>
            <a:r>
              <a:t>- MongoDB Compass</a:t>
            </a:r>
          </a:p>
          <a:p/>
          <a:p>
            <a:r>
              <a:t>  MongoDB's graphical client for browsing and editing the same data that mongosh sees.</a:t>
            </a:r>
          </a:p>
          <a:p/>
          <a:p>
            <a:r>
              <a:t>- MongoDB Atlas</a:t>
            </a:r>
          </a:p>
          <a:p/>
          <a:p>
            <a:r>
              <a:t>  MongoDB's managed cloud service: the vendor runs, backs up and scales the cluster.</a:t>
            </a:r>
          </a:p>
          <a:p/>
          <a:p>
            <a:r>
              <a:t>- Connection string</a:t>
            </a:r>
          </a:p>
          <a:p/>
          <a:p>
            <a:r>
              <a:t>  A URI such as mongodb://localhost:27017 that tells a client where and how to connect.</a:t>
            </a:r>
          </a:p>
          <a:p/>
          <a:p>
            <a:r>
              <a:t>- localhost:27017</a:t>
            </a:r>
          </a:p>
          <a:p/>
          <a:p>
            <a:r>
              <a:t>  The default address of a local mongod: this machine, port 27017.</a:t>
            </a:r>
          </a:p>
          <a:p/>
          <a:p>
            <a:r>
              <a:t>- Authentication vs authorization</a:t>
            </a:r>
          </a:p>
          <a:p/>
          <a:p>
            <a:r>
              <a:t>  Authentication proves who you are; authorization (roles) decides what you may do.</a:t>
            </a:r>
          </a:p>
          <a:p/>
          <a:p>
            <a:r>
              <a:t>- Ping</a:t>
            </a:r>
          </a:p>
          <a:p/>
          <a:p>
            <a:r>
              <a:t>  db.runCommand({ ping: 1 }) returns ok: 1 when the server answers — reachability, not write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CLI is Command-Line Interface; CRUD is Create, Read, Update, Delete; DB is Database; DNS is Domain Name System; GUI is Graphical User Interface; IP is Internet Protocol; MSI is Microsoft Installer (Windows Installer package); OS is Operating System; SRV is Service (DNS SRV record); TLS is Transport Layer Security; URI is Uniform Resource Identifier; VM is Virtual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1</a:t>
            </a:r>
          </a:p>
          <a:p/>
          <a:p>
            <a:r>
              <a:t>  Module 1 explained NoSQL, MongoDB's document model and the basic architecture: clients such as mongosh and Compass talk to the mongod server.</a:t>
            </a:r>
          </a:p>
          <a:p/>
          <a:p>
            <a:r>
              <a:t>  Exercise 1.3 explored training_store on the instructor's server.</a:t>
            </a:r>
          </a:p>
          <a:p/>
          <a:p>
            <a:r>
              <a:t>- What changes now</a:t>
            </a:r>
          </a:p>
          <a:p/>
          <a:p>
            <a:r>
              <a:t>  In Module 2 every learner gets their own environment, or a verified connection to a shared one, and proves it with a ping, a write and a read.</a:t>
            </a:r>
          </a:p>
          <a:p/>
          <a:p>
            <a:r>
              <a:t>- The path</a:t>
            </a:r>
          </a:p>
          <a:p/>
          <a:p>
            <a:r>
              <a:t>  Part 1 chooses where MongoDB runs.</a:t>
            </a:r>
          </a:p>
          <a:p/>
          <a:p>
            <a:r>
              <a:t>  Part 2 installs and starts it.</a:t>
            </a:r>
          </a:p>
          <a:p/>
          <a:p>
            <a:r>
              <a:t>  Part 3 connects.</a:t>
            </a:r>
          </a:p>
          <a:p/>
          <a:p>
            <a:r>
              <a:t>  Part 4 creates training_store and runs the first commands.</a:t>
            </a:r>
          </a:p>
          <a:p/>
          <a:p>
            <a:r>
              <a:t>  Part 5 covers credentials and troubleshooting.</a:t>
            </a:r>
          </a:p>
          <a:p/>
          <a:p>
            <a:r>
              <a:t>  The official Exercises 2.1 to 2.4 and Day 1 Lab 1 close the module.</a:t>
            </a:r>
          </a:p>
          <a:p/>
          <a:p>
            <a:r>
              <a:t>- Promise from Module 1</a:t>
            </a:r>
          </a:p>
          <a:p/>
          <a:p>
            <a:r>
              <a:t>  Module 1 ended with three questions: local MongoDB or Atlas, how to install and start mongod and mongosh, and how to connect and load training_store.</a:t>
            </a:r>
          </a:p>
          <a:p/>
          <a:p>
            <a:r>
              <a:t>  This module answers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The installation steps, the connection string and the security work all depend on where MongoDB runs.</a:t>
            </a:r>
          </a:p>
          <a:p/>
          <a:p>
            <a:r>
              <a:t>  So we decide that first.</a:t>
            </a:r>
          </a:p>
          <a:p/>
          <a:p>
            <a:r>
              <a:t>- What this part answers</a:t>
            </a:r>
          </a:p>
          <a:p/>
          <a:p>
            <a:r>
              <a:t>  We compare local, container, self-managed and managed-cloud deployments, then use a simple decision flow.</a:t>
            </a:r>
          </a:p>
          <a:p/>
          <a:p>
            <a:r>
              <a:t>  Exercise 2.1 practises exactly this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Four options, one database</a:t>
            </a:r>
          </a:p>
          <a:p/>
          <a:p>
            <a:r>
              <a:t>  MongoDB can run locally with Community Edition, in a container, on a self-managed server or virtual machine, or as a managed cloud service such as MongoDB Atlas.</a:t>
            </a:r>
          </a:p>
          <a:p/>
          <a:p>
            <a:r>
              <a:t>  This diagram shows three of them; the self-managed server appears in the decision flow at the end of this part.</a:t>
            </a:r>
          </a:p>
          <a:p/>
          <a:p>
            <a:r>
              <a:t>- What stays the same</a:t>
            </a:r>
          </a:p>
          <a:p/>
          <a:p>
            <a:r>
              <a:t>  The commands you type in mongosh, the documents and the training_store collections are the same in every option.</a:t>
            </a:r>
          </a:p>
          <a:p/>
          <a:p>
            <a:r>
              <a:t>- What changes</a:t>
            </a:r>
          </a:p>
          <a:p/>
          <a:p>
            <a:r>
              <a:t>  Who installs, patches, backs up, secures and scales the server.</a:t>
            </a:r>
          </a:p>
          <a:p/>
          <a:p>
            <a:r>
              <a:t>  That responsibility is the real difference between the options.</a:t>
            </a:r>
          </a:p>
          <a:p/>
          <a:p>
            <a:r>
              <a:t>- What it shows</a:t>
            </a:r>
          </a:p>
          <a:p/>
          <a:p>
            <a:r>
              <a:t>  The training_store application connecting to three kinds of deployment: a local mongod on the developer machine, a containerized mongod, and a hosted MongoDB service.</a:t>
            </a:r>
          </a:p>
          <a:p/>
          <a:p>
            <a:r>
              <a:t>- How to read it</a:t>
            </a:r>
          </a:p>
          <a:p/>
          <a:p>
            <a:r>
              <a:t>  Each box holds the same training_store database with products, customers, orders and reviews.</a:t>
            </a:r>
          </a:p>
          <a:p/>
          <a:p>
            <a:r>
              <a:t>  Only the Use line at the bottom changes.</a:t>
            </a:r>
          </a:p>
          <a:p/>
          <a:p>
            <a:r>
              <a:t>- Key point</a:t>
            </a:r>
          </a:p>
          <a:p/>
          <a:p>
            <a:r>
              <a:t>  The database is the same everywhere; who runs the server is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local means</a:t>
            </a:r>
          </a:p>
          <a:p/>
          <a:p>
            <a:r>
              <a:t>  MongoDB Community Edition runs directly on the learner's computer.</a:t>
            </a:r>
          </a:p>
          <a:p/>
          <a:p>
            <a:r>
              <a:t>  No internet is needed after installation.</a:t>
            </a:r>
          </a:p>
          <a:p/>
          <a:p>
            <a:r>
              <a:t>- Best for</a:t>
            </a:r>
          </a:p>
          <a:p/>
          <a:p>
            <a:r>
              <a:t>  Classroom exercises, offline development, learning administration commands, testing applications locally, and understanding the mongod server process.</a:t>
            </a:r>
          </a:p>
          <a:p/>
          <a:p>
            <a:r>
              <a:t>- The safe default</a:t>
            </a:r>
          </a:p>
          <a:p/>
          <a:p>
            <a:r>
              <a:t>  A fresh local install listens on localhost only, and access control is off by default.</a:t>
            </a:r>
          </a:p>
          <a:p/>
          <a:p>
            <a:r>
              <a:t>  That is acceptable only because nobody else can reach the port.</a:t>
            </a:r>
          </a:p>
          <a:p/>
          <a:p>
            <a:r>
              <a:t>  Never widen bindIp without first enabling authentication.</a:t>
            </a:r>
          </a:p>
          <a:p/>
          <a:p>
            <a:r>
              <a:t>- What it shows</a:t>
            </a:r>
          </a:p>
          <a:p/>
          <a:p>
            <a:r>
              <a:t>  A developer laptop running all three pieces: mongosh, mongod and the data directory, dbPath, that holds training_store.</a:t>
            </a:r>
          </a:p>
          <a:p/>
          <a:p>
            <a:r>
              <a:t>- How to read it</a:t>
            </a:r>
          </a:p>
          <a:p/>
          <a:p>
            <a:r>
              <a:t>  mongosh reaches mongod on localhost:27017.</a:t>
            </a:r>
          </a:p>
          <a:p/>
          <a:p>
            <a:r>
              <a:t>  The bindIp: localhost label means only this machine can connect.</a:t>
            </a:r>
          </a:p>
          <a:p/>
          <a:p>
            <a:r>
              <a:t>  mongod reads and writes the data directory.</a:t>
            </a:r>
          </a:p>
          <a:p/>
          <a:p>
            <a:r>
              <a:t>- Key point</a:t>
            </a:r>
          </a:p>
          <a:p/>
          <a:p>
            <a:r>
              <a:t>  A local install is private by default, because it listens on localhost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containers</a:t>
            </a:r>
          </a:p>
          <a:p/>
          <a:p>
            <a:r>
              <a:t>  A container gives a portable, isolated MongoDB that can be created and removed in seconds.</a:t>
            </a:r>
          </a:p>
          <a:p/>
          <a:p>
            <a:r>
              <a:t>  That suits temporary test environments and CI pipelines.</a:t>
            </a:r>
          </a:p>
          <a:p/>
          <a:p>
            <a:r>
              <a:t>- The published port</a:t>
            </a:r>
          </a:p>
          <a:p/>
          <a:p>
            <a:r>
              <a:t>  The diagram's 27017:27017 maps host port 27017 to the container.</a:t>
            </a:r>
          </a:p>
          <a:p/>
          <a:p>
            <a:r>
              <a:t>  By default Docker publishes that port on every network interface of the host.</a:t>
            </a:r>
          </a:p>
          <a:p/>
          <a:p>
            <a:r>
              <a:t>  Our command adds 127.0.0.1 so only this machine can reach an unauthenticated server.</a:t>
            </a:r>
          </a:p>
          <a:p/>
          <a:p>
            <a:r>
              <a:t>- The volume</a:t>
            </a:r>
          </a:p>
          <a:p/>
          <a:p>
            <a:r>
              <a:t>  The named volume mongo-data is mounted at /data/db.</a:t>
            </a:r>
          </a:p>
          <a:p/>
          <a:p>
            <a:r>
              <a:t>  Without it, docker rm deletes the data along with the container.</a:t>
            </a:r>
          </a:p>
          <a:p/>
          <a:p>
            <a:r>
              <a:t>- The image</a:t>
            </a:r>
          </a:p>
          <a:p/>
          <a:p>
            <a:r>
              <a:t>  mongodb/mongodb-community-server is MongoDB's own Community image.</a:t>
            </a:r>
          </a:p>
          <a:p/>
          <a:p>
            <a:r>
              <a:t>  The Docker Official Image, mongo, works the same way.</a:t>
            </a:r>
          </a:p>
          <a:p/>
          <a:p>
            <a:r>
              <a:t>  Pin a version tag in real projects instead of latest.</a:t>
            </a:r>
          </a:p>
          <a:p/>
          <a:p>
            <a:r>
              <a:t>- What it shows</a:t>
            </a:r>
          </a:p>
          <a:p/>
          <a:p>
            <a:r>
              <a:t>  A MongoDB container on the developer host.</a:t>
            </a:r>
          </a:p>
          <a:p/>
          <a:p>
            <a:r>
              <a:t>  mongosh on the host reaches it at localhost:27017 through the published port 27017:27017.</a:t>
            </a:r>
          </a:p>
          <a:p/>
          <a:p>
            <a:r>
              <a:t>- How to read it</a:t>
            </a:r>
          </a:p>
          <a:p/>
          <a:p>
            <a:r>
              <a:t>  The container's /data/db is mounted on a named volume, so the data lives outside the container.</a:t>
            </a:r>
          </a:p>
          <a:p/>
          <a:p>
            <a:r>
              <a:t>- Key point</a:t>
            </a:r>
          </a:p>
          <a:p/>
          <a:p>
            <a:r>
              <a:t>  Without the volume, removing the container would remove training_store with it.</a:t>
            </a:r>
          </a:p>
          <a:p/>
          <a:p>
            <a:r>
              <a:t>- Line breaks</a:t>
            </a:r>
          </a:p>
          <a:p/>
          <a:p>
            <a:r>
              <a:t>  The command uses PowerShell's backtick to continue lines.</a:t>
            </a:r>
          </a:p>
          <a:p/>
          <a:p>
            <a:r>
              <a:t>  In bash or zsh, end each line with a backslash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Atlas is</a:t>
            </a:r>
          </a:p>
          <a:p/>
          <a:p>
            <a:r>
              <a:t>  MongoDB Atlas is MongoDB's managed cloud platform.</a:t>
            </a:r>
          </a:p>
          <a:p/>
          <a:p>
            <a:r>
              <a:t>  Atlas handles much of the infrastructure, maintenance and configuration.</a:t>
            </a:r>
          </a:p>
          <a:p/>
          <a:p>
            <a:r>
              <a:t>- Best for</a:t>
            </a:r>
          </a:p>
          <a:p/>
          <a:p>
            <a:r>
              <a:t>  Team projects, remote access, cloud application development, high availability and production-style practice.</a:t>
            </a:r>
          </a:p>
          <a:p/>
          <a:p>
            <a:r>
              <a:t>- What you still own</a:t>
            </a:r>
          </a:p>
          <a:p/>
          <a:p>
            <a:r>
              <a:t>  You still create the database users, choose which IP addresses may connect, and keep the connection string secret.</a:t>
            </a:r>
          </a:p>
          <a:p/>
          <a:p>
            <a:r>
              <a:t>  Atlas requires TLS on every connection.</a:t>
            </a:r>
          </a:p>
          <a:p/>
          <a:p>
            <a:r>
              <a:t>- What it shows</a:t>
            </a:r>
          </a:p>
          <a:p/>
          <a:p>
            <a:r>
              <a:t>  mongosh and Compass on a developer laptop connecting over a TLS-encrypted connection URI to a managed MongoDB cluster.</a:t>
            </a:r>
          </a:p>
          <a:p/>
          <a:p>
            <a:r>
              <a:t>- How to read it</a:t>
            </a:r>
          </a:p>
          <a:p/>
          <a:p>
            <a:r>
              <a:t>  Inside the cloud: a replica set with one primary and two secondaries, the training_store database, and the backups, monitoring and scaling the service provides.</a:t>
            </a:r>
          </a:p>
          <a:p/>
          <a:p>
            <a:r>
              <a:t>- Key point</a:t>
            </a:r>
          </a:p>
          <a:p/>
          <a:p>
            <a:r>
              <a:t>  In the cloud you manage users, network access and the URI; the vendor runs the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Internet and management</a:t>
            </a:r>
          </a:p>
          <a:p/>
          <a:p>
            <a:r>
              <a:t>  Local needs no internet after installation, and you manage it yourself.</a:t>
            </a:r>
          </a:p>
          <a:p/>
          <a:p>
            <a:r>
              <a:t>  Atlas needs internet, and Atlas manages the infrastructure.</a:t>
            </a:r>
          </a:p>
          <a:p/>
          <a:p>
            <a:r>
              <a:t>- Setup and address</a:t>
            </a:r>
          </a:p>
          <a:p/>
          <a:p>
            <a:r>
              <a:t>  Local setup is a software installation, reached at localhost:27017.</a:t>
            </a:r>
          </a:p>
          <a:p/>
          <a:p>
            <a:r>
              <a:t>  Atlas setup is a cloud account and a cluster, reached through an Atlas connection URI.</a:t>
            </a:r>
          </a:p>
          <a:p/>
          <a:p>
            <a:r>
              <a:t>- Remote access and best use</a:t>
            </a:r>
          </a:p>
          <a:p/>
          <a:p>
            <a:r>
              <a:t>  Local remote access requires configuration; Atlas has it built in, behind access controls.</a:t>
            </a:r>
          </a:p>
          <a:p/>
          <a:p>
            <a:r>
              <a:t>  Local is best for learning and local development; Atlas for cloud and team projects.</a:t>
            </a:r>
          </a:p>
          <a:p/>
          <a:p>
            <a:r>
              <a:t>- What it shows</a:t>
            </a:r>
          </a:p>
          <a:p/>
          <a:p>
            <a:r>
              <a:t>  The same clients and the same training_store hierarchy on both sides: collections, documents and fields.</a:t>
            </a:r>
          </a:p>
          <a:p/>
          <a:p>
            <a:r>
              <a:t>- How to read it</a:t>
            </a:r>
          </a:p>
          <a:p/>
          <a:p>
            <a:r>
              <a:t>  Local: clients reach localhost:27017, you own the files and you run mongod.</a:t>
            </a:r>
          </a:p>
          <a:p/>
          <a:p>
            <a:r>
              <a:t>  Managed cloud: clients use a TLS URI, backups are included and the vendor runs the cluster.</a:t>
            </a:r>
          </a:p>
          <a:p/>
          <a:p>
            <a:r>
              <a:t>- Key point</a:t>
            </a:r>
          </a:p>
          <a:p/>
          <a:p>
            <a:r>
              <a:t>  The data model and the commands are the same; the operating responsibility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Walk the flow</a:t>
            </a:r>
          </a:p>
          <a:p/>
          <a:p>
            <a:r>
              <a:t>  Start at the top: a classroom laptop points to local or Docker.</a:t>
            </a:r>
          </a:p>
          <a:p/>
          <a:p>
            <a:r>
              <a:t>  A shared or production-like need points to managed cloud.</a:t>
            </a:r>
          </a:p>
          <a:p/>
          <a:p>
            <a:r>
              <a:t>  A need for direct control of the operating system points to self-managed.</a:t>
            </a:r>
          </a:p>
          <a:p/>
          <a:p>
            <a:r>
              <a:t>- The fourth option</a:t>
            </a:r>
          </a:p>
          <a:p/>
          <a:p>
            <a:r>
              <a:t>  Self-managed means you install and operate mongod yourself on a server or virtual machine.</a:t>
            </a:r>
          </a:p>
          <a:p/>
          <a:p>
            <a:r>
              <a:t>  Regulated organizations often choose it for direct control, at the cost of patching, backups and monitoring.</a:t>
            </a:r>
          </a:p>
          <a:p/>
          <a:p>
            <a:r>
              <a:t>- Link to Exercise 2.1</a:t>
            </a:r>
          </a:p>
          <a:p/>
          <a:p>
            <a:r>
              <a:t>  Exercise 2.1 gives six scenarios.</a:t>
            </a:r>
          </a:p>
          <a:p/>
          <a:p>
            <a:r>
              <a:t>  Each answer must name the constraint: offline, disposable, shared, control, operations load or network.</a:t>
            </a:r>
          </a:p>
          <a:p/>
          <a:p>
            <a:r>
              <a:t>- What it shows</a:t>
            </a:r>
          </a:p>
          <a:p/>
          <a:p>
            <a:r>
              <a:t>  A decision flow.</a:t>
            </a:r>
          </a:p>
          <a:p/>
          <a:p>
            <a:r>
              <a:t>  Classroom laptop?</a:t>
            </a:r>
          </a:p>
          <a:p/>
          <a:p>
            <a:r>
              <a:t>  Yes leads to Local or Docker.</a:t>
            </a:r>
          </a:p>
          <a:p/>
          <a:p>
            <a:r>
              <a:t>  Otherwise: shared team or production-like?</a:t>
            </a:r>
          </a:p>
          <a:p/>
          <a:p>
            <a:r>
              <a:t>  Yes leads to Managed cloud.</a:t>
            </a:r>
          </a:p>
          <a:p/>
          <a:p>
            <a:r>
              <a:t>- How to read it</a:t>
            </a:r>
          </a:p>
          <a:p/>
          <a:p>
            <a:r>
              <a:t>  If neither, ask whether you need control of the operating system.</a:t>
            </a:r>
          </a:p>
          <a:p/>
          <a:p>
            <a:r>
              <a:t>  Yes leads to Self-managed, where you run mongod.</a:t>
            </a:r>
          </a:p>
          <a:p/>
          <a:p>
            <a:r>
              <a:t>  No sends you back to recheck your needs.</a:t>
            </a:r>
          </a:p>
          <a:p/>
          <a:p>
            <a:r>
              <a:t>- Key point</a:t>
            </a:r>
          </a:p>
          <a:p/>
          <a:p>
            <a:r>
              <a:t>  Every path ends with the same training_store; only the operations work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Connecting the parts</a:t>
            </a:r>
          </a:p>
          <a:p/>
          <a:p>
            <a:r>
              <a:t>  Part 1 chose where MongoDB runs.</a:t>
            </a:r>
          </a:p>
          <a:p/>
          <a:p>
            <a:r>
              <a:t>  Part 2 makes it run: the local install on each operating system, and the Atlas path for the cloud.</a:t>
            </a:r>
          </a:p>
          <a:p/>
          <a:p>
            <a:r>
              <a:t>- Watch for</a:t>
            </a:r>
          </a:p>
          <a:p/>
          <a:p>
            <a:r>
              <a:t>  Keep two programs apart: mongod, the server, and mongosh, the client.</a:t>
            </a:r>
          </a:p>
          <a:p/>
          <a:p>
            <a:r>
              <a:t>  Most setup confusion comes from mixing them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six steps</a:t>
            </a:r>
          </a:p>
          <a:p/>
          <a:p>
            <a:r>
              <a:t>  Install the MongoDB Server, make sure the data and log directories exist, start the service, ping it from mongosh, connect Compass, and insert a test document.</a:t>
            </a:r>
          </a:p>
          <a:p/>
          <a:p>
            <a:r>
              <a:t>- What a local environment contains</a:t>
            </a:r>
          </a:p>
          <a:p/>
          <a:p>
            <a:r>
              <a:t>  MongoDB Community Server runs the database.</a:t>
            </a:r>
          </a:p>
          <a:p/>
          <a:p>
            <a:r>
              <a:t>  mongosh is the command-line client.</a:t>
            </a:r>
          </a:p>
          <a:p/>
          <a:p>
            <a:r>
              <a:t>  Compass is an optional graphical interface.</a:t>
            </a:r>
          </a:p>
          <a:p/>
          <a:p>
            <a:r>
              <a:t>  The MongoDB Database Tools are optional import, export and backup utilities.</a:t>
            </a:r>
          </a:p>
          <a:p/>
          <a:p>
            <a:r>
              <a:t>- Follow the official page</a:t>
            </a:r>
          </a:p>
          <a:p/>
          <a:p>
            <a:r>
              <a:t>  MongoDB publishes install instructions for each operating system and version.</a:t>
            </a:r>
          </a:p>
          <a:p/>
          <a:p>
            <a:r>
              <a:t>  Use them instead of copying commands from old blog posts.</a:t>
            </a:r>
          </a:p>
          <a:p/>
          <a:p>
            <a:r>
              <a:t>- What it shows</a:t>
            </a:r>
          </a:p>
          <a:p/>
          <a:p>
            <a:r>
              <a:t>  The local install path: install mongod, create the data and log directories, start the service, ping from mongosh, connect Compass, insert a test document.</a:t>
            </a:r>
          </a:p>
          <a:p/>
          <a:p>
            <a:r>
              <a:t>- How to read it</a:t>
            </a:r>
          </a:p>
          <a:p/>
          <a:p>
            <a:r>
              <a:t>  Steps 1 to 3 are on the server side; steps 4 to 6 prove it from the client side.</a:t>
            </a:r>
          </a:p>
          <a:p/>
          <a:p>
            <a:r>
              <a:t>- Key point</a:t>
            </a:r>
          </a:p>
          <a:p/>
          <a:p>
            <a:r>
              <a:t>  Installing is only half the job; the last three steps prove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mongod</a:t>
            </a:r>
          </a:p>
          <a:p/>
          <a:p>
            <a:r>
              <a:t>  mongod is the database server process.</a:t>
            </a:r>
          </a:p>
          <a:p/>
          <a:p>
            <a:r>
              <a:t>  It stores the data, listens on port 27017 by default and does the actual work.</a:t>
            </a:r>
          </a:p>
          <a:p/>
          <a:p>
            <a:r>
              <a:t>- mongosh</a:t>
            </a:r>
          </a:p>
          <a:p/>
          <a:p>
            <a:r>
              <a:t>  mongosh is the interactive shell.</a:t>
            </a:r>
          </a:p>
          <a:p/>
          <a:p>
            <a:r>
              <a:t>  It only sends commands and prints results.</a:t>
            </a:r>
          </a:p>
          <a:p/>
          <a:p>
            <a:r>
              <a:t>- Two consequences</a:t>
            </a:r>
          </a:p>
          <a:p/>
          <a:p>
            <a:r>
              <a:t>  Stopping mongosh does not stop the database.</a:t>
            </a:r>
          </a:p>
          <a:p/>
          <a:p>
            <a:r>
              <a:t>  And if mongod is not running, the shell cannot connect, however correct the command is.</a:t>
            </a:r>
          </a:p>
          <a:p/>
          <a:p>
            <a:r>
              <a:t>- What it shows</a:t>
            </a:r>
          </a:p>
          <a:p/>
          <a:p>
            <a:r>
              <a:t>  mongod on the left, running on localhost:27017 and storing training_store.</a:t>
            </a:r>
          </a:p>
          <a:p/>
          <a:p>
            <a:r>
              <a:t>  mongosh on the right, a command-line client sending use training_store.</a:t>
            </a:r>
          </a:p>
          <a:p/>
          <a:p>
            <a:r>
              <a:t>- How to read it</a:t>
            </a:r>
          </a:p>
          <a:p/>
          <a:p>
            <a:r>
              <a:t>  Commands travel from mongosh to mongod on port 27017; results travel back.</a:t>
            </a:r>
          </a:p>
          <a:p/>
          <a:p>
            <a:r>
              <a:t>- Key point</a:t>
            </a:r>
          </a:p>
          <a:p/>
          <a:p>
            <a:r>
              <a:t>  Two separate programs: closing the shell never stops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Windows</a:t>
            </a:r>
          </a:p>
          <a:p/>
          <a:p>
            <a:r>
              <a:t>  Download MongoDB Community Server from the official website and run the MSI.</a:t>
            </a:r>
          </a:p>
          <a:p/>
          <a:p>
            <a:r>
              <a:t>  Choose Complete, install MongoDB as a Windows service, and optionally install Compass.</a:t>
            </a:r>
          </a:p>
          <a:p/>
          <a:p>
            <a:r>
              <a:t>  If mongosh isn't included in the package you chose, install it separately.</a:t>
            </a:r>
          </a:p>
          <a:p/>
          <a:p>
            <a:r>
              <a:t>  Then check the service in Windows Services or with Get-Service MongoDB.</a:t>
            </a:r>
          </a:p>
          <a:p/>
          <a:p>
            <a:r>
              <a:t>- macOS</a:t>
            </a:r>
          </a:p>
          <a:p/>
          <a:p>
            <a:r>
              <a:t>  Homebrew uses MongoDB's own tap.</a:t>
            </a:r>
          </a:p>
          <a:p/>
          <a:p>
            <a:r>
              <a:t>  The exact formula name can change with the version, so follow MongoDB's current macOS page.</a:t>
            </a:r>
          </a:p>
          <a:p/>
          <a:p>
            <a:r>
              <a:t>  brew services start runs mongod in the background.</a:t>
            </a:r>
          </a:p>
          <a:p/>
          <a:p>
            <a:r>
              <a:t>- Linux</a:t>
            </a:r>
          </a:p>
          <a:p/>
          <a:p>
            <a:r>
              <a:t>  Add MongoDB's official repository for your distribution; the distribution's default package is often old or not MongoDB's.</a:t>
            </a:r>
          </a:p>
          <a:p/>
          <a:p>
            <a:r>
              <a:t>  systemctl starts mongod, status shows whether it is running, and enable starts it again after a reboot.</a:t>
            </a:r>
          </a:p>
          <a:p/>
          <a:p>
            <a:r>
              <a:t>- Verify the tools</a:t>
            </a:r>
          </a:p>
          <a:p/>
          <a:p>
            <a:r>
              <a:t>  mongosh --version prints the shell version.</a:t>
            </a:r>
          </a:p>
          <a:p/>
          <a:p>
            <a:r>
              <a:t>  On Windows, mongod.exe is in the server's bin folder and usually not on the PATH, so check the service instead of running mongod --version.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Where the file lives</a:t>
            </a:r>
          </a:p>
          <a:p/>
          <a:p>
            <a:r>
              <a:t>  On Linux it is usually /etc/mongod.conf, and Homebrew on macOS puts one under its etc folder.</a:t>
            </a:r>
          </a:p>
          <a:p/>
          <a:p>
            <a:r>
              <a:t>  The Windows installer writes mongod.cfg in the server's bin folder.</a:t>
            </a:r>
          </a:p>
          <a:p/>
          <a:p>
            <a:r>
              <a:t>  The format is YAML in every case.</a:t>
            </a:r>
          </a:p>
          <a:p/>
          <a:p>
            <a:r>
              <a:t>- The four settings</a:t>
            </a:r>
          </a:p>
          <a:p/>
          <a:p>
            <a:r>
              <a:t>  storage.dbPath is the data directory.</a:t>
            </a:r>
          </a:p>
          <a:p/>
          <a:p>
            <a:r>
              <a:t>  systemLog.path is the log file.</a:t>
            </a:r>
          </a:p>
          <a:p/>
          <a:p>
            <a:r>
              <a:t>  net.port is the port, 27017 by default.</a:t>
            </a:r>
          </a:p>
          <a:p/>
          <a:p>
            <a:r>
              <a:t>  net.bindIp is the address mongod listens on.</a:t>
            </a:r>
          </a:p>
          <a:p/>
          <a:p>
            <a:r>
              <a:t>- Paths vary</a:t>
            </a:r>
          </a:p>
          <a:p/>
          <a:p>
            <a:r>
              <a:t>  Package installs pick their own default paths, such as /var/lib/mongodb on Ubuntu or a data folder under Program Files on Windows.</a:t>
            </a:r>
          </a:p>
          <a:p/>
          <a:p>
            <a:r>
              <a:t>  That is why the lab asks you to note the configuration file location.</a:t>
            </a:r>
          </a:p>
          <a:p/>
          <a:p>
            <a:r>
              <a:t>- bindIp is a security setting</a:t>
            </a:r>
          </a:p>
          <a:p/>
          <a:p>
            <a:r>
              <a:t>  Keep 127.0.0.1 for a local learning server.</a:t>
            </a:r>
          </a:p>
          <a:p/>
          <a:p>
            <a:r>
              <a:t>  Binding to 0.0.0.0 exposes mongod to every network the machine is on.</a:t>
            </a:r>
          </a:p>
          <a:p/>
          <a:p>
            <a:r>
              <a:t>  Only do that behind a firewall, with authentication and TLS enabled.</a:t>
            </a:r>
          </a:p>
          <a:p/>
          <a:p>
            <a:r>
              <a:t>- What it shows</a:t>
            </a:r>
          </a:p>
          <a:p/>
          <a:p>
            <a:r>
              <a:t>  A mongod.conf with four essential settings, storage.dbPath, systemLog.path, net.port and net.bindIp, loaded by a running mongod.</a:t>
            </a:r>
          </a:p>
          <a:p/>
          <a:p>
            <a:r>
              <a:t>- How to read it</a:t>
            </a:r>
          </a:p>
          <a:p/>
          <a:p>
            <a:r>
              <a:t>  Each setting becomes one runtime property: data directory, log file, port 27017 and bind address.</a:t>
            </a:r>
          </a:p>
          <a:p/>
          <a:p>
            <a:r>
              <a:t>- Key point</a:t>
            </a:r>
          </a:p>
          <a:p/>
          <a:p>
            <a:r>
              <a:t>  When mongod won't start or can't be reached, read the config file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Start</a:t>
            </a:r>
          </a:p>
          <a:p/>
          <a:p>
            <a:r>
              <a:t>  When mongod starts, it reads its configuration, opens the data directory, listens on port 27017 and is then ready for mongosh and Compass.</a:t>
            </a:r>
          </a:p>
          <a:p/>
          <a:p>
            <a:r>
              <a:t>- Stop</a:t>
            </a:r>
          </a:p>
          <a:p/>
          <a:p>
            <a:r>
              <a:t>  A clean shutdown lets clients disconnect, flushes data from memory to disk, closes the files and exits.</a:t>
            </a:r>
          </a:p>
          <a:p/>
          <a:p>
            <a:r>
              <a:t>  After that the port is closed.</a:t>
            </a:r>
          </a:p>
          <a:p/>
          <a:p>
            <a:r>
              <a:t>- Use the service manager</a:t>
            </a:r>
          </a:p>
          <a:p/>
          <a:p>
            <a:r>
              <a:t>  Use Stop-Service on Windows, brew services on macOS and systemctl on Linux.</a:t>
            </a:r>
          </a:p>
          <a:p/>
          <a:p>
            <a:r>
              <a:t>  Killing the process risks an unclean shutdown.</a:t>
            </a:r>
          </a:p>
          <a:p/>
          <a:p>
            <a:r>
              <a:t>- Admin rights</a:t>
            </a:r>
          </a:p>
          <a:p/>
          <a:p>
            <a:r>
              <a:t>  Start-Service and Stop-Service need an Administrator PowerShell; systemctl needs sudo.</a:t>
            </a:r>
          </a:p>
          <a:p/>
          <a:p>
            <a:r>
              <a:t>  enable makes mongod start again after a reboot.</a:t>
            </a:r>
          </a:p>
          <a:p/>
          <a:p>
            <a:r>
              <a:t>- What it shows</a:t>
            </a:r>
          </a:p>
          <a:p/>
          <a:p>
            <a:r>
              <a:t>  Two rows.</a:t>
            </a:r>
          </a:p>
          <a:p/>
          <a:p>
            <a:r>
              <a:t>  Start: start mongod, it listens on port 27017, and mongosh and Compass connect.</a:t>
            </a:r>
          </a:p>
          <a:p/>
          <a:p>
            <a:r>
              <a:t>  Stop: clients disconnect, mongod shuts down cleanly and the port closes.</a:t>
            </a:r>
          </a:p>
          <a:p/>
          <a:p>
            <a:r>
              <a:t>- How to read it</a:t>
            </a:r>
          </a:p>
          <a:p/>
          <a:p>
            <a:r>
              <a:t>  Follow the arrows left to right in each row.</a:t>
            </a:r>
          </a:p>
          <a:p/>
          <a:p>
            <a:r>
              <a:t>- Key point</a:t>
            </a:r>
          </a:p>
          <a:p/>
          <a:p>
            <a:r>
              <a:t>  Stop MongoDB with its service manager, so it shuts down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process</a:t>
            </a:r>
          </a:p>
          <a:p/>
          <a:p>
            <a:r>
              <a:t>  Sign in to Atlas, use or create an organization and a project, and create a deployment.</a:t>
            </a:r>
          </a:p>
          <a:p/>
          <a:p>
            <a:r>
              <a:t>  Pick a free or paid tier, a cloud provider and a region.</a:t>
            </a:r>
          </a:p>
          <a:p/>
          <a:p>
            <a:r>
              <a:t>- The two gates</a:t>
            </a:r>
          </a:p>
          <a:p/>
          <a:p>
            <a:r>
              <a:t>  Add your current IP address to the IP access list, and create a database user with only the roles it needs.</a:t>
            </a:r>
          </a:p>
          <a:p/>
          <a:p>
            <a:r>
              <a:t>  The source list gives these two steps in either order; both must exist before any client can connect.</a:t>
            </a:r>
          </a:p>
          <a:p/>
          <a:p>
            <a:r>
              <a:t>- Two different identities</a:t>
            </a:r>
          </a:p>
          <a:p/>
          <a:p>
            <a:r>
              <a:t>  An Atlas user signs in to the Atlas website.</a:t>
            </a:r>
          </a:p>
          <a:p/>
          <a:p>
            <a:r>
              <a:t>  A database user authenticates when a client connects to the cluster.</a:t>
            </a:r>
          </a:p>
          <a:p/>
          <a:p>
            <a:r>
              <a:t>  Don't reuse your Atlas login password as a database password.</a:t>
            </a:r>
          </a:p>
          <a:p/>
          <a:p>
            <a:r>
              <a:t>- The connection string</a:t>
            </a:r>
          </a:p>
          <a:p/>
          <a:p>
            <a:r>
              <a:t>  Copy it from the Connect dialog, because the cluster hostname is specific to your deployment.</a:t>
            </a:r>
          </a:p>
          <a:p/>
          <a:p>
            <a:r>
              <a:t>  It is an SRV string, which we unpack in Part 3.</a:t>
            </a:r>
          </a:p>
          <a:p/>
          <a:p>
            <a:r>
              <a:t>- What it shows</a:t>
            </a:r>
          </a:p>
          <a:p/>
          <a:p>
            <a:r>
              <a:t>  Six steps to a working Atlas-style deployment, from creating the training_store project to opening a mongosh session.</a:t>
            </a:r>
          </a:p>
          <a:p/>
          <a:p>
            <a:r>
              <a:t>- How to read it</a:t>
            </a:r>
          </a:p>
          <a:p/>
          <a:p>
            <a:r>
              <a:t>  Steps 3 and 4 are the two gates: allow a trusted client IP, and create a least-privilege database user.</a:t>
            </a:r>
          </a:p>
          <a:p/>
          <a:p>
            <a:r>
              <a:t>  Step 5 copies the secure SRV URI.</a:t>
            </a:r>
          </a:p>
          <a:p/>
          <a:p>
            <a:r>
              <a:t>- Key point</a:t>
            </a:r>
          </a:p>
          <a:p/>
          <a:p>
            <a:r>
              <a:t>  A cluster is not reachable until both the IP allowlist and the database user exist.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A distributed team needs a shared training database.</a:t>
            </a:r>
          </a:p>
          <a:p/>
          <a:p>
            <a:r>
              <a:t>The instructor creates one Atlas project, one cluster, one least-privilege database user per learner, and adds the classroom's public IP range to the access list, rather than opening the cluster to the whole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Individually for three minutes, then discuss.</a:t>
            </a:r>
          </a:p>
          <a:p/>
          <a:p>
            <a:r>
              <a:t>  Ask for the layer first, before anyone suggests a fix.</a:t>
            </a:r>
          </a:p>
          <a:p/>
          <a:p>
            <a:r>
              <a:t>- The layer</a:t>
            </a:r>
          </a:p>
          <a:p/>
          <a:p>
            <a:r>
              <a:t>  The service status is Stopped, so nothing listens on port 27017.</a:t>
            </a:r>
          </a:p>
          <a:p/>
          <a:p>
            <a:r>
              <a:t>  That is why mongosh gets connection refused rather than a timeout.</a:t>
            </a:r>
          </a:p>
          <a:p/>
          <a:p>
            <a:r>
              <a:t>- The fix and the proof</a:t>
            </a:r>
          </a:p>
          <a:p/>
          <a:p>
            <a:r>
              <a:t>  Start-Service MongoDB in an Administrator PowerShell.</a:t>
            </a:r>
          </a:p>
          <a:p/>
          <a:p>
            <a:r>
              <a:t>  Then run mongosh and db.runCommand({ ping: 1 }); ok: 1 proves the fix.</a:t>
            </a:r>
          </a:p>
          <a:p/>
          <a:p>
            <a:r>
              <a:t>- If it won't start</a:t>
            </a:r>
          </a:p>
          <a:p/>
          <a:p>
            <a:r>
              <a:t>  Read the server log named by systemLog.path.</a:t>
            </a:r>
          </a:p>
          <a:p/>
          <a:p>
            <a:r>
              <a:t>  Typical startup errors are a missing or unwritable dbPath and port 27017 already in use by another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Connecting the parts</a:t>
            </a:r>
          </a:p>
          <a:p/>
          <a:p>
            <a:r>
              <a:t>  The server is running.</a:t>
            </a:r>
          </a:p>
          <a:p/>
          <a:p>
            <a:r>
              <a:t>  Now we connect to it from mongosh and Compass, locally and in the cloud.</a:t>
            </a:r>
          </a:p>
          <a:p/>
          <a:p>
            <a:r>
              <a:t>- What to watch</a:t>
            </a:r>
          </a:p>
          <a:p/>
          <a:p>
            <a:r>
              <a:t>  The connection string is the key idea.</a:t>
            </a:r>
          </a:p>
          <a:p/>
          <a:p>
            <a:r>
              <a:t>  Once learners can read one left to right, most connection errors become easy to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clients</a:t>
            </a:r>
          </a:p>
          <a:p/>
          <a:p>
            <a:r>
              <a:t>  mongosh is the command-line shell, Compass is the graphical interface, and drivers are the libraries application code uses, for example the Node.js or Java driver.</a:t>
            </a:r>
          </a:p>
          <a:p/>
          <a:p>
            <a:r>
              <a:t>- One deployment</a:t>
            </a:r>
          </a:p>
          <a:p/>
          <a:p>
            <a:r>
              <a:t>  All three connect to the same mongod on the same port and see the same training_store data.</a:t>
            </a:r>
          </a:p>
          <a:p/>
          <a:p>
            <a:r>
              <a:t>  A document inserted in mongosh appears in Compass after a refresh.</a:t>
            </a:r>
          </a:p>
          <a:p/>
          <a:p>
            <a:r>
              <a:t>- What mongosh can do</a:t>
            </a:r>
          </a:p>
          <a:p/>
          <a:p>
            <a:r>
              <a:t>  Create databases and collections, insert and query documents, create indexes, run aggregation pipelines, inspect server information and run administrative commands.</a:t>
            </a:r>
          </a:p>
          <a:p/>
          <a:p>
            <a:r>
              <a:t>- What it shows</a:t>
            </a:r>
          </a:p>
          <a:p/>
          <a:p>
            <a:r>
              <a:t>  One mongod on port 27017 with training_store, read and written by three clients: mongosh, MongoDB Compass and a Node or Java driver.</a:t>
            </a:r>
          </a:p>
          <a:p/>
          <a:p>
            <a:r>
              <a:t>- How to read it</a:t>
            </a:r>
          </a:p>
          <a:p/>
          <a:p>
            <a:r>
              <a:t>  Every arrow says Read / Write; the green bar says Same data.</a:t>
            </a:r>
          </a:p>
          <a:p/>
          <a:p>
            <a:r>
              <a:t>- Key point</a:t>
            </a:r>
          </a:p>
          <a:p/>
          <a:p>
            <a:r>
              <a:t>  A different client is a different window, not a different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Localhost</a:t>
            </a:r>
          </a:p>
          <a:p/>
          <a:p>
            <a:r>
              <a:t>  localhost and 127.0.0.1 mean this machine.</a:t>
            </a:r>
          </a:p>
          <a:p/>
          <a:p>
            <a:r>
              <a:t>  Traffic never leaves it, which is why a local learning server can run without TLS.</a:t>
            </a:r>
          </a:p>
          <a:p/>
          <a:p>
            <a:r>
              <a:t>- Remote</a:t>
            </a:r>
          </a:p>
          <a:p/>
          <a:p>
            <a:r>
              <a:t>  A remote mongod is reached by hostname and port across a network.</a:t>
            </a:r>
          </a:p>
          <a:p/>
          <a:p>
            <a:r>
              <a:t>  It needs the port open in firewalls, TLS on the wire, and authentication.</a:t>
            </a:r>
          </a:p>
          <a:p/>
          <a:p>
            <a:r>
              <a:t>- The configuration link</a:t>
            </a:r>
          </a:p>
          <a:p/>
          <a:p>
            <a:r>
              <a:t>  A remote client can reach mongod only if bindIp includes an address on that network.</a:t>
            </a:r>
          </a:p>
          <a:p/>
          <a:p>
            <a:r>
              <a:t>  Widening bindIp without authentication and a firewall is how databases end up exposed on the internet.</a:t>
            </a:r>
          </a:p>
          <a:p/>
          <a:p>
            <a:r>
              <a:t>- What it shows</a:t>
            </a:r>
          </a:p>
          <a:p/>
          <a:p>
            <a:r>
              <a:t>  Localhost: mongosh, Compass and mongod on one machine at 127.0.0.1:27017.</a:t>
            </a:r>
          </a:p>
          <a:p/>
          <a:p>
            <a:r>
              <a:t>  Remote: a client laptop reaching a remote mongod at host:27017 over TLS.</a:t>
            </a:r>
          </a:p>
          <a:p/>
          <a:p>
            <a:r>
              <a:t>- How to read it</a:t>
            </a:r>
          </a:p>
          <a:p/>
          <a:p>
            <a:r>
              <a:t>  The lock on the right side marks the extra protection a network connection needs.</a:t>
            </a:r>
          </a:p>
          <a:p/>
          <a:p>
            <a:r>
              <a:t>- Key point</a:t>
            </a:r>
          </a:p>
          <a:p/>
          <a:p>
            <a:r>
              <a:t>  Leaving localhost adds network, TLS and authentication to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connection strings</a:t>
            </a:r>
          </a:p>
          <a:p/>
          <a:p>
            <a:r>
              <a:t>  Every client, mongosh, Compass or a driver, needs the same facts: which protocol, which user, which hosts and ports, which database and which options.</a:t>
            </a:r>
          </a:p>
          <a:p/>
          <a:p>
            <a:r>
              <a:t>  The connection string holds all of them in one line.</a:t>
            </a:r>
          </a:p>
          <a:p/>
          <a:p>
            <a:r>
              <a:t>- The standard format</a:t>
            </a:r>
          </a:p>
          <a:p/>
          <a:p>
            <a:r>
              <a:t>  mongodb:// lists every host explicitly, each with an optional port.</a:t>
            </a:r>
          </a:p>
          <a:p/>
          <a:p>
            <a:r>
              <a:t>  The port defaults to 27017.</a:t>
            </a:r>
          </a:p>
          <a:p/>
          <a:p>
            <a:r>
              <a:t>- authSource</a:t>
            </a:r>
          </a:p>
          <a:p/>
          <a:p>
            <a:r>
              <a:t>  authSource names the database that stores the user's credentials, often admin.</a:t>
            </a:r>
          </a:p>
          <a:p/>
          <a:p>
            <a:r>
              <a:t>  A wrong authSource is a common cause of authentication failed.</a:t>
            </a:r>
          </a:p>
          <a:p/>
          <a:p>
            <a:r>
              <a:t>- Special characters</a:t>
            </a:r>
          </a:p>
          <a:p/>
          <a:p>
            <a:r>
              <a:t>  If a password contains characters such as @, colon or slash, it must be percent-encoded in the URI.</a:t>
            </a:r>
          </a:p>
          <a:p/>
          <a:p>
            <a:r>
              <a:t>  Better still, don't put it in the URI at all.</a:t>
            </a:r>
          </a:p>
          <a:p/>
          <a:p>
            <a:r>
              <a:t>- What it shows</a:t>
            </a:r>
          </a:p>
          <a:p/>
          <a:p>
            <a:r>
              <a:t>  A standard mongodb:// URI split into parts: scheme, credentials, two replica-set hosts, the training_store database and ?authSource=admin.</a:t>
            </a:r>
          </a:p>
          <a:p/>
          <a:p>
            <a:r>
              <a:t>- How to read it</a:t>
            </a:r>
          </a:p>
          <a:p/>
          <a:p>
            <a:r>
              <a:t>  user:pass@ are placeholders.</a:t>
            </a:r>
          </a:p>
          <a:p/>
          <a:p>
            <a:r>
              <a:t>  host1 and host2 are both replica-set members, each on port 27017.</a:t>
            </a:r>
          </a:p>
          <a:p/>
          <a:p>
            <a:r>
              <a:t>  authSource names the authentication database.</a:t>
            </a:r>
          </a:p>
          <a:p/>
          <a:p>
            <a:r>
              <a:t>- Key point</a:t>
            </a:r>
          </a:p>
          <a:p/>
          <a:p>
            <a:r>
              <a:t>  Read a URI left to right: how, who, where, which database, which options.</a:t>
            </a:r>
          </a:p>
          <a:p/>
          <a:p>
            <a:r>
              <a:t>- The local examples</a:t>
            </a:r>
          </a:p>
          <a:p/>
          <a:p>
            <a:r>
              <a:t>  The first string reaches the default local server.</a:t>
            </a:r>
          </a:p>
          <a:p/>
          <a:p>
            <a:r>
              <a:t>  The second adds /training_store, so mongosh opens that database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SRV works</a:t>
            </a:r>
          </a:p>
          <a:p/>
          <a:p>
            <a:r>
              <a:t>  mongodb+srv:// gives one hostname.</a:t>
            </a:r>
          </a:p>
          <a:p/>
          <a:p>
            <a:r>
              <a:t>  The client looks up the DNS SRV record _mongodb._tcp plus that hostname and gets the list of members and ports.</a:t>
            </a:r>
          </a:p>
          <a:p/>
          <a:p>
            <a:r>
              <a:t>- Why cloud services use it</a:t>
            </a:r>
          </a:p>
          <a:p/>
          <a:p>
            <a:r>
              <a:t>  Atlas connection strings use this form.</a:t>
            </a:r>
          </a:p>
          <a:p/>
          <a:p>
            <a:r>
              <a:t>  The string stays short, and members can change without editing every application's configuration.</a:t>
            </a:r>
          </a:p>
          <a:p/>
          <a:p>
            <a:r>
              <a:t>- Defaults</a:t>
            </a:r>
          </a:p>
          <a:p/>
          <a:p>
            <a:r>
              <a:t>  An SRV string turns TLS on by default and never includes a port.</a:t>
            </a:r>
          </a:p>
          <a:p/>
          <a:p>
            <a:r>
              <a:t>  If DNS can't resolve the name, the connection fails before it reaches MongoDB.</a:t>
            </a:r>
          </a:p>
          <a:p/>
          <a:p>
            <a:r>
              <a:t>- What it shows</a:t>
            </a:r>
          </a:p>
          <a:p/>
          <a:p>
            <a:r>
              <a:t>  A client with a mongodb+srv:// URI asks DNS for the seed list.</a:t>
            </a:r>
          </a:p>
          <a:p/>
          <a:p>
            <a:r>
              <a:t>  The SRV lookup returns hostnames and ports, and the client connects to the discovered mongod 1, 2 and 3.</a:t>
            </a:r>
          </a:p>
          <a:p/>
          <a:p>
            <a:r>
              <a:t>- How to read it</a:t>
            </a:r>
          </a:p>
          <a:p/>
          <a:p>
            <a:r>
              <a:t>  The URI names one cluster host; DNS supplies the members and their ports.</a:t>
            </a:r>
          </a:p>
          <a:p/>
          <a:p>
            <a:r>
              <a:t>- Key point</a:t>
            </a:r>
          </a:p>
          <a:p/>
          <a:p>
            <a:r>
              <a:t>  SRV strings are short and survive cluster changes; they need working DNS.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Local</a:t>
            </a:r>
          </a:p>
          <a:p/>
          <a:p>
            <a:r>
              <a:t>  If MongoDB runs locally on the standard port, mongosh on its own connects to mongodb://localhost:27017.</a:t>
            </a:r>
          </a:p>
          <a:p/>
          <a:p>
            <a:r>
              <a:t>  Adding /training_store to the URI selects that database as soon as the shell opens.</a:t>
            </a:r>
          </a:p>
          <a:p/>
          <a:p>
            <a:r>
              <a:t>- With authentication</a:t>
            </a:r>
          </a:p>
          <a:p/>
          <a:p>
            <a:r>
              <a:t>  Pass --username and leave the password out.</a:t>
            </a:r>
          </a:p>
          <a:p/>
          <a:p>
            <a:r>
              <a:t>  mongosh prompts for it, so it never appears in the command, in the shell history or on a shared screen.</a:t>
            </a:r>
          </a:p>
          <a:p/>
          <a:p>
            <a:r>
              <a:t>- Atlas</a:t>
            </a:r>
          </a:p>
          <a:p/>
          <a:p>
            <a:r>
              <a:t>  In Atlas, open the deployment, select Connect, choose Shell and copy the generated command, because the cluster hostname is specific to your deployment.</a:t>
            </a:r>
          </a:p>
          <a:p/>
          <a:p>
            <a:r>
              <a:t>  cluster0.example.mongodb.net is a placeholder.</a:t>
            </a:r>
          </a:p>
          <a:p/>
          <a:p>
            <a:r>
              <a:t>- Line breaks</a:t>
            </a:r>
          </a:p>
          <a:p/>
          <a:p>
            <a:r>
              <a:t>  The backtick continues a PowerShell line.</a:t>
            </a:r>
          </a:p>
          <a:p/>
          <a:p>
            <a:r>
              <a:t>  In bash or zsh, use a backslash instead, as MongoDB's documentation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Same string, different client</a:t>
            </a:r>
          </a:p>
          <a:p/>
          <a:p>
            <a:r>
              <a:t>  Compass takes the same connection string as mongosh.</a:t>
            </a:r>
          </a:p>
          <a:p/>
          <a:p>
            <a:r>
              <a:t>  Paste it, connect, and browse databases, collections and documents.</a:t>
            </a:r>
          </a:p>
          <a:p/>
          <a:p>
            <a:r>
              <a:t>- Keep the secret out of sight</a:t>
            </a:r>
          </a:p>
          <a:p/>
          <a:p>
            <a:r>
              <a:t>  When the URI includes a password, never screenshot or project the connection dialog.</a:t>
            </a:r>
          </a:p>
          <a:p/>
          <a:p>
            <a:r>
              <a:t>  Use the separate password field, and don't save the password on a shared machine.</a:t>
            </a:r>
          </a:p>
          <a:p/>
          <a:p>
            <a:r>
              <a:t>- Four collections later</a:t>
            </a:r>
          </a:p>
          <a:p/>
          <a:p>
            <a:r>
              <a:t>  The diagram shows the full training_store with products, customers, orders and reviews.</a:t>
            </a:r>
          </a:p>
          <a:p/>
          <a:p>
            <a:r>
              <a:t>  On a new server you will see only what you have created; the four collections arrive when the dataset is loaded.</a:t>
            </a:r>
          </a:p>
          <a:p/>
          <a:p>
            <a:r>
              <a:t>- What it shows</a:t>
            </a:r>
          </a:p>
          <a:p/>
          <a:p>
            <a:r>
              <a:t>  Four Compass steps: New Connection, paste mongodb://localhost:27017, Connect, and browse training_store with its four collections.</a:t>
            </a:r>
          </a:p>
          <a:p/>
          <a:p>
            <a:r>
              <a:t>- How to read it</a:t>
            </a:r>
          </a:p>
          <a:p/>
          <a:p>
            <a:r>
              <a:t>  Follow the numbers left to right.</a:t>
            </a:r>
          </a:p>
          <a:p/>
          <a:p>
            <a:r>
              <a:t>- Key point</a:t>
            </a:r>
          </a:p>
          <a:p/>
          <a:p>
            <a:r>
              <a:t>  Compass takes the same connection string as mongosh.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prompt</a:t>
            </a:r>
          </a:p>
          <a:p/>
          <a:p>
            <a:r>
              <a:t>  After connecting, the shell shows a prompt like test&gt;.</a:t>
            </a:r>
          </a:p>
          <a:p/>
          <a:p>
            <a:r>
              <a:t>  The word test is the currently selected database.</a:t>
            </a:r>
          </a:p>
          <a:p/>
          <a:p>
            <a:r>
              <a:t>- Versions</a:t>
            </a:r>
          </a:p>
          <a:p/>
          <a:p>
            <a:r>
              <a:t>  mongosh --version runs in the operating-system terminal and prints the shell version.</a:t>
            </a:r>
          </a:p>
          <a:p/>
          <a:p>
            <a:r>
              <a:t>  db.version() runs inside mongosh and prints the server version.</a:t>
            </a:r>
          </a:p>
          <a:p/>
          <a:p>
            <a:r>
              <a:t>  They are two different programs, so the numbers differ.</a:t>
            </a:r>
          </a:p>
          <a:p/>
          <a:p>
            <a:r>
              <a:t>- Ping</a:t>
            </a:r>
          </a:p>
          <a:p/>
          <a:p>
            <a:r>
              <a:t>  db.runCommand({ ping: 1 }) returns ok: 1 when the server answers.</a:t>
            </a:r>
          </a:p>
          <a:p/>
          <a:p>
            <a:r>
              <a:t>  Ping proves reachability, not permission to write.</a:t>
            </a:r>
          </a:p>
          <a:p/>
          <a:p>
            <a:r>
              <a:t>- Connection details</a:t>
            </a:r>
          </a:p>
          <a:p/>
          <a:p>
            <a:r>
              <a:t>  db shows the current database.</a:t>
            </a:r>
          </a:p>
          <a:p/>
          <a:p>
            <a:r>
              <a:t>  db.getMongo() shows the connection the shell is using.</a:t>
            </a:r>
          </a:p>
          <a:p/>
          <a:p>
            <a:r>
              <a:t>  show dbs lists only databases that hold data, so training_store appears there once it has a document.</a:t>
            </a:r>
          </a:p>
          <a:p/>
          <a:p>
            <a:r>
              <a:t>- What it shows</a:t>
            </a:r>
          </a:p>
          <a:p/>
          <a:p>
            <a:r>
              <a:t>  Four checks in order: port 27017 open, mongosh connected to mongod, db.runCommand ping returning ok: 1, and show dbs listing training_store.</a:t>
            </a:r>
          </a:p>
          <a:p/>
          <a:p>
            <a:r>
              <a:t>- How to read it</a:t>
            </a:r>
          </a:p>
          <a:p/>
          <a:p>
            <a:r>
              <a:t>  Each check needs the one before it; the green ticks mean each step passed.</a:t>
            </a:r>
          </a:p>
          <a:p/>
          <a:p>
            <a:r>
              <a:t>- Key point</a:t>
            </a:r>
          </a:p>
          <a:p/>
          <a:p>
            <a:r>
              <a:t>  Check in order, so the first failure tells you which layer is broken.</a:t>
            </a:r>
          </a:p>
          <a:p/>
          <a:p>
            <a:r>
              <a:t>- Versions and sizes</a:t>
            </a:r>
          </a:p>
          <a:p/>
          <a:p>
            <a:r>
              <a:t>  8.0.4 is an example; print your own with db.version().</a:t>
            </a:r>
          </a:p>
          <a:p/>
          <a:p>
            <a:r>
              <a:t>  The sizes after show dbs vary from machine to machine.</a:t>
            </a:r>
          </a:p>
          <a:p/>
          <a:p>
            <a:r>
              <a:t>- About the diagram</a:t>
            </a:r>
          </a:p>
          <a:p/>
          <a:p>
            <a:r>
              <a:t>  The diagram's last box shows show dbs listing training_store.</a:t>
            </a:r>
          </a:p>
          <a:p/>
          <a:p>
            <a:r>
              <a:t>  That is the state after training_store holds data; on a brand-new server you see only admin, config and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Individually for five minutes, then compare in pairs.</a:t>
            </a:r>
          </a:p>
          <a:p/>
          <a:p>
            <a:r>
              <a:t>  Collect one answer per learner on the board, without any password.</a:t>
            </a:r>
          </a:p>
          <a:p/>
          <a:p>
            <a:r>
              <a:t>- A and B</a:t>
            </a:r>
          </a:p>
          <a:p/>
          <a:p>
            <a:r>
              <a:t>  A is mongodb://localhost:27017, which is also what mongosh uses with no arguments.</a:t>
            </a:r>
          </a:p>
          <a:p/>
          <a:p>
            <a:r>
              <a:t>  B is mongodb://localhost:27017/training_store.</a:t>
            </a:r>
          </a:p>
          <a:p/>
          <a:p>
            <a:r>
              <a:t>- C</a:t>
            </a:r>
          </a:p>
          <a:p/>
          <a:p>
            <a:r>
              <a:t>  mongosh "mongodb+srv://cluster0.example.mongodb.net/" --username trainingUser.</a:t>
            </a:r>
          </a:p>
          <a:p/>
          <a:p>
            <a:r>
              <a:t>  No port: the SRV lookup supplies the members and ports, and TLS is on by default.</a:t>
            </a:r>
          </a:p>
          <a:p/>
          <a:p>
            <a:r>
              <a:t>- The password</a:t>
            </a:r>
          </a:p>
          <a:p/>
          <a:p>
            <a:r>
              <a:t>  mongosh prompts for it.</a:t>
            </a:r>
          </a:p>
          <a:p/>
          <a:p>
            <a:r>
              <a:t>  In an application, it comes from an environment variable or a secret store, never from source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A ping proves the server answers.</a:t>
            </a:r>
          </a:p>
          <a:p/>
          <a:p>
            <a:r>
              <a:t>  It doesn't prove you can write.</a:t>
            </a:r>
          </a:p>
          <a:p/>
          <a:p>
            <a:r>
              <a:t>  This part runs the four CRUD operations as a readiness test.</a:t>
            </a:r>
          </a:p>
          <a:p/>
          <a:p>
            <a:r>
              <a:t>- Two probe documents</a:t>
            </a:r>
          </a:p>
          <a:p/>
          <a:p>
            <a:r>
              <a:t>  Day 1 Lab 1 uses two: the environment_check collection and the LAB1 probe product.</a:t>
            </a:r>
          </a:p>
          <a:p/>
          <a:p>
            <a:r>
              <a:t>  Neither clashes with the real training_store catalog, which is loaded at the end of the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use changes context only</a:t>
            </a:r>
          </a:p>
          <a:p/>
          <a:p>
            <a:r>
              <a:t>  use training_store switches the current database.</a:t>
            </a:r>
          </a:p>
          <a:p/>
          <a:p>
            <a:r>
              <a:t>  It does not create anything on disk, so show dbs does not list training_store yet.</a:t>
            </a:r>
          </a:p>
          <a:p/>
          <a:p>
            <a:r>
              <a:t>- Explicit or implicit</a:t>
            </a:r>
          </a:p>
          <a:p/>
          <a:p>
            <a:r>
              <a:t>  db.createCollection creates an empty collection and returns ok: 1.</a:t>
            </a:r>
          </a:p>
          <a:p/>
          <a:p>
            <a:r>
              <a:t>  Or skip it: the first insertOne creates both the collection and the database.</a:t>
            </a:r>
          </a:p>
          <a:p/>
          <a:p>
            <a:r>
              <a:t>- Lab 1</a:t>
            </a:r>
          </a:p>
          <a:p/>
          <a:p>
            <a:r>
              <a:t>  Day 1 Lab 1 creates environment_check explicitly in Step 6, and products explicitly in Step 9, exactly as in the top half of the diagram, on an empty server.</a:t>
            </a:r>
          </a:p>
          <a:p/>
          <a:p>
            <a:r>
              <a:t>  The Predict the Shell Output exercise shows the implicit way: the first insertOne creates environment_check.</a:t>
            </a:r>
          </a:p>
          <a:p/>
          <a:p>
            <a:r>
              <a:t>- The diagram's TS-001</a:t>
            </a:r>
          </a:p>
          <a:p/>
          <a:p>
            <a:r>
              <a:t>  The diagram's implicit example inserts a throwaway SKU, TS-001.</a:t>
            </a:r>
          </a:p>
          <a:p/>
          <a:p>
            <a:r>
              <a:t>  It is not a training_store product, so we don't insert it; Lab 1 uses its own probe, LAB1, and deletes it.</a:t>
            </a:r>
          </a:p>
          <a:p/>
          <a:p>
            <a:r>
              <a:t>- On a loaded database</a:t>
            </a:r>
          </a:p>
          <a:p/>
          <a:p>
            <a:r>
              <a:t>  If training_store is already loaded, for example on an instructor-provided server, createCollection on an existing name such as products fails with Collection already exists.</a:t>
            </a:r>
          </a:p>
          <a:p/>
          <a:p>
            <a:r>
              <a:t>  That is expected; the collection is already there.</a:t>
            </a:r>
          </a:p>
          <a:p/>
          <a:p>
            <a:r>
              <a:t>- What it shows</a:t>
            </a:r>
          </a:p>
          <a:p/>
          <a:p>
            <a:r>
              <a:t>  Two ways to create a collection in training_store: explicitly with db.createCollection, or implicitly with the first insertOne.</a:t>
            </a:r>
          </a:p>
          <a:p/>
          <a:p>
            <a:r>
              <a:t>- How to read it</a:t>
            </a:r>
          </a:p>
          <a:p/>
          <a:p>
            <a:r>
              <a:t>  Both arrows end at the same result: the collection exists.</a:t>
            </a:r>
          </a:p>
          <a:p/>
          <a:p>
            <a:r>
              <a:t>  The top one creates it empty; the bottom one creates it with its first document.</a:t>
            </a:r>
          </a:p>
          <a:p/>
          <a:p>
            <a:r>
              <a:t>- Key point</a:t>
            </a:r>
          </a:p>
          <a:p/>
          <a:p>
            <a:r>
              <a:t>  Collections and databases appear on the first write; use alone creates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insert</a:t>
            </a:r>
          </a:p>
          <a:p/>
          <a:p>
            <a:r>
              <a:t>  insertOne sends one document.</a:t>
            </a:r>
          </a:p>
          <a:p/>
          <a:p>
            <a:r>
              <a:t>  We didn't include _id, so MongoDB adds one: a new ObjectId, unique in the collection.</a:t>
            </a:r>
          </a:p>
          <a:p/>
          <a:p>
            <a:r>
              <a:t>  The result says acknowledged: true and shows that insertedId.</a:t>
            </a:r>
          </a:p>
          <a:p/>
          <a:p>
            <a:r>
              <a:t>- The read</a:t>
            </a:r>
          </a:p>
          <a:p/>
          <a:p>
            <a:r>
              <a:t>  findOne with status READY returns the same document, now including _id.</a:t>
            </a:r>
          </a:p>
          <a:p/>
          <a:p>
            <a:r>
              <a:t>  The date comes back as ISODate: a real BSON date, not a string.</a:t>
            </a:r>
          </a:p>
          <a:p/>
          <a:p>
            <a:r>
              <a:t>- Output style</a:t>
            </a:r>
          </a:p>
          <a:p/>
          <a:p>
            <a:r>
              <a:t>  mongosh prints strings with single quotes and shortens nothing; the ellipses on the slide stand for your own ObjectId and date.</a:t>
            </a:r>
          </a:p>
          <a:p/>
          <a:p>
            <a:r>
              <a:t>- Link to the lab</a:t>
            </a:r>
          </a:p>
          <a:p/>
          <a:p>
            <a:r>
              <a:t>  This is Step 7 of Day 1 Lab 1.</a:t>
            </a:r>
          </a:p>
          <a:p/>
          <a:p>
            <a:r>
              <a:t>  Step 8 adds three component documents with insertMany, counts at least 4 documents, and updates the participant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probe</a:t>
            </a:r>
          </a:p>
          <a:p/>
          <a:p>
            <a:r>
              <a:t>  Day 1 Lab 1 inserts one probe product, sku LAB1, named Connectivity Probe.</a:t>
            </a:r>
          </a:p>
          <a:p/>
          <a:p>
            <a:r>
              <a:t>  It uses the real ACCESSORY category, but it is not part of the catalog, which is why the lab deletes it at the end.</a:t>
            </a:r>
          </a:p>
          <a:p/>
          <a:p>
            <a:r>
              <a:t>- Update</a:t>
            </a:r>
          </a:p>
          <a:p/>
          <a:p>
            <a:r>
              <a:t>  updateOne finds the probe by sku and $set adds verified: true.</a:t>
            </a:r>
          </a:p>
          <a:p/>
          <a:p>
            <a:r>
              <a:t>  matchedCount 1 means the filter found it; modifiedCount 1 means it changed.</a:t>
            </a:r>
          </a:p>
          <a:p/>
          <a:p>
            <a:r>
              <a:t>- Delete</a:t>
            </a:r>
          </a:p>
          <a:p/>
          <a:p>
            <a:r>
              <a:t>  deleteOne removes it and reports deletedCount 1.</a:t>
            </a:r>
          </a:p>
          <a:p/>
          <a:p>
            <a:r>
              <a:t>  The final find returns nothing, which is the proof.</a:t>
            </a:r>
          </a:p>
          <a:p/>
          <a:p>
            <a:r>
              <a:t>- A note on the sources</a:t>
            </a:r>
          </a:p>
          <a:p/>
          <a:p>
            <a:r>
              <a:t>  The module's source text inserts a Wireless Mouse under Electronics at 39.99, and MongoDB Fundamentals under Books at 49.99.</a:t>
            </a:r>
          </a:p>
          <a:p/>
          <a:p>
            <a:r>
              <a:t>  In training_store the Wireless Mouse is A410, ACCESSORY, 19.99, and MongoDB Fundamentals is B300, BOOK, 59.99, both stored as Decimal128.</a:t>
            </a:r>
          </a:p>
          <a:p/>
          <a:p>
            <a:r>
              <a:t>  So the deck uses the LAB1 probe instead of inventing conflicting products.</a:t>
            </a:r>
          </a:p>
          <a:p/>
          <a:p>
            <a:r>
              <a:t>- On a loaded database</a:t>
            </a:r>
          </a:p>
          <a:p/>
          <a:p>
            <a:r>
              <a:t>  Lab 1 Step 9 also runs db.createCollection("products").</a:t>
            </a:r>
          </a:p>
          <a:p/>
          <a:p>
            <a:r>
              <a:t>  On an empty server that returns ok: 1.</a:t>
            </a:r>
          </a:p>
          <a:p/>
          <a:p>
            <a:r>
              <a:t>  If training_store is already loaded, it fails with Collection already exists; skip it, the rest of the lab works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When to run it</a:t>
            </a:r>
          </a:p>
          <a:p/>
          <a:p>
            <a:r>
              <a:t>  Module 3's Lab 2, Path A, runs this script.</a:t>
            </a:r>
          </a:p>
          <a:p/>
          <a:p>
            <a:r>
              <a:t>  Learners taking the hand-insert path build the core documents first and run it at the start of Day 2.</a:t>
            </a:r>
          </a:p>
          <a:p/>
          <a:p>
            <a:r>
              <a:t>  Run it now only if the instructor asks.</a:t>
            </a:r>
          </a:p>
          <a:p/>
          <a:p>
            <a:r>
              <a:t>- What it does</a:t>
            </a:r>
          </a:p>
          <a:p/>
          <a:p>
            <a:r>
              <a:t>  load.js drops and reloads customers, products, orders and reviews, then creates unique indexes on sku, customerNumber, orderNumber and contact.email.</a:t>
            </a:r>
          </a:p>
          <a:p/>
          <a:p>
            <a:r>
              <a:t>  It prints the counts: 6 customers, 13 products, 17 orders, 6 reviews, and 13 paid orders.</a:t>
            </a:r>
          </a:p>
          <a:p/>
          <a:p>
            <a:r>
              <a:t>- Verify</a:t>
            </a:r>
          </a:p>
          <a:p/>
          <a:p>
            <a:r>
              <a:t>  show collections lists the four collections plus environment_check, which load.js doesn't drop.</a:t>
            </a:r>
          </a:p>
          <a:p/>
          <a:p>
            <a:r>
              <a:t>  countDocuments on products returns 13.</a:t>
            </a:r>
          </a:p>
          <a:p/>
          <a:p>
            <a:r>
              <a:t>  B300 is MongoDB Fundamentals at Decimal128 59.99.</a:t>
            </a:r>
          </a:p>
          <a:p/>
          <a:p>
            <a:r>
              <a:t>- Other paths</a:t>
            </a:r>
          </a:p>
          <a:p/>
          <a:p>
            <a:r>
              <a:t>  For Atlas or an instructor URI, replace the local string with your own connection string and add --username; mongosh prompts for the password before running the script.</a:t>
            </a:r>
          </a:p>
          <a:p/>
          <a:p>
            <a:r>
              <a:t>- A note on the sources</a:t>
            </a:r>
          </a:p>
          <a:p/>
          <a:p>
            <a:r>
              <a:t>  Lab 1 says the sample data is loaded in Module 3, and that is where the lab runs it.</a:t>
            </a:r>
          </a:p>
          <a:p/>
          <a:p>
            <a:r>
              <a:t>  This slide shows the command early because Module 1 promised that Module 2 would show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Two minutes to write predictions, then run the commands on the instructor screen, one at a time.</a:t>
            </a:r>
          </a:p>
          <a:p/>
          <a:p>
            <a:r>
              <a:t>- Before the insert</a:t>
            </a:r>
          </a:p>
          <a:p/>
          <a:p>
            <a:r>
              <a:t>  show dbs lists admin, config and local.</a:t>
            </a:r>
          </a:p>
          <a:p/>
          <a:p>
            <a:r>
              <a:t>  use prints switched to db training_store but creates nothing, so the second show dbs is unchanged.</a:t>
            </a:r>
          </a:p>
          <a:p/>
          <a:p>
            <a:r>
              <a:t>- After the insert</a:t>
            </a:r>
          </a:p>
          <a:p/>
          <a:p>
            <a:r>
              <a:t>  The insert creates the collection and the database together.</a:t>
            </a:r>
          </a:p>
          <a:p/>
          <a:p>
            <a:r>
              <a:t>  show dbs now includes training_store, and show collections lists environment_check.</a:t>
            </a:r>
          </a:p>
          <a:p/>
          <a:p>
            <a:r>
              <a:t>- Why it matters</a:t>
            </a:r>
          </a:p>
          <a:p/>
          <a:p>
            <a:r>
              <a:t>  Learners often think a typo in use created a new database.</a:t>
            </a:r>
          </a:p>
          <a:p/>
          <a:p>
            <a:r>
              <a:t>  It didn't; nothing exists until the first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A working environment can still leak a password or be open to the internet.</a:t>
            </a:r>
          </a:p>
          <a:p/>
          <a:p>
            <a:r>
              <a:t>  And when a connection fails, guessing wastes time.</a:t>
            </a:r>
          </a:p>
          <a:p/>
          <a:p>
            <a:r>
              <a:t>- Outcome</a:t>
            </a:r>
          </a:p>
          <a:p/>
          <a:p>
            <a:r>
              <a:t>  By the end, learners handle credentials safely and diagnose a failure by asking one question per layer.</a:t>
            </a:r>
          </a:p>
          <a:p/>
          <a:p>
            <a:r>
              <a:t>  Exercise 2.3 practises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Authentication</a:t>
            </a:r>
          </a:p>
          <a:p/>
          <a:p>
            <a:r>
              <a:t>  Authentication proves identity.</a:t>
            </a:r>
          </a:p>
          <a:p/>
          <a:p>
            <a:r>
              <a:t>  The client sends a username and password; mongod checks them against the authentication database named by authSource.</a:t>
            </a:r>
          </a:p>
          <a:p/>
          <a:p>
            <a:r>
              <a:t>- Authorization</a:t>
            </a:r>
          </a:p>
          <a:p/>
          <a:p>
            <a:r>
              <a:t>  Authorization applies roles.</a:t>
            </a:r>
          </a:p>
          <a:p/>
          <a:p>
            <a:r>
              <a:t>  Here readWrite on training_store allows find, insert and update in that database, and nothing else.</a:t>
            </a:r>
          </a:p>
          <a:p/>
          <a:p>
            <a:r>
              <a:t>- Local defaults</a:t>
            </a:r>
          </a:p>
          <a:p/>
          <a:p>
            <a:r>
              <a:t>  A fresh local Community install has access control turned off, which is tolerable only on localhost.</a:t>
            </a:r>
          </a:p>
          <a:p/>
          <a:p>
            <a:r>
              <a:t>  Atlas always requires a database user.</a:t>
            </a:r>
          </a:p>
          <a:p/>
          <a:p>
            <a:r>
              <a:t>- Prompt for the password</a:t>
            </a:r>
          </a:p>
          <a:p/>
          <a:p>
            <a:r>
              <a:t>  Pass --username and let mongosh prompt for the password, so it never appears in the command line or shell history.</a:t>
            </a:r>
          </a:p>
          <a:p/>
          <a:p>
            <a:r>
              <a:t>- What it shows</a:t>
            </a:r>
          </a:p>
          <a:p/>
          <a:p>
            <a:r>
              <a:t>  The user trainer_app signs in with a hidden password.</a:t>
            </a:r>
          </a:p>
          <a:p/>
          <a:p>
            <a:r>
              <a:t>  mongod authenticates the user against authSource admin, applies the readWrite role on training_store, and allows find, insert and update.</a:t>
            </a:r>
          </a:p>
          <a:p/>
          <a:p>
            <a:r>
              <a:t>- How to read it</a:t>
            </a:r>
          </a:p>
          <a:p/>
          <a:p>
            <a:r>
              <a:t>  Left to right: who you are, proof, what you may do, the request allowed.</a:t>
            </a:r>
          </a:p>
          <a:p/>
          <a:p>
            <a:r>
              <a:t>- Key point</a:t>
            </a:r>
          </a:p>
          <a:p/>
          <a:p>
            <a:r>
              <a:t>  Authentication proves identity; authorization decides the allowed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Unsafe</a:t>
            </a:r>
          </a:p>
          <a:p/>
          <a:p>
            <a:r>
              <a:t>  Passwords pasted into chat or screenshots, and URIs with passwords hard-coded in scripts or committed to Git.</a:t>
            </a:r>
          </a:p>
          <a:p/>
          <a:p>
            <a:r>
              <a:t>  Once shared, a password must be treated as leaked.</a:t>
            </a:r>
          </a:p>
          <a:p/>
          <a:p>
            <a:r>
              <a:t>- Safe</a:t>
            </a:r>
          </a:p>
          <a:p/>
          <a:p>
            <a:r>
              <a:t>  Keep the URI in an environment variable, let mongosh prompt for the password, or fetch the secret from a secret store at runtime.</a:t>
            </a:r>
          </a:p>
          <a:p/>
          <a:p>
            <a:r>
              <a:t>- Network access</a:t>
            </a:r>
          </a:p>
          <a:p/>
          <a:p>
            <a:r>
              <a:t>  For a temporary learning cluster, people sometimes allow 0.0.0.0/0.</a:t>
            </a:r>
          </a:p>
          <a:p/>
          <a:p>
            <a:r>
              <a:t>  That opens the cluster to every address on the internet.</a:t>
            </a:r>
          </a:p>
          <a:p/>
          <a:p>
            <a:r>
              <a:t>  Prefer your own IP or the classroom range; if you must use it, pair it with strong credentials, never use it in production, and remove it after class.</a:t>
            </a:r>
          </a:p>
          <a:p/>
          <a:p>
            <a:r>
              <a:t>- Environment variables and history</a:t>
            </a:r>
          </a:p>
          <a:p/>
          <a:p>
            <a:r>
              <a:t>  Setting the variable with the password typed inline still records it in the shell history.</a:t>
            </a:r>
          </a:p>
          <a:p/>
          <a:p>
            <a:r>
              <a:t>  Prefer a prompt or a secret store.</a:t>
            </a:r>
          </a:p>
          <a:p/>
          <a:p>
            <a:r>
              <a:t>- What it shows</a:t>
            </a:r>
          </a:p>
          <a:p/>
          <a:p>
            <a:r>
              <a:t>  Unsafe on the left: a password shared in a chat screenshot and a URI with a hard-coded password.</a:t>
            </a:r>
          </a:p>
          <a:p/>
          <a:p>
            <a:r>
              <a:t>  Safe on the right: an environment variable, a password prompt and a secret store.</a:t>
            </a:r>
          </a:p>
          <a:p/>
          <a:p>
            <a:r>
              <a:t>- How to read it</a:t>
            </a:r>
          </a:p>
          <a:p/>
          <a:p>
            <a:r>
              <a:t>  The password on the unsafe side is a made-up example of what never to do.</a:t>
            </a:r>
          </a:p>
          <a:p/>
          <a:p>
            <a:r>
              <a:t>- Key point</a:t>
            </a:r>
          </a:p>
          <a:p/>
          <a:p>
            <a:r>
              <a:t>  The secret should reach mongod without ever appearing on a screen or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mongosh: command not found</a:t>
            </a:r>
          </a:p>
          <a:p/>
          <a:p>
            <a:r>
              <a:t>  Before any of these: mongosh is not installed, its folder is not on the PATH, or the terminal was not reopened after installation.</a:t>
            </a:r>
          </a:p>
          <a:p/>
          <a:p>
            <a:r>
              <a:t>- Connection refused</a:t>
            </a:r>
          </a:p>
          <a:p/>
          <a:p>
            <a:r>
              <a:t>  Nothing is listening: the mongod service is stopped, it uses a different port, its bindIp excludes your address, or something blocks the port.</a:t>
            </a:r>
          </a:p>
          <a:p/>
          <a:p>
            <a:r>
              <a:t>- Timeout</a:t>
            </a:r>
          </a:p>
          <a:p/>
          <a:p>
            <a:r>
              <a:t>  No answer at all: a firewall, routing, a corporate proxy or the Atlas IP access list.</a:t>
            </a:r>
          </a:p>
          <a:p/>
          <a:p>
            <a:r>
              <a:t>  A refused connection answers quickly; a timeout waits.</a:t>
            </a:r>
          </a:p>
          <a:p/>
          <a:p>
            <a:r>
              <a:t>- Authentication failed</a:t>
            </a:r>
          </a:p>
          <a:p/>
          <a:p>
            <a:r>
              <a:t>  Check the database username, the password, authSource, and special characters that need encoding.</a:t>
            </a:r>
          </a:p>
          <a:p/>
          <a:p>
            <a:r>
              <a:t>  An Atlas login is not a database user.</a:t>
            </a:r>
          </a:p>
          <a:p/>
          <a:p>
            <a:r>
              <a:t>- What it shows</a:t>
            </a:r>
          </a:p>
          <a:p/>
          <a:p>
            <a:r>
              <a:t>  Four failed connections from mongosh or Compass to mongod: connection refused (port closed), timeout (no response), auth failed (bad credentials) and IP not allowed (address blocked).</a:t>
            </a:r>
          </a:p>
          <a:p/>
          <a:p>
            <a:r>
              <a:t>- How to read it</a:t>
            </a:r>
          </a:p>
          <a:p/>
          <a:p>
            <a:r>
              <a:t>  Each red cross sits at a different layer between the client and the server.</a:t>
            </a:r>
          </a:p>
          <a:p/>
          <a:p>
            <a:r>
              <a:t>- Key point</a:t>
            </a:r>
          </a:p>
          <a:p/>
          <a:p>
            <a:r>
              <a:t>  The exact error message points to the layer; read it before changing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Work in order</a:t>
            </a:r>
          </a:p>
          <a:p/>
          <a:p>
            <a:r>
              <a:t>  Is mongod running?</a:t>
            </a:r>
          </a:p>
          <a:p/>
          <a:p>
            <a:r>
              <a:t>  Is the port and bindIp right?</a:t>
            </a:r>
          </a:p>
          <a:p/>
          <a:p>
            <a:r>
              <a:t>  Are the credentials valid?</a:t>
            </a:r>
          </a:p>
          <a:p/>
          <a:p>
            <a:r>
              <a:t>  Is the network and TLS path open?</a:t>
            </a:r>
          </a:p>
          <a:p/>
          <a:p>
            <a:r>
              <a:t>  Each check depends on the one before.</a:t>
            </a:r>
          </a:p>
          <a:p/>
          <a:p>
            <a:r>
              <a:t>- One change at a time</a:t>
            </a:r>
          </a:p>
          <a:p/>
          <a:p>
            <a:r>
              <a:t>  Change one variable, then retest with the simplest client: mongosh and a ping.</a:t>
            </a:r>
          </a:p>
          <a:p/>
          <a:p>
            <a:r>
              <a:t>  Changing three settings at once hides which one fixed it.</a:t>
            </a:r>
          </a:p>
          <a:p/>
          <a:p>
            <a:r>
              <a:t>- Where to look</a:t>
            </a:r>
          </a:p>
          <a:p/>
          <a:p>
            <a:r>
              <a:t>  The server log, set by systemLog.path, records startup errors such as a missing dbPath or a port already in use.</a:t>
            </a:r>
          </a:p>
          <a:p/>
          <a:p>
            <a:r>
              <a:t>  The client's error message names the layer.</a:t>
            </a:r>
          </a:p>
          <a:p/>
          <a:p>
            <a:r>
              <a:t>- What it shows</a:t>
            </a:r>
          </a:p>
          <a:p/>
          <a:p>
            <a:r>
              <a:t>  From a connection symptom through four checks: is mongod running, is the port and bindIp correct, is authentication valid, is network and TLS OK.</a:t>
            </a:r>
          </a:p>
          <a:p/>
          <a:p>
            <a:r>
              <a:t>- How to read it</a:t>
            </a:r>
          </a:p>
          <a:p/>
          <a:p>
            <a:r>
              <a:t>  PASS moves right.</a:t>
            </a:r>
          </a:p>
          <a:p/>
          <a:p>
            <a:r>
              <a:t>  FAIL drops to a fix: start mongod, correct the port or bindIp, verify user, password and authSource, allow the IP or repair TLS.</a:t>
            </a:r>
          </a:p>
          <a:p/>
          <a:p>
            <a:r>
              <a:t>  Then recheck.</a:t>
            </a:r>
          </a:p>
          <a:p/>
          <a:p>
            <a:r>
              <a:t>- Key point</a:t>
            </a:r>
          </a:p>
          <a:p/>
          <a:p>
            <a:r>
              <a:t>  Fix one layer, retest, and only then move on.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A learner's Compass says connection refused.</a:t>
            </a:r>
          </a:p>
          <a:p/>
          <a:p>
            <a:r>
              <a:t>The instructor asks one question at a time: Get-Service MongoDB shows Stopped.</a:t>
            </a:r>
          </a:p>
          <a:p/>
          <a:p>
            <a:r>
              <a:t>Start-Service fixes the first layer, a ping returns ok: 1, and Compass connects without any other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checks, clear away the beliefs that cause the most trouble in setup labs.</a:t>
            </a:r>
          </a:p>
          <a:p/>
          <a:p>
            <a:r>
              <a:t>- Client versus server</a:t>
            </a:r>
          </a:p>
          <a:p/>
          <a:p>
            <a:r>
              <a:t>  mongosh and Compass are clients.</a:t>
            </a:r>
          </a:p>
          <a:p/>
          <a:p>
            <a:r>
              <a:t>  Closing them never stops mongod, and Compass shows the same documents as mongosh after a refresh.</a:t>
            </a:r>
          </a:p>
          <a:p/>
          <a:p>
            <a:r>
              <a:t>- Reachability versus access</a:t>
            </a:r>
          </a:p>
          <a:p/>
          <a:p>
            <a:r>
              <a:t>  use creates nothing, and a ping doesn't prove write permission.</a:t>
            </a:r>
          </a:p>
          <a:p/>
          <a:p>
            <a:r>
              <a:t>  Only a write and a read prove usable access.</a:t>
            </a:r>
          </a:p>
          <a:p/>
          <a:p>
            <a:r>
              <a:t>- Anti-patterns</a:t>
            </a:r>
          </a:p>
          <a:p/>
          <a:p>
            <a:r>
              <a:t>  Passwords in URIs, scripts or Git; screenshots of connection dialogs; reusing an Atlas login as a database user; changing several settings at once; and killing mongod instead of stopping it cleanly.</a:t>
            </a:r>
          </a:p>
          <a:p/>
          <a:p>
            <a:r>
              <a:t>  Binding to 0.0.0.0 or allowing 0.0.0.0/0 without authentication exposes the data to anyone.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Deploy and install</a:t>
            </a:r>
          </a:p>
          <a:p/>
          <a:p>
            <a:r>
              <a:t>  Local, container, self-managed or managed cloud.</a:t>
            </a:r>
          </a:p>
          <a:p/>
          <a:p>
            <a:r>
              <a:t>  Install mongod, or provision a cluster with a user and an IP allowlist.</a:t>
            </a:r>
          </a:p>
          <a:p/>
          <a:p>
            <a:r>
              <a:t>- Connect</a:t>
            </a:r>
          </a:p>
          <a:p/>
          <a:p>
            <a:r>
              <a:t>  A connection string tells mongosh, Compass and drivers where the server is.</a:t>
            </a:r>
          </a:p>
          <a:p/>
          <a:p>
            <a:r>
              <a:t>- First write and read</a:t>
            </a:r>
          </a:p>
          <a:p/>
          <a:p>
            <a:r>
              <a:t>  Ping proves reachability; a write and a read in training_store prove the environment is usable.</a:t>
            </a:r>
          </a:p>
          <a:p/>
          <a:p>
            <a:r>
              <a:t>- Secure and troubleshoot</a:t>
            </a:r>
          </a:p>
          <a:p/>
          <a:p>
            <a:r>
              <a:t>  Keep credentials out of code and screens, and diagnose failures layer by layer.</a:t>
            </a:r>
          </a:p>
          <a:p/>
          <a:p>
            <a:r>
              <a:t>- What it shows</a:t>
            </a:r>
          </a:p>
          <a:p/>
          <a:p>
            <a:r>
              <a:t>  Module 2 as five steps: deploy, install mongod, connect with a URI, mongosh and Compass, a first write and read in training_store, then secure and troubleshoot.</a:t>
            </a:r>
          </a:p>
          <a:p/>
          <a:p>
            <a:r>
              <a:t>- How to use it</a:t>
            </a:r>
          </a:p>
          <a:p/>
          <a:p>
            <a:r>
              <a:t>  Point to each box and ask the class for the one command or check that proves it.</a:t>
            </a:r>
          </a:p>
          <a:p/>
          <a:p>
            <a:r>
              <a:t>- Key point</a:t>
            </a:r>
          </a:p>
          <a:p/>
          <a:p>
            <a:r>
              <a:t>  These five steps are the setup every later lab assumes.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mongod</a:t>
            </a:r>
          </a:p>
          <a:p/>
          <a:p>
            <a:r>
              <a:t>  The database server process.</a:t>
            </a:r>
          </a:p>
          <a:p/>
          <a:p>
            <a:r>
              <a:t>  It stores the data, listens on a port and answers requests.</a:t>
            </a:r>
          </a:p>
          <a:p/>
          <a:p>
            <a:r>
              <a:t>- 2. mongosh</a:t>
            </a:r>
          </a:p>
          <a:p/>
          <a:p>
            <a:r>
              <a:t>  The interactive command-line shell.</a:t>
            </a:r>
          </a:p>
          <a:p/>
          <a:p>
            <a:r>
              <a:t>  It sends commands to mongod and prints the results; closing it doesn't stop the server.</a:t>
            </a:r>
          </a:p>
          <a:p/>
          <a:p>
            <a:r>
              <a:t>- 3. Compass</a:t>
            </a:r>
          </a:p>
          <a:p/>
          <a:p>
            <a:r>
              <a:t>  MongoDB's graphical client, connected with the same connection string, showing the same data.</a:t>
            </a:r>
          </a:p>
          <a:p/>
          <a:p>
            <a:r>
              <a:t>- 4. Default port</a:t>
            </a:r>
          </a:p>
          <a:p/>
          <a:p>
            <a:r>
              <a:t>  27017.</a:t>
            </a:r>
          </a:p>
          <a:p/>
          <a:p>
            <a:r>
              <a:t>  A local server is usually at localhost:27017.</a:t>
            </a:r>
          </a:p>
          <a:p/>
          <a:p>
            <a:r>
              <a:t>- 5. mongodb:// and mongodb+srv://</a:t>
            </a:r>
          </a:p>
          <a:p/>
          <a:p>
            <a:r>
              <a:t>  mongodb:// lists the hosts and optional ports.</a:t>
            </a:r>
          </a:p>
          <a:p/>
          <a:p>
            <a:r>
              <a:t>  mongodb+srv:// gives one hostname and uses a DNS SRV lookup to find the members; it turns TLS on by default.</a:t>
            </a:r>
          </a:p>
          <a:p/>
          <a:p>
            <a:r>
              <a:t>  Atlas provides the +srv form.</a:t>
            </a:r>
          </a:p>
          <a:p/>
          <a:p>
            <a:r>
              <a:t>- 6. Ping</a:t>
            </a:r>
          </a:p>
          <a:p/>
          <a:p>
            <a:r>
              <a:t>  That the server is reachable and answering.</a:t>
            </a:r>
          </a:p>
          <a:p/>
          <a:p>
            <a:r>
              <a:t>  It does not prove write permission.</a:t>
            </a:r>
          </a:p>
          <a:p/>
          <a:p>
            <a:r>
              <a:t>- 7. show dbs</a:t>
            </a:r>
          </a:p>
          <a:p/>
          <a:p>
            <a:r>
              <a:t>  use only switches context.</a:t>
            </a:r>
          </a:p>
          <a:p/>
          <a:p>
            <a:r>
              <a:t>  A database appears in show dbs once it holds data, after the first write.</a:t>
            </a:r>
          </a:p>
          <a:p/>
          <a:p>
            <a:r>
              <a:t>- 8. Connection refused</a:t>
            </a:r>
          </a:p>
          <a:p/>
          <a:p>
            <a:r>
              <a:t>  Nothing is listening: mongod is stopped, the port is wrong, or bindIp doesn't include the address.</a:t>
            </a:r>
          </a:p>
          <a:p/>
          <a:p>
            <a:r>
              <a:t>- 9. Authentication failed</a:t>
            </a:r>
          </a:p>
          <a:p/>
          <a:p>
            <a:r>
              <a:t>  Wrong username or password, the wrong authSource, or special characters that weren't percent-encoded.</a:t>
            </a:r>
          </a:p>
          <a:p/>
          <a:p>
            <a:r>
              <a:t>- 10. Credentials in code</a:t>
            </a:r>
          </a:p>
          <a:p/>
          <a:p>
            <a:r>
              <a:t>  Code is shared, copied and committed to Git, so the password leaks.</a:t>
            </a:r>
          </a:p>
          <a:p/>
          <a:p>
            <a:r>
              <a:t>  Use environment variables, a secret store or a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2.1 for Module 2.</a:t>
            </a:r>
          </a:p>
          <a:p/>
          <a:p>
            <a:r>
              <a:t>  The worksheet is labs/day-01/exercises/exercise-2.1-select-a-deployment-option.md; the answer key is in the solution folder next to it.</a:t>
            </a:r>
          </a:p>
          <a:p/>
          <a:p>
            <a:r>
              <a:t>  No MongoDB is needed; work in pairs.</a:t>
            </a:r>
          </a:p>
          <a:p/>
          <a:p>
            <a:r>
              <a:t>- Running it</a:t>
            </a:r>
          </a:p>
          <a:p/>
          <a:p>
            <a:r>
              <a:t>  Eight minutes of pair work, then a two-minute debrief.</a:t>
            </a:r>
          </a:p>
          <a:p/>
          <a:p>
            <a:r>
              <a:t>  Reveal the solution column only after pairs share one controversial row.</a:t>
            </a:r>
          </a:p>
          <a:p/>
          <a:p>
            <a:r>
              <a:t>- What to listen for</a:t>
            </a:r>
          </a:p>
          <a:p/>
          <a:p>
            <a:r>
              <a:t>  Each justification names a constraint: offline, disposable, shared, control, operations load or network.</a:t>
            </a:r>
          </a:p>
          <a:p/>
          <a:p>
            <a:r>
              <a:t>  A product name alone doesn't count.</a:t>
            </a:r>
          </a:p>
          <a:p/>
          <a:p>
            <a:r>
              <a:t>- Typical risks</a:t>
            </a:r>
          </a:p>
          <a:p/>
          <a:p>
            <a:r>
              <a:t>  Local: data lost with the laptop and no shared access.</a:t>
            </a:r>
          </a:p>
          <a:p/>
          <a:p>
            <a:r>
              <a:t>  Container: data lost without a volume.</a:t>
            </a:r>
          </a:p>
          <a:p/>
          <a:p>
            <a:r>
              <a:t>  Managed cloud: needs internet, and the IP allowlist and credentials must be managed.</a:t>
            </a:r>
          </a:p>
          <a:p/>
          <a:p>
            <a:r>
              <a:t>  Self-managed: you own patching, backups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2.2.</a:t>
            </a:r>
          </a:p>
          <a:p/>
          <a:p>
            <a:r>
              <a:t>  The worksheet is labs/day-01/exercises/exercise-2.2-interpret-a-connection-string.md.</a:t>
            </a:r>
          </a:p>
          <a:p/>
          <a:p>
            <a:r>
              <a:t>  No live connection is needed.</a:t>
            </a:r>
          </a:p>
          <a:p/>
          <a:p>
            <a:r>
              <a:t>- The placeholder</a:t>
            </a:r>
          </a:p>
          <a:p/>
          <a:p>
            <a:r>
              <a:t>  The worksheet and the slide both show the password as &lt;password&gt;, a placeholder, so that no credential-looking value appears on screen.</a:t>
            </a:r>
          </a:p>
          <a:p/>
          <a:p>
            <a:r>
              <a:t>- The database name</a:t>
            </a:r>
          </a:p>
          <a:p/>
          <a:p>
            <a:r>
              <a:t>  The sample's default database is training, not training_store.</a:t>
            </a:r>
          </a:p>
          <a:p/>
          <a:p>
            <a:r>
              <a:t>  That is deliberate: it is a generic example host, not our class server.</a:t>
            </a:r>
          </a:p>
          <a:p/>
          <a:p>
            <a:r>
              <a:t>- Security answers</a:t>
            </a:r>
          </a:p>
          <a:p/>
          <a:p>
            <a:r>
              <a:t>  Never screenshot the password.</a:t>
            </a:r>
          </a:p>
          <a:p/>
          <a:p>
            <a:r>
              <a:t>  Store the username and password in environment variables or a secret store.</a:t>
            </a:r>
          </a:p>
          <a:p/>
          <a:p>
            <a:r>
              <a:t>  Typical failures: wrong password, host not found, port blocked, special characters not encoded, TLS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2.3.</a:t>
            </a:r>
          </a:p>
          <a:p/>
          <a:p>
            <a:r>
              <a:t>  The worksheet is labs/day-01/exercises/exercise-2.3-diagnose-connection-failures.md.</a:t>
            </a:r>
          </a:p>
          <a:p/>
          <a:p>
            <a:r>
              <a:t>  Don't break a working classroom cluster unless the instructor has set up a sandbox.</a:t>
            </a:r>
          </a:p>
          <a:p/>
          <a:p>
            <a:r>
              <a:t>- Cases 1 and 2</a:t>
            </a:r>
          </a:p>
          <a:p/>
          <a:p>
            <a:r>
              <a:t>  Refused: is mongod running, on port 27017?</a:t>
            </a:r>
          </a:p>
          <a:p/>
          <a:p>
            <a:r>
              <a:t>  Check the service and net.port.</a:t>
            </a:r>
          </a:p>
          <a:p/>
          <a:p>
            <a:r>
              <a:t>  Authentication failed: retry with a known-good user; the mongod log shows the failure; fix the credentials or authSource.</a:t>
            </a:r>
          </a:p>
          <a:p/>
          <a:p>
            <a:r>
              <a:t>- Cases 3 and 4</a:t>
            </a:r>
          </a:p>
          <a:p/>
          <a:p>
            <a:r>
              <a:t>  Timeout: can you reach host and port?</a:t>
            </a:r>
          </a:p>
          <a:p/>
          <a:p>
            <a:r>
              <a:t>  Check the Atlas IP access list and local firewall.</a:t>
            </a:r>
          </a:p>
          <a:p/>
          <a:p>
            <a:r>
              <a:t>  DNS failure: resolve the hostname; fix it or check the VPN.</a:t>
            </a:r>
          </a:p>
          <a:p/>
          <a:p>
            <a:r>
              <a:t>- Cases 5 and 6</a:t>
            </a:r>
          </a:p>
          <a:p/>
          <a:p>
            <a:r>
              <a:t>  Unauthorized: the user authenticated but lacks the role; grant it and retry.</a:t>
            </a:r>
          </a:p>
          <a:p/>
          <a:p>
            <a:r>
              <a:t>  Invalid URI: read the whole string, fix the scheme or @, and percent-encode the password.</a:t>
            </a:r>
          </a:p>
          <a:p/>
          <a:p>
            <a:r>
              <a:t>- The habit</a:t>
            </a:r>
          </a:p>
          <a:p/>
          <a:p>
            <a:r>
              <a:t>  Change one variable, then retest with the simplest client: mongosh and db.runCommand({ ping: 1 }).</a:t>
            </a:r>
          </a:p>
          <a:p/>
          <a:p>
            <a:r>
              <a:t>  Learners come back to this table if a step of Lab 1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2.4.</a:t>
            </a:r>
          </a:p>
          <a:p/>
          <a:p>
            <a:r>
              <a:t>  The worksheet is labs/day-01/exercises/exercise-2.4-environment-readiness-checklist.md.</a:t>
            </a:r>
          </a:p>
          <a:p/>
          <a:p>
            <a:r>
              <a:t>  Introduce it now; learners complete it during or right after Lab 1, because it records what Lab 1 proves.</a:t>
            </a:r>
          </a:p>
          <a:p/>
          <a:p>
            <a:r>
              <a:t>- What to record</a:t>
            </a:r>
          </a:p>
          <a:p/>
          <a:p>
            <a:r>
              <a:t>  Local, container, managed cloud or instructor-provided; the hostname or cluster name; and the port if it isn't 27017.</a:t>
            </a:r>
          </a:p>
          <a:p/>
          <a:p>
            <a:r>
              <a:t>  No password and no full connection string.</a:t>
            </a:r>
          </a:p>
          <a:p/>
          <a:p>
            <a:r>
              <a:t>- The worksheet rows</a:t>
            </a:r>
          </a:p>
          <a:p/>
          <a:p>
            <a:r>
              <a:t>  The worksheet has ten rows.</a:t>
            </a:r>
          </a:p>
          <a:p/>
          <a:p>
            <a:r>
              <a:t>  The slide groups a few: mongosh and Compass share a line, credentials sit with the stored URI, and insert and read share a line.</a:t>
            </a:r>
          </a:p>
          <a:p/>
          <a:p>
            <a:r>
              <a:t>- Gaps</a:t>
            </a:r>
          </a:p>
          <a:p/>
          <a:p>
            <a:r>
              <a:t>  For each unchecked item, write the symptom, the likely layer, process, network, credentials or permission, and the next check.</a:t>
            </a:r>
          </a:p>
          <a:p/>
          <a:p>
            <a:r>
              <a:t>  Exercise 2.3's table gives the first check.</a:t>
            </a:r>
          </a:p>
          <a:p/>
          <a:p>
            <a:r>
              <a:t>  Report it without exposing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lab</a:t>
            </a:r>
          </a:p>
          <a:p/>
          <a:p>
            <a:r>
              <a:t>  This is Day 1 Lab 1, labs/day-01/lab1/LAB-1-GUIDE.md, and it closes Module 2.</a:t>
            </a:r>
          </a:p>
          <a:p/>
          <a:p>
            <a:r>
              <a:t>  The instructor answer key is labs/day-01/lab1/solution/LAB-1-SOLUTION.md.</a:t>
            </a:r>
          </a:p>
          <a:p/>
          <a:p>
            <a:r>
              <a:t>  Learners fill in the Exercise 2.4 checklist as they go.</a:t>
            </a:r>
          </a:p>
          <a:p/>
          <a:p>
            <a:r>
              <a:t>- Paths</a:t>
            </a:r>
          </a:p>
          <a:p/>
          <a:p>
            <a:r>
              <a:t>  Path A installs Community Edition and notes the config file.</a:t>
            </a:r>
          </a:p>
          <a:p/>
          <a:p>
            <a:r>
              <a:t>  Path B signs in, creates a database user, allows the current IP and copies the URI.</a:t>
            </a:r>
          </a:p>
          <a:p/>
          <a:p>
            <a:r>
              <a:t>  Path C uses an instructor-provided URI, shared securely, never in chat.</a:t>
            </a:r>
          </a:p>
          <a:p/>
          <a:p>
            <a:r>
              <a:t>- The trimmed code</a:t>
            </a:r>
          </a:p>
          <a:p/>
          <a:p>
            <a:r>
              <a:t>  The slide trims the READY document.</a:t>
            </a:r>
          </a:p>
          <a:p/>
          <a:p>
            <a:r>
              <a:t>  The full Step 7 document also has environment: training and shellConnected: true, as on the earlier insert slide.</a:t>
            </a:r>
          </a:p>
          <a:p/>
          <a:p>
            <a:r>
              <a:t>- Later steps</a:t>
            </a:r>
          </a:p>
          <a:p/>
          <a:p>
            <a:r>
              <a:t>  Step 8 inserts three component documents, counts 4 on a first run, and updates participant to the learner's name.</a:t>
            </a:r>
          </a:p>
          <a:p/>
          <a:p>
            <a:r>
              <a:t>  Step 9 runs the LAB1 probe in products: insert, find, update, delete; skip its createCollection if products already exists.</a:t>
            </a:r>
          </a:p>
          <a:p/>
          <a:p>
            <a:r>
              <a:t>  Step 10 opens the same document in Compass.</a:t>
            </a:r>
          </a:p>
          <a:p/>
          <a:p>
            <a:r>
              <a:t>  Step 11 inserts module: 2, validation: COMPLETE.</a:t>
            </a:r>
          </a:p>
          <a:p/>
          <a:p>
            <a:r>
              <a:t>- Before Module 3</a:t>
            </a:r>
          </a:p>
          <a:p/>
          <a:p>
            <a:r>
              <a:t>  Make sure LAB1 is gone before Module 3's Lab 2, and that every unticked checklist box has a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chose a deployment, installed and started MongoDB, connected with connection strings from mongosh and Compass, proved CRUD in training_store, and learned to protect credentials and troubleshoot by layer.</a:t>
            </a:r>
          </a:p>
          <a:p/>
          <a:p>
            <a:r>
              <a:t>- Next module</a:t>
            </a:r>
          </a:p>
          <a:p/>
          <a:p>
            <a:r>
              <a:t>  Module 3, Data Modeling with MongoDB, loads the full training_store and uses it to decide when to embed and when to reference, which BSON types to use, and how validation keeps data clean.</a:t>
            </a:r>
          </a:p>
          <a:p/>
          <a:p>
            <a:r>
              <a:t>- Bring along</a:t>
            </a:r>
          </a:p>
          <a:p/>
          <a:p>
            <a:r>
              <a:t>  A working connection, the Exercise 2.4 checklist and the Exercise 2.1 table.</a:t>
            </a:r>
          </a:p>
          <a:p/>
          <a:p>
            <a:r>
              <a:t>  Anyone with an unresolved checklist item should see the instructor before Module 3's first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"Ping, write, read — then trust it."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Installation and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Choose a deployment, install or provision MongoDB, connect with mongosh and Compass, and prove the environment with a write and a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Choose a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Install and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Connect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7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First commands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4624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Secure and troubleshoot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you will be able to do by the end of this module.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82641" cy="38264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82641" cy="3826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252728"/>
            <a:ext cx="4939167" cy="3826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9164"/>
            <a:ext cx="5394960" cy="2228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Choose local, container, self-managed or cloud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Explain mongod, mongosh, Compass and drivers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Install or provision MongoDB and start it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Read and build a connection string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Create training_store and run CRUD checks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Protect credentials and diagnose failures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243584"/>
            <a:ext cx="5148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SIX QUESTIONS THIS MODULE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73352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73352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should MongoDB run for this course?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12848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1284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I install and start mongod?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5234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52344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does a client find the server?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91840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9184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proves the environment really works?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31335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831335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I keep passwords out of sight?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370831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370831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I check when it won't connect?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590288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8114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MODULE ROADMAP</a:t>
            </a:r>
          </a:p>
        </p:txBody>
      </p:sp>
      <p:sp>
        <p:nvSpPr>
          <p:cNvPr id="26" name="Pentagon 25"/>
          <p:cNvSpPr/>
          <p:nvPr/>
        </p:nvSpPr>
        <p:spPr>
          <a:xfrm>
            <a:off x="457200" y="5029200"/>
            <a:ext cx="1763485" cy="73152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49830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Deploy</a:t>
            </a:r>
          </a:p>
        </p:txBody>
      </p:sp>
      <p:sp>
        <p:nvSpPr>
          <p:cNvPr id="28" name="Chevron 27"/>
          <p:cNvSpPr/>
          <p:nvPr/>
        </p:nvSpPr>
        <p:spPr>
          <a:xfrm>
            <a:off x="2037805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7261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Install</a:t>
            </a:r>
          </a:p>
        </p:txBody>
      </p:sp>
      <p:sp>
        <p:nvSpPr>
          <p:cNvPr id="30" name="Chevron 29"/>
          <p:cNvSpPr/>
          <p:nvPr/>
        </p:nvSpPr>
        <p:spPr>
          <a:xfrm>
            <a:off x="3618411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7867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Start</a:t>
            </a:r>
          </a:p>
        </p:txBody>
      </p:sp>
      <p:sp>
        <p:nvSpPr>
          <p:cNvPr id="32" name="Chevron 31"/>
          <p:cNvSpPr/>
          <p:nvPr/>
        </p:nvSpPr>
        <p:spPr>
          <a:xfrm>
            <a:off x="5199017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8473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Connect</a:t>
            </a:r>
          </a:p>
        </p:txBody>
      </p:sp>
      <p:sp>
        <p:nvSpPr>
          <p:cNvPr id="34" name="Chevron 33"/>
          <p:cNvSpPr/>
          <p:nvPr/>
        </p:nvSpPr>
        <p:spPr>
          <a:xfrm>
            <a:off x="6779622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9078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First data</a:t>
            </a:r>
          </a:p>
        </p:txBody>
      </p:sp>
      <p:sp>
        <p:nvSpPr>
          <p:cNvPr id="36" name="Chevron 35"/>
          <p:cNvSpPr/>
          <p:nvPr/>
        </p:nvSpPr>
        <p:spPr>
          <a:xfrm>
            <a:off x="8360228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9684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Secure</a:t>
            </a:r>
          </a:p>
        </p:txBody>
      </p:sp>
      <p:sp>
        <p:nvSpPr>
          <p:cNvPr id="38" name="Chevron 37"/>
          <p:cNvSpPr/>
          <p:nvPr/>
        </p:nvSpPr>
        <p:spPr>
          <a:xfrm>
            <a:off x="9940834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0290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Troubleshoot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setup is finished only when a ping, a write and a read all succeed.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mongod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MongoDB server process: it listens on a port, stores the data files and answers every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MongoDB Shell: a command-line client that sends commands to mongod and prints the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MongoDB Compass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MongoDB's graphical client for browsing and editing the same data that mongosh sees.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MongoDB Atlas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MongoDB's managed cloud service: the vendor runs, backs up and scales the cluster.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Connection 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URI such as mongodb://localhost:27017 that tells a client where and how to connect.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localhost:27017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default address of a local mongod: this machine, port 27017.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Authentication vs authorization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Authentication proves who you are; authorization (roles) decides what you may 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db.runCommand({ ping: 1 }) returns ok: 1 when the server answers — reachability, not write access.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Command-Line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Create, Read, Update,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Domain Name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Graphical User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Internet Protocol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Microsoft Installer (Windows Installer package)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Operating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SRV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(DNS SRV record)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Transport Layer Security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Identifier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Virtual Machine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1 TO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ideas are in place — now we build the environment.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1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NoSQL is a family of data models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Documents, collections and BSON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mongod serves mongosh and Compass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training_store sample database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Exercise 1.3 on the instructor's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Run your own MongoDB — and prove that it works.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THE PATH THROUGH MODULE 2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8823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where MongoDB runs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790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574036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4048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Install, configure and start mongod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564891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25983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0906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Connect with a connection string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250691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945635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7764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Create training_store; write and read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936491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4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631436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622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Protect credentials; troubleshoot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6222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5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5317236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1480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Prove it: Exercises 2.1–2.4, Lab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53080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Checkpoints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1 explained what MongoDB is; Module 2 gives every learner a running, verified copy of it.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CHOOSING A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Before installing anything, decide where MongoDB should run.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Choose a deployment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Install and run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Connect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First commands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Secure and troubleshoot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Module 1 explained documents and mongod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training_store is our running example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Where should MongoDB run — on my laptop, in a container, on a server, or in the cloud?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Four deployment options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Local Community Edition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Containerized MongoDB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Managed cloud: MongoDB Atlas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Local versus managed cloud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Choosing an option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MONGODB DEPLOYMENT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same training_store database — three places to run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51069"/>
            <a:ext cx="7415783" cy="40301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4221"/>
            <a:ext cx="7269480" cy="38838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Local mongod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Community Edition on your own machine — learning and development.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Docker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Portable and isolated, easy to remove — tests and demos.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Managed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MongoDB Atlas runs the cluster — teams and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FOURTH OPTION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self-managed server or VM — see the decision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Choose the deployment by who should run the server — the database and the commands stay the same.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LOCAL DEPLOYMENT: MONGODB COMMUNITY 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mongosh, mongod and the data directory on one machine.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94327"/>
            <a:ext cx="7415783" cy="3543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7479"/>
            <a:ext cx="7269480" cy="3397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Community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free server, installed from MongoDB's official packages.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localhost:27017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default address; bindIp: localhost keeps it private.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dbPath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data directory where mongod stores training_store.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AUTH IS OFF BY DEFAULT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Fine on localhost only — never expose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local server is private by default — keep bindIp on localhost while authentication is off.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CONTAINERIZED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mongod in a container, a published port and a named volume.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94420"/>
            <a:ext cx="7415783" cy="274347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7572"/>
            <a:ext cx="7269480" cy="259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Start it (PowerShell)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037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docker run -d --name mongo `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-p 127.0.0.1:27017:27017 `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-v mongo-data:/data/db `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mongodb/mongodb-community-server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79298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84784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Published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15874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Host 27017 → container 27017; 127.0.0.1 keeps it on this machine.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21640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27126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Named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582160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mongo-data outlives the container — so does training_store.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container is quick to create and remove — mount a volume so the data survives.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MANAGED CLOUD: MONGODB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managed replica set, reached through a secure connection URI.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68528"/>
            <a:ext cx="7415783" cy="359526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1680"/>
            <a:ext cx="7269480" cy="34489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MongoDB Atlas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MongoDB's managed cloud: servers, patches, backups and scaling.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Replica set 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primary and two secondaries from the 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TLS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Clients connect with an encrypted connection URI.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YOU STILL OWN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Database users, the IP access list and the secret URI.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Atlas runs the servers for you — you still decide who may connect, and from where.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LOCAL VS. MANAGED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You run mongod — or the vendor runs the cluster.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8472" y="1316736"/>
            <a:ext cx="7409814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24" y="1389888"/>
            <a:ext cx="7263510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Local: not after installation · Atlas: always.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6430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191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Who runs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006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Local: you run mongod · Atlas: the vendor runs the cluster.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Local: localhost:27017 · Atlas: a TLS connection URI.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9602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5089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Best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178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Local: learning, local development · Atlas: team and cloud projects.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Same documents, same commands — local gives you control, the cloud takes the operations 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CHOOSING A DEPLOYMENT 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questions lead to local, self-managed or managed cloud.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29636"/>
            <a:ext cx="7415783" cy="447304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2788"/>
            <a:ext cx="7269480" cy="43267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Classroom laptop?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Local or Docker on localhost.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26208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810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Shared team or production-like?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91968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Managed cloud with a TLS URI.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53968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088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Need control of the OS?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19728"/>
            <a:ext cx="3246120" cy="765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Self-managed server or VM — you run mongod.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67656"/>
            <a:ext cx="3520440" cy="9662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67656"/>
            <a:ext cx="3154680" cy="966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2.1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justify six choices like these.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Start from the constraint — offline, disposable, shared or controlled — then pick the option that fits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INSTALLING AND RUNNING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Install the server and the shell, configure them and start the service.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Choose a deployment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Install and run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Connect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First commands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Secure and troubleshoot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Four deployment options, one database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Local for learning; Atlas for teams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operating responsibility is what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I install MongoDB, configure it and start it — or provision it in the cloud?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installation workflow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mongod versus mongosh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Installing on Windows, macOS and Linux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configuration file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Starting and stopping MongoDB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Provisioning in Atlas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MONGODB INSTALLATION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Six steps from download to a first test document.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6383" y="1316736"/>
            <a:ext cx="11108753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35" y="1389888"/>
            <a:ext cx="10962449" cy="27340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Server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Install mongod, check the data and log directories, start the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Client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Ping from mongosh, connect Compass, insert a test 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you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Community Server, mongosh, optional Compass and Database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489704"/>
            <a:ext cx="2674620" cy="134416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489704"/>
            <a:ext cx="2308860" cy="1344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OFFICIAL DOCS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Follow MongoDB's install page for your OS and 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Installing is only half the job — the last three steps prove the server works.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MONGOD VS.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server that stores the data and the shell that sends commands.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32592"/>
            <a:ext cx="7415783" cy="426713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5744"/>
            <a:ext cx="7269480" cy="41208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mongod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server: stores the data and listens on port 27017.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mongosh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shell: sends commands and prints the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Separate programs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Closing mongosh never stops the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 SERVER, NO SHELL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If mongod isn't running, mongosh can't connect.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mongod is the database; mongosh is only a window onto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INSTALLING MONGODB ON WINDOWS, MACOS AND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 MongoDB's official packages for your operating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Windows (PowerShell)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3596640" cy="220141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MSI installer: Complete,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run as a Windows service,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optionally add Compass.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Add mongosh if not included.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Get-Service MongoDB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mongosh --version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244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macOS (Homebrew)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2440" y="1627632"/>
            <a:ext cx="3596640" cy="220141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brew tap mongodb/brew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brew install mongodb-community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brew services start mongodb-community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mongod --version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mongosh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68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Linux (MongoDB's repository)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7680" y="1627632"/>
            <a:ext cx="3596640" cy="220141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add MongoDB's repository for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your distribution, then: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sudo systemctl start mongod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sudo systemctl status mongod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sudo systemctl enable mongod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576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11251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234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MSI installs mongod as the MongoDB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0576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11251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4234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formula comes from MongoDB's own Homebrew tap.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0576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11251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Linux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4234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 MongoDB's repository, not the distribution's default package.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Install from MongoDB's official source, then confirm both the service and the shell before moving 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MONGODB CONFIGURATION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Four settings mongod loads when it starts.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79847"/>
            <a:ext cx="7415783" cy="35726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2999"/>
            <a:ext cx="7269480" cy="342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mongod.conf (Linux example)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76377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storage: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dbPath: /var/lib/mongodb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systemLog: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destination: file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path: /var/log/mongodb/mongod.log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net: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port: 27017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bindIp: 127.0.0.1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3519424"/>
            <a:ext cx="3520440" cy="11099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5742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bindIp 127.0.0.1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885184"/>
            <a:ext cx="3246120" cy="6893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This machine only — keep it for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757420"/>
            <a:ext cx="3520440" cy="10764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757420"/>
            <a:ext cx="3154680" cy="1076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WARNING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0.0.0.0 exposes mongod to every network — only with auth, TLS and a firewall.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config file decides where data and logs go and who can reach the port — read it first when something breaks.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STARTING AND STOPPING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Start, listen, connect — then disconnect, shut down cleanly, close the 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26186"/>
            <a:ext cx="7415783" cy="407994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9338"/>
            <a:ext cx="7269480" cy="3933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Windows (admin PowerShell)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67411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Start-Service MongoDB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Stop-Service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2429764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58948"/>
            <a:ext cx="3520440" cy="67411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brew services start mongodb-community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brew services stop mongodb-community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3561080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Linux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890264"/>
            <a:ext cx="3520440" cy="67411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sudo systemctl start mongod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sudo systemctl stop mongod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69239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69239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CLEAN SHUTDOWN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Use the service manager — don't kill the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Start and stop mongod through its service manager, so every shutdown is clean.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PROVISIONING MONGODB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Project, cluster, network access, database user, connection string, connect.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471545"/>
            <a:ext cx="11210544" cy="27566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544697"/>
            <a:ext cx="11064240" cy="26103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Project and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Pick a free or paid tier, a provider and a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IP access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Allow only the client addresses that need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Database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Least privilege — not your Atlas login.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Connection 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Copy the SRV URI from the Connect dialog.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Atlas cluster is reachable only after you allow an IP address and create a database user.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IS THE SERVER RUNNING?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Read the evidence before you change anything.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learner installed MongoDB on Windows. mongosh reports connection refused on localhost:27017.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29356"/>
            <a:ext cx="3621024" cy="11363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PS&gt; Get-Service MongoDB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Status   Name     DisplayName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------   ----     -----------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Stopped  MongoDB  MongoDB Server (MongoDB)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layer that failed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the command that fixes it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how you'll prove the fix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a cause if it won't start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server process: mongod is stopped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Start-Service MongoDB, as Administrator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mongosh, then db.runCommand({ ping: 1 })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Check the log: bad dbPath or port in 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Connection refused usually means nothing is listening — check the server before the client.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CONNECTING TO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client needs to know where the server is — and who is asking.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Choose a deployment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Install and run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Connect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First commands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Secure and troubleshoot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mongod is installed and running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Its config sets dbPath, log, port and bindIp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Atlas needs a user and an IP allowlist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does a client find the server, prove who it is, and confirm the connection works?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6777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Three clients, one deployment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0972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275908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Localhost versus remote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65168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617865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Standard connection strings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499364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959821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SRV connection strings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3355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301778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Connecting with mongosh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67755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643734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Connecting with Compass</a:t>
            </a:r>
          </a:p>
        </p:txBody>
      </p:sp>
      <p:sp>
        <p:nvSpPr>
          <p:cNvPr id="39" name="Oval 38"/>
          <p:cNvSpPr/>
          <p:nvPr/>
        </p:nvSpPr>
        <p:spPr>
          <a:xfrm>
            <a:off x="5760720" y="6019509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5985691"/>
            <a:ext cx="5559552" cy="34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Verifying the connection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THREE CLIENTS, ONE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mongosh, Compass and application drivers share the same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0190" y="1316736"/>
            <a:ext cx="7326379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42" y="1389888"/>
            <a:ext cx="7180075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command-line shell for queries and administration.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MongoDB Compass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graphical client to browse and edit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Libraries for application code — Node.js, Java and more.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SAME DATA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different window, not a different 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client reads and writes the same deployment — pick the one that suits the task.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LOCALHOST VS. REMOTE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machine — or a client laptop and a remote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35624"/>
            <a:ext cx="7415783" cy="366107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8776"/>
            <a:ext cx="7269480" cy="35147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Localhost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127.0.0.1:27017 — traffic never leaves the machine.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host:27017 across a network: TLS, authentication and an open firewall 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BINDIP DECIDES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mongod answers only on the addresses it binds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Leaving localhost adds three requirements: a reachable port, TLS and authentication.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STANDARD CONNECTION-STRING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Scheme, credentials, hosts, database and options.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34670" y="1316736"/>
            <a:ext cx="9092178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822" y="1389888"/>
            <a:ext cx="8945874" cy="2734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89704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Local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18888"/>
            <a:ext cx="3627120" cy="101498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mongodb://localhost:27017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mongodb://localhost:27017/training_store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4489704"/>
            <a:ext cx="3627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454456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 it left to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360" y="4855464"/>
            <a:ext cx="33528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Scheme, credentials, host:port list, database, then ?options.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4489704"/>
            <a:ext cx="3627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4360" y="454456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authSource and encoding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4360" y="4855464"/>
            <a:ext cx="33528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authSource names the user's database. Percent-encode special characters in passwords.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connection string answers five questions: how, who, where, which database and which options.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DNS SEED-LIST (SRV) CONNECTION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mongodb+srv:// asks DNS for the member list.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29979"/>
            <a:ext cx="7415783" cy="267236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03131"/>
            <a:ext cx="7269480" cy="2526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Atlas pattern — placeholders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8557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mongodb+srv://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&lt;username&gt;:&lt;password&gt;@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&lt;cluster-host&gt;/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611374"/>
            <a:ext cx="3520440" cy="112394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66623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Seed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977134"/>
            <a:ext cx="3246120" cy="7033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DNS returns the members and ports — no port in the URI.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863340"/>
            <a:ext cx="3520440" cy="93802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91820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TLS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229100"/>
            <a:ext cx="3246120" cy="5173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SRV strings turn TLS on by 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929378"/>
            <a:ext cx="3520440" cy="904493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929378"/>
            <a:ext cx="3154680" cy="9044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2.2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Compare mongodb:// and mongodb+srv://.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mongodb:// lists the hosts; mongodb+srv:// lets DNS supply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CONNECTING WITH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Local defaults, a named database, and a password prompt.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Local server (PowerShell)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3500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mongosh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# same as: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mongosh "mongodb://localhost:27017"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# open training_store directly: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mongosh "mongodb://localhost:27017/training_store"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With a user: mongosh prompts for the password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35000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mongosh "mongodb://localhost:27017/training_store" `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--username trainingUser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# Atlas: copy the host from Connect → Shell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mongosh "mongodb+srv://cluster0.example.mongodb.net/" `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--username trainingUser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Enter password: ********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6110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mongosh on its 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Connects to localhost:27017 — the default.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20624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26110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--username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57200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mongosh prompts for the password: nothing lands in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206240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4206240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ATLAS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Copy the exact command from Connect → Shell.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Give mongosh a connection string and a username — and let it ask for the password.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CONNECTING WITH MONGODB COMPASS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New connection, paste the URI, connect, browse.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5904" y="1316736"/>
            <a:ext cx="10089711" cy="30662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3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56" y="1389888"/>
            <a:ext cx="9943407" cy="29199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Same 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Paste the connection string you used in mongosh.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Password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Type it there — never in a shared screenshot.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4675632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360" y="4730496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4360" y="5041392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Databases → collections → documents; refresh to see new writes.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Compass is a graphical window onto the same deployment, opened with the same connection string.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VERIFYING THE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Port open, shell connected, ping ok, databases listed.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62172" y="1316736"/>
            <a:ext cx="9637175" cy="22204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24" y="1389888"/>
            <a:ext cx="9490871" cy="20741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29811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Is the server answering?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58995"/>
            <a:ext cx="3627120" cy="167487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test&gt; db.runCommand({ ping: 1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ok: 1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test&gt; db.version()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8.0.4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3829811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Where am 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158995"/>
            <a:ext cx="3627120" cy="167487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test&gt; db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test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test&gt; show dbs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admin   40.00 KiB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config  60.00 KiB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local   40.00 KiB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3829811"/>
            <a:ext cx="3627120" cy="20040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4360" y="388467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Reading the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4360" y="4195572"/>
            <a:ext cx="3352800" cy="1583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ok: 1 = reachable. A new server lists only admin, config and local; training_store joins after its first write.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ping that returns ok: 1 proves the server answers — the next part proves you can write.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BUILD THE CONNECTION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Write what each learner needs — with no password on the page.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Three learners need to connect. Write the connection string or mongosh command for each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29356"/>
            <a:ext cx="3621024" cy="1037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  Local server, default port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  Local server, open training_store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  Atlas: cluster0.example.mongodb.net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as database user trainingUser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learner A's URI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Add the database for learner B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learner C's mongosh command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where C's password goes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A: mongodb://localhost:27017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B: add /training_store after the port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C: the mongodb+srv:// URI plus --username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Typed at the prompt — never in the URI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If you can write the connection string, you can place most connection errors.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FIRST COMMANDS ON TRAINING_STORE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Prove the environment: create, read, update and delete.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Choose a deployment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Install and run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Connect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First commands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Secure and troubleshoot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Clients reach mongod through a connection string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SRV strings let DNS find the cluster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ping proves the server answers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I create training_store — and prove I can write, read, update and delete?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Selecting a database and creating a collection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Inserting and reading a test document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Update and delete with a probe document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Loading the full training_store dataset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Predicting shell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SELECTING A DATABASE AND CREATING 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 switches context; the first write creates the collection.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47023"/>
            <a:ext cx="7415783" cy="30382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0175"/>
            <a:ext cx="7269480" cy="28919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Explicit creation (Lab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test&gt; use training_store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switched to db training_store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training_store&gt; db.createCollection(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"products")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ok: 1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97459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02945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Implicit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34035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first insertOne creates the collection — no createCollection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39801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398010"/>
            <a:ext cx="31546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USE CREATES NOTHING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show dbs lists training_store only after the first write.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only selects a name — a database and its collections appear with the first write.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INSERTING AND READING A TEST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Lab 1's READY document in the environment_check collection.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Insert — MongoDB adds the 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7297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db.environment_check.insertOne({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participant: "Student",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environment: "training",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shellConnected: true,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status: "READY",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checkedAt: new Date()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result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 acknowledged: true,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insertedId: ObjectId('…') 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Read it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7297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db.environment_check.findOne({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status: "READY"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result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 _id: ObjectId('…'),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participant: 'Student',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environment: 'training',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shellConnected: true,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status: 'READY',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checkedAt: ISODate('…')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insertedId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ObjectId, generated because we didn't supply an _id.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checkedAt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new Date() is stored as a BSON date; mongosh prints ISODate.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85970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4585970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PROOF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write and a read = usable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acknowledged insert and a matching read prove more than any ping.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UPDATE, DELETE AND THE PROBE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1 Lab 1 proves all four CRUD operations with sku LAB1.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Create and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db.products.insertOne({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sku: "LAB1",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name: "Connectivity Probe",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category: "ACCESSORY",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active: true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db.products.find({ sku: "LAB1"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Update and 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sku: "LAB1"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$set: { verified: true }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matchedCount: 1, modifiedCount: 1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db.products.deleteOne({ sku: "LAB1"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{ acknowledged: true, deletedCount: 1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db.products.find({ sku: "LAB1"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no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Create ·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insertOne() returns an insertedId; find() shows the probe.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Update · 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updateOne() matches 1 document; deleteOne() deletes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4478655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4478655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REMOVE LAB1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Delete it before Lab 2 — it isn't a catalog SKU.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insertOne, find, updateOne and deleteOne — four operations, four results you can check.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LOADING THE FULL TRAINING_STORE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3's Lab 2 runs this — here is what to expect.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From the course folder, not inside mongosh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mongosh "mongodb://localhost:27017" `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.\datasets\training_store\load.js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prints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Loaded training_store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customers: 6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products: 13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orders: 17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reviews: 6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paid orders: 13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Then verify in mongosh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show collections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customers, environment_check,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orders, products, reviews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db.products.countDocuments()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13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db.products.findOne(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sku: "B300"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name: 1, price: 1, _id: 0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{ name: 'MongoDB Fundamentals',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  price: Decimal128('59.99')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Drops, then reloads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customers, products, orders and reviews start clean each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Leaves the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environment_check isn't touched — it stays in the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93285"/>
            <a:ext cx="3627120" cy="114058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4693285"/>
            <a:ext cx="3261360" cy="1140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3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Lab 2 starts from exactly this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script gives everyone the same training_store — the starting point for every later lab.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PREDICT THE SHELL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Say what mongosh prints — before you press Enter.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3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brand-new local server. Nothing has been created yet.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show dbs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show dbs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db.environment_check.insertOne(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status: "READY"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show dbs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show collections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003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Predict the first show dbs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use prints — and creates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Predict show dbs after the insert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Predict show collections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003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admin, config and local only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switched to db training_store; nothing on disk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training_store now appears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environment_check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Databases and collections appear on the first write — predicting that saves a lot of confusion.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5: SECURITY AND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Keep credentials safe — and fix connections layer by layer.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Choose a deployment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Install and run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Connect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First commands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Secure and troubleshoot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training_store exists on your server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Insert, find, update and delete all work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full dataset loads with one 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I keep credentials safe — and what do I check when a connection fails?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Authentication and authorization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Safe credential practices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Common connection problems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troubleshooting workflow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Setup misconceptions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AUTHENTICATION AND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Credentials, authentication, roles, allowed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357215"/>
            <a:ext cx="11210544" cy="29853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3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30367"/>
            <a:ext cx="11064240" cy="28390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Who are you? Username, password and authSource.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may you do? Roles such as readWrite.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Local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Access control is off — tolerable on localhost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Least privilege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Give each user only the roles it needs.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Authentication proves who you are; authorization decides what you may 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SAFE CREDENTIAL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Keep passwords out of chat, screenshots, scripts and Git.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60423"/>
            <a:ext cx="7415783" cy="4211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3575"/>
            <a:ext cx="7269480" cy="4065169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Let mongosh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85572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prompt instead of typing it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mongosh "&lt;connection-string&gt;" `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--username &lt;username&gt;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61137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6623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Store it safely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7713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password manager, a secret store or an environment variable.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03479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03479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0.0.0.0/0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Opens Atlas to the whole internet — avoid it; never in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password shown once must be treated as leaked — keep it out of every screen and file.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COMMON CONNECTION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Refused, timed out, bad credentials, address blocked.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0032"/>
            <a:ext cx="7415783" cy="425225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4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3184"/>
            <a:ext cx="7269480" cy="41059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Connection refused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Nothing listening: mongod stopped, wrong port or bindIp.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0790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6565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Timeout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76550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answer: firewall, routing or the Atlas IP access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23132"/>
            <a:ext cx="3520440" cy="10843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7799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88892"/>
            <a:ext cx="3246120" cy="66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User, password, authSource or unencoded characters.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35474"/>
            <a:ext cx="3520440" cy="89839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99033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IP not allowed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301234"/>
            <a:ext cx="3246120" cy="4777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 your current IP — not 0.0.0.0/0.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error names a different layer — read the message before changing anything.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TROUBLESHOOTING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Four checks, in order, until the fix is confirmed.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8709" y="1316736"/>
            <a:ext cx="11044101" cy="30662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4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61" y="1389888"/>
            <a:ext cx="10897797" cy="29199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1 ·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Is mongod running? Service status and 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2 · Port and bindIp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Port 27017? Listening on your address?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3 ·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User, password and authSource.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4 · Network and TLS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IP allowlist, firewall and TLS settings.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Change one thing, retest with a ping, then move to the next layer.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SETUP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that waste the first hour of a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Closing mongosh stops MongoDB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mongod keeps running — it is a separate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use training_store creates 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The database appears with the first 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 ping means I can write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Ping proves reachability — test a write and a 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Compass shows a different copy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Same deployment, same documents — refresh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0.0.0.0 makes connecting easier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exposes the server — keep localhost or an allowlist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Passwords in URIs, scripts or Git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Screenshots of the connection dialog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Atlas login reused as a database user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Changing three settings at once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Killing mongod instead of stopping 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328416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328416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Prove each layer: running, reachable, authenticated, writable.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Most setup problems come from confusing the client with the server, or reachability with access.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2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Deploy, install, connect, first write and read, secure and troubleshoot.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385" y="1316736"/>
            <a:ext cx="10324749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4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37" y="1389888"/>
            <a:ext cx="10178445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proven environment — running, reachable, authenticated and writable — is what every later lab needs.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the role of mongod?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the role of mongosh?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MongoDB Compass?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MongoDB's default port?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mongodb:// and mongodb+srv:// differ?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db.runCommand({ ping: 1 }) verify?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might show dbs omit a database you just selected?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commonly causes connection refused?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commonly causes authentication failed?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not put credentials in source code?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2.1 — SELECT A DEPLOYMENT 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2 checkpoint A: match six scenarios to a deployment, with a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4" y="1298448"/>
            <a:ext cx="5385816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labs/day-01/exercises/exercise-2.1-select-a-deployment-option.md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2557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one option — local, self-managed server or VM, container, or managed cloud. Justify it and name the main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46272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 Offline learning environment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 Temporary automated tests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 Distributed team, shared data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 Regulated: direct control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 Startup: no servers to manage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6  Classroom: restricted internet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2557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one good fit for each option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Classify scenarios 1–3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Classify scenarios 4–6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673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Defend one row against an alternative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2557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local · 2 container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managed cloud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 self-managed server or VM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6576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 managed cloud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1330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078224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6 local or a local server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commands barely change between options — the infrastructure responsibility does.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2.2 — INTERPRET A CONNECTION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2 checkpoint B: label every part, and keep the password secret.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5332" y="1298448"/>
            <a:ext cx="5618988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labs/day-01/exercises/exercise-2.2-interpret-a-connection-string.md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each part of this URI. It is one line, split to fit; the password is a placeholder.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1037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mongodb://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trainingUser:&lt;password&gt;@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db.example.net:27017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/training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protocol, user, password, host, port, database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Answer the four security questions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Contrast mongodb:// with mongodb+srv://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0497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Check labels without reading secrets aloud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mongodb:// · trainingUser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Password: placeholder only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2369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db.example.net · 27017 · training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78612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Secrets: env variable or secret store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3901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33527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+srv: DNS discovers the hosts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Parse a URI aloud — without ever reading the password onto a shared screen.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2.3 — DIAGNOSE CONNECTION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2 checkpoint C: six failures, one layer at a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298448"/>
            <a:ext cx="554126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labs/day-01/exercises/exercise-2.3-diagnose-connection-failures.md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8425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For each case: likely cause, first check, log or setting, fix and the command that verifies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 ECONNREFUSED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 Authentication failed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 Server-selection timeout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 DNS lookup failure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 Unauthorized command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6  Invalid URI 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8425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Diagnose cases 1 and 2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Diagnose cases 3 and 4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Diagnose cases 5 and 6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673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Share one case: change one thing, retest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8425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server stopped or wrong port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2 user, password or authSource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firewall, routing or allowlist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043171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 hostname or DNS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 role too weak · 6 syntax or encoding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0" y="506780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7" y="5012943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Verify with a ping: ok: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Timeout is not refused, and unauthorized is not unauthenticated — name the layer first.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2.4 — ENVIRONMENT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2 checkpoint D: tick only what you have seen.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29884" y="1298448"/>
            <a:ext cx="5774436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labs/day-01/exercises/exercise-2.4-environment-readiness-checklist.md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2204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Fill it in during or right after Lab 1, the next slide. No passwords on the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[ ] MongoDB installed or provisioned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[ ] Server or cluster available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[ ] mongosh and Compass available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[ ] URI stored securely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[ ] Network access configured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[ ] Ping returns ok: 1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[ ] Test insert and test 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2204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Record your path, host and port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Confirm mongosh --version and Compass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Tick ping, insert and read — if seen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0497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each gap: symptom, layer, next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2204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Path recorded, no secrets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Only observed boxes ticked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Every gap has a next step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6576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Ready for Module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honest checklist is worth more than a full one — never tick a box you didn't prove.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LAB 1 — INSTALL, CONNECT AND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1 hands-on: provision MongoDB, connect, and prove write and 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1490472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84831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40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3396" y="1298448"/>
            <a:ext cx="282092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labs/day-01/lab1/LAB-1-GUIDE.md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One path: A local Community Edition, B managed cloud, C an instructor URI. The mongosh steps are the same.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21269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db.runCommand({ ping: 1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db.createCollection(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"environment_check")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db.environment_check.insertOne(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participant: "Student",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status: "READY",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checkedAt: new Date()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db.environment_check.findOne(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status: "READY" 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Install or provision on your path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Connect with mongosh and ping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Create environment_check; insert and find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9634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9085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insertMany, count, update your name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45618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45069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LAB1 probe: insert, find, update, delete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5160264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5105400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Compass, then the COMPLETE document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1865376"/>
            <a:ext cx="306324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Ping returns ok: 1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Insert acknowledged, _id assigned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33655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Count is 4; your name shows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7" y="378612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LAB1 deleted: find returns nothing</a:t>
            </a:r>
          </a:p>
        </p:txBody>
      </p:sp>
      <p:sp>
        <p:nvSpPr>
          <p:cNvPr id="38" name="Oval 37"/>
          <p:cNvSpPr/>
          <p:nvPr/>
        </p:nvSpPr>
        <p:spPr>
          <a:xfrm>
            <a:off x="8778240" y="43901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7" y="433527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Compass shows the same document</a:t>
            </a:r>
          </a:p>
        </p:txBody>
      </p:sp>
      <p:sp>
        <p:nvSpPr>
          <p:cNvPr id="40" name="Oval 39"/>
          <p:cNvSpPr/>
          <p:nvPr/>
        </p:nvSpPr>
        <p:spPr>
          <a:xfrm>
            <a:off x="8778240" y="49392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6567" y="4884419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password shared anywhere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lab is finished when the Exercise 2.4 checklist matches what you actually saw.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2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choosing a deployment to a proven environment.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a deployment option and justify it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mongod, mongosh, Compass and drivers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Install, configure, start and stop MongoDB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Read and build connection strings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Create training_store and prove CRUD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47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Protect credentials; troubleshoot by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3 — DATA MODELING WITH MONGODB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I load and inspect training_store?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do I embed, and when do I reference?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BSON types and validation help?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working connection, your Exercise 2.4 checklist and your Exercise 2.1 table.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Your environment is proven — Module 3 loads training_store and starts designing documents.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