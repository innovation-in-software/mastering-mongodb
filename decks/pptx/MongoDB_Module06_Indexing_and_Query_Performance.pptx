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 title is: Indexing and Query Performance.</a:t>
            </a:r>
          </a:p>
          <a:p/>
          <a:p>
            <a:r>
              <a:t>The slide says: An index trades storage and write cost for faster access to selected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lists key points under Module Learning Objectives.</a:t>
            </a:r>
          </a:p>
          <a:p/>
          <a:p>
            <a:r>
              <a:t>The slide title is: Module Learning Objectives.</a:t>
            </a:r>
          </a:p>
          <a:p/>
          <a:p>
            <a:r>
              <a:t>The slide says: By the end of this module you will be able to:.</a:t>
            </a:r>
          </a:p>
          <a:p/>
          <a:p>
            <a:r>
              <a:t>Bullet 1 on the slide: Recognize queries that need indexes.</a:t>
            </a:r>
          </a:p>
          <a:p/>
          <a:p>
            <a:r>
              <a:t>Bullet 2 on the slide: Create, inspect, hide, and remove indexes.</a:t>
            </a:r>
          </a:p>
          <a:p/>
          <a:p>
            <a:r>
              <a:t>Bullet 3 on the slide: Design compound indexes around query shapes.</a:t>
            </a:r>
          </a:p>
          <a:p/>
          <a:p>
            <a:r>
              <a:t>Bullet 4 on the slide: Apply Equality–Sort–Range as a starting guideline.</a:t>
            </a:r>
          </a:p>
          <a:p/>
          <a:p>
            <a:r>
              <a:t>Bullet 5 on the slide: Choose specialized index types appropriately.</a:t>
            </a:r>
          </a:p>
          <a:p/>
          <a:p>
            <a:r>
              <a:t>Bullet 6 on the slide: Read essential explain() statistics.</a:t>
            </a:r>
          </a:p>
          <a:p/>
          <a:p>
            <a:r>
              <a:t>Bullet 7 on the slide: Compare collection scans with index scans.</a:t>
            </a:r>
          </a:p>
          <a:p/>
          <a:p>
            <a:r>
              <a:t>Bullet 8 on the slide: Remove unnecessary index overhead.</a:t>
            </a:r>
          </a:p>
          <a:p/>
          <a:p>
            <a:r>
              <a:t>Bullet 9 on the slide: Recommend indexes based on evidence.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index is a data structure that helps MongoDB locate documents without scanning every document in a collection.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principle 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Suppose the `products` collection contains one million documents, and the application runs: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MongoDB can search this structure instead of reading the entire collection.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standard MongoDB collection automatically receives a unique index on `_id`: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Create an ascending index: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clear naming convention makes indexes easier to identify and manage.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Multiple indexes can be requested together: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 a collection’s indexes: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Covers Viewing Existing Indexes.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Covers Remove one index by name.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Covers Remove one index by key specification.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retains the required `_id` index.</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Instead of immediately dropping a questionable index, it can be hidden from the query planner: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Hiding is safer for evaluation because the existing index structure remains available and can be restored without rebuilding it. However, a hidden index still consumes storage and must still be...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MongoDB may perform: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MongoDB may perform: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Execution time can vary because of:</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`explain("executionStats")`: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`winningPlan`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`totalDocsExamined`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may indicate a selective and efficient indexed query.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Covers Step 1: Inspect the query.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Covers Step 2: Create an index matching the filter and sort.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desired improvement is: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compound index contains multiple fields: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practical compound-index design guideline is ESR: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ESR is a guideline, not an absolute rule. Query selectivity, sorting requirements and actual explain results should determine the final design.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index:</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does not directly support every arbitrary combination of directions.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unique index prevents duplicate indexed values.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Covers Unique customer email.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strings below differ in case: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Applications should also normalize email addresses before storing them when that matches the business rule.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an index is created on an array field, MongoDB creates a multikey index.</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can support: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Arrays may produce multiple index entries per document. Large arrays can therefore create large indexes and increase write overhead.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partial index includes only documents matching a filter.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query must satisfy the partial-filter condition for MongoDB to safely use the index:</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sparse index includes documents that contain the indexed field.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TTL, or time-to-live, index automatically removes expired documents.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`expireAfterSeconds: 0`, each document expires based on the date stored in `expiresAt`.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self-managed MongoDB deployment can use a text index for basic `$text` searches: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Traditional text indexes support basic word-based text queries, but they add write and storage cost. MongoDB recommends its newer search capabilities for more advanced search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Covers Text Indexes.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wildcard index can cover varying or unpredictable field names.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may help varied queries such as: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Wildcard indexes support flexible schemas with varying field names.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 `2dsphere` index for Earth-like geographic coordinates.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Geospatial indexes are designed for geographic proximity and containment queries.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hashed index stores a hash of a field’s value: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covered query can be answered entirely from the index without retrieving the full collection documents.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the filter and returned fields are contained in the index, MongoDB may avoid the document-fetch stage.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selective condition matches a relatively small portion of a collection.</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Instead, combine it with other fields used by the query:</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Indexes consume disk space.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used index pages compete for memory.</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an insertion:</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Changing an indexed field requires updating its index entries: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More indexes mean:</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Possible index:</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Covers Query-shape worksheet.</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Query:</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Query:</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Covers Customer lookup by email.</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Query:</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Query:</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Query:</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one customer may review a product only once: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MongoDB supports compound, multikey, wildcard, geospatial, hashed, text and clustered index types, among others.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Covers Exercise 2: Create the index.</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 the execution metrics.</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customer-history index is not designed for this query because its leading field is `customerId`.</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Create:</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every non-`_id` index, document:</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wastes storage and harms write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different indexes: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Separate indexes: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collection has:</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tiny collection may be faster with a collection scan. Use realistic data volumes and examine keys and documents inspected.</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`hint()` forces a particular index:</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Covers Using `hint()` as a permanent first response.</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Demo 6.1 — Compare a Collection Scan and Index Scan.</a:t>
            </a:r>
          </a:p>
          <a:p/>
          <a:p>
            <a:r>
              <a:t>The slide title is: Demo 6.1 — Compare a Collection Scan and Index Scan.</a:t>
            </a:r>
          </a:p>
          <a:p/>
          <a:p>
            <a:r>
              <a:t>The slide says: &lt;div class="cols"&gt;.</a:t>
            </a:r>
          </a:p>
          <a:p/>
          <a:p>
            <a:r>
              <a:t>The slide says: &lt;div class="col-text"&gt;.</a:t>
            </a:r>
          </a:p>
          <a:p/>
          <a:p>
            <a:r>
              <a:t>The slide says: &lt;/div&gt;.</a:t>
            </a:r>
          </a:p>
          <a:p/>
          <a:p>
            <a:r>
              <a:t>The slide says: &lt;div class="col-visual"&gt;.</a:t>
            </a:r>
          </a:p>
          <a:p/>
          <a:p>
            <a:r>
              <a:t>Bullet 1 on the slide: Time: 15 min.</a:t>
            </a:r>
          </a:p>
          <a:p/>
          <a:p>
            <a:r>
              <a:t>Bullet 2 on the slide: Explain find({ category: "ACCESSORY" }) — record stage, keys, docs, nReturned.</a:t>
            </a:r>
          </a:p>
          <a:p/>
          <a:p>
            <a:r>
              <a:t>Bullet 3 on the slide: Create idx_products_category.</a:t>
            </a:r>
          </a:p>
          <a:p/>
          <a:p>
            <a:r>
              <a:t>Bullet 4 on the slide: Explain again and compare.</a:t>
            </a:r>
          </a:p>
          <a:p/>
          <a:p>
            <a:r>
              <a:t>Bullet 5 on the slide: training_store is small — teach the plan, not the clock.</a:t>
            </a:r>
          </a:p>
          <a:p/>
          <a:p>
            <a:r>
              <a:t>The figure on this slide is titled: Compare a Collection Scan and Index Scan.</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 title is: Demo 6.1 — Commands.</a:t>
            </a:r>
          </a:p>
          <a:p/>
          <a:p>
            <a:r>
              <a:t>The slide says: Record winning stage, totalKeysExamined, totalDocsExamined, nReturned.</a:t>
            </a:r>
          </a:p>
          <a:p/>
          <a:p>
            <a:r>
              <a:t>The code on the slide reads: db.products.find({ category: "ACCESSORY" }).explain("executionStats") db.products.createIndex(   { category: 1 },   { name: "idx_products_category" } ) db.products.find({ category: "ACCESSORY" }).explain("executionStats").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Demo 6.2 — Create and Inspect a Single-Field Index.</a:t>
            </a:r>
          </a:p>
          <a:p/>
          <a:p>
            <a:r>
              <a:t>The slide title is: Demo 6.2 — Create and Inspect a Single-Field Index.</a:t>
            </a:r>
          </a:p>
          <a:p/>
          <a:p>
            <a:r>
              <a:t>The slide says: &lt;div class="cols"&gt;.</a:t>
            </a:r>
          </a:p>
          <a:p/>
          <a:p>
            <a:r>
              <a:t>The slide says: &lt;div class="col-text"&gt;.</a:t>
            </a:r>
          </a:p>
          <a:p/>
          <a:p>
            <a:r>
              <a:t>The slide says: &lt;/div&gt;.</a:t>
            </a:r>
          </a:p>
          <a:p/>
          <a:p>
            <a:r>
              <a:t>The slide says: &lt;div class="col-visual"&gt;.</a:t>
            </a:r>
          </a:p>
          <a:p/>
          <a:p>
            <a:r>
              <a:t>Bullet 1 on the slide: Time: 10 min.</a:t>
            </a:r>
          </a:p>
          <a:p/>
          <a:p>
            <a:r>
              <a:t>Bullet 2 on the slide: Create idx_products_sku on { sku: 1 }.</a:t>
            </a:r>
          </a:p>
          <a:p/>
          <a:p>
            <a:r>
              <a:t>Bullet 3 on the slide: getIndexes() — name, key, unique flag.</a:t>
            </a:r>
          </a:p>
          <a:p/>
          <a:p>
            <a:r>
              <a:t>Bullet 4 on the slide: Explain find({ sku: "L100" }).</a:t>
            </a:r>
          </a:p>
          <a:p/>
          <a:p>
            <a:r>
              <a:t>The figure on this slide is titled: Create and Inspect a Single-Field Index.</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Demo 6.3 — Design a Compound Index.</a:t>
            </a:r>
          </a:p>
          <a:p/>
          <a:p>
            <a:r>
              <a:t>The slide title is: Demo 6.3 — Design a Compound Index.</a:t>
            </a:r>
          </a:p>
          <a:p/>
          <a:p>
            <a:r>
              <a:t>The slide says: &lt;div class="cols"&gt;.</a:t>
            </a:r>
          </a:p>
          <a:p/>
          <a:p>
            <a:r>
              <a:t>The slide says: &lt;div class="col-text"&gt;.</a:t>
            </a:r>
          </a:p>
          <a:p/>
          <a:p>
            <a:r>
              <a:t>The slide says: &lt;/div&gt;.</a:t>
            </a:r>
          </a:p>
          <a:p/>
          <a:p>
            <a:r>
              <a:t>The slide says: &lt;div class="col-visual"&gt;.</a:t>
            </a:r>
          </a:p>
          <a:p/>
          <a:p>
            <a:r>
              <a:t>Bullet 1 on the slide: Time: 15 min.</a:t>
            </a:r>
          </a:p>
          <a:p/>
          <a:p>
            <a:r>
              <a:t>Bullet 2 on the slide: Query: ACCESSORY + active, sort price.</a:t>
            </a:r>
          </a:p>
          <a:p/>
          <a:p>
            <a:r>
              <a:t>Bullet 3 on the slide: Create idx_products_category_active_price.</a:t>
            </a:r>
          </a:p>
          <a:p/>
          <a:p>
            <a:r>
              <a:t>Bullet 4 on the slide: Compare explain before and after — watch for SORT.</a:t>
            </a:r>
          </a:p>
          <a:p/>
          <a:p>
            <a:r>
              <a:t>The figure on this slide is titled: Design a Compound Index.</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Demo 6.4 — Apply Equality–Sort–Range.</a:t>
            </a:r>
          </a:p>
          <a:p/>
          <a:p>
            <a:r>
              <a:t>The slide title is: Demo 6.4 — Apply Equality–Sort–Range.</a:t>
            </a:r>
          </a:p>
          <a:p/>
          <a:p>
            <a:r>
              <a:t>The slide says: &lt;div class="cols"&gt;.</a:t>
            </a:r>
          </a:p>
          <a:p/>
          <a:p>
            <a:r>
              <a:t>The slide says: &lt;div class="col-text"&gt;.</a:t>
            </a:r>
          </a:p>
          <a:p/>
          <a:p>
            <a:r>
              <a:t>The slide says: &lt;/div&gt;.</a:t>
            </a:r>
          </a:p>
          <a:p/>
          <a:p>
            <a:r>
              <a:t>The slide says: &lt;div class="col-visual"&gt;.</a:t>
            </a:r>
          </a:p>
          <a:p/>
          <a:p>
            <a:r>
              <a:t>Bullet 1 on the slide: Time: 20 min.</a:t>
            </a:r>
          </a:p>
          <a:p/>
          <a:p>
            <a:r>
              <a:t>Bullet 2 on the slide: Customer order history: equality customerId, sort createdAt, range total — or date range on createdAt.</a:t>
            </a:r>
          </a:p>
          <a:p/>
          <a:p>
            <a:r>
              <a:t>Bullet 3 on the slide: Test alternative field orders.</a:t>
            </a:r>
          </a:p>
          <a:p/>
          <a:p>
            <a:r>
              <a:t>Bullet 4 on the slide: Compare examined keys.</a:t>
            </a:r>
          </a:p>
          <a:p/>
          <a:p>
            <a:r>
              <a:t>The figure on this slide is titled: Apply Equality–Sort–Range.</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Exercise 6.1 — Identify Candidate Indexes.</a:t>
            </a:r>
          </a:p>
          <a:p/>
          <a:p>
            <a:r>
              <a:t>The slide title is: Exercise 6.1 — Identify Candidate Indexes.</a:t>
            </a:r>
          </a:p>
          <a:p/>
          <a:p>
            <a:r>
              <a:t>The slide says: &lt;div class="cols"&gt;.</a:t>
            </a:r>
          </a:p>
          <a:p/>
          <a:p>
            <a:r>
              <a:t>The slide says: &lt;div class="col-text"&gt;.</a:t>
            </a:r>
          </a:p>
          <a:p/>
          <a:p>
            <a:r>
              <a:t>The slide says: &lt;/div&gt;.</a:t>
            </a:r>
          </a:p>
          <a:p/>
          <a:p>
            <a:r>
              <a:t>The slide says: &lt;div class="col-visual"&gt;.</a:t>
            </a:r>
          </a:p>
          <a:p/>
          <a:p>
            <a:r>
              <a:t>Bullet 1 on the slide: Time: 15 min.</a:t>
            </a:r>
          </a:p>
          <a:p/>
          <a:p>
            <a:r>
              <a:t>Bullet 2 on the slide: Name indexed fields for six recurring training_store queries.</a:t>
            </a:r>
          </a:p>
          <a:p/>
          <a:p>
            <a:r>
              <a:t>Bullet 3 on the slide: Lab guide: [Exercise 6.1](../slide-exercises/module-06/exercise-6.1-identify-candidate-indexes.md).</a:t>
            </a:r>
          </a:p>
          <a:p/>
          <a:p>
            <a:r>
              <a:t>The figure on this slide is titled: Candidate index fields for common queries.</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starting Exercise 6.1 — Identify Candidate Indexes. We have about 15 min for this lab.</a:t>
            </a:r>
          </a:p>
          <a:p/>
          <a:p>
            <a:r>
              <a:t>Name the fields that belong in an index for six recurring training_store queries.</a:t>
            </a:r>
          </a:p>
          <a:p/>
          <a:p>
            <a:r>
              <a:t>The full lab guide is in slide-exercises/module-06/exercise-6.1-identify-candidate-indexes.md if you need extra detail.</a:t>
            </a:r>
          </a:p>
          <a:p/>
          <a:p>
            <a:r>
              <a:t>On Windows: PowerShell in the integrated terminal — Ctrl+backtick — and the Agent panel — Ctrl+I. Open the repo folder with File → Open Folder.</a:t>
            </a:r>
          </a:p>
          <a:p/>
          <a:p>
            <a:r>
              <a:t>Step 1 — Identifier lookups.</a:t>
            </a:r>
          </a:p>
          <a:p/>
          <a:p>
            <a:r>
              <a:t>Step 2 — History and catalog queries.</a:t>
            </a:r>
          </a:p>
          <a:p/>
          <a:p>
            <a:r>
              <a:t>Step 1 — Identifier lookups.</a:t>
            </a:r>
          </a:p>
          <a:p/>
          <a:p>
            <a:r>
              <a:t>Step 2 — History and catalog queries.</a:t>
            </a:r>
          </a:p>
          <a:p/>
          <a:p>
            <a:r>
              <a:t>Step 1 — Identifier lookups.</a:t>
            </a:r>
          </a:p>
          <a:p/>
          <a:p>
            <a:r>
              <a:t>Step 2 — History and catalog queries.</a:t>
            </a:r>
          </a:p>
          <a:p/>
          <a:p>
            <a:r>
              <a:t>Step 1 — Identifier lookups.</a:t>
            </a:r>
          </a:p>
          <a:p/>
          <a:p>
            <a:r>
              <a:t>Step 2 — History and catalog queries.</a:t>
            </a:r>
          </a:p>
          <a:p/>
          <a:p>
            <a:r>
              <a:t>I'll give you a few minutes to work — raise your hand if you get stuck.</a:t>
            </a:r>
          </a:p>
          <a:p/>
          <a:p>
            <a:r>
              <a:t>The slide title is: Exercise 6.1 — Steps 1–2.</a:t>
            </a:r>
          </a:p>
          <a:p/>
          <a:p>
            <a:r>
              <a:t>The slide says: Lab guide: [Exercise 6.1](../slide-exercises/module-06/exercise-6.1-identify-candidate-indexes.md).</a:t>
            </a:r>
          </a:p>
          <a:p/>
          <a:p>
            <a:r>
              <a:t>The slide says: Follow along (Windows) — key steps:.</a:t>
            </a:r>
          </a:p>
          <a:p/>
          <a:p>
            <a:r>
              <a:t>The slide says: _Full lab guide with every command: see Lab guide on the lesson divider slide._.</a:t>
            </a:r>
          </a:p>
          <a:p/>
          <a:p>
            <a:r>
              <a:t>Bullet 1 on the slide: Do: For (1) product by SKU and (2) customer by email, write the collection, the filter field, and whether uniqueness is a business rule.</a:t>
            </a:r>
          </a:p>
          <a:p/>
          <a:p>
            <a:r>
              <a:t>Bullet 2 on the slide: Expected: products.sku (unique) and customers.contact.email (unique if the store treats email as a login). _id already covers ObjectId lookups.</a:t>
            </a:r>
          </a:p>
          <a:p/>
          <a:p>
            <a:r>
              <a:t>Bullet 3 on the slide: Do: For (3) a customer’s orders newest first, (4) active products by category and price, (5) reviews by product and date, and (6) orders by payment status and creation date, list equality, sort, and range fields.</a:t>
            </a:r>
          </a:p>
          <a:p/>
          <a:p>
            <a:r>
              <a:t>Bullet 4 on the slide: Expected: (3) customerId equality, createdAt sort. (4) category + active equality, price sort/range. (5) productId equality, createdAt sort. (6) paymentStatus equality, c.</a:t>
            </a:r>
          </a:p>
          <a:p/>
          <a:p>
            <a:r>
              <a:t>Bullet 5 on the slide: Do: For (1) product by SKU and (2) customer by email, write the collection, the filter field, and whether uniqueness is a business rule.</a:t>
            </a:r>
          </a:p>
          <a:p/>
          <a:p>
            <a:r>
              <a:t>Bullet 6 on the slide: Expected: products.sku (unique) and customers.contact.email (unique if the store treats email as a login). _id already covers ObjectId lookups.</a:t>
            </a:r>
          </a:p>
          <a:p/>
          <a:p>
            <a:r>
              <a:t>Bullet 7 on the slide: Do: For (3) a customer’s orders newest first, (4) active products by category and price, (5) reviews by product and date, and (6) orders by payment status and creation date, list equality, sort, and range fields.</a:t>
            </a:r>
          </a:p>
          <a:p/>
          <a:p>
            <a:r>
              <a:t>Bullet 8 on the slide: Expected: (3) customerId equality, createdAt sort. (4) category + active equality, price sort/range. (5) productId equality, createdAt sort. (6) paymentStatus equality, c.</a:t>
            </a:r>
          </a:p>
          <a:p/>
          <a:p>
            <a:r>
              <a:t>Bullet 9 on the slide: Do: For (1) product by SKU and (2) customer by email, write the collection, the filter field, and whether uniqueness is a business rule.</a:t>
            </a:r>
          </a:p>
          <a:p/>
          <a:p>
            <a:r>
              <a:t>Bullet 10 on the slide: Expected: products.sku (unique) and customers.contact.email (unique if the store treats email as a login). _id already covers ObjectId lookups.</a:t>
            </a:r>
          </a:p>
          <a:p/>
          <a:p>
            <a:r>
              <a:t>Bullet 11 on the slide: Do: For (3) a customer’s orders newest first, (4) active products by category and price, (5) reviews by product and date, and (6) orders by payment status and creation date, list equality, sort, and range fields.</a:t>
            </a:r>
          </a:p>
          <a:p/>
          <a:p>
            <a:r>
              <a:t>Bullet 12 on the slide: Expected: (3) customerId equality, createdAt sort. (4) category + active equality, price sort/range. (5) productId equality, createdAt sort. (6) paymentStatus equality, c.</a:t>
            </a:r>
          </a:p>
          <a:p/>
          <a:p>
            <a:r>
              <a:t>Bullet 13 on the slide: Do: For (1) product by SKU and (2) customer by email, write the collection, the filter field, and whether uniqueness is a business rule.</a:t>
            </a:r>
          </a:p>
          <a:p/>
          <a:p>
            <a:r>
              <a:t>Bullet 14 on the slide: Expected: products.sku (unique) and customers.contact.email (unique if the store treats email as a login). _id already covers ObjectId lookups.</a:t>
            </a:r>
          </a:p>
          <a:p/>
          <a:p>
            <a:r>
              <a:t>Bullet 15 on the slide: Do: For (3) a customer’s orders newest first, (4) active products by category and price, (5) reviews by product and date, and (6) orders by payment status and creation date, list equality, sort, and range fields.</a:t>
            </a:r>
          </a:p>
          <a:p/>
          <a:p>
            <a:r>
              <a:t>Bullet 16 on the slide: Expected: (3) customerId equality, createdAt sort. (4) category + active equality, price sort/range. (5) productId equality, createdAt sort. (6) paymentStatus equality, c.</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Exercise 6.2 — Select Single or Compound Indexes.</a:t>
            </a:r>
          </a:p>
          <a:p/>
          <a:p>
            <a:r>
              <a:t>The slide title is: Exercise 6.2 — Select Single or Compound Indexes.</a:t>
            </a:r>
          </a:p>
          <a:p/>
          <a:p>
            <a:r>
              <a:t>The slide says: &lt;div class="cols"&gt;.</a:t>
            </a:r>
          </a:p>
          <a:p/>
          <a:p>
            <a:r>
              <a:t>The slide says: &lt;div class="col-text"&gt;.</a:t>
            </a:r>
          </a:p>
          <a:p/>
          <a:p>
            <a:r>
              <a:t>The slide says: &lt;/div&gt;.</a:t>
            </a:r>
          </a:p>
          <a:p/>
          <a:p>
            <a:r>
              <a:t>The slide says: &lt;div class="col-visual"&gt;.</a:t>
            </a:r>
          </a:p>
          <a:p/>
          <a:p>
            <a:r>
              <a:t>Bullet 1 on the slide: Time: 15 min.</a:t>
            </a:r>
          </a:p>
          <a:p/>
          <a:p>
            <a:r>
              <a:t>Bullet 2 on the slide: Classify requirements as single-field, compound, specialized, or not enough evidence.</a:t>
            </a:r>
          </a:p>
          <a:p/>
          <a:p>
            <a:r>
              <a:t>Bullet 3 on the slide: Lab guide: [Exercise 6.2](../slide-exercises/module-06/exercise-6.2-select-single-or-compound.md).</a:t>
            </a:r>
          </a:p>
          <a:p/>
          <a:p>
            <a:r>
              <a:t>The figure on this slide is titled: Choosing an index type.</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starting Exercise 6.2 — Select Single or Compound Indexes. We have about 15 min for this lab.</a:t>
            </a:r>
          </a:p>
          <a:p/>
          <a:p>
            <a:r>
              <a:t>Classify each requirement as a single-field, compound, specialized, or not-enough-evidence index.</a:t>
            </a:r>
          </a:p>
          <a:p/>
          <a:p>
            <a:r>
              <a:t>The full lab guide is in slide-exercises/module-06/exercise-6.2-select-single-or-compound.md if you need extra detail.</a:t>
            </a:r>
          </a:p>
          <a:p/>
          <a:p>
            <a:r>
              <a:t>On Windows: PowerShell in the integrated terminal — Ctrl+backtick — and the Agent panel — Ctrl+I. Open the repo folder with File → Open Folder.</a:t>
            </a:r>
          </a:p>
          <a:p/>
          <a:p>
            <a:r>
              <a:t>Step 1 — Classify four requirements.</a:t>
            </a:r>
          </a:p>
          <a:p/>
          <a:p>
            <a:r>
              <a:t>Step 2 — Justify one borderline case.</a:t>
            </a:r>
          </a:p>
          <a:p/>
          <a:p>
            <a:r>
              <a:t>Step 1 — Classify four requirements.</a:t>
            </a:r>
          </a:p>
          <a:p/>
          <a:p>
            <a:r>
              <a:t>Step 2 — Justify one borderline case.</a:t>
            </a:r>
          </a:p>
          <a:p/>
          <a:p>
            <a:r>
              <a:t>Step 1 — Classify four requirements.</a:t>
            </a:r>
          </a:p>
          <a:p/>
          <a:p>
            <a:r>
              <a:t>Step 2 — Justify one borderline case.</a:t>
            </a:r>
          </a:p>
          <a:p/>
          <a:p>
            <a:r>
              <a:t>Step 1 — Classify four requirements.</a:t>
            </a:r>
          </a:p>
          <a:p/>
          <a:p>
            <a:r>
              <a:t>Step 2 — Justify one borderline case.</a:t>
            </a:r>
          </a:p>
          <a:p/>
          <a:p>
            <a:r>
              <a:t>I'll give you a few minutes to work — raise your hand if you get stuck.</a:t>
            </a:r>
          </a:p>
          <a:p/>
          <a:p>
            <a:r>
              <a:t>The slide title is: Exercise 6.2 — Steps 1–2.</a:t>
            </a:r>
          </a:p>
          <a:p/>
          <a:p>
            <a:r>
              <a:t>The slide says: Lab guide: [Exercise 6.2](../slide-exercises/module-06/exercise-6.2-select-single-or-compound.md).</a:t>
            </a:r>
          </a:p>
          <a:p/>
          <a:p>
            <a:r>
              <a:t>The slide says: Follow along (Windows) — key steps:.</a:t>
            </a:r>
          </a:p>
          <a:p/>
          <a:p>
            <a:r>
              <a:t>The slide says: _Full lab guide with every command: see Lab guide on the lesson divider slide._.</a:t>
            </a:r>
          </a:p>
          <a:p/>
          <a:p>
            <a:r>
              <a:t>Bullet 1 on the slide: Do: Classify: (A) lookup product by SKU, (B) active accessories sorted by price, (C) expire session documents, (D) a manager’s one-time ad-hoc count of all orders.</a:t>
            </a:r>
          </a:p>
          <a:p/>
          <a:p>
            <a:r>
              <a:t>Bullet 2 on the slide: Expected: A single-field unique. B compound. C specialized TTL. D no new index without evidence — one-time reporting is not a standing query shape.</a:t>
            </a:r>
          </a:p>
          <a:p/>
          <a:p>
            <a:r>
              <a:t>Bullet 3 on the slide: Do: Write two sentences on why a boolean active field is a poor standalone index but a useful compound or partial-index field.</a:t>
            </a:r>
          </a:p>
          <a:p/>
          <a:p>
            <a:r>
              <a:t>Bullet 4 on the slide: Expected: Low selectivity: most products are active, so { active: 1 } barely narrows the scan. Combined with category (and optionally a partial filter) it supports the.</a:t>
            </a:r>
          </a:p>
          <a:p/>
          <a:p>
            <a:r>
              <a:t>Bullet 5 on the slide: Do: Classify: (A) lookup product by SKU, (B) active accessories sorted by price, (C) expire session documents, (D) a manager’s one-time ad-hoc count of all orders.</a:t>
            </a:r>
          </a:p>
          <a:p/>
          <a:p>
            <a:r>
              <a:t>Bullet 6 on the slide: Expected: A single-field unique. B compound. C specialized TTL. D no new index without evidence — one-time reporting is not a standing query shape.</a:t>
            </a:r>
          </a:p>
          <a:p/>
          <a:p>
            <a:r>
              <a:t>Bullet 7 on the slide: Do: Write two sentences on why a boolean active field is a poor standalone index but a useful compound or partial-index field.</a:t>
            </a:r>
          </a:p>
          <a:p/>
          <a:p>
            <a:r>
              <a:t>Bullet 8 on the slide: Expected: Low selectivity: most products are active, so { active: 1 } barely narrows the scan. Combined with category (and optionally a partial filter) it supports the.</a:t>
            </a:r>
          </a:p>
          <a:p/>
          <a:p>
            <a:r>
              <a:t>Bullet 9 on the slide: Do: Classify: (A) lookup product by SKU, (B) active accessories sorted by price, (C) expire session documents, (D) a manager’s one-time ad-hoc count of all orders.</a:t>
            </a:r>
          </a:p>
          <a:p/>
          <a:p>
            <a:r>
              <a:t>Bullet 10 on the slide: Expected: A single-field unique. B compound. C specialized TTL. D no new index without evidence — one-time reporting is not a standing query shape.</a:t>
            </a:r>
          </a:p>
          <a:p/>
          <a:p>
            <a:r>
              <a:t>Bullet 11 on the slide: Do: Write two sentences on why a boolean active field is a poor standalone index but a useful compound or partial-index field.</a:t>
            </a:r>
          </a:p>
          <a:p/>
          <a:p>
            <a:r>
              <a:t>Bullet 12 on the slide: Expected: Low selectivity: most products are active, so { active: 1 } barely narrows the scan. Combined with category (and optionally a partial filter) it supports the.</a:t>
            </a:r>
          </a:p>
          <a:p/>
          <a:p>
            <a:r>
              <a:t>Bullet 13 on the slide: Do: Classify: (A) lookup product by SKU, (B) active accessories sorted by price, (C) expire session documents, (D) a manager’s one-time ad-hoc count of all orders.</a:t>
            </a:r>
          </a:p>
          <a:p/>
          <a:p>
            <a:r>
              <a:t>Bullet 14 on the slide: Expected: A single-field unique. B compound. C specialized TTL. D no new index without evidence — one-time reporting is not a standing query shape.</a:t>
            </a:r>
          </a:p>
          <a:p/>
          <a:p>
            <a:r>
              <a:t>Bullet 15 on the slide: Do: Write two sentences on why a boolean active field is a poor standalone index but a useful compound or partial-index field.</a:t>
            </a:r>
          </a:p>
          <a:p/>
          <a:p>
            <a:r>
              <a:t>Bullet 16 on the slide: Expected: Low selectivity: most products are active, so { active: 1 } barely narrows the scan. Combined with category (and optionally a partial filter) it supports the.</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Exercise 6.3 — Arrange Compound-Index Fields.</a:t>
            </a:r>
          </a:p>
          <a:p/>
          <a:p>
            <a:r>
              <a:t>The slide title is: Exercise 6.3 — Arrange Compound-Index Fields.</a:t>
            </a:r>
          </a:p>
          <a:p/>
          <a:p>
            <a:r>
              <a:t>The slide says: &lt;div class="cols"&gt;.</a:t>
            </a:r>
          </a:p>
          <a:p/>
          <a:p>
            <a:r>
              <a:t>The slide says: &lt;div class="col-text"&gt;.</a:t>
            </a:r>
          </a:p>
          <a:p/>
          <a:p>
            <a:r>
              <a:t>The slide says: &lt;/div&gt;.</a:t>
            </a:r>
          </a:p>
          <a:p/>
          <a:p>
            <a:r>
              <a:t>The slide says: &lt;div class="col-visual"&gt;.</a:t>
            </a:r>
          </a:p>
          <a:p/>
          <a:p>
            <a:r>
              <a:t>Bullet 1 on the slide: Time: 15 min.</a:t>
            </a:r>
          </a:p>
          <a:p/>
          <a:p>
            <a:r>
              <a:t>Bullet 2 on the slide: Propose field order for a paid high-value order query that sorts by date.</a:t>
            </a:r>
          </a:p>
          <a:p/>
          <a:p>
            <a:r>
              <a:t>Bullet 3 on the slide: Lab guide: [Exercise 6.3](../slide-exercises/module-06/exercise-6.3-arrange-compound-fields.md).</a:t>
            </a:r>
          </a:p>
          <a:p/>
          <a:p>
            <a:r>
              <a:t>The figure on this slide is titled: ESR field order.</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starting Exercise 6.3 — Arrange Compound-Index Fields. We have about 15 min for this lab.</a:t>
            </a:r>
          </a:p>
          <a:p/>
          <a:p>
            <a:r>
              <a:t>Propose a compound-index field order using Equality–Sort–Range.</a:t>
            </a:r>
          </a:p>
          <a:p/>
          <a:p>
            <a:r>
              <a:t>The full lab guide is in slide-exercises/module-06/exercise-6.3-arrange-compound-fields.md if you need extra detail.</a:t>
            </a:r>
          </a:p>
          <a:p/>
          <a:p>
            <a:r>
              <a:t>On Windows: PowerShell in the integrated terminal — Ctrl+backtick — and the Agent panel — Ctrl+I. Open the repo folder with File → Open Folder.</a:t>
            </a:r>
          </a:p>
          <a:p/>
          <a:p>
            <a:r>
              <a:t>Step 1 — Label ESR roles.</a:t>
            </a:r>
          </a:p>
          <a:p/>
          <a:p>
            <a:r>
              <a:t>Step 2 — Propose order and an alternative.</a:t>
            </a:r>
          </a:p>
          <a:p/>
          <a:p>
            <a:r>
              <a:t>Step 1 — Label ESR roles.</a:t>
            </a:r>
          </a:p>
          <a:p/>
          <a:p>
            <a:r>
              <a:t>Step 2 — Propose order and an alternative.</a:t>
            </a:r>
          </a:p>
          <a:p/>
          <a:p>
            <a:r>
              <a:t>Step 1 — Label ESR roles.</a:t>
            </a:r>
          </a:p>
          <a:p/>
          <a:p>
            <a:r>
              <a:t>Step 2 — Propose order and an alternative.</a:t>
            </a:r>
          </a:p>
          <a:p/>
          <a:p>
            <a:r>
              <a:t>Step 1 — Label ESR roles.</a:t>
            </a:r>
          </a:p>
          <a:p/>
          <a:p>
            <a:r>
              <a:t>Step 2 — Propose order and an alternative.</a:t>
            </a:r>
          </a:p>
          <a:p/>
          <a:p>
            <a:r>
              <a:t>I'll give you a few minutes to work — raise your hand if you get stuck.</a:t>
            </a:r>
          </a:p>
          <a:p/>
          <a:p>
            <a:r>
              <a:t>The slide title is: Exercise 6.3 — Steps 1–2.</a:t>
            </a:r>
          </a:p>
          <a:p/>
          <a:p>
            <a:r>
              <a:t>The slide says: Lab guide: [Exercise 6.3](../slide-exercises/module-06/exercise-6.3-arrange-compound-fields.md).</a:t>
            </a:r>
          </a:p>
          <a:p/>
          <a:p>
            <a:r>
              <a:t>The slide says: Follow along (Windows) — key steps:.</a:t>
            </a:r>
          </a:p>
          <a:p/>
          <a:p>
            <a:r>
              <a:t>The slide says: _Full lab guide with every command: see Lab guide on the lesson divider slide._.</a:t>
            </a:r>
          </a:p>
          <a:p/>
          <a:p>
            <a:r>
              <a:t>Bullet 1 on the slide: Do: Given: javascript db.orders .find({ customerId: customerId, paymentStatus: "PAID", total: { $gte: Decimal128("500.00") } }) .sort({ createdAt: -1 })  Label each field as equality, sort, or range.</a:t>
            </a:r>
          </a:p>
          <a:p/>
          <a:p>
            <a:r>
              <a:t>Bullet 2 on the slide: Expected: Equality: customerId, paymentStatus. Sort: createdAt. Range: total.</a:t>
            </a:r>
          </a:p>
          <a:p/>
          <a:p>
            <a:r>
              <a:t>Bullet 3 on the slide: Do: Write a candidate key following Equality–Sort–Range. Then note when you might put the more selective equality field first if paymentStatus is a small set of values.</a:t>
            </a:r>
          </a:p>
          <a:p/>
          <a:p>
            <a:r>
              <a:t>Bullet 4 on the slide: Expected: Candidate { customerId: 1, paymentStatus: 1, createdAt: -1, total: 1 }. Alternative: still lead with customerId (high selectivity) even if paymentStatus is lo.</a:t>
            </a:r>
          </a:p>
          <a:p/>
          <a:p>
            <a:r>
              <a:t>Bullet 5 on the slide: Do: Given: javascript db.orders .find({ customerId: customerId, paymentStatus: "PAID", total: { $gte: Decimal128("500.00") } }) .sort({ createdAt: -1 })  Label each field as equality, sort, or range.</a:t>
            </a:r>
          </a:p>
          <a:p/>
          <a:p>
            <a:r>
              <a:t>Bullet 6 on the slide: Expected: Equality: customerId, paymentStatus. Sort: createdAt. Range: total.</a:t>
            </a:r>
          </a:p>
          <a:p/>
          <a:p>
            <a:r>
              <a:t>Bullet 7 on the slide: Do: Write a candidate key following Equality–Sort–Range. Then note when you might put the more selective equality field first if paymentStatus is a small set of values.</a:t>
            </a:r>
          </a:p>
          <a:p/>
          <a:p>
            <a:r>
              <a:t>Bullet 8 on the slide: Expected: Candidate { customerId: 1, paymentStatus: 1, createdAt: -1, total: 1 }. Alternative: still lead with customerId (high selectivity) even if paymentStatus is lo.</a:t>
            </a:r>
          </a:p>
          <a:p/>
          <a:p>
            <a:r>
              <a:t>Bullet 9 on the slide: Do: Given: javascript db.orders .find({ customerId: customerId, paymentStatus: "PAID", total: { $gte: Decimal128("500.00") } }) .sort({ createdAt: -1 })  Label each field as equality, sort, or range.</a:t>
            </a:r>
          </a:p>
          <a:p/>
          <a:p>
            <a:r>
              <a:t>Bullet 10 on the slide: Expected: Equality: customerId, paymentStatus. Sort: createdAt. Range: total.</a:t>
            </a:r>
          </a:p>
          <a:p/>
          <a:p>
            <a:r>
              <a:t>Bullet 11 on the slide: Do: Write a candidate key following Equality–Sort–Range. Then note when you might put the more selective equality field first if paymentStatus is a small set of values.</a:t>
            </a:r>
          </a:p>
          <a:p/>
          <a:p>
            <a:r>
              <a:t>Bullet 12 on the slide: Expected: Candidate { customerId: 1, paymentStatus: 1, createdAt: -1, total: 1 }. Alternative: still lead with customerId (high selectivity) even if paymentStatus is lo.</a:t>
            </a:r>
          </a:p>
          <a:p/>
          <a:p>
            <a:r>
              <a:t>Bullet 13 on the slide: Do: Given: ``javascript db.orders .find({ customerId: customerId, paymentStatus: "PAID", total: { $gte: Decimal128("500.00") } }) .sort({ createdAt: -1 }) `` Label each field as equality, sort, or range.</a:t>
            </a:r>
          </a:p>
          <a:p/>
          <a:p>
            <a:r>
              <a:t>Bullet 14 on the slide: Expected: Equality: customerId, paymentStatus. Sort: createdAt. Range: total.</a:t>
            </a:r>
          </a:p>
          <a:p/>
          <a:p>
            <a:r>
              <a:t>Bullet 15 on the slide: Do: Write a candidate key following Equality–Sort–Range. Then note when you might put the more selective equality field first if paymentStatus is a small set of values.</a:t>
            </a:r>
          </a:p>
          <a:p/>
          <a:p>
            <a:r>
              <a:t>Bullet 16 on the slide: Expected: Candidate { customerId: 1, paymentStatus: 1, createdAt: -1, total: 1 }. Alternative: still lead with customerId (high selectivity) even if paymentStatus is lo.</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Exercise 6.4 — Apply Equality–Sort–Range.</a:t>
            </a:r>
          </a:p>
          <a:p/>
          <a:p>
            <a:r>
              <a:t>The slide title is: Exercise 6.4 — Apply Equality–Sort–Range.</a:t>
            </a:r>
          </a:p>
          <a:p/>
          <a:p>
            <a:r>
              <a:t>The slide says: &lt;div class="cols"&gt;.</a:t>
            </a:r>
          </a:p>
          <a:p/>
          <a:p>
            <a:r>
              <a:t>The slide says: &lt;div class="col-text"&gt;.</a:t>
            </a:r>
          </a:p>
          <a:p/>
          <a:p>
            <a:r>
              <a:t>The slide says: &lt;/div&gt;.</a:t>
            </a:r>
          </a:p>
          <a:p/>
          <a:p>
            <a:r>
              <a:t>The slide says: &lt;div class="col-visual"&gt;.</a:t>
            </a:r>
          </a:p>
          <a:p/>
          <a:p>
            <a:r>
              <a:t>Bullet 1 on the slide: Time: 15 min.</a:t>
            </a:r>
          </a:p>
          <a:p/>
          <a:p>
            <a:r>
              <a:t>Bullet 2 on the slide: Label equality, sort, and range on three shapes and propose compound indexes.</a:t>
            </a:r>
          </a:p>
          <a:p/>
          <a:p>
            <a:r>
              <a:t>Bullet 3 on the slide: Lab guide: [Exercise 6.4](../slide-exercises/module-06/exercise-6.4-apply-equality-sort-range.md).</a:t>
            </a:r>
          </a:p>
          <a:p/>
          <a:p>
            <a:r>
              <a:t>The figure on this slide is titled: Three ESR shapes.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starting Exercise 6.4 — Apply Equality–Sort–Range. We have about 15 min for this lab.</a:t>
            </a:r>
          </a:p>
          <a:p/>
          <a:p>
            <a:r>
              <a:t>Label equality, sort, and range fields on several query shapes and propose compound indexes.</a:t>
            </a:r>
          </a:p>
          <a:p/>
          <a:p>
            <a:r>
              <a:t>The full lab guide is in slide-exercises/module-06/exercise-6.4-apply-equality-sort-range.md if you need extra detail.</a:t>
            </a:r>
          </a:p>
          <a:p/>
          <a:p>
            <a:r>
              <a:t>On Windows: PowerShell in the integrated terminal — Ctrl+backtick — and the Agent panel — Ctrl+I. Open the repo folder with File → Open Folder.</a:t>
            </a:r>
          </a:p>
          <a:p/>
          <a:p>
            <a:r>
              <a:t>Step 1 — Catalog and history shapes.</a:t>
            </a:r>
          </a:p>
          <a:p/>
          <a:p>
            <a:r>
              <a:t>Step 2 — Reporting shape.</a:t>
            </a:r>
          </a:p>
          <a:p/>
          <a:p>
            <a:r>
              <a:t>Step 1 — Catalog and history shapes.</a:t>
            </a:r>
          </a:p>
          <a:p/>
          <a:p>
            <a:r>
              <a:t>Step 2 — Reporting shape.</a:t>
            </a:r>
          </a:p>
          <a:p/>
          <a:p>
            <a:r>
              <a:t>Step 1 — Catalog and history shapes.</a:t>
            </a:r>
          </a:p>
          <a:p/>
          <a:p>
            <a:r>
              <a:t>Step 2 — Reporting shape.</a:t>
            </a:r>
          </a:p>
          <a:p/>
          <a:p>
            <a:r>
              <a:t>Step 1 — Catalog and history shapes.</a:t>
            </a:r>
          </a:p>
          <a:p/>
          <a:p>
            <a:r>
              <a:t>Step 2 — Reporting shape.</a:t>
            </a:r>
          </a:p>
          <a:p/>
          <a:p>
            <a:r>
              <a:t>I'll give you a few minutes to work — raise your hand if you get stuck.</a:t>
            </a:r>
          </a:p>
          <a:p/>
          <a:p>
            <a:r>
              <a:t>The slide title is: Exercise 6.4 — Steps 1–2.</a:t>
            </a:r>
          </a:p>
          <a:p/>
          <a:p>
            <a:r>
              <a:t>The slide says: Lab guide: [Exercise 6.4](../slide-exercises/module-06/exercise-6.4-apply-equality-sort-range.md).</a:t>
            </a:r>
          </a:p>
          <a:p/>
          <a:p>
            <a:r>
              <a:t>The slide says: Follow along (Windows) — key steps:.</a:t>
            </a:r>
          </a:p>
          <a:p/>
          <a:p>
            <a:r>
              <a:t>The slide says: _Full lab guide with every command: see Lab guide on the lesson divider slide._.</a:t>
            </a:r>
          </a:p>
          <a:p/>
          <a:p>
            <a:r>
              <a:t>Bullet 1 on the slide: Do: Shape A: active products in category ACCESSORY, price ≤ 100, sort by price. Shape B: one customerId, createdAt in a date range, sort createdAt descending. Label ESR and propose indexes.</a:t>
            </a:r>
          </a:p>
          <a:p/>
          <a:p>
            <a:r>
              <a:t>Bullet 2 on the slide: Expected: A: equality category+active, sort/range price → { category: 1, active: 1, price: 1 }. B: equality customerId, sort createdAt, range createdAt (same field) → `.</a:t>
            </a:r>
          </a:p>
          <a:p/>
          <a:p>
            <a:r>
              <a:t>Bullet 3 on the slide: Do: Shape C: paymentStatus PAID, createdAt ≥ start, sort createdAt descending. Propose an index and one sentence on why paymentStatus still belongs first even though it is low selectivity.</a:t>
            </a:r>
          </a:p>
          <a:p/>
          <a:p>
            <a:r>
              <a:t>Bullet 4 on the slide: Expected: { paymentStatus: 1, createdAt: -1 }. Equality first partitions the index so the date sort/range walks one status’s keys instead of mixing statuses.</a:t>
            </a:r>
          </a:p>
          <a:p/>
          <a:p>
            <a:r>
              <a:t>Bullet 5 on the slide: Do: Shape A: active products in category ACCESSORY, price ≤ 100, sort by price. Shape B: one customerId, createdAt in a date range, sort createdAt descending. Label ESR and propose indexes.</a:t>
            </a:r>
          </a:p>
          <a:p/>
          <a:p>
            <a:r>
              <a:t>Bullet 6 on the slide: Expected: A: equality category+active, sort/range price → { category: 1, active: 1, price: 1 }. B: equality customerId, sort createdAt, range createdAt (same field) → `.</a:t>
            </a:r>
          </a:p>
          <a:p/>
          <a:p>
            <a:r>
              <a:t>Bullet 7 on the slide: Do: Shape C: paymentStatus PAID, createdAt ≥ start, sort createdAt descending. Propose an index and one sentence on why paymentStatus still belongs first even though it is low selectivity.</a:t>
            </a:r>
          </a:p>
          <a:p/>
          <a:p>
            <a:r>
              <a:t>Bullet 8 on the slide: Expected: { paymentStatus: 1, createdAt: -1 }. Equality first partitions the index so the date sort/range walks one status’s keys instead of mixing statuses.</a:t>
            </a:r>
          </a:p>
          <a:p/>
          <a:p>
            <a:r>
              <a:t>Bullet 9 on the slide: Do: Shape A: active products in category ACCESSORY, price ≤ 100, sort by price. Shape B: one customerId, createdAt in a date range, sort createdAt descending. Label ESR and propose indexes.</a:t>
            </a:r>
          </a:p>
          <a:p/>
          <a:p>
            <a:r>
              <a:t>Bullet 10 on the slide: Expected: A: equality category+active, sort/range price → { category: 1, active: 1, price: 1 }. B: equality customerId, sort createdAt, range createdAt (same field) → `.</a:t>
            </a:r>
          </a:p>
          <a:p/>
          <a:p>
            <a:r>
              <a:t>Bullet 11 on the slide: Do: Shape C: paymentStatus PAID, createdAt ≥ start, sort createdAt descending. Propose an index and one sentence on why paymentStatus still belongs first even though it is low selectivity.</a:t>
            </a:r>
          </a:p>
          <a:p/>
          <a:p>
            <a:r>
              <a:t>Bullet 12 on the slide: Expected: { paymentStatus: 1, createdAt: -1 }. Equality first partitions the index so the date sort/range walks one status’s keys instead of mixing statuses.</a:t>
            </a:r>
          </a:p>
          <a:p/>
          <a:p>
            <a:r>
              <a:t>Bullet 13 on the slide: Do: Shape A: active products in category ACCESSORY, price ≤ 100, sort by price. Shape B: one customerId, createdAt in a date range, sort createdAt descending. Label ESR and propose indexes.</a:t>
            </a:r>
          </a:p>
          <a:p/>
          <a:p>
            <a:r>
              <a:t>Bullet 14 on the slide: Expected: A: equality category+active, sort/range price → { category: 1, active: 1, price: 1 }. B: equality customerId, sort createdAt, range createdAt (same field) → `.</a:t>
            </a:r>
          </a:p>
          <a:p/>
          <a:p>
            <a:r>
              <a:t>Bullet 15 on the slide: Do: Shape C: paymentStatus PAID, createdAt ≥ start, sort createdAt descending. Propose an index and one sentence on why paymentStatus still belongs first even though it is low selectivity.</a:t>
            </a:r>
          </a:p>
          <a:p/>
          <a:p>
            <a:r>
              <a:t>Bullet 16 on the slide: Expected: { paymentStatus: 1, createdAt: -1 }. Equality first partitions the index so the date sort/range walks one status’s keys instead of mixing statuses.</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Exercise 6.5 — Identify Index Prefixes.</a:t>
            </a:r>
          </a:p>
          <a:p/>
          <a:p>
            <a:r>
              <a:t>The slide title is: Exercise 6.5 — Identify Index Prefixes.</a:t>
            </a:r>
          </a:p>
          <a:p/>
          <a:p>
            <a:r>
              <a:t>The slide says: &lt;div class="cols"&gt;.</a:t>
            </a:r>
          </a:p>
          <a:p/>
          <a:p>
            <a:r>
              <a:t>The slide says: &lt;div class="col-text"&gt;.</a:t>
            </a:r>
          </a:p>
          <a:p/>
          <a:p>
            <a:r>
              <a:t>The slide says: &lt;/div&gt;.</a:t>
            </a:r>
          </a:p>
          <a:p/>
          <a:p>
            <a:r>
              <a:t>The slide says: &lt;div class="col-visual"&gt;.</a:t>
            </a:r>
          </a:p>
          <a:p/>
          <a:p>
            <a:r>
              <a:t>Bullet 1 on the slide: Time: 10 min.</a:t>
            </a:r>
          </a:p>
          <a:p/>
          <a:p>
            <a:r>
              <a:t>Bullet 2 on the slide: List prefixes of { customerId: 1, paymentStatus: 1, createdAt: -1 } and mark unsupported shapes.</a:t>
            </a:r>
          </a:p>
          <a:p/>
          <a:p>
            <a:r>
              <a:t>Bullet 3 on the slide: Lab guide: [Exercise 6.5](../slide-exercises/module-06/exercise-6.5-identify-index-prefixes.md).</a:t>
            </a:r>
          </a:p>
          <a:p/>
          <a:p>
            <a:r>
              <a:t>The figure on this slide is titled: Compound index prefixes.</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starting Exercise 6.5 — Identify Index Prefixes. We have about 10 min for this lab.</a:t>
            </a:r>
          </a:p>
          <a:p/>
          <a:p>
            <a:r>
              <a:t>State which query prefixes a compound index can support directly.</a:t>
            </a:r>
          </a:p>
          <a:p/>
          <a:p>
            <a:r>
              <a:t>The full lab guide is in slide-exercises/module-06/exercise-6.5-identify-index-prefixes.md if you need extra detail.</a:t>
            </a:r>
          </a:p>
          <a:p/>
          <a:p>
            <a:r>
              <a:t>On Windows: PowerShell in the integrated terminal — Ctrl+backtick — and the Agent panel — Ctrl+I. Open the repo folder with File → Open Folder.</a:t>
            </a:r>
          </a:p>
          <a:p/>
          <a:p>
            <a:r>
              <a:t>Step 1 — List usable prefixes.</a:t>
            </a:r>
          </a:p>
          <a:p/>
          <a:p>
            <a:r>
              <a:t>Step 2 — Mark unsupported shapes.</a:t>
            </a:r>
          </a:p>
          <a:p/>
          <a:p>
            <a:r>
              <a:t>Step 1 — List usable prefixes.</a:t>
            </a:r>
          </a:p>
          <a:p/>
          <a:p>
            <a:r>
              <a:t>Step 2 — Mark unsupported shapes.</a:t>
            </a:r>
          </a:p>
          <a:p/>
          <a:p>
            <a:r>
              <a:t>Step 1 — List usable prefixes.</a:t>
            </a:r>
          </a:p>
          <a:p/>
          <a:p>
            <a:r>
              <a:t>Step 2 — Mark unsupported shapes.</a:t>
            </a:r>
          </a:p>
          <a:p/>
          <a:p>
            <a:r>
              <a:t>Step 1 — List usable prefixes.</a:t>
            </a:r>
          </a:p>
          <a:p/>
          <a:p>
            <a:r>
              <a:t>Step 2 — Mark unsupported shapes.</a:t>
            </a:r>
          </a:p>
          <a:p/>
          <a:p>
            <a:r>
              <a:t>I'll give you a few minutes to work — raise your hand if you get stuck.</a:t>
            </a:r>
          </a:p>
          <a:p/>
          <a:p>
            <a:r>
              <a:t>The slide title is: Exercise 6.5 — Steps 1–2.</a:t>
            </a:r>
          </a:p>
          <a:p/>
          <a:p>
            <a:r>
              <a:t>The slide says: Lab guide: [Exercise 6.5](../slide-exercises/module-06/exercise-6.5-identify-index-prefixes.md).</a:t>
            </a:r>
          </a:p>
          <a:p/>
          <a:p>
            <a:r>
              <a:t>The slide says: Follow along (Windows) — key steps:.</a:t>
            </a:r>
          </a:p>
          <a:p/>
          <a:p>
            <a:r>
              <a:t>The slide says: _Full lab guide with every command: see Lab guide on the lesson divider slide._.</a:t>
            </a:r>
          </a:p>
          <a:p/>
          <a:p>
            <a:r>
              <a:t>Bullet 1 on the slide: Do: Given { customerId: 1, paymentStatus: 1, createdAt: -1 }, list the prefixes MongoDB can use from the left.</a:t>
            </a:r>
          </a:p>
          <a:p/>
          <a:p>
            <a:r>
              <a:t>Bullet 2 on the slide: Expected: customerId; customerId + paymentStatus; customerId + paymentStatus + createdAt.</a:t>
            </a:r>
          </a:p>
          <a:p/>
          <a:p>
            <a:r>
              <a:t>Bullet 3 on the slide: Do: Decide whether these can use that index as a leading prefix: (1) filter only paymentStatus, (2) filter customerId, (3) filter customerId and sort createdAt without paymentStatus.</a:t>
            </a:r>
          </a:p>
          <a:p/>
          <a:p>
            <a:r>
              <a:t>Bullet 4 on the slide: Expected: (1) No — paymentStatus is not leading. (2) Yes. (3) Usually not for the sort: skipping paymentStatus breaks the sort prefix, so an extra SORT is likely.</a:t>
            </a:r>
          </a:p>
          <a:p/>
          <a:p>
            <a:r>
              <a:t>Bullet 5 on the slide: Do: Given { customerId: 1, paymentStatus: 1, createdAt: -1 }, list the prefixes MongoDB can use from the left.</a:t>
            </a:r>
          </a:p>
          <a:p/>
          <a:p>
            <a:r>
              <a:t>Bullet 6 on the slide: Expected: customerId; customerId + paymentStatus; customerId + paymentStatus + createdAt.</a:t>
            </a:r>
          </a:p>
          <a:p/>
          <a:p>
            <a:r>
              <a:t>Bullet 7 on the slide: Do: Decide whether these can use that index as a leading prefix: (1) filter only paymentStatus, (2) filter customerId, (3) filter customerId and sort createdAt without paymentStatus.</a:t>
            </a:r>
          </a:p>
          <a:p/>
          <a:p>
            <a:r>
              <a:t>Bullet 8 on the slide: Expected: (1) No — paymentStatus is not leading. (2) Yes. (3) Usually not for the sort: skipping paymentStatus breaks the sort prefix, so an extra SORT is likely.</a:t>
            </a:r>
          </a:p>
          <a:p/>
          <a:p>
            <a:r>
              <a:t>Bullet 9 on the slide: Do: Given { customerId: 1, paymentStatus: 1, createdAt: -1 }, list the prefixes MongoDB can use from the left.</a:t>
            </a:r>
          </a:p>
          <a:p/>
          <a:p>
            <a:r>
              <a:t>Bullet 10 on the slide: Expected: customerId; customerId + paymentStatus; customerId + paymentStatus + createdAt.</a:t>
            </a:r>
          </a:p>
          <a:p/>
          <a:p>
            <a:r>
              <a:t>Bullet 11 on the slide: Do: Decide whether these can use that index as a leading prefix: (1) filter only paymentStatus, (2) filter customerId, (3) filter customerId and sort createdAt without paymentStatus.</a:t>
            </a:r>
          </a:p>
          <a:p/>
          <a:p>
            <a:r>
              <a:t>Bullet 12 on the slide: Expected: (1) No — paymentStatus is not leading. (2) Yes. (3) Usually not for the sort: skipping paymentStatus breaks the sort prefix, so an extra SORT is likely.</a:t>
            </a:r>
          </a:p>
          <a:p/>
          <a:p>
            <a:r>
              <a:t>Bullet 13 on the slide: Do: Given { customerId: 1, paymentStatus: 1, createdAt: -1 }, list the prefixes MongoDB can use from the left.</a:t>
            </a:r>
          </a:p>
          <a:p/>
          <a:p>
            <a:r>
              <a:t>Bullet 14 on the slide: Expected: customerId; customerId + paymentStatus; customerId + paymentStatus + createdAt.</a:t>
            </a:r>
          </a:p>
          <a:p/>
          <a:p>
            <a:r>
              <a:t>Bullet 15 on the slide: Do: Decide whether these can use that index as a leading prefix: (1) filter only paymentStatus, (2) filter customerId, (3) filter customerId and sort createdAt without paymentStatus.</a:t>
            </a:r>
          </a:p>
          <a:p/>
          <a:p>
            <a:r>
              <a:t>Bullet 16 on the slide: Expected: (1) No — paymentStatus is not leading. (2) Yes. (3) Usually not for the sort: skipping paymentStatus breaks the sort prefix, so an extra SORT is likely.</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Demo 6.5 — Create a Multikey Index.</a:t>
            </a:r>
          </a:p>
          <a:p/>
          <a:p>
            <a:r>
              <a:t>The slide title is: Demo 6.5 — Create a Multikey Index.</a:t>
            </a:r>
          </a:p>
          <a:p/>
          <a:p>
            <a:r>
              <a:t>The slide says: &lt;div class="cols"&gt;.</a:t>
            </a:r>
          </a:p>
          <a:p/>
          <a:p>
            <a:r>
              <a:t>The slide says: &lt;div class="col-text"&gt;.</a:t>
            </a:r>
          </a:p>
          <a:p/>
          <a:p>
            <a:r>
              <a:t>The slide says: &lt;/div&gt;.</a:t>
            </a:r>
          </a:p>
          <a:p/>
          <a:p>
            <a:r>
              <a:t>The slide says: &lt;div class="col-visual"&gt;.</a:t>
            </a:r>
          </a:p>
          <a:p/>
          <a:p>
            <a:r>
              <a:t>Bullet 1 on the slide: Time: 10 min.</a:t>
            </a:r>
          </a:p>
          <a:p/>
          <a:p>
            <a:r>
              <a:t>Bullet 2 on the slide: Create idx_products_tags.</a:t>
            </a:r>
          </a:p>
          <a:p/>
          <a:p>
            <a:r>
              <a:t>Bullet 3 on the slide: Query tags: "technology".</a:t>
            </a:r>
          </a:p>
          <a:p/>
          <a:p>
            <a:r>
              <a:t>Bullet 4 on the slide: Show multikey in getIndexes or explain.</a:t>
            </a:r>
          </a:p>
          <a:p/>
          <a:p>
            <a:r>
              <a:t>The figure on this slide is titled: Create a Multikey Index.</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Demo 6.6 — Enforce Uniqueness.</a:t>
            </a:r>
          </a:p>
          <a:p/>
          <a:p>
            <a:r>
              <a:t>The slide title is: Demo 6.6 — Enforce Uniqueness.</a:t>
            </a:r>
          </a:p>
          <a:p/>
          <a:p>
            <a:r>
              <a:t>The slide says: &lt;div class="cols"&gt;.</a:t>
            </a:r>
          </a:p>
          <a:p/>
          <a:p>
            <a:r>
              <a:t>The slide says: &lt;div class="col-text"&gt;.</a:t>
            </a:r>
          </a:p>
          <a:p/>
          <a:p>
            <a:r>
              <a:t>The slide says: &lt;/div&gt;.</a:t>
            </a:r>
          </a:p>
          <a:p/>
          <a:p>
            <a:r>
              <a:t>The slide says: &lt;div class="col-visual"&gt;.</a:t>
            </a:r>
          </a:p>
          <a:p/>
          <a:p>
            <a:r>
              <a:t>Bullet 1 on the slide: Time: 10 min.</a:t>
            </a:r>
          </a:p>
          <a:p/>
          <a:p>
            <a:r>
              <a:t>Bullet 2 on the slide: Drop idx_products_sku if present (same keys).</a:t>
            </a:r>
          </a:p>
          <a:p/>
          <a:p>
            <a:r>
              <a:t>Bullet 3 on the slide: Create uq_products_sku.</a:t>
            </a:r>
          </a:p>
          <a:p/>
          <a:p>
            <a:r>
              <a:t>Bullet 4 on the slide: Insert a second L100 — read the duplicate-key error.</a:t>
            </a:r>
          </a:p>
          <a:p/>
          <a:p>
            <a:r>
              <a:t>The figure on this slide is titled: Enforce Uniqueness.</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Demo 6.7 — Use a Partial Index.</a:t>
            </a:r>
          </a:p>
          <a:p/>
          <a:p>
            <a:r>
              <a:t>The slide title is: Demo 6.7 — Use a Partial Index.</a:t>
            </a:r>
          </a:p>
          <a:p/>
          <a:p>
            <a:r>
              <a:t>The slide says: &lt;div class="cols"&gt;.</a:t>
            </a:r>
          </a:p>
          <a:p/>
          <a:p>
            <a:r>
              <a:t>The slide says: &lt;div class="col-text"&gt;.</a:t>
            </a:r>
          </a:p>
          <a:p/>
          <a:p>
            <a:r>
              <a:t>The slide says: &lt;/div&gt;.</a:t>
            </a:r>
          </a:p>
          <a:p/>
          <a:p>
            <a:r>
              <a:t>The slide says: &lt;div class="col-visual"&gt;.</a:t>
            </a:r>
          </a:p>
          <a:p/>
          <a:p>
            <a:r>
              <a:t>Bullet 1 on the slide: Time: 15 min.</a:t>
            </a:r>
          </a:p>
          <a:p/>
          <a:p>
            <a:r>
              <a:t>Bullet 2 on the slide: Create idx_active_products_category_price with active: true.</a:t>
            </a:r>
          </a:p>
          <a:p/>
          <a:p>
            <a:r>
              <a:t>Bullet 3 on the slide: Explain a query that includes active: true.</a:t>
            </a:r>
          </a:p>
          <a:p/>
          <a:p>
            <a:r>
              <a:t>Bullet 4 on the slide: Explain the same category/price query that omits it.</a:t>
            </a:r>
          </a:p>
          <a:p/>
          <a:p>
            <a:r>
              <a:t>The figure on this slide is titled: Use a Partial Index.</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Demo 6.8 — Create a TTL Index.</a:t>
            </a:r>
          </a:p>
          <a:p/>
          <a:p>
            <a:r>
              <a:t>The slide title is: Demo 6.8 — Create a TTL Index.</a:t>
            </a:r>
          </a:p>
          <a:p/>
          <a:p>
            <a:r>
              <a:t>The slide says: &lt;div class="cols"&gt;.</a:t>
            </a:r>
          </a:p>
          <a:p/>
          <a:p>
            <a:r>
              <a:t>The slide says: &lt;div class="col-text"&gt;.</a:t>
            </a:r>
          </a:p>
          <a:p/>
          <a:p>
            <a:r>
              <a:t>The slide says: &lt;/div&gt;.</a:t>
            </a:r>
          </a:p>
          <a:p/>
          <a:p>
            <a:r>
              <a:t>The slide says: &lt;div class="col-visual"&gt;.</a:t>
            </a:r>
          </a:p>
          <a:p/>
          <a:p>
            <a:r>
              <a:t>Bullet 1 on the slide: Time: 10 min.</a:t>
            </a:r>
          </a:p>
          <a:p/>
          <a:p>
            <a:r>
              <a:t>Bullet 2 on the slide: Use a dedicated sessions collection — not a second app dataset.</a:t>
            </a:r>
          </a:p>
          <a:p/>
          <a:p>
            <a:r>
              <a:t>Bullet 3 on the slide: Index expiresAt with expireAfterSeconds 0.</a:t>
            </a:r>
          </a:p>
          <a:p/>
          <a:p>
            <a:r>
              <a:t>Bullet 4 on the slide: Insert one future and one past document.</a:t>
            </a:r>
          </a:p>
          <a:p/>
          <a:p>
            <a:r>
              <a:t>Bullet 5 on the slide: Explain async cleanup.</a:t>
            </a:r>
          </a:p>
          <a:p/>
          <a:p>
            <a:r>
              <a:t>The figure on this slide is titled: Create a TTL Index.</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Exercise 6.6 — Select Specialized Index Types.</a:t>
            </a:r>
          </a:p>
          <a:p/>
          <a:p>
            <a:r>
              <a:t>The slide title is: Exercise 6.6 — Select Specialized Index Types.</a:t>
            </a:r>
          </a:p>
          <a:p/>
          <a:p>
            <a:r>
              <a:t>The slide says: &lt;div class="cols"&gt;.</a:t>
            </a:r>
          </a:p>
          <a:p/>
          <a:p>
            <a:r>
              <a:t>The slide says: &lt;div class="col-text"&gt;.</a:t>
            </a:r>
          </a:p>
          <a:p/>
          <a:p>
            <a:r>
              <a:t>The slide says: &lt;/div&gt;.</a:t>
            </a:r>
          </a:p>
          <a:p/>
          <a:p>
            <a:r>
              <a:t>The slide says: &lt;div class="col-visual"&gt;.</a:t>
            </a:r>
          </a:p>
          <a:p/>
          <a:p>
            <a:r>
              <a:t>Bullet 1 on the slide: Time: 15 min.</a:t>
            </a:r>
          </a:p>
          <a:p/>
          <a:p>
            <a:r>
              <a:t>Bullet 2 on the slide: Match eight requirements to unique, partial, sparse, TTL, text, wildcard, geospatial, or hashed.</a:t>
            </a:r>
          </a:p>
          <a:p/>
          <a:p>
            <a:r>
              <a:t>Bullet 3 on the slide: Lab guide: [Exercise 6.6](../slide-exercises/module-06/exercise-6.6-select-specialized-index-types.md).</a:t>
            </a:r>
          </a:p>
          <a:p/>
          <a:p>
            <a:r>
              <a:t>The figure on this slide is titled: Specialized index chooser.</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starting Exercise 6.6 — Select Specialized Index Types. We have about 15 min for this lab.</a:t>
            </a:r>
          </a:p>
          <a:p/>
          <a:p>
            <a:r>
              <a:t>Match requirements to unique, partial, sparse, TTL, text, wildcard, geospatial, or hashed indexes.</a:t>
            </a:r>
          </a:p>
          <a:p/>
          <a:p>
            <a:r>
              <a:t>The full lab guide is in slide-exercises/module-06/exercise-6.6-select-specialized-index-types.md if you need extra detail.</a:t>
            </a:r>
          </a:p>
          <a:p/>
          <a:p>
            <a:r>
              <a:t>On Windows: PowerShell in the integrated terminal — Ctrl+backtick — and the Agent panel — Ctrl+I. Open the repo folder with File → Open Folder.</a:t>
            </a:r>
          </a:p>
          <a:p/>
          <a:p>
            <a:r>
              <a:t>Step 1 — Match the first four.</a:t>
            </a:r>
          </a:p>
          <a:p/>
          <a:p>
            <a:r>
              <a:t>Step 2 — Match the last four.</a:t>
            </a:r>
          </a:p>
          <a:p/>
          <a:p>
            <a:r>
              <a:t>Step 1 — Match the first four.</a:t>
            </a:r>
          </a:p>
          <a:p/>
          <a:p>
            <a:r>
              <a:t>Step 2 — Match the last four.</a:t>
            </a:r>
          </a:p>
          <a:p/>
          <a:p>
            <a:r>
              <a:t>Step 1 — Match the first four.</a:t>
            </a:r>
          </a:p>
          <a:p/>
          <a:p>
            <a:r>
              <a:t>Step 2 — Match the last four.</a:t>
            </a:r>
          </a:p>
          <a:p/>
          <a:p>
            <a:r>
              <a:t>Step 1 — Match the first four.</a:t>
            </a:r>
          </a:p>
          <a:p/>
          <a:p>
            <a:r>
              <a:t>Step 2 — Match the last four.</a:t>
            </a:r>
          </a:p>
          <a:p/>
          <a:p>
            <a:r>
              <a:t>I'll give you a few minutes to work — raise your hand if you get stuck.</a:t>
            </a:r>
          </a:p>
          <a:p/>
          <a:p>
            <a:r>
              <a:t>The slide title is: Exercise 6.6 — Steps 1–2.</a:t>
            </a:r>
          </a:p>
          <a:p/>
          <a:p>
            <a:r>
              <a:t>The slide says: Lab guide: [Exercise 6.6](../slide-exercises/module-06/exercise-6.6-select-specialized-index-types.md).</a:t>
            </a:r>
          </a:p>
          <a:p/>
          <a:p>
            <a:r>
              <a:t>The slide says: Follow along (Windows) — key steps:.</a:t>
            </a:r>
          </a:p>
          <a:p/>
          <a:p>
            <a:r>
              <a:t>The slide says: _Full lab guide with every command: see Lab guide on the lesson divider slide._.</a:t>
            </a:r>
          </a:p>
          <a:p/>
          <a:p>
            <a:r>
              <a:t>Bullet 1 on the slide: Do: Match: (1) product SKU must never duplicate, (2) index only active products, (3) optional discountCode present on few documents, (4) delete sessions after expiresAt.</a:t>
            </a:r>
          </a:p>
          <a:p/>
          <a:p>
            <a:r>
              <a:t>Bullet 2 on the slide: Expected: 1 unique, 2 partial, 3 sparse (or a partial filter on $exists), 4 TTL.</a:t>
            </a:r>
          </a:p>
          <a:p/>
          <a:p>
            <a:r>
              <a:t>Bullet 3 on the slide: Do: Match: (5) word search on product names, (6) unpredictable attributes.* paths, (7) nearby stores from a GeoJSON point, (8) hashed shard-key distribution on tenantId.</a:t>
            </a:r>
          </a:p>
          <a:p/>
          <a:p>
            <a:r>
              <a:t>Bullet 4 on the slide: Expected: 5 text (or an external search product for advanced relevance), 6 wildcard, 7 geospatial 2dsphere, 8 hashed.</a:t>
            </a:r>
          </a:p>
          <a:p/>
          <a:p>
            <a:r>
              <a:t>Bullet 5 on the slide: Do: Match: (1) product SKU must never duplicate, (2) index only active products, (3) optional discountCode present on few documents, (4) delete sessions after expiresAt.</a:t>
            </a:r>
          </a:p>
          <a:p/>
          <a:p>
            <a:r>
              <a:t>Bullet 6 on the slide: Expected: 1 unique, 2 partial, 3 sparse (or a partial filter on $exists), 4 TTL.</a:t>
            </a:r>
          </a:p>
          <a:p/>
          <a:p>
            <a:r>
              <a:t>Bullet 7 on the slide: Do: Match: (5) word search on product names, (6) unpredictable attributes.* paths, (7) nearby stores from a GeoJSON point, (8) hashed shard-key distribution on tenantId.</a:t>
            </a:r>
          </a:p>
          <a:p/>
          <a:p>
            <a:r>
              <a:t>Bullet 8 on the slide: Expected: 5 text (or an external search product for advanced relevance), 6 wildcard, 7 geospatial 2dsphere, 8 hashed.</a:t>
            </a:r>
          </a:p>
          <a:p/>
          <a:p>
            <a:r>
              <a:t>Bullet 9 on the slide: Do: Match: (1) product SKU must never duplicate, (2) index only active products, (3) optional discountCode present on few documents, (4) delete sessions after expiresAt.</a:t>
            </a:r>
          </a:p>
          <a:p/>
          <a:p>
            <a:r>
              <a:t>Bullet 10 on the slide: Expected: 1 unique, 2 partial, 3 sparse (or a partial filter on $exists), 4 TTL.</a:t>
            </a:r>
          </a:p>
          <a:p/>
          <a:p>
            <a:r>
              <a:t>Bullet 11 on the slide: Do: Match: (5) word search on product names, (6) unpredictable attributes.* paths, (7) nearby stores from a GeoJSON point, (8) hashed shard-key distribution on tenantId.</a:t>
            </a:r>
          </a:p>
          <a:p/>
          <a:p>
            <a:r>
              <a:t>Bullet 12 on the slide: Expected: 5 text (or an external search product for advanced relevance), 6 wildcard, 7 geospatial 2dsphere, 8 hashed.</a:t>
            </a:r>
          </a:p>
          <a:p/>
          <a:p>
            <a:r>
              <a:t>Bullet 13 on the slide: Do: Match: (1) product SKU must never duplicate, (2) index only active products, (3) optional discountCode present on few documents, (4) delete sessions after expiresAt.</a:t>
            </a:r>
          </a:p>
          <a:p/>
          <a:p>
            <a:r>
              <a:t>Bullet 14 on the slide: Expected: 1 unique, 2 partial, 3 sparse (or a partial filter on $exists), 4 TTL.</a:t>
            </a:r>
          </a:p>
          <a:p/>
          <a:p>
            <a:r>
              <a:t>Bullet 15 on the slide: Do: Match: (5) word search on product names, (6) unpredictable attributes.* paths, (7) nearby stores from a GeoJSON point, (8) hashed shard-key distribution on tenantId.</a:t>
            </a:r>
          </a:p>
          <a:p/>
          <a:p>
            <a:r>
              <a:t>Bullet 16 on the slide: Expected: 5 text (or an external search product for advanced relevance), 6 wildcard, 7 geospatial 2dsphere, 8 hashed.</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Demo 6.9 — Identify a Covered Query.</a:t>
            </a:r>
          </a:p>
          <a:p/>
          <a:p>
            <a:r>
              <a:t>The slide title is: Demo 6.9 — Identify a Covered Query.</a:t>
            </a:r>
          </a:p>
          <a:p/>
          <a:p>
            <a:r>
              <a:t>The slide says: &lt;div class="cols"&gt;.</a:t>
            </a:r>
          </a:p>
          <a:p/>
          <a:p>
            <a:r>
              <a:t>The slide says: &lt;div class="col-text"&gt;.</a:t>
            </a:r>
          </a:p>
          <a:p/>
          <a:p>
            <a:r>
              <a:t>The slide says: &lt;/div&gt;.</a:t>
            </a:r>
          </a:p>
          <a:p/>
          <a:p>
            <a:r>
              <a:t>The slide says: &lt;div class="col-visual"&gt;.</a:t>
            </a:r>
          </a:p>
          <a:p/>
          <a:p>
            <a:r>
              <a:t>Bullet 1 on the slide: Time: 15 min.</a:t>
            </a:r>
          </a:p>
          <a:p/>
          <a:p>
            <a:r>
              <a:t>Bullet 2 on the slide: Create idx_products_category_price_name.</a:t>
            </a:r>
          </a:p>
          <a:p/>
          <a:p>
            <a:r>
              <a:t>Bullet 3 on the slide: Query BOOK with _id: 0, name, price.</a:t>
            </a:r>
          </a:p>
          <a:p/>
          <a:p>
            <a:r>
              <a:t>Bullet 4 on the slide: Inspect whether FETCH is absent.</a:t>
            </a:r>
          </a:p>
          <a:p/>
          <a:p>
            <a:r>
              <a:t>The figure on this slide is titled: Identify a Covered Query.</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Demo 6.10 — Evaluate Indexes with explain().</a:t>
            </a:r>
          </a:p>
          <a:p/>
          <a:p>
            <a:r>
              <a:t>The slide title is: Demo 6.10 — Evaluate Indexes with explain().</a:t>
            </a:r>
          </a:p>
          <a:p/>
          <a:p>
            <a:r>
              <a:t>The slide says: &lt;div class="cols"&gt;.</a:t>
            </a:r>
          </a:p>
          <a:p/>
          <a:p>
            <a:r>
              <a:t>The slide says: &lt;div class="col-text"&gt;.</a:t>
            </a:r>
          </a:p>
          <a:p/>
          <a:p>
            <a:r>
              <a:t>The slide says: &lt;/div&gt;.</a:t>
            </a:r>
          </a:p>
          <a:p/>
          <a:p>
            <a:r>
              <a:t>The slide says: &lt;div class="col-visual"&gt;.</a:t>
            </a:r>
          </a:p>
          <a:p/>
          <a:p>
            <a:r>
              <a:t>Bullet 1 on the slide: Time: 20 min.</a:t>
            </a:r>
          </a:p>
          <a:p/>
          <a:p>
            <a:r>
              <a:t>Bullet 2 on the slide: Walk winning plan, index name, nReturned, keys, docs.</a:t>
            </a:r>
          </a:p>
          <a:p/>
          <a:p>
            <a:r>
              <a:t>Bullet 3 on the slide: Find SORT if present.</a:t>
            </a:r>
          </a:p>
          <a:p/>
          <a:p>
            <a:r>
              <a:t>Bullet 4 on the slide: Glance at rejected plans.</a:t>
            </a:r>
          </a:p>
          <a:p/>
          <a:p>
            <a:r>
              <a:t>The figure on this slide is titled: Evaluate Indexes with explain().</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Exercise 6.7 — Interpret Explain Output.</a:t>
            </a:r>
          </a:p>
          <a:p/>
          <a:p>
            <a:r>
              <a:t>The slide title is: Exercise 6.7 — Interpret Explain Output.</a:t>
            </a:r>
          </a:p>
          <a:p/>
          <a:p>
            <a:r>
              <a:t>The slide says: &lt;div class="cols"&gt;.</a:t>
            </a:r>
          </a:p>
          <a:p/>
          <a:p>
            <a:r>
              <a:t>The slide says: &lt;div class="col-text"&gt;.</a:t>
            </a:r>
          </a:p>
          <a:p/>
          <a:p>
            <a:r>
              <a:t>The slide says: &lt;/div&gt;.</a:t>
            </a:r>
          </a:p>
          <a:p/>
          <a:p>
            <a:r>
              <a:t>The slide says: &lt;div class="col-visual"&gt;.</a:t>
            </a:r>
          </a:p>
          <a:p/>
          <a:p>
            <a:r>
              <a:t>Bullet 1 on the slide: Time: 20 min.</a:t>
            </a:r>
          </a:p>
          <a:p/>
          <a:p>
            <a:r>
              <a:t>Bullet 2 on the slide: Identify COLLSCAN vs IXSCAN, examined counts, extra sort, and poor selectivity.</a:t>
            </a:r>
          </a:p>
          <a:p/>
          <a:p>
            <a:r>
              <a:t>Bullet 3 on the slide: Lab guide: [Exercise 6.7](../slide-exercises/module-06/exercise-6.7-interpret-explain-output.md).</a:t>
            </a:r>
          </a:p>
          <a:p/>
          <a:p>
            <a:r>
              <a:t>The figure on this slide is titled: Interpreting explain statistics.</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starting Exercise 6.7 — Interpret Explain Output. We have about 20 min for this lab.</a:t>
            </a:r>
          </a:p>
          <a:p/>
          <a:p>
            <a:r>
              <a:t>Read COLLSCAN versus IXSCAN, examined counts, extra sorts, and selectivity signals.</a:t>
            </a:r>
          </a:p>
          <a:p/>
          <a:p>
            <a:r>
              <a:t>The full lab guide is in slide-exercises/module-06/exercise-6.7-interpret-explain-output.md if you need extra detail.</a:t>
            </a:r>
          </a:p>
          <a:p/>
          <a:p>
            <a:r>
              <a:t>On Windows: PowerShell in the integrated terminal — Ctrl+backtick — and the Agent panel — Ctrl+I. Open the repo folder with File → Open Folder.</a:t>
            </a:r>
          </a:p>
          <a:p/>
          <a:p>
            <a:r>
              <a:t>Step 1 — Label the sample plan.</a:t>
            </a:r>
          </a:p>
          <a:p/>
          <a:p>
            <a:r>
              <a:t>Step 2 — Contrast a bad ratio.</a:t>
            </a:r>
          </a:p>
          <a:p/>
          <a:p>
            <a:r>
              <a:t>Step 1 — Label the sample plan.</a:t>
            </a:r>
          </a:p>
          <a:p/>
          <a:p>
            <a:r>
              <a:t>Step 2 — Contrast a bad ratio.</a:t>
            </a:r>
          </a:p>
          <a:p/>
          <a:p>
            <a:r>
              <a:t>Step 1 — Label the sample plan.</a:t>
            </a:r>
          </a:p>
          <a:p/>
          <a:p>
            <a:r>
              <a:t>Step 2 — Contrast a bad ratio.</a:t>
            </a:r>
          </a:p>
          <a:p/>
          <a:p>
            <a:r>
              <a:t>Step 1 — Label the sample plan.</a:t>
            </a:r>
          </a:p>
          <a:p/>
          <a:p>
            <a:r>
              <a:t>Step 2 — Contrast a bad ratio.</a:t>
            </a:r>
          </a:p>
          <a:p/>
          <a:p>
            <a:r>
              <a:t>I'll give you a few minutes to work — raise your hand if you get stuck.</a:t>
            </a:r>
          </a:p>
          <a:p/>
          <a:p>
            <a:r>
              <a:t>The slide title is: Exercise 6.7 — Steps 1–2.</a:t>
            </a:r>
          </a:p>
          <a:p/>
          <a:p>
            <a:r>
              <a:t>The slide says: Lab guide: [Exercise 6.7](../slide-exercises/module-06/exercise-6.7-interpret-explain-output.md).</a:t>
            </a:r>
          </a:p>
          <a:p/>
          <a:p>
            <a:r>
              <a:t>The slide says: Follow along (Windows) — key steps:.</a:t>
            </a:r>
          </a:p>
          <a:p/>
          <a:p>
            <a:r>
              <a:t>The slide says: _Full lab guide with every command: see Lab guide on the lesson divider slide._.</a:t>
            </a:r>
          </a:p>
          <a:p/>
          <a:p>
            <a:r>
              <a:t>Bullet 1 on the slide: Do: Using this training-style output, name the winning stage path, the index, and whether a FETCH occurred: text winningPlan.stage: FETCH winningPlan.inputStage.stage: IXSCAN winningPlan.inputStage.indexName: idx_products.</a:t>
            </a:r>
          </a:p>
          <a:p/>
          <a:p>
            <a:r>
              <a:t>Bullet 2 on the slide: Expected: IXSCAN on idx_products_category, then FETCH. Four keys, four docs, four returned — targeted for this dataset.</a:t>
            </a:r>
          </a:p>
          <a:p/>
          <a:p>
            <a:r>
              <a:t>Bullet 3 on the slide: Do: If another query showed COLLSCAN, totalDocsExamined 12, nReturned 1, write what you would try next. If it showed IXSCAN with keys examined 50,000 and nReturned 10, why is IXSCAN not enough?.</a:t>
            </a:r>
          </a:p>
          <a:p/>
          <a:p>
            <a:r>
              <a:t>Bullet 4 on the slide: Expected: COLLSCAN: add an index on the filter/sort shape. High-key IXSCAN: the index is used but not selective (wrong order, low-selectivity leading field, or a wide ran.</a:t>
            </a:r>
          </a:p>
          <a:p/>
          <a:p>
            <a:r>
              <a:t>Bullet 5 on the slide: Do: Using this training-style output, name the winning stage path, the index, and whether a FETCH occurred: text winningPlan.stage: FETCH winningPlan.inputStage.stage: IXSCAN winningPlan.inputStage.indexName: idx_products.</a:t>
            </a:r>
          </a:p>
          <a:p/>
          <a:p>
            <a:r>
              <a:t>Bullet 6 on the slide: Expected: IXSCAN on idx_products_category, then FETCH. Four keys, four docs, four returned — targeted for this dataset.</a:t>
            </a:r>
          </a:p>
          <a:p/>
          <a:p>
            <a:r>
              <a:t>Bullet 7 on the slide: Do: If another query showed COLLSCAN, totalDocsExamined 12, nReturned 1, write what you would try next. If it showed IXSCAN with keys examined 50,000 and nReturned 10, why is IXSCAN not enough?.</a:t>
            </a:r>
          </a:p>
          <a:p/>
          <a:p>
            <a:r>
              <a:t>Bullet 8 on the slide: Expected: COLLSCAN: add an index on the filter/sort shape. High-key IXSCAN: the index is used but not selective (wrong order, low-selectivity leading field, or a wide ran.</a:t>
            </a:r>
          </a:p>
          <a:p/>
          <a:p>
            <a:r>
              <a:t>Bullet 9 on the slide: Do: Using this training-style output, name the winning stage path, the index, and whether a FETCH occurred: text winningPlan.stage: FETCH winningPlan.inputStage.stage: IXSCAN winningPlan.inputStage.indexName: idx_products.</a:t>
            </a:r>
          </a:p>
          <a:p/>
          <a:p>
            <a:r>
              <a:t>Bullet 10 on the slide: Expected: IXSCAN on idx_products_category, then FETCH. Four keys, four docs, four returned — targeted for this dataset.</a:t>
            </a:r>
          </a:p>
          <a:p/>
          <a:p>
            <a:r>
              <a:t>Bullet 11 on the slide: Do: If another query showed COLLSCAN, totalDocsExamined 12, nReturned 1, write what you would try next. If it showed IXSCAN with keys examined 50,000 and nReturned 10, why is IXSCAN not enough?.</a:t>
            </a:r>
          </a:p>
          <a:p/>
          <a:p>
            <a:r>
              <a:t>Bullet 12 on the slide: Expected: COLLSCAN: add an index on the filter/sort shape. High-key IXSCAN: the index is used but not selective (wrong order, low-selectivity leading field, or a wide ran.</a:t>
            </a:r>
          </a:p>
          <a:p/>
          <a:p>
            <a:r>
              <a:t>Bullet 13 on the slide: Do: Using this training-style output, name the winning stage path, the index, and whether a FETCH occurred: ```text winningPlan.stage: FETCH winningPlan.inputStage.stage: IXSCAN winningPlan.inputStage.indexName: idx_products.</a:t>
            </a:r>
          </a:p>
          <a:p/>
          <a:p>
            <a:r>
              <a:t>Bullet 14 on the slide: Expected: IXSCAN on idx_products_category, then FETCH. Four keys, four docs, four returned — targeted for this dataset.</a:t>
            </a:r>
          </a:p>
          <a:p/>
          <a:p>
            <a:r>
              <a:t>Bullet 15 on the slide: Do: If another query showed COLLSCAN, totalDocsExamined 12, nReturned 1, write what you would try next. If it showed IXSCAN with keys examined 50,000 and nReturned 10, why is IXSCAN not enough?.</a:t>
            </a:r>
          </a:p>
          <a:p/>
          <a:p>
            <a:r>
              <a:t>Bullet 16 on the slide: Expected: COLLSCAN: add an index on the filter/sort shape. High-key IXSCAN: the index is used but not selective (wrong order, low-selectivity leading field, or a wide ran.</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Exercise 6.8 — Identify Covered Queries.</a:t>
            </a:r>
          </a:p>
          <a:p/>
          <a:p>
            <a:r>
              <a:t>The slide title is: Exercise 6.8 — Identify Covered Queries.</a:t>
            </a:r>
          </a:p>
          <a:p/>
          <a:p>
            <a:r>
              <a:t>The slide says: &lt;div class="cols"&gt;.</a:t>
            </a:r>
          </a:p>
          <a:p/>
          <a:p>
            <a:r>
              <a:t>The slide says: &lt;div class="col-text"&gt;.</a:t>
            </a:r>
          </a:p>
          <a:p/>
          <a:p>
            <a:r>
              <a:t>The slide says: &lt;/div&gt;.</a:t>
            </a:r>
          </a:p>
          <a:p/>
          <a:p>
            <a:r>
              <a:t>The slide says: &lt;div class="col-visual"&gt;.</a:t>
            </a:r>
          </a:p>
          <a:p/>
          <a:p>
            <a:r>
              <a:t>Bullet 1 on the slide: Time: 15 min.</a:t>
            </a:r>
          </a:p>
          <a:p/>
          <a:p>
            <a:r>
              <a:t>Bullet 2 on the slide: Decide which query/projection pairs may be covered by { category: 1, price: 1, name: 1 }.</a:t>
            </a:r>
          </a:p>
          <a:p/>
          <a:p>
            <a:r>
              <a:t>Bullet 3 on the slide: Lab guide: [Exercise 6.8](../slide-exercises/module-06/exercise-6.8-identify-covered-queries.md).</a:t>
            </a:r>
          </a:p>
          <a:p/>
          <a:p>
            <a:r>
              <a:t>The figure on this slide is titled: Covered query combinations.</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starting Exercise 6.8 — Identify Covered Queries. We have about 15 min for this lab.</a:t>
            </a:r>
          </a:p>
          <a:p/>
          <a:p>
            <a:r>
              <a:t>Decide which query and projection combinations may be covered by a given index.</a:t>
            </a:r>
          </a:p>
          <a:p/>
          <a:p>
            <a:r>
              <a:t>The full lab guide is in slide-exercises/module-06/exercise-6.8-identify-covered-queries.md if you need extra detail.</a:t>
            </a:r>
          </a:p>
          <a:p/>
          <a:p>
            <a:r>
              <a:t>On Windows: PowerShell in the integrated terminal — Ctrl+backtick — and the Agent panel — Ctrl+I. Open the repo folder with File → Open Folder.</a:t>
            </a:r>
          </a:p>
          <a:p/>
          <a:p>
            <a:r>
              <a:t>Step 1 — Index and three queries.</a:t>
            </a:r>
          </a:p>
          <a:p/>
          <a:p>
            <a:r>
              <a:t>Step 2 — State the confirmation rule.</a:t>
            </a:r>
          </a:p>
          <a:p/>
          <a:p>
            <a:r>
              <a:t>Step 1 — Index and three queries.</a:t>
            </a:r>
          </a:p>
          <a:p/>
          <a:p>
            <a:r>
              <a:t>Step 2 — State the confirmation rule.</a:t>
            </a:r>
          </a:p>
          <a:p/>
          <a:p>
            <a:r>
              <a:t>Step 1 — Index and three queries.</a:t>
            </a:r>
          </a:p>
          <a:p/>
          <a:p>
            <a:r>
              <a:t>Step 2 — State the confirmation rule.</a:t>
            </a:r>
          </a:p>
          <a:p/>
          <a:p>
            <a:r>
              <a:t>Step 1 — Index and three queries.</a:t>
            </a:r>
          </a:p>
          <a:p/>
          <a:p>
            <a:r>
              <a:t>Step 2 — State the confirmation rule.</a:t>
            </a:r>
          </a:p>
          <a:p/>
          <a:p>
            <a:r>
              <a:t>I'll give you a few minutes to work — raise your hand if you get stuck.</a:t>
            </a:r>
          </a:p>
          <a:p/>
          <a:p>
            <a:r>
              <a:t>The slide title is: Exercise 6.8 — Steps 1–2.</a:t>
            </a:r>
          </a:p>
          <a:p/>
          <a:p>
            <a:r>
              <a:t>The slide says: Lab guide: [Exercise 6.8](../slide-exercises/module-06/exercise-6.8-identify-covered-queries.md).</a:t>
            </a:r>
          </a:p>
          <a:p/>
          <a:p>
            <a:r>
              <a:t>The slide says: Follow along (Windows) — key steps:.</a:t>
            </a:r>
          </a:p>
          <a:p/>
          <a:p>
            <a:r>
              <a:t>The slide says: _Full lab guide with every command: see Lab guide on the lesson divider slide._.</a:t>
            </a:r>
          </a:p>
          <a:p/>
          <a:p>
            <a:r>
              <a:t>Bullet 1 on the slide: Do: Index { category: 1, price: 1, name: 1 }. Decide coverage for: (Q1) filter category, project name and price with _id: 0; (Q2) same filter, project name, price, and tags; (Q3) filter category, project name only but le.</a:t>
            </a:r>
          </a:p>
          <a:p/>
          <a:p>
            <a:r>
              <a:t>Bullet 2 on the slide: Expected: Q1 may be covered. Q2 is not — tags are not in the index, so FETCH. Q3 is not covered unless _id is in the index — default _id forces a document fetch.</a:t>
            </a:r>
          </a:p>
          <a:p/>
          <a:p>
            <a:r>
              <a:t>Bullet 3 on the slide: Do: Write the three conditions for coverage and the explain signal you would look for.</a:t>
            </a:r>
          </a:p>
          <a:p/>
          <a:p>
            <a:r>
              <a:t>Bullet 4 on the slide: Expected: Filter fields indexed, returned fields indexed, _id excluded or indexed. Confirm with explain: IXSCAN without FETCH (projection-covered plan).</a:t>
            </a:r>
          </a:p>
          <a:p/>
          <a:p>
            <a:r>
              <a:t>Bullet 5 on the slide: Do: Index { category: 1, price: 1, name: 1 }. Decide coverage for: (Q1) filter category, project name and price with _id: 0; (Q2) same filter, project name, price, and tags; (Q3) filter category, project name only but le.</a:t>
            </a:r>
          </a:p>
          <a:p/>
          <a:p>
            <a:r>
              <a:t>Bullet 6 on the slide: Expected: Q1 may be covered. Q2 is not — tags are not in the index, so FETCH. Q3 is not covered unless _id is in the index — default _id forces a document fetch.</a:t>
            </a:r>
          </a:p>
          <a:p/>
          <a:p>
            <a:r>
              <a:t>Bullet 7 on the slide: Do: Write the three conditions for coverage and the explain signal you would look for.</a:t>
            </a:r>
          </a:p>
          <a:p/>
          <a:p>
            <a:r>
              <a:t>Bullet 8 on the slide: Expected: Filter fields indexed, returned fields indexed, _id excluded or indexed. Confirm with explain: IXSCAN without FETCH (projection-covered plan).</a:t>
            </a:r>
          </a:p>
          <a:p/>
          <a:p>
            <a:r>
              <a:t>Bullet 9 on the slide: Do: Index { category: 1, price: 1, name: 1 }. Decide coverage for: (Q1) filter category, project name and price with _id: 0; (Q2) same filter, project name, price, and tags; (Q3) filter category, project name only but le.</a:t>
            </a:r>
          </a:p>
          <a:p/>
          <a:p>
            <a:r>
              <a:t>Bullet 10 on the slide: Expected: Q1 may be covered. Q2 is not — tags are not in the index, so FETCH. Q3 is not covered unless _id is in the index — default _id forces a document fetch.</a:t>
            </a:r>
          </a:p>
          <a:p/>
          <a:p>
            <a:r>
              <a:t>Bullet 11 on the slide: Do: Write the three conditions for coverage and the explain signal you would look for.</a:t>
            </a:r>
          </a:p>
          <a:p/>
          <a:p>
            <a:r>
              <a:t>Bullet 12 on the slide: Expected: Filter fields indexed, returned fields indexed, _id excluded or indexed. Confirm with explain: IXSCAN without FETCH (projection-covered plan).</a:t>
            </a:r>
          </a:p>
          <a:p/>
          <a:p>
            <a:r>
              <a:t>Bullet 13 on the slide: Do: Index { category: 1, price: 1, name: 1 }. Decide coverage for: (Q1) filter category, project name and price with _id: 0; (Q2) same filter, project name, price, and tags; (Q3) filter category, project name only but le.</a:t>
            </a:r>
          </a:p>
          <a:p/>
          <a:p>
            <a:r>
              <a:t>Bullet 14 on the slide: Expected: Q1 may be covered. Q2 is not — tags are not in the index, so FETCH. Q3 is not covered unless _id is in the index — default _id forces a document fetch.</a:t>
            </a:r>
          </a:p>
          <a:p/>
          <a:p>
            <a:r>
              <a:t>Bullet 15 on the slide: Do: Write the three conditions for coverage and the explain signal you would look for.</a:t>
            </a:r>
          </a:p>
          <a:p/>
          <a:p>
            <a:r>
              <a:t>Bullet 16 on the slide: Expected: Filter fields indexed, returned fields indexed, _id excluded or indexed. Confirm with explain: IXSCAN without FETCH (projection-covered plan).</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Demo 6.11 — Hide an Index for Testing.</a:t>
            </a:r>
          </a:p>
          <a:p/>
          <a:p>
            <a:r>
              <a:t>The slide title is: Demo 6.11 — Hide an Index for Testing.</a:t>
            </a:r>
          </a:p>
          <a:p/>
          <a:p>
            <a:r>
              <a:t>The slide says: &lt;div class="cols"&gt;.</a:t>
            </a:r>
          </a:p>
          <a:p/>
          <a:p>
            <a:r>
              <a:t>The slide says: &lt;div class="col-text"&gt;.</a:t>
            </a:r>
          </a:p>
          <a:p/>
          <a:p>
            <a:r>
              <a:t>The slide says: &lt;/div&gt;.</a:t>
            </a:r>
          </a:p>
          <a:p/>
          <a:p>
            <a:r>
              <a:t>The slide says: &lt;div class="col-visual"&gt;.</a:t>
            </a:r>
          </a:p>
          <a:p/>
          <a:p>
            <a:r>
              <a:t>Bullet 1 on the slide: Time: 10 min.</a:t>
            </a:r>
          </a:p>
          <a:p/>
          <a:p>
            <a:r>
              <a:t>Bullet 2 on the slide: Hide a noncritical training index (not _id_, not unique SKU).</a:t>
            </a:r>
          </a:p>
          <a:p/>
          <a:p>
            <a:r>
              <a:t>Bullet 3 on the slide: Rerun explain — planner should skip it.</a:t>
            </a:r>
          </a:p>
          <a:p/>
          <a:p>
            <a:r>
              <a:t>Bullet 4 on the slide: Unhide.</a:t>
            </a:r>
          </a:p>
          <a:p/>
          <a:p>
            <a:r>
              <a:t>Bullet 5 on the slide: Writes still paid the whole time.</a:t>
            </a:r>
          </a:p>
          <a:p/>
          <a:p>
            <a:r>
              <a:t>The figure on this slide is titled: Hide an Index for Testing.</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Demo 6.12 — Identify a Redundant Index.</a:t>
            </a:r>
          </a:p>
          <a:p/>
          <a:p>
            <a:r>
              <a:t>The slide title is: Demo 6.12 — Identify a Redundant Index.</a:t>
            </a:r>
          </a:p>
          <a:p/>
          <a:p>
            <a:r>
              <a:t>The slide says: &lt;div class="cols"&gt;.</a:t>
            </a:r>
          </a:p>
          <a:p/>
          <a:p>
            <a:r>
              <a:t>The slide says: &lt;div class="col-text"&gt;.</a:t>
            </a:r>
          </a:p>
          <a:p/>
          <a:p>
            <a:r>
              <a:t>The slide says: &lt;/div&gt;.</a:t>
            </a:r>
          </a:p>
          <a:p/>
          <a:p>
            <a:r>
              <a:t>The slide says: &lt;div class="col-visual"&gt;.</a:t>
            </a:r>
          </a:p>
          <a:p/>
          <a:p>
            <a:r>
              <a:t>Bullet 1 on the slide: Time: 15 min.</a:t>
            </a:r>
          </a:p>
          <a:p/>
          <a:p>
            <a:r>
              <a:t>Bullet 2 on the slide: Compare { category: 1 } with { category: 1, price: 1 } (or the active+price compound).</a:t>
            </a:r>
          </a:p>
          <a:p/>
          <a:p>
            <a:r>
              <a:t>Bullet 3 on the slide: Review prefix support, plans, stats, size.</a:t>
            </a:r>
          </a:p>
          <a:p/>
          <a:p>
            <a:r>
              <a:t>Bullet 4 on the slide: Do not drop until evidence supports it.</a:t>
            </a:r>
          </a:p>
          <a:p/>
          <a:p>
            <a:r>
              <a:t>The figure on this slide is titled: Identify a Redundant Index.</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Module Summary.</a:t>
            </a:r>
          </a:p>
          <a:p/>
          <a:p>
            <a:r>
              <a:t>The slide title is: Module Summary.</a:t>
            </a:r>
          </a:p>
          <a:p/>
          <a:p>
            <a:r>
              <a:t>The slide says: &lt;div class="cols"&gt;.</a:t>
            </a:r>
          </a:p>
          <a:p/>
          <a:p>
            <a:r>
              <a:t>The slide says: &lt;div class="col-text"&gt;.</a:t>
            </a:r>
          </a:p>
          <a:p/>
          <a:p>
            <a:r>
              <a:t>The slide says: &lt;/div&gt;.</a:t>
            </a:r>
          </a:p>
          <a:p/>
          <a:p>
            <a:r>
              <a:t>The slide says: &lt;div class="col-visual"&gt;.</a:t>
            </a:r>
          </a:p>
          <a:p/>
          <a:p>
            <a:r>
              <a:t>Bullet 1 on the slide: Indexes speed selected reads and tax writes/storage.</a:t>
            </a:r>
          </a:p>
          <a:p/>
          <a:p>
            <a:r>
              <a:t>Bullet 2 on the slide: Compound order and prefixes define supported shapes.</a:t>
            </a:r>
          </a:p>
          <a:p/>
          <a:p>
            <a:r>
              <a:t>Bullet 3 on the slide: ESR is a starting guideline.</a:t>
            </a:r>
          </a:p>
          <a:p/>
          <a:p>
            <a:r>
              <a:t>Bullet 4 on the slide: Arrays become multikey; specialized types solve specific jobs.</a:t>
            </a:r>
          </a:p>
          <a:p/>
          <a:p>
            <a:r>
              <a:t>Bullet 5 on the slide: explain() is evidence; IXSCAN is not a trophy.</a:t>
            </a:r>
          </a:p>
          <a:p/>
          <a:p>
            <a:r>
              <a:t>Bullet 6 on the slide: Hide, measure, maintain.</a:t>
            </a:r>
          </a:p>
          <a:p/>
          <a:p>
            <a:r>
              <a:t>The figure on this slide is titled: Module 6 concept map.</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Exercise 6.9 — Find Redundant Indexes.</a:t>
            </a:r>
          </a:p>
          <a:p/>
          <a:p>
            <a:r>
              <a:t>The slide title is: Exercise 6.9 — Find Redundant Indexes.</a:t>
            </a:r>
          </a:p>
          <a:p/>
          <a:p>
            <a:r>
              <a:t>The slide says: &lt;div class="cols"&gt;.</a:t>
            </a:r>
          </a:p>
          <a:p/>
          <a:p>
            <a:r>
              <a:t>The slide says: &lt;div class="col-text"&gt;.</a:t>
            </a:r>
          </a:p>
          <a:p/>
          <a:p>
            <a:r>
              <a:t>The slide says: &lt;/div&gt;.</a:t>
            </a:r>
          </a:p>
          <a:p/>
          <a:p>
            <a:r>
              <a:t>The slide says: &lt;div class="col-visual"&gt;.</a:t>
            </a:r>
          </a:p>
          <a:p/>
          <a:p>
            <a:r>
              <a:t>Bullet 1 on the slide: Time: 15 min.</a:t>
            </a:r>
          </a:p>
          <a:p/>
          <a:p>
            <a:r>
              <a:t>Bullet 2 on the slide: Spot overlapping prefixes and list evidence required before hiding one.</a:t>
            </a:r>
          </a:p>
          <a:p/>
          <a:p>
            <a:r>
              <a:t>Bullet 3 on the slide: Lab guide: [Exercise 6.9](../slide-exercises/module-06/exercise-6.9-find-redundant-indexes.md).</a:t>
            </a:r>
          </a:p>
          <a:p/>
          <a:p>
            <a:r>
              <a:t>The figure on this slide is titled: Overlapping index prefixes.</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starting Exercise 6.9 — Find Redundant Indexes. We have about 15 min for this lab.</a:t>
            </a:r>
          </a:p>
          <a:p/>
          <a:p>
            <a:r>
              <a:t>Spot overlapping prefixes without dropping an index on appearance alone.</a:t>
            </a:r>
          </a:p>
          <a:p/>
          <a:p>
            <a:r>
              <a:t>The full lab guide is in slide-exercises/module-06/exercise-6.9-find-redundant-indexes.md if you need extra detail.</a:t>
            </a:r>
          </a:p>
          <a:p/>
          <a:p>
            <a:r>
              <a:t>On Windows: PowerShell in the integrated terminal — Ctrl+backtick — and the Agent panel — Ctrl+I. Open the repo folder with File → Open Folder.</a:t>
            </a:r>
          </a:p>
          <a:p/>
          <a:p>
            <a:r>
              <a:t>Step 1 — Mark overlap.</a:t>
            </a:r>
          </a:p>
          <a:p/>
          <a:p>
            <a:r>
              <a:t>Step 2 — Decide what evidence is required.</a:t>
            </a:r>
          </a:p>
          <a:p/>
          <a:p>
            <a:r>
              <a:t>Step 1 — Mark overlap.</a:t>
            </a:r>
          </a:p>
          <a:p/>
          <a:p>
            <a:r>
              <a:t>Step 2 — Decide what evidence is required.</a:t>
            </a:r>
          </a:p>
          <a:p/>
          <a:p>
            <a:r>
              <a:t>Step 1 — Mark overlap.</a:t>
            </a:r>
          </a:p>
          <a:p/>
          <a:p>
            <a:r>
              <a:t>Step 2 — Decide what evidence is required.</a:t>
            </a:r>
          </a:p>
          <a:p/>
          <a:p>
            <a:r>
              <a:t>Step 1 — Mark overlap.</a:t>
            </a:r>
          </a:p>
          <a:p/>
          <a:p>
            <a:r>
              <a:t>Step 2 — Decide what evidence is required.</a:t>
            </a:r>
          </a:p>
          <a:p/>
          <a:p>
            <a:r>
              <a:t>I'll give you a few minutes to work — raise your hand if you get stuck.</a:t>
            </a:r>
          </a:p>
          <a:p/>
          <a:p>
            <a:r>
              <a:t>The slide title is: Exercise 6.9 — Steps 1–2.</a:t>
            </a:r>
          </a:p>
          <a:p/>
          <a:p>
            <a:r>
              <a:t>The slide says: Lab guide: [Exercise 6.9](../slide-exercises/module-06/exercise-6.9-find-redundant-indexes.md).</a:t>
            </a:r>
          </a:p>
          <a:p/>
          <a:p>
            <a:r>
              <a:t>The slide says: Follow along (Windows) — key steps:.</a:t>
            </a:r>
          </a:p>
          <a:p/>
          <a:p>
            <a:r>
              <a:t>The slide says: _Full lab guide with every command: see Lab guide on the lesson divider slide._.</a:t>
            </a:r>
          </a:p>
          <a:p/>
          <a:p>
            <a:r>
              <a:t>Bullet 1 on the slide: Do: Indexes: { category: 1 }, { category: 1, price: 1 }, { category: 1, price: 1, name: 1 }, { price: 1 }. Which pairs share a prefix? Which index is not a prefix of the others?.</a:t>
            </a:r>
          </a:p>
          <a:p/>
          <a:p>
            <a:r>
              <a:t>Bullet 2 on the slide: Expected: The three category-leading indexes overlap; the two-field and three-field keys can serve category-only queries. { price: 1 } is not a prefix of the category i.</a:t>
            </a:r>
          </a:p>
          <a:p/>
          <a:p>
            <a:r>
              <a:t>Bullet 3 on the slide: Do: List four things to check before hiding { category: 1 } in favor of a wider compound index.</a:t>
            </a:r>
          </a:p>
          <a:p/>
          <a:p>
            <a:r>
              <a:t>Bullet 4 on the slide: Expected: Query shapes and sort needs; covered-query projections; unique/partial/TTL options; $indexStats usage; index size vs write cost. Do not drop from visual simil.</a:t>
            </a:r>
          </a:p>
          <a:p/>
          <a:p>
            <a:r>
              <a:t>Bullet 5 on the slide: Do: Indexes: { category: 1 }, { category: 1, price: 1 }, { category: 1, price: 1, name: 1 }, { price: 1 }. Which pairs share a prefix? Which index is not a prefix of the others?.</a:t>
            </a:r>
          </a:p>
          <a:p/>
          <a:p>
            <a:r>
              <a:t>Bullet 6 on the slide: Expected: The three category-leading indexes overlap; the two-field and three-field keys can serve category-only queries. { price: 1 } is not a prefix of the category i.</a:t>
            </a:r>
          </a:p>
          <a:p/>
          <a:p>
            <a:r>
              <a:t>Bullet 7 on the slide: Do: List four things to check before hiding { category: 1 } in favor of a wider compound index.</a:t>
            </a:r>
          </a:p>
          <a:p/>
          <a:p>
            <a:r>
              <a:t>Bullet 8 on the slide: Expected: Query shapes and sort needs; covered-query projections; unique/partial/TTL options; $indexStats usage; index size vs write cost. Do not drop from visual simil.</a:t>
            </a:r>
          </a:p>
          <a:p/>
          <a:p>
            <a:r>
              <a:t>Bullet 9 on the slide: Do: Indexes: { category: 1 }, { category: 1, price: 1 }, { category: 1, price: 1, name: 1 }, { price: 1 }. Which pairs share a prefix? Which index is not a prefix of the others?.</a:t>
            </a:r>
          </a:p>
          <a:p/>
          <a:p>
            <a:r>
              <a:t>Bullet 10 on the slide: Expected: The three category-leading indexes overlap; the two-field and three-field keys can serve category-only queries. { price: 1 } is not a prefix of the category i.</a:t>
            </a:r>
          </a:p>
          <a:p/>
          <a:p>
            <a:r>
              <a:t>Bullet 11 on the slide: Do: List four things to check before hiding { category: 1 } in favor of a wider compound index.</a:t>
            </a:r>
          </a:p>
          <a:p/>
          <a:p>
            <a:r>
              <a:t>Bullet 12 on the slide: Expected: Query shapes and sort needs; covered-query projections; unique/partial/TTL options; $indexStats usage; index size vs write cost. Do not drop from visual simil.</a:t>
            </a:r>
          </a:p>
          <a:p/>
          <a:p>
            <a:r>
              <a:t>Bullet 13 on the slide: Do: Indexes: { category: 1 }, { category: 1, price: 1 }, { category: 1, price: 1, name: 1 }, { price: 1 }. Which pairs share a prefix? Which index is not a prefix of the others?.</a:t>
            </a:r>
          </a:p>
          <a:p/>
          <a:p>
            <a:r>
              <a:t>Bullet 14 on the slide: Expected: The three category-leading indexes overlap; the two-field and three-field keys can serve category-only queries. { price: 1 } is not a prefix of the category i.</a:t>
            </a:r>
          </a:p>
          <a:p/>
          <a:p>
            <a:r>
              <a:t>Bullet 15 on the slide: Do: List four things to check before hiding { category: 1 } in favor of a wider compound index.</a:t>
            </a:r>
          </a:p>
          <a:p/>
          <a:p>
            <a:r>
              <a:t>Bullet 16 on the slide: Expected: Query shapes and sort needs; covered-query projections; unique/partial/TTL options; $indexStats usage; index size vs write cost. Do not drop from visual simil.</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Exercise 6.10 — Balance Read and Write Performance.</a:t>
            </a:r>
          </a:p>
          <a:p/>
          <a:p>
            <a:r>
              <a:t>The slide title is: Exercise 6.10 — Balance Read and Write Performance.</a:t>
            </a:r>
          </a:p>
          <a:p/>
          <a:p>
            <a:r>
              <a:t>The slide says: &lt;div class="cols"&gt;.</a:t>
            </a:r>
          </a:p>
          <a:p/>
          <a:p>
            <a:r>
              <a:t>The slide says: &lt;div class="col-text"&gt;.</a:t>
            </a:r>
          </a:p>
          <a:p/>
          <a:p>
            <a:r>
              <a:t>The slide says: &lt;/div&gt;.</a:t>
            </a:r>
          </a:p>
          <a:p/>
          <a:p>
            <a:r>
              <a:t>The slide says: &lt;div class="col-visual"&gt;.</a:t>
            </a:r>
          </a:p>
          <a:p/>
          <a:p>
            <a:r>
              <a:t>Bullet 1 on the slide: Time: 15 min.</a:t>
            </a:r>
          </a:p>
          <a:p/>
          <a:p>
            <a:r>
              <a:t>Bullet 2 on the slide: Plan evidence, hide-testing, and metrics for a write-heavy cluster with 14 secondary indexes.</a:t>
            </a:r>
          </a:p>
          <a:p/>
          <a:p>
            <a:r>
              <a:t>Bullet 3 on the slide: Lab guide: [Exercise 6.10](../slide-exercises/module-06/exercise-6.10-balance-read-and-write.md).</a:t>
            </a:r>
          </a:p>
          <a:p/>
          <a:p>
            <a:r>
              <a:t>The figure on this slide is titled: Write-heavy over-indexing scenario.</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starting Exercise 6.10 — Balance Read and Write Performance. We have about 15 min for this lab.</a:t>
            </a:r>
          </a:p>
          <a:p/>
          <a:p>
            <a:r>
              <a:t>Plan evidence, hide-testing, and metrics for a write-heavy over-indexed workload.</a:t>
            </a:r>
          </a:p>
          <a:p/>
          <a:p>
            <a:r>
              <a:t>The full lab guide is in slide-exercises/module-06/exercise-6.10-balance-read-and-write.md if you need extra detail.</a:t>
            </a:r>
          </a:p>
          <a:p/>
          <a:p>
            <a:r>
              <a:t>On Windows: PowerShell in the integrated terminal — Ctrl+backtick — and the Agent panel — Ctrl+I. Open the repo folder with File → Open Folder.</a:t>
            </a:r>
          </a:p>
          <a:p/>
          <a:p>
            <a:r>
              <a:t>Step 1 — Evidence to collect.</a:t>
            </a:r>
          </a:p>
          <a:p/>
          <a:p>
            <a:r>
              <a:t>Step 2 — Safe test path.</a:t>
            </a:r>
          </a:p>
          <a:p/>
          <a:p>
            <a:r>
              <a:t>Step 1 — Evidence to collect.</a:t>
            </a:r>
          </a:p>
          <a:p/>
          <a:p>
            <a:r>
              <a:t>Step 2 — Safe test path.</a:t>
            </a:r>
          </a:p>
          <a:p/>
          <a:p>
            <a:r>
              <a:t>Step 1 — Evidence to collect.</a:t>
            </a:r>
          </a:p>
          <a:p/>
          <a:p>
            <a:r>
              <a:t>Step 2 — Safe test path.</a:t>
            </a:r>
          </a:p>
          <a:p/>
          <a:p>
            <a:r>
              <a:t>Step 1 — Evidence to collect.</a:t>
            </a:r>
          </a:p>
          <a:p/>
          <a:p>
            <a:r>
              <a:t>Step 2 — Safe test path.</a:t>
            </a:r>
          </a:p>
          <a:p/>
          <a:p>
            <a:r>
              <a:t>I'll give you a few minutes to work — raise your hand if you get stuck.</a:t>
            </a:r>
          </a:p>
          <a:p/>
          <a:p>
            <a:r>
              <a:t>The slide title is: Exercise 6.10 — Steps 1–2.</a:t>
            </a:r>
          </a:p>
          <a:p/>
          <a:p>
            <a:r>
              <a:t>The slide says: Lab guide: [Exercise 6.10](../slide-exercises/module-06/exercise-6.10-balance-read-and-write.md).</a:t>
            </a:r>
          </a:p>
          <a:p/>
          <a:p>
            <a:r>
              <a:t>The slide says: Follow along (Windows) — key steps:.</a:t>
            </a:r>
          </a:p>
          <a:p/>
          <a:p>
            <a:r>
              <a:t>The slide says: _Full lab guide with every command: see Lab guide on the lesson divider slide._.</a:t>
            </a:r>
          </a:p>
          <a:p/>
          <a:p>
            <a:r>
              <a:t>Bullet 1 on the slide: Do: List the measurements you would gather before dropping anything.</a:t>
            </a:r>
          </a:p>
          <a:p/>
          <a:p>
            <a:r>
              <a:t>Bullet 2 on the slide: Expected: Insert/update latency and opcounters; index sizes (collStats / indexSizes); $indexStats since last restart; slow query log / profiler; explain on the 20%.</a:t>
            </a:r>
          </a:p>
          <a:p/>
          <a:p>
            <a:r>
              <a:t>Bullet 3 on the slide: Do: Describe how to test removal of one unused-looking index and which metrics to watch afterward.</a:t>
            </a:r>
          </a:p>
          <a:p/>
          <a:p>
            <a:r>
              <a:t>Bullet 4 on the slide: Expected: Hide the index (it still costs writes until dropped). Rerun the read queries and explain. If reads stay healthy, drop in a maintenance window. Monitor insert la.</a:t>
            </a:r>
          </a:p>
          <a:p/>
          <a:p>
            <a:r>
              <a:t>Bullet 5 on the slide: Do: List the measurements you would gather before dropping anything.</a:t>
            </a:r>
          </a:p>
          <a:p/>
          <a:p>
            <a:r>
              <a:t>Bullet 6 on the slide: Expected: Insert/update latency and opcounters; index sizes (collStats / indexSizes); $indexStats since last restart; slow query log / profiler; explain on the 20%.</a:t>
            </a:r>
          </a:p>
          <a:p/>
          <a:p>
            <a:r>
              <a:t>Bullet 7 on the slide: Do: Describe how to test removal of one unused-looking index and which metrics to watch afterward.</a:t>
            </a:r>
          </a:p>
          <a:p/>
          <a:p>
            <a:r>
              <a:t>Bullet 8 on the slide: Expected: Hide the index (it still costs writes until dropped). Rerun the read queries and explain. If reads stay healthy, drop in a maintenance window. Monitor insert la.</a:t>
            </a:r>
          </a:p>
          <a:p/>
          <a:p>
            <a:r>
              <a:t>Bullet 9 on the slide: Do: List the measurements you would gather before dropping anything.</a:t>
            </a:r>
          </a:p>
          <a:p/>
          <a:p>
            <a:r>
              <a:t>Bullet 10 on the slide: Expected: Insert/update latency and opcounters; index sizes (collStats / indexSizes); $indexStats since last restart; slow query log / profiler; explain on the 20%.</a:t>
            </a:r>
          </a:p>
          <a:p/>
          <a:p>
            <a:r>
              <a:t>Bullet 11 on the slide: Do: Describe how to test removal of one unused-looking index and which metrics to watch afterward.</a:t>
            </a:r>
          </a:p>
          <a:p/>
          <a:p>
            <a:r>
              <a:t>Bullet 12 on the slide: Expected: Hide the index (it still costs writes until dropped). Rerun the read queries and explain. If reads stay healthy, drop in a maintenance window. Monitor insert la.</a:t>
            </a:r>
          </a:p>
          <a:p/>
          <a:p>
            <a:r>
              <a:t>Bullet 13 on the slide: Do: List the measurements you would gather before dropping anything.</a:t>
            </a:r>
          </a:p>
          <a:p/>
          <a:p>
            <a:r>
              <a:t>Bullet 14 on the slide: Expected: Insert/update latency and opcounters; index sizes (collStats / indexSizes); $indexStats since last restart; slow query log / profiler; explain on the 20%.</a:t>
            </a:r>
          </a:p>
          <a:p/>
          <a:p>
            <a:r>
              <a:t>Bullet 15 on the slide: Do: Describe how to test removal of one unused-looking index and which metrics to watch afterward.</a:t>
            </a:r>
          </a:p>
          <a:p/>
          <a:p>
            <a:r>
              <a:t>Bullet 16 on the slide: Expected: Hide the index (it still costs writes until dropped). Rerun the read queries and explain. If reads stay healthy, drop in a maintenance window. Monitor insert la.</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Exercise 6.11 — Correct Indexing Anti-Patterns.</a:t>
            </a:r>
          </a:p>
          <a:p/>
          <a:p>
            <a:r>
              <a:t>The slide title is: Exercise 6.11 — Correct Indexing Anti-Patterns.</a:t>
            </a:r>
          </a:p>
          <a:p/>
          <a:p>
            <a:r>
              <a:t>The slide says: &lt;div class="cols"&gt;.</a:t>
            </a:r>
          </a:p>
          <a:p/>
          <a:p>
            <a:r>
              <a:t>The slide says: &lt;div class="col-text"&gt;.</a:t>
            </a:r>
          </a:p>
          <a:p/>
          <a:p>
            <a:r>
              <a:t>The slide says: &lt;/div&gt;.</a:t>
            </a:r>
          </a:p>
          <a:p/>
          <a:p>
            <a:r>
              <a:t>The slide says: &lt;div class="col-visual"&gt;.</a:t>
            </a:r>
          </a:p>
          <a:p/>
          <a:p>
            <a:r>
              <a:t>Bullet 1 on the slide: Time: 15 min.</a:t>
            </a:r>
          </a:p>
          <a:p/>
          <a:p>
            <a:r>
              <a:t>Bullet 2 on the slide: Rewrite seven unsafe indexing habits as safer practices.</a:t>
            </a:r>
          </a:p>
          <a:p/>
          <a:p>
            <a:r>
              <a:t>Bullet 3 on the slide: Lab guide: [Exercise 6.11](../slide-exercises/module-06/exercise-6.11-correct-indexing-anti-patterns.md).</a:t>
            </a:r>
          </a:p>
          <a:p/>
          <a:p>
            <a:r>
              <a:t>The figure on this slide is titled: Indexing anti-patterns.</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starting Exercise 6.11 — Correct Indexing Anti-Patterns. We have about 15 min for this lab.</a:t>
            </a:r>
          </a:p>
          <a:p/>
          <a:p>
            <a:r>
              <a:t>Rewrite unsafe indexing habits as safer, evidence-based practices.</a:t>
            </a:r>
          </a:p>
          <a:p/>
          <a:p>
            <a:r>
              <a:t>The full lab guide is in slide-exercises/module-06/exercise-6.11-correct-indexing-anti-patterns.md if you need extra detail.</a:t>
            </a:r>
          </a:p>
          <a:p/>
          <a:p>
            <a:r>
              <a:t>On Windows: PowerShell in the integrated terminal — Ctrl+backtick — and the Agent panel — Ctrl+I. Open the repo folder with File → Open Folder.</a:t>
            </a:r>
          </a:p>
          <a:p/>
          <a:p>
            <a:r>
              <a:t>Step 1 — Correct the first four.</a:t>
            </a:r>
          </a:p>
          <a:p/>
          <a:p>
            <a:r>
              <a:t>Step 2 — Correct the last three.</a:t>
            </a:r>
          </a:p>
          <a:p/>
          <a:p>
            <a:r>
              <a:t>Step 1 — Correct the first four.</a:t>
            </a:r>
          </a:p>
          <a:p/>
          <a:p>
            <a:r>
              <a:t>Step 2 — Correct the last three.</a:t>
            </a:r>
          </a:p>
          <a:p/>
          <a:p>
            <a:r>
              <a:t>Step 1 — Correct the first four.</a:t>
            </a:r>
          </a:p>
          <a:p/>
          <a:p>
            <a:r>
              <a:t>Step 2 — Correct the last three.</a:t>
            </a:r>
          </a:p>
          <a:p/>
          <a:p>
            <a:r>
              <a:t>Step 1 — Correct the first four.</a:t>
            </a:r>
          </a:p>
          <a:p/>
          <a:p>
            <a:r>
              <a:t>Step 2 — Correct the last three.</a:t>
            </a:r>
          </a:p>
          <a:p/>
          <a:p>
            <a:r>
              <a:t>I'll give you a few minutes to work — raise your hand if you get stuck.</a:t>
            </a:r>
          </a:p>
          <a:p/>
          <a:p>
            <a:r>
              <a:t>The slide title is: Exercise 6.11 — Steps 1–2.</a:t>
            </a:r>
          </a:p>
          <a:p/>
          <a:p>
            <a:r>
              <a:t>The slide says: Lab guide: [Exercise 6.11](../slide-exercises/module-06/exercise-6.11-correct-indexing-anti-patterns.md).</a:t>
            </a:r>
          </a:p>
          <a:p/>
          <a:p>
            <a:r>
              <a:t>The slide says: Follow along (Windows) — key steps:.</a:t>
            </a:r>
          </a:p>
          <a:p/>
          <a:p>
            <a:r>
              <a:t>The slide says: _Full lab guide with every command: see Lab guide on the lesson divider slide._.</a:t>
            </a:r>
          </a:p>
          <a:p/>
          <a:p>
            <a:r>
              <a:t>Bullet 1 on the slide: Do: Rewrite: index every field; one new index per query without checking overlap; put a range field first in every compound index; drop unused indexes immediately.</a:t>
            </a:r>
          </a:p>
          <a:p/>
          <a:p>
            <a:r>
              <a:t>Bullet 2 on the slide: Expected: Index recurring query shapes. Reuse prefixes. Equality (then sort) before range. Hide, measure, then drop.</a:t>
            </a:r>
          </a:p>
          <a:p/>
          <a:p>
            <a:r>
              <a:t>Bullet 3 on the slide: Do: Rewrite: treat every IXSCAN as optimal; ignore write overhead; design indexes only on development-sized data.</a:t>
            </a:r>
          </a:p>
          <a:p/>
          <a:p>
            <a:r>
              <a:t>Bullet 4 on the slide: Expected: Read examined keys/docs. Count secondary indexes on the write path. Validate with production-like volume and distribution.</a:t>
            </a:r>
          </a:p>
          <a:p/>
          <a:p>
            <a:r>
              <a:t>Bullet 5 on the slide: Do: Rewrite: index every field; one new index per query without checking overlap; put a range field first in every compound index; drop unused indexes immediately.</a:t>
            </a:r>
          </a:p>
          <a:p/>
          <a:p>
            <a:r>
              <a:t>Bullet 6 on the slide: Expected: Index recurring query shapes. Reuse prefixes. Equality (then sort) before range. Hide, measure, then drop.</a:t>
            </a:r>
          </a:p>
          <a:p/>
          <a:p>
            <a:r>
              <a:t>Bullet 7 on the slide: Do: Rewrite: treat every IXSCAN as optimal; ignore write overhead; design indexes only on development-sized data.</a:t>
            </a:r>
          </a:p>
          <a:p/>
          <a:p>
            <a:r>
              <a:t>Bullet 8 on the slide: Expected: Read examined keys/docs. Count secondary indexes on the write path. Validate with production-like volume and distribution.</a:t>
            </a:r>
          </a:p>
          <a:p/>
          <a:p>
            <a:r>
              <a:t>Bullet 9 on the slide: Do: Rewrite: index every field; one new index per query without checking overlap; put a range field first in every compound index; drop unused indexes immediately.</a:t>
            </a:r>
          </a:p>
          <a:p/>
          <a:p>
            <a:r>
              <a:t>Bullet 10 on the slide: Expected: Index recurring query shapes. Reuse prefixes. Equality (then sort) before range. Hide, measure, then drop.</a:t>
            </a:r>
          </a:p>
          <a:p/>
          <a:p>
            <a:r>
              <a:t>Bullet 11 on the slide: Do: Rewrite: treat every IXSCAN as optimal; ignore write overhead; design indexes only on development-sized data.</a:t>
            </a:r>
          </a:p>
          <a:p/>
          <a:p>
            <a:r>
              <a:t>Bullet 12 on the slide: Expected: Read examined keys/docs. Count secondary indexes on the write path. Validate with production-like volume and distribution.</a:t>
            </a:r>
          </a:p>
          <a:p/>
          <a:p>
            <a:r>
              <a:t>Bullet 13 on the slide: Do: Rewrite: index every field; one new index per query without checking overlap; put a range field first in every compound index; drop unused indexes immediately.</a:t>
            </a:r>
          </a:p>
          <a:p/>
          <a:p>
            <a:r>
              <a:t>Bullet 14 on the slide: Expected: Index recurring query shapes. Reuse prefixes. Equality (then sort) before range. Hide, measure, then drop.</a:t>
            </a:r>
          </a:p>
          <a:p/>
          <a:p>
            <a:r>
              <a:t>Bullet 15 on the slide: Do: Rewrite: treat every IXSCAN as optimal; ignore write overhead; design indexes only on development-sized data.</a:t>
            </a:r>
          </a:p>
          <a:p/>
          <a:p>
            <a:r>
              <a:t>Bullet 16 on the slide: Expected: Read examined keys/docs. Count secondary indexes on the write path. Validate with production-like volume and distribution.</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Exercise 6.12 — Build an Indexing Recommendation.</a:t>
            </a:r>
          </a:p>
          <a:p/>
          <a:p>
            <a:r>
              <a:t>The slide title is: Exercise 6.12 — Build an Indexing Recommendation.</a:t>
            </a:r>
          </a:p>
          <a:p/>
          <a:p>
            <a:r>
              <a:t>The slide says: &lt;div class="cols"&gt;.</a:t>
            </a:r>
          </a:p>
          <a:p/>
          <a:p>
            <a:r>
              <a:t>The slide says: &lt;div class="col-text"&gt;.</a:t>
            </a:r>
          </a:p>
          <a:p/>
          <a:p>
            <a:r>
              <a:t>The slide says: &lt;/div&gt;.</a:t>
            </a:r>
          </a:p>
          <a:p/>
          <a:p>
            <a:r>
              <a:t>The slide says: &lt;div class="col-visual"&gt;.</a:t>
            </a:r>
          </a:p>
          <a:p/>
          <a:p>
            <a:r>
              <a:t>Bullet 1 on the slide: Time: 20 min.</a:t>
            </a:r>
          </a:p>
          <a:p/>
          <a:p>
            <a:r>
              <a:t>Bullet 2 on the slide: Write query shape, plan, proposed index, benefit, cost, validation, and rollback.</a:t>
            </a:r>
          </a:p>
          <a:p/>
          <a:p>
            <a:r>
              <a:t>Bullet 3 on the slide: Lab guide: [Exercise 6.12](../slide-exercises/module-06/exercise-6.12-build-an-indexing-recommendation.md).</a:t>
            </a:r>
          </a:p>
          <a:p/>
          <a:p>
            <a:r>
              <a:t>The figure on this slide is titled: Indexing recommendation template.</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starting Exercise 6.12 — Build an Indexing Recommendation. We have about 20 min for this lab.</a:t>
            </a:r>
          </a:p>
          <a:p/>
          <a:p>
            <a:r>
              <a:t>Write a recommendation with query shape, proposed index, cost, validation, and rollback.</a:t>
            </a:r>
          </a:p>
          <a:p/>
          <a:p>
            <a:r>
              <a:t>The full lab guide is in slide-exercises/module-06/exercise-6.12-build-an-indexing-recommendation.md if you need extra detail.</a:t>
            </a:r>
          </a:p>
          <a:p/>
          <a:p>
            <a:r>
              <a:t>On Windows: PowerShell in the integrated terminal — Ctrl+backtick — and the Agent panel — Ctrl+I. Open the repo folder with File → Open Folder.</a:t>
            </a:r>
          </a:p>
          <a:p/>
          <a:p>
            <a:r>
              <a:t>Step 1 — Fill the template.</a:t>
            </a:r>
          </a:p>
          <a:p/>
          <a:p>
            <a:r>
              <a:t>Step 2 — Validation and rollback.</a:t>
            </a:r>
          </a:p>
          <a:p/>
          <a:p>
            <a:r>
              <a:t>Step 1 — Fill the template.</a:t>
            </a:r>
          </a:p>
          <a:p/>
          <a:p>
            <a:r>
              <a:t>Step 2 — Validation and rollback.</a:t>
            </a:r>
          </a:p>
          <a:p/>
          <a:p>
            <a:r>
              <a:t>Step 1 — Fill the template.</a:t>
            </a:r>
          </a:p>
          <a:p/>
          <a:p>
            <a:r>
              <a:t>Step 2 — Validation and rollback.</a:t>
            </a:r>
          </a:p>
          <a:p/>
          <a:p>
            <a:r>
              <a:t>Step 1 — Fill the template.</a:t>
            </a:r>
          </a:p>
          <a:p/>
          <a:p>
            <a:r>
              <a:t>Step 2 — Validation and rollback.</a:t>
            </a:r>
          </a:p>
          <a:p/>
          <a:p>
            <a:r>
              <a:t>I'll give you a few minutes to work — raise your hand if you get stuck.</a:t>
            </a:r>
          </a:p>
          <a:p/>
          <a:p>
            <a:r>
              <a:t>The slide title is: Exercise 6.12 — Steps 1–2.</a:t>
            </a:r>
          </a:p>
          <a:p/>
          <a:p>
            <a:r>
              <a:t>The slide says: Lab guide: [Exercise 6.12](../slide-exercises/module-06/exercise-6.12-build-an-indexing-recommendation.md).</a:t>
            </a:r>
          </a:p>
          <a:p/>
          <a:p>
            <a:r>
              <a:t>The slide says: Follow along (Windows) — key steps:.</a:t>
            </a:r>
          </a:p>
          <a:p/>
          <a:p>
            <a:r>
              <a:t>The slide says: _Full lab guide with every command: see Lab guide on the lesson divider slide._.</a:t>
            </a:r>
          </a:p>
          <a:p/>
          <a:p>
            <a:r>
              <a:t>Bullet 1 on the slide: Do: Pick the catalog query (active products in a category, sorted by price) or customer order history. Write: query shape, current plan assumption, proposed index, expected improvement, write/storage cost.</a:t>
            </a:r>
          </a:p>
          <a:p/>
          <a:p>
            <a:r>
              <a:t>Bullet 2 on the slide: Expected: A complete paragraph or bullet list covering those five items. Example: { category: 1, active: 1, price: 1 } named idx_products_category_active_price.</a:t>
            </a:r>
          </a:p>
          <a:p/>
          <a:p>
            <a:r>
              <a:t>Bullet 3 on the slide: Do: Add a validation procedure (explain before/after, examined counts) and a rollback procedure (dropIndex of the named index; keep the createIndex snippet).</a:t>
            </a:r>
          </a:p>
          <a:p/>
          <a:p>
            <a:r>
              <a:t>Bullet 4 on the slide: Expected: Baseline explain → createIndex → explain again → compare nReturned vs keys/docs examined and SORT absence. Rollback: `db.products.dropIndex("idx_products_catego.</a:t>
            </a:r>
          </a:p>
          <a:p/>
          <a:p>
            <a:r>
              <a:t>Bullet 5 on the slide: Do: Pick the catalog query (active products in a category, sorted by price) or customer order history. Write: query shape, current plan assumption, proposed index, expected improvement, write/storage cost.</a:t>
            </a:r>
          </a:p>
          <a:p/>
          <a:p>
            <a:r>
              <a:t>Bullet 6 on the slide: Expected: A complete paragraph or bullet list covering those five items. Example: { category: 1, active: 1, price: 1 } named idx_products_category_active_price.</a:t>
            </a:r>
          </a:p>
          <a:p/>
          <a:p>
            <a:r>
              <a:t>Bullet 7 on the slide: Do: Add a validation procedure (explain before/after, examined counts) and a rollback procedure (dropIndex of the named index; keep the createIndex snippet).</a:t>
            </a:r>
          </a:p>
          <a:p/>
          <a:p>
            <a:r>
              <a:t>Bullet 8 on the slide: Expected: Baseline explain → createIndex → explain again → compare nReturned vs keys/docs examined and SORT absence. Rollback: `db.products.dropIndex("idx_products_catego.</a:t>
            </a:r>
          </a:p>
          <a:p/>
          <a:p>
            <a:r>
              <a:t>Bullet 9 on the slide: Do: Pick the catalog query (active products in a category, sorted by price) or customer order history. Write: query shape, current plan assumption, proposed index, expected improvement, write/storage cost.</a:t>
            </a:r>
          </a:p>
          <a:p/>
          <a:p>
            <a:r>
              <a:t>Bullet 10 on the slide: Expected: A complete paragraph or bullet list covering those five items. Example: { category: 1, active: 1, price: 1 } named idx_products_category_active_price.</a:t>
            </a:r>
          </a:p>
          <a:p/>
          <a:p>
            <a:r>
              <a:t>Bullet 11 on the slide: Do: Add a validation procedure (explain before/after, examined counts) and a rollback procedure (dropIndex of the named index; keep the createIndex snippet).</a:t>
            </a:r>
          </a:p>
          <a:p/>
          <a:p>
            <a:r>
              <a:t>Bullet 12 on the slide: Expected: Baseline explain → createIndex → explain again → compare nReturned vs keys/docs examined and SORT absence. Rollback: `db.products.dropIndex("idx_products_catego.</a:t>
            </a:r>
          </a:p>
          <a:p/>
          <a:p>
            <a:r>
              <a:t>Bullet 13 on the slide: Do: Pick the catalog query (active products in a category, sorted by price) or customer order history. Write: query shape, current plan assumption, proposed index, expected improvement, write/storage cost.</a:t>
            </a:r>
          </a:p>
          <a:p/>
          <a:p>
            <a:r>
              <a:t>Bullet 14 on the slide: Expected: A complete paragraph or bullet list covering those five items. Example: { category: 1, active: 1, price: 1 } named idx_products_category_active_price.</a:t>
            </a:r>
          </a:p>
          <a:p/>
          <a:p>
            <a:r>
              <a:t>Bullet 15 on the slide: Do: Add a validation procedure (explain before/after, examined counts) and a rollback procedure (dropIndex of the named index; keep the createIndex snippet).</a:t>
            </a:r>
          </a:p>
          <a:p/>
          <a:p>
            <a:r>
              <a:t>Bullet 16 on the slide: Expected: Baseline explain → createIndex → explain again → compare nReturned vs keys/docs examined and SORT absence. Rollback: `db.products.dropIndex("idx_products_catego.</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a table — Hands-on Labs.</a:t>
            </a:r>
          </a:p>
          <a:p/>
          <a:p>
            <a:r>
              <a:t>The slide title is: Hands-on Labs.</a:t>
            </a:r>
          </a:p>
          <a:p/>
          <a:p>
            <a:r>
              <a:t>The slide says: Same training_store database. Reload load.js if data or indexes are messy — then re-create only the indexes the lab asks for.</a:t>
            </a:r>
          </a:p>
          <a:p/>
          <a:p>
            <a:r>
              <a:t>The slide says: 3-day time-box (~2 h module): Labs 6.1, 6.2, 6.3, 6.4, and 6.11. Remaining labs are stretch.</a:t>
            </a:r>
          </a:p>
          <a:p/>
          <a:p>
            <a:r>
              <a:t>The table header columns are: Lab, Focus.</a:t>
            </a:r>
          </a:p>
          <a:p/>
          <a:p>
            <a:r>
              <a:t>In the table, 6.1: Baseline explain — no new indexes.</a:t>
            </a:r>
          </a:p>
          <a:p/>
          <a:p>
            <a:r>
              <a:t>In the table, 6.2–6.4: Single-field, compound, filter+sort.</a:t>
            </a:r>
          </a:p>
          <a:p/>
          <a:p>
            <a:r>
              <a:t>In the table, 6.5–6.7: Nested/multikey, unique, partial/TTL.</a:t>
            </a:r>
          </a:p>
          <a:p/>
          <a:p>
            <a:r>
              <a:t>In the table, 6.8–6.9: Covered query, aggregation.</a:t>
            </a:r>
          </a:p>
          <a:p/>
          <a:p>
            <a:r>
              <a:t>In the table, 6.10–6.11: Audit/hide, integrated challenge.</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Lab 6.1 — Establish a Performance Baseline.</a:t>
            </a:r>
          </a:p>
          <a:p/>
          <a:p>
            <a:r>
              <a:t>The slide title is: Lab 6.1 — Establish a Performance Baseline.</a:t>
            </a:r>
          </a:p>
          <a:p/>
          <a:p>
            <a:r>
              <a:t>The slide says: &lt;div class="cols"&gt;.</a:t>
            </a:r>
          </a:p>
          <a:p/>
          <a:p>
            <a:r>
              <a:t>The slide says: &lt;div class="col-text"&gt;.</a:t>
            </a:r>
          </a:p>
          <a:p/>
          <a:p>
            <a:r>
              <a:t>The slide says: &lt;/div&gt;.</a:t>
            </a:r>
          </a:p>
          <a:p/>
          <a:p>
            <a:r>
              <a:t>The slide says: &lt;div class="col-visual"&gt;.</a:t>
            </a:r>
          </a:p>
          <a:p/>
          <a:p>
            <a:r>
              <a:t>Bullet 1 on the slide: Time: 20 min.</a:t>
            </a:r>
          </a:p>
          <a:p/>
          <a:p>
            <a:r>
              <a:t>Bullet 2 on the slide: Record explain baselines for catalog and order-history queries without creating indexes.</a:t>
            </a:r>
          </a:p>
          <a:p/>
          <a:p>
            <a:r>
              <a:t>Bullet 3 on the slide: Lab guide: [Lab 6.1](../slide-exercises/module-06/lab-6.1-establish-a-performance-baseline.md).</a:t>
            </a:r>
          </a:p>
          <a:p/>
          <a:p>
            <a:r>
              <a:t>The figure on this slide is titled: Baseline before indexing.</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 title is: Lab 6.1 — Steps 1–2.</a:t>
            </a:r>
          </a:p>
          <a:p/>
          <a:p>
            <a:r>
              <a:t>The slide says: Lab guide: [Lab 6.1](../slide-exercises/module-06/lab-6.1-establish-a-performance-baseline.md).</a:t>
            </a:r>
          </a:p>
          <a:p/>
          <a:p>
            <a:r>
              <a:t>The slide says: Follow along (Windows) — key steps:.</a:t>
            </a:r>
          </a:p>
          <a:p/>
          <a:p>
            <a:r>
              <a:t>Step 1 — Confirm the dataset.</a:t>
            </a:r>
          </a:p>
          <a:p/>
          <a:p>
            <a:r>
              <a:t>Step 2 — Explain the catalog query.</a:t>
            </a:r>
          </a:p>
          <a:p/>
          <a:p>
            <a:r>
              <a:t>Bullet 1 on the slide: Do: Run: ``javascript use training_store db.products.countDocuments() db.orders.countDocuments() db.products.getIndexes() db.orders.getIndexes() ``.</a:t>
            </a:r>
          </a:p>
          <a:p/>
          <a:p>
            <a:r>
              <a:t>Bullet 2 on the slide: Expected: About 12 products and 17 orders. Each collection should show the default _id_ index. Note any extra indexes left from a demo.</a:t>
            </a:r>
          </a:p>
          <a:p/>
          <a:p>
            <a:r>
              <a:t>Bullet 3 on the slide: Do: Run and record winning stage, nReturned, totalKeysExamined, totalDocsExamined, and any SORT: ``javascript db.products.find( { category: "ACCESSORY", active: true } ).sort({ price: 1 }).explain("executionStats") ``.</a:t>
            </a:r>
          </a:p>
          <a:p/>
          <a:p>
            <a:r>
              <a:t>Bullet 4 on the slide: Expected: Likely COLLSCAN (unless a prior demo index remains). Record the numbers even if they are small.</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 title is: Lab 6.1 — Steps 3–4.</a:t>
            </a:r>
          </a:p>
          <a:p/>
          <a:p>
            <a:r>
              <a:t>The slide says: Follow along (Windows) — key steps:.</a:t>
            </a:r>
          </a:p>
          <a:p/>
          <a:p>
            <a:r>
              <a:t>Step 3 — Explain order history.</a:t>
            </a:r>
          </a:p>
          <a:p/>
          <a:p>
            <a:r>
              <a:t>Step 4 — Fill the baseline table.</a:t>
            </a:r>
          </a:p>
          <a:p/>
          <a:p>
            <a:r>
              <a:t>Bullet 1 on the slide: Do: Replace cid with C101’s _id from db.customers.findOne({ customerNumber: "C101" }), then: ```javascript db.orders.find({ customerId: cid, paymentStatus: "PAID" }).sort({ createdAt: -1 }).limit(10).explain("execution.</a:t>
            </a:r>
          </a:p>
          <a:p/>
          <a:p>
            <a:r>
              <a:t>Bullet 2 on the slide: Expected: A baseline row exists: filter, sort, projection (none), winning plan, counts, in-memory sort yes/no.</a:t>
            </a:r>
          </a:p>
          <a:p/>
          <a:p>
            <a:r>
              <a:t>Bullet 3 on the slide: Do: In notes, one row per query: filter, sort, projection, winning plan, nReturned, keys examined, docs examined, extra sort.</a:t>
            </a:r>
          </a:p>
          <a:p/>
          <a:p>
            <a:r>
              <a:t>Bullet 4 on the slide: Expected: Two completed rows. No new indexes created in this lab.</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Lab 6.2 — Create and Test a Single-Field Index.</a:t>
            </a:r>
          </a:p>
          <a:p/>
          <a:p>
            <a:r>
              <a:t>The slide title is: Lab 6.2 — Create and Test a Single-Field Index.</a:t>
            </a:r>
          </a:p>
          <a:p/>
          <a:p>
            <a:r>
              <a:t>The slide says: &lt;div class="cols"&gt;.</a:t>
            </a:r>
          </a:p>
          <a:p/>
          <a:p>
            <a:r>
              <a:t>The slide says: &lt;div class="col-text"&gt;.</a:t>
            </a:r>
          </a:p>
          <a:p/>
          <a:p>
            <a:r>
              <a:t>The slide says: &lt;/div&gt;.</a:t>
            </a:r>
          </a:p>
          <a:p/>
          <a:p>
            <a:r>
              <a:t>The slide says: &lt;div class="col-visual"&gt;.</a:t>
            </a:r>
          </a:p>
          <a:p/>
          <a:p>
            <a:r>
              <a:t>Bullet 1 on the slide: Time: 20 min.</a:t>
            </a:r>
          </a:p>
          <a:p/>
          <a:p>
            <a:r>
              <a:t>Bullet 2 on the slide: Index SKU and compare examined documents before and after.</a:t>
            </a:r>
          </a:p>
          <a:p/>
          <a:p>
            <a:r>
              <a:t>Bullet 3 on the slide: Lab guide: [Lab 6.2](../slide-exercises/module-06/lab-6.2-create-and-test-a-single-field-index.md).</a:t>
            </a:r>
          </a:p>
          <a:p/>
          <a:p>
            <a:r>
              <a:t>The figure on this slide is titled: Single-field SKU index lab.</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 title is: Lab 6.2 — Steps 1–2.</a:t>
            </a:r>
          </a:p>
          <a:p/>
          <a:p>
            <a:r>
              <a:t>The slide says: Lab guide: [Lab 6.2](../slide-exercises/module-06/lab-6.2-create-and-test-a-single-field-index.md).</a:t>
            </a:r>
          </a:p>
          <a:p/>
          <a:p>
            <a:r>
              <a:t>The slide says: Follow along (Windows) — key steps:.</a:t>
            </a:r>
          </a:p>
          <a:p/>
          <a:p>
            <a:r>
              <a:t>Step 1 — Baseline SKU lookup.</a:t>
            </a:r>
          </a:p>
          <a:p/>
          <a:p>
            <a:r>
              <a:t>Step 2 — Create the index.</a:t>
            </a:r>
          </a:p>
          <a:p/>
          <a:p>
            <a:r>
              <a:t>Bullet 1 on the slide: Do: Run: ``javascript db.products.find({ sku: "L100" }).explain("executionStats") ``.</a:t>
            </a:r>
          </a:p>
          <a:p/>
          <a:p>
            <a:r>
              <a:t>Bullet 2 on the slide: Expected: Record winning stage and examined counts. Expect COLLSCAN unless an earlier SKU index exists.</a:t>
            </a:r>
          </a:p>
          <a:p/>
          <a:p>
            <a:r>
              <a:t>Bullet 3 on the slide: Do: Run: ``javascript db.products.createIndex( { sku: 1 }, { name: "idx_products_sku" } ) db.products.getIndexes() ``.</a:t>
            </a:r>
          </a:p>
          <a:p/>
          <a:p>
            <a:r>
              <a:t>Bullet 4 on the slide: Expected: The index list includes idx_products_sku with key { sku: 1 }.</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lists key points under Lab 6.2 — Steps 3–4.</a:t>
            </a:r>
          </a:p>
          <a:p/>
          <a:p>
            <a:r>
              <a:t>The slide title is: Lab 6.2 — Steps 3–4.</a:t>
            </a:r>
          </a:p>
          <a:p/>
          <a:p>
            <a:r>
              <a:t>The slide says: Follow along (Windows) — key steps:.</a:t>
            </a:r>
          </a:p>
          <a:p/>
          <a:p>
            <a:r>
              <a:t>Step 3 — Re-explain.</a:t>
            </a:r>
          </a:p>
          <a:p/>
          <a:p>
            <a:r>
              <a:t>Step 4 — Tradeoff note.</a:t>
            </a:r>
          </a:p>
          <a:p/>
          <a:p>
            <a:r>
              <a:t>Bullet 1 on the slide: Do: Repeat the L100 find explain. Confirm the winning index name.</a:t>
            </a:r>
          </a:p>
          <a:p/>
          <a:p>
            <a:r>
              <a:t>Bullet 2 on the slide: Expected: IXSCAN on idx_products_sku. Keys and docs examined should be near 1, nReturned 1.</a:t>
            </a:r>
          </a:p>
          <a:p/>
          <a:p>
            <a:r>
              <a:t>Bullet 3 on the slide: Do: Write one sentence: what write and storage cost did you add, and which query shape it serves.</a:t>
            </a:r>
          </a:p>
          <a:p/>
          <a:p>
            <a:r>
              <a:t>Bullet 4 on the slide: Expected: Each product insert/update of sku maintains this index. It serves equality lookup by SKU.</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Lab 6.3 — Design a Compound Index.</a:t>
            </a:r>
          </a:p>
          <a:p/>
          <a:p>
            <a:r>
              <a:t>The slide title is: Lab 6.3 — Design a Compound Index.</a:t>
            </a:r>
          </a:p>
          <a:p/>
          <a:p>
            <a:r>
              <a:t>The slide says: &lt;div class="cols"&gt;.</a:t>
            </a:r>
          </a:p>
          <a:p/>
          <a:p>
            <a:r>
              <a:t>The slide says: &lt;div class="col-text"&gt;.</a:t>
            </a:r>
          </a:p>
          <a:p/>
          <a:p>
            <a:r>
              <a:t>The slide says: &lt;/div&gt;.</a:t>
            </a:r>
          </a:p>
          <a:p/>
          <a:p>
            <a:r>
              <a:t>The slide says: &lt;div class="col-visual"&gt;.</a:t>
            </a:r>
          </a:p>
          <a:p/>
          <a:p>
            <a:r>
              <a:t>Bullet 1 on the slide: Time: 25 min.</a:t>
            </a:r>
          </a:p>
          <a:p/>
          <a:p>
            <a:r>
              <a:t>Bullet 2 on the slide: Build { category, active, price } and test which prefixes it supports.</a:t>
            </a:r>
          </a:p>
          <a:p/>
          <a:p>
            <a:r>
              <a:t>Bullet 3 on the slide: Lab guide: [Lab 6.3](../slide-exercises/module-06/lab-6.3-design-a-compound-index.md).</a:t>
            </a:r>
          </a:p>
          <a:p/>
          <a:p>
            <a:r>
              <a:t>The figure on this slide is titled: Compound catalog index lab.</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 title is: Lab 6.3 — Steps 1–2.</a:t>
            </a:r>
          </a:p>
          <a:p/>
          <a:p>
            <a:r>
              <a:t>The slide says: Lab guide: [Lab 6.3](../slide-exercises/module-06/lab-6.3-design-a-compound-index.md).</a:t>
            </a:r>
          </a:p>
          <a:p/>
          <a:p>
            <a:r>
              <a:t>The slide says: Follow along (Windows) — key steps:.</a:t>
            </a:r>
          </a:p>
          <a:p/>
          <a:p>
            <a:r>
              <a:t>Step 1 — Identify fields.</a:t>
            </a:r>
          </a:p>
          <a:p/>
          <a:p>
            <a:r>
              <a:t>Step 2 — Create and explain.</a:t>
            </a:r>
          </a:p>
          <a:p/>
          <a:p>
            <a:r>
              <a:t>Bullet 1 on the slide: Do: For find({ category: "ACCESSORY", active: true }).sort({ price: 1 }), write equality vs sort fields and propose a key.</a:t>
            </a:r>
          </a:p>
          <a:p/>
          <a:p>
            <a:r>
              <a:t>Bullet 2 on the slide: Expected: Equality: category, active. Sort: price. Proposal { category: 1, active: 1, price: 1 }.</a:t>
            </a:r>
          </a:p>
          <a:p/>
          <a:p>
            <a:r>
              <a:t>Bullet 3 on the slide: Do: Run: ```javascript db.products.createIndex( { category: 1, active: 1, price: 1 }, { name: "idx_products_category_active_price" } ) db.products.find({ category: "ACCESSORY", active: true }).sort({ price: 1 }).explain("exe.</a:t>
            </a:r>
          </a:p>
          <a:p/>
          <a:p>
            <a:r>
              <a:t>Bullet 4 on the slide: Expected: Winning index is the new compound index. Look for IXSCAN and no blocking SORT.</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lists key points under Lab 6.3 — Steps 3–4.</a:t>
            </a:r>
          </a:p>
          <a:p/>
          <a:p>
            <a:r>
              <a:t>The slide title is: Lab 6.3 — Steps 3–4.</a:t>
            </a:r>
          </a:p>
          <a:p/>
          <a:p>
            <a:r>
              <a:t>The slide says: Follow along (Windows) — key steps:.</a:t>
            </a:r>
          </a:p>
          <a:p/>
          <a:p>
            <a:r>
              <a:t>Step 3 — Test a prefix query.</a:t>
            </a:r>
          </a:p>
          <a:p/>
          <a:p>
            <a:r>
              <a:t>Step 4 — Record unsupported shapes.</a:t>
            </a:r>
          </a:p>
          <a:p/>
          <a:p>
            <a:r>
              <a:t>Bullet 1 on the slide: Do: Explain db.products.find({ category: "LAPTOP" }) and db.products.find({ active: true }).</a:t>
            </a:r>
          </a:p>
          <a:p/>
          <a:p>
            <a:r>
              <a:t>Bullet 2 on the slide: Expected: Category-only can use the leading prefix. Active-only generally cannot.</a:t>
            </a:r>
          </a:p>
          <a:p/>
          <a:p>
            <a:r>
              <a:t>Bullet 3 on the slide: Do: Write one query this index does not support well (for example sort by name, or filter only price).</a:t>
            </a:r>
          </a:p>
          <a:p/>
          <a:p>
            <a:r>
              <a:t>Bullet 4 on the slide: Expected: A concrete unsupported shape is written, with a one-line reason (prefix or sort mismatch).</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Lab 6.4 — Support Filtering and Sorting.</a:t>
            </a:r>
          </a:p>
          <a:p/>
          <a:p>
            <a:r>
              <a:t>The slide title is: Lab 6.4 — Support Filtering and Sorting.</a:t>
            </a:r>
          </a:p>
          <a:p/>
          <a:p>
            <a:r>
              <a:t>The slide says: &lt;div class="cols"&gt;.</a:t>
            </a:r>
          </a:p>
          <a:p/>
          <a:p>
            <a:r>
              <a:t>The slide says: &lt;div class="col-text"&gt;.</a:t>
            </a:r>
          </a:p>
          <a:p/>
          <a:p>
            <a:r>
              <a:t>The slide says: &lt;/div&gt;.</a:t>
            </a:r>
          </a:p>
          <a:p/>
          <a:p>
            <a:r>
              <a:t>The slide says: &lt;div class="col-visual"&gt;.</a:t>
            </a:r>
          </a:p>
          <a:p/>
          <a:p>
            <a:r>
              <a:t>Bullet 1 on the slide: Time: 25 min.</a:t>
            </a:r>
          </a:p>
          <a:p/>
          <a:p>
            <a:r>
              <a:t>Bullet 2 on the slide: Compare compound orders for C101’s newest orders in a date range, limit 10.</a:t>
            </a:r>
          </a:p>
          <a:p/>
          <a:p>
            <a:r>
              <a:t>Bullet 3 on the slide: Lab guide: [Lab 6.4](../slide-exercises/module-06/lab-6.4-support-filtering-and-sorting.md).</a:t>
            </a:r>
          </a:p>
          <a:p/>
          <a:p>
            <a:r>
              <a:t>The figure on this slide is titled: Order-history compound index lab.</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 title is: Lab 6.4 — Steps 1–2.</a:t>
            </a:r>
          </a:p>
          <a:p/>
          <a:p>
            <a:r>
              <a:t>The slide says: Lab guide: [Lab 6.4](../slide-exercises/module-06/lab-6.4-support-filtering-and-sorting.md).</a:t>
            </a:r>
          </a:p>
          <a:p/>
          <a:p>
            <a:r>
              <a:t>The slide says: Follow along (Windows) — key steps:.</a:t>
            </a:r>
          </a:p>
          <a:p/>
          <a:p>
            <a:r>
              <a:t>Step 1 — Write the query.</a:t>
            </a:r>
          </a:p>
          <a:p/>
          <a:p>
            <a:r>
              <a:t>Step 2 — Create the ESR-aligned index.</a:t>
            </a:r>
          </a:p>
          <a:p/>
          <a:p>
            <a:r>
              <a:t>Bullet 1 on the slide: Do: Using C101’s _id as cid and a start date of ISODate("2026-08-01T00:00:00Z"): ```javascript db.orders.find({ customerId: cid, createdAt: { $gte: ISODate("2026-08-01T00:00:00Z") } }).sort({ createdAt: -1 }).limit(10).</a:t>
            </a:r>
          </a:p>
          <a:p/>
          <a:p>
            <a:r>
              <a:t>Bullet 2 on the slide: Expected: Baseline plan recorded. Equality customerId, sort/range createdAt.</a:t>
            </a:r>
          </a:p>
          <a:p/>
          <a:p>
            <a:r>
              <a:t>Bullet 3 on the slide: Do: Run: ``javascript db.orders.createIndex( { customerId: 1, createdAt: -1 }, { name: "idx_orders_customer_created" } ) `` Re-explain the query.</a:t>
            </a:r>
          </a:p>
          <a:p/>
          <a:p>
            <a:r>
              <a:t>Bullet 4 on the slide: Expected: IXSCAN on idx_orders_customer_created. Sort should be satisfied by the index.</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lists key points under Lab 6.4 — Steps 3–4.</a:t>
            </a:r>
          </a:p>
          <a:p/>
          <a:p>
            <a:r>
              <a:t>The slide title is: Lab 6.4 — Steps 3–4.</a:t>
            </a:r>
          </a:p>
          <a:p/>
          <a:p>
            <a:r>
              <a:t>The slide says: Follow along (Windows) — key steps:.</a:t>
            </a:r>
          </a:p>
          <a:p/>
          <a:p>
            <a:r>
              <a:t>Step 3 — Compare a worse order.</a:t>
            </a:r>
          </a:p>
          <a:p/>
          <a:p>
            <a:r>
              <a:t>Step 4 — Choose and document.</a:t>
            </a:r>
          </a:p>
          <a:p/>
          <a:p>
            <a:r>
              <a:t>Bullet 1 on the slide: Do: Create { createdAt: -1, customerId: 1 } as idx_orders_created_customer only if you have time, explain the same query, then drop that experimental index.</a:t>
            </a:r>
          </a:p>
          <a:p/>
          <a:p>
            <a:r>
              <a:t>Bullet 2 on the slide: Expected: Leading with the range/sort field scans more keys across customers. Evidence favors customerId first. Drop the experimental index.</a:t>
            </a:r>
          </a:p>
          <a:p/>
          <a:p>
            <a:r>
              <a:t>Bullet 3 on the slide: Do: Keep idx_orders_customer_created. Write why ESR put equality first here.</a:t>
            </a:r>
          </a:p>
          <a:p/>
          <a:p>
            <a:r>
              <a:t>Bullet 4 on the slide: Expected: A short justification: one customer’s keys are contiguous, then dates are ordered for newest-first and the range.</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Lab 6.5 — Index Nested Fields and Arrays.</a:t>
            </a:r>
          </a:p>
          <a:p/>
          <a:p>
            <a:r>
              <a:t>The slide title is: Lab 6.5 — Index Nested Fields and Arrays.</a:t>
            </a:r>
          </a:p>
          <a:p/>
          <a:p>
            <a:r>
              <a:t>The slide says: &lt;div class="cols"&gt;.</a:t>
            </a:r>
          </a:p>
          <a:p/>
          <a:p>
            <a:r>
              <a:t>The slide says: &lt;div class="col-text"&gt;.</a:t>
            </a:r>
          </a:p>
          <a:p/>
          <a:p>
            <a:r>
              <a:t>The slide says: &lt;/div&gt;.</a:t>
            </a:r>
          </a:p>
          <a:p/>
          <a:p>
            <a:r>
              <a:t>The slide says: &lt;div class="col-visual"&gt;.</a:t>
            </a:r>
          </a:p>
          <a:p/>
          <a:p>
            <a:r>
              <a:t>Bullet 1 on the slide: Time: 25 min.</a:t>
            </a:r>
          </a:p>
          <a:p/>
          <a:p>
            <a:r>
              <a:t>Bullet 2 on the slide: Index contact.email and tags; confirm dotted lookup and multikey.</a:t>
            </a:r>
          </a:p>
          <a:p/>
          <a:p>
            <a:r>
              <a:t>Bullet 3 on the slide: Lab guide: [Lab 6.5](../slide-exercises/module-06/lab-6.5-index-nested-fields-and-arrays.md).</a:t>
            </a:r>
          </a:p>
          <a:p/>
          <a:p>
            <a:r>
              <a:t>The figure on this slide is titled: Nested and multikey lab.</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 title is: Lab 6.5 — Steps 1–2.</a:t>
            </a:r>
          </a:p>
          <a:p/>
          <a:p>
            <a:r>
              <a:t>The slide says: Lab guide: [Lab 6.5](../slide-exercises/module-06/lab-6.5-index-nested-fields-and-arrays.md).</a:t>
            </a:r>
          </a:p>
          <a:p/>
          <a:p>
            <a:r>
              <a:t>The slide says: Follow along (Windows) — key steps:.</a:t>
            </a:r>
          </a:p>
          <a:p/>
          <a:p>
            <a:r>
              <a:t>Step 1 — Nested email index.</a:t>
            </a:r>
          </a:p>
          <a:p/>
          <a:p>
            <a:r>
              <a:t>Step 2 — Multikey tags index.</a:t>
            </a:r>
          </a:p>
          <a:p/>
          <a:p>
            <a:r>
              <a:t>Bullet 1 on the slide: Do: Run: ``javascript db.customers.createIndex( { "contact.email": 1 }, { name: "idx_customers_contact_email" } ) db.customers.find({ "contact.email": "aisha@example.com" }).explain("executionStats") ``.</a:t>
            </a:r>
          </a:p>
          <a:p/>
          <a:p>
            <a:r>
              <a:t>Bullet 2 on the slide: Expected: IXSCAN on idx_customers_contact_email. nReturned 1.</a:t>
            </a:r>
          </a:p>
          <a:p/>
          <a:p>
            <a:r>
              <a:t>Bullet 3 on the slide: Do: Run: ``javascript db.products.createIndex( { tags: 1 }, { name: "idx_products_tags" } ) db.products.find({ tags: "technology" }).explain("executionStats") db.products.getIndexes() ``.</a:t>
            </a:r>
          </a:p>
          <a:p/>
          <a:p>
            <a:r>
              <a:t>Bullet 4 on the slide: Expected: The tags index is listed. Explain uses it. getIndexes / explain may show multikey: true.</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lists key points under Lab 6.5 — Steps 3–4.</a:t>
            </a:r>
          </a:p>
          <a:p/>
          <a:p>
            <a:r>
              <a:t>The slide title is: Lab 6.5 — Steps 3–4.</a:t>
            </a:r>
          </a:p>
          <a:p/>
          <a:p>
            <a:r>
              <a:t>The slide says: Follow along (Windows) — key steps:.</a:t>
            </a:r>
          </a:p>
          <a:p/>
          <a:p>
            <a:r>
              <a:t>Step 3 — Inspect multikey.</a:t>
            </a:r>
          </a:p>
          <a:p/>
          <a:p>
            <a:r>
              <a:t>Step 4 — Record examined counts.</a:t>
            </a:r>
          </a:p>
          <a:p/>
          <a:p>
            <a:r>
              <a:t>Bullet 1 on the slide: Do: In getIndexes output for idx_products_tags, find multikey (and optional multikeyPaths). Query tags "wireless" as well.</a:t>
            </a:r>
          </a:p>
          <a:p/>
          <a:p>
            <a:r>
              <a:t>Bullet 2 on the slide: Expected: multikey is true because tags is an array. Several accessories match wireless.</a:t>
            </a:r>
          </a:p>
          <a:p/>
          <a:p>
            <a:r>
              <a:t>Bullet 3 on the slide: Do: Write keys examined and docs examined for the email query and the technology-tag query.</a:t>
            </a:r>
          </a:p>
          <a:p/>
          <a:p>
            <a:r>
              <a:t>Bullet 4 on the slide: Expected: Two rows of stats. Email should be a single-key lookup; tags examines keys for matching array values.</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Lab 6.6 — Implement Data-Integrity Indexes.</a:t>
            </a:r>
          </a:p>
          <a:p/>
          <a:p>
            <a:r>
              <a:t>The slide title is: Lab 6.6 — Implement Data-Integrity Indexes.</a:t>
            </a:r>
          </a:p>
          <a:p/>
          <a:p>
            <a:r>
              <a:t>The slide says: &lt;div class="cols"&gt;.</a:t>
            </a:r>
          </a:p>
          <a:p/>
          <a:p>
            <a:r>
              <a:t>The slide says: &lt;div class="col-text"&gt;.</a:t>
            </a:r>
          </a:p>
          <a:p/>
          <a:p>
            <a:r>
              <a:t>The slide says: &lt;/div&gt;.</a:t>
            </a:r>
          </a:p>
          <a:p/>
          <a:p>
            <a:r>
              <a:t>The slide says: &lt;div class="col-visual"&gt;.</a:t>
            </a:r>
          </a:p>
          <a:p/>
          <a:p>
            <a:r>
              <a:t>Bullet 1 on the slide: Time: 20 min.</a:t>
            </a:r>
          </a:p>
          <a:p/>
          <a:p>
            <a:r>
              <a:t>Bullet 2 on the slide: Unique SKU, customerNumber, and orderNumber; prove a duplicate SKU fails.</a:t>
            </a:r>
          </a:p>
          <a:p/>
          <a:p>
            <a:r>
              <a:t>Bullet 3 on the slide: Lab guide: [Lab 6.6](../slide-exercises/module-06/lab-6.6-implement-data-integrity-indexes.md).</a:t>
            </a:r>
          </a:p>
          <a:p/>
          <a:p>
            <a:r>
              <a:t>The figure on this slide is titled: Unique index lab.</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 title is: Lab 6.6 — Steps 1–2.</a:t>
            </a:r>
          </a:p>
          <a:p/>
          <a:p>
            <a:r>
              <a:t>The slide says: Lab guide: [Lab 6.6](../slide-exercises/module-06/lab-6.6-implement-data-integrity-indexes.md).</a:t>
            </a:r>
          </a:p>
          <a:p/>
          <a:p>
            <a:r>
              <a:t>The slide says: Follow along (Windows) — key steps:.</a:t>
            </a:r>
          </a:p>
          <a:p/>
          <a:p>
            <a:r>
              <a:t>Step 1 — Unique SKU.</a:t>
            </a:r>
          </a:p>
          <a:p/>
          <a:p>
            <a:r>
              <a:t>Step 2 — Unique customer and order numbers.</a:t>
            </a:r>
          </a:p>
          <a:p/>
          <a:p>
            <a:r>
              <a:t>Bullet 1 on the slide: Do: If idx_products_sku exists, drop it first (MongoDB cannot keep two indexes on the same keys). Then: ```javascript db.products.dropIndex("idx_products_sku") db.products.createIndex( { sku: 1 }, { unique: true, name: "uq.</a:t>
            </a:r>
          </a:p>
          <a:p/>
          <a:p>
            <a:r>
              <a:t>Bullet 2 on the slide: Expected: uq_products_sku exists with unique: true. dropIndex errors if the non-unique index was never created — that is fine; proceed to createIndex.</a:t>
            </a:r>
          </a:p>
          <a:p/>
          <a:p>
            <a:r>
              <a:t>Bullet 3 on the slide: Do: Run: ``javascript db.customers.createIndex( { customerNumber: 1 }, { unique: true, name: "uq_customers_customer_number" } ) db.orders.createIndex( { orderNumber: 1 }, { unique: true, name: "uq_orders_order_number" } ).</a:t>
            </a:r>
          </a:p>
          <a:p/>
          <a:p>
            <a:r>
              <a:t>Bullet 4 on the slide: Expected: Both unique indexes build because the loader has no duplicates.</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 title is: Lab 6.6 — Steps 3–4.</a:t>
            </a:r>
          </a:p>
          <a:p/>
          <a:p>
            <a:r>
              <a:t>The slide says: Follow along (Windows) — key steps:.</a:t>
            </a:r>
          </a:p>
          <a:p/>
          <a:p>
            <a:r>
              <a:t>Step 3 — Attempt a duplicate SKU.</a:t>
            </a:r>
          </a:p>
          <a:p/>
          <a:p>
            <a:r>
              <a:t>Step 4 — Cleanup discussion.</a:t>
            </a:r>
          </a:p>
          <a:p/>
          <a:p>
            <a:r>
              <a:t>Bullet 1 on the slide: Do: Run: ``javascript db.products.insertOne({ sku: "L100", name: "Duplicate SKU test", category: "LAPTOP", price: Decimal128("1.00"), active: false, tags: ["temp"], createdAt: new Date() }) ``.</a:t>
            </a:r>
          </a:p>
          <a:p/>
          <a:p>
            <a:r>
              <a:t>Bullet 2 on the slide: Expected: Duplicate key error (E11000) mentioning sku / uq_products_sku. The extra document is not inserted.</a:t>
            </a:r>
          </a:p>
          <a:p/>
          <a:p>
            <a:r>
              <a:t>Bullet 3 on the slide: Do: Write what you would do if unique creation failed because duplicates already existed.</a:t>
            </a:r>
          </a:p>
          <a:p/>
          <a:p>
            <a:r>
              <a:t>Bullet 4 on the slide: Expected: Find duplicates with a $group on the key having $sum: 1 and $match count &gt; 1, merge or delete extras, then retry createIndex. Do not skip uniqueness becau.</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Lab 6.7 — Implement Partial and TTL Indexes.</a:t>
            </a:r>
          </a:p>
          <a:p/>
          <a:p>
            <a:r>
              <a:t>The slide title is: Lab 6.7 — Implement Partial and TTL Indexes.</a:t>
            </a:r>
          </a:p>
          <a:p/>
          <a:p>
            <a:r>
              <a:t>The slide says: &lt;div class="cols"&gt;.</a:t>
            </a:r>
          </a:p>
          <a:p/>
          <a:p>
            <a:r>
              <a:t>The slide says: &lt;div class="col-text"&gt;.</a:t>
            </a:r>
          </a:p>
          <a:p/>
          <a:p>
            <a:r>
              <a:t>The slide says: &lt;/div&gt;.</a:t>
            </a:r>
          </a:p>
          <a:p/>
          <a:p>
            <a:r>
              <a:t>The slide says: &lt;div class="col-visual"&gt;.</a:t>
            </a:r>
          </a:p>
          <a:p/>
          <a:p>
            <a:r>
              <a:t>Bullet 1 on the slide: Time: 25 min.</a:t>
            </a:r>
          </a:p>
          <a:p/>
          <a:p>
            <a:r>
              <a:t>Bullet 2 on the slide: Partial index for active products; TTL on a sessions collection.</a:t>
            </a:r>
          </a:p>
          <a:p/>
          <a:p>
            <a:r>
              <a:t>Bullet 3 on the slide: Lab guide: [Lab 6.7](../slide-exercises/module-06/lab-6.7-implement-partial-and-ttl-indexes.md).</a:t>
            </a:r>
          </a:p>
          <a:p/>
          <a:p>
            <a:r>
              <a:t>The figure on this slide is titled: Partial and TTL lab.</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 title is: Lab 6.7 — Steps 1–2.</a:t>
            </a:r>
          </a:p>
          <a:p/>
          <a:p>
            <a:r>
              <a:t>The slide says: Lab guide: [Lab 6.7](../slide-exercises/module-06/lab-6.7-implement-partial-and-ttl-indexes.md).</a:t>
            </a:r>
          </a:p>
          <a:p/>
          <a:p>
            <a:r>
              <a:t>The slide says: Follow along (Windows) — key steps:.</a:t>
            </a:r>
          </a:p>
          <a:p/>
          <a:p>
            <a:r>
              <a:t>Step 1 — Partial index.</a:t>
            </a:r>
          </a:p>
          <a:p/>
          <a:p>
            <a:r>
              <a:t>Step 2 — Compatible vs incompatible query.</a:t>
            </a:r>
          </a:p>
          <a:p/>
          <a:p>
            <a:r>
              <a:t>Bullet 1 on the slide: Do: Run: ``javascript db.products.createIndex( { category: 1, price: 1 }, { partialFilterExpression: { active: true }, name: "idx_active_products_category_price" } ) db.products.getIndexes() ``.</a:t>
            </a:r>
          </a:p>
          <a:p/>
          <a:p>
            <a:r>
              <a:t>Bullet 2 on the slide: Expected: The index lists partialFilterExpression { active: true }.</a:t>
            </a:r>
          </a:p>
          <a:p/>
          <a:p>
            <a:r>
              <a:t>Bullet 3 on the slide: Do: Explain both: ```javascript db.products.find({ category: "LAPTOP", active: true, price: { $lte: Decimal128("2000.00") } }).explain("executionStats") db.products.find({ category: "LAPTOP", price: { $lte: Decimal128("2000.</a:t>
            </a:r>
          </a:p>
          <a:p/>
          <a:p>
            <a:r>
              <a:t>Bullet 4 on the slide: Expected: The query that includes active: true can use the partial index. The query that omits it typically will not, because inactive laptops (L190) are not in that in.</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 title is: Lab 6.7 — Steps 3–4.</a:t>
            </a:r>
          </a:p>
          <a:p/>
          <a:p>
            <a:r>
              <a:t>The slide says: Follow along (Windows) — key steps:.</a:t>
            </a:r>
          </a:p>
          <a:p/>
          <a:p>
            <a:r>
              <a:t>Step 3 — Create sessions and TTL.</a:t>
            </a:r>
          </a:p>
          <a:p/>
          <a:p>
            <a:r>
              <a:t>Step 4 — Observe asynchronous expiration.</a:t>
            </a:r>
          </a:p>
          <a:p/>
          <a:p>
            <a:r>
              <a:t>Bullet 1 on the slide: Do: Run: ```javascript db.sessions.drop() db.sessions.insertMany([ { sessionId: "S1", user: "aisha", expiresAt: new Date(Date.now() + 60  60  1000) }, { sessionId: "S-EXPIRED", user: "temp", expiresAt: new Date(Date.now().</a:t>
            </a:r>
          </a:p>
          <a:p/>
          <a:p>
            <a:r>
              <a:t>Bullet 2 on the slide: Expected: ttl_sessions_expires_at exists with expireAfterSeconds: 0. Two documents are present immediately after insert.</a:t>
            </a:r>
          </a:p>
          <a:p/>
          <a:p>
            <a:r>
              <a:t>Bullet 3 on the slide: Do: Wait about 60 seconds (TTL monitor interval), then db.sessions.find(). Do not block the class if the expired row is still there — record that expiration is asynchronous.</a:t>
            </a:r>
          </a:p>
          <a:p/>
          <a:p>
            <a:r>
              <a:t>Bullet 4 on the slide: Expected: S-EXPIRED may disappear after the TTL thread runs. The lab succeeds if the index is configured correctly even if the delete has not fired yet. Never treat TTL a.</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Lab 6.8 — Build a Covered Query.</a:t>
            </a:r>
          </a:p>
          <a:p/>
          <a:p>
            <a:r>
              <a:t>The slide title is: Lab 6.8 — Build a Covered Query.</a:t>
            </a:r>
          </a:p>
          <a:p/>
          <a:p>
            <a:r>
              <a:t>The slide says: &lt;div class="cols"&gt;.</a:t>
            </a:r>
          </a:p>
          <a:p/>
          <a:p>
            <a:r>
              <a:t>The slide says: &lt;div class="col-text"&gt;.</a:t>
            </a:r>
          </a:p>
          <a:p/>
          <a:p>
            <a:r>
              <a:t>The slide says: &lt;/div&gt;.</a:t>
            </a:r>
          </a:p>
          <a:p/>
          <a:p>
            <a:r>
              <a:t>The slide says: &lt;div class="col-visual"&gt;.</a:t>
            </a:r>
          </a:p>
          <a:p/>
          <a:p>
            <a:r>
              <a:t>Bullet 1 on the slide: Time: 20 min.</a:t>
            </a:r>
          </a:p>
          <a:p/>
          <a:p>
            <a:r>
              <a:t>Bullet 2 on the slide: Cover category/price/name and confirm FETCH disappears when _id is excluded.</a:t>
            </a:r>
          </a:p>
          <a:p/>
          <a:p>
            <a:r>
              <a:t>Bullet 3 on the slide: Lab guide: [Lab 6.8](../slide-exercises/module-06/lab-6.8-build-a-covered-query.md).</a:t>
            </a:r>
          </a:p>
          <a:p/>
          <a:p>
            <a:r>
              <a:t>The figure on this slide is titled: Covered query lab.</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 title is: Lab 6.8 — Steps 1–2.</a:t>
            </a:r>
          </a:p>
          <a:p/>
          <a:p>
            <a:r>
              <a:t>The slide says: Lab guide: [Lab 6.8](../slide-exercises/module-06/lab-6.8-build-a-covered-query.md).</a:t>
            </a:r>
          </a:p>
          <a:p/>
          <a:p>
            <a:r>
              <a:t>The slide says: Follow along (Windows) — key steps:.</a:t>
            </a:r>
          </a:p>
          <a:p/>
          <a:p>
            <a:r>
              <a:t>Step 1 — Create the covering index.</a:t>
            </a:r>
          </a:p>
          <a:p/>
          <a:p>
            <a:r>
              <a:t>Step 2 — Query that can be covered.</a:t>
            </a:r>
          </a:p>
          <a:p/>
          <a:p>
            <a:r>
              <a:t>Bullet 1 on the slide: Do: Run: ``javascript db.products.createIndex( { category: 1, price: 1, name: 1 }, { name: "idx_products_category_price_name" } ) ``.</a:t>
            </a:r>
          </a:p>
          <a:p/>
          <a:p>
            <a:r>
              <a:t>Bullet 2 on the slide: Expected: Index exists. _id is not in this key.</a:t>
            </a:r>
          </a:p>
          <a:p/>
          <a:p>
            <a:r>
              <a:t>Bullet 3 on the slide: Do: Run: ``javascript db.products.find( { category: "BOOK" }, { _id: 0, name: 1, price: 1 } ).explain("executionStats") ``.</a:t>
            </a:r>
          </a:p>
          <a:p/>
          <a:p>
            <a:r>
              <a:t>Bullet 4 on the slide: Expected: Look for IXSCAN on idx_products_category_price_name and no FETCH (or a covering projection stage). totalDocsExamined is often 0 when covered.</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lists key points under Lab 6.8 — Steps 3–4.</a:t>
            </a:r>
          </a:p>
          <a:p/>
          <a:p>
            <a:r>
              <a:t>The slide title is: Lab 6.8 — Steps 3–4.</a:t>
            </a:r>
          </a:p>
          <a:p/>
          <a:p>
            <a:r>
              <a:t>The slide says: Follow along (Windows) — key steps:.</a:t>
            </a:r>
          </a:p>
          <a:p/>
          <a:p>
            <a:r>
              <a:t>Step 3 — Break coverage.</a:t>
            </a:r>
          </a:p>
          <a:p/>
          <a:p>
            <a:r>
              <a:t>Step 4 — Write the rule.</a:t>
            </a:r>
          </a:p>
          <a:p/>
          <a:p>
            <a:r>
              <a:t>Bullet 1 on the slide: Do: Re-explain the same filter with { name: 1, price: 1 } ( _id included) and with { name: 1, tags: 1, _id: 0 }.</a:t>
            </a:r>
          </a:p>
          <a:p/>
          <a:p>
            <a:r>
              <a:t>Bullet 2 on the slide: Expected: Including _id or tags should introduce FETCH / document examination.</a:t>
            </a:r>
          </a:p>
          <a:p/>
          <a:p>
            <a:r>
              <a:t>Bullet 3 on the slide: Do: One sentence: when is this catalog projection covered, and how do you confirm?.</a:t>
            </a:r>
          </a:p>
          <a:p/>
          <a:p>
            <a:r>
              <a:t>Bullet 4 on the slide: Expected: Covered when filter and output fields (including _id handling) live in the index; confirm with explain, not by guessing.</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Lab 6.9 — Tune an Aggregation Pipeline.</a:t>
            </a:r>
          </a:p>
          <a:p/>
          <a:p>
            <a:r>
              <a:t>The slide title is: Lab 6.9 — Tune an Aggregation Pipeline.</a:t>
            </a:r>
          </a:p>
          <a:p/>
          <a:p>
            <a:r>
              <a:t>The slide says: &lt;div class="cols"&gt;.</a:t>
            </a:r>
          </a:p>
          <a:p/>
          <a:p>
            <a:r>
              <a:t>The slide says: &lt;div class="col-text"&gt;.</a:t>
            </a:r>
          </a:p>
          <a:p/>
          <a:p>
            <a:r>
              <a:t>The slide says: &lt;/div&gt;.</a:t>
            </a:r>
          </a:p>
          <a:p/>
          <a:p>
            <a:r>
              <a:t>The slide says: &lt;div class="col-visual"&gt;.</a:t>
            </a:r>
          </a:p>
          <a:p/>
          <a:p>
            <a:r>
              <a:t>Bullet 1 on the slide: Time: 25 min.</a:t>
            </a:r>
          </a:p>
          <a:p/>
          <a:p>
            <a:r>
              <a:t>Bullet 2 on the slide: Index paid-order $match/$sort; explain why $group still needs memory.</a:t>
            </a:r>
          </a:p>
          <a:p/>
          <a:p>
            <a:r>
              <a:t>Bullet 3 on the slide: Lab guide: [Lab 6.9](../slide-exercises/module-06/lab-6.9-tune-an-aggregation-pipeline.md).</a:t>
            </a:r>
          </a:p>
          <a:p/>
          <a:p>
            <a:r>
              <a:t>The figure on this slide is titled: Aggregation index lab.</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 title is: Lab 6.9 — Steps 1–2.</a:t>
            </a:r>
          </a:p>
          <a:p/>
          <a:p>
            <a:r>
              <a:t>The slide says: Lab guide: [Lab 6.9](../slide-exercises/module-06/lab-6.9-tune-an-aggregation-pipeline.md).</a:t>
            </a:r>
          </a:p>
          <a:p/>
          <a:p>
            <a:r>
              <a:t>The slide says: Follow along (Windows) — key steps:.</a:t>
            </a:r>
          </a:p>
          <a:p/>
          <a:p>
            <a:r>
              <a:t>Step 1 — Baseline pipeline explain.</a:t>
            </a:r>
          </a:p>
          <a:p/>
          <a:p>
            <a:r>
              <a:t>Step 2 — Create a supporting index.</a:t>
            </a:r>
          </a:p>
          <a:p/>
          <a:p>
            <a:r>
              <a:t>Bullet 1 on the slide: Do: Run: ```javascript db.orders.explain("executionStats").aggregate([ { $match: { paymentStatus: "PAID" } }, { $sort: { createdAt: -1 } }, { $group: { _id: "$fulfillmentStatus", revenue: { $sum: "$total" }, orderCount: { $s.</a:t>
            </a:r>
          </a:p>
          <a:p/>
          <a:p>
            <a:r>
              <a:t>Bullet 2 on the slide: Expected: Record whether $match/$sort used COLLSCAN and whether a sort stage appears. Do not expect $group to use an index.</a:t>
            </a:r>
          </a:p>
          <a:p/>
          <a:p>
            <a:r>
              <a:t>Bullet 3 on the slide: Do: Run: ``javascript db.orders.createIndex( { paymentStatus: 1, createdAt: -1 }, { name: "idx_orders_payment_created" } ) `` Re-explain the same pipeline.</a:t>
            </a:r>
          </a:p>
          <a:p/>
          <a:p>
            <a:r>
              <a:t>Bullet 4 on the slide: Expected: Winning plan for the cursor should show IXSCAN on idx_orders_payment_created for the match/sort prefix.</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lists key points under Lab 6.9 — Steps 3–4.</a:t>
            </a:r>
          </a:p>
          <a:p/>
          <a:p>
            <a:r>
              <a:t>The slide title is: Lab 6.9 — Steps 3–4.</a:t>
            </a:r>
          </a:p>
          <a:p/>
          <a:p>
            <a:r>
              <a:t>The slide says: Follow along (Windows) — key steps:.</a:t>
            </a:r>
          </a:p>
          <a:p/>
          <a:p>
            <a:r>
              <a:t>Step 3 — Compare statistics.</a:t>
            </a:r>
          </a:p>
          <a:p/>
          <a:p>
            <a:r>
              <a:t>Step 4 — Explain remaining memory work.</a:t>
            </a:r>
          </a:p>
          <a:p/>
          <a:p>
            <a:r>
              <a:t>Bullet 1 on the slide: Do: Compare totalDocsExamined / keys examined before and after. Note nReturned from the group (number of fulfillment statuses).</a:t>
            </a:r>
          </a:p>
          <a:p/>
          <a:p>
            <a:r>
              <a:t>Bullet 2 on the slide: Expected: Examined counts should drop or the stage should switch from COLLSCAN to IXSCAN. Group output still has a few buckets (SHIPPED, DELIVERED, and similar).</a:t>
            </a:r>
          </a:p>
          <a:p/>
          <a:p>
            <a:r>
              <a:t>Bullet 3 on the slide: Do: Write which stages still cannot be served by this index.</a:t>
            </a:r>
          </a:p>
          <a:p/>
          <a:p>
            <a:r>
              <a:t>Bullet 4 on the slide: Expected: $group (and accumulators) still process documents in the pipeline after the indexed match/sort. Indexing does not remove grouping work.</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Lab 6.10 — Audit and Rationalize Indexes.</a:t>
            </a:r>
          </a:p>
          <a:p/>
          <a:p>
            <a:r>
              <a:t>The slide title is: Lab 6.10 — Audit and Rationalize Indexes.</a:t>
            </a:r>
          </a:p>
          <a:p/>
          <a:p>
            <a:r>
              <a:t>The slide says: &lt;div class="cols"&gt;.</a:t>
            </a:r>
          </a:p>
          <a:p/>
          <a:p>
            <a:r>
              <a:t>The slide says: &lt;div class="col-text"&gt;.</a:t>
            </a:r>
          </a:p>
          <a:p/>
          <a:p>
            <a:r>
              <a:t>The slide says: &lt;/div&gt;.</a:t>
            </a:r>
          </a:p>
          <a:p/>
          <a:p>
            <a:r>
              <a:t>The slide says: &lt;div class="col-visual"&gt;.</a:t>
            </a:r>
          </a:p>
          <a:p/>
          <a:p>
            <a:r>
              <a:t>Bullet 1 on the slide: Time: 25 min.</a:t>
            </a:r>
          </a:p>
          <a:p/>
          <a:p>
            <a:r>
              <a:t>Bullet 2 on the slide: Inventory indexes, hide one candidate, test, unhide, recommend — do not drop.</a:t>
            </a:r>
          </a:p>
          <a:p/>
          <a:p>
            <a:r>
              <a:t>Bullet 3 on the slide: Lab guide: [Lab 6.10](../slide-exercises/module-06/lab-6.10-audit-and-rationalize-indexes.md).</a:t>
            </a:r>
          </a:p>
          <a:p/>
          <a:p>
            <a:r>
              <a:t>The figure on this slide is titled: Index audit lab.</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 title is: Lab 6.10 — Steps 1–2.</a:t>
            </a:r>
          </a:p>
          <a:p/>
          <a:p>
            <a:r>
              <a:t>The slide says: Lab guide: [Lab 6.10](../slide-exercises/module-06/lab-6.10-audit-and-rationalize-indexes.md).</a:t>
            </a:r>
          </a:p>
          <a:p/>
          <a:p>
            <a:r>
              <a:t>The slide says: Follow along (Windows) — key steps:.</a:t>
            </a:r>
          </a:p>
          <a:p/>
          <a:p>
            <a:r>
              <a:t>Step 1 — Inventory.</a:t>
            </a:r>
          </a:p>
          <a:p/>
          <a:p>
            <a:r>
              <a:t>Step 2 — Spot overlap.</a:t>
            </a:r>
          </a:p>
          <a:p/>
          <a:p>
            <a:r>
              <a:t>Bullet 1 on the slide: Do: Run for products, customers, orders, reviews, and sessions: ``javascript db.getCollectionNames() db.products.getIndexes() db.orders.getIndexes() db.products.aggregate([{ $indexStats: {} }]) ``.</a:t>
            </a:r>
          </a:p>
          <a:p/>
          <a:p>
            <a:r>
              <a:t>Bullet 2 on the slide: Expected: A table of indexes by collection. Usage counts may be low or zero depending on process uptime — interpret with that caveat.</a:t>
            </a:r>
          </a:p>
          <a:p/>
          <a:p>
            <a:r>
              <a:t>Bullet 3 on the slide: Do: On products, compare category-leading indexes (single-field category, category+active+price, category+price+name, partial category+price). Note prefix overlap.</a:t>
            </a:r>
          </a:p>
          <a:p/>
          <a:p>
            <a:r>
              <a:t>Bullet 4 on the slide: Expected: At least one overlapping prefix pair is written down.</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 title is: Lab 6.10 — Steps 3–4.</a:t>
            </a:r>
          </a:p>
          <a:p/>
          <a:p>
            <a:r>
              <a:t>The slide says: Follow along (Windows) — key steps:.</a:t>
            </a:r>
          </a:p>
          <a:p/>
          <a:p>
            <a:r>
              <a:t>Step 3 — Hide and test.</a:t>
            </a:r>
          </a:p>
          <a:p/>
          <a:p>
            <a:r>
              <a:t>Step 4 — Recommend.</a:t>
            </a:r>
          </a:p>
          <a:p/>
          <a:p>
            <a:r>
              <a:t>Bullet 1 on the slide: Do: Hide a non-unique, non-TTL training index you suspect is redundant, for example idx_products_category if it exists: ```javascript db.products.hideIndex("idx_products_category") db.products.find({ category: "ACCESSO.</a:t>
            </a:r>
          </a:p>
          <a:p/>
          <a:p>
            <a:r>
              <a:t>Bullet 2 on the slide: Expected: While hidden, the planner should not select that index. After unhide, it is eligible again. If the name does not exist, hide another secondary index from your l.</a:t>
            </a:r>
          </a:p>
          <a:p/>
          <a:p>
            <a:r>
              <a:t>Bullet 3 on the slide: Do: For the hidden candidate, write retain, redesign, or remove, with one evidence sentence. Do not drop it in this lab.</a:t>
            </a:r>
          </a:p>
          <a:p/>
          <a:p>
            <a:r>
              <a:t>Bullet 4 on the slide: Expected: A recommendation exists. No production-style drop was performed.</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Lab 6.11 — Integrated Query-Tuning Challenge.</a:t>
            </a:r>
          </a:p>
          <a:p/>
          <a:p>
            <a:r>
              <a:t>The slide title is: Lab 6.11 — Integrated Query-Tuning Challenge.</a:t>
            </a:r>
          </a:p>
          <a:p/>
          <a:p>
            <a:r>
              <a:t>The slide says: &lt;div class="cols"&gt;.</a:t>
            </a:r>
          </a:p>
          <a:p/>
          <a:p>
            <a:r>
              <a:t>The slide says: &lt;div class="col-text"&gt;.</a:t>
            </a:r>
          </a:p>
          <a:p/>
          <a:p>
            <a:r>
              <a:t>The slide says: &lt;/div&gt;.</a:t>
            </a:r>
          </a:p>
          <a:p/>
          <a:p>
            <a:r>
              <a:t>The slide says: &lt;div class="col-visual"&gt;.</a:t>
            </a:r>
          </a:p>
          <a:p/>
          <a:p>
            <a:r>
              <a:t>Bullet 1 on the slide: Time: 40–45 min.</a:t>
            </a:r>
          </a:p>
          <a:p/>
          <a:p>
            <a:r>
              <a:t>Bullet 2 on the slide: Tune catalog and order-history pages with baselines, ESR, explain, and a cost note.</a:t>
            </a:r>
          </a:p>
          <a:p/>
          <a:p>
            <a:r>
              <a:t>Bullet 3 on the slide: Lab guide: [Lab 6.11](../slide-exercises/module-06/lab-6.11-integrated-query-tuning-challenge.md).</a:t>
            </a:r>
          </a:p>
          <a:p/>
          <a:p>
            <a:r>
              <a:t>The figure on this slide is titled: Integrated catalog and history tuning.</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lists key points under Lab 6.11 — Steps 1–2.</a:t>
            </a:r>
          </a:p>
          <a:p/>
          <a:p>
            <a:r>
              <a:t>The slide title is: Lab 6.11 — Steps 1–2.</a:t>
            </a:r>
          </a:p>
          <a:p/>
          <a:p>
            <a:r>
              <a:t>The slide says: Lab guide: [Lab 6.11](../slide-exercises/module-06/lab-6.11-integrated-query-tuning-challenge.md).</a:t>
            </a:r>
          </a:p>
          <a:p/>
          <a:p>
            <a:r>
              <a:t>The slide says: Follow along (Windows) — key steps:.</a:t>
            </a:r>
          </a:p>
          <a:p/>
          <a:p>
            <a:r>
              <a:t>Step 1 — Capture both shapes.</a:t>
            </a:r>
          </a:p>
          <a:p/>
          <a:p>
            <a:r>
              <a:t>Step 2 — Baselines.</a:t>
            </a:r>
          </a:p>
          <a:p/>
          <a:p>
            <a:r>
              <a:t>Bullet 1 on the slide: Do: Catalog: active products, category ACCESSORY, optional price ≤ 100, sort price, return name, price, category. History: C101, PAID, newest first, createdAt ≥ 2026-08-01, limit 20. Write both queries.</a:t>
            </a:r>
          </a:p>
          <a:p/>
          <a:p>
            <a:r>
              <a:t>Bullet 2 on the slide: Expected: Two complete mongosh queries including projection and limit.</a:t>
            </a:r>
          </a:p>
          <a:p/>
          <a:p>
            <a:r>
              <a:t>Bullet 3 on the slide: Do: explain("executionStats") both queries before changing indexes. Fill nReturned, keys, docs, SORT yes/no.</a:t>
            </a:r>
          </a:p>
          <a:p/>
          <a:p>
            <a:r>
              <a:t>Bullet 4 on the slide: Expected: Two baseline rows. Existing indexes from earlier labs are allowed; note them.</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lists key points under Lab 6.11 — Steps 3–4.</a:t>
            </a:r>
          </a:p>
          <a:p/>
          <a:p>
            <a:r>
              <a:t>The slide title is: Lab 6.11 — Steps 3–4.</a:t>
            </a:r>
          </a:p>
          <a:p/>
          <a:p>
            <a:r>
              <a:t>The slide says: Follow along (Windows) — key steps:.</a:t>
            </a:r>
          </a:p>
          <a:p/>
          <a:p>
            <a:r>
              <a:t>Step 3 — Propose and create ESR indexes.</a:t>
            </a:r>
          </a:p>
          <a:p/>
          <a:p>
            <a:r>
              <a:t>Step 4 — Re-explain and compare.</a:t>
            </a:r>
          </a:p>
          <a:p/>
          <a:p>
            <a:r>
              <a:t>Bullet 1 on the slide: Do: Catalog candidate { category: 1, active: 1, price: 1 } (may already exist). History candidate { customerId: 1, paymentStatus: 1, createdAt: -1 } or { customerId: 1, createdAt: -1 } depending on whether PAID is alwa.</a:t>
            </a:r>
          </a:p>
          <a:p/>
          <a:p>
            <a:r>
              <a:t>Bullet 2 on the slide: Expected: Indexes exist. Field order is written with equality, sort, and range labeled.</a:t>
            </a:r>
          </a:p>
          <a:p/>
          <a:p>
            <a:r>
              <a:t>Bullet 3 on the slide: Do: Rerun both explains. Compare examined vs returned. For the catalog projection, optionally exclude _id and extra fields and note coverage.</a:t>
            </a:r>
          </a:p>
          <a:p/>
          <a:p>
            <a:r>
              <a:t>Bullet 4 on the slide: Expected: IXSCAN on the intended indexes. Examined counts are closer to returned counts than the baseline, or SORT is gone.</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lists key points under Lab 6.11 — Steps 5–5.</a:t>
            </a:r>
          </a:p>
          <a:p/>
          <a:p>
            <a:r>
              <a:t>The slide title is: Lab 6.11 — Steps 5–5.</a:t>
            </a:r>
          </a:p>
          <a:p/>
          <a:p>
            <a:r>
              <a:t>The slide says: Follow along (Windows) — key steps:.</a:t>
            </a:r>
          </a:p>
          <a:p/>
          <a:p>
            <a:r>
              <a:t>Step 5 — Cost and recommendation.</a:t>
            </a:r>
          </a:p>
          <a:p/>
          <a:p>
            <a:r>
              <a:t>Bullet 1 on the slide: Do: List the indexes you would keep for these two pages, their write/storage impact, and one index you would not add.</a:t>
            </a:r>
          </a:p>
          <a:p/>
          <a:p>
            <a:r>
              <a:t>Bullet 2 on the slide: Expected: A short recommendation: keep the two (or three) named indexes; do not index every catalog field; unique SKU remains a separate integrity index.</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Exercise 6.13 — E-Commerce Index Review.</a:t>
            </a:r>
          </a:p>
          <a:p/>
          <a:p>
            <a:r>
              <a:t>The slide title is: Exercise 6.13 — E-Commerce Index Review.</a:t>
            </a:r>
          </a:p>
          <a:p/>
          <a:p>
            <a:r>
              <a:t>The slide says: &lt;div class="cols"&gt;.</a:t>
            </a:r>
          </a:p>
          <a:p/>
          <a:p>
            <a:r>
              <a:t>The slide says: &lt;div class="col-text"&gt;.</a:t>
            </a:r>
          </a:p>
          <a:p/>
          <a:p>
            <a:r>
              <a:t>The slide says: &lt;/div&gt;.</a:t>
            </a:r>
          </a:p>
          <a:p/>
          <a:p>
            <a:r>
              <a:t>The slide says: &lt;div class="col-visual"&gt;.</a:t>
            </a:r>
          </a:p>
          <a:p/>
          <a:p>
            <a:r>
              <a:t>Bullet 1 on the slide: Time: 30–45 min.</a:t>
            </a:r>
          </a:p>
          <a:p/>
          <a:p>
            <a:r>
              <a:t>Bullet 2 on the slide: Recommend indexes for ten application query patterns, including specialized types and overlap.</a:t>
            </a:r>
          </a:p>
          <a:p/>
          <a:p>
            <a:r>
              <a:t>Bullet 3 on the slide: Lab guide: [Exercise 6.13](../slide-exercises/module-06/exercise-6.13-practical-challenge.md).</a:t>
            </a:r>
          </a:p>
          <a:p/>
          <a:p>
            <a:r>
              <a:t>The figure on this slide is titled: Practical challenge workload.</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starting Exercise 6.13 — E-Commerce Index Review. We have about 30–45 min for this lab.</a:t>
            </a:r>
          </a:p>
          <a:p/>
          <a:p>
            <a:r>
              <a:t>Recommend indexes for ten application query patterns, including specialized types and overlap checks.</a:t>
            </a:r>
          </a:p>
          <a:p/>
          <a:p>
            <a:r>
              <a:t>The full lab guide is in slide-exercises/module-06/exercise-6.13-practical-challenge.md if you need extra detail.</a:t>
            </a:r>
          </a:p>
          <a:p/>
          <a:p>
            <a:r>
              <a:t>On Windows: PowerShell in the integrated terminal — Ctrl+backtick — and the Agent panel — Ctrl+I. Open the repo folder with File → Open Folder.</a:t>
            </a:r>
          </a:p>
          <a:p/>
          <a:p>
            <a:r>
              <a:t>Step 1 — Tabulate ten patterns.</a:t>
            </a:r>
          </a:p>
          <a:p/>
          <a:p>
            <a:r>
              <a:t>Step 2 — Justify field order and costs.</a:t>
            </a:r>
          </a:p>
          <a:p/>
          <a:p>
            <a:r>
              <a:t>Step 3 — Validation plan.</a:t>
            </a:r>
          </a:p>
          <a:p/>
          <a:p>
            <a:r>
              <a:t>Step 1 — Tabulate ten patterns.</a:t>
            </a:r>
          </a:p>
          <a:p/>
          <a:p>
            <a:r>
              <a:t>Step 2 — Justify field order and costs.</a:t>
            </a:r>
          </a:p>
          <a:p/>
          <a:p>
            <a:r>
              <a:t>Step 3 — Validation plan.</a:t>
            </a:r>
          </a:p>
          <a:p/>
          <a:p>
            <a:r>
              <a:t>Step 1 — Tabulate ten patterns.</a:t>
            </a:r>
          </a:p>
          <a:p/>
          <a:p>
            <a:r>
              <a:t>Step 2 — Justify field order and costs.</a:t>
            </a:r>
          </a:p>
          <a:p/>
          <a:p>
            <a:r>
              <a:t>Step 3 — Validation plan.</a:t>
            </a:r>
          </a:p>
          <a:p/>
          <a:p>
            <a:r>
              <a:t>Step 1 — Tabulate ten patterns.</a:t>
            </a:r>
          </a:p>
          <a:p/>
          <a:p>
            <a:r>
              <a:t>Step 2 — Justify field order and costs.</a:t>
            </a:r>
          </a:p>
          <a:p/>
          <a:p>
            <a:r>
              <a:t>I'll give you a few minutes to work — raise your hand if you get stuck.</a:t>
            </a:r>
          </a:p>
          <a:p/>
          <a:p>
            <a:r>
              <a:t>The slide title is: Exercise 6.13 — Steps 1–2.</a:t>
            </a:r>
          </a:p>
          <a:p/>
          <a:p>
            <a:r>
              <a:t>The slide says: Lab guide: [Exercise 6.13](../slide-exercises/module-06/exercise-6.13-practical-challenge.md).</a:t>
            </a:r>
          </a:p>
          <a:p/>
          <a:p>
            <a:r>
              <a:t>The slide says: Follow along (Windows) — key steps:.</a:t>
            </a:r>
          </a:p>
          <a:p/>
          <a:p>
            <a:r>
              <a:t>The slide says: _Full lab guide with every command: see Lab guide on the lesson divider slide._.</a:t>
            </a:r>
          </a:p>
          <a:p/>
          <a:p>
            <a:r>
              <a:t>Bullet 1 on the slide: Do: For each workload item (SKU lookup, category browse, tags, email, order number, order history, paid reporting, reviews newest first, session expiration, dynamic attributes), write query shape and a proposed index.</a:t>
            </a:r>
          </a:p>
          <a:p/>
          <a:p>
            <a:r>
              <a:t>Bullet 2 on the slide: Expected: A ten-row table exists. Unique, multikey, partial, TTL, and wildcard candidates are marked.</a:t>
            </a:r>
          </a:p>
          <a:p/>
          <a:p>
            <a:r>
              <a:t>Bullet 3 on the slide: Do: For every compound index, state ESR roles and one write/storage sentence. Flag any overlapping prefixes (for example category vs category+active+price).</a:t>
            </a:r>
          </a:p>
          <a:p/>
          <a:p>
            <a:r>
              <a:t>Bullet 4 on the slide: Expected: Compound orders are justified. At least one overlap is called out with a retain/hide plan.</a:t>
            </a:r>
          </a:p>
          <a:p/>
          <a:p>
            <a:r>
              <a:t>Bullet 5 on the slide: Do: Write how you would prove two high-traffic indexes with explain (catalog and order history) and how you would roll back.</a:t>
            </a:r>
          </a:p>
          <a:p/>
          <a:p>
            <a:r>
              <a:t>Bullet 6 on the slide: Expected: Baseline → createIndex → executionStats comparison → dropIndex rollback with the original createIndex saved.</a:t>
            </a:r>
          </a:p>
          <a:p/>
          <a:p>
            <a:r>
              <a:t>Bullet 7 on the slide: Do: For each workload item (SKU lookup, category browse, tags, email, order number, order history, paid reporting, reviews newest first, session expiration, dynamic attributes), write query shape and a proposed index.</a:t>
            </a:r>
          </a:p>
          <a:p/>
          <a:p>
            <a:r>
              <a:t>Bullet 8 on the slide: Expected: A ten-row table exists. Unique, multikey, partial, TTL, and wildcard candidates are marked.</a:t>
            </a:r>
          </a:p>
          <a:p/>
          <a:p>
            <a:r>
              <a:t>Bullet 9 on the slide: Do: For every compound index, state ESR roles and one write/storage sentence. Flag any overlapping prefixes (for example category vs category+active+price).</a:t>
            </a:r>
          </a:p>
          <a:p/>
          <a:p>
            <a:r>
              <a:t>Bullet 10 on the slide: Expected: Compound orders are justified. At least one overlap is called out with a retain/hide plan.</a:t>
            </a:r>
          </a:p>
          <a:p/>
          <a:p>
            <a:r>
              <a:t>Bullet 11 on the slide: Do: Write how you would prove two high-traffic indexes with explain (catalog and order history) and how you would roll back.</a:t>
            </a:r>
          </a:p>
          <a:p/>
          <a:p>
            <a:r>
              <a:t>Bullet 12 on the slide: Expected: Baseline → createIndex → executionStats comparison → dropIndex rollback with the original createIndex saved.</a:t>
            </a:r>
          </a:p>
          <a:p/>
          <a:p>
            <a:r>
              <a:t>Bullet 13 on the slide: Do: For each workload item (SKU lookup, category browse, tags, email, order number, order history, paid reporting, reviews newest first, session expiration, dynamic attributes), write query shape and a proposed index.</a:t>
            </a:r>
          </a:p>
          <a:p/>
          <a:p>
            <a:r>
              <a:t>Bullet 14 on the slide: Expected: A ten-row table exists. Unique, multikey, partial, TTL, and wildcard candidates are marked.</a:t>
            </a:r>
          </a:p>
          <a:p/>
          <a:p>
            <a:r>
              <a:t>Bullet 15 on the slide: Do: For every compound index, state ESR roles and one write/storage sentence. Flag any overlapping prefixes (for example category vs category+active+price).</a:t>
            </a:r>
          </a:p>
          <a:p/>
          <a:p>
            <a:r>
              <a:t>Bullet 16 on the slide: Expected: Compound orders are justified. At least one overlap is called out with a retain/hide plan.</a:t>
            </a:r>
          </a:p>
          <a:p/>
          <a:p>
            <a:r>
              <a:t>Bullet 17 on the slide: Do: Write how you would prove two high-traffic indexes with explain (catalog and order history) and how you would roll back.</a:t>
            </a:r>
          </a:p>
          <a:p/>
          <a:p>
            <a:r>
              <a:t>Bullet 18 on the slide: Expected: Baseline → createIndex → executionStats comparison → dropIndex rollback with the original createIndex saved.</a:t>
            </a:r>
          </a:p>
          <a:p/>
          <a:p>
            <a:r>
              <a:t>Bullet 19 on the slide: Do: For each workload item (SKU lookup, category browse, tags, email, order number, order history, paid reporting, reviews newest first, session expiration, dynamic attributes), write query shape and a proposed index.</a:t>
            </a:r>
          </a:p>
          <a:p/>
          <a:p>
            <a:r>
              <a:t>Bullet 20 on the slide: Expected: A ten-row table exists. Unique, multikey, partial, TTL, and wildcard candidates are marked.</a:t>
            </a:r>
          </a:p>
          <a:p/>
          <a:p>
            <a:r>
              <a:t>Bullet 21 on the slide: Do: For every compound index, state ESR roles and one write/storage sentence. Flag any overlapping prefixes (for example category vs category+active+price).</a:t>
            </a:r>
          </a:p>
          <a:p/>
          <a:p>
            <a:r>
              <a:t>Bullet 22 on the slide: Expected: Compound orders are justified. At least one overlap is called out with a retain/hide plan.</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for Steps 3–3.</a:t>
            </a:r>
          </a:p>
          <a:p/>
          <a:p>
            <a:r>
              <a:t>Step 3 — Validation plan.</a:t>
            </a:r>
          </a:p>
          <a:p/>
          <a:p>
            <a:r>
              <a:t>I'll give you a few minutes to work — raise your hand if you get stuck.</a:t>
            </a:r>
          </a:p>
          <a:p/>
          <a:p>
            <a:r>
              <a:t>The slide title is: Exercise 6.13 — Steps 3–3.</a:t>
            </a:r>
          </a:p>
          <a:p/>
          <a:p>
            <a:r>
              <a:t>The slide says: Follow along (Windows) — key steps:.</a:t>
            </a:r>
          </a:p>
          <a:p/>
          <a:p>
            <a:r>
              <a:t>Bullet 1 on the slide: Do: Write how you would prove two high-traffic indexes with explain (catalog and order history) and how you would roll back.</a:t>
            </a:r>
          </a:p>
          <a:p/>
          <a:p>
            <a:r>
              <a:t>Bullet 2 on the slide: Expected: Baseline → createIndex → executionStats comparison → dropIndex rollback with the original createIndex saved.</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Module 6 Exit Ticket.</a:t>
            </a:r>
          </a:p>
          <a:p/>
          <a:p>
            <a:r>
              <a:t>The slide title is: Module 6 Exit Ticket.</a:t>
            </a:r>
          </a:p>
          <a:p/>
          <a:p>
            <a:r>
              <a:t>The slide says: Write a short answer for each:.</a:t>
            </a:r>
          </a:p>
          <a:p/>
          <a:p>
            <a:r>
              <a:t>The slide says: 1. COLLSCAN vs IXSCAN?.</a:t>
            </a:r>
          </a:p>
          <a:p/>
          <a:p>
            <a:r>
              <a:t>The slide says: 2. Why compound field order matters.</a:t>
            </a:r>
          </a:p>
          <a:p/>
          <a:p>
            <a:r>
              <a:t>The slide says: 3. What is an index prefix?.</a:t>
            </a:r>
          </a:p>
          <a:p/>
          <a:p>
            <a:r>
              <a:t>The slide says: 4. What does ESR mean?.</a:t>
            </a:r>
          </a:p>
          <a:p/>
          <a:p>
            <a:r>
              <a:t>The slide says: 5. When is an index multikey?.</a:t>
            </a:r>
          </a:p>
          <a:p/>
          <a:p>
            <a:r>
              <a:t>The slide says: 6. What does a unique index provide?.</a:t>
            </a:r>
          </a:p>
          <a:p/>
          <a:p>
            <a:r>
              <a:t>The slide says: 7. Partial vs sparse.</a:t>
            </a:r>
          </a:p>
          <a:p/>
          <a:p>
            <a:r>
              <a:t>The slide says: 8. What is a TTL index for?.</a:t>
            </a:r>
          </a:p>
          <a:p/>
          <a:p>
            <a:r>
              <a:t>The slide says: 9. What is a covered query?.</a:t>
            </a:r>
          </a:p>
          <a:p/>
          <a:p>
            <a:r>
              <a:t>The slide says: 10. Which explain values compare work vs results?.</a:t>
            </a:r>
          </a:p>
          <a:p/>
          <a:p>
            <a:r>
              <a:t>The slide says: 11. Why can an index slow writes?.</a:t>
            </a:r>
          </a:p>
          <a:p/>
          <a:p>
            <a:r>
              <a:t>The slide says: 12. Why hide before drop?.</a:t>
            </a:r>
          </a:p>
          <a:p/>
          <a:p>
            <a:r>
              <a:t>The slide says: 13. Does IXSCAN always mean efficient?.</a:t>
            </a:r>
          </a:p>
          <a:p/>
          <a:p>
            <a:r>
              <a:t>The slide says: 14. Why design around query shapes?.</a:t>
            </a:r>
          </a:p>
          <a:p/>
          <a:p>
            <a:r>
              <a:t>The slide says: Completion: explain cost; create/inspect indexes; design compound keys; use prefixes and ESR; apply specialized types; read explain; recommend with evidence.</a:t>
            </a:r>
          </a:p>
          <a:p/>
          <a:p>
            <a:r>
              <a:t>Number 1 on the slide: COLLSCAN vs IXSCAN?.</a:t>
            </a:r>
          </a:p>
          <a:p/>
          <a:p>
            <a:r>
              <a:t>Number 2 on the slide: Why compound field order matters.</a:t>
            </a:r>
          </a:p>
          <a:p/>
          <a:p>
            <a:r>
              <a:t>Number 3 on the slide: What is an index prefix?.</a:t>
            </a:r>
          </a:p>
          <a:p/>
          <a:p>
            <a:r>
              <a:t>Number 4 on the slide: What does ESR mean?.</a:t>
            </a:r>
          </a:p>
          <a:p/>
          <a:p>
            <a:r>
              <a:t>Number 5 on the slide: When is an index multikey?.</a:t>
            </a:r>
          </a:p>
          <a:p/>
          <a:p>
            <a:r>
              <a:t>Number 6 on the slide: What does a unique index provide?.</a:t>
            </a:r>
          </a:p>
          <a:p/>
          <a:p>
            <a:r>
              <a:t>Number 7 on the slide: Partial vs sparse.</a:t>
            </a:r>
          </a:p>
          <a:p/>
          <a:p>
            <a:r>
              <a:t>Number 8 on the slide: What is a TTL index for?.</a:t>
            </a:r>
          </a:p>
          <a:p/>
          <a:p>
            <a:r>
              <a:t>Number 9 on the slide: What is a covered query?.</a:t>
            </a:r>
          </a:p>
          <a:p/>
          <a:p>
            <a:r>
              <a:t>Number 10 on the slide: Which explain values compare work vs results?.</a:t>
            </a:r>
          </a:p>
          <a:p/>
          <a:p>
            <a:r>
              <a:t>Number 11 on the slide: Why can an index slow writes?.</a:t>
            </a:r>
          </a:p>
          <a:p/>
          <a:p>
            <a:r>
              <a:t>Number 12 on the slide: Why hide before drop?.</a:t>
            </a:r>
          </a:p>
          <a:p/>
          <a:p>
            <a:r>
              <a:t>Number 13 on the slide: Does IXSCAN always mean efficient?.</a:t>
            </a:r>
          </a:p>
          <a:p/>
          <a:p>
            <a:r>
              <a:t>Number 14 on the slide: Why design around query shapes?.</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lists key points under Module Completion Checklist.</a:t>
            </a:r>
          </a:p>
          <a:p/>
          <a:p>
            <a:r>
              <a:t>The slide title is: Module Completion Checklist.</a:t>
            </a:r>
          </a:p>
          <a:p/>
          <a:p>
            <a:r>
              <a:t>The slide says: Participants can:.</a:t>
            </a:r>
          </a:p>
          <a:p/>
          <a:p>
            <a:r>
              <a:t>Bullet 1 on the slide: [ ] Explain the role and cost of indexes.</a:t>
            </a:r>
          </a:p>
          <a:p/>
          <a:p>
            <a:r>
              <a:t>Bullet 2 on the slide: [ ] Create, list, hide, and drop indexes.</a:t>
            </a:r>
          </a:p>
          <a:p/>
          <a:p>
            <a:r>
              <a:t>Bullet 3 on the slide: [ ] Design single-field and compound indexes.</a:t>
            </a:r>
          </a:p>
          <a:p/>
          <a:p>
            <a:r>
              <a:t>Bullet 4 on the slide: [ ] Apply prefixes and Equality–Sort–Range.</a:t>
            </a:r>
          </a:p>
          <a:p/>
          <a:p>
            <a:r>
              <a:t>Bullet 5 on the slide: [ ] Create multikey and unique indexes.</a:t>
            </a:r>
          </a:p>
          <a:p/>
          <a:p>
            <a:r>
              <a:t>Bullet 6 on the slide: [ ] Explain partial, sparse, TTL, wildcard, text, geo, hashed.</a:t>
            </a:r>
          </a:p>
          <a:p/>
          <a:p>
            <a:r>
              <a:t>Bullet 7 on the slide: [ ] Identify possible covered queries.</a:t>
            </a:r>
          </a:p>
          <a:p/>
          <a:p>
            <a:r>
              <a:t>Bullet 8 on the slide: [ ] Read essential explain output.</a:t>
            </a:r>
          </a:p>
          <a:p/>
          <a:p>
            <a:r>
              <a:t>Bullet 9 on the slide: [ ] Distinguish COLLSCAN from IXSCAN.</a:t>
            </a:r>
          </a:p>
          <a:p/>
          <a:p>
            <a:r>
              <a:t>Bullet 10 on the slide: [ ] Detect redundant indexes.</a:t>
            </a:r>
          </a:p>
          <a:p/>
          <a:p>
            <a:r>
              <a:t>Bullet 11 on the slide: [ ] Recommend indexes using measured evidence.</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lists key points under Questions and Answers.</a:t>
            </a:r>
          </a:p>
          <a:p/>
          <a:p>
            <a:r>
              <a:t>The slide title is: Questions and Answers.</a:t>
            </a:r>
          </a:p>
          <a:p/>
          <a:p>
            <a:r>
              <a:t>The slide says: Open floor.</a:t>
            </a:r>
          </a:p>
          <a:p/>
          <a:p>
            <a:r>
              <a:t>The slide says: Parking-lot prompts if the room is quiet:.</a:t>
            </a:r>
          </a:p>
          <a:p/>
          <a:p>
            <a:r>
              <a:t>The slide says: Park replica-set lag and shard-key design for Module 7.</a:t>
            </a:r>
          </a:p>
          <a:p/>
          <a:p>
            <a:r>
              <a:t>Bullet 1 on the slide: Would you index active by itself?.</a:t>
            </a:r>
          </a:p>
          <a:p/>
          <a:p>
            <a:r>
              <a:t>Bullet 2 on the slide: How would you prove a hidden index is safe to drop?.</a:t>
            </a:r>
          </a:p>
          <a:p/>
          <a:p>
            <a:r>
              <a:t>Bullet 3 on the slide: When is a wildcard index the wrong answer?.</a:t>
            </a:r>
          </a:p>
          <a:p/>
          <a:p>
            <a:r>
              <a:t>Bullet 4 on the slide: Why might $lookup still be slow with an index on _id?.</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Day 3 Path — From Query Shape to Scale.</a:t>
            </a:r>
          </a:p>
          <a:p/>
          <a:p>
            <a:r>
              <a:t>The slide title is: Day 3 Path — From Query Shape to Scale.</a:t>
            </a:r>
          </a:p>
          <a:p/>
          <a:p>
            <a:r>
              <a:t>The slide says: &lt;div class="cols"&gt;.</a:t>
            </a:r>
          </a:p>
          <a:p/>
          <a:p>
            <a:r>
              <a:t>The slide says: &lt;div class="col-text"&gt;.</a:t>
            </a:r>
          </a:p>
          <a:p/>
          <a:p>
            <a:r>
              <a:t>The slide says: &lt;/div&gt;.</a:t>
            </a:r>
          </a:p>
          <a:p/>
          <a:p>
            <a:r>
              <a:t>The slide says: &lt;div class="col-visual"&gt;.</a:t>
            </a:r>
          </a:p>
          <a:p/>
          <a:p>
            <a:r>
              <a:t>Bullet 1 on the slide: Index the recurring shape.</a:t>
            </a:r>
          </a:p>
          <a:p/>
          <a:p>
            <a:r>
              <a:t>Bullet 2 on the slide: Prove it with explain.</a:t>
            </a:r>
          </a:p>
          <a:p/>
          <a:p>
            <a:r>
              <a:t>Bullet 3 on the slide: Watch write and storage cost.</a:t>
            </a:r>
          </a:p>
          <a:p/>
          <a:p>
            <a:r>
              <a:t>Bullet 4 on the slide: Next: replica sets and sharding.</a:t>
            </a:r>
          </a:p>
          <a:p/>
          <a:p>
            <a:r>
              <a:t>The figure on this slide is titled: Path from indexing into Module 7.</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lists key points under Transition to Module 7: Replication and Sharding.</a:t>
            </a:r>
          </a:p>
          <a:p/>
          <a:p>
            <a:r>
              <a:t>The slide title is: Transition to Module 7: Replication and Sharding.</a:t>
            </a:r>
          </a:p>
          <a:p/>
          <a:p>
            <a:r>
              <a:t>The slide says: Module 7 moves from individual query performance to distributed availability and scale:.</a:t>
            </a:r>
          </a:p>
          <a:p/>
          <a:p>
            <a:r>
              <a:t>The slide says: Hashed indexes you saw today reappear as hashed shard keys.</a:t>
            </a:r>
          </a:p>
          <a:p/>
          <a:p>
            <a:r>
              <a:t>Bullet 1 on the slide: Replica-set architecture.</a:t>
            </a:r>
          </a:p>
          <a:p/>
          <a:p>
            <a:r>
              <a:t>Bullet 2 on the slide: Primary and secondary members.</a:t>
            </a:r>
          </a:p>
          <a:p/>
          <a:p>
            <a:r>
              <a:t>Bullet 3 on the slide: Elections and automatic failover.</a:t>
            </a:r>
          </a:p>
          <a:p/>
          <a:p>
            <a:r>
              <a:t>Bullet 4 on the slide: Read and write concerns.</a:t>
            </a:r>
          </a:p>
          <a:p/>
          <a:p>
            <a:r>
              <a:t>Bullet 5 on the slide: Sharding architecture and shard keys.</a:t>
            </a:r>
          </a:p>
          <a:p/>
          <a:p>
            <a:r>
              <a:t>Bullet 6 on the slide: Routers and configuration servers.</a:t>
            </a:r>
          </a:p>
          <a:p/>
          <a:p>
            <a:r>
              <a:t>Bullet 7 on the slide: Balancing and data distribution.</a:t>
            </a:r>
          </a:p>
          <a:p/>
          <a:p>
            <a:r>
              <a:t>Bullet 8 on the slide: Replication versus sharding.</a:t>
            </a:r>
          </a:p>
          <a:p/>
          <a:p>
            <a:r>
              <a:t>Bullet 9 on the slide: High-availability and scaling decisions.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84048"/>
            <a:ext cx="10332720" cy="548640"/>
          </a:xfrm>
          <a:prstGeom prst="rect">
            <a:avLst/>
          </a:prstGeom>
          <a:noFill/>
        </p:spPr>
        <p:txBody>
          <a:bodyPr wrap="square" anchor="ctr" lIns="0" rIns="0" tIns="0" bIns="0">
            <a:spAutoFit/>
          </a:bodyPr>
          <a:lstStyle/>
          <a:p>
            <a:pPr algn="l"/>
            <a:r>
              <a:rPr sz="2300" b="0" i="0">
                <a:solidFill>
                  <a:srgbClr val="002060"/>
                </a:solidFill>
                <a:latin typeface="Leelawadee"/>
              </a:rPr>
              <a:t>MODULE 6</a:t>
            </a:r>
          </a:p>
        </p:txBody>
      </p:sp>
      <p:sp>
        <p:nvSpPr>
          <p:cNvPr id="5" name="TextBox 4"/>
          <p:cNvSpPr txBox="1"/>
          <p:nvPr/>
        </p:nvSpPr>
        <p:spPr>
          <a:xfrm>
            <a:off x="457200" y="1965960"/>
            <a:ext cx="11247120" cy="1737360"/>
          </a:xfrm>
          <a:prstGeom prst="rect">
            <a:avLst/>
          </a:prstGeom>
          <a:noFill/>
        </p:spPr>
        <p:txBody>
          <a:bodyPr wrap="square" anchor="t" lIns="0" rIns="0" tIns="0" bIns="0">
            <a:spAutoFit/>
          </a:bodyPr>
          <a:lstStyle/>
          <a:p>
            <a:pPr algn="l"/>
            <a:r>
              <a:rPr sz="4000" b="1" i="0">
                <a:solidFill>
                  <a:srgbClr val="D1282E"/>
                </a:solidFill>
                <a:latin typeface="Leelawadee"/>
              </a:rPr>
              <a:t>Indexing and Query Performance</a:t>
            </a:r>
          </a:p>
        </p:txBody>
      </p:sp>
      <p:sp>
        <p:nvSpPr>
          <p:cNvPr id="6" name="TextBox 5"/>
          <p:cNvSpPr txBox="1"/>
          <p:nvPr/>
        </p:nvSpPr>
        <p:spPr>
          <a:xfrm>
            <a:off x="457200" y="3886200"/>
            <a:ext cx="10058400" cy="777240"/>
          </a:xfrm>
          <a:prstGeom prst="rect">
            <a:avLst/>
          </a:prstGeom>
          <a:noFill/>
        </p:spPr>
        <p:txBody>
          <a:bodyPr wrap="square" anchor="t" lIns="0" rIns="0" tIns="0" bIns="0">
            <a:spAutoFit/>
          </a:bodyPr>
          <a:lstStyle/>
          <a:p>
            <a:pPr algn="l"/>
            <a:r>
              <a:rPr sz="1800" b="0" i="0">
                <a:solidFill>
                  <a:srgbClr val="002060"/>
                </a:solidFill>
                <a:latin typeface="Nirmala UI"/>
              </a:rPr>
              <a:t>An index trades storage and write cost for faster access to selected data</a:t>
            </a:r>
          </a:p>
        </p:txBody>
      </p:sp>
      <p:sp>
        <p:nvSpPr>
          <p:cNvPr id="7" name="Rounded Rectangle 6"/>
          <p:cNvSpPr/>
          <p:nvPr/>
        </p:nvSpPr>
        <p:spPr>
          <a:xfrm>
            <a:off x="457200" y="4709160"/>
            <a:ext cx="2139696" cy="822960"/>
          </a:xfrm>
          <a:prstGeom prst="roundRect">
            <a:avLst>
              <a:gd name="adj" fmla="val 12000"/>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2064" y="4709160"/>
            <a:ext cx="2029968" cy="822960"/>
          </a:xfrm>
          <a:prstGeom prst="rect">
            <a:avLst/>
          </a:prstGeom>
          <a:noFill/>
        </p:spPr>
        <p:txBody>
          <a:bodyPr wrap="square" anchor="ctr" lIns="0" rIns="0" tIns="0" bIns="0">
            <a:spAutoFit/>
          </a:bodyPr>
          <a:lstStyle/>
          <a:p>
            <a:pPr algn="ctr"/>
            <a:r>
              <a:rPr sz="1500" b="1" i="0">
                <a:solidFill>
                  <a:srgbClr val="FFFFFF"/>
                </a:solidFill>
                <a:latin typeface="Nirmala UI"/>
              </a:rPr>
              <a:t>How Indexes Work</a:t>
            </a:r>
          </a:p>
        </p:txBody>
      </p:sp>
      <p:sp>
        <p:nvSpPr>
          <p:cNvPr id="9" name="Rounded Rectangle 8"/>
          <p:cNvSpPr/>
          <p:nvPr/>
        </p:nvSpPr>
        <p:spPr>
          <a:xfrm>
            <a:off x="2734056" y="4709160"/>
            <a:ext cx="2139696" cy="822960"/>
          </a:xfrm>
          <a:prstGeom prst="roundRect">
            <a:avLst>
              <a:gd name="adj" fmla="val 12000"/>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88920" y="4709160"/>
            <a:ext cx="2029968" cy="822960"/>
          </a:xfrm>
          <a:prstGeom prst="rect">
            <a:avLst/>
          </a:prstGeom>
          <a:noFill/>
        </p:spPr>
        <p:txBody>
          <a:bodyPr wrap="square" anchor="ctr" lIns="0" rIns="0" tIns="0" bIns="0">
            <a:spAutoFit/>
          </a:bodyPr>
          <a:lstStyle/>
          <a:p>
            <a:pPr algn="ctr"/>
            <a:r>
              <a:rPr sz="1500" b="1" i="0">
                <a:solidFill>
                  <a:srgbClr val="FFFFFF"/>
                </a:solidFill>
                <a:latin typeface="Nirmala UI"/>
              </a:rPr>
              <a:t>Compound Indexes</a:t>
            </a:r>
          </a:p>
        </p:txBody>
      </p:sp>
      <p:sp>
        <p:nvSpPr>
          <p:cNvPr id="11" name="Rounded Rectangle 10"/>
          <p:cNvSpPr/>
          <p:nvPr/>
        </p:nvSpPr>
        <p:spPr>
          <a:xfrm>
            <a:off x="5010912" y="4709160"/>
            <a:ext cx="2139696" cy="822960"/>
          </a:xfrm>
          <a:prstGeom prst="roundRect">
            <a:avLst>
              <a:gd name="adj" fmla="val 12000"/>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65776" y="4709160"/>
            <a:ext cx="2029968" cy="822960"/>
          </a:xfrm>
          <a:prstGeom prst="rect">
            <a:avLst/>
          </a:prstGeom>
          <a:noFill/>
        </p:spPr>
        <p:txBody>
          <a:bodyPr wrap="square" anchor="ctr" lIns="0" rIns="0" tIns="0" bIns="0">
            <a:spAutoFit/>
          </a:bodyPr>
          <a:lstStyle/>
          <a:p>
            <a:pPr algn="ctr"/>
            <a:r>
              <a:rPr sz="1500" b="1" i="0">
                <a:solidFill>
                  <a:srgbClr val="FFFFFF"/>
                </a:solidFill>
                <a:latin typeface="Nirmala UI"/>
              </a:rPr>
              <a:t>Specialized Index Types</a:t>
            </a:r>
          </a:p>
        </p:txBody>
      </p:sp>
      <p:sp>
        <p:nvSpPr>
          <p:cNvPr id="13" name="Rounded Rectangle 12"/>
          <p:cNvSpPr/>
          <p:nvPr/>
        </p:nvSpPr>
        <p:spPr>
          <a:xfrm>
            <a:off x="7287768" y="4709160"/>
            <a:ext cx="2139696" cy="822960"/>
          </a:xfrm>
          <a:prstGeom prst="roundRect">
            <a:avLst>
              <a:gd name="adj" fmla="val 12000"/>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42632" y="4709160"/>
            <a:ext cx="2029968" cy="822960"/>
          </a:xfrm>
          <a:prstGeom prst="rect">
            <a:avLst/>
          </a:prstGeom>
          <a:noFill/>
        </p:spPr>
        <p:txBody>
          <a:bodyPr wrap="square" anchor="ctr" lIns="0" rIns="0" tIns="0" bIns="0">
            <a:spAutoFit/>
          </a:bodyPr>
          <a:lstStyle/>
          <a:p>
            <a:pPr algn="ctr"/>
            <a:r>
              <a:rPr sz="1500" b="1" i="0">
                <a:solidFill>
                  <a:srgbClr val="FFFFFF"/>
                </a:solidFill>
                <a:latin typeface="Nirmala UI"/>
              </a:rPr>
              <a:t>Covered Queries &amp; Selectivity</a:t>
            </a:r>
          </a:p>
        </p:txBody>
      </p:sp>
      <p:sp>
        <p:nvSpPr>
          <p:cNvPr id="15" name="Rounded Rectangle 14"/>
          <p:cNvSpPr/>
          <p:nvPr/>
        </p:nvSpPr>
        <p:spPr>
          <a:xfrm>
            <a:off x="9564624" y="4709160"/>
            <a:ext cx="2139696" cy="822960"/>
          </a:xfrm>
          <a:prstGeom prst="roundRect">
            <a:avLst>
              <a:gd name="adj" fmla="val 12000"/>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19488" y="4709160"/>
            <a:ext cx="2029968" cy="822960"/>
          </a:xfrm>
          <a:prstGeom prst="rect">
            <a:avLst/>
          </a:prstGeom>
          <a:noFill/>
        </p:spPr>
        <p:txBody>
          <a:bodyPr wrap="square" anchor="ctr" lIns="0" rIns="0" tIns="0" bIns="0">
            <a:spAutoFit/>
          </a:bodyPr>
          <a:lstStyle/>
          <a:p>
            <a:pPr algn="ctr"/>
            <a:r>
              <a:rPr sz="1500" b="1" i="0">
                <a:solidFill>
                  <a:srgbClr val="FFFFFF"/>
                </a:solidFill>
                <a:latin typeface="Nirmala UI"/>
              </a:rPr>
              <a:t>Common Indexing Mistakes</a:t>
            </a:r>
          </a:p>
        </p:txBody>
      </p:sp>
      <p:sp>
        <p:nvSpPr>
          <p:cNvPr id="17" name="TextBox 16"/>
          <p:cNvSpPr txBox="1"/>
          <p:nvPr/>
        </p:nvSpPr>
        <p:spPr>
          <a:xfrm>
            <a:off x="457200" y="6172200"/>
            <a:ext cx="7525512" cy="365760"/>
          </a:xfrm>
          <a:prstGeom prst="rect">
            <a:avLst/>
          </a:prstGeom>
          <a:noFill/>
        </p:spPr>
        <p:txBody>
          <a:bodyPr wrap="square" anchor="ctr" lIns="0" rIns="0" tIns="0" bIns="0">
            <a:spAutoFit/>
          </a:bodyPr>
          <a:lstStyle/>
          <a:p>
            <a:pPr algn="l"/>
            <a:r>
              <a:rPr sz="1400" b="0" i="0">
                <a:solidFill>
                  <a:srgbClr val="595959"/>
                </a:solidFill>
                <a:latin typeface="Nirmala UI"/>
              </a:rPr>
              <a:t>MASTERING MONGODB  •  MODULE 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MODULE LEARNING OBJECTIVES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357182"/>
            <a:ext cx="237744" cy="237744"/>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57182"/>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338894"/>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YOU WILL BE ABLE TO</a:t>
            </a:r>
          </a:p>
        </p:txBody>
      </p:sp>
      <p:sp>
        <p:nvSpPr>
          <p:cNvPr id="7" name="TextBox 6"/>
          <p:cNvSpPr txBox="1"/>
          <p:nvPr/>
        </p:nvSpPr>
        <p:spPr>
          <a:xfrm>
            <a:off x="457200" y="1741230"/>
            <a:ext cx="11247120" cy="3942468"/>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0" i="0">
                <a:solidFill>
                  <a:srgbClr val="000000"/>
                </a:solidFill>
                <a:latin typeface="Nirmala UI"/>
              </a:rPr>
              <a:t>Recognize queries that need indexes</a:t>
            </a:r>
          </a:p>
          <a:p>
            <a:pPr>
              <a:spcBef>
                <a:spcPts val="0"/>
              </a:spcBef>
              <a:spcAft>
                <a:spcPts val="769"/>
              </a:spcAft>
            </a:pPr>
            <a:r>
              <a:rPr sz="2000" b="0" i="0">
                <a:solidFill>
                  <a:srgbClr val="000000"/>
                </a:solidFill>
                <a:latin typeface="Nirmala UI"/>
              </a:rPr>
              <a:t>•  </a:t>
            </a:r>
            <a:r>
              <a:rPr sz="2000" b="0" i="0">
                <a:solidFill>
                  <a:srgbClr val="000000"/>
                </a:solidFill>
                <a:latin typeface="Nirmala UI"/>
              </a:rPr>
              <a:t>Create, inspect, hide, and remove indexes</a:t>
            </a:r>
          </a:p>
          <a:p>
            <a:pPr>
              <a:spcBef>
                <a:spcPts val="0"/>
              </a:spcBef>
              <a:spcAft>
                <a:spcPts val="769"/>
              </a:spcAft>
            </a:pPr>
            <a:r>
              <a:rPr sz="2000" b="0" i="0">
                <a:solidFill>
                  <a:srgbClr val="000000"/>
                </a:solidFill>
                <a:latin typeface="Nirmala UI"/>
              </a:rPr>
              <a:t>•  </a:t>
            </a:r>
            <a:r>
              <a:rPr sz="2000" b="0" i="0">
                <a:solidFill>
                  <a:srgbClr val="000000"/>
                </a:solidFill>
                <a:latin typeface="Nirmala UI"/>
              </a:rPr>
              <a:t>Design compound indexes around query shapes</a:t>
            </a:r>
          </a:p>
          <a:p>
            <a:pPr>
              <a:spcBef>
                <a:spcPts val="0"/>
              </a:spcBef>
              <a:spcAft>
                <a:spcPts val="769"/>
              </a:spcAft>
            </a:pPr>
            <a:r>
              <a:rPr sz="2000" b="0" i="0">
                <a:solidFill>
                  <a:srgbClr val="000000"/>
                </a:solidFill>
                <a:latin typeface="Nirmala UI"/>
              </a:rPr>
              <a:t>•  </a:t>
            </a:r>
            <a:r>
              <a:rPr sz="2000" b="0" i="0">
                <a:solidFill>
                  <a:srgbClr val="000000"/>
                </a:solidFill>
                <a:latin typeface="Nirmala UI"/>
              </a:rPr>
              <a:t>Apply Equality–Sort–Range as a starting guideline</a:t>
            </a:r>
          </a:p>
          <a:p>
            <a:pPr>
              <a:spcBef>
                <a:spcPts val="0"/>
              </a:spcBef>
              <a:spcAft>
                <a:spcPts val="769"/>
              </a:spcAft>
            </a:pPr>
            <a:r>
              <a:rPr sz="2000" b="0" i="0">
                <a:solidFill>
                  <a:srgbClr val="000000"/>
                </a:solidFill>
                <a:latin typeface="Nirmala UI"/>
              </a:rPr>
              <a:t>•  </a:t>
            </a:r>
            <a:r>
              <a:rPr sz="2000" b="0" i="0">
                <a:solidFill>
                  <a:srgbClr val="000000"/>
                </a:solidFill>
                <a:latin typeface="Nirmala UI"/>
              </a:rPr>
              <a:t>Choose specialized index types appropriately</a:t>
            </a:r>
          </a:p>
          <a:p>
            <a:pPr>
              <a:spcBef>
                <a:spcPts val="0"/>
              </a:spcBef>
              <a:spcAft>
                <a:spcPts val="769"/>
              </a:spcAft>
            </a:pPr>
            <a:r>
              <a:rPr sz="2000" b="0" i="0">
                <a:solidFill>
                  <a:srgbClr val="000000"/>
                </a:solidFill>
                <a:latin typeface="Nirmala UI"/>
              </a:rPr>
              <a:t>•  </a:t>
            </a:r>
            <a:r>
              <a:rPr sz="2000" b="0" i="0">
                <a:solidFill>
                  <a:srgbClr val="000000"/>
                </a:solidFill>
                <a:latin typeface="Nirmala UI"/>
              </a:rPr>
              <a:t>Read essential </a:t>
            </a:r>
            <a:r>
              <a:rPr sz="2000" b="0" i="0">
                <a:solidFill>
                  <a:srgbClr val="000000"/>
                </a:solidFill>
                <a:latin typeface="Consolas"/>
              </a:rPr>
              <a:t>explain()</a:t>
            </a:r>
            <a:r>
              <a:rPr sz="2000" b="0" i="0">
                <a:solidFill>
                  <a:srgbClr val="000000"/>
                </a:solidFill>
                <a:latin typeface="Nirmala UI"/>
              </a:rPr>
              <a:t> statistics</a:t>
            </a:r>
          </a:p>
          <a:p>
            <a:pPr>
              <a:spcBef>
                <a:spcPts val="0"/>
              </a:spcBef>
              <a:spcAft>
                <a:spcPts val="769"/>
              </a:spcAft>
            </a:pPr>
            <a:r>
              <a:rPr sz="2000" b="0" i="0">
                <a:solidFill>
                  <a:srgbClr val="000000"/>
                </a:solidFill>
                <a:latin typeface="Nirmala UI"/>
              </a:rPr>
              <a:t>•  </a:t>
            </a:r>
            <a:r>
              <a:rPr sz="2000" b="0" i="0">
                <a:solidFill>
                  <a:srgbClr val="000000"/>
                </a:solidFill>
                <a:latin typeface="Nirmala UI"/>
              </a:rPr>
              <a:t>Compare collection scans with index scans</a:t>
            </a:r>
          </a:p>
          <a:p>
            <a:pPr>
              <a:spcBef>
                <a:spcPts val="0"/>
              </a:spcBef>
              <a:spcAft>
                <a:spcPts val="769"/>
              </a:spcAft>
            </a:pPr>
            <a:r>
              <a:rPr sz="2000" b="0" i="0">
                <a:solidFill>
                  <a:srgbClr val="000000"/>
                </a:solidFill>
                <a:latin typeface="Nirmala UI"/>
              </a:rPr>
              <a:t>•  </a:t>
            </a:r>
            <a:r>
              <a:rPr sz="2000" b="0" i="0">
                <a:solidFill>
                  <a:srgbClr val="000000"/>
                </a:solidFill>
                <a:latin typeface="Nirmala UI"/>
              </a:rPr>
              <a:t>Remove unnecessary index overhead</a:t>
            </a:r>
          </a:p>
          <a:p>
            <a:pPr>
              <a:spcBef>
                <a:spcPts val="0"/>
              </a:spcBef>
              <a:spcAft>
                <a:spcPts val="769"/>
              </a:spcAft>
            </a:pPr>
            <a:r>
              <a:rPr sz="2000" b="0" i="0">
                <a:solidFill>
                  <a:srgbClr val="000000"/>
                </a:solidFill>
                <a:latin typeface="Nirmala UI"/>
              </a:rPr>
              <a:t>•  </a:t>
            </a:r>
            <a:r>
              <a:rPr sz="2000" b="0" i="0">
                <a:solidFill>
                  <a:srgbClr val="000000"/>
                </a:solidFill>
                <a:latin typeface="Nirmala UI"/>
              </a:rPr>
              <a:t>Recommend indexes based on evidence</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INTRODUCTION</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574410"/>
            <a:ext cx="237744" cy="237744"/>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74410"/>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556122"/>
            <a:ext cx="351129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958458"/>
            <a:ext cx="3840480" cy="707839"/>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An index is a data structure that helps MongoDB locate documents without scanning every document in a collection.</a:t>
            </a:r>
          </a:p>
        </p:txBody>
      </p:sp>
      <p:sp>
        <p:nvSpPr>
          <p:cNvPr id="8" name="TextBox 7"/>
          <p:cNvSpPr txBox="1"/>
          <p:nvPr/>
        </p:nvSpPr>
        <p:spPr>
          <a:xfrm>
            <a:off x="457200" y="2757737"/>
            <a:ext cx="3840480" cy="506671"/>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Without a suitable index, MongoDB may perform a collection scan:</a:t>
            </a:r>
          </a:p>
        </p:txBody>
      </p:sp>
      <p:sp>
        <p:nvSpPr>
          <p:cNvPr id="9" name="TextBox 8"/>
          <p:cNvSpPr txBox="1"/>
          <p:nvPr/>
        </p:nvSpPr>
        <p:spPr>
          <a:xfrm>
            <a:off x="457200" y="3355848"/>
            <a:ext cx="3840480" cy="305503"/>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With a suitable index:</a:t>
            </a:r>
          </a:p>
        </p:txBody>
      </p:sp>
      <p:sp>
        <p:nvSpPr>
          <p:cNvPr id="10" name="TextBox 9"/>
          <p:cNvSpPr txBox="1"/>
          <p:nvPr/>
        </p:nvSpPr>
        <p:spPr>
          <a:xfrm>
            <a:off x="457200" y="3752791"/>
            <a:ext cx="3840480" cy="506671"/>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Indexes can greatly improve query performance, but they also:</a:t>
            </a:r>
          </a:p>
        </p:txBody>
      </p:sp>
      <p:sp>
        <p:nvSpPr>
          <p:cNvPr id="11" name="Rounded Rectangle 10"/>
          <p:cNvSpPr/>
          <p:nvPr/>
        </p:nvSpPr>
        <p:spPr>
          <a:xfrm>
            <a:off x="457200" y="4350902"/>
            <a:ext cx="1847088" cy="653796"/>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 y="4442342"/>
            <a:ext cx="1591056" cy="489204"/>
          </a:xfrm>
          <a:prstGeom prst="rect">
            <a:avLst/>
          </a:prstGeom>
          <a:noFill/>
        </p:spPr>
        <p:txBody>
          <a:bodyPr wrap="square" anchor="t" lIns="0" rIns="0" tIns="0" bIns="0">
            <a:spAutoFit/>
          </a:bodyPr>
          <a:lstStyle/>
          <a:p>
            <a:pPr>
              <a:spcBef>
                <a:spcPts val="0"/>
              </a:spcBef>
              <a:spcAft>
                <a:spcPts val="0"/>
              </a:spcAft>
            </a:pPr>
            <a:r>
              <a:rPr sz="900" b="0" i="0">
                <a:solidFill>
                  <a:srgbClr val="000000"/>
                </a:solidFill>
                <a:latin typeface="Consolas"/>
              </a:rPr>
              <a:t>Examine every document → test filter → return matches</a:t>
            </a:r>
          </a:p>
        </p:txBody>
      </p:sp>
      <p:sp>
        <p:nvSpPr>
          <p:cNvPr id="13" name="Rounded Rectangle 12"/>
          <p:cNvSpPr/>
          <p:nvPr/>
        </p:nvSpPr>
        <p:spPr>
          <a:xfrm>
            <a:off x="2450592" y="4350902"/>
            <a:ext cx="1847088" cy="653796"/>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78608" y="4442342"/>
            <a:ext cx="1591056" cy="489204"/>
          </a:xfrm>
          <a:prstGeom prst="rect">
            <a:avLst/>
          </a:prstGeom>
          <a:noFill/>
        </p:spPr>
        <p:txBody>
          <a:bodyPr wrap="square" anchor="t" lIns="0" rIns="0" tIns="0" bIns="0">
            <a:spAutoFit/>
          </a:bodyPr>
          <a:lstStyle/>
          <a:p>
            <a:pPr>
              <a:spcBef>
                <a:spcPts val="0"/>
              </a:spcBef>
              <a:spcAft>
                <a:spcPts val="0"/>
              </a:spcAft>
            </a:pPr>
            <a:r>
              <a:rPr sz="900" b="0" i="0">
                <a:solidFill>
                  <a:srgbClr val="000000"/>
                </a:solidFill>
                <a:latin typeface="Consolas"/>
              </a:rPr>
              <a:t>Search index entries → locate matching documents → return results</a:t>
            </a:r>
          </a:p>
        </p:txBody>
      </p:sp>
      <p:sp>
        <p:nvSpPr>
          <p:cNvPr id="15" name="Rectangle 14"/>
          <p:cNvSpPr/>
          <p:nvPr/>
        </p:nvSpPr>
        <p:spPr>
          <a:xfrm>
            <a:off x="4471035" y="1868360"/>
            <a:ext cx="7242809" cy="3377311"/>
          </a:xfrm>
          <a:prstGeom prst="rect">
            <a:avLst/>
          </a:prstGeom>
          <a:solidFill>
            <a:srgbClr val="FFFFFF"/>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2"/>
          <a:stretch>
            <a:fillRect/>
          </a:stretch>
        </p:blipFill>
        <p:spPr>
          <a:xfrm>
            <a:off x="4480560" y="1877885"/>
            <a:ext cx="7223759" cy="3358261"/>
          </a:xfrm>
          <a:prstGeom prst="rect">
            <a:avLst/>
          </a:prstGeom>
        </p:spPr>
      </p:pic>
      <p:sp>
        <p:nvSpPr>
          <p:cNvPr id="17" name="Rectangle 1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INTRODUCTION (CONT.)</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840467"/>
            <a:ext cx="237744" cy="237744"/>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840467"/>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822179"/>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224515"/>
            <a:ext cx="11247120" cy="1431228"/>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  </a:t>
            </a:r>
            <a:r>
              <a:rPr sz="1600" b="0" i="0">
                <a:solidFill>
                  <a:srgbClr val="000000"/>
                </a:solidFill>
                <a:latin typeface="Nirmala UI"/>
              </a:rPr>
              <a:t>Consume disk and memory</a:t>
            </a:r>
          </a:p>
          <a:p>
            <a:pPr>
              <a:spcBef>
                <a:spcPts val="0"/>
              </a:spcBef>
              <a:spcAft>
                <a:spcPts val="615"/>
              </a:spcAft>
            </a:pPr>
            <a:r>
              <a:rPr sz="1600" b="0" i="0">
                <a:solidFill>
                  <a:srgbClr val="000000"/>
                </a:solidFill>
                <a:latin typeface="Nirmala UI"/>
              </a:rPr>
              <a:t>•  </a:t>
            </a:r>
            <a:r>
              <a:rPr sz="1600" b="0" i="0">
                <a:solidFill>
                  <a:srgbClr val="000000"/>
                </a:solidFill>
                <a:latin typeface="Nirmala UI"/>
              </a:rPr>
              <a:t>Add work to inserts, updates and deletes</a:t>
            </a:r>
          </a:p>
          <a:p>
            <a:pPr>
              <a:spcBef>
                <a:spcPts val="0"/>
              </a:spcBef>
              <a:spcAft>
                <a:spcPts val="615"/>
              </a:spcAft>
            </a:pPr>
            <a:r>
              <a:rPr sz="1600" b="0" i="0">
                <a:solidFill>
                  <a:srgbClr val="000000"/>
                </a:solidFill>
                <a:latin typeface="Nirmala UI"/>
              </a:rPr>
              <a:t>•  </a:t>
            </a:r>
            <a:r>
              <a:rPr sz="1600" b="0" i="0">
                <a:solidFill>
                  <a:srgbClr val="000000"/>
                </a:solidFill>
                <a:latin typeface="Nirmala UI"/>
              </a:rPr>
              <a:t>Require monitoring and maintenance</a:t>
            </a:r>
          </a:p>
          <a:p>
            <a:pPr>
              <a:spcBef>
                <a:spcPts val="0"/>
              </a:spcBef>
              <a:spcAft>
                <a:spcPts val="615"/>
              </a:spcAft>
            </a:pPr>
            <a:r>
              <a:rPr sz="1600" b="0" i="0">
                <a:solidFill>
                  <a:srgbClr val="000000"/>
                </a:solidFill>
                <a:latin typeface="Nirmala UI"/>
              </a:rPr>
              <a:t>•  </a:t>
            </a:r>
            <a:r>
              <a:rPr sz="1600" b="0" i="0">
                <a:solidFill>
                  <a:srgbClr val="000000"/>
                </a:solidFill>
                <a:latin typeface="Nirmala UI"/>
              </a:rPr>
              <a:t>Must be designed around real query patterns</a:t>
            </a:r>
          </a:p>
        </p:txBody>
      </p:sp>
      <p:sp>
        <p:nvSpPr>
          <p:cNvPr id="8" name="TextBox 7"/>
          <p:cNvSpPr txBox="1"/>
          <p:nvPr/>
        </p:nvSpPr>
        <p:spPr>
          <a:xfrm>
            <a:off x="457200" y="3747183"/>
            <a:ext cx="11247120" cy="392097"/>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The core principle is:</a:t>
            </a:r>
          </a:p>
        </p:txBody>
      </p:sp>
      <p:sp>
        <p:nvSpPr>
          <p:cNvPr id="9" name="TextBox 8"/>
          <p:cNvSpPr txBox="1"/>
          <p:nvPr/>
        </p:nvSpPr>
        <p:spPr>
          <a:xfrm>
            <a:off x="457200" y="4230720"/>
            <a:ext cx="11247120" cy="392097"/>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We will continue using:</a:t>
            </a:r>
          </a:p>
        </p:txBody>
      </p:sp>
      <p:sp>
        <p:nvSpPr>
          <p:cNvPr id="10" name="Rounded Rectangle 9"/>
          <p:cNvSpPr/>
          <p:nvPr/>
        </p:nvSpPr>
        <p:spPr>
          <a:xfrm>
            <a:off x="457200" y="4714257"/>
            <a:ext cx="11247120" cy="486156"/>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 y="4805697"/>
            <a:ext cx="10991088" cy="321564"/>
          </a:xfrm>
          <a:prstGeom prst="rect">
            <a:avLst/>
          </a:prstGeom>
          <a:noFill/>
        </p:spPr>
        <p:txBody>
          <a:bodyPr wrap="square" anchor="t" lIns="0" rIns="0" tIns="0" bIns="0">
            <a:spAutoFit/>
          </a:bodyPr>
          <a:lstStyle/>
          <a:p>
            <a:pPr>
              <a:spcBef>
                <a:spcPts val="0"/>
              </a:spcBef>
              <a:spcAft>
                <a:spcPts val="0"/>
              </a:spcAft>
            </a:pPr>
            <a:r>
              <a:rPr sz="1700" b="0" i="0">
                <a:solidFill>
                  <a:srgbClr val="000000"/>
                </a:solidFill>
                <a:latin typeface="Consolas"/>
              </a:rPr>
              <a:t>use training_store</a:t>
            </a:r>
          </a:p>
        </p:txBody>
      </p:sp>
      <p:sp>
        <p:nvSpPr>
          <p:cNvPr id="12" name="Rounded Rectangle 11"/>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Create indexes for important query shapes, not merely for every available field.</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HOW AN INDEX WORKS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744884"/>
            <a:ext cx="237744" cy="237744"/>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744884"/>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726596"/>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128932"/>
            <a:ext cx="11247120" cy="392097"/>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Suppose the </a:t>
            </a:r>
            <a:r>
              <a:rPr sz="1600" b="0" i="0">
                <a:solidFill>
                  <a:srgbClr val="000000"/>
                </a:solidFill>
                <a:latin typeface="Consolas"/>
              </a:rPr>
              <a:t>products</a:t>
            </a:r>
            <a:r>
              <a:rPr sz="1600" b="0" i="0">
                <a:solidFill>
                  <a:srgbClr val="000000"/>
                </a:solidFill>
                <a:latin typeface="Nirmala UI"/>
              </a:rPr>
              <a:t> collection contains one million documents, and the application runs:</a:t>
            </a:r>
          </a:p>
        </p:txBody>
      </p:sp>
      <p:sp>
        <p:nvSpPr>
          <p:cNvPr id="8" name="TextBox 7"/>
          <p:cNvSpPr txBox="1"/>
          <p:nvPr/>
        </p:nvSpPr>
        <p:spPr>
          <a:xfrm>
            <a:off x="457200" y="2612469"/>
            <a:ext cx="11247120" cy="392097"/>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Without an index on </a:t>
            </a:r>
            <a:r>
              <a:rPr sz="1600" b="0" i="0">
                <a:solidFill>
                  <a:srgbClr val="000000"/>
                </a:solidFill>
                <a:latin typeface="Consolas"/>
              </a:rPr>
              <a:t>sku</a:t>
            </a:r>
            <a:r>
              <a:rPr sz="1600" b="0" i="0">
                <a:solidFill>
                  <a:srgbClr val="000000"/>
                </a:solidFill>
                <a:latin typeface="Nirmala UI"/>
              </a:rPr>
              <a:t>, MongoDB may inspect every product until it finds the match.</a:t>
            </a:r>
          </a:p>
        </p:txBody>
      </p:sp>
      <p:sp>
        <p:nvSpPr>
          <p:cNvPr id="9" name="TextBox 8"/>
          <p:cNvSpPr txBox="1"/>
          <p:nvPr/>
        </p:nvSpPr>
        <p:spPr>
          <a:xfrm>
            <a:off x="457200" y="3096006"/>
            <a:ext cx="11247120" cy="392097"/>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Create an index:</a:t>
            </a:r>
          </a:p>
        </p:txBody>
      </p:sp>
      <p:sp>
        <p:nvSpPr>
          <p:cNvPr id="10" name="TextBox 9"/>
          <p:cNvSpPr txBox="1"/>
          <p:nvPr/>
        </p:nvSpPr>
        <p:spPr>
          <a:xfrm>
            <a:off x="457200" y="3579543"/>
            <a:ext cx="11247120" cy="660321"/>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MongoDB creates an ordered structure containing the indexed values and references to their documents.</a:t>
            </a:r>
          </a:p>
        </p:txBody>
      </p:sp>
      <p:sp>
        <p:nvSpPr>
          <p:cNvPr id="11" name="Rounded Rectangle 10"/>
          <p:cNvSpPr/>
          <p:nvPr/>
        </p:nvSpPr>
        <p:spPr>
          <a:xfrm>
            <a:off x="457200" y="4331304"/>
            <a:ext cx="5550408" cy="804672"/>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 y="4422744"/>
            <a:ext cx="5294376" cy="640080"/>
          </a:xfrm>
          <a:prstGeom prst="rect">
            <a:avLst/>
          </a:prstGeom>
          <a:noFill/>
        </p:spPr>
        <p:txBody>
          <a:bodyPr wrap="square" anchor="t" lIns="0" rIns="0" tIns="0" bIns="0">
            <a:spAutoFit/>
          </a:bodyPr>
          <a:lstStyle/>
          <a:p>
            <a:pPr>
              <a:spcBef>
                <a:spcPts val="0"/>
              </a:spcBef>
              <a:spcAft>
                <a:spcPts val="0"/>
              </a:spcAft>
            </a:pPr>
            <a:r>
              <a:rPr sz="1200" b="0" i="0">
                <a:solidFill>
                  <a:srgbClr val="000000"/>
                </a:solidFill>
                <a:latin typeface="Consolas"/>
              </a:rPr>
              <a:t>db.products.find({</a:t>
            </a:r>
          </a:p>
          <a:p>
            <a:pPr>
              <a:spcBef>
                <a:spcPts val="0"/>
              </a:spcBef>
              <a:spcAft>
                <a:spcPts val="0"/>
              </a:spcAft>
            </a:pPr>
            <a:r>
              <a:rPr sz="1200" b="0" i="0">
                <a:solidFill>
                  <a:srgbClr val="000000"/>
                </a:solidFill>
                <a:latin typeface="Consolas"/>
              </a:rPr>
              <a:t>  sku: "ELEC-1001"</a:t>
            </a:r>
          </a:p>
          <a:p>
            <a:pPr>
              <a:spcBef>
                <a:spcPts val="0"/>
              </a:spcBef>
              <a:spcAft>
                <a:spcPts val="0"/>
              </a:spcAft>
            </a:pPr>
            <a:r>
              <a:rPr sz="1200" b="0" i="0">
                <a:solidFill>
                  <a:srgbClr val="000000"/>
                </a:solidFill>
                <a:latin typeface="Consolas"/>
              </a:rPr>
              <a:t>})</a:t>
            </a:r>
          </a:p>
        </p:txBody>
      </p:sp>
      <p:sp>
        <p:nvSpPr>
          <p:cNvPr id="13" name="Rounded Rectangle 12"/>
          <p:cNvSpPr/>
          <p:nvPr/>
        </p:nvSpPr>
        <p:spPr>
          <a:xfrm>
            <a:off x="6153912" y="4331304"/>
            <a:ext cx="5550408" cy="804672"/>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81928" y="4422744"/>
            <a:ext cx="5294376" cy="640080"/>
          </a:xfrm>
          <a:prstGeom prst="rect">
            <a:avLst/>
          </a:prstGeom>
          <a:noFill/>
        </p:spPr>
        <p:txBody>
          <a:bodyPr wrap="square" anchor="t" lIns="0" rIns="0" tIns="0" bIns="0">
            <a:spAutoFit/>
          </a:bodyPr>
          <a:lstStyle/>
          <a:p>
            <a:pPr>
              <a:spcBef>
                <a:spcPts val="0"/>
              </a:spcBef>
              <a:spcAft>
                <a:spcPts val="0"/>
              </a:spcAft>
            </a:pPr>
            <a:r>
              <a:rPr sz="1200" b="0" i="0">
                <a:solidFill>
                  <a:srgbClr val="000000"/>
                </a:solidFill>
                <a:latin typeface="Consolas"/>
              </a:rPr>
              <a:t>db.products.createIndex({</a:t>
            </a:r>
          </a:p>
          <a:p>
            <a:pPr>
              <a:spcBef>
                <a:spcPts val="0"/>
              </a:spcBef>
              <a:spcAft>
                <a:spcPts val="0"/>
              </a:spcAft>
            </a:pPr>
            <a:r>
              <a:rPr sz="1200" b="0" i="0">
                <a:solidFill>
                  <a:srgbClr val="000000"/>
                </a:solidFill>
                <a:latin typeface="Consolas"/>
              </a:rPr>
              <a:t>  sku: 1</a:t>
            </a:r>
          </a:p>
          <a:p>
            <a:pPr>
              <a:spcBef>
                <a:spcPts val="0"/>
              </a:spcBef>
              <a:spcAft>
                <a:spcPts val="0"/>
              </a:spcAft>
            </a:pPr>
            <a:r>
              <a:rPr sz="1200" b="0" i="0">
                <a:solidFill>
                  <a:srgbClr val="000000"/>
                </a:solidFill>
                <a:latin typeface="Consolas"/>
              </a:rPr>
              <a:t>})</a:t>
            </a:r>
          </a:p>
        </p:txBody>
      </p:sp>
      <p:sp>
        <p:nvSpPr>
          <p:cNvPr id="15" name="Rectangle 1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HOW AN INDEX WORKS (CONT.)</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372790"/>
            <a:ext cx="237744" cy="237744"/>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372790"/>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354502"/>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756838"/>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MongoDB can search this structure instead of reading the entire collection.</a:t>
            </a:r>
          </a:p>
        </p:txBody>
      </p:sp>
      <p:sp>
        <p:nvSpPr>
          <p:cNvPr id="8" name="Rounded Rectangle 7"/>
          <p:cNvSpPr/>
          <p:nvPr/>
        </p:nvSpPr>
        <p:spPr>
          <a:xfrm>
            <a:off x="457200" y="3326970"/>
            <a:ext cx="11247120" cy="1341120"/>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5216" y="3418410"/>
            <a:ext cx="10991088" cy="1176528"/>
          </a:xfrm>
          <a:prstGeom prst="rect">
            <a:avLst/>
          </a:prstGeom>
          <a:noFill/>
        </p:spPr>
        <p:txBody>
          <a:bodyPr wrap="square" anchor="t" lIns="0" rIns="0" tIns="0" bIns="0">
            <a:spAutoFit/>
          </a:bodyPr>
          <a:lstStyle/>
          <a:p>
            <a:pPr>
              <a:spcBef>
                <a:spcPts val="0"/>
              </a:spcBef>
              <a:spcAft>
                <a:spcPts val="0"/>
              </a:spcAft>
            </a:pPr>
            <a:r>
              <a:rPr sz="1700" b="0" i="0">
                <a:solidFill>
                  <a:srgbClr val="000000"/>
                </a:solidFill>
                <a:latin typeface="Consolas"/>
              </a:rPr>
              <a:t>BOOK-1001  → Product document</a:t>
            </a:r>
          </a:p>
          <a:p>
            <a:pPr>
              <a:spcBef>
                <a:spcPts val="0"/>
              </a:spcBef>
              <a:spcAft>
                <a:spcPts val="0"/>
              </a:spcAft>
            </a:pPr>
            <a:r>
              <a:rPr sz="1700" b="0" i="0">
                <a:solidFill>
                  <a:srgbClr val="000000"/>
                </a:solidFill>
                <a:latin typeface="Consolas"/>
              </a:rPr>
              <a:t>BOOK-1002  → Product document</a:t>
            </a:r>
          </a:p>
          <a:p>
            <a:pPr>
              <a:spcBef>
                <a:spcPts val="0"/>
              </a:spcBef>
              <a:spcAft>
                <a:spcPts val="0"/>
              </a:spcAft>
            </a:pPr>
            <a:r>
              <a:rPr sz="1700" b="0" i="0">
                <a:solidFill>
                  <a:srgbClr val="000000"/>
                </a:solidFill>
                <a:latin typeface="Consolas"/>
              </a:rPr>
              <a:t>ELEC-1001  → Product document</a:t>
            </a:r>
          </a:p>
          <a:p>
            <a:pPr>
              <a:spcBef>
                <a:spcPts val="0"/>
              </a:spcBef>
              <a:spcAft>
                <a:spcPts val="0"/>
              </a:spcAft>
            </a:pPr>
            <a:r>
              <a:rPr sz="1700" b="0" i="0">
                <a:solidFill>
                  <a:srgbClr val="000000"/>
                </a:solidFill>
                <a:latin typeface="Consolas"/>
              </a:rPr>
              <a:t>ELEC-1002  → Product document</a:t>
            </a:r>
          </a:p>
        </p:txBody>
      </p:sp>
      <p:sp>
        <p:nvSpPr>
          <p:cNvPr id="10" name="Rectangle 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DEFAULT _ID INDEX</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654791"/>
            <a:ext cx="237744" cy="237744"/>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54791"/>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636503"/>
            <a:ext cx="351129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038839"/>
            <a:ext cx="3840480" cy="429846"/>
          </a:xfrm>
          <a:prstGeom prst="rect">
            <a:avLst/>
          </a:prstGeom>
          <a:noFill/>
        </p:spPr>
        <p:txBody>
          <a:bodyPr wrap="square" anchor="t" lIns="0" rIns="0" tIns="0" bIns="0">
            <a:spAutoFit/>
          </a:bodyPr>
          <a:lstStyle/>
          <a:p>
            <a:pPr>
              <a:spcBef>
                <a:spcPts val="0"/>
              </a:spcBef>
              <a:spcAft>
                <a:spcPts val="384"/>
              </a:spcAft>
            </a:pPr>
            <a:r>
              <a:rPr sz="1000" b="0" i="0">
                <a:solidFill>
                  <a:srgbClr val="000000"/>
                </a:solidFill>
                <a:latin typeface="Nirmala UI"/>
              </a:rPr>
              <a:t>Every standard MongoDB collection automatically receives a unique index on </a:t>
            </a:r>
            <a:r>
              <a:rPr sz="1000" b="0" i="0">
                <a:solidFill>
                  <a:srgbClr val="000000"/>
                </a:solidFill>
                <a:latin typeface="Consolas"/>
              </a:rPr>
              <a:t>_id</a:t>
            </a:r>
            <a:r>
              <a:rPr sz="1000" b="0" i="0">
                <a:solidFill>
                  <a:srgbClr val="000000"/>
                </a:solidFill>
                <a:latin typeface="Nirmala UI"/>
              </a:rPr>
              <a:t>:</a:t>
            </a:r>
          </a:p>
        </p:txBody>
      </p:sp>
      <p:sp>
        <p:nvSpPr>
          <p:cNvPr id="8" name="TextBox 7"/>
          <p:cNvSpPr txBox="1"/>
          <p:nvPr/>
        </p:nvSpPr>
        <p:spPr>
          <a:xfrm>
            <a:off x="457200" y="2560125"/>
            <a:ext cx="3840480" cy="262206"/>
          </a:xfrm>
          <a:prstGeom prst="rect">
            <a:avLst/>
          </a:prstGeom>
          <a:noFill/>
        </p:spPr>
        <p:txBody>
          <a:bodyPr wrap="square" anchor="t" lIns="0" rIns="0" tIns="0" bIns="0">
            <a:spAutoFit/>
          </a:bodyPr>
          <a:lstStyle/>
          <a:p>
            <a:pPr>
              <a:spcBef>
                <a:spcPts val="0"/>
              </a:spcBef>
              <a:spcAft>
                <a:spcPts val="384"/>
              </a:spcAft>
            </a:pPr>
            <a:r>
              <a:rPr sz="1000" b="0" i="0">
                <a:solidFill>
                  <a:srgbClr val="000000"/>
                </a:solidFill>
                <a:latin typeface="Nirmala UI"/>
              </a:rPr>
              <a:t>Therefore, this query is indexed automatically:</a:t>
            </a:r>
          </a:p>
        </p:txBody>
      </p:sp>
      <p:sp>
        <p:nvSpPr>
          <p:cNvPr id="9" name="TextBox 8"/>
          <p:cNvSpPr txBox="1"/>
          <p:nvPr/>
        </p:nvSpPr>
        <p:spPr>
          <a:xfrm>
            <a:off x="457200" y="2913771"/>
            <a:ext cx="3840480" cy="262206"/>
          </a:xfrm>
          <a:prstGeom prst="rect">
            <a:avLst/>
          </a:prstGeom>
          <a:noFill/>
        </p:spPr>
        <p:txBody>
          <a:bodyPr wrap="square" anchor="t" lIns="0" rIns="0" tIns="0" bIns="0">
            <a:spAutoFit/>
          </a:bodyPr>
          <a:lstStyle/>
          <a:p>
            <a:pPr>
              <a:spcBef>
                <a:spcPts val="0"/>
              </a:spcBef>
              <a:spcAft>
                <a:spcPts val="384"/>
              </a:spcAft>
            </a:pPr>
            <a:r>
              <a:rPr sz="1000" b="0" i="0">
                <a:solidFill>
                  <a:srgbClr val="000000"/>
                </a:solidFill>
                <a:latin typeface="Nirmala UI"/>
              </a:rPr>
              <a:t>The </a:t>
            </a:r>
            <a:r>
              <a:rPr sz="1000" b="0" i="0">
                <a:solidFill>
                  <a:srgbClr val="000000"/>
                </a:solidFill>
                <a:latin typeface="Consolas"/>
              </a:rPr>
              <a:t>_id</a:t>
            </a:r>
            <a:r>
              <a:rPr sz="1000" b="0" i="0">
                <a:solidFill>
                  <a:srgbClr val="000000"/>
                </a:solidFill>
                <a:latin typeface="Nirmala UI"/>
              </a:rPr>
              <a:t> index:</a:t>
            </a:r>
          </a:p>
        </p:txBody>
      </p:sp>
      <p:sp>
        <p:nvSpPr>
          <p:cNvPr id="10" name="TextBox 9"/>
          <p:cNvSpPr txBox="1"/>
          <p:nvPr/>
        </p:nvSpPr>
        <p:spPr>
          <a:xfrm>
            <a:off x="457200" y="3267417"/>
            <a:ext cx="3840480" cy="911664"/>
          </a:xfrm>
          <a:prstGeom prst="rect">
            <a:avLst/>
          </a:prstGeom>
          <a:noFill/>
        </p:spPr>
        <p:txBody>
          <a:bodyPr wrap="square" anchor="t" lIns="0" rIns="0" tIns="0" bIns="0">
            <a:spAutoFit/>
          </a:bodyPr>
          <a:lstStyle/>
          <a:p>
            <a:pPr>
              <a:spcBef>
                <a:spcPts val="0"/>
              </a:spcBef>
              <a:spcAft>
                <a:spcPts val="384"/>
              </a:spcAft>
            </a:pPr>
            <a:r>
              <a:rPr sz="1000" b="0" i="0">
                <a:solidFill>
                  <a:srgbClr val="000000"/>
                </a:solidFill>
                <a:latin typeface="Nirmala UI"/>
              </a:rPr>
              <a:t>•  </a:t>
            </a:r>
            <a:r>
              <a:rPr sz="1000" b="0" i="0">
                <a:solidFill>
                  <a:srgbClr val="000000"/>
                </a:solidFill>
                <a:latin typeface="Nirmala UI"/>
              </a:rPr>
              <a:t>Uniquely identifies documents</a:t>
            </a:r>
          </a:p>
          <a:p>
            <a:pPr>
              <a:spcBef>
                <a:spcPts val="0"/>
              </a:spcBef>
              <a:spcAft>
                <a:spcPts val="384"/>
              </a:spcAft>
            </a:pPr>
            <a:r>
              <a:rPr sz="1000" b="0" i="0">
                <a:solidFill>
                  <a:srgbClr val="000000"/>
                </a:solidFill>
                <a:latin typeface="Nirmala UI"/>
              </a:rPr>
              <a:t>•  </a:t>
            </a:r>
            <a:r>
              <a:rPr sz="1000" b="0" i="0">
                <a:solidFill>
                  <a:srgbClr val="000000"/>
                </a:solidFill>
                <a:latin typeface="Nirmala UI"/>
              </a:rPr>
              <a:t>Prevents duplicate </a:t>
            </a:r>
            <a:r>
              <a:rPr sz="1000" b="0" i="0">
                <a:solidFill>
                  <a:srgbClr val="000000"/>
                </a:solidFill>
                <a:latin typeface="Consolas"/>
              </a:rPr>
              <a:t>_id</a:t>
            </a:r>
            <a:r>
              <a:rPr sz="1000" b="0" i="0">
                <a:solidFill>
                  <a:srgbClr val="000000"/>
                </a:solidFill>
                <a:latin typeface="Nirmala UI"/>
              </a:rPr>
              <a:t> values</a:t>
            </a:r>
          </a:p>
          <a:p>
            <a:pPr>
              <a:spcBef>
                <a:spcPts val="0"/>
              </a:spcBef>
              <a:spcAft>
                <a:spcPts val="384"/>
              </a:spcAft>
            </a:pPr>
            <a:r>
              <a:rPr sz="1000" b="0" i="0">
                <a:solidFill>
                  <a:srgbClr val="000000"/>
                </a:solidFill>
                <a:latin typeface="Nirmala UI"/>
              </a:rPr>
              <a:t>•  </a:t>
            </a:r>
            <a:r>
              <a:rPr sz="1000" b="0" i="0">
                <a:solidFill>
                  <a:srgbClr val="000000"/>
                </a:solidFill>
                <a:latin typeface="Nirmala UI"/>
              </a:rPr>
              <a:t>Cannot normally be removed</a:t>
            </a:r>
          </a:p>
          <a:p>
            <a:pPr>
              <a:spcBef>
                <a:spcPts val="0"/>
              </a:spcBef>
              <a:spcAft>
                <a:spcPts val="384"/>
              </a:spcAft>
            </a:pPr>
            <a:r>
              <a:rPr sz="1000" b="0" i="0">
                <a:solidFill>
                  <a:srgbClr val="000000"/>
                </a:solidFill>
                <a:latin typeface="Nirmala UI"/>
              </a:rPr>
              <a:t>•  </a:t>
            </a:r>
            <a:r>
              <a:rPr sz="1000" b="0" i="0">
                <a:solidFill>
                  <a:srgbClr val="000000"/>
                </a:solidFill>
                <a:latin typeface="Nirmala UI"/>
              </a:rPr>
              <a:t>Supports efficient lookup by document identifier</a:t>
            </a:r>
          </a:p>
        </p:txBody>
      </p:sp>
      <p:sp>
        <p:nvSpPr>
          <p:cNvPr id="11" name="Rounded Rectangle 10"/>
          <p:cNvSpPr/>
          <p:nvPr/>
        </p:nvSpPr>
        <p:spPr>
          <a:xfrm>
            <a:off x="457200" y="4270521"/>
            <a:ext cx="1847088" cy="804672"/>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 y="4361961"/>
            <a:ext cx="1591056" cy="640080"/>
          </a:xfrm>
          <a:prstGeom prst="rect">
            <a:avLst/>
          </a:prstGeom>
          <a:noFill/>
        </p:spPr>
        <p:txBody>
          <a:bodyPr wrap="square" anchor="t" lIns="0" rIns="0" tIns="0" bIns="0">
            <a:spAutoFit/>
          </a:bodyPr>
          <a:lstStyle/>
          <a:p>
            <a:pPr>
              <a:spcBef>
                <a:spcPts val="0"/>
              </a:spcBef>
              <a:spcAft>
                <a:spcPts val="0"/>
              </a:spcAft>
            </a:pPr>
            <a:r>
              <a:rPr sz="900" b="0" i="0">
                <a:solidFill>
                  <a:srgbClr val="000000"/>
                </a:solidFill>
                <a:latin typeface="Consolas"/>
              </a:rPr>
              <a:t>{</a:t>
            </a:r>
          </a:p>
          <a:p>
            <a:pPr>
              <a:spcBef>
                <a:spcPts val="0"/>
              </a:spcBef>
              <a:spcAft>
                <a:spcPts val="0"/>
              </a:spcAft>
            </a:pPr>
            <a:r>
              <a:rPr sz="900" b="0" i="0">
                <a:solidFill>
                  <a:srgbClr val="000000"/>
                </a:solidFill>
                <a:latin typeface="Consolas"/>
              </a:rPr>
              <a:t>  _id: 1</a:t>
            </a:r>
          </a:p>
          <a:p>
            <a:pPr>
              <a:spcBef>
                <a:spcPts val="0"/>
              </a:spcBef>
              <a:spcAft>
                <a:spcPts val="0"/>
              </a:spcAft>
            </a:pPr>
            <a:r>
              <a:rPr sz="900" b="0" i="0">
                <a:solidFill>
                  <a:srgbClr val="000000"/>
                </a:solidFill>
                <a:latin typeface="Consolas"/>
              </a:rPr>
              <a:t>}</a:t>
            </a:r>
          </a:p>
        </p:txBody>
      </p:sp>
      <p:sp>
        <p:nvSpPr>
          <p:cNvPr id="13" name="Rounded Rectangle 12"/>
          <p:cNvSpPr/>
          <p:nvPr/>
        </p:nvSpPr>
        <p:spPr>
          <a:xfrm>
            <a:off x="2450592" y="4270521"/>
            <a:ext cx="1847088" cy="804672"/>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78608" y="4361961"/>
            <a:ext cx="1591056" cy="640080"/>
          </a:xfrm>
          <a:prstGeom prst="rect">
            <a:avLst/>
          </a:prstGeom>
          <a:noFill/>
        </p:spPr>
        <p:txBody>
          <a:bodyPr wrap="square" anchor="t" lIns="0" rIns="0" tIns="0" bIns="0">
            <a:spAutoFit/>
          </a:bodyPr>
          <a:lstStyle/>
          <a:p>
            <a:pPr>
              <a:spcBef>
                <a:spcPts val="0"/>
              </a:spcBef>
              <a:spcAft>
                <a:spcPts val="0"/>
              </a:spcAft>
            </a:pPr>
            <a:r>
              <a:rPr sz="900" b="0" i="0">
                <a:solidFill>
                  <a:srgbClr val="000000"/>
                </a:solidFill>
                <a:latin typeface="Consolas"/>
              </a:rPr>
              <a:t>db.products.find({</a:t>
            </a:r>
          </a:p>
          <a:p>
            <a:pPr>
              <a:spcBef>
                <a:spcPts val="0"/>
              </a:spcBef>
              <a:spcAft>
                <a:spcPts val="0"/>
              </a:spcAft>
            </a:pPr>
            <a:r>
              <a:rPr sz="900" b="0" i="0">
                <a:solidFill>
                  <a:srgbClr val="000000"/>
                </a:solidFill>
                <a:latin typeface="Consolas"/>
              </a:rPr>
              <a:t>  _id: ObjectId("65a100000000000000000001")</a:t>
            </a:r>
          </a:p>
          <a:p>
            <a:pPr>
              <a:spcBef>
                <a:spcPts val="0"/>
              </a:spcBef>
              <a:spcAft>
                <a:spcPts val="0"/>
              </a:spcAft>
            </a:pPr>
            <a:r>
              <a:rPr sz="900" b="0" i="0">
                <a:solidFill>
                  <a:srgbClr val="000000"/>
                </a:solidFill>
                <a:latin typeface="Consolas"/>
              </a:rPr>
              <a:t>})</a:t>
            </a:r>
          </a:p>
        </p:txBody>
      </p:sp>
      <p:sp>
        <p:nvSpPr>
          <p:cNvPr id="15" name="Rectangle 14"/>
          <p:cNvSpPr/>
          <p:nvPr/>
        </p:nvSpPr>
        <p:spPr>
          <a:xfrm>
            <a:off x="4471035" y="2169561"/>
            <a:ext cx="7242810" cy="2774910"/>
          </a:xfrm>
          <a:prstGeom prst="rect">
            <a:avLst/>
          </a:prstGeom>
          <a:solidFill>
            <a:srgbClr val="FFFFFF"/>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2"/>
          <a:stretch>
            <a:fillRect/>
          </a:stretch>
        </p:blipFill>
        <p:spPr>
          <a:xfrm>
            <a:off x="4480560" y="2179086"/>
            <a:ext cx="7223760" cy="2755860"/>
          </a:xfrm>
          <a:prstGeom prst="rect">
            <a:avLst/>
          </a:prstGeom>
        </p:spPr>
      </p:pic>
      <p:sp>
        <p:nvSpPr>
          <p:cNvPr id="17" name="Rectangle 1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CREATING A SINGLE-FIELD INDEX</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590588"/>
            <a:ext cx="237744" cy="237744"/>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9058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572300"/>
            <a:ext cx="351129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974636"/>
            <a:ext cx="3840480" cy="348800"/>
          </a:xfrm>
          <a:prstGeom prst="rect">
            <a:avLst/>
          </a:prstGeom>
          <a:noFill/>
        </p:spPr>
        <p:txBody>
          <a:bodyPr wrap="square" anchor="t" lIns="0" rIns="0" tIns="0" bIns="0">
            <a:spAutoFit/>
          </a:bodyPr>
          <a:lstStyle/>
          <a:p>
            <a:pPr>
              <a:spcBef>
                <a:spcPts val="0"/>
              </a:spcBef>
              <a:spcAft>
                <a:spcPts val="538"/>
              </a:spcAft>
            </a:pPr>
            <a:r>
              <a:rPr sz="1400" b="0" i="0">
                <a:solidFill>
                  <a:srgbClr val="000000"/>
                </a:solidFill>
                <a:latin typeface="Nirmala UI"/>
              </a:rPr>
              <a:t>Create an ascending index:</a:t>
            </a:r>
          </a:p>
        </p:txBody>
      </p:sp>
      <p:sp>
        <p:nvSpPr>
          <p:cNvPr id="8" name="TextBox 7"/>
          <p:cNvSpPr txBox="1"/>
          <p:nvPr/>
        </p:nvSpPr>
        <p:spPr>
          <a:xfrm>
            <a:off x="457200" y="2414876"/>
            <a:ext cx="3840480" cy="348800"/>
          </a:xfrm>
          <a:prstGeom prst="rect">
            <a:avLst/>
          </a:prstGeom>
          <a:noFill/>
        </p:spPr>
        <p:txBody>
          <a:bodyPr wrap="square" anchor="t" lIns="0" rIns="0" tIns="0" bIns="0">
            <a:spAutoFit/>
          </a:bodyPr>
          <a:lstStyle/>
          <a:p>
            <a:pPr>
              <a:spcBef>
                <a:spcPts val="0"/>
              </a:spcBef>
              <a:spcAft>
                <a:spcPts val="538"/>
              </a:spcAft>
            </a:pPr>
            <a:r>
              <a:rPr sz="1400" b="0" i="0">
                <a:solidFill>
                  <a:srgbClr val="000000"/>
                </a:solidFill>
                <a:latin typeface="Nirmala UI"/>
              </a:rPr>
              <a:t>Create a descending index:</a:t>
            </a:r>
          </a:p>
        </p:txBody>
      </p:sp>
      <p:sp>
        <p:nvSpPr>
          <p:cNvPr id="9" name="TextBox 8"/>
          <p:cNvSpPr txBox="1"/>
          <p:nvPr/>
        </p:nvSpPr>
        <p:spPr>
          <a:xfrm>
            <a:off x="457200" y="2855116"/>
            <a:ext cx="3840480" cy="1522280"/>
          </a:xfrm>
          <a:prstGeom prst="rect">
            <a:avLst/>
          </a:prstGeom>
          <a:noFill/>
        </p:spPr>
        <p:txBody>
          <a:bodyPr wrap="square" anchor="t" lIns="0" rIns="0" tIns="0" bIns="0">
            <a:spAutoFit/>
          </a:bodyPr>
          <a:lstStyle/>
          <a:p>
            <a:pPr>
              <a:spcBef>
                <a:spcPts val="0"/>
              </a:spcBef>
              <a:spcAft>
                <a:spcPts val="538"/>
              </a:spcAft>
            </a:pPr>
            <a:r>
              <a:rPr sz="1400" b="0" i="0">
                <a:solidFill>
                  <a:srgbClr val="000000"/>
                </a:solidFill>
                <a:latin typeface="Nirmala UI"/>
              </a:rPr>
              <a:t>For simple equality matching, ascending and descending single-field indexes generally provide equivalent lookup capability. Direction matters more when supporting sorts in compound indexes.</a:t>
            </a:r>
          </a:p>
        </p:txBody>
      </p:sp>
      <p:sp>
        <p:nvSpPr>
          <p:cNvPr id="10" name="Rounded Rectangle 9"/>
          <p:cNvSpPr/>
          <p:nvPr/>
        </p:nvSpPr>
        <p:spPr>
          <a:xfrm>
            <a:off x="457200" y="4468836"/>
            <a:ext cx="1847088" cy="603504"/>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 y="4560276"/>
            <a:ext cx="1591056" cy="438912"/>
          </a:xfrm>
          <a:prstGeom prst="rect">
            <a:avLst/>
          </a:prstGeom>
          <a:noFill/>
        </p:spPr>
        <p:txBody>
          <a:bodyPr wrap="square" anchor="t" lIns="0" rIns="0" tIns="0" bIns="0">
            <a:spAutoFit/>
          </a:bodyPr>
          <a:lstStyle/>
          <a:p>
            <a:pPr>
              <a:spcBef>
                <a:spcPts val="0"/>
              </a:spcBef>
              <a:spcAft>
                <a:spcPts val="0"/>
              </a:spcAft>
            </a:pPr>
            <a:r>
              <a:rPr sz="800" b="0" i="0">
                <a:solidFill>
                  <a:srgbClr val="000000"/>
                </a:solidFill>
                <a:latin typeface="Consolas"/>
              </a:rPr>
              <a:t>db.products.createIndex({</a:t>
            </a:r>
          </a:p>
          <a:p>
            <a:pPr>
              <a:spcBef>
                <a:spcPts val="0"/>
              </a:spcBef>
              <a:spcAft>
                <a:spcPts val="0"/>
              </a:spcAft>
            </a:pPr>
            <a:r>
              <a:rPr sz="800" b="0" i="0">
                <a:solidFill>
                  <a:srgbClr val="000000"/>
                </a:solidFill>
                <a:latin typeface="Consolas"/>
              </a:rPr>
              <a:t>  category: 1</a:t>
            </a:r>
          </a:p>
          <a:p>
            <a:pPr>
              <a:spcBef>
                <a:spcPts val="0"/>
              </a:spcBef>
              <a:spcAft>
                <a:spcPts val="0"/>
              </a:spcAft>
            </a:pPr>
            <a:r>
              <a:rPr sz="800" b="0" i="0">
                <a:solidFill>
                  <a:srgbClr val="000000"/>
                </a:solidFill>
                <a:latin typeface="Consolas"/>
              </a:rPr>
              <a:t>})</a:t>
            </a:r>
          </a:p>
        </p:txBody>
      </p:sp>
      <p:sp>
        <p:nvSpPr>
          <p:cNvPr id="12" name="Rounded Rectangle 11"/>
          <p:cNvSpPr/>
          <p:nvPr/>
        </p:nvSpPr>
        <p:spPr>
          <a:xfrm>
            <a:off x="2450592" y="4468836"/>
            <a:ext cx="1847088" cy="603504"/>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78608" y="4560276"/>
            <a:ext cx="1591056" cy="438912"/>
          </a:xfrm>
          <a:prstGeom prst="rect">
            <a:avLst/>
          </a:prstGeom>
          <a:noFill/>
        </p:spPr>
        <p:txBody>
          <a:bodyPr wrap="square" anchor="t" lIns="0" rIns="0" tIns="0" bIns="0">
            <a:spAutoFit/>
          </a:bodyPr>
          <a:lstStyle/>
          <a:p>
            <a:pPr>
              <a:spcBef>
                <a:spcPts val="0"/>
              </a:spcBef>
              <a:spcAft>
                <a:spcPts val="0"/>
              </a:spcAft>
            </a:pPr>
            <a:r>
              <a:rPr sz="800" b="0" i="0">
                <a:solidFill>
                  <a:srgbClr val="000000"/>
                </a:solidFill>
                <a:latin typeface="Consolas"/>
              </a:rPr>
              <a:t>db.orders.createIndex({</a:t>
            </a:r>
          </a:p>
          <a:p>
            <a:pPr>
              <a:spcBef>
                <a:spcPts val="0"/>
              </a:spcBef>
              <a:spcAft>
                <a:spcPts val="0"/>
              </a:spcAft>
            </a:pPr>
            <a:r>
              <a:rPr sz="800" b="0" i="0">
                <a:solidFill>
                  <a:srgbClr val="000000"/>
                </a:solidFill>
                <a:latin typeface="Consolas"/>
              </a:rPr>
              <a:t>  orderedAt: -1</a:t>
            </a:r>
          </a:p>
          <a:p>
            <a:pPr>
              <a:spcBef>
                <a:spcPts val="0"/>
              </a:spcBef>
              <a:spcAft>
                <a:spcPts val="0"/>
              </a:spcAft>
            </a:pPr>
            <a:r>
              <a:rPr sz="800" b="0" i="0">
                <a:solidFill>
                  <a:srgbClr val="000000"/>
                </a:solidFill>
                <a:latin typeface="Consolas"/>
              </a:rPr>
              <a:t>})</a:t>
            </a:r>
          </a:p>
        </p:txBody>
      </p:sp>
      <p:sp>
        <p:nvSpPr>
          <p:cNvPr id="14" name="Rectangle 13"/>
          <p:cNvSpPr/>
          <p:nvPr/>
        </p:nvSpPr>
        <p:spPr>
          <a:xfrm>
            <a:off x="4471035" y="2212999"/>
            <a:ext cx="7242810" cy="2688034"/>
          </a:xfrm>
          <a:prstGeom prst="rect">
            <a:avLst/>
          </a:prstGeom>
          <a:solidFill>
            <a:srgbClr val="FFFFFF"/>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2"/>
          <a:stretch>
            <a:fillRect/>
          </a:stretch>
        </p:blipFill>
        <p:spPr>
          <a:xfrm>
            <a:off x="4480560" y="2222524"/>
            <a:ext cx="7223760" cy="2668984"/>
          </a:xfrm>
          <a:prstGeom prst="rect">
            <a:avLst/>
          </a:prstGeom>
        </p:spPr>
      </p:pic>
      <p:sp>
        <p:nvSpPr>
          <p:cNvPr id="16" name="Rectangle 1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CREATE AN INDEX WITH A CUSTOM NAME</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802814"/>
            <a:ext cx="237744" cy="237744"/>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802814"/>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784526"/>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186862"/>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A clear naming convention makes indexes easier to identify and manage.</a:t>
            </a:r>
          </a:p>
        </p:txBody>
      </p:sp>
      <p:sp>
        <p:nvSpPr>
          <p:cNvPr id="8" name="Rounded Rectangle 7"/>
          <p:cNvSpPr/>
          <p:nvPr/>
        </p:nvSpPr>
        <p:spPr>
          <a:xfrm>
            <a:off x="457200" y="2756994"/>
            <a:ext cx="11247120" cy="2481072"/>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5216" y="2848434"/>
            <a:ext cx="10991088" cy="2316480"/>
          </a:xfrm>
          <a:prstGeom prst="rect">
            <a:avLst/>
          </a:prstGeom>
          <a:noFill/>
        </p:spPr>
        <p:txBody>
          <a:bodyPr wrap="square" anchor="t" lIns="0" rIns="0" tIns="0" bIns="0">
            <a:spAutoFit/>
          </a:bodyPr>
          <a:lstStyle/>
          <a:p>
            <a:pPr>
              <a:spcBef>
                <a:spcPts val="0"/>
              </a:spcBef>
              <a:spcAft>
                <a:spcPts val="0"/>
              </a:spcAft>
            </a:pPr>
            <a:r>
              <a:rPr sz="1700" b="0" i="0">
                <a:solidFill>
                  <a:srgbClr val="000000"/>
                </a:solidFill>
                <a:latin typeface="Consolas"/>
              </a:rPr>
              <a:t>db.products.createIndex(</a:t>
            </a:r>
          </a:p>
          <a:p>
            <a:pPr>
              <a:spcBef>
                <a:spcPts val="0"/>
              </a:spcBef>
              <a:spcAft>
                <a:spcPts val="0"/>
              </a:spcAft>
            </a:pPr>
            <a:r>
              <a:rPr sz="1700" b="0" i="0">
                <a:solidFill>
                  <a:srgbClr val="000000"/>
                </a:solidFill>
                <a:latin typeface="Consolas"/>
              </a:rPr>
              <a:t>  {</a:t>
            </a:r>
          </a:p>
          <a:p>
            <a:pPr>
              <a:spcBef>
                <a:spcPts val="0"/>
              </a:spcBef>
              <a:spcAft>
                <a:spcPts val="0"/>
              </a:spcAft>
            </a:pPr>
            <a:r>
              <a:rPr sz="1700" b="0" i="0">
                <a:solidFill>
                  <a:srgbClr val="000000"/>
                </a:solidFill>
                <a:latin typeface="Consolas"/>
              </a:rPr>
              <a:t>    category: 1</a:t>
            </a:r>
          </a:p>
          <a:p>
            <a:pPr>
              <a:spcBef>
                <a:spcPts val="0"/>
              </a:spcBef>
              <a:spcAft>
                <a:spcPts val="0"/>
              </a:spcAft>
            </a:pPr>
            <a:r>
              <a:rPr sz="1700" b="0" i="0">
                <a:solidFill>
                  <a:srgbClr val="000000"/>
                </a:solidFill>
                <a:latin typeface="Consolas"/>
              </a:rPr>
              <a:t>  },</a:t>
            </a:r>
          </a:p>
          <a:p>
            <a:pPr>
              <a:spcBef>
                <a:spcPts val="0"/>
              </a:spcBef>
              <a:spcAft>
                <a:spcPts val="0"/>
              </a:spcAft>
            </a:pPr>
            <a:r>
              <a:rPr sz="1700" b="0" i="0">
                <a:solidFill>
                  <a:srgbClr val="000000"/>
                </a:solidFill>
                <a:latin typeface="Consolas"/>
              </a:rPr>
              <a:t>  {</a:t>
            </a:r>
          </a:p>
          <a:p>
            <a:pPr>
              <a:spcBef>
                <a:spcPts val="0"/>
              </a:spcBef>
              <a:spcAft>
                <a:spcPts val="0"/>
              </a:spcAft>
            </a:pPr>
            <a:r>
              <a:rPr sz="1700" b="0" i="0">
                <a:solidFill>
                  <a:srgbClr val="000000"/>
                </a:solidFill>
                <a:latin typeface="Consolas"/>
              </a:rPr>
              <a:t>    name: "idx_products_category"</a:t>
            </a:r>
          </a:p>
          <a:p>
            <a:pPr>
              <a:spcBef>
                <a:spcPts val="0"/>
              </a:spcBef>
              <a:spcAft>
                <a:spcPts val="0"/>
              </a:spcAft>
            </a:pPr>
            <a:r>
              <a:rPr sz="1700" b="0" i="0">
                <a:solidFill>
                  <a:srgbClr val="000000"/>
                </a:solidFill>
                <a:latin typeface="Consolas"/>
              </a:rPr>
              <a:t>  }</a:t>
            </a:r>
          </a:p>
          <a:p>
            <a:pPr>
              <a:spcBef>
                <a:spcPts val="0"/>
              </a:spcBef>
              <a:spcAft>
                <a:spcPts val="0"/>
              </a:spcAft>
            </a:pPr>
            <a:r>
              <a:rPr sz="1700" b="0" i="0">
                <a:solidFill>
                  <a:srgbClr val="000000"/>
                </a:solidFill>
                <a:latin typeface="Consolas"/>
              </a:rPr>
              <a:t>)</a:t>
            </a:r>
          </a:p>
        </p:txBody>
      </p:sp>
      <p:sp>
        <p:nvSpPr>
          <p:cNvPr id="10" name="Rectangle 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CREATING MULTIPLE INDEXES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199232"/>
            <a:ext cx="237744" cy="237744"/>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99232"/>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180944"/>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583280"/>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Multiple indexes can be requested together:</a:t>
            </a:r>
          </a:p>
        </p:txBody>
      </p:sp>
      <p:sp>
        <p:nvSpPr>
          <p:cNvPr id="8" name="TextBox 7"/>
          <p:cNvSpPr txBox="1"/>
          <p:nvPr/>
        </p:nvSpPr>
        <p:spPr>
          <a:xfrm>
            <a:off x="457200" y="2153412"/>
            <a:ext cx="11247120" cy="81397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MongoDB provides both </a:t>
            </a:r>
            <a:r>
              <a:rPr sz="2000" b="0" i="0">
                <a:solidFill>
                  <a:srgbClr val="000000"/>
                </a:solidFill>
                <a:latin typeface="Consolas"/>
              </a:rPr>
              <a:t>createIndex()</a:t>
            </a:r>
            <a:r>
              <a:rPr sz="2000" b="0" i="0">
                <a:solidFill>
                  <a:srgbClr val="000000"/>
                </a:solidFill>
                <a:latin typeface="Nirmala UI"/>
              </a:rPr>
              <a:t> and </a:t>
            </a:r>
            <a:r>
              <a:rPr sz="2000" b="0" i="0">
                <a:solidFill>
                  <a:srgbClr val="000000"/>
                </a:solidFill>
                <a:latin typeface="Consolas"/>
              </a:rPr>
              <a:t>createIndexes()</a:t>
            </a:r>
            <a:r>
              <a:rPr sz="2000" b="0" i="0">
                <a:solidFill>
                  <a:srgbClr val="000000"/>
                </a:solidFill>
                <a:latin typeface="Nirmala UI"/>
              </a:rPr>
              <a:t> for creating indexes.</a:t>
            </a:r>
          </a:p>
        </p:txBody>
      </p:sp>
      <p:sp>
        <p:nvSpPr>
          <p:cNvPr id="9" name="Rounded Rectangle 8"/>
          <p:cNvSpPr/>
          <p:nvPr/>
        </p:nvSpPr>
        <p:spPr>
          <a:xfrm>
            <a:off x="457200" y="3058824"/>
            <a:ext cx="11247120" cy="2782824"/>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 y="3150264"/>
            <a:ext cx="10991088" cy="2618232"/>
          </a:xfrm>
          <a:prstGeom prst="rect">
            <a:avLst/>
          </a:prstGeom>
          <a:noFill/>
        </p:spPr>
        <p:txBody>
          <a:bodyPr wrap="square" anchor="t" lIns="0" rIns="0" tIns="0" bIns="0">
            <a:spAutoFit/>
          </a:bodyPr>
          <a:lstStyle/>
          <a:p>
            <a:pPr>
              <a:spcBef>
                <a:spcPts val="0"/>
              </a:spcBef>
              <a:spcAft>
                <a:spcPts val="0"/>
              </a:spcAft>
            </a:pPr>
            <a:r>
              <a:rPr sz="700" b="0" i="0">
                <a:solidFill>
                  <a:srgbClr val="000000"/>
                </a:solidFill>
                <a:latin typeface="Consolas"/>
              </a:rPr>
              <a:t>db.products.createIndexes([</a:t>
            </a:r>
          </a:p>
          <a:p>
            <a:pPr>
              <a:spcBef>
                <a:spcPts val="0"/>
              </a:spcBef>
              <a:spcAft>
                <a:spcPts val="0"/>
              </a:spcAft>
            </a:pPr>
            <a:r>
              <a:rPr sz="700" b="0" i="0">
                <a:solidFill>
                  <a:srgbClr val="000000"/>
                </a:solidFill>
                <a:latin typeface="Consolas"/>
              </a:rPr>
              <a:t>  {</a:t>
            </a:r>
          </a:p>
          <a:p>
            <a:pPr>
              <a:spcBef>
                <a:spcPts val="0"/>
              </a:spcBef>
              <a:spcAft>
                <a:spcPts val="0"/>
              </a:spcAft>
            </a:pPr>
            <a:r>
              <a:rPr sz="700" b="0" i="0">
                <a:solidFill>
                  <a:srgbClr val="000000"/>
                </a:solidFill>
                <a:latin typeface="Consolas"/>
              </a:rPr>
              <a:t>    key: {</a:t>
            </a:r>
          </a:p>
          <a:p>
            <a:pPr>
              <a:spcBef>
                <a:spcPts val="0"/>
              </a:spcBef>
              <a:spcAft>
                <a:spcPts val="0"/>
              </a:spcAft>
            </a:pPr>
            <a:r>
              <a:rPr sz="700" b="0" i="0">
                <a:solidFill>
                  <a:srgbClr val="000000"/>
                </a:solidFill>
                <a:latin typeface="Consolas"/>
              </a:rPr>
              <a:t>      sku: 1</a:t>
            </a:r>
          </a:p>
          <a:p>
            <a:pPr>
              <a:spcBef>
                <a:spcPts val="0"/>
              </a:spcBef>
              <a:spcAft>
                <a:spcPts val="0"/>
              </a:spcAft>
            </a:pPr>
            <a:r>
              <a:rPr sz="700" b="0" i="0">
                <a:solidFill>
                  <a:srgbClr val="000000"/>
                </a:solidFill>
                <a:latin typeface="Consolas"/>
              </a:rPr>
              <a:t>    },</a:t>
            </a:r>
          </a:p>
          <a:p>
            <a:pPr>
              <a:spcBef>
                <a:spcPts val="0"/>
              </a:spcBef>
              <a:spcAft>
                <a:spcPts val="0"/>
              </a:spcAft>
            </a:pPr>
            <a:r>
              <a:rPr sz="700" b="0" i="0">
                <a:solidFill>
                  <a:srgbClr val="000000"/>
                </a:solidFill>
                <a:latin typeface="Consolas"/>
              </a:rPr>
              <a:t>    name: "uq_products_sku",</a:t>
            </a:r>
          </a:p>
          <a:p>
            <a:pPr>
              <a:spcBef>
                <a:spcPts val="0"/>
              </a:spcBef>
              <a:spcAft>
                <a:spcPts val="0"/>
              </a:spcAft>
            </a:pPr>
            <a:r>
              <a:rPr sz="700" b="0" i="0">
                <a:solidFill>
                  <a:srgbClr val="000000"/>
                </a:solidFill>
                <a:latin typeface="Consolas"/>
              </a:rPr>
              <a:t>    unique: true</a:t>
            </a:r>
          </a:p>
          <a:p>
            <a:pPr>
              <a:spcBef>
                <a:spcPts val="0"/>
              </a:spcBef>
              <a:spcAft>
                <a:spcPts val="0"/>
              </a:spcAft>
            </a:pPr>
            <a:r>
              <a:rPr sz="700" b="0" i="0">
                <a:solidFill>
                  <a:srgbClr val="000000"/>
                </a:solidFill>
                <a:latin typeface="Consolas"/>
              </a:rPr>
              <a:t>  },</a:t>
            </a:r>
          </a:p>
          <a:p>
            <a:pPr>
              <a:spcBef>
                <a:spcPts val="0"/>
              </a:spcBef>
              <a:spcAft>
                <a:spcPts val="0"/>
              </a:spcAft>
            </a:pPr>
            <a:r>
              <a:rPr sz="700" b="0" i="0">
                <a:solidFill>
                  <a:srgbClr val="000000"/>
                </a:solidFill>
                <a:latin typeface="Consolas"/>
              </a:rPr>
              <a:t>  {</a:t>
            </a:r>
          </a:p>
          <a:p>
            <a:pPr>
              <a:spcBef>
                <a:spcPts val="0"/>
              </a:spcBef>
              <a:spcAft>
                <a:spcPts val="0"/>
              </a:spcAft>
            </a:pPr>
            <a:r>
              <a:rPr sz="700" b="0" i="0">
                <a:solidFill>
                  <a:srgbClr val="000000"/>
                </a:solidFill>
                <a:latin typeface="Consolas"/>
              </a:rPr>
              <a:t>    key: {</a:t>
            </a:r>
          </a:p>
          <a:p>
            <a:pPr>
              <a:spcBef>
                <a:spcPts val="0"/>
              </a:spcBef>
              <a:spcAft>
                <a:spcPts val="0"/>
              </a:spcAft>
            </a:pPr>
            <a:r>
              <a:rPr sz="700" b="0" i="0">
                <a:solidFill>
                  <a:srgbClr val="000000"/>
                </a:solidFill>
                <a:latin typeface="Consolas"/>
              </a:rPr>
              <a:t>      category: 1,</a:t>
            </a:r>
          </a:p>
          <a:p>
            <a:pPr>
              <a:spcBef>
                <a:spcPts val="0"/>
              </a:spcBef>
              <a:spcAft>
                <a:spcPts val="0"/>
              </a:spcAft>
            </a:pPr>
            <a:r>
              <a:rPr sz="700" b="0" i="0">
                <a:solidFill>
                  <a:srgbClr val="000000"/>
                </a:solidFill>
                <a:latin typeface="Consolas"/>
              </a:rPr>
              <a:t>      price: 1</a:t>
            </a:r>
          </a:p>
          <a:p>
            <a:pPr>
              <a:spcBef>
                <a:spcPts val="0"/>
              </a:spcBef>
              <a:spcAft>
                <a:spcPts val="0"/>
              </a:spcAft>
            </a:pPr>
            <a:r>
              <a:rPr sz="700" b="0" i="0">
                <a:solidFill>
                  <a:srgbClr val="000000"/>
                </a:solidFill>
                <a:latin typeface="Consolas"/>
              </a:rPr>
              <a:t>    },</a:t>
            </a:r>
          </a:p>
          <a:p>
            <a:pPr>
              <a:spcBef>
                <a:spcPts val="0"/>
              </a:spcBef>
              <a:spcAft>
                <a:spcPts val="0"/>
              </a:spcAft>
            </a:pPr>
            <a:r>
              <a:rPr sz="700" b="0" i="0">
                <a:solidFill>
                  <a:srgbClr val="000000"/>
                </a:solidFill>
                <a:latin typeface="Consolas"/>
              </a:rPr>
              <a:t>    name: "idx_products_category_price"</a:t>
            </a:r>
          </a:p>
          <a:p>
            <a:pPr>
              <a:spcBef>
                <a:spcPts val="0"/>
              </a:spcBef>
              <a:spcAft>
                <a:spcPts val="0"/>
              </a:spcAft>
            </a:pPr>
            <a:r>
              <a:rPr sz="700" b="0" i="0">
                <a:solidFill>
                  <a:srgbClr val="000000"/>
                </a:solidFill>
                <a:latin typeface="Consolas"/>
              </a:rPr>
              <a:t>  },</a:t>
            </a:r>
          </a:p>
          <a:p>
            <a:pPr>
              <a:spcBef>
                <a:spcPts val="0"/>
              </a:spcBef>
              <a:spcAft>
                <a:spcPts val="0"/>
              </a:spcAft>
            </a:pPr>
            <a:r>
              <a:rPr sz="700" b="0" i="0">
                <a:solidFill>
                  <a:srgbClr val="000000"/>
                </a:solidFill>
                <a:latin typeface="Consolas"/>
              </a:rPr>
              <a:t>  {</a:t>
            </a:r>
          </a:p>
          <a:p>
            <a:pPr>
              <a:spcBef>
                <a:spcPts val="0"/>
              </a:spcBef>
              <a:spcAft>
                <a:spcPts val="0"/>
              </a:spcAft>
            </a:pPr>
            <a:r>
              <a:rPr sz="700" b="0" i="0">
                <a:solidFill>
                  <a:srgbClr val="000000"/>
                </a:solidFill>
                <a:latin typeface="Consolas"/>
              </a:rPr>
              <a:t>    key: {</a:t>
            </a:r>
          </a:p>
          <a:p>
            <a:pPr>
              <a:spcBef>
                <a:spcPts val="0"/>
              </a:spcBef>
              <a:spcAft>
                <a:spcPts val="0"/>
              </a:spcAft>
            </a:pPr>
            <a:r>
              <a:rPr sz="700" b="0" i="0">
                <a:solidFill>
                  <a:srgbClr val="000000"/>
                </a:solidFill>
                <a:latin typeface="Consolas"/>
              </a:rPr>
              <a:t>      tags: 1</a:t>
            </a:r>
          </a:p>
          <a:p>
            <a:pPr>
              <a:spcBef>
                <a:spcPts val="0"/>
              </a:spcBef>
              <a:spcAft>
                <a:spcPts val="0"/>
              </a:spcAft>
            </a:pPr>
            <a:r>
              <a:rPr sz="700" b="0" i="0">
                <a:solidFill>
                  <a:srgbClr val="000000"/>
                </a:solidFill>
                <a:latin typeface="Consolas"/>
              </a:rPr>
              <a:t>    },</a:t>
            </a:r>
          </a:p>
          <a:p>
            <a:pPr>
              <a:spcBef>
                <a:spcPts val="0"/>
              </a:spcBef>
              <a:spcAft>
                <a:spcPts val="0"/>
              </a:spcAft>
            </a:pPr>
            <a:r>
              <a:rPr sz="700" b="0" i="0">
                <a:solidFill>
                  <a:srgbClr val="000000"/>
                </a:solidFill>
                <a:latin typeface="Consolas"/>
              </a:rPr>
              <a:t>    name: "idx_products_tags"</a:t>
            </a:r>
          </a:p>
          <a:p>
            <a:pPr>
              <a:spcBef>
                <a:spcPts val="0"/>
              </a:spcBef>
              <a:spcAft>
                <a:spcPts val="0"/>
              </a:spcAft>
            </a:pPr>
            <a:r>
              <a:rPr sz="700" b="0" i="0">
                <a:solidFill>
                  <a:srgbClr val="000000"/>
                </a:solidFill>
                <a:latin typeface="Consolas"/>
              </a:rPr>
              <a:t>  }</a:t>
            </a:r>
          </a:p>
          <a:p>
            <a:pPr>
              <a:spcBef>
                <a:spcPts val="0"/>
              </a:spcBef>
              <a:spcAft>
                <a:spcPts val="0"/>
              </a:spcAft>
            </a:pPr>
            <a:r>
              <a:rPr sz="700" b="0" i="0">
                <a:solidFill>
                  <a:srgbClr val="000000"/>
                </a:solidFill>
                <a:latin typeface="Consolas"/>
              </a:rPr>
              <a:t>])</a:t>
            </a:r>
          </a:p>
        </p:txBody>
      </p:sp>
      <p:sp>
        <p:nvSpPr>
          <p:cNvPr id="11" name="Rectangle 1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VIEWING EXISTING INDEXES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278402"/>
            <a:ext cx="237744" cy="237744"/>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78402"/>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260114"/>
            <a:ext cx="351129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662450"/>
            <a:ext cx="3840480" cy="81397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List a collection’s indexes:</a:t>
            </a:r>
          </a:p>
        </p:txBody>
      </p:sp>
      <p:sp>
        <p:nvSpPr>
          <p:cNvPr id="8" name="TextBox 7"/>
          <p:cNvSpPr txBox="1"/>
          <p:nvPr/>
        </p:nvSpPr>
        <p:spPr>
          <a:xfrm>
            <a:off x="457200" y="2567862"/>
            <a:ext cx="384048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A result may resemble:</a:t>
            </a:r>
          </a:p>
        </p:txBody>
      </p:sp>
      <p:sp>
        <p:nvSpPr>
          <p:cNvPr id="9" name="TextBox 8"/>
          <p:cNvSpPr txBox="1"/>
          <p:nvPr/>
        </p:nvSpPr>
        <p:spPr>
          <a:xfrm>
            <a:off x="457200" y="3137994"/>
            <a:ext cx="3840480" cy="81397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Display only index names:</a:t>
            </a:r>
          </a:p>
        </p:txBody>
      </p:sp>
      <p:sp>
        <p:nvSpPr>
          <p:cNvPr id="10" name="Rounded Rectangle 9"/>
          <p:cNvSpPr/>
          <p:nvPr/>
        </p:nvSpPr>
        <p:spPr>
          <a:xfrm>
            <a:off x="457200" y="4043406"/>
            <a:ext cx="1847088" cy="1810512"/>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 y="4134846"/>
            <a:ext cx="1591056" cy="1645920"/>
          </a:xfrm>
          <a:prstGeom prst="rect">
            <a:avLst/>
          </a:prstGeom>
          <a:noFill/>
        </p:spPr>
        <p:txBody>
          <a:bodyPr wrap="square" anchor="t" lIns="0" rIns="0" tIns="0" bIns="0">
            <a:spAutoFit/>
          </a:bodyPr>
          <a:lstStyle/>
          <a:p>
            <a:pPr>
              <a:spcBef>
                <a:spcPts val="0"/>
              </a:spcBef>
              <a:spcAft>
                <a:spcPts val="0"/>
              </a:spcAft>
            </a:pPr>
            <a:r>
              <a:rPr sz="600" b="0" i="0">
                <a:solidFill>
                  <a:srgbClr val="000000"/>
                </a:solidFill>
                <a:latin typeface="Consolas"/>
              </a:rPr>
              <a:t>db.products.getIndexes()</a:t>
            </a:r>
          </a:p>
        </p:txBody>
      </p:sp>
      <p:sp>
        <p:nvSpPr>
          <p:cNvPr id="12" name="Rounded Rectangle 11"/>
          <p:cNvSpPr/>
          <p:nvPr/>
        </p:nvSpPr>
        <p:spPr>
          <a:xfrm>
            <a:off x="2450592" y="4043406"/>
            <a:ext cx="1847088" cy="1810512"/>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78608" y="4134846"/>
            <a:ext cx="1591056" cy="1645920"/>
          </a:xfrm>
          <a:prstGeom prst="rect">
            <a:avLst/>
          </a:prstGeom>
          <a:noFill/>
        </p:spPr>
        <p:txBody>
          <a:bodyPr wrap="square" anchor="t" lIns="0" rIns="0" tIns="0" bIns="0">
            <a:spAutoFit/>
          </a:bodyPr>
          <a:lstStyle/>
          <a:p>
            <a:pPr>
              <a:spcBef>
                <a:spcPts val="0"/>
              </a:spcBef>
              <a:spcAft>
                <a:spcPts val="0"/>
              </a:spcAft>
            </a:pPr>
            <a:r>
              <a:rPr sz="600" b="0" i="0">
                <a:solidFill>
                  <a:srgbClr val="000000"/>
                </a:solidFill>
                <a:latin typeface="Consolas"/>
              </a:rPr>
              <a:t>[</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key: { _id: 1 },</a:t>
            </a:r>
          </a:p>
          <a:p>
            <a:pPr>
              <a:spcBef>
                <a:spcPts val="0"/>
              </a:spcBef>
              <a:spcAft>
                <a:spcPts val="0"/>
              </a:spcAft>
            </a:pPr>
            <a:r>
              <a:rPr sz="600" b="0" i="0">
                <a:solidFill>
                  <a:srgbClr val="000000"/>
                </a:solidFill>
                <a:latin typeface="Consolas"/>
              </a:rPr>
              <a:t>    name: "_id_"</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key: { sku: 1 },</a:t>
            </a:r>
          </a:p>
          <a:p>
            <a:pPr>
              <a:spcBef>
                <a:spcPts val="0"/>
              </a:spcBef>
              <a:spcAft>
                <a:spcPts val="0"/>
              </a:spcAft>
            </a:pPr>
            <a:r>
              <a:rPr sz="600" b="0" i="0">
                <a:solidFill>
                  <a:srgbClr val="000000"/>
                </a:solidFill>
                <a:latin typeface="Consolas"/>
              </a:rPr>
              <a:t>    name: "uq_products_sku",</a:t>
            </a:r>
          </a:p>
          <a:p>
            <a:pPr>
              <a:spcBef>
                <a:spcPts val="0"/>
              </a:spcBef>
              <a:spcAft>
                <a:spcPts val="0"/>
              </a:spcAft>
            </a:pPr>
            <a:r>
              <a:rPr sz="600" b="0" i="0">
                <a:solidFill>
                  <a:srgbClr val="000000"/>
                </a:solidFill>
                <a:latin typeface="Consolas"/>
              </a:rPr>
              <a:t>    unique: true</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key: { category: 1, price: 1 },</a:t>
            </a:r>
          </a:p>
          <a:p>
            <a:pPr>
              <a:spcBef>
                <a:spcPts val="0"/>
              </a:spcBef>
              <a:spcAft>
                <a:spcPts val="0"/>
              </a:spcAft>
            </a:pPr>
            <a:r>
              <a:rPr sz="600" b="0" i="0">
                <a:solidFill>
                  <a:srgbClr val="000000"/>
                </a:solidFill>
                <a:latin typeface="Consolas"/>
              </a:rPr>
              <a:t>    name: "idx_products_category_price"</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a:t>
            </a:r>
          </a:p>
        </p:txBody>
      </p:sp>
      <p:sp>
        <p:nvSpPr>
          <p:cNvPr id="14" name="Rectangle 13"/>
          <p:cNvSpPr/>
          <p:nvPr/>
        </p:nvSpPr>
        <p:spPr>
          <a:xfrm>
            <a:off x="4471035" y="2286969"/>
            <a:ext cx="7242809" cy="2540093"/>
          </a:xfrm>
          <a:prstGeom prst="rect">
            <a:avLst/>
          </a:prstGeom>
          <a:solidFill>
            <a:srgbClr val="FFFFFF"/>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2"/>
          <a:stretch>
            <a:fillRect/>
          </a:stretch>
        </p:blipFill>
        <p:spPr>
          <a:xfrm>
            <a:off x="4480560" y="2296494"/>
            <a:ext cx="7223759" cy="2521043"/>
          </a:xfrm>
          <a:prstGeom prst="rect">
            <a:avLst/>
          </a:prstGeom>
        </p:spPr>
      </p:pic>
      <p:sp>
        <p:nvSpPr>
          <p:cNvPr id="16" name="Rectangle 1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VIEWING EXISTING INDEXES (CONT.)</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Rounded Rectangle 3"/>
          <p:cNvSpPr/>
          <p:nvPr/>
        </p:nvSpPr>
        <p:spPr>
          <a:xfrm>
            <a:off x="457200" y="2983230"/>
            <a:ext cx="11247120" cy="1056132"/>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85216" y="3074670"/>
            <a:ext cx="10991088" cy="891540"/>
          </a:xfrm>
          <a:prstGeom prst="rect">
            <a:avLst/>
          </a:prstGeom>
          <a:noFill/>
        </p:spPr>
        <p:txBody>
          <a:bodyPr wrap="square" anchor="t" lIns="0" rIns="0" tIns="0" bIns="0">
            <a:spAutoFit/>
          </a:bodyPr>
          <a:lstStyle/>
          <a:p>
            <a:pPr>
              <a:spcBef>
                <a:spcPts val="0"/>
              </a:spcBef>
              <a:spcAft>
                <a:spcPts val="0"/>
              </a:spcAft>
            </a:pPr>
            <a:r>
              <a:rPr sz="1700" b="0" i="0">
                <a:solidFill>
                  <a:srgbClr val="000000"/>
                </a:solidFill>
                <a:latin typeface="Consolas"/>
              </a:rPr>
              <a:t>db.products.getIndexes().map(</a:t>
            </a:r>
          </a:p>
          <a:p>
            <a:pPr>
              <a:spcBef>
                <a:spcPts val="0"/>
              </a:spcBef>
              <a:spcAft>
                <a:spcPts val="0"/>
              </a:spcAft>
            </a:pPr>
            <a:r>
              <a:rPr sz="1700" b="0" i="0">
                <a:solidFill>
                  <a:srgbClr val="000000"/>
                </a:solidFill>
                <a:latin typeface="Consolas"/>
              </a:rPr>
              <a:t>  index =&gt; index.name</a:t>
            </a:r>
          </a:p>
          <a:p>
            <a:pPr>
              <a:spcBef>
                <a:spcPts val="0"/>
              </a:spcBef>
              <a:spcAft>
                <a:spcPts val="0"/>
              </a:spcAft>
            </a:pPr>
            <a:r>
              <a:rPr sz="1700" b="0" i="0">
                <a:solidFill>
                  <a:srgbClr val="000000"/>
                </a:solidFill>
                <a:latin typeface="Consolas"/>
              </a:rPr>
              <a:t>)</a:t>
            </a:r>
          </a:p>
        </p:txBody>
      </p:sp>
      <p:sp>
        <p:nvSpPr>
          <p:cNvPr id="6" name="Rectangle 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REMOVE ONE INDEX BY NAME</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Rounded Rectangle 3"/>
          <p:cNvSpPr/>
          <p:nvPr/>
        </p:nvSpPr>
        <p:spPr>
          <a:xfrm>
            <a:off x="457200" y="2983230"/>
            <a:ext cx="3840480" cy="1056132"/>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85216" y="3074670"/>
            <a:ext cx="3584448" cy="891540"/>
          </a:xfrm>
          <a:prstGeom prst="rect">
            <a:avLst/>
          </a:prstGeom>
          <a:noFill/>
        </p:spPr>
        <p:txBody>
          <a:bodyPr wrap="square" anchor="t" lIns="0" rIns="0" tIns="0" bIns="0">
            <a:spAutoFit/>
          </a:bodyPr>
          <a:lstStyle/>
          <a:p>
            <a:pPr>
              <a:spcBef>
                <a:spcPts val="0"/>
              </a:spcBef>
              <a:spcAft>
                <a:spcPts val="0"/>
              </a:spcAft>
            </a:pPr>
            <a:r>
              <a:rPr sz="1700" b="0" i="0">
                <a:solidFill>
                  <a:srgbClr val="000000"/>
                </a:solidFill>
                <a:latin typeface="Consolas"/>
              </a:rPr>
              <a:t>db.products.dropIndex(</a:t>
            </a:r>
          </a:p>
          <a:p>
            <a:pPr>
              <a:spcBef>
                <a:spcPts val="0"/>
              </a:spcBef>
              <a:spcAft>
                <a:spcPts val="0"/>
              </a:spcAft>
            </a:pPr>
            <a:r>
              <a:rPr sz="1700" b="0" i="0">
                <a:solidFill>
                  <a:srgbClr val="000000"/>
                </a:solidFill>
                <a:latin typeface="Consolas"/>
              </a:rPr>
              <a:t>  "idx_products_category"</a:t>
            </a:r>
          </a:p>
          <a:p>
            <a:pPr>
              <a:spcBef>
                <a:spcPts val="0"/>
              </a:spcBef>
              <a:spcAft>
                <a:spcPts val="0"/>
              </a:spcAft>
            </a:pPr>
            <a:r>
              <a:rPr sz="1700" b="0" i="0">
                <a:solidFill>
                  <a:srgbClr val="000000"/>
                </a:solidFill>
                <a:latin typeface="Consolas"/>
              </a:rPr>
              <a:t>)</a:t>
            </a:r>
          </a:p>
        </p:txBody>
      </p:sp>
      <p:sp>
        <p:nvSpPr>
          <p:cNvPr id="6" name="Rectangle 5"/>
          <p:cNvSpPr/>
          <p:nvPr/>
        </p:nvSpPr>
        <p:spPr>
          <a:xfrm>
            <a:off x="4471035" y="2094461"/>
            <a:ext cx="7242810" cy="2925110"/>
          </a:xfrm>
          <a:prstGeom prst="rect">
            <a:avLst/>
          </a:prstGeom>
          <a:solidFill>
            <a:srgbClr val="FFFFFF"/>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480560" y="2103986"/>
            <a:ext cx="7223760" cy="2906060"/>
          </a:xfrm>
          <a:prstGeom prst="rect">
            <a:avLst/>
          </a:prstGeom>
        </p:spPr>
      </p:pic>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REMOVE ONE INDEX BY KEY SPECIFICATION</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Rounded Rectangle 3"/>
          <p:cNvSpPr/>
          <p:nvPr/>
        </p:nvSpPr>
        <p:spPr>
          <a:xfrm>
            <a:off x="457200" y="2983230"/>
            <a:ext cx="11247120" cy="1056132"/>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85216" y="3074670"/>
            <a:ext cx="10991088" cy="891540"/>
          </a:xfrm>
          <a:prstGeom prst="rect">
            <a:avLst/>
          </a:prstGeom>
          <a:noFill/>
        </p:spPr>
        <p:txBody>
          <a:bodyPr wrap="square" anchor="t" lIns="0" rIns="0" tIns="0" bIns="0">
            <a:spAutoFit/>
          </a:bodyPr>
          <a:lstStyle/>
          <a:p>
            <a:pPr>
              <a:spcBef>
                <a:spcPts val="0"/>
              </a:spcBef>
              <a:spcAft>
                <a:spcPts val="0"/>
              </a:spcAft>
            </a:pPr>
            <a:r>
              <a:rPr sz="1700" b="0" i="0">
                <a:solidFill>
                  <a:srgbClr val="000000"/>
                </a:solidFill>
                <a:latin typeface="Consolas"/>
              </a:rPr>
              <a:t>db.products.dropIndex({</a:t>
            </a:r>
          </a:p>
          <a:p>
            <a:pPr>
              <a:spcBef>
                <a:spcPts val="0"/>
              </a:spcBef>
              <a:spcAft>
                <a:spcPts val="0"/>
              </a:spcAft>
            </a:pPr>
            <a:r>
              <a:rPr sz="1700" b="0" i="0">
                <a:solidFill>
                  <a:srgbClr val="000000"/>
                </a:solidFill>
                <a:latin typeface="Consolas"/>
              </a:rPr>
              <a:t>  category: 1</a:t>
            </a:r>
          </a:p>
          <a:p>
            <a:pPr>
              <a:spcBef>
                <a:spcPts val="0"/>
              </a:spcBef>
              <a:spcAft>
                <a:spcPts val="0"/>
              </a:spcAft>
            </a:pPr>
            <a:r>
              <a:rPr sz="1700" b="0" i="0">
                <a:solidFill>
                  <a:srgbClr val="000000"/>
                </a:solidFill>
                <a:latin typeface="Consolas"/>
              </a:rPr>
              <a:t>})</a:t>
            </a:r>
          </a:p>
        </p:txBody>
      </p:sp>
      <p:sp>
        <p:nvSpPr>
          <p:cNvPr id="6" name="Rectangle 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REMOVE ALL REMOVABLE INDEXES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347566"/>
            <a:ext cx="237744" cy="237744"/>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347566"/>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329278"/>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731614"/>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This retains the required </a:t>
            </a:r>
            <a:r>
              <a:rPr sz="2000" b="0" i="0">
                <a:solidFill>
                  <a:srgbClr val="000000"/>
                </a:solidFill>
                <a:latin typeface="Consolas"/>
              </a:rPr>
              <a:t>_id</a:t>
            </a:r>
            <a:r>
              <a:rPr sz="2000" b="0" i="0">
                <a:solidFill>
                  <a:srgbClr val="000000"/>
                </a:solidFill>
                <a:latin typeface="Nirmala UI"/>
              </a:rPr>
              <a:t> index.</a:t>
            </a:r>
          </a:p>
        </p:txBody>
      </p:sp>
      <p:sp>
        <p:nvSpPr>
          <p:cNvPr id="8" name="TextBox 7"/>
          <p:cNvSpPr txBox="1"/>
          <p:nvPr/>
        </p:nvSpPr>
        <p:spPr>
          <a:xfrm>
            <a:off x="457200" y="3301746"/>
            <a:ext cx="11247120" cy="81397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Removing an index can cause performance regressions. Confirm that important queries do not depend on it before dropping it.</a:t>
            </a:r>
          </a:p>
        </p:txBody>
      </p:sp>
      <p:sp>
        <p:nvSpPr>
          <p:cNvPr id="9" name="Rounded Rectangle 8"/>
          <p:cNvSpPr/>
          <p:nvPr/>
        </p:nvSpPr>
        <p:spPr>
          <a:xfrm>
            <a:off x="457200" y="4207158"/>
            <a:ext cx="11247120" cy="486156"/>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 y="4298598"/>
            <a:ext cx="10991088" cy="321564"/>
          </a:xfrm>
          <a:prstGeom prst="rect">
            <a:avLst/>
          </a:prstGeom>
          <a:noFill/>
        </p:spPr>
        <p:txBody>
          <a:bodyPr wrap="square" anchor="t" lIns="0" rIns="0" tIns="0" bIns="0">
            <a:spAutoFit/>
          </a:bodyPr>
          <a:lstStyle/>
          <a:p>
            <a:pPr>
              <a:spcBef>
                <a:spcPts val="0"/>
              </a:spcBef>
              <a:spcAft>
                <a:spcPts val="0"/>
              </a:spcAft>
            </a:pPr>
            <a:r>
              <a:rPr sz="1700" b="0" i="0">
                <a:solidFill>
                  <a:srgbClr val="000000"/>
                </a:solidFill>
                <a:latin typeface="Consolas"/>
              </a:rPr>
              <a:t>db.products.dropIndexes()</a:t>
            </a:r>
          </a:p>
        </p:txBody>
      </p:sp>
      <p:sp>
        <p:nvSpPr>
          <p:cNvPr id="11" name="Rectangle 1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HIDING AN INDEX FOR TESTING</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823232"/>
            <a:ext cx="237744" cy="237744"/>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823232"/>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804944"/>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207280"/>
            <a:ext cx="11247120" cy="81397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Instead of immediately dropping a questionable index, it can be hidden from the query planner:</a:t>
            </a:r>
          </a:p>
        </p:txBody>
      </p:sp>
      <p:sp>
        <p:nvSpPr>
          <p:cNvPr id="8" name="TextBox 7"/>
          <p:cNvSpPr txBox="1"/>
          <p:nvPr/>
        </p:nvSpPr>
        <p:spPr>
          <a:xfrm>
            <a:off x="457200" y="3112692"/>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Run representative tests while the index is hidden.</a:t>
            </a:r>
          </a:p>
        </p:txBody>
      </p:sp>
      <p:sp>
        <p:nvSpPr>
          <p:cNvPr id="9" name="TextBox 8"/>
          <p:cNvSpPr txBox="1"/>
          <p:nvPr/>
        </p:nvSpPr>
        <p:spPr>
          <a:xfrm>
            <a:off x="457200" y="3682824"/>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Restore it:</a:t>
            </a:r>
          </a:p>
        </p:txBody>
      </p:sp>
      <p:sp>
        <p:nvSpPr>
          <p:cNvPr id="10" name="Rounded Rectangle 9"/>
          <p:cNvSpPr/>
          <p:nvPr/>
        </p:nvSpPr>
        <p:spPr>
          <a:xfrm>
            <a:off x="457200" y="4252956"/>
            <a:ext cx="5550408" cy="804672"/>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 y="4344396"/>
            <a:ext cx="5294376" cy="640080"/>
          </a:xfrm>
          <a:prstGeom prst="rect">
            <a:avLst/>
          </a:prstGeom>
          <a:noFill/>
        </p:spPr>
        <p:txBody>
          <a:bodyPr wrap="square" anchor="t" lIns="0" rIns="0" tIns="0" bIns="0">
            <a:spAutoFit/>
          </a:bodyPr>
          <a:lstStyle/>
          <a:p>
            <a:pPr>
              <a:spcBef>
                <a:spcPts val="0"/>
              </a:spcBef>
              <a:spcAft>
                <a:spcPts val="0"/>
              </a:spcAft>
            </a:pPr>
            <a:r>
              <a:rPr sz="1200" b="0" i="0">
                <a:solidFill>
                  <a:srgbClr val="000000"/>
                </a:solidFill>
                <a:latin typeface="Consolas"/>
              </a:rPr>
              <a:t>db.products.hideIndex(</a:t>
            </a:r>
          </a:p>
          <a:p>
            <a:pPr>
              <a:spcBef>
                <a:spcPts val="0"/>
              </a:spcBef>
              <a:spcAft>
                <a:spcPts val="0"/>
              </a:spcAft>
            </a:pPr>
            <a:r>
              <a:rPr sz="1200" b="0" i="0">
                <a:solidFill>
                  <a:srgbClr val="000000"/>
                </a:solidFill>
                <a:latin typeface="Consolas"/>
              </a:rPr>
              <a:t>  "idx_products_category_price"</a:t>
            </a:r>
          </a:p>
          <a:p>
            <a:pPr>
              <a:spcBef>
                <a:spcPts val="0"/>
              </a:spcBef>
              <a:spcAft>
                <a:spcPts val="0"/>
              </a:spcAft>
            </a:pPr>
            <a:r>
              <a:rPr sz="1200" b="0" i="0">
                <a:solidFill>
                  <a:srgbClr val="000000"/>
                </a:solidFill>
                <a:latin typeface="Consolas"/>
              </a:rPr>
              <a:t>)</a:t>
            </a:r>
          </a:p>
        </p:txBody>
      </p:sp>
      <p:sp>
        <p:nvSpPr>
          <p:cNvPr id="12" name="Rounded Rectangle 11"/>
          <p:cNvSpPr/>
          <p:nvPr/>
        </p:nvSpPr>
        <p:spPr>
          <a:xfrm>
            <a:off x="6153912" y="4252956"/>
            <a:ext cx="5550408" cy="804672"/>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81928" y="4344396"/>
            <a:ext cx="5294376" cy="640080"/>
          </a:xfrm>
          <a:prstGeom prst="rect">
            <a:avLst/>
          </a:prstGeom>
          <a:noFill/>
        </p:spPr>
        <p:txBody>
          <a:bodyPr wrap="square" anchor="t" lIns="0" rIns="0" tIns="0" bIns="0">
            <a:spAutoFit/>
          </a:bodyPr>
          <a:lstStyle/>
          <a:p>
            <a:pPr>
              <a:spcBef>
                <a:spcPts val="0"/>
              </a:spcBef>
              <a:spcAft>
                <a:spcPts val="0"/>
              </a:spcAft>
            </a:pPr>
            <a:r>
              <a:rPr sz="1200" b="0" i="0">
                <a:solidFill>
                  <a:srgbClr val="000000"/>
                </a:solidFill>
                <a:latin typeface="Consolas"/>
              </a:rPr>
              <a:t>db.products.unhideIndex(</a:t>
            </a:r>
          </a:p>
          <a:p>
            <a:pPr>
              <a:spcBef>
                <a:spcPts val="0"/>
              </a:spcBef>
              <a:spcAft>
                <a:spcPts val="0"/>
              </a:spcAft>
            </a:pPr>
            <a:r>
              <a:rPr sz="1200" b="0" i="0">
                <a:solidFill>
                  <a:srgbClr val="000000"/>
                </a:solidFill>
                <a:latin typeface="Consolas"/>
              </a:rPr>
              <a:t>  "idx_products_category_price"</a:t>
            </a:r>
          </a:p>
          <a:p>
            <a:pPr>
              <a:spcBef>
                <a:spcPts val="0"/>
              </a:spcBef>
              <a:spcAft>
                <a:spcPts val="0"/>
              </a:spcAft>
            </a:pPr>
            <a:r>
              <a:rPr sz="1200" b="0" i="0">
                <a:solidFill>
                  <a:srgbClr val="000000"/>
                </a:solidFill>
                <a:latin typeface="Consolas"/>
              </a:rPr>
              <a:t>)</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HIDING AN INDEX FOR TESTING (CONT.)</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753790"/>
            <a:ext cx="237744" cy="237744"/>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753790"/>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735502"/>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3137838"/>
            <a:ext cx="11247120" cy="114925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Hiding is safer for evaluation because the existing index structure remains available and can be restored without rebuilding it. However, a hidden index still consumes storage and must still be maintained during writes.</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WITHOUT A SUITABLE INDEX</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865142"/>
            <a:ext cx="237744" cy="237744"/>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865142"/>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846854"/>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249190"/>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Consider:</a:t>
            </a:r>
          </a:p>
        </p:txBody>
      </p:sp>
      <p:sp>
        <p:nvSpPr>
          <p:cNvPr id="8" name="TextBox 7"/>
          <p:cNvSpPr txBox="1"/>
          <p:nvPr/>
        </p:nvSpPr>
        <p:spPr>
          <a:xfrm>
            <a:off x="457200" y="2819322"/>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MongoDB may perform:</a:t>
            </a:r>
          </a:p>
        </p:txBody>
      </p:sp>
      <p:sp>
        <p:nvSpPr>
          <p:cNvPr id="9" name="TextBox 8"/>
          <p:cNvSpPr txBox="1"/>
          <p:nvPr/>
        </p:nvSpPr>
        <p:spPr>
          <a:xfrm>
            <a:off x="457200" y="3389454"/>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This means it scans collection documents.</a:t>
            </a:r>
          </a:p>
        </p:txBody>
      </p:sp>
      <p:sp>
        <p:nvSpPr>
          <p:cNvPr id="10" name="Rounded Rectangle 9"/>
          <p:cNvSpPr/>
          <p:nvPr/>
        </p:nvSpPr>
        <p:spPr>
          <a:xfrm>
            <a:off x="457200" y="3959586"/>
            <a:ext cx="5550408" cy="905256"/>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 y="4051026"/>
            <a:ext cx="5294376" cy="740664"/>
          </a:xfrm>
          <a:prstGeom prst="rect">
            <a:avLst/>
          </a:prstGeom>
          <a:noFill/>
        </p:spPr>
        <p:txBody>
          <a:bodyPr wrap="square" anchor="t" lIns="0" rIns="0" tIns="0" bIns="0">
            <a:spAutoFit/>
          </a:bodyPr>
          <a:lstStyle/>
          <a:p>
            <a:pPr>
              <a:spcBef>
                <a:spcPts val="0"/>
              </a:spcBef>
              <a:spcAft>
                <a:spcPts val="0"/>
              </a:spcAft>
            </a:pPr>
            <a:r>
              <a:rPr sz="700" b="0" i="0">
                <a:solidFill>
                  <a:srgbClr val="000000"/>
                </a:solidFill>
                <a:latin typeface="Consolas"/>
              </a:rPr>
              <a:t>db.products.find({</a:t>
            </a:r>
          </a:p>
          <a:p>
            <a:pPr>
              <a:spcBef>
                <a:spcPts val="0"/>
              </a:spcBef>
              <a:spcAft>
                <a:spcPts val="0"/>
              </a:spcAft>
            </a:pPr>
            <a:r>
              <a:rPr sz="700" b="0" i="0">
                <a:solidFill>
                  <a:srgbClr val="000000"/>
                </a:solidFill>
                <a:latin typeface="Consolas"/>
              </a:rPr>
              <a:t>  category: "Electronics",</a:t>
            </a:r>
          </a:p>
          <a:p>
            <a:pPr>
              <a:spcBef>
                <a:spcPts val="0"/>
              </a:spcBef>
              <a:spcAft>
                <a:spcPts val="0"/>
              </a:spcAft>
            </a:pPr>
            <a:r>
              <a:rPr sz="700" b="0" i="0">
                <a:solidFill>
                  <a:srgbClr val="000000"/>
                </a:solidFill>
                <a:latin typeface="Consolas"/>
              </a:rPr>
              <a:t>  price: {</a:t>
            </a:r>
          </a:p>
          <a:p>
            <a:pPr>
              <a:spcBef>
                <a:spcPts val="0"/>
              </a:spcBef>
              <a:spcAft>
                <a:spcPts val="0"/>
              </a:spcAft>
            </a:pPr>
            <a:r>
              <a:rPr sz="700" b="0" i="0">
                <a:solidFill>
                  <a:srgbClr val="000000"/>
                </a:solidFill>
                <a:latin typeface="Consolas"/>
              </a:rPr>
              <a:t>    $lt: NumberDecimal("100.00")</a:t>
            </a:r>
          </a:p>
          <a:p>
            <a:pPr>
              <a:spcBef>
                <a:spcPts val="0"/>
              </a:spcBef>
              <a:spcAft>
                <a:spcPts val="0"/>
              </a:spcAft>
            </a:pPr>
            <a:r>
              <a:rPr sz="700" b="0" i="0">
                <a:solidFill>
                  <a:srgbClr val="000000"/>
                </a:solidFill>
                <a:latin typeface="Consolas"/>
              </a:rPr>
              <a:t>  }</a:t>
            </a:r>
          </a:p>
          <a:p>
            <a:pPr>
              <a:spcBef>
                <a:spcPts val="0"/>
              </a:spcBef>
              <a:spcAft>
                <a:spcPts val="0"/>
              </a:spcAft>
            </a:pPr>
            <a:r>
              <a:rPr sz="700" b="0" i="0">
                <a:solidFill>
                  <a:srgbClr val="000000"/>
                </a:solidFill>
                <a:latin typeface="Consolas"/>
              </a:rPr>
              <a:t>})</a:t>
            </a:r>
          </a:p>
        </p:txBody>
      </p:sp>
      <p:sp>
        <p:nvSpPr>
          <p:cNvPr id="12" name="Rounded Rectangle 11"/>
          <p:cNvSpPr/>
          <p:nvPr/>
        </p:nvSpPr>
        <p:spPr>
          <a:xfrm>
            <a:off x="6153912" y="3959586"/>
            <a:ext cx="5550408" cy="905256"/>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81928" y="4051026"/>
            <a:ext cx="5294376" cy="740664"/>
          </a:xfrm>
          <a:prstGeom prst="rect">
            <a:avLst/>
          </a:prstGeom>
          <a:noFill/>
        </p:spPr>
        <p:txBody>
          <a:bodyPr wrap="square" anchor="t" lIns="0" rIns="0" tIns="0" bIns="0">
            <a:spAutoFit/>
          </a:bodyPr>
          <a:lstStyle/>
          <a:p>
            <a:pPr>
              <a:spcBef>
                <a:spcPts val="0"/>
              </a:spcBef>
              <a:spcAft>
                <a:spcPts val="0"/>
              </a:spcAft>
            </a:pPr>
            <a:r>
              <a:rPr sz="700" b="0" i="0">
                <a:solidFill>
                  <a:srgbClr val="000000"/>
                </a:solidFill>
                <a:latin typeface="Consolas"/>
              </a:rPr>
              <a:t>COLLSCAN</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WITH A COMPOUND INDEX</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630584"/>
            <a:ext cx="237744" cy="237744"/>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30584"/>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612296"/>
            <a:ext cx="351129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014632"/>
            <a:ext cx="3840480" cy="392097"/>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MongoDB may perform:</a:t>
            </a:r>
          </a:p>
        </p:txBody>
      </p:sp>
      <p:sp>
        <p:nvSpPr>
          <p:cNvPr id="8" name="TextBox 7"/>
          <p:cNvSpPr txBox="1"/>
          <p:nvPr/>
        </p:nvSpPr>
        <p:spPr>
          <a:xfrm>
            <a:off x="457200" y="2498169"/>
            <a:ext cx="3840480" cy="1621299"/>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  </a:t>
            </a:r>
            <a:r>
              <a:rPr sz="1600" b="0" i="0">
                <a:solidFill>
                  <a:srgbClr val="000000"/>
                </a:solidFill>
                <a:latin typeface="Consolas"/>
              </a:rPr>
              <a:t>IXSCAN</a:t>
            </a:r>
            <a:r>
              <a:rPr sz="1600" b="0" i="0">
                <a:solidFill>
                  <a:srgbClr val="000000"/>
                </a:solidFill>
                <a:latin typeface="Nirmala UI"/>
              </a:rPr>
              <a:t> searches the index.</a:t>
            </a:r>
          </a:p>
          <a:p>
            <a:pPr>
              <a:spcBef>
                <a:spcPts val="0"/>
              </a:spcBef>
              <a:spcAft>
                <a:spcPts val="615"/>
              </a:spcAft>
            </a:pPr>
            <a:r>
              <a:rPr sz="1600" b="0" i="0">
                <a:solidFill>
                  <a:srgbClr val="000000"/>
                </a:solidFill>
                <a:latin typeface="Nirmala UI"/>
              </a:rPr>
              <a:t>•  </a:t>
            </a:r>
            <a:r>
              <a:rPr sz="1600" b="0" i="0">
                <a:solidFill>
                  <a:srgbClr val="000000"/>
                </a:solidFill>
                <a:latin typeface="Consolas"/>
              </a:rPr>
              <a:t>FETCH</a:t>
            </a:r>
            <a:r>
              <a:rPr sz="1600" b="0" i="0">
                <a:solidFill>
                  <a:srgbClr val="000000"/>
                </a:solidFill>
                <a:latin typeface="Nirmala UI"/>
              </a:rPr>
              <a:t> retrieves qualifying documents.</a:t>
            </a:r>
          </a:p>
          <a:p>
            <a:pPr>
              <a:spcBef>
                <a:spcPts val="0"/>
              </a:spcBef>
              <a:spcAft>
                <a:spcPts val="615"/>
              </a:spcAft>
            </a:pPr>
            <a:r>
              <a:rPr sz="1600" b="0" i="0">
                <a:solidFill>
                  <a:srgbClr val="000000"/>
                </a:solidFill>
                <a:latin typeface="Nirmala UI"/>
              </a:rPr>
              <a:t>•  </a:t>
            </a:r>
            <a:r>
              <a:rPr sz="1600" b="0" i="0">
                <a:solidFill>
                  <a:srgbClr val="000000"/>
                </a:solidFill>
                <a:latin typeface="Nirmala UI"/>
              </a:rPr>
              <a:t>The query avoids examining unrelated collection documents.</a:t>
            </a:r>
          </a:p>
        </p:txBody>
      </p:sp>
      <p:sp>
        <p:nvSpPr>
          <p:cNvPr id="9" name="Rounded Rectangle 8"/>
          <p:cNvSpPr/>
          <p:nvPr/>
        </p:nvSpPr>
        <p:spPr>
          <a:xfrm>
            <a:off x="457200" y="4210908"/>
            <a:ext cx="1847088" cy="737616"/>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 y="4302348"/>
            <a:ext cx="1591056" cy="573024"/>
          </a:xfrm>
          <a:prstGeom prst="rect">
            <a:avLst/>
          </a:prstGeom>
          <a:noFill/>
        </p:spPr>
        <p:txBody>
          <a:bodyPr wrap="square" anchor="t" lIns="0" rIns="0" tIns="0" bIns="0">
            <a:spAutoFit/>
          </a:bodyPr>
          <a:lstStyle/>
          <a:p>
            <a:pPr>
              <a:spcBef>
                <a:spcPts val="0"/>
              </a:spcBef>
              <a:spcAft>
                <a:spcPts val="0"/>
              </a:spcAft>
            </a:pPr>
            <a:r>
              <a:rPr sz="800" b="0" i="0">
                <a:solidFill>
                  <a:srgbClr val="000000"/>
                </a:solidFill>
                <a:latin typeface="Consolas"/>
              </a:rPr>
              <a:t>db.products.createIndex({</a:t>
            </a:r>
          </a:p>
          <a:p>
            <a:pPr>
              <a:spcBef>
                <a:spcPts val="0"/>
              </a:spcBef>
              <a:spcAft>
                <a:spcPts val="0"/>
              </a:spcAft>
            </a:pPr>
            <a:r>
              <a:rPr sz="800" b="0" i="0">
                <a:solidFill>
                  <a:srgbClr val="000000"/>
                </a:solidFill>
                <a:latin typeface="Consolas"/>
              </a:rPr>
              <a:t>  category: 1,</a:t>
            </a:r>
          </a:p>
          <a:p>
            <a:pPr>
              <a:spcBef>
                <a:spcPts val="0"/>
              </a:spcBef>
              <a:spcAft>
                <a:spcPts val="0"/>
              </a:spcAft>
            </a:pPr>
            <a:r>
              <a:rPr sz="800" b="0" i="0">
                <a:solidFill>
                  <a:srgbClr val="000000"/>
                </a:solidFill>
                <a:latin typeface="Consolas"/>
              </a:rPr>
              <a:t>  price: 1</a:t>
            </a:r>
          </a:p>
          <a:p>
            <a:pPr>
              <a:spcBef>
                <a:spcPts val="0"/>
              </a:spcBef>
              <a:spcAft>
                <a:spcPts val="0"/>
              </a:spcAft>
            </a:pPr>
            <a:r>
              <a:rPr sz="800" b="0" i="0">
                <a:solidFill>
                  <a:srgbClr val="000000"/>
                </a:solidFill>
                <a:latin typeface="Consolas"/>
              </a:rPr>
              <a:t>})</a:t>
            </a:r>
          </a:p>
        </p:txBody>
      </p:sp>
      <p:sp>
        <p:nvSpPr>
          <p:cNvPr id="11" name="Rounded Rectangle 10"/>
          <p:cNvSpPr/>
          <p:nvPr/>
        </p:nvSpPr>
        <p:spPr>
          <a:xfrm>
            <a:off x="2450592" y="4210908"/>
            <a:ext cx="1847088" cy="737616"/>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78608" y="4302348"/>
            <a:ext cx="1591056" cy="573024"/>
          </a:xfrm>
          <a:prstGeom prst="rect">
            <a:avLst/>
          </a:prstGeom>
          <a:noFill/>
        </p:spPr>
        <p:txBody>
          <a:bodyPr wrap="square" anchor="t" lIns="0" rIns="0" tIns="0" bIns="0">
            <a:spAutoFit/>
          </a:bodyPr>
          <a:lstStyle/>
          <a:p>
            <a:pPr>
              <a:spcBef>
                <a:spcPts val="0"/>
              </a:spcBef>
              <a:spcAft>
                <a:spcPts val="0"/>
              </a:spcAft>
            </a:pPr>
            <a:r>
              <a:rPr sz="800" b="0" i="0">
                <a:solidFill>
                  <a:srgbClr val="000000"/>
                </a:solidFill>
                <a:latin typeface="Consolas"/>
              </a:rPr>
              <a:t>IXSCAN → FETCH</a:t>
            </a:r>
          </a:p>
        </p:txBody>
      </p:sp>
      <p:sp>
        <p:nvSpPr>
          <p:cNvPr id="13" name="Rectangle 12"/>
          <p:cNvSpPr/>
          <p:nvPr/>
        </p:nvSpPr>
        <p:spPr>
          <a:xfrm>
            <a:off x="4471035" y="1960618"/>
            <a:ext cx="7242810" cy="3192796"/>
          </a:xfrm>
          <a:prstGeom prst="rect">
            <a:avLst/>
          </a:prstGeom>
          <a:solidFill>
            <a:srgbClr val="FFFFFF"/>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2"/>
          <a:stretch>
            <a:fillRect/>
          </a:stretch>
        </p:blipFill>
        <p:spPr>
          <a:xfrm>
            <a:off x="4480560" y="1970143"/>
            <a:ext cx="7223760" cy="3173746"/>
          </a:xfrm>
          <a:prstGeom prst="rect">
            <a:avLst/>
          </a:prstGeom>
        </p:spPr>
      </p:pic>
      <p:sp>
        <p:nvSpPr>
          <p:cNvPr id="15" name="Rectangle 1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PERFORMANCE IS NOT DETERMINED BY TIME ALONE</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541118"/>
            <a:ext cx="237744" cy="237744"/>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4111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52283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925166"/>
            <a:ext cx="11247120" cy="305503"/>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Execution time can vary because of:</a:t>
            </a:r>
          </a:p>
        </p:txBody>
      </p:sp>
      <p:sp>
        <p:nvSpPr>
          <p:cNvPr id="8" name="TextBox 7"/>
          <p:cNvSpPr txBox="1"/>
          <p:nvPr/>
        </p:nvSpPr>
        <p:spPr>
          <a:xfrm>
            <a:off x="457200" y="2322109"/>
            <a:ext cx="11247120" cy="1344635"/>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  </a:t>
            </a:r>
            <a:r>
              <a:rPr sz="1200" b="0" i="0">
                <a:solidFill>
                  <a:srgbClr val="000000"/>
                </a:solidFill>
                <a:latin typeface="Nirmala UI"/>
              </a:rPr>
              <a:t>Caching</a:t>
            </a:r>
          </a:p>
          <a:p>
            <a:pPr>
              <a:spcBef>
                <a:spcPts val="0"/>
              </a:spcBef>
              <a:spcAft>
                <a:spcPts val="461"/>
              </a:spcAft>
            </a:pPr>
            <a:r>
              <a:rPr sz="1200" b="0" i="0">
                <a:solidFill>
                  <a:srgbClr val="000000"/>
                </a:solidFill>
                <a:latin typeface="Nirmala UI"/>
              </a:rPr>
              <a:t>•  </a:t>
            </a:r>
            <a:r>
              <a:rPr sz="1200" b="0" i="0">
                <a:solidFill>
                  <a:srgbClr val="000000"/>
                </a:solidFill>
                <a:latin typeface="Nirmala UI"/>
              </a:rPr>
              <a:t>Hardware activity</a:t>
            </a:r>
          </a:p>
          <a:p>
            <a:pPr>
              <a:spcBef>
                <a:spcPts val="0"/>
              </a:spcBef>
              <a:spcAft>
                <a:spcPts val="461"/>
              </a:spcAft>
            </a:pPr>
            <a:r>
              <a:rPr sz="1200" b="0" i="0">
                <a:solidFill>
                  <a:srgbClr val="000000"/>
                </a:solidFill>
                <a:latin typeface="Nirmala UI"/>
              </a:rPr>
              <a:t>•  </a:t>
            </a:r>
            <a:r>
              <a:rPr sz="1200" b="0" i="0">
                <a:solidFill>
                  <a:srgbClr val="000000"/>
                </a:solidFill>
                <a:latin typeface="Nirmala UI"/>
              </a:rPr>
              <a:t>Dataset size</a:t>
            </a:r>
          </a:p>
          <a:p>
            <a:pPr>
              <a:spcBef>
                <a:spcPts val="0"/>
              </a:spcBef>
              <a:spcAft>
                <a:spcPts val="461"/>
              </a:spcAft>
            </a:pPr>
            <a:r>
              <a:rPr sz="1200" b="0" i="0">
                <a:solidFill>
                  <a:srgbClr val="000000"/>
                </a:solidFill>
                <a:latin typeface="Nirmala UI"/>
              </a:rPr>
              <a:t>•  </a:t>
            </a:r>
            <a:r>
              <a:rPr sz="1200" b="0" i="0">
                <a:solidFill>
                  <a:srgbClr val="000000"/>
                </a:solidFill>
                <a:latin typeface="Nirmala UI"/>
              </a:rPr>
              <a:t>Concurrent workloads</a:t>
            </a:r>
          </a:p>
          <a:p>
            <a:pPr>
              <a:spcBef>
                <a:spcPts val="0"/>
              </a:spcBef>
              <a:spcAft>
                <a:spcPts val="461"/>
              </a:spcAft>
            </a:pPr>
            <a:r>
              <a:rPr sz="1200" b="0" i="0">
                <a:solidFill>
                  <a:srgbClr val="000000"/>
                </a:solidFill>
                <a:latin typeface="Nirmala UI"/>
              </a:rPr>
              <a:t>•  </a:t>
            </a:r>
            <a:r>
              <a:rPr sz="1200" b="0" i="0">
                <a:solidFill>
                  <a:srgbClr val="000000"/>
                </a:solidFill>
                <a:latin typeface="Nirmala UI"/>
              </a:rPr>
              <a:t>Network latency</a:t>
            </a:r>
          </a:p>
        </p:txBody>
      </p:sp>
      <p:sp>
        <p:nvSpPr>
          <p:cNvPr id="9" name="TextBox 8"/>
          <p:cNvSpPr txBox="1"/>
          <p:nvPr/>
        </p:nvSpPr>
        <p:spPr>
          <a:xfrm>
            <a:off x="457200" y="3758184"/>
            <a:ext cx="11247120" cy="305503"/>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Also compare:</a:t>
            </a:r>
          </a:p>
        </p:txBody>
      </p:sp>
      <p:sp>
        <p:nvSpPr>
          <p:cNvPr id="10" name="TextBox 9"/>
          <p:cNvSpPr txBox="1"/>
          <p:nvPr/>
        </p:nvSpPr>
        <p:spPr>
          <a:xfrm>
            <a:off x="457200" y="4155127"/>
            <a:ext cx="11247120" cy="1344635"/>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  </a:t>
            </a:r>
            <a:r>
              <a:rPr sz="1200" b="0" i="0">
                <a:solidFill>
                  <a:srgbClr val="000000"/>
                </a:solidFill>
                <a:latin typeface="Consolas"/>
              </a:rPr>
              <a:t>totalDocsExamined</a:t>
            </a:r>
          </a:p>
          <a:p>
            <a:pPr>
              <a:spcBef>
                <a:spcPts val="0"/>
              </a:spcBef>
              <a:spcAft>
                <a:spcPts val="461"/>
              </a:spcAft>
            </a:pPr>
            <a:r>
              <a:rPr sz="1200" b="0" i="0">
                <a:solidFill>
                  <a:srgbClr val="000000"/>
                </a:solidFill>
                <a:latin typeface="Nirmala UI"/>
              </a:rPr>
              <a:t>•  </a:t>
            </a:r>
            <a:r>
              <a:rPr sz="1200" b="0" i="0">
                <a:solidFill>
                  <a:srgbClr val="000000"/>
                </a:solidFill>
                <a:latin typeface="Consolas"/>
              </a:rPr>
              <a:t>totalKeysExamined</a:t>
            </a:r>
          </a:p>
          <a:p>
            <a:pPr>
              <a:spcBef>
                <a:spcPts val="0"/>
              </a:spcBef>
              <a:spcAft>
                <a:spcPts val="461"/>
              </a:spcAft>
            </a:pPr>
            <a:r>
              <a:rPr sz="1200" b="0" i="0">
                <a:solidFill>
                  <a:srgbClr val="000000"/>
                </a:solidFill>
                <a:latin typeface="Nirmala UI"/>
              </a:rPr>
              <a:t>•  </a:t>
            </a:r>
            <a:r>
              <a:rPr sz="1200" b="0" i="0">
                <a:solidFill>
                  <a:srgbClr val="000000"/>
                </a:solidFill>
                <a:latin typeface="Consolas"/>
              </a:rPr>
              <a:t>nReturned</a:t>
            </a:r>
          </a:p>
          <a:p>
            <a:pPr>
              <a:spcBef>
                <a:spcPts val="0"/>
              </a:spcBef>
              <a:spcAft>
                <a:spcPts val="461"/>
              </a:spcAft>
            </a:pPr>
            <a:r>
              <a:rPr sz="1200" b="0" i="0">
                <a:solidFill>
                  <a:srgbClr val="000000"/>
                </a:solidFill>
                <a:latin typeface="Nirmala UI"/>
              </a:rPr>
              <a:t>•  </a:t>
            </a:r>
            <a:r>
              <a:rPr sz="1200" b="0" i="0">
                <a:solidFill>
                  <a:srgbClr val="000000"/>
                </a:solidFill>
                <a:latin typeface="Nirmala UI"/>
              </a:rPr>
              <a:t>Selected execution stage</a:t>
            </a:r>
          </a:p>
          <a:p>
            <a:pPr>
              <a:spcBef>
                <a:spcPts val="0"/>
              </a:spcBef>
              <a:spcAft>
                <a:spcPts val="461"/>
              </a:spcAft>
            </a:pPr>
            <a:r>
              <a:rPr sz="1200" b="0" i="0">
                <a:solidFill>
                  <a:srgbClr val="000000"/>
                </a:solidFill>
                <a:latin typeface="Nirmala UI"/>
              </a:rPr>
              <a:t>•  </a:t>
            </a:r>
            <a:r>
              <a:rPr sz="1200" b="0" i="0">
                <a:solidFill>
                  <a:srgbClr val="000000"/>
                </a:solidFill>
                <a:latin typeface="Nirmala UI"/>
              </a:rPr>
              <a:t>Whether a blocking sort occurred</a:t>
            </a:r>
          </a:p>
        </p:txBody>
      </p:sp>
      <p:sp>
        <p:nvSpPr>
          <p:cNvPr id="11" name="Rectangle 1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EXAMINING A QUERY PLAN</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781322"/>
            <a:ext cx="237744" cy="237744"/>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781322"/>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763034"/>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165370"/>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Use </a:t>
            </a:r>
            <a:r>
              <a:rPr sz="2000" b="0" i="0">
                <a:solidFill>
                  <a:srgbClr val="000000"/>
                </a:solidFill>
                <a:latin typeface="Consolas"/>
              </a:rPr>
              <a:t>explain("executionStats")</a:t>
            </a:r>
            <a:r>
              <a:rPr sz="2000" b="0" i="0">
                <a:solidFill>
                  <a:srgbClr val="000000"/>
                </a:solidFill>
                <a:latin typeface="Nirmala UI"/>
              </a:rPr>
              <a:t>:</a:t>
            </a:r>
          </a:p>
        </p:txBody>
      </p:sp>
      <p:sp>
        <p:nvSpPr>
          <p:cNvPr id="8" name="TextBox 7"/>
          <p:cNvSpPr txBox="1"/>
          <p:nvPr/>
        </p:nvSpPr>
        <p:spPr>
          <a:xfrm>
            <a:off x="457200" y="2735502"/>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An alternative form is:</a:t>
            </a:r>
          </a:p>
        </p:txBody>
      </p:sp>
      <p:sp>
        <p:nvSpPr>
          <p:cNvPr id="9" name="TextBox 8"/>
          <p:cNvSpPr txBox="1"/>
          <p:nvPr/>
        </p:nvSpPr>
        <p:spPr>
          <a:xfrm>
            <a:off x="457200" y="3305634"/>
            <a:ext cx="11247120" cy="81397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MongoDB’s </a:t>
            </a:r>
            <a:r>
              <a:rPr sz="2000" b="0" i="0">
                <a:solidFill>
                  <a:srgbClr val="000000"/>
                </a:solidFill>
                <a:latin typeface="Consolas"/>
              </a:rPr>
              <a:t>executionStats</a:t>
            </a:r>
            <a:r>
              <a:rPr sz="2000" b="0" i="0">
                <a:solidFill>
                  <a:srgbClr val="000000"/>
                </a:solidFill>
                <a:latin typeface="Nirmala UI"/>
              </a:rPr>
              <a:t> mode reports query execution information including index use and examined documents.</a:t>
            </a:r>
          </a:p>
        </p:txBody>
      </p:sp>
      <p:sp>
        <p:nvSpPr>
          <p:cNvPr id="10" name="Rounded Rectangle 9"/>
          <p:cNvSpPr/>
          <p:nvPr/>
        </p:nvSpPr>
        <p:spPr>
          <a:xfrm>
            <a:off x="457200" y="4211046"/>
            <a:ext cx="5550408" cy="1005840"/>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 y="4302486"/>
            <a:ext cx="5294376" cy="841248"/>
          </a:xfrm>
          <a:prstGeom prst="rect">
            <a:avLst/>
          </a:prstGeom>
          <a:noFill/>
        </p:spPr>
        <p:txBody>
          <a:bodyPr wrap="square" anchor="t" lIns="0" rIns="0" tIns="0" bIns="0">
            <a:spAutoFit/>
          </a:bodyPr>
          <a:lstStyle/>
          <a:p>
            <a:pPr>
              <a:spcBef>
                <a:spcPts val="0"/>
              </a:spcBef>
              <a:spcAft>
                <a:spcPts val="0"/>
              </a:spcAft>
            </a:pPr>
            <a:r>
              <a:rPr sz="600" b="0" i="0">
                <a:solidFill>
                  <a:srgbClr val="000000"/>
                </a:solidFill>
                <a:latin typeface="Consolas"/>
              </a:rPr>
              <a:t>db.products.find({</a:t>
            </a:r>
          </a:p>
          <a:p>
            <a:pPr>
              <a:spcBef>
                <a:spcPts val="0"/>
              </a:spcBef>
              <a:spcAft>
                <a:spcPts val="0"/>
              </a:spcAft>
            </a:pPr>
            <a:r>
              <a:rPr sz="600" b="0" i="0">
                <a:solidFill>
                  <a:srgbClr val="000000"/>
                </a:solidFill>
                <a:latin typeface="Consolas"/>
              </a:rPr>
              <a:t>  category: "Electronics",</a:t>
            </a:r>
          </a:p>
          <a:p>
            <a:pPr>
              <a:spcBef>
                <a:spcPts val="0"/>
              </a:spcBef>
              <a:spcAft>
                <a:spcPts val="0"/>
              </a:spcAft>
            </a:pPr>
            <a:r>
              <a:rPr sz="600" b="0" i="0">
                <a:solidFill>
                  <a:srgbClr val="000000"/>
                </a:solidFill>
                <a:latin typeface="Consolas"/>
              </a:rPr>
              <a:t>  price: {</a:t>
            </a:r>
          </a:p>
          <a:p>
            <a:pPr>
              <a:spcBef>
                <a:spcPts val="0"/>
              </a:spcBef>
              <a:spcAft>
                <a:spcPts val="0"/>
              </a:spcAft>
            </a:pPr>
            <a:r>
              <a:rPr sz="600" b="0" i="0">
                <a:solidFill>
                  <a:srgbClr val="000000"/>
                </a:solidFill>
                <a:latin typeface="Consolas"/>
              </a:rPr>
              <a:t>    $lt: NumberDecimal("100.00")</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}).explain("executionStats")</a:t>
            </a:r>
          </a:p>
        </p:txBody>
      </p:sp>
      <p:sp>
        <p:nvSpPr>
          <p:cNvPr id="12" name="Rounded Rectangle 11"/>
          <p:cNvSpPr/>
          <p:nvPr/>
        </p:nvSpPr>
        <p:spPr>
          <a:xfrm>
            <a:off x="6153912" y="4211046"/>
            <a:ext cx="5550408" cy="1005840"/>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81928" y="4302486"/>
            <a:ext cx="5294376" cy="841248"/>
          </a:xfrm>
          <a:prstGeom prst="rect">
            <a:avLst/>
          </a:prstGeom>
          <a:noFill/>
        </p:spPr>
        <p:txBody>
          <a:bodyPr wrap="square" anchor="t" lIns="0" rIns="0" tIns="0" bIns="0">
            <a:spAutoFit/>
          </a:bodyPr>
          <a:lstStyle/>
          <a:p>
            <a:pPr>
              <a:spcBef>
                <a:spcPts val="0"/>
              </a:spcBef>
              <a:spcAft>
                <a:spcPts val="0"/>
              </a:spcAft>
            </a:pPr>
            <a:r>
              <a:rPr sz="600" b="0" i="0">
                <a:solidFill>
                  <a:srgbClr val="000000"/>
                </a:solidFill>
                <a:latin typeface="Consolas"/>
              </a:rPr>
              <a:t>db.products.explain(</a:t>
            </a:r>
          </a:p>
          <a:p>
            <a:pPr>
              <a:spcBef>
                <a:spcPts val="0"/>
              </a:spcBef>
              <a:spcAft>
                <a:spcPts val="0"/>
              </a:spcAft>
            </a:pPr>
            <a:r>
              <a:rPr sz="600" b="0" i="0">
                <a:solidFill>
                  <a:srgbClr val="000000"/>
                </a:solidFill>
                <a:latin typeface="Consolas"/>
              </a:rPr>
              <a:t>  "executionStats"</a:t>
            </a:r>
          </a:p>
          <a:p>
            <a:pPr>
              <a:spcBef>
                <a:spcPts val="0"/>
              </a:spcBef>
              <a:spcAft>
                <a:spcPts val="0"/>
              </a:spcAft>
            </a:pPr>
            <a:r>
              <a:rPr sz="600" b="0" i="0">
                <a:solidFill>
                  <a:srgbClr val="000000"/>
                </a:solidFill>
                <a:latin typeface="Consolas"/>
              </a:rPr>
              <a:t>).find({</a:t>
            </a:r>
          </a:p>
          <a:p>
            <a:pPr>
              <a:spcBef>
                <a:spcPts val="0"/>
              </a:spcBef>
              <a:spcAft>
                <a:spcPts val="0"/>
              </a:spcAft>
            </a:pPr>
            <a:r>
              <a:rPr sz="600" b="0" i="0">
                <a:solidFill>
                  <a:srgbClr val="000000"/>
                </a:solidFill>
                <a:latin typeface="Consolas"/>
              </a:rPr>
              <a:t>  category: "Electronics",</a:t>
            </a:r>
          </a:p>
          <a:p>
            <a:pPr>
              <a:spcBef>
                <a:spcPts val="0"/>
              </a:spcBef>
              <a:spcAft>
                <a:spcPts val="0"/>
              </a:spcAft>
            </a:pPr>
            <a:r>
              <a:rPr sz="600" b="0" i="0">
                <a:solidFill>
                  <a:srgbClr val="000000"/>
                </a:solidFill>
                <a:latin typeface="Consolas"/>
              </a:rPr>
              <a:t>  price: {</a:t>
            </a:r>
          </a:p>
          <a:p>
            <a:pPr>
              <a:spcBef>
                <a:spcPts val="0"/>
              </a:spcBef>
              <a:spcAft>
                <a:spcPts val="0"/>
              </a:spcAft>
            </a:pPr>
            <a:r>
              <a:rPr sz="600" b="0" i="0">
                <a:solidFill>
                  <a:srgbClr val="000000"/>
                </a:solidFill>
                <a:latin typeface="Consolas"/>
              </a:rPr>
              <a:t>    $lt: NumberDecimal("100.00")</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IMPORTANT FIELDS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449013"/>
            <a:ext cx="237744" cy="237744"/>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49013"/>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430725"/>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833061"/>
            <a:ext cx="11247120" cy="392097"/>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 </a:t>
            </a:r>
            <a:r>
              <a:rPr sz="1600" b="0" i="0">
                <a:solidFill>
                  <a:srgbClr val="000000"/>
                </a:solidFill>
                <a:latin typeface="Consolas"/>
              </a:rPr>
              <a:t>winningPlan</a:t>
            </a:r>
          </a:p>
        </p:txBody>
      </p:sp>
      <p:sp>
        <p:nvSpPr>
          <p:cNvPr id="8" name="TextBox 7"/>
          <p:cNvSpPr txBox="1"/>
          <p:nvPr/>
        </p:nvSpPr>
        <p:spPr>
          <a:xfrm>
            <a:off x="457200" y="2316598"/>
            <a:ext cx="11247120" cy="392097"/>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Shows the plan chosen by the query optimizer.</a:t>
            </a:r>
          </a:p>
        </p:txBody>
      </p:sp>
      <p:sp>
        <p:nvSpPr>
          <p:cNvPr id="9" name="TextBox 8"/>
          <p:cNvSpPr txBox="1"/>
          <p:nvPr/>
        </p:nvSpPr>
        <p:spPr>
          <a:xfrm>
            <a:off x="457200" y="2800135"/>
            <a:ext cx="11247120" cy="392097"/>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Look for stages such as:</a:t>
            </a:r>
          </a:p>
        </p:txBody>
      </p:sp>
      <p:sp>
        <p:nvSpPr>
          <p:cNvPr id="10" name="TextBox 9"/>
          <p:cNvSpPr txBox="1"/>
          <p:nvPr/>
        </p:nvSpPr>
        <p:spPr>
          <a:xfrm>
            <a:off x="457200" y="3283672"/>
            <a:ext cx="11247120" cy="392097"/>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 </a:t>
            </a:r>
            <a:r>
              <a:rPr sz="1600" b="0" i="0">
                <a:solidFill>
                  <a:srgbClr val="000000"/>
                </a:solidFill>
                <a:latin typeface="Consolas"/>
              </a:rPr>
              <a:t>nReturned</a:t>
            </a:r>
          </a:p>
        </p:txBody>
      </p:sp>
      <p:sp>
        <p:nvSpPr>
          <p:cNvPr id="11" name="TextBox 10"/>
          <p:cNvSpPr txBox="1"/>
          <p:nvPr/>
        </p:nvSpPr>
        <p:spPr>
          <a:xfrm>
            <a:off x="457200" y="3767209"/>
            <a:ext cx="11247120" cy="392097"/>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Number of documents returned to the caller.</a:t>
            </a:r>
          </a:p>
        </p:txBody>
      </p:sp>
      <p:sp>
        <p:nvSpPr>
          <p:cNvPr id="12" name="Rounded Rectangle 11"/>
          <p:cNvSpPr/>
          <p:nvPr/>
        </p:nvSpPr>
        <p:spPr>
          <a:xfrm>
            <a:off x="457200" y="4250746"/>
            <a:ext cx="11247120" cy="1341120"/>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5216" y="4342186"/>
            <a:ext cx="10991088" cy="1176528"/>
          </a:xfrm>
          <a:prstGeom prst="rect">
            <a:avLst/>
          </a:prstGeom>
          <a:noFill/>
        </p:spPr>
        <p:txBody>
          <a:bodyPr wrap="square" anchor="t" lIns="0" rIns="0" tIns="0" bIns="0">
            <a:spAutoFit/>
          </a:bodyPr>
          <a:lstStyle/>
          <a:p>
            <a:pPr>
              <a:spcBef>
                <a:spcPts val="0"/>
              </a:spcBef>
              <a:spcAft>
                <a:spcPts val="0"/>
              </a:spcAft>
            </a:pPr>
            <a:r>
              <a:rPr sz="1700" b="0" i="0">
                <a:solidFill>
                  <a:srgbClr val="000000"/>
                </a:solidFill>
                <a:latin typeface="Consolas"/>
              </a:rPr>
              <a:t>COLLSCAN</a:t>
            </a:r>
          </a:p>
          <a:p>
            <a:pPr>
              <a:spcBef>
                <a:spcPts val="0"/>
              </a:spcBef>
              <a:spcAft>
                <a:spcPts val="0"/>
              </a:spcAft>
            </a:pPr>
            <a:r>
              <a:rPr sz="1700" b="0" i="0">
                <a:solidFill>
                  <a:srgbClr val="000000"/>
                </a:solidFill>
                <a:latin typeface="Consolas"/>
              </a:rPr>
              <a:t>IXSCAN</a:t>
            </a:r>
          </a:p>
          <a:p>
            <a:pPr>
              <a:spcBef>
                <a:spcPts val="0"/>
              </a:spcBef>
              <a:spcAft>
                <a:spcPts val="0"/>
              </a:spcAft>
            </a:pPr>
            <a:r>
              <a:rPr sz="1700" b="0" i="0">
                <a:solidFill>
                  <a:srgbClr val="000000"/>
                </a:solidFill>
                <a:latin typeface="Consolas"/>
              </a:rPr>
              <a:t>FETCH</a:t>
            </a:r>
          </a:p>
          <a:p>
            <a:pPr>
              <a:spcBef>
                <a:spcPts val="0"/>
              </a:spcBef>
              <a:spcAft>
                <a:spcPts val="0"/>
              </a:spcAft>
            </a:pPr>
            <a:r>
              <a:rPr sz="1700" b="0" i="0">
                <a:solidFill>
                  <a:srgbClr val="000000"/>
                </a:solidFill>
                <a:latin typeface="Consolas"/>
              </a:rPr>
              <a:t>SORT</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IMPORTANT FIELDS (CONT.)</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591507"/>
            <a:ext cx="237744" cy="237744"/>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91507"/>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573219"/>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975555"/>
            <a:ext cx="11247120" cy="392097"/>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 </a:t>
            </a:r>
            <a:r>
              <a:rPr sz="1600" b="0" i="0">
                <a:solidFill>
                  <a:srgbClr val="000000"/>
                </a:solidFill>
                <a:latin typeface="Consolas"/>
              </a:rPr>
              <a:t>totalDocsExamined</a:t>
            </a:r>
          </a:p>
        </p:txBody>
      </p:sp>
      <p:sp>
        <p:nvSpPr>
          <p:cNvPr id="8" name="TextBox 7"/>
          <p:cNvSpPr txBox="1"/>
          <p:nvPr/>
        </p:nvSpPr>
        <p:spPr>
          <a:xfrm>
            <a:off x="457200" y="2459092"/>
            <a:ext cx="11247120" cy="392097"/>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Number of collection documents inspected.</a:t>
            </a:r>
          </a:p>
        </p:txBody>
      </p:sp>
      <p:sp>
        <p:nvSpPr>
          <p:cNvPr id="9" name="TextBox 8"/>
          <p:cNvSpPr txBox="1"/>
          <p:nvPr/>
        </p:nvSpPr>
        <p:spPr>
          <a:xfrm>
            <a:off x="457200" y="2942629"/>
            <a:ext cx="11247120" cy="392097"/>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 </a:t>
            </a:r>
            <a:r>
              <a:rPr sz="1600" b="0" i="0">
                <a:solidFill>
                  <a:srgbClr val="000000"/>
                </a:solidFill>
                <a:latin typeface="Consolas"/>
              </a:rPr>
              <a:t>totalKeysExamined</a:t>
            </a:r>
          </a:p>
        </p:txBody>
      </p:sp>
      <p:sp>
        <p:nvSpPr>
          <p:cNvPr id="10" name="TextBox 9"/>
          <p:cNvSpPr txBox="1"/>
          <p:nvPr/>
        </p:nvSpPr>
        <p:spPr>
          <a:xfrm>
            <a:off x="457200" y="3426166"/>
            <a:ext cx="11247120" cy="392097"/>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Number of index entries inspected.</a:t>
            </a:r>
          </a:p>
        </p:txBody>
      </p:sp>
      <p:sp>
        <p:nvSpPr>
          <p:cNvPr id="11" name="TextBox 10"/>
          <p:cNvSpPr txBox="1"/>
          <p:nvPr/>
        </p:nvSpPr>
        <p:spPr>
          <a:xfrm>
            <a:off x="457200" y="3909703"/>
            <a:ext cx="11247120" cy="392097"/>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 Example interpretation</a:t>
            </a:r>
          </a:p>
        </p:txBody>
      </p:sp>
      <p:sp>
        <p:nvSpPr>
          <p:cNvPr id="12" name="Rounded Rectangle 11"/>
          <p:cNvSpPr/>
          <p:nvPr/>
        </p:nvSpPr>
        <p:spPr>
          <a:xfrm>
            <a:off x="457200" y="4393240"/>
            <a:ext cx="11247120" cy="1056132"/>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5216" y="4484680"/>
            <a:ext cx="10991088" cy="891540"/>
          </a:xfrm>
          <a:prstGeom prst="rect">
            <a:avLst/>
          </a:prstGeom>
          <a:noFill/>
        </p:spPr>
        <p:txBody>
          <a:bodyPr wrap="square" anchor="t" lIns="0" rIns="0" tIns="0" bIns="0">
            <a:spAutoFit/>
          </a:bodyPr>
          <a:lstStyle/>
          <a:p>
            <a:pPr>
              <a:spcBef>
                <a:spcPts val="0"/>
              </a:spcBef>
              <a:spcAft>
                <a:spcPts val="0"/>
              </a:spcAft>
            </a:pPr>
            <a:r>
              <a:rPr sz="1700" b="0" i="0">
                <a:solidFill>
                  <a:srgbClr val="000000"/>
                </a:solidFill>
                <a:latin typeface="Consolas"/>
              </a:rPr>
              <a:t>nReturned:         10</a:t>
            </a:r>
          </a:p>
          <a:p>
            <a:pPr>
              <a:spcBef>
                <a:spcPts val="0"/>
              </a:spcBef>
              <a:spcAft>
                <a:spcPts val="0"/>
              </a:spcAft>
            </a:pPr>
            <a:r>
              <a:rPr sz="1700" b="0" i="0">
                <a:solidFill>
                  <a:srgbClr val="000000"/>
                </a:solidFill>
                <a:latin typeface="Consolas"/>
              </a:rPr>
              <a:t>totalKeysExamined: 10</a:t>
            </a:r>
          </a:p>
          <a:p>
            <a:pPr>
              <a:spcBef>
                <a:spcPts val="0"/>
              </a:spcBef>
              <a:spcAft>
                <a:spcPts val="0"/>
              </a:spcAft>
            </a:pPr>
            <a:r>
              <a:rPr sz="1700" b="0" i="0">
                <a:solidFill>
                  <a:srgbClr val="000000"/>
                </a:solidFill>
                <a:latin typeface="Consolas"/>
              </a:rPr>
              <a:t>totalDocsExamined: 10</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IMPORTANT FIELDS (CONT.)</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062578"/>
            <a:ext cx="237744" cy="237744"/>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6257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04429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446626"/>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This may indicate a selective and efficient indexed query.</a:t>
            </a:r>
          </a:p>
        </p:txBody>
      </p:sp>
      <p:sp>
        <p:nvSpPr>
          <p:cNvPr id="8" name="TextBox 7"/>
          <p:cNvSpPr txBox="1"/>
          <p:nvPr/>
        </p:nvSpPr>
        <p:spPr>
          <a:xfrm>
            <a:off x="457200" y="3016758"/>
            <a:ext cx="11247120" cy="81397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An index may have been used, but the query still examines many unnecessary entries and documents.</a:t>
            </a:r>
          </a:p>
        </p:txBody>
      </p:sp>
      <p:sp>
        <p:nvSpPr>
          <p:cNvPr id="9" name="Rounded Rectangle 8"/>
          <p:cNvSpPr/>
          <p:nvPr/>
        </p:nvSpPr>
        <p:spPr>
          <a:xfrm>
            <a:off x="457200" y="3922170"/>
            <a:ext cx="11247120" cy="1056132"/>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 y="4013610"/>
            <a:ext cx="10991088" cy="891540"/>
          </a:xfrm>
          <a:prstGeom prst="rect">
            <a:avLst/>
          </a:prstGeom>
          <a:noFill/>
        </p:spPr>
        <p:txBody>
          <a:bodyPr wrap="square" anchor="t" lIns="0" rIns="0" tIns="0" bIns="0">
            <a:spAutoFit/>
          </a:bodyPr>
          <a:lstStyle/>
          <a:p>
            <a:pPr>
              <a:spcBef>
                <a:spcPts val="0"/>
              </a:spcBef>
              <a:spcAft>
                <a:spcPts val="0"/>
              </a:spcAft>
            </a:pPr>
            <a:r>
              <a:rPr sz="1700" b="0" i="0">
                <a:solidFill>
                  <a:srgbClr val="000000"/>
                </a:solidFill>
                <a:latin typeface="Consolas"/>
              </a:rPr>
              <a:t>nReturned:         10</a:t>
            </a:r>
          </a:p>
          <a:p>
            <a:pPr>
              <a:spcBef>
                <a:spcPts val="0"/>
              </a:spcBef>
              <a:spcAft>
                <a:spcPts val="0"/>
              </a:spcAft>
            </a:pPr>
            <a:r>
              <a:rPr sz="1700" b="0" i="0">
                <a:solidFill>
                  <a:srgbClr val="000000"/>
                </a:solidFill>
                <a:latin typeface="Consolas"/>
              </a:rPr>
              <a:t>totalKeysExamined: 100,000</a:t>
            </a:r>
          </a:p>
          <a:p>
            <a:pPr>
              <a:spcBef>
                <a:spcPts val="0"/>
              </a:spcBef>
              <a:spcAft>
                <a:spcPts val="0"/>
              </a:spcAft>
            </a:pPr>
            <a:r>
              <a:rPr sz="1700" b="0" i="0">
                <a:solidFill>
                  <a:srgbClr val="000000"/>
                </a:solidFill>
                <a:latin typeface="Consolas"/>
              </a:rPr>
              <a:t>totalDocsExamined: 80,000</a:t>
            </a:r>
          </a:p>
        </p:txBody>
      </p:sp>
      <p:sp>
        <p:nvSpPr>
          <p:cNvPr id="11" name="Rectangle 1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STEP 1: INSPECT THE QUERY</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Rounded Rectangle 3"/>
          <p:cNvSpPr/>
          <p:nvPr/>
        </p:nvSpPr>
        <p:spPr>
          <a:xfrm>
            <a:off x="457200" y="2698242"/>
            <a:ext cx="11247120" cy="1626108"/>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85216" y="2789682"/>
            <a:ext cx="10991088" cy="1461516"/>
          </a:xfrm>
          <a:prstGeom prst="rect">
            <a:avLst/>
          </a:prstGeom>
          <a:noFill/>
        </p:spPr>
        <p:txBody>
          <a:bodyPr wrap="square" anchor="t" lIns="0" rIns="0" tIns="0" bIns="0">
            <a:spAutoFit/>
          </a:bodyPr>
          <a:lstStyle/>
          <a:p>
            <a:pPr>
              <a:spcBef>
                <a:spcPts val="0"/>
              </a:spcBef>
              <a:spcAft>
                <a:spcPts val="0"/>
              </a:spcAft>
            </a:pPr>
            <a:r>
              <a:rPr sz="1700" b="0" i="0">
                <a:solidFill>
                  <a:srgbClr val="000000"/>
                </a:solidFill>
                <a:latin typeface="Consolas"/>
              </a:rPr>
              <a:t>db.orders.find({</a:t>
            </a:r>
          </a:p>
          <a:p>
            <a:pPr>
              <a:spcBef>
                <a:spcPts val="0"/>
              </a:spcBef>
              <a:spcAft>
                <a:spcPts val="0"/>
              </a:spcAft>
            </a:pPr>
            <a:r>
              <a:rPr sz="1700" b="0" i="0">
                <a:solidFill>
                  <a:srgbClr val="000000"/>
                </a:solidFill>
                <a:latin typeface="Consolas"/>
              </a:rPr>
              <a:t>  customerId: ObjectId("66a100000000000000000001")</a:t>
            </a:r>
          </a:p>
          <a:p>
            <a:pPr>
              <a:spcBef>
                <a:spcPts val="0"/>
              </a:spcBef>
              <a:spcAft>
                <a:spcPts val="0"/>
              </a:spcAft>
            </a:pPr>
            <a:r>
              <a:rPr sz="1700" b="0" i="0">
                <a:solidFill>
                  <a:srgbClr val="000000"/>
                </a:solidFill>
                <a:latin typeface="Consolas"/>
              </a:rPr>
              <a:t>}).sort({</a:t>
            </a:r>
          </a:p>
          <a:p>
            <a:pPr>
              <a:spcBef>
                <a:spcPts val="0"/>
              </a:spcBef>
              <a:spcAft>
                <a:spcPts val="0"/>
              </a:spcAft>
            </a:pPr>
            <a:r>
              <a:rPr sz="1700" b="0" i="0">
                <a:solidFill>
                  <a:srgbClr val="000000"/>
                </a:solidFill>
                <a:latin typeface="Consolas"/>
              </a:rPr>
              <a:t>  orderedAt: -1</a:t>
            </a:r>
          </a:p>
          <a:p>
            <a:pPr>
              <a:spcBef>
                <a:spcPts val="0"/>
              </a:spcBef>
              <a:spcAft>
                <a:spcPts val="0"/>
              </a:spcAft>
            </a:pPr>
            <a:r>
              <a:rPr sz="1700" b="0" i="0">
                <a:solidFill>
                  <a:srgbClr val="000000"/>
                </a:solidFill>
                <a:latin typeface="Consolas"/>
              </a:rPr>
              <a:t>}).explain("executionStats")</a:t>
            </a:r>
          </a:p>
        </p:txBody>
      </p:sp>
      <p:sp>
        <p:nvSpPr>
          <p:cNvPr id="6" name="Rectangle 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STEP 2: CREATE AN INDEX MATCHING THE FILTER AND SORT</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Rounded Rectangle 3"/>
          <p:cNvSpPr/>
          <p:nvPr/>
        </p:nvSpPr>
        <p:spPr>
          <a:xfrm>
            <a:off x="457200" y="2128266"/>
            <a:ext cx="11247120" cy="2766060"/>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85216" y="2219706"/>
            <a:ext cx="10991088" cy="2601468"/>
          </a:xfrm>
          <a:prstGeom prst="rect">
            <a:avLst/>
          </a:prstGeom>
          <a:noFill/>
        </p:spPr>
        <p:txBody>
          <a:bodyPr wrap="square" anchor="t" lIns="0" rIns="0" tIns="0" bIns="0">
            <a:spAutoFit/>
          </a:bodyPr>
          <a:lstStyle/>
          <a:p>
            <a:pPr>
              <a:spcBef>
                <a:spcPts val="0"/>
              </a:spcBef>
              <a:spcAft>
                <a:spcPts val="0"/>
              </a:spcAft>
            </a:pPr>
            <a:r>
              <a:rPr sz="1700" b="0" i="0">
                <a:solidFill>
                  <a:srgbClr val="000000"/>
                </a:solidFill>
                <a:latin typeface="Consolas"/>
              </a:rPr>
              <a:t>db.orders.createIndex(</a:t>
            </a:r>
          </a:p>
          <a:p>
            <a:pPr>
              <a:spcBef>
                <a:spcPts val="0"/>
              </a:spcBef>
              <a:spcAft>
                <a:spcPts val="0"/>
              </a:spcAft>
            </a:pPr>
            <a:r>
              <a:rPr sz="1700" b="0" i="0">
                <a:solidFill>
                  <a:srgbClr val="000000"/>
                </a:solidFill>
                <a:latin typeface="Consolas"/>
              </a:rPr>
              <a:t>  {</a:t>
            </a:r>
          </a:p>
          <a:p>
            <a:pPr>
              <a:spcBef>
                <a:spcPts val="0"/>
              </a:spcBef>
              <a:spcAft>
                <a:spcPts val="0"/>
              </a:spcAft>
            </a:pPr>
            <a:r>
              <a:rPr sz="1700" b="0" i="0">
                <a:solidFill>
                  <a:srgbClr val="000000"/>
                </a:solidFill>
                <a:latin typeface="Consolas"/>
              </a:rPr>
              <a:t>    customerId: 1,</a:t>
            </a:r>
          </a:p>
          <a:p>
            <a:pPr>
              <a:spcBef>
                <a:spcPts val="0"/>
              </a:spcBef>
              <a:spcAft>
                <a:spcPts val="0"/>
              </a:spcAft>
            </a:pPr>
            <a:r>
              <a:rPr sz="1700" b="0" i="0">
                <a:solidFill>
                  <a:srgbClr val="000000"/>
                </a:solidFill>
                <a:latin typeface="Consolas"/>
              </a:rPr>
              <a:t>    orderedAt: -1</a:t>
            </a:r>
          </a:p>
          <a:p>
            <a:pPr>
              <a:spcBef>
                <a:spcPts val="0"/>
              </a:spcBef>
              <a:spcAft>
                <a:spcPts val="0"/>
              </a:spcAft>
            </a:pPr>
            <a:r>
              <a:rPr sz="1700" b="0" i="0">
                <a:solidFill>
                  <a:srgbClr val="000000"/>
                </a:solidFill>
                <a:latin typeface="Consolas"/>
              </a:rPr>
              <a:t>  },</a:t>
            </a:r>
          </a:p>
          <a:p>
            <a:pPr>
              <a:spcBef>
                <a:spcPts val="0"/>
              </a:spcBef>
              <a:spcAft>
                <a:spcPts val="0"/>
              </a:spcAft>
            </a:pPr>
            <a:r>
              <a:rPr sz="1700" b="0" i="0">
                <a:solidFill>
                  <a:srgbClr val="000000"/>
                </a:solidFill>
                <a:latin typeface="Consolas"/>
              </a:rPr>
              <a:t>  {</a:t>
            </a:r>
          </a:p>
          <a:p>
            <a:pPr>
              <a:spcBef>
                <a:spcPts val="0"/>
              </a:spcBef>
              <a:spcAft>
                <a:spcPts val="0"/>
              </a:spcAft>
            </a:pPr>
            <a:r>
              <a:rPr sz="1700" b="0" i="0">
                <a:solidFill>
                  <a:srgbClr val="000000"/>
                </a:solidFill>
                <a:latin typeface="Consolas"/>
              </a:rPr>
              <a:t>    name: "idx_orders_customer_date"</a:t>
            </a:r>
          </a:p>
          <a:p>
            <a:pPr>
              <a:spcBef>
                <a:spcPts val="0"/>
              </a:spcBef>
              <a:spcAft>
                <a:spcPts val="0"/>
              </a:spcAft>
            </a:pPr>
            <a:r>
              <a:rPr sz="1700" b="0" i="0">
                <a:solidFill>
                  <a:srgbClr val="000000"/>
                </a:solidFill>
                <a:latin typeface="Consolas"/>
              </a:rPr>
              <a:t>  }</a:t>
            </a:r>
          </a:p>
          <a:p>
            <a:pPr>
              <a:spcBef>
                <a:spcPts val="0"/>
              </a:spcBef>
              <a:spcAft>
                <a:spcPts val="0"/>
              </a:spcAft>
            </a:pPr>
            <a:r>
              <a:rPr sz="1700" b="0" i="0">
                <a:solidFill>
                  <a:srgbClr val="000000"/>
                </a:solidFill>
                <a:latin typeface="Consolas"/>
              </a:rPr>
              <a:t>)</a:t>
            </a:r>
          </a:p>
        </p:txBody>
      </p:sp>
      <p:sp>
        <p:nvSpPr>
          <p:cNvPr id="6" name="Rectangle 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STEP 3: RUN THE SAME EXPLAIN OPERATION</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339071"/>
            <a:ext cx="237744" cy="237744"/>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39071"/>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320783"/>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723119"/>
            <a:ext cx="11247120" cy="392097"/>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The desired improvement is:</a:t>
            </a:r>
          </a:p>
        </p:txBody>
      </p:sp>
      <p:sp>
        <p:nvSpPr>
          <p:cNvPr id="8" name="TextBox 7"/>
          <p:cNvSpPr txBox="1"/>
          <p:nvPr/>
        </p:nvSpPr>
        <p:spPr>
          <a:xfrm>
            <a:off x="457200" y="2206656"/>
            <a:ext cx="11247120" cy="1777605"/>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  </a:t>
            </a:r>
            <a:r>
              <a:rPr sz="1600" b="0" i="0">
                <a:solidFill>
                  <a:srgbClr val="000000"/>
                </a:solidFill>
                <a:latin typeface="Nirmala UI"/>
              </a:rPr>
              <a:t>Index scan instead of collection scan</a:t>
            </a:r>
          </a:p>
          <a:p>
            <a:pPr>
              <a:spcBef>
                <a:spcPts val="0"/>
              </a:spcBef>
              <a:spcAft>
                <a:spcPts val="615"/>
              </a:spcAft>
            </a:pPr>
            <a:r>
              <a:rPr sz="1600" b="0" i="0">
                <a:solidFill>
                  <a:srgbClr val="000000"/>
                </a:solidFill>
                <a:latin typeface="Nirmala UI"/>
              </a:rPr>
              <a:t>•  </a:t>
            </a:r>
            <a:r>
              <a:rPr sz="1600" b="0" i="0">
                <a:solidFill>
                  <a:srgbClr val="000000"/>
                </a:solidFill>
                <a:latin typeface="Nirmala UI"/>
              </a:rPr>
              <a:t>Fewer documents examined</a:t>
            </a:r>
          </a:p>
          <a:p>
            <a:pPr>
              <a:spcBef>
                <a:spcPts val="0"/>
              </a:spcBef>
              <a:spcAft>
                <a:spcPts val="615"/>
              </a:spcAft>
            </a:pPr>
            <a:r>
              <a:rPr sz="1600" b="0" i="0">
                <a:solidFill>
                  <a:srgbClr val="000000"/>
                </a:solidFill>
                <a:latin typeface="Nirmala UI"/>
              </a:rPr>
              <a:t>•  </a:t>
            </a:r>
            <a:r>
              <a:rPr sz="1600" b="0" i="0">
                <a:solidFill>
                  <a:srgbClr val="000000"/>
                </a:solidFill>
                <a:latin typeface="Nirmala UI"/>
              </a:rPr>
              <a:t>Fewer unnecessary keys examined</a:t>
            </a:r>
          </a:p>
          <a:p>
            <a:pPr>
              <a:spcBef>
                <a:spcPts val="0"/>
              </a:spcBef>
              <a:spcAft>
                <a:spcPts val="615"/>
              </a:spcAft>
            </a:pPr>
            <a:r>
              <a:rPr sz="1600" b="0" i="0">
                <a:solidFill>
                  <a:srgbClr val="000000"/>
                </a:solidFill>
                <a:latin typeface="Nirmala UI"/>
              </a:rPr>
              <a:t>•  </a:t>
            </a:r>
            <a:r>
              <a:rPr sz="1600" b="0" i="0">
                <a:solidFill>
                  <a:srgbClr val="000000"/>
                </a:solidFill>
                <a:latin typeface="Nirmala UI"/>
              </a:rPr>
              <a:t>No in-memory blocking sort</a:t>
            </a:r>
          </a:p>
          <a:p>
            <a:pPr>
              <a:spcBef>
                <a:spcPts val="0"/>
              </a:spcBef>
              <a:spcAft>
                <a:spcPts val="615"/>
              </a:spcAft>
            </a:pPr>
            <a:r>
              <a:rPr sz="1600" b="0" i="0">
                <a:solidFill>
                  <a:srgbClr val="000000"/>
                </a:solidFill>
                <a:latin typeface="Nirmala UI"/>
              </a:rPr>
              <a:t>•  </a:t>
            </a:r>
            <a:r>
              <a:rPr sz="1600" b="0" i="0">
                <a:solidFill>
                  <a:srgbClr val="000000"/>
                </a:solidFill>
                <a:latin typeface="Nirmala UI"/>
              </a:rPr>
              <a:t>Faster and more predictable execution</a:t>
            </a:r>
          </a:p>
        </p:txBody>
      </p:sp>
      <p:sp>
        <p:nvSpPr>
          <p:cNvPr id="9" name="Rounded Rectangle 8"/>
          <p:cNvSpPr/>
          <p:nvPr/>
        </p:nvSpPr>
        <p:spPr>
          <a:xfrm>
            <a:off x="457200" y="4075701"/>
            <a:ext cx="11247120" cy="1626108"/>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 y="4167141"/>
            <a:ext cx="10991088" cy="1461516"/>
          </a:xfrm>
          <a:prstGeom prst="rect">
            <a:avLst/>
          </a:prstGeom>
          <a:noFill/>
        </p:spPr>
        <p:txBody>
          <a:bodyPr wrap="square" anchor="t" lIns="0" rIns="0" tIns="0" bIns="0">
            <a:spAutoFit/>
          </a:bodyPr>
          <a:lstStyle/>
          <a:p>
            <a:pPr>
              <a:spcBef>
                <a:spcPts val="0"/>
              </a:spcBef>
              <a:spcAft>
                <a:spcPts val="0"/>
              </a:spcAft>
            </a:pPr>
            <a:r>
              <a:rPr sz="1700" b="0" i="0">
                <a:solidFill>
                  <a:srgbClr val="000000"/>
                </a:solidFill>
                <a:latin typeface="Consolas"/>
              </a:rPr>
              <a:t>db.orders.find({</a:t>
            </a:r>
          </a:p>
          <a:p>
            <a:pPr>
              <a:spcBef>
                <a:spcPts val="0"/>
              </a:spcBef>
              <a:spcAft>
                <a:spcPts val="0"/>
              </a:spcAft>
            </a:pPr>
            <a:r>
              <a:rPr sz="1700" b="0" i="0">
                <a:solidFill>
                  <a:srgbClr val="000000"/>
                </a:solidFill>
                <a:latin typeface="Consolas"/>
              </a:rPr>
              <a:t>  customerId: ObjectId("66a100000000000000000001")</a:t>
            </a:r>
          </a:p>
          <a:p>
            <a:pPr>
              <a:spcBef>
                <a:spcPts val="0"/>
              </a:spcBef>
              <a:spcAft>
                <a:spcPts val="0"/>
              </a:spcAft>
            </a:pPr>
            <a:r>
              <a:rPr sz="1700" b="0" i="0">
                <a:solidFill>
                  <a:srgbClr val="000000"/>
                </a:solidFill>
                <a:latin typeface="Consolas"/>
              </a:rPr>
              <a:t>}).sort({</a:t>
            </a:r>
          </a:p>
          <a:p>
            <a:pPr>
              <a:spcBef>
                <a:spcPts val="0"/>
              </a:spcBef>
              <a:spcAft>
                <a:spcPts val="0"/>
              </a:spcAft>
            </a:pPr>
            <a:r>
              <a:rPr sz="1700" b="0" i="0">
                <a:solidFill>
                  <a:srgbClr val="000000"/>
                </a:solidFill>
                <a:latin typeface="Consolas"/>
              </a:rPr>
              <a:t>  orderedAt: -1</a:t>
            </a:r>
          </a:p>
          <a:p>
            <a:pPr>
              <a:spcBef>
                <a:spcPts val="0"/>
              </a:spcBef>
              <a:spcAft>
                <a:spcPts val="0"/>
              </a:spcAft>
            </a:pPr>
            <a:r>
              <a:rPr sz="1700" b="0" i="0">
                <a:solidFill>
                  <a:srgbClr val="000000"/>
                </a:solidFill>
                <a:latin typeface="Consolas"/>
              </a:rPr>
              <a:t>}).explain("executionStats")</a:t>
            </a:r>
          </a:p>
        </p:txBody>
      </p:sp>
      <p:sp>
        <p:nvSpPr>
          <p:cNvPr id="11" name="Rectangle 1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COMPOUND INDEXES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798086"/>
            <a:ext cx="237744" cy="237744"/>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798086"/>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779798"/>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182134"/>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A compound index contains multiple fields:</a:t>
            </a:r>
          </a:p>
        </p:txBody>
      </p:sp>
      <p:sp>
        <p:nvSpPr>
          <p:cNvPr id="8" name="TextBox 7"/>
          <p:cNvSpPr txBox="1"/>
          <p:nvPr/>
        </p:nvSpPr>
        <p:spPr>
          <a:xfrm>
            <a:off x="457200" y="2752266"/>
            <a:ext cx="11247120" cy="81397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The index is ordered first by </a:t>
            </a:r>
            <a:r>
              <a:rPr sz="2000" b="0" i="0">
                <a:solidFill>
                  <a:srgbClr val="000000"/>
                </a:solidFill>
                <a:latin typeface="Consolas"/>
              </a:rPr>
              <a:t>category</a:t>
            </a:r>
            <a:r>
              <a:rPr sz="2000" b="0" i="0">
                <a:solidFill>
                  <a:srgbClr val="000000"/>
                </a:solidFill>
                <a:latin typeface="Nirmala UI"/>
              </a:rPr>
              <a:t> and then by </a:t>
            </a:r>
            <a:r>
              <a:rPr sz="2000" b="0" i="0">
                <a:solidFill>
                  <a:srgbClr val="000000"/>
                </a:solidFill>
                <a:latin typeface="Consolas"/>
              </a:rPr>
              <a:t>price</a:t>
            </a:r>
            <a:r>
              <a:rPr sz="2000" b="0" i="0">
                <a:solidFill>
                  <a:srgbClr val="000000"/>
                </a:solidFill>
                <a:latin typeface="Nirmala UI"/>
              </a:rPr>
              <a:t> within each category.</a:t>
            </a:r>
          </a:p>
        </p:txBody>
      </p:sp>
      <p:sp>
        <p:nvSpPr>
          <p:cNvPr id="9" name="TextBox 8"/>
          <p:cNvSpPr txBox="1"/>
          <p:nvPr/>
        </p:nvSpPr>
        <p:spPr>
          <a:xfrm>
            <a:off x="457200" y="3657678"/>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Compound indexes support queries using the indexed fields and their prefixes.</a:t>
            </a:r>
          </a:p>
        </p:txBody>
      </p:sp>
      <p:sp>
        <p:nvSpPr>
          <p:cNvPr id="10" name="Rounded Rectangle 9"/>
          <p:cNvSpPr/>
          <p:nvPr/>
        </p:nvSpPr>
        <p:spPr>
          <a:xfrm>
            <a:off x="457200" y="4227810"/>
            <a:ext cx="5550408" cy="1106424"/>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 y="4319250"/>
            <a:ext cx="5294376" cy="941832"/>
          </a:xfrm>
          <a:prstGeom prst="rect">
            <a:avLst/>
          </a:prstGeom>
          <a:noFill/>
        </p:spPr>
        <p:txBody>
          <a:bodyPr wrap="square" anchor="t" lIns="0" rIns="0" tIns="0" bIns="0">
            <a:spAutoFit/>
          </a:bodyPr>
          <a:lstStyle/>
          <a:p>
            <a:pPr>
              <a:spcBef>
                <a:spcPts val="0"/>
              </a:spcBef>
              <a:spcAft>
                <a:spcPts val="0"/>
              </a:spcAft>
            </a:pPr>
            <a:r>
              <a:rPr sz="600" b="0" i="0">
                <a:solidFill>
                  <a:srgbClr val="000000"/>
                </a:solidFill>
                <a:latin typeface="Consolas"/>
              </a:rPr>
              <a:t>db.products.createIndex({</a:t>
            </a:r>
          </a:p>
          <a:p>
            <a:pPr>
              <a:spcBef>
                <a:spcPts val="0"/>
              </a:spcBef>
              <a:spcAft>
                <a:spcPts val="0"/>
              </a:spcAft>
            </a:pPr>
            <a:r>
              <a:rPr sz="600" b="0" i="0">
                <a:solidFill>
                  <a:srgbClr val="000000"/>
                </a:solidFill>
                <a:latin typeface="Consolas"/>
              </a:rPr>
              <a:t>  category: 1,</a:t>
            </a:r>
          </a:p>
          <a:p>
            <a:pPr>
              <a:spcBef>
                <a:spcPts val="0"/>
              </a:spcBef>
              <a:spcAft>
                <a:spcPts val="0"/>
              </a:spcAft>
            </a:pPr>
            <a:r>
              <a:rPr sz="600" b="0" i="0">
                <a:solidFill>
                  <a:srgbClr val="000000"/>
                </a:solidFill>
                <a:latin typeface="Consolas"/>
              </a:rPr>
              <a:t>  price: 1</a:t>
            </a:r>
          </a:p>
          <a:p>
            <a:pPr>
              <a:spcBef>
                <a:spcPts val="0"/>
              </a:spcBef>
              <a:spcAft>
                <a:spcPts val="0"/>
              </a:spcAft>
            </a:pPr>
            <a:r>
              <a:rPr sz="600" b="0" i="0">
                <a:solidFill>
                  <a:srgbClr val="000000"/>
                </a:solidFill>
                <a:latin typeface="Consolas"/>
              </a:rPr>
              <a:t>})</a:t>
            </a:r>
          </a:p>
        </p:txBody>
      </p:sp>
      <p:sp>
        <p:nvSpPr>
          <p:cNvPr id="12" name="Rounded Rectangle 11"/>
          <p:cNvSpPr/>
          <p:nvPr/>
        </p:nvSpPr>
        <p:spPr>
          <a:xfrm>
            <a:off x="6153912" y="4227810"/>
            <a:ext cx="5550408" cy="1106424"/>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81928" y="4319250"/>
            <a:ext cx="5294376" cy="941832"/>
          </a:xfrm>
          <a:prstGeom prst="rect">
            <a:avLst/>
          </a:prstGeom>
          <a:noFill/>
        </p:spPr>
        <p:txBody>
          <a:bodyPr wrap="square" anchor="t" lIns="0" rIns="0" tIns="0" bIns="0">
            <a:spAutoFit/>
          </a:bodyPr>
          <a:lstStyle/>
          <a:p>
            <a:pPr>
              <a:spcBef>
                <a:spcPts val="0"/>
              </a:spcBef>
              <a:spcAft>
                <a:spcPts val="0"/>
              </a:spcAft>
            </a:pPr>
            <a:r>
              <a:rPr sz="600" b="0" i="0">
                <a:solidFill>
                  <a:srgbClr val="000000"/>
                </a:solidFill>
                <a:latin typeface="Consolas"/>
              </a:rPr>
              <a:t>Books</a:t>
            </a:r>
          </a:p>
          <a:p>
            <a:pPr>
              <a:spcBef>
                <a:spcPts val="0"/>
              </a:spcBef>
              <a:spcAft>
                <a:spcPts val="0"/>
              </a:spcAft>
            </a:pPr>
            <a:r>
              <a:rPr sz="600" b="0" i="0">
                <a:solidFill>
                  <a:srgbClr val="000000"/>
                </a:solidFill>
                <a:latin typeface="Consolas"/>
              </a:rPr>
              <a:t>    19.99</a:t>
            </a:r>
          </a:p>
          <a:p>
            <a:pPr>
              <a:spcBef>
                <a:spcPts val="0"/>
              </a:spcBef>
              <a:spcAft>
                <a:spcPts val="0"/>
              </a:spcAft>
            </a:pPr>
            <a:r>
              <a:rPr sz="600" b="0" i="0">
                <a:solidFill>
                  <a:srgbClr val="000000"/>
                </a:solidFill>
                <a:latin typeface="Consolas"/>
              </a:rPr>
              <a:t>    29.99</a:t>
            </a:r>
          </a:p>
          <a:p>
            <a:pPr>
              <a:spcBef>
                <a:spcPts val="0"/>
              </a:spcBef>
              <a:spcAft>
                <a:spcPts val="0"/>
              </a:spcAft>
            </a:pPr>
            <a:r>
              <a:rPr sz="600" b="0" i="0">
                <a:solidFill>
                  <a:srgbClr val="000000"/>
                </a:solidFill>
                <a:latin typeface="Consolas"/>
              </a:rPr>
              <a:t>    49.99</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Electronics</a:t>
            </a:r>
          </a:p>
          <a:p>
            <a:pPr>
              <a:spcBef>
                <a:spcPts val="0"/>
              </a:spcBef>
              <a:spcAft>
                <a:spcPts val="0"/>
              </a:spcAft>
            </a:pPr>
            <a:r>
              <a:rPr sz="600" b="0" i="0">
                <a:solidFill>
                  <a:srgbClr val="000000"/>
                </a:solidFill>
                <a:latin typeface="Consolas"/>
              </a:rPr>
              <a:t>    39.99</a:t>
            </a:r>
          </a:p>
          <a:p>
            <a:pPr>
              <a:spcBef>
                <a:spcPts val="0"/>
              </a:spcBef>
              <a:spcAft>
                <a:spcPts val="0"/>
              </a:spcAft>
            </a:pPr>
            <a:r>
              <a:rPr sz="600" b="0" i="0">
                <a:solidFill>
                  <a:srgbClr val="000000"/>
                </a:solidFill>
                <a:latin typeface="Consolas"/>
              </a:rPr>
              <a:t>    89.99</a:t>
            </a:r>
          </a:p>
          <a:p>
            <a:pPr>
              <a:spcBef>
                <a:spcPts val="0"/>
              </a:spcBef>
              <a:spcAft>
                <a:spcPts val="0"/>
              </a:spcAft>
            </a:pPr>
            <a:r>
              <a:rPr sz="600" b="0" i="0">
                <a:solidFill>
                  <a:srgbClr val="000000"/>
                </a:solidFill>
                <a:latin typeface="Consolas"/>
              </a:rPr>
              <a:t>    499.99</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INDEX-PREFIX RULE</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533888"/>
            <a:ext cx="237744" cy="237744"/>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3388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515600"/>
            <a:ext cx="351129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917936"/>
            <a:ext cx="3840480" cy="283854"/>
          </a:xfrm>
          <a:prstGeom prst="rect">
            <a:avLst/>
          </a:prstGeom>
          <a:noFill/>
        </p:spPr>
        <p:txBody>
          <a:bodyPr wrap="square" anchor="t" lIns="0" rIns="0" tIns="0" bIns="0">
            <a:spAutoFit/>
          </a:bodyPr>
          <a:lstStyle/>
          <a:p>
            <a:pPr>
              <a:spcBef>
                <a:spcPts val="0"/>
              </a:spcBef>
              <a:spcAft>
                <a:spcPts val="423"/>
              </a:spcAft>
            </a:pPr>
            <a:r>
              <a:rPr sz="1100" b="0" i="0">
                <a:solidFill>
                  <a:srgbClr val="000000"/>
                </a:solidFill>
                <a:latin typeface="Nirmala UI"/>
              </a:rPr>
              <a:t>For:</a:t>
            </a:r>
          </a:p>
        </p:txBody>
      </p:sp>
      <p:sp>
        <p:nvSpPr>
          <p:cNvPr id="8" name="TextBox 7"/>
          <p:cNvSpPr txBox="1"/>
          <p:nvPr/>
        </p:nvSpPr>
        <p:spPr>
          <a:xfrm>
            <a:off x="457200" y="2293230"/>
            <a:ext cx="3840480" cy="283854"/>
          </a:xfrm>
          <a:prstGeom prst="rect">
            <a:avLst/>
          </a:prstGeom>
          <a:noFill/>
        </p:spPr>
        <p:txBody>
          <a:bodyPr wrap="square" anchor="t" lIns="0" rIns="0" tIns="0" bIns="0">
            <a:spAutoFit/>
          </a:bodyPr>
          <a:lstStyle/>
          <a:p>
            <a:pPr>
              <a:spcBef>
                <a:spcPts val="0"/>
              </a:spcBef>
              <a:spcAft>
                <a:spcPts val="423"/>
              </a:spcAft>
            </a:pPr>
            <a:r>
              <a:rPr sz="1100" b="0" i="0">
                <a:solidFill>
                  <a:srgbClr val="000000"/>
                </a:solidFill>
                <a:latin typeface="Nirmala UI"/>
              </a:rPr>
              <a:t>Useful prefixes include:</a:t>
            </a:r>
          </a:p>
        </p:txBody>
      </p:sp>
      <p:sp>
        <p:nvSpPr>
          <p:cNvPr id="9" name="TextBox 8"/>
          <p:cNvSpPr txBox="1"/>
          <p:nvPr/>
        </p:nvSpPr>
        <p:spPr>
          <a:xfrm>
            <a:off x="457200" y="2668524"/>
            <a:ext cx="3840480" cy="652662"/>
          </a:xfrm>
          <a:prstGeom prst="rect">
            <a:avLst/>
          </a:prstGeom>
          <a:noFill/>
        </p:spPr>
        <p:txBody>
          <a:bodyPr wrap="square" anchor="t" lIns="0" rIns="0" tIns="0" bIns="0">
            <a:spAutoFit/>
          </a:bodyPr>
          <a:lstStyle/>
          <a:p>
            <a:pPr>
              <a:spcBef>
                <a:spcPts val="0"/>
              </a:spcBef>
              <a:spcAft>
                <a:spcPts val="423"/>
              </a:spcAft>
            </a:pPr>
            <a:r>
              <a:rPr sz="1100" b="0" i="0">
                <a:solidFill>
                  <a:srgbClr val="000000"/>
                </a:solidFill>
                <a:latin typeface="Nirmala UI"/>
              </a:rPr>
              <a:t>A query using only </a:t>
            </a:r>
            <a:r>
              <a:rPr sz="1100" b="0" i="0">
                <a:solidFill>
                  <a:srgbClr val="000000"/>
                </a:solidFill>
                <a:latin typeface="Consolas"/>
              </a:rPr>
              <a:t>price</a:t>
            </a:r>
            <a:r>
              <a:rPr sz="1100" b="0" i="0">
                <a:solidFill>
                  <a:srgbClr val="000000"/>
                </a:solidFill>
                <a:latin typeface="Nirmala UI"/>
              </a:rPr>
              <a:t> normally cannot use this index as effectively as a query beginning with </a:t>
            </a:r>
            <a:r>
              <a:rPr sz="1100" b="0" i="0">
                <a:solidFill>
                  <a:srgbClr val="000000"/>
                </a:solidFill>
                <a:latin typeface="Consolas"/>
              </a:rPr>
              <a:t>category</a:t>
            </a:r>
            <a:r>
              <a:rPr sz="1100" b="0" i="0">
                <a:solidFill>
                  <a:srgbClr val="000000"/>
                </a:solidFill>
                <a:latin typeface="Nirmala UI"/>
              </a:rPr>
              <a:t>.</a:t>
            </a:r>
          </a:p>
        </p:txBody>
      </p:sp>
      <p:sp>
        <p:nvSpPr>
          <p:cNvPr id="10" name="TextBox 9"/>
          <p:cNvSpPr txBox="1"/>
          <p:nvPr/>
        </p:nvSpPr>
        <p:spPr>
          <a:xfrm>
            <a:off x="457200" y="3412626"/>
            <a:ext cx="3840480" cy="837066"/>
          </a:xfrm>
          <a:prstGeom prst="rect">
            <a:avLst/>
          </a:prstGeom>
          <a:noFill/>
        </p:spPr>
        <p:txBody>
          <a:bodyPr wrap="square" anchor="t" lIns="0" rIns="0" tIns="0" bIns="0">
            <a:spAutoFit/>
          </a:bodyPr>
          <a:lstStyle/>
          <a:p>
            <a:pPr>
              <a:spcBef>
                <a:spcPts val="0"/>
              </a:spcBef>
              <a:spcAft>
                <a:spcPts val="423"/>
              </a:spcAft>
            </a:pPr>
            <a:r>
              <a:rPr sz="1100" b="0" i="0">
                <a:solidFill>
                  <a:srgbClr val="000000"/>
                </a:solidFill>
                <a:latin typeface="Nirmala UI"/>
              </a:rPr>
              <a:t>This does not mean every query must include every indexed field. It means field order controls which leading portions of the index are directly useful.</a:t>
            </a:r>
          </a:p>
        </p:txBody>
      </p:sp>
      <p:sp>
        <p:nvSpPr>
          <p:cNvPr id="11" name="Rounded Rectangle 10"/>
          <p:cNvSpPr/>
          <p:nvPr/>
        </p:nvSpPr>
        <p:spPr>
          <a:xfrm>
            <a:off x="457200" y="4341132"/>
            <a:ext cx="1847088" cy="704088"/>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 y="4432572"/>
            <a:ext cx="1591056" cy="539496"/>
          </a:xfrm>
          <a:prstGeom prst="rect">
            <a:avLst/>
          </a:prstGeom>
          <a:noFill/>
        </p:spPr>
        <p:txBody>
          <a:bodyPr wrap="square" anchor="t" lIns="0" rIns="0" tIns="0" bIns="0">
            <a:spAutoFit/>
          </a:bodyPr>
          <a:lstStyle/>
          <a:p>
            <a:pPr>
              <a:spcBef>
                <a:spcPts val="0"/>
              </a:spcBef>
              <a:spcAft>
                <a:spcPts val="0"/>
              </a:spcAft>
            </a:pPr>
            <a:r>
              <a:rPr sz="600" b="0" i="0">
                <a:solidFill>
                  <a:srgbClr val="000000"/>
                </a:solidFill>
                <a:latin typeface="Consolas"/>
              </a:rPr>
              <a:t>{</a:t>
            </a:r>
          </a:p>
          <a:p>
            <a:pPr>
              <a:spcBef>
                <a:spcPts val="0"/>
              </a:spcBef>
              <a:spcAft>
                <a:spcPts val="0"/>
              </a:spcAft>
            </a:pPr>
            <a:r>
              <a:rPr sz="600" b="0" i="0">
                <a:solidFill>
                  <a:srgbClr val="000000"/>
                </a:solidFill>
                <a:latin typeface="Consolas"/>
              </a:rPr>
              <a:t>  category: 1,</a:t>
            </a:r>
          </a:p>
          <a:p>
            <a:pPr>
              <a:spcBef>
                <a:spcPts val="0"/>
              </a:spcBef>
              <a:spcAft>
                <a:spcPts val="0"/>
              </a:spcAft>
            </a:pPr>
            <a:r>
              <a:rPr sz="600" b="0" i="0">
                <a:solidFill>
                  <a:srgbClr val="000000"/>
                </a:solidFill>
                <a:latin typeface="Consolas"/>
              </a:rPr>
              <a:t>  price: 1,</a:t>
            </a:r>
          </a:p>
          <a:p>
            <a:pPr>
              <a:spcBef>
                <a:spcPts val="0"/>
              </a:spcBef>
              <a:spcAft>
                <a:spcPts val="0"/>
              </a:spcAft>
            </a:pPr>
            <a:r>
              <a:rPr sz="600" b="0" i="0">
                <a:solidFill>
                  <a:srgbClr val="000000"/>
                </a:solidFill>
                <a:latin typeface="Consolas"/>
              </a:rPr>
              <a:t>  stock: 1</a:t>
            </a:r>
          </a:p>
          <a:p>
            <a:pPr>
              <a:spcBef>
                <a:spcPts val="0"/>
              </a:spcBef>
              <a:spcAft>
                <a:spcPts val="0"/>
              </a:spcAft>
            </a:pPr>
            <a:r>
              <a:rPr sz="600" b="0" i="0">
                <a:solidFill>
                  <a:srgbClr val="000000"/>
                </a:solidFill>
                <a:latin typeface="Consolas"/>
              </a:rPr>
              <a:t>}</a:t>
            </a:r>
          </a:p>
        </p:txBody>
      </p:sp>
      <p:sp>
        <p:nvSpPr>
          <p:cNvPr id="13" name="Rounded Rectangle 12"/>
          <p:cNvSpPr/>
          <p:nvPr/>
        </p:nvSpPr>
        <p:spPr>
          <a:xfrm>
            <a:off x="2450592" y="4341132"/>
            <a:ext cx="1847088" cy="704088"/>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78608" y="4432572"/>
            <a:ext cx="1591056" cy="539496"/>
          </a:xfrm>
          <a:prstGeom prst="rect">
            <a:avLst/>
          </a:prstGeom>
          <a:noFill/>
        </p:spPr>
        <p:txBody>
          <a:bodyPr wrap="square" anchor="t" lIns="0" rIns="0" tIns="0" bIns="0">
            <a:spAutoFit/>
          </a:bodyPr>
          <a:lstStyle/>
          <a:p>
            <a:pPr>
              <a:spcBef>
                <a:spcPts val="0"/>
              </a:spcBef>
              <a:spcAft>
                <a:spcPts val="0"/>
              </a:spcAft>
            </a:pPr>
            <a:r>
              <a:rPr sz="600" b="0" i="0">
                <a:solidFill>
                  <a:srgbClr val="000000"/>
                </a:solidFill>
                <a:latin typeface="Consolas"/>
              </a:rPr>
              <a:t>{ category: 1 }</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category: 1, price: 1 }</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category: 1, price: 1, stock: 1 }</a:t>
            </a:r>
          </a:p>
        </p:txBody>
      </p:sp>
      <p:sp>
        <p:nvSpPr>
          <p:cNvPr id="15" name="Rectangle 14"/>
          <p:cNvSpPr/>
          <p:nvPr/>
        </p:nvSpPr>
        <p:spPr>
          <a:xfrm>
            <a:off x="4471035" y="1501235"/>
            <a:ext cx="7242810" cy="4111562"/>
          </a:xfrm>
          <a:prstGeom prst="rect">
            <a:avLst/>
          </a:prstGeom>
          <a:solidFill>
            <a:srgbClr val="FFFFFF"/>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2"/>
          <a:stretch>
            <a:fillRect/>
          </a:stretch>
        </p:blipFill>
        <p:spPr>
          <a:xfrm>
            <a:off x="4480560" y="1510760"/>
            <a:ext cx="7223760" cy="4092512"/>
          </a:xfrm>
          <a:prstGeom prst="rect">
            <a:avLst/>
          </a:prstGeom>
        </p:spPr>
      </p:pic>
      <p:sp>
        <p:nvSpPr>
          <p:cNvPr id="17" name="Rectangle 1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EQUALITY, SORT AND RANGE GUIDELINE</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666671"/>
            <a:ext cx="237744" cy="237744"/>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66671"/>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648383"/>
            <a:ext cx="351129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050719"/>
            <a:ext cx="3840480" cy="506671"/>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A practical compound-index design guideline is ESR:</a:t>
            </a:r>
          </a:p>
        </p:txBody>
      </p:sp>
      <p:sp>
        <p:nvSpPr>
          <p:cNvPr id="8" name="TextBox 7"/>
          <p:cNvSpPr txBox="1"/>
          <p:nvPr/>
        </p:nvSpPr>
        <p:spPr>
          <a:xfrm>
            <a:off x="457200" y="2648830"/>
            <a:ext cx="3840480" cy="825069"/>
          </a:xfrm>
          <a:prstGeom prst="rect">
            <a:avLst/>
          </a:prstGeom>
          <a:noFill/>
        </p:spPr>
        <p:txBody>
          <a:bodyPr wrap="square" anchor="t" lIns="0" rIns="0" tIns="0" bIns="0">
            <a:spAutoFit/>
          </a:bodyPr>
          <a:lstStyle/>
          <a:p>
            <a:pPr>
              <a:spcBef>
                <a:spcPts val="0"/>
              </a:spcBef>
              <a:spcAft>
                <a:spcPts val="461"/>
              </a:spcAft>
            </a:pPr>
            <a:r>
              <a:rPr sz="1200" b="1" i="0">
                <a:solidFill>
                  <a:srgbClr val="D1282E"/>
                </a:solidFill>
                <a:latin typeface="Nirmala UI"/>
              </a:rPr>
              <a:t>1. </a:t>
            </a:r>
            <a:r>
              <a:rPr sz="1200" b="1" i="0">
                <a:solidFill>
                  <a:srgbClr val="000000"/>
                </a:solidFill>
                <a:latin typeface="Nirmala UI"/>
              </a:rPr>
              <a:t>Equality</a:t>
            </a:r>
          </a:p>
          <a:p>
            <a:pPr>
              <a:spcBef>
                <a:spcPts val="0"/>
              </a:spcBef>
              <a:spcAft>
                <a:spcPts val="461"/>
              </a:spcAft>
            </a:pPr>
            <a:r>
              <a:rPr sz="1200" b="1" i="0">
                <a:solidFill>
                  <a:srgbClr val="D1282E"/>
                </a:solidFill>
                <a:latin typeface="Nirmala UI"/>
              </a:rPr>
              <a:t>2. </a:t>
            </a:r>
            <a:r>
              <a:rPr sz="1200" b="1" i="0">
                <a:solidFill>
                  <a:srgbClr val="000000"/>
                </a:solidFill>
                <a:latin typeface="Nirmala UI"/>
              </a:rPr>
              <a:t>Sort</a:t>
            </a:r>
          </a:p>
          <a:p>
            <a:pPr>
              <a:spcBef>
                <a:spcPts val="0"/>
              </a:spcBef>
              <a:spcAft>
                <a:spcPts val="461"/>
              </a:spcAft>
            </a:pPr>
            <a:r>
              <a:rPr sz="1200" b="1" i="0">
                <a:solidFill>
                  <a:srgbClr val="D1282E"/>
                </a:solidFill>
                <a:latin typeface="Nirmala UI"/>
              </a:rPr>
              <a:t>3. </a:t>
            </a:r>
            <a:r>
              <a:rPr sz="1200" b="1" i="0">
                <a:solidFill>
                  <a:srgbClr val="000000"/>
                </a:solidFill>
                <a:latin typeface="Nirmala UI"/>
              </a:rPr>
              <a:t>Range</a:t>
            </a:r>
          </a:p>
        </p:txBody>
      </p:sp>
      <p:sp>
        <p:nvSpPr>
          <p:cNvPr id="9" name="TextBox 8"/>
          <p:cNvSpPr txBox="1"/>
          <p:nvPr/>
        </p:nvSpPr>
        <p:spPr>
          <a:xfrm>
            <a:off x="457200" y="3565339"/>
            <a:ext cx="3840480" cy="305503"/>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Suppose the query is:</a:t>
            </a:r>
          </a:p>
        </p:txBody>
      </p:sp>
      <p:sp>
        <p:nvSpPr>
          <p:cNvPr id="10" name="TextBox 9"/>
          <p:cNvSpPr txBox="1"/>
          <p:nvPr/>
        </p:nvSpPr>
        <p:spPr>
          <a:xfrm>
            <a:off x="457200" y="3962282"/>
            <a:ext cx="3840480" cy="305503"/>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Possible index:</a:t>
            </a:r>
          </a:p>
        </p:txBody>
      </p:sp>
      <p:sp>
        <p:nvSpPr>
          <p:cNvPr id="11" name="Rounded Rectangle 10"/>
          <p:cNvSpPr/>
          <p:nvPr/>
        </p:nvSpPr>
        <p:spPr>
          <a:xfrm>
            <a:off x="457200" y="4359225"/>
            <a:ext cx="1847088" cy="1106424"/>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 y="4450665"/>
            <a:ext cx="1591056" cy="941832"/>
          </a:xfrm>
          <a:prstGeom prst="rect">
            <a:avLst/>
          </a:prstGeom>
          <a:noFill/>
        </p:spPr>
        <p:txBody>
          <a:bodyPr wrap="square" anchor="t" lIns="0" rIns="0" tIns="0" bIns="0">
            <a:spAutoFit/>
          </a:bodyPr>
          <a:lstStyle/>
          <a:p>
            <a:pPr>
              <a:spcBef>
                <a:spcPts val="0"/>
              </a:spcBef>
              <a:spcAft>
                <a:spcPts val="0"/>
              </a:spcAft>
            </a:pPr>
            <a:r>
              <a:rPr sz="600" b="0" i="0">
                <a:solidFill>
                  <a:srgbClr val="000000"/>
                </a:solidFill>
                <a:latin typeface="Consolas"/>
              </a:rPr>
              <a:t>db.orders.find({</a:t>
            </a:r>
          </a:p>
          <a:p>
            <a:pPr>
              <a:spcBef>
                <a:spcPts val="0"/>
              </a:spcBef>
              <a:spcAft>
                <a:spcPts val="0"/>
              </a:spcAft>
            </a:pPr>
            <a:r>
              <a:rPr sz="600" b="0" i="0">
                <a:solidFill>
                  <a:srgbClr val="000000"/>
                </a:solidFill>
                <a:latin typeface="Consolas"/>
              </a:rPr>
              <a:t>  customerId: customerId,</a:t>
            </a:r>
          </a:p>
          <a:p>
            <a:pPr>
              <a:spcBef>
                <a:spcPts val="0"/>
              </a:spcBef>
              <a:spcAft>
                <a:spcPts val="0"/>
              </a:spcAft>
            </a:pPr>
            <a:r>
              <a:rPr sz="600" b="0" i="0">
                <a:solidFill>
                  <a:srgbClr val="000000"/>
                </a:solidFill>
                <a:latin typeface="Consolas"/>
              </a:rPr>
              <a:t>  status: "Completed",</a:t>
            </a:r>
          </a:p>
          <a:p>
            <a:pPr>
              <a:spcBef>
                <a:spcPts val="0"/>
              </a:spcBef>
              <a:spcAft>
                <a:spcPts val="0"/>
              </a:spcAft>
            </a:pPr>
            <a:r>
              <a:rPr sz="600" b="0" i="0">
                <a:solidFill>
                  <a:srgbClr val="000000"/>
                </a:solidFill>
                <a:latin typeface="Consolas"/>
              </a:rPr>
              <a:t>  total: {</a:t>
            </a:r>
          </a:p>
          <a:p>
            <a:pPr>
              <a:spcBef>
                <a:spcPts val="0"/>
              </a:spcBef>
              <a:spcAft>
                <a:spcPts val="0"/>
              </a:spcAft>
            </a:pPr>
            <a:r>
              <a:rPr sz="600" b="0" i="0">
                <a:solidFill>
                  <a:srgbClr val="000000"/>
                </a:solidFill>
                <a:latin typeface="Consolas"/>
              </a:rPr>
              <a:t>    $gte: NumberDecimal("100.00")</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}).sort({</a:t>
            </a:r>
          </a:p>
          <a:p>
            <a:pPr>
              <a:spcBef>
                <a:spcPts val="0"/>
              </a:spcBef>
              <a:spcAft>
                <a:spcPts val="0"/>
              </a:spcAft>
            </a:pPr>
            <a:r>
              <a:rPr sz="600" b="0" i="0">
                <a:solidFill>
                  <a:srgbClr val="000000"/>
                </a:solidFill>
                <a:latin typeface="Consolas"/>
              </a:rPr>
              <a:t>  orderedAt: -1</a:t>
            </a:r>
          </a:p>
          <a:p>
            <a:pPr>
              <a:spcBef>
                <a:spcPts val="0"/>
              </a:spcBef>
              <a:spcAft>
                <a:spcPts val="0"/>
              </a:spcAft>
            </a:pPr>
            <a:r>
              <a:rPr sz="600" b="0" i="0">
                <a:solidFill>
                  <a:srgbClr val="000000"/>
                </a:solidFill>
                <a:latin typeface="Consolas"/>
              </a:rPr>
              <a:t>})</a:t>
            </a:r>
          </a:p>
        </p:txBody>
      </p:sp>
      <p:sp>
        <p:nvSpPr>
          <p:cNvPr id="13" name="Rounded Rectangle 12"/>
          <p:cNvSpPr/>
          <p:nvPr/>
        </p:nvSpPr>
        <p:spPr>
          <a:xfrm>
            <a:off x="2450592" y="4359225"/>
            <a:ext cx="1847088" cy="1106424"/>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78608" y="4450665"/>
            <a:ext cx="1591056" cy="941832"/>
          </a:xfrm>
          <a:prstGeom prst="rect">
            <a:avLst/>
          </a:prstGeom>
          <a:noFill/>
        </p:spPr>
        <p:txBody>
          <a:bodyPr wrap="square" anchor="t" lIns="0" rIns="0" tIns="0" bIns="0">
            <a:spAutoFit/>
          </a:bodyPr>
          <a:lstStyle/>
          <a:p>
            <a:pPr>
              <a:spcBef>
                <a:spcPts val="0"/>
              </a:spcBef>
              <a:spcAft>
                <a:spcPts val="0"/>
              </a:spcAft>
            </a:pPr>
            <a:r>
              <a:rPr sz="600" b="0" i="0">
                <a:solidFill>
                  <a:srgbClr val="000000"/>
                </a:solidFill>
                <a:latin typeface="Consolas"/>
              </a:rPr>
              <a:t>db.orders.createIndex({</a:t>
            </a:r>
          </a:p>
          <a:p>
            <a:pPr>
              <a:spcBef>
                <a:spcPts val="0"/>
              </a:spcBef>
              <a:spcAft>
                <a:spcPts val="0"/>
              </a:spcAft>
            </a:pPr>
            <a:r>
              <a:rPr sz="600" b="0" i="0">
                <a:solidFill>
                  <a:srgbClr val="000000"/>
                </a:solidFill>
                <a:latin typeface="Consolas"/>
              </a:rPr>
              <a:t>  customerId: 1,</a:t>
            </a:r>
          </a:p>
          <a:p>
            <a:pPr>
              <a:spcBef>
                <a:spcPts val="0"/>
              </a:spcBef>
              <a:spcAft>
                <a:spcPts val="0"/>
              </a:spcAft>
            </a:pPr>
            <a:r>
              <a:rPr sz="600" b="0" i="0">
                <a:solidFill>
                  <a:srgbClr val="000000"/>
                </a:solidFill>
                <a:latin typeface="Consolas"/>
              </a:rPr>
              <a:t>  status: 1,</a:t>
            </a:r>
          </a:p>
          <a:p>
            <a:pPr>
              <a:spcBef>
                <a:spcPts val="0"/>
              </a:spcBef>
              <a:spcAft>
                <a:spcPts val="0"/>
              </a:spcAft>
            </a:pPr>
            <a:r>
              <a:rPr sz="600" b="0" i="0">
                <a:solidFill>
                  <a:srgbClr val="000000"/>
                </a:solidFill>
                <a:latin typeface="Consolas"/>
              </a:rPr>
              <a:t>  orderedAt: -1,</a:t>
            </a:r>
          </a:p>
          <a:p>
            <a:pPr>
              <a:spcBef>
                <a:spcPts val="0"/>
              </a:spcBef>
              <a:spcAft>
                <a:spcPts val="0"/>
              </a:spcAft>
            </a:pPr>
            <a:r>
              <a:rPr sz="600" b="0" i="0">
                <a:solidFill>
                  <a:srgbClr val="000000"/>
                </a:solidFill>
                <a:latin typeface="Consolas"/>
              </a:rPr>
              <a:t>  total: 1</a:t>
            </a:r>
          </a:p>
          <a:p>
            <a:pPr>
              <a:spcBef>
                <a:spcPts val="0"/>
              </a:spcBef>
              <a:spcAft>
                <a:spcPts val="0"/>
              </a:spcAft>
            </a:pPr>
            <a:r>
              <a:rPr sz="600" b="0" i="0">
                <a:solidFill>
                  <a:srgbClr val="000000"/>
                </a:solidFill>
                <a:latin typeface="Consolas"/>
              </a:rPr>
              <a:t>})</a:t>
            </a:r>
          </a:p>
        </p:txBody>
      </p:sp>
      <p:sp>
        <p:nvSpPr>
          <p:cNvPr id="15" name="Rectangle 14"/>
          <p:cNvSpPr/>
          <p:nvPr/>
        </p:nvSpPr>
        <p:spPr>
          <a:xfrm>
            <a:off x="4471035" y="2722679"/>
            <a:ext cx="7242810" cy="1668674"/>
          </a:xfrm>
          <a:prstGeom prst="rect">
            <a:avLst/>
          </a:prstGeom>
          <a:solidFill>
            <a:srgbClr val="FFFFFF"/>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2"/>
          <a:stretch>
            <a:fillRect/>
          </a:stretch>
        </p:blipFill>
        <p:spPr>
          <a:xfrm>
            <a:off x="4480560" y="2732204"/>
            <a:ext cx="7223760" cy="1649624"/>
          </a:xfrm>
          <a:prstGeom prst="rect">
            <a:avLst/>
          </a:prstGeom>
        </p:spPr>
      </p:pic>
      <p:sp>
        <p:nvSpPr>
          <p:cNvPr id="17" name="Rectangle 1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EQUALITY, SORT AND RANGE GUIDELINE (CONT.)</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203392"/>
            <a:ext cx="237744" cy="237744"/>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03392"/>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185104"/>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587440"/>
            <a:ext cx="11247120" cy="1344636"/>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0" i="0">
                <a:solidFill>
                  <a:srgbClr val="000000"/>
                </a:solidFill>
                <a:latin typeface="Consolas"/>
              </a:rPr>
              <a:t>customerId</a:t>
            </a:r>
            <a:r>
              <a:rPr sz="2000" b="0" i="0">
                <a:solidFill>
                  <a:srgbClr val="000000"/>
                </a:solidFill>
                <a:latin typeface="Nirmala UI"/>
              </a:rPr>
              <a:t> and </a:t>
            </a:r>
            <a:r>
              <a:rPr sz="2000" b="0" i="0">
                <a:solidFill>
                  <a:srgbClr val="000000"/>
                </a:solidFill>
                <a:latin typeface="Consolas"/>
              </a:rPr>
              <a:t>status</a:t>
            </a:r>
            <a:r>
              <a:rPr sz="2000" b="0" i="0">
                <a:solidFill>
                  <a:srgbClr val="000000"/>
                </a:solidFill>
                <a:latin typeface="Nirmala UI"/>
              </a:rPr>
              <a:t> are equality conditions.</a:t>
            </a:r>
          </a:p>
          <a:p>
            <a:pPr>
              <a:spcBef>
                <a:spcPts val="0"/>
              </a:spcBef>
              <a:spcAft>
                <a:spcPts val="769"/>
              </a:spcAft>
            </a:pPr>
            <a:r>
              <a:rPr sz="2000" b="0" i="0">
                <a:solidFill>
                  <a:srgbClr val="000000"/>
                </a:solidFill>
                <a:latin typeface="Nirmala UI"/>
              </a:rPr>
              <a:t>•  </a:t>
            </a:r>
            <a:r>
              <a:rPr sz="2000" b="0" i="0">
                <a:solidFill>
                  <a:srgbClr val="000000"/>
                </a:solidFill>
                <a:latin typeface="Consolas"/>
              </a:rPr>
              <a:t>orderedAt</a:t>
            </a:r>
            <a:r>
              <a:rPr sz="2000" b="0" i="0">
                <a:solidFill>
                  <a:srgbClr val="000000"/>
                </a:solidFill>
                <a:latin typeface="Nirmala UI"/>
              </a:rPr>
              <a:t> supports sorting.</a:t>
            </a:r>
          </a:p>
          <a:p>
            <a:pPr>
              <a:spcBef>
                <a:spcPts val="0"/>
              </a:spcBef>
              <a:spcAft>
                <a:spcPts val="769"/>
              </a:spcAft>
            </a:pPr>
            <a:r>
              <a:rPr sz="2000" b="0" i="0">
                <a:solidFill>
                  <a:srgbClr val="000000"/>
                </a:solidFill>
                <a:latin typeface="Nirmala UI"/>
              </a:rPr>
              <a:t>•  </a:t>
            </a:r>
            <a:r>
              <a:rPr sz="2000" b="0" i="0">
                <a:solidFill>
                  <a:srgbClr val="000000"/>
                </a:solidFill>
                <a:latin typeface="Consolas"/>
              </a:rPr>
              <a:t>total</a:t>
            </a:r>
            <a:r>
              <a:rPr sz="2000" b="0" i="0">
                <a:solidFill>
                  <a:srgbClr val="000000"/>
                </a:solidFill>
                <a:latin typeface="Nirmala UI"/>
              </a:rPr>
              <a:t> is a range condition.</a:t>
            </a:r>
          </a:p>
        </p:txBody>
      </p:sp>
      <p:sp>
        <p:nvSpPr>
          <p:cNvPr id="8" name="TextBox 7"/>
          <p:cNvSpPr txBox="1"/>
          <p:nvPr/>
        </p:nvSpPr>
        <p:spPr>
          <a:xfrm>
            <a:off x="457200" y="4023516"/>
            <a:ext cx="11247120" cy="81397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ESR is a guideline, not an absolute rule. Query selectivity, sorting requirements and actual explain results should determine the final design.</a:t>
            </a:r>
          </a:p>
        </p:txBody>
      </p:sp>
      <p:sp>
        <p:nvSpPr>
          <p:cNvPr id="9" name="Rectangle 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SUPPORTING SORTS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789704"/>
            <a:ext cx="237744" cy="237744"/>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789704"/>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771416"/>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173752"/>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Consider:</a:t>
            </a:r>
          </a:p>
        </p:txBody>
      </p:sp>
      <p:sp>
        <p:nvSpPr>
          <p:cNvPr id="8" name="TextBox 7"/>
          <p:cNvSpPr txBox="1"/>
          <p:nvPr/>
        </p:nvSpPr>
        <p:spPr>
          <a:xfrm>
            <a:off x="457200" y="2743884"/>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Recommended index:</a:t>
            </a:r>
          </a:p>
        </p:txBody>
      </p:sp>
      <p:sp>
        <p:nvSpPr>
          <p:cNvPr id="9" name="TextBox 8"/>
          <p:cNvSpPr txBox="1"/>
          <p:nvPr/>
        </p:nvSpPr>
        <p:spPr>
          <a:xfrm>
            <a:off x="457200" y="3314016"/>
            <a:ext cx="11247120" cy="81397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The index groups entries by customer and arranges each customer’s orders by date.</a:t>
            </a:r>
          </a:p>
        </p:txBody>
      </p:sp>
      <p:sp>
        <p:nvSpPr>
          <p:cNvPr id="10" name="Rounded Rectangle 9"/>
          <p:cNvSpPr/>
          <p:nvPr/>
        </p:nvSpPr>
        <p:spPr>
          <a:xfrm>
            <a:off x="457200" y="4219428"/>
            <a:ext cx="5550408" cy="787908"/>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 y="4310868"/>
            <a:ext cx="5294376" cy="623316"/>
          </a:xfrm>
          <a:prstGeom prst="rect">
            <a:avLst/>
          </a:prstGeom>
          <a:noFill/>
        </p:spPr>
        <p:txBody>
          <a:bodyPr wrap="square" anchor="t" lIns="0" rIns="0" tIns="0" bIns="0">
            <a:spAutoFit/>
          </a:bodyPr>
          <a:lstStyle/>
          <a:p>
            <a:pPr>
              <a:spcBef>
                <a:spcPts val="0"/>
              </a:spcBef>
              <a:spcAft>
                <a:spcPts val="0"/>
              </a:spcAft>
            </a:pPr>
            <a:r>
              <a:rPr sz="700" b="0" i="0">
                <a:solidFill>
                  <a:srgbClr val="000000"/>
                </a:solidFill>
                <a:latin typeface="Consolas"/>
              </a:rPr>
              <a:t>db.orders.find({</a:t>
            </a:r>
          </a:p>
          <a:p>
            <a:pPr>
              <a:spcBef>
                <a:spcPts val="0"/>
              </a:spcBef>
              <a:spcAft>
                <a:spcPts val="0"/>
              </a:spcAft>
            </a:pPr>
            <a:r>
              <a:rPr sz="700" b="0" i="0">
                <a:solidFill>
                  <a:srgbClr val="000000"/>
                </a:solidFill>
                <a:latin typeface="Consolas"/>
              </a:rPr>
              <a:t>  customerId: customerId</a:t>
            </a:r>
          </a:p>
          <a:p>
            <a:pPr>
              <a:spcBef>
                <a:spcPts val="0"/>
              </a:spcBef>
              <a:spcAft>
                <a:spcPts val="0"/>
              </a:spcAft>
            </a:pPr>
            <a:r>
              <a:rPr sz="700" b="0" i="0">
                <a:solidFill>
                  <a:srgbClr val="000000"/>
                </a:solidFill>
                <a:latin typeface="Consolas"/>
              </a:rPr>
              <a:t>}).sort({</a:t>
            </a:r>
          </a:p>
          <a:p>
            <a:pPr>
              <a:spcBef>
                <a:spcPts val="0"/>
              </a:spcBef>
              <a:spcAft>
                <a:spcPts val="0"/>
              </a:spcAft>
            </a:pPr>
            <a:r>
              <a:rPr sz="700" b="0" i="0">
                <a:solidFill>
                  <a:srgbClr val="000000"/>
                </a:solidFill>
                <a:latin typeface="Consolas"/>
              </a:rPr>
              <a:t>  orderedAt: -1</a:t>
            </a:r>
          </a:p>
          <a:p>
            <a:pPr>
              <a:spcBef>
                <a:spcPts val="0"/>
              </a:spcBef>
              <a:spcAft>
                <a:spcPts val="0"/>
              </a:spcAft>
            </a:pPr>
            <a:r>
              <a:rPr sz="700" b="0" i="0">
                <a:solidFill>
                  <a:srgbClr val="000000"/>
                </a:solidFill>
                <a:latin typeface="Consolas"/>
              </a:rPr>
              <a:t>})</a:t>
            </a:r>
          </a:p>
        </p:txBody>
      </p:sp>
      <p:sp>
        <p:nvSpPr>
          <p:cNvPr id="12" name="Rounded Rectangle 11"/>
          <p:cNvSpPr/>
          <p:nvPr/>
        </p:nvSpPr>
        <p:spPr>
          <a:xfrm>
            <a:off x="6153912" y="4219428"/>
            <a:ext cx="5550408" cy="787908"/>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81928" y="4310868"/>
            <a:ext cx="5294376" cy="623316"/>
          </a:xfrm>
          <a:prstGeom prst="rect">
            <a:avLst/>
          </a:prstGeom>
          <a:noFill/>
        </p:spPr>
        <p:txBody>
          <a:bodyPr wrap="square" anchor="t" lIns="0" rIns="0" tIns="0" bIns="0">
            <a:spAutoFit/>
          </a:bodyPr>
          <a:lstStyle/>
          <a:p>
            <a:pPr>
              <a:spcBef>
                <a:spcPts val="0"/>
              </a:spcBef>
              <a:spcAft>
                <a:spcPts val="0"/>
              </a:spcAft>
            </a:pPr>
            <a:r>
              <a:rPr sz="700" b="0" i="0">
                <a:solidFill>
                  <a:srgbClr val="000000"/>
                </a:solidFill>
                <a:latin typeface="Consolas"/>
              </a:rPr>
              <a:t>db.orders.createIndex({</a:t>
            </a:r>
          </a:p>
          <a:p>
            <a:pPr>
              <a:spcBef>
                <a:spcPts val="0"/>
              </a:spcBef>
              <a:spcAft>
                <a:spcPts val="0"/>
              </a:spcAft>
            </a:pPr>
            <a:r>
              <a:rPr sz="700" b="0" i="0">
                <a:solidFill>
                  <a:srgbClr val="000000"/>
                </a:solidFill>
                <a:latin typeface="Consolas"/>
              </a:rPr>
              <a:t>  customerId: 1,</a:t>
            </a:r>
          </a:p>
          <a:p>
            <a:pPr>
              <a:spcBef>
                <a:spcPts val="0"/>
              </a:spcBef>
              <a:spcAft>
                <a:spcPts val="0"/>
              </a:spcAft>
            </a:pPr>
            <a:r>
              <a:rPr sz="700" b="0" i="0">
                <a:solidFill>
                  <a:srgbClr val="000000"/>
                </a:solidFill>
                <a:latin typeface="Consolas"/>
              </a:rPr>
              <a:t>  orderedAt: -1</a:t>
            </a:r>
          </a:p>
          <a:p>
            <a:pPr>
              <a:spcBef>
                <a:spcPts val="0"/>
              </a:spcBef>
              <a:spcAft>
                <a:spcPts val="0"/>
              </a:spcAft>
            </a:pPr>
            <a:r>
              <a:rPr sz="700" b="0" i="0">
                <a:solidFill>
                  <a:srgbClr val="000000"/>
                </a:solidFill>
                <a:latin typeface="Consolas"/>
              </a:rPr>
              <a:t>})</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REVERSE TRAVERSAL</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915434"/>
            <a:ext cx="237744" cy="237744"/>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915434"/>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897146"/>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299482"/>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An index:</a:t>
            </a:r>
          </a:p>
        </p:txBody>
      </p:sp>
      <p:sp>
        <p:nvSpPr>
          <p:cNvPr id="8" name="TextBox 7"/>
          <p:cNvSpPr txBox="1"/>
          <p:nvPr/>
        </p:nvSpPr>
        <p:spPr>
          <a:xfrm>
            <a:off x="457200" y="2869614"/>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can generally support the exact direction:</a:t>
            </a:r>
          </a:p>
        </p:txBody>
      </p:sp>
      <p:sp>
        <p:nvSpPr>
          <p:cNvPr id="9" name="TextBox 8"/>
          <p:cNvSpPr txBox="1"/>
          <p:nvPr/>
        </p:nvSpPr>
        <p:spPr>
          <a:xfrm>
            <a:off x="457200" y="3439746"/>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and its complete reverse:</a:t>
            </a:r>
          </a:p>
        </p:txBody>
      </p:sp>
      <p:sp>
        <p:nvSpPr>
          <p:cNvPr id="10" name="Rounded Rectangle 9"/>
          <p:cNvSpPr/>
          <p:nvPr/>
        </p:nvSpPr>
        <p:spPr>
          <a:xfrm>
            <a:off x="457200" y="4009878"/>
            <a:ext cx="5550408" cy="938784"/>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 y="4101318"/>
            <a:ext cx="5294376" cy="774192"/>
          </a:xfrm>
          <a:prstGeom prst="rect">
            <a:avLst/>
          </a:prstGeom>
          <a:noFill/>
        </p:spPr>
        <p:txBody>
          <a:bodyPr wrap="square" anchor="t" lIns="0" rIns="0" tIns="0" bIns="0">
            <a:spAutoFit/>
          </a:bodyPr>
          <a:lstStyle/>
          <a:p>
            <a:pPr>
              <a:spcBef>
                <a:spcPts val="0"/>
              </a:spcBef>
              <a:spcAft>
                <a:spcPts val="0"/>
              </a:spcAft>
            </a:pPr>
            <a:r>
              <a:rPr sz="1100" b="0" i="0">
                <a:solidFill>
                  <a:srgbClr val="000000"/>
                </a:solidFill>
                <a:latin typeface="Consolas"/>
              </a:rPr>
              <a:t>{</a:t>
            </a:r>
          </a:p>
          <a:p>
            <a:pPr>
              <a:spcBef>
                <a:spcPts val="0"/>
              </a:spcBef>
              <a:spcAft>
                <a:spcPts val="0"/>
              </a:spcAft>
            </a:pPr>
            <a:r>
              <a:rPr sz="1100" b="0" i="0">
                <a:solidFill>
                  <a:srgbClr val="000000"/>
                </a:solidFill>
                <a:latin typeface="Consolas"/>
              </a:rPr>
              <a:t>  customerId: 1,</a:t>
            </a:r>
          </a:p>
          <a:p>
            <a:pPr>
              <a:spcBef>
                <a:spcPts val="0"/>
              </a:spcBef>
              <a:spcAft>
                <a:spcPts val="0"/>
              </a:spcAft>
            </a:pPr>
            <a:r>
              <a:rPr sz="1100" b="0" i="0">
                <a:solidFill>
                  <a:srgbClr val="000000"/>
                </a:solidFill>
                <a:latin typeface="Consolas"/>
              </a:rPr>
              <a:t>  orderedAt: -1</a:t>
            </a:r>
          </a:p>
          <a:p>
            <a:pPr>
              <a:spcBef>
                <a:spcPts val="0"/>
              </a:spcBef>
              <a:spcAft>
                <a:spcPts val="0"/>
              </a:spcAft>
            </a:pPr>
            <a:r>
              <a:rPr sz="1100" b="0" i="0">
                <a:solidFill>
                  <a:srgbClr val="000000"/>
                </a:solidFill>
                <a:latin typeface="Consolas"/>
              </a:rPr>
              <a:t>}</a:t>
            </a:r>
          </a:p>
        </p:txBody>
      </p:sp>
      <p:sp>
        <p:nvSpPr>
          <p:cNvPr id="12" name="Rounded Rectangle 11"/>
          <p:cNvSpPr/>
          <p:nvPr/>
        </p:nvSpPr>
        <p:spPr>
          <a:xfrm>
            <a:off x="6153912" y="4009878"/>
            <a:ext cx="5550408" cy="938784"/>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81928" y="4101318"/>
            <a:ext cx="5294376" cy="774192"/>
          </a:xfrm>
          <a:prstGeom prst="rect">
            <a:avLst/>
          </a:prstGeom>
          <a:noFill/>
        </p:spPr>
        <p:txBody>
          <a:bodyPr wrap="square" anchor="t" lIns="0" rIns="0" tIns="0" bIns="0">
            <a:spAutoFit/>
          </a:bodyPr>
          <a:lstStyle/>
          <a:p>
            <a:pPr>
              <a:spcBef>
                <a:spcPts val="0"/>
              </a:spcBef>
              <a:spcAft>
                <a:spcPts val="0"/>
              </a:spcAft>
            </a:pPr>
            <a:r>
              <a:rPr sz="1100" b="0" i="0">
                <a:solidFill>
                  <a:srgbClr val="000000"/>
                </a:solidFill>
                <a:latin typeface="Consolas"/>
              </a:rPr>
              <a:t>{</a:t>
            </a:r>
          </a:p>
          <a:p>
            <a:pPr>
              <a:spcBef>
                <a:spcPts val="0"/>
              </a:spcBef>
              <a:spcAft>
                <a:spcPts val="0"/>
              </a:spcAft>
            </a:pPr>
            <a:r>
              <a:rPr sz="1100" b="0" i="0">
                <a:solidFill>
                  <a:srgbClr val="000000"/>
                </a:solidFill>
                <a:latin typeface="Consolas"/>
              </a:rPr>
              <a:t>  customerId: -1,</a:t>
            </a:r>
          </a:p>
          <a:p>
            <a:pPr>
              <a:spcBef>
                <a:spcPts val="0"/>
              </a:spcBef>
              <a:spcAft>
                <a:spcPts val="0"/>
              </a:spcAft>
            </a:pPr>
            <a:r>
              <a:rPr sz="1100" b="0" i="0">
                <a:solidFill>
                  <a:srgbClr val="000000"/>
                </a:solidFill>
                <a:latin typeface="Consolas"/>
              </a:rPr>
              <a:t>  orderedAt: 1</a:t>
            </a:r>
          </a:p>
          <a:p>
            <a:pPr>
              <a:spcBef>
                <a:spcPts val="0"/>
              </a:spcBef>
              <a:spcAft>
                <a:spcPts val="0"/>
              </a:spcAft>
            </a:pPr>
            <a:r>
              <a:rPr sz="1100" b="0" i="0">
                <a:solidFill>
                  <a:srgbClr val="000000"/>
                </a:solidFill>
                <a:latin typeface="Consolas"/>
              </a:rPr>
              <a:t>}</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REVERSE TRAVERSAL (CONT.)</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3089070"/>
            <a:ext cx="237744" cy="237744"/>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089070"/>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3070782"/>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3473118"/>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It does not directly support every arbitrary combination of directions.</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UNIQUE INDEXES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188720"/>
            <a:ext cx="237744" cy="237744"/>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170432"/>
            <a:ext cx="351129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572768"/>
            <a:ext cx="3840480" cy="81397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A unique index prevents duplicate indexed values.</a:t>
            </a:r>
          </a:p>
        </p:txBody>
      </p:sp>
      <p:sp>
        <p:nvSpPr>
          <p:cNvPr id="8" name="TextBox 7"/>
          <p:cNvSpPr txBox="1"/>
          <p:nvPr/>
        </p:nvSpPr>
        <p:spPr>
          <a:xfrm>
            <a:off x="457200" y="2478180"/>
            <a:ext cx="3840480" cy="148453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Attempting to insert another product with the same SKU causes a duplicate-key error.</a:t>
            </a:r>
          </a:p>
        </p:txBody>
      </p:sp>
      <p:sp>
        <p:nvSpPr>
          <p:cNvPr id="9" name="Rounded Rectangle 8"/>
          <p:cNvSpPr/>
          <p:nvPr/>
        </p:nvSpPr>
        <p:spPr>
          <a:xfrm>
            <a:off x="457200" y="4054152"/>
            <a:ext cx="3840480" cy="1860804"/>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 y="4145592"/>
            <a:ext cx="3584448" cy="1696212"/>
          </a:xfrm>
          <a:prstGeom prst="rect">
            <a:avLst/>
          </a:prstGeom>
          <a:noFill/>
        </p:spPr>
        <p:txBody>
          <a:bodyPr wrap="square" anchor="t" lIns="0" rIns="0" tIns="0" bIns="0">
            <a:spAutoFit/>
          </a:bodyPr>
          <a:lstStyle/>
          <a:p>
            <a:pPr>
              <a:spcBef>
                <a:spcPts val="0"/>
              </a:spcBef>
              <a:spcAft>
                <a:spcPts val="0"/>
              </a:spcAft>
            </a:pPr>
            <a:r>
              <a:rPr sz="1100" b="0" i="0">
                <a:solidFill>
                  <a:srgbClr val="000000"/>
                </a:solidFill>
                <a:latin typeface="Consolas"/>
              </a:rPr>
              <a:t>db.products.createIndex(</a:t>
            </a:r>
          </a:p>
          <a:p>
            <a:pPr>
              <a:spcBef>
                <a:spcPts val="0"/>
              </a:spcBef>
              <a:spcAft>
                <a:spcPts val="0"/>
              </a:spcAft>
            </a:pPr>
            <a:r>
              <a:rPr sz="1100" b="0" i="0">
                <a:solidFill>
                  <a:srgbClr val="000000"/>
                </a:solidFill>
                <a:latin typeface="Consolas"/>
              </a:rPr>
              <a:t>  {</a:t>
            </a:r>
          </a:p>
          <a:p>
            <a:pPr>
              <a:spcBef>
                <a:spcPts val="0"/>
              </a:spcBef>
              <a:spcAft>
                <a:spcPts val="0"/>
              </a:spcAft>
            </a:pPr>
            <a:r>
              <a:rPr sz="1100" b="0" i="0">
                <a:solidFill>
                  <a:srgbClr val="000000"/>
                </a:solidFill>
                <a:latin typeface="Consolas"/>
              </a:rPr>
              <a:t>    sku: 1</a:t>
            </a:r>
          </a:p>
          <a:p>
            <a:pPr>
              <a:spcBef>
                <a:spcPts val="0"/>
              </a:spcBef>
              <a:spcAft>
                <a:spcPts val="0"/>
              </a:spcAft>
            </a:pPr>
            <a:r>
              <a:rPr sz="1100" b="0" i="0">
                <a:solidFill>
                  <a:srgbClr val="000000"/>
                </a:solidFill>
                <a:latin typeface="Consolas"/>
              </a:rPr>
              <a:t>  },</a:t>
            </a:r>
          </a:p>
          <a:p>
            <a:pPr>
              <a:spcBef>
                <a:spcPts val="0"/>
              </a:spcBef>
              <a:spcAft>
                <a:spcPts val="0"/>
              </a:spcAft>
            </a:pPr>
            <a:r>
              <a:rPr sz="1100" b="0" i="0">
                <a:solidFill>
                  <a:srgbClr val="000000"/>
                </a:solidFill>
                <a:latin typeface="Consolas"/>
              </a:rPr>
              <a:t>  {</a:t>
            </a:r>
          </a:p>
          <a:p>
            <a:pPr>
              <a:spcBef>
                <a:spcPts val="0"/>
              </a:spcBef>
              <a:spcAft>
                <a:spcPts val="0"/>
              </a:spcAft>
            </a:pPr>
            <a:r>
              <a:rPr sz="1100" b="0" i="0">
                <a:solidFill>
                  <a:srgbClr val="000000"/>
                </a:solidFill>
                <a:latin typeface="Consolas"/>
              </a:rPr>
              <a:t>    unique: true,</a:t>
            </a:r>
          </a:p>
          <a:p>
            <a:pPr>
              <a:spcBef>
                <a:spcPts val="0"/>
              </a:spcBef>
              <a:spcAft>
                <a:spcPts val="0"/>
              </a:spcAft>
            </a:pPr>
            <a:r>
              <a:rPr sz="1100" b="0" i="0">
                <a:solidFill>
                  <a:srgbClr val="000000"/>
                </a:solidFill>
                <a:latin typeface="Consolas"/>
              </a:rPr>
              <a:t>    name: "uq_products_sku"</a:t>
            </a:r>
          </a:p>
          <a:p>
            <a:pPr>
              <a:spcBef>
                <a:spcPts val="0"/>
              </a:spcBef>
              <a:spcAft>
                <a:spcPts val="0"/>
              </a:spcAft>
            </a:pPr>
            <a:r>
              <a:rPr sz="1100" b="0" i="0">
                <a:solidFill>
                  <a:srgbClr val="000000"/>
                </a:solidFill>
                <a:latin typeface="Consolas"/>
              </a:rPr>
              <a:t>  }</a:t>
            </a:r>
          </a:p>
          <a:p>
            <a:pPr>
              <a:spcBef>
                <a:spcPts val="0"/>
              </a:spcBef>
              <a:spcAft>
                <a:spcPts val="0"/>
              </a:spcAft>
            </a:pPr>
            <a:r>
              <a:rPr sz="1100" b="0" i="0">
                <a:solidFill>
                  <a:srgbClr val="000000"/>
                </a:solidFill>
                <a:latin typeface="Consolas"/>
              </a:rPr>
              <a:t>)</a:t>
            </a:r>
          </a:p>
        </p:txBody>
      </p:sp>
      <p:sp>
        <p:nvSpPr>
          <p:cNvPr id="11" name="Rectangle 10"/>
          <p:cNvSpPr/>
          <p:nvPr/>
        </p:nvSpPr>
        <p:spPr>
          <a:xfrm>
            <a:off x="4471035" y="1842188"/>
            <a:ext cx="7242810" cy="3429655"/>
          </a:xfrm>
          <a:prstGeom prst="rect">
            <a:avLst/>
          </a:prstGeom>
          <a:solidFill>
            <a:srgbClr val="FFFFFF"/>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2"/>
          <a:stretch>
            <a:fillRect/>
          </a:stretch>
        </p:blipFill>
        <p:spPr>
          <a:xfrm>
            <a:off x="4480560" y="1851713"/>
            <a:ext cx="7223760" cy="3410605"/>
          </a:xfrm>
          <a:prstGeom prst="rect">
            <a:avLst/>
          </a:prstGeom>
        </p:spPr>
      </p:pic>
      <p:sp>
        <p:nvSpPr>
          <p:cNvPr id="13" name="Rectangle 12"/>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UNIQUE CUSTOMER EMAIL</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Rounded Rectangle 3"/>
          <p:cNvSpPr/>
          <p:nvPr/>
        </p:nvSpPr>
        <p:spPr>
          <a:xfrm>
            <a:off x="457200" y="2128266"/>
            <a:ext cx="11247120" cy="2766060"/>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85216" y="2219706"/>
            <a:ext cx="10991088" cy="2601468"/>
          </a:xfrm>
          <a:prstGeom prst="rect">
            <a:avLst/>
          </a:prstGeom>
          <a:noFill/>
        </p:spPr>
        <p:txBody>
          <a:bodyPr wrap="square" anchor="t" lIns="0" rIns="0" tIns="0" bIns="0">
            <a:spAutoFit/>
          </a:bodyPr>
          <a:lstStyle/>
          <a:p>
            <a:pPr>
              <a:spcBef>
                <a:spcPts val="0"/>
              </a:spcBef>
              <a:spcAft>
                <a:spcPts val="0"/>
              </a:spcAft>
            </a:pPr>
            <a:r>
              <a:rPr sz="1700" b="0" i="0">
                <a:solidFill>
                  <a:srgbClr val="000000"/>
                </a:solidFill>
                <a:latin typeface="Consolas"/>
              </a:rPr>
              <a:t>db.customers.createIndex(</a:t>
            </a:r>
          </a:p>
          <a:p>
            <a:pPr>
              <a:spcBef>
                <a:spcPts val="0"/>
              </a:spcBef>
              <a:spcAft>
                <a:spcPts val="0"/>
              </a:spcAft>
            </a:pPr>
            <a:r>
              <a:rPr sz="1700" b="0" i="0">
                <a:solidFill>
                  <a:srgbClr val="000000"/>
                </a:solidFill>
                <a:latin typeface="Consolas"/>
              </a:rPr>
              <a:t>  {</a:t>
            </a:r>
          </a:p>
          <a:p>
            <a:pPr>
              <a:spcBef>
                <a:spcPts val="0"/>
              </a:spcBef>
              <a:spcAft>
                <a:spcPts val="0"/>
              </a:spcAft>
            </a:pPr>
            <a:r>
              <a:rPr sz="1700" b="0" i="0">
                <a:solidFill>
                  <a:srgbClr val="000000"/>
                </a:solidFill>
                <a:latin typeface="Consolas"/>
              </a:rPr>
              <a:t>    email: 1</a:t>
            </a:r>
          </a:p>
          <a:p>
            <a:pPr>
              <a:spcBef>
                <a:spcPts val="0"/>
              </a:spcBef>
              <a:spcAft>
                <a:spcPts val="0"/>
              </a:spcAft>
            </a:pPr>
            <a:r>
              <a:rPr sz="1700" b="0" i="0">
                <a:solidFill>
                  <a:srgbClr val="000000"/>
                </a:solidFill>
                <a:latin typeface="Consolas"/>
              </a:rPr>
              <a:t>  },</a:t>
            </a:r>
          </a:p>
          <a:p>
            <a:pPr>
              <a:spcBef>
                <a:spcPts val="0"/>
              </a:spcBef>
              <a:spcAft>
                <a:spcPts val="0"/>
              </a:spcAft>
            </a:pPr>
            <a:r>
              <a:rPr sz="1700" b="0" i="0">
                <a:solidFill>
                  <a:srgbClr val="000000"/>
                </a:solidFill>
                <a:latin typeface="Consolas"/>
              </a:rPr>
              <a:t>  {</a:t>
            </a:r>
          </a:p>
          <a:p>
            <a:pPr>
              <a:spcBef>
                <a:spcPts val="0"/>
              </a:spcBef>
              <a:spcAft>
                <a:spcPts val="0"/>
              </a:spcAft>
            </a:pPr>
            <a:r>
              <a:rPr sz="1700" b="0" i="0">
                <a:solidFill>
                  <a:srgbClr val="000000"/>
                </a:solidFill>
                <a:latin typeface="Consolas"/>
              </a:rPr>
              <a:t>    unique: true,</a:t>
            </a:r>
          </a:p>
          <a:p>
            <a:pPr>
              <a:spcBef>
                <a:spcPts val="0"/>
              </a:spcBef>
              <a:spcAft>
                <a:spcPts val="0"/>
              </a:spcAft>
            </a:pPr>
            <a:r>
              <a:rPr sz="1700" b="0" i="0">
                <a:solidFill>
                  <a:srgbClr val="000000"/>
                </a:solidFill>
                <a:latin typeface="Consolas"/>
              </a:rPr>
              <a:t>    name: "uq_customers_email"</a:t>
            </a:r>
          </a:p>
          <a:p>
            <a:pPr>
              <a:spcBef>
                <a:spcPts val="0"/>
              </a:spcBef>
              <a:spcAft>
                <a:spcPts val="0"/>
              </a:spcAft>
            </a:pPr>
            <a:r>
              <a:rPr sz="1700" b="0" i="0">
                <a:solidFill>
                  <a:srgbClr val="000000"/>
                </a:solidFill>
                <a:latin typeface="Consolas"/>
              </a:rPr>
              <a:t>  }</a:t>
            </a:r>
          </a:p>
          <a:p>
            <a:pPr>
              <a:spcBef>
                <a:spcPts val="0"/>
              </a:spcBef>
              <a:spcAft>
                <a:spcPts val="0"/>
              </a:spcAft>
            </a:pPr>
            <a:r>
              <a:rPr sz="1700" b="0" i="0">
                <a:solidFill>
                  <a:srgbClr val="000000"/>
                </a:solidFill>
                <a:latin typeface="Consolas"/>
              </a:rPr>
              <a:t>)</a:t>
            </a:r>
          </a:p>
        </p:txBody>
      </p:sp>
      <p:sp>
        <p:nvSpPr>
          <p:cNvPr id="6" name="Rectangle 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CASE-INSENSITIVE UNIQUENESS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764558"/>
            <a:ext cx="237744" cy="237744"/>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76455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74627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148606"/>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The strings below differ in case:</a:t>
            </a:r>
          </a:p>
        </p:txBody>
      </p:sp>
      <p:sp>
        <p:nvSpPr>
          <p:cNvPr id="8" name="TextBox 7"/>
          <p:cNvSpPr txBox="1"/>
          <p:nvPr/>
        </p:nvSpPr>
        <p:spPr>
          <a:xfrm>
            <a:off x="457200" y="2718738"/>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For case-insensitive comparison, an index can use collation:</a:t>
            </a:r>
          </a:p>
        </p:txBody>
      </p:sp>
      <p:sp>
        <p:nvSpPr>
          <p:cNvPr id="9" name="TextBox 8"/>
          <p:cNvSpPr txBox="1"/>
          <p:nvPr/>
        </p:nvSpPr>
        <p:spPr>
          <a:xfrm>
            <a:off x="457200" y="3288870"/>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Queries must use a compatible collation to use that index:</a:t>
            </a:r>
          </a:p>
        </p:txBody>
      </p:sp>
      <p:sp>
        <p:nvSpPr>
          <p:cNvPr id="10" name="Rounded Rectangle 9"/>
          <p:cNvSpPr/>
          <p:nvPr/>
        </p:nvSpPr>
        <p:spPr>
          <a:xfrm>
            <a:off x="457200" y="3859002"/>
            <a:ext cx="5550408" cy="1508760"/>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 y="3950442"/>
            <a:ext cx="5294376" cy="1344168"/>
          </a:xfrm>
          <a:prstGeom prst="rect">
            <a:avLst/>
          </a:prstGeom>
          <a:noFill/>
        </p:spPr>
        <p:txBody>
          <a:bodyPr wrap="square" anchor="t" lIns="0" rIns="0" tIns="0" bIns="0">
            <a:spAutoFit/>
          </a:bodyPr>
          <a:lstStyle/>
          <a:p>
            <a:pPr>
              <a:spcBef>
                <a:spcPts val="0"/>
              </a:spcBef>
              <a:spcAft>
                <a:spcPts val="0"/>
              </a:spcAft>
            </a:pPr>
            <a:r>
              <a:rPr sz="600" b="0" i="0">
                <a:solidFill>
                  <a:srgbClr val="000000"/>
                </a:solidFill>
                <a:latin typeface="Consolas"/>
              </a:rPr>
              <a:t>priya@example.com</a:t>
            </a:r>
          </a:p>
          <a:p>
            <a:pPr>
              <a:spcBef>
                <a:spcPts val="0"/>
              </a:spcBef>
              <a:spcAft>
                <a:spcPts val="0"/>
              </a:spcAft>
            </a:pPr>
            <a:r>
              <a:rPr sz="600" b="0" i="0">
                <a:solidFill>
                  <a:srgbClr val="000000"/>
                </a:solidFill>
                <a:latin typeface="Consolas"/>
              </a:rPr>
              <a:t>PRIYA@EXAMPLE.COM</a:t>
            </a:r>
          </a:p>
        </p:txBody>
      </p:sp>
      <p:sp>
        <p:nvSpPr>
          <p:cNvPr id="12" name="Rounded Rectangle 11"/>
          <p:cNvSpPr/>
          <p:nvPr/>
        </p:nvSpPr>
        <p:spPr>
          <a:xfrm>
            <a:off x="6153912" y="3859002"/>
            <a:ext cx="5550408" cy="1508760"/>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81928" y="3950442"/>
            <a:ext cx="5294376" cy="1344168"/>
          </a:xfrm>
          <a:prstGeom prst="rect">
            <a:avLst/>
          </a:prstGeom>
          <a:noFill/>
        </p:spPr>
        <p:txBody>
          <a:bodyPr wrap="square" anchor="t" lIns="0" rIns="0" tIns="0" bIns="0">
            <a:spAutoFit/>
          </a:bodyPr>
          <a:lstStyle/>
          <a:p>
            <a:pPr>
              <a:spcBef>
                <a:spcPts val="0"/>
              </a:spcBef>
              <a:spcAft>
                <a:spcPts val="0"/>
              </a:spcAft>
            </a:pPr>
            <a:r>
              <a:rPr sz="600" b="0" i="0">
                <a:solidFill>
                  <a:srgbClr val="000000"/>
                </a:solidFill>
                <a:latin typeface="Consolas"/>
              </a:rPr>
              <a:t>db.customers.createIndex(</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email: 1</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unique: true,</a:t>
            </a:r>
          </a:p>
          <a:p>
            <a:pPr>
              <a:spcBef>
                <a:spcPts val="0"/>
              </a:spcBef>
              <a:spcAft>
                <a:spcPts val="0"/>
              </a:spcAft>
            </a:pPr>
            <a:r>
              <a:rPr sz="600" b="0" i="0">
                <a:solidFill>
                  <a:srgbClr val="000000"/>
                </a:solidFill>
                <a:latin typeface="Consolas"/>
              </a:rPr>
              <a:t>    name: "uq_customers_email_ci",</a:t>
            </a:r>
          </a:p>
          <a:p>
            <a:pPr>
              <a:spcBef>
                <a:spcPts val="0"/>
              </a:spcBef>
              <a:spcAft>
                <a:spcPts val="0"/>
              </a:spcAft>
            </a:pPr>
            <a:r>
              <a:rPr sz="600" b="0" i="0">
                <a:solidFill>
                  <a:srgbClr val="000000"/>
                </a:solidFill>
                <a:latin typeface="Consolas"/>
              </a:rPr>
              <a:t>    collation: {</a:t>
            </a:r>
          </a:p>
          <a:p>
            <a:pPr>
              <a:spcBef>
                <a:spcPts val="0"/>
              </a:spcBef>
              <a:spcAft>
                <a:spcPts val="0"/>
              </a:spcAft>
            </a:pPr>
            <a:r>
              <a:rPr sz="600" b="0" i="0">
                <a:solidFill>
                  <a:srgbClr val="000000"/>
                </a:solidFill>
                <a:latin typeface="Consolas"/>
              </a:rPr>
              <a:t>      locale: "en",</a:t>
            </a:r>
          </a:p>
          <a:p>
            <a:pPr>
              <a:spcBef>
                <a:spcPts val="0"/>
              </a:spcBef>
              <a:spcAft>
                <a:spcPts val="0"/>
              </a:spcAft>
            </a:pPr>
            <a:r>
              <a:rPr sz="600" b="0" i="0">
                <a:solidFill>
                  <a:srgbClr val="000000"/>
                </a:solidFill>
                <a:latin typeface="Consolas"/>
              </a:rPr>
              <a:t>      strength: 2</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CASE-INSENSITIVE UNIQUENESS (CONT.)</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920162"/>
            <a:ext cx="237744" cy="237744"/>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920162"/>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901874"/>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304210"/>
            <a:ext cx="11247120" cy="81397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Applications should also normalize email addresses before storing them when that matches the business rule.</a:t>
            </a:r>
          </a:p>
        </p:txBody>
      </p:sp>
      <p:sp>
        <p:nvSpPr>
          <p:cNvPr id="8" name="Rounded Rectangle 7"/>
          <p:cNvSpPr/>
          <p:nvPr/>
        </p:nvSpPr>
        <p:spPr>
          <a:xfrm>
            <a:off x="457200" y="3209622"/>
            <a:ext cx="11247120" cy="1911096"/>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5216" y="3301062"/>
            <a:ext cx="10991088" cy="1746504"/>
          </a:xfrm>
          <a:prstGeom prst="rect">
            <a:avLst/>
          </a:prstGeom>
          <a:noFill/>
        </p:spPr>
        <p:txBody>
          <a:bodyPr wrap="square" anchor="t" lIns="0" rIns="0" tIns="0" bIns="0">
            <a:spAutoFit/>
          </a:bodyPr>
          <a:lstStyle/>
          <a:p>
            <a:pPr>
              <a:spcBef>
                <a:spcPts val="0"/>
              </a:spcBef>
              <a:spcAft>
                <a:spcPts val="0"/>
              </a:spcAft>
            </a:pPr>
            <a:r>
              <a:rPr sz="1700" b="0" i="0">
                <a:solidFill>
                  <a:srgbClr val="000000"/>
                </a:solidFill>
                <a:latin typeface="Consolas"/>
              </a:rPr>
              <a:t>db.customers.find({</a:t>
            </a:r>
          </a:p>
          <a:p>
            <a:pPr>
              <a:spcBef>
                <a:spcPts val="0"/>
              </a:spcBef>
              <a:spcAft>
                <a:spcPts val="0"/>
              </a:spcAft>
            </a:pPr>
            <a:r>
              <a:rPr sz="1700" b="0" i="0">
                <a:solidFill>
                  <a:srgbClr val="000000"/>
                </a:solidFill>
                <a:latin typeface="Consolas"/>
              </a:rPr>
              <a:t>  email: "PRIYA@EXAMPLE.COM"</a:t>
            </a:r>
          </a:p>
          <a:p>
            <a:pPr>
              <a:spcBef>
                <a:spcPts val="0"/>
              </a:spcBef>
              <a:spcAft>
                <a:spcPts val="0"/>
              </a:spcAft>
            </a:pPr>
            <a:r>
              <a:rPr sz="1700" b="0" i="0">
                <a:solidFill>
                  <a:srgbClr val="000000"/>
                </a:solidFill>
                <a:latin typeface="Consolas"/>
              </a:rPr>
              <a:t>}).collation({</a:t>
            </a:r>
          </a:p>
          <a:p>
            <a:pPr>
              <a:spcBef>
                <a:spcPts val="0"/>
              </a:spcBef>
              <a:spcAft>
                <a:spcPts val="0"/>
              </a:spcAft>
            </a:pPr>
            <a:r>
              <a:rPr sz="1700" b="0" i="0">
                <a:solidFill>
                  <a:srgbClr val="000000"/>
                </a:solidFill>
                <a:latin typeface="Consolas"/>
              </a:rPr>
              <a:t>  locale: "en",</a:t>
            </a:r>
          </a:p>
          <a:p>
            <a:pPr>
              <a:spcBef>
                <a:spcPts val="0"/>
              </a:spcBef>
              <a:spcAft>
                <a:spcPts val="0"/>
              </a:spcAft>
            </a:pPr>
            <a:r>
              <a:rPr sz="1700" b="0" i="0">
                <a:solidFill>
                  <a:srgbClr val="000000"/>
                </a:solidFill>
                <a:latin typeface="Consolas"/>
              </a:rPr>
              <a:t>  strength: 2</a:t>
            </a:r>
          </a:p>
          <a:p>
            <a:pPr>
              <a:spcBef>
                <a:spcPts val="0"/>
              </a:spcBef>
              <a:spcAft>
                <a:spcPts val="0"/>
              </a:spcAft>
            </a:pPr>
            <a:r>
              <a:rPr sz="1700" b="0" i="0">
                <a:solidFill>
                  <a:srgbClr val="000000"/>
                </a:solidFill>
                <a:latin typeface="Consolas"/>
              </a:rPr>
              <a:t>})</a:t>
            </a:r>
          </a:p>
        </p:txBody>
      </p:sp>
      <p:sp>
        <p:nvSpPr>
          <p:cNvPr id="10" name="Rectangle 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MULTIKEY INDEXES FOR ARRAYS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575934"/>
            <a:ext cx="237744" cy="237744"/>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75934"/>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557646"/>
            <a:ext cx="351129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959982"/>
            <a:ext cx="3840480" cy="928545"/>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When an index is created on an array field, MongoDB creates a multikey index.</a:t>
            </a:r>
          </a:p>
        </p:txBody>
      </p:sp>
      <p:sp>
        <p:nvSpPr>
          <p:cNvPr id="8" name="TextBox 7"/>
          <p:cNvSpPr txBox="1"/>
          <p:nvPr/>
        </p:nvSpPr>
        <p:spPr>
          <a:xfrm>
            <a:off x="457200" y="2979967"/>
            <a:ext cx="3840480" cy="392097"/>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It supports queries such as:</a:t>
            </a:r>
          </a:p>
        </p:txBody>
      </p:sp>
      <p:sp>
        <p:nvSpPr>
          <p:cNvPr id="9" name="TextBox 8"/>
          <p:cNvSpPr txBox="1"/>
          <p:nvPr/>
        </p:nvSpPr>
        <p:spPr>
          <a:xfrm>
            <a:off x="457200" y="3463504"/>
            <a:ext cx="3840480" cy="928545"/>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MongoDB’s multikey indexes collect and sort values stored in arrays.</a:t>
            </a:r>
          </a:p>
        </p:txBody>
      </p:sp>
      <p:sp>
        <p:nvSpPr>
          <p:cNvPr id="10" name="Rounded Rectangle 9"/>
          <p:cNvSpPr/>
          <p:nvPr/>
        </p:nvSpPr>
        <p:spPr>
          <a:xfrm>
            <a:off x="457200" y="4483489"/>
            <a:ext cx="1847088" cy="603504"/>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 y="4574929"/>
            <a:ext cx="1591056" cy="438912"/>
          </a:xfrm>
          <a:prstGeom prst="rect">
            <a:avLst/>
          </a:prstGeom>
          <a:noFill/>
        </p:spPr>
        <p:txBody>
          <a:bodyPr wrap="square" anchor="t" lIns="0" rIns="0" tIns="0" bIns="0">
            <a:spAutoFit/>
          </a:bodyPr>
          <a:lstStyle/>
          <a:p>
            <a:pPr>
              <a:spcBef>
                <a:spcPts val="0"/>
              </a:spcBef>
              <a:spcAft>
                <a:spcPts val="0"/>
              </a:spcAft>
            </a:pPr>
            <a:r>
              <a:rPr sz="800" b="0" i="0">
                <a:solidFill>
                  <a:srgbClr val="000000"/>
                </a:solidFill>
                <a:latin typeface="Consolas"/>
              </a:rPr>
              <a:t>db.products.createIndex({</a:t>
            </a:r>
          </a:p>
          <a:p>
            <a:pPr>
              <a:spcBef>
                <a:spcPts val="0"/>
              </a:spcBef>
              <a:spcAft>
                <a:spcPts val="0"/>
              </a:spcAft>
            </a:pPr>
            <a:r>
              <a:rPr sz="800" b="0" i="0">
                <a:solidFill>
                  <a:srgbClr val="000000"/>
                </a:solidFill>
                <a:latin typeface="Consolas"/>
              </a:rPr>
              <a:t>  tags: 1</a:t>
            </a:r>
          </a:p>
          <a:p>
            <a:pPr>
              <a:spcBef>
                <a:spcPts val="0"/>
              </a:spcBef>
              <a:spcAft>
                <a:spcPts val="0"/>
              </a:spcAft>
            </a:pPr>
            <a:r>
              <a:rPr sz="800" b="0" i="0">
                <a:solidFill>
                  <a:srgbClr val="000000"/>
                </a:solidFill>
                <a:latin typeface="Consolas"/>
              </a:rPr>
              <a:t>})</a:t>
            </a:r>
          </a:p>
        </p:txBody>
      </p:sp>
      <p:sp>
        <p:nvSpPr>
          <p:cNvPr id="12" name="Rounded Rectangle 11"/>
          <p:cNvSpPr/>
          <p:nvPr/>
        </p:nvSpPr>
        <p:spPr>
          <a:xfrm>
            <a:off x="2450592" y="4483489"/>
            <a:ext cx="1847088" cy="603504"/>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78608" y="4574929"/>
            <a:ext cx="1591056" cy="438912"/>
          </a:xfrm>
          <a:prstGeom prst="rect">
            <a:avLst/>
          </a:prstGeom>
          <a:noFill/>
        </p:spPr>
        <p:txBody>
          <a:bodyPr wrap="square" anchor="t" lIns="0" rIns="0" tIns="0" bIns="0">
            <a:spAutoFit/>
          </a:bodyPr>
          <a:lstStyle/>
          <a:p>
            <a:pPr>
              <a:spcBef>
                <a:spcPts val="0"/>
              </a:spcBef>
              <a:spcAft>
                <a:spcPts val="0"/>
              </a:spcAft>
            </a:pPr>
            <a:r>
              <a:rPr sz="800" b="0" i="0">
                <a:solidFill>
                  <a:srgbClr val="000000"/>
                </a:solidFill>
                <a:latin typeface="Consolas"/>
              </a:rPr>
              <a:t>db.products.find({</a:t>
            </a:r>
          </a:p>
          <a:p>
            <a:pPr>
              <a:spcBef>
                <a:spcPts val="0"/>
              </a:spcBef>
              <a:spcAft>
                <a:spcPts val="0"/>
              </a:spcAft>
            </a:pPr>
            <a:r>
              <a:rPr sz="800" b="0" i="0">
                <a:solidFill>
                  <a:srgbClr val="000000"/>
                </a:solidFill>
                <a:latin typeface="Consolas"/>
              </a:rPr>
              <a:t>  tags: "wireless"</a:t>
            </a:r>
          </a:p>
          <a:p>
            <a:pPr>
              <a:spcBef>
                <a:spcPts val="0"/>
              </a:spcBef>
              <a:spcAft>
                <a:spcPts val="0"/>
              </a:spcAft>
            </a:pPr>
            <a:r>
              <a:rPr sz="800" b="0" i="0">
                <a:solidFill>
                  <a:srgbClr val="000000"/>
                </a:solidFill>
                <a:latin typeface="Consolas"/>
              </a:rPr>
              <a:t>})</a:t>
            </a:r>
          </a:p>
        </p:txBody>
      </p:sp>
      <p:sp>
        <p:nvSpPr>
          <p:cNvPr id="14" name="Rectangle 13"/>
          <p:cNvSpPr/>
          <p:nvPr/>
        </p:nvSpPr>
        <p:spPr>
          <a:xfrm>
            <a:off x="4471035" y="2449374"/>
            <a:ext cx="7242810" cy="2215284"/>
          </a:xfrm>
          <a:prstGeom prst="rect">
            <a:avLst/>
          </a:prstGeom>
          <a:solidFill>
            <a:srgbClr val="FFFFFF"/>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2"/>
          <a:stretch>
            <a:fillRect/>
          </a:stretch>
        </p:blipFill>
        <p:spPr>
          <a:xfrm>
            <a:off x="4480560" y="2458899"/>
            <a:ext cx="7223760" cy="2196234"/>
          </a:xfrm>
          <a:prstGeom prst="rect">
            <a:avLst/>
          </a:prstGeom>
        </p:spPr>
      </p:pic>
      <p:sp>
        <p:nvSpPr>
          <p:cNvPr id="16" name="Rectangle 1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ARRAY OF EMBEDDED DOCUMENTS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561004"/>
            <a:ext cx="237744" cy="237744"/>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561004"/>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542716"/>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945052"/>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This can support:</a:t>
            </a:r>
          </a:p>
        </p:txBody>
      </p:sp>
      <p:sp>
        <p:nvSpPr>
          <p:cNvPr id="8" name="Rounded Rectangle 7"/>
          <p:cNvSpPr/>
          <p:nvPr/>
        </p:nvSpPr>
        <p:spPr>
          <a:xfrm>
            <a:off x="457200" y="3515184"/>
            <a:ext cx="5550408" cy="1056132"/>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5216" y="3606624"/>
            <a:ext cx="5294376" cy="891540"/>
          </a:xfrm>
          <a:prstGeom prst="rect">
            <a:avLst/>
          </a:prstGeom>
          <a:noFill/>
        </p:spPr>
        <p:txBody>
          <a:bodyPr wrap="square" anchor="t" lIns="0" rIns="0" tIns="0" bIns="0">
            <a:spAutoFit/>
          </a:bodyPr>
          <a:lstStyle/>
          <a:p>
            <a:pPr>
              <a:spcBef>
                <a:spcPts val="0"/>
              </a:spcBef>
              <a:spcAft>
                <a:spcPts val="0"/>
              </a:spcAft>
            </a:pPr>
            <a:r>
              <a:rPr sz="1700" b="0" i="0">
                <a:solidFill>
                  <a:srgbClr val="000000"/>
                </a:solidFill>
                <a:latin typeface="Consolas"/>
              </a:rPr>
              <a:t>db.orders.createIndex({</a:t>
            </a:r>
          </a:p>
          <a:p>
            <a:pPr>
              <a:spcBef>
                <a:spcPts val="0"/>
              </a:spcBef>
              <a:spcAft>
                <a:spcPts val="0"/>
              </a:spcAft>
            </a:pPr>
            <a:r>
              <a:rPr sz="1700" b="0" i="0">
                <a:solidFill>
                  <a:srgbClr val="000000"/>
                </a:solidFill>
                <a:latin typeface="Consolas"/>
              </a:rPr>
              <a:t>  "items.productId": 1</a:t>
            </a:r>
          </a:p>
          <a:p>
            <a:pPr>
              <a:spcBef>
                <a:spcPts val="0"/>
              </a:spcBef>
              <a:spcAft>
                <a:spcPts val="0"/>
              </a:spcAft>
            </a:pPr>
            <a:r>
              <a:rPr sz="1700" b="0" i="0">
                <a:solidFill>
                  <a:srgbClr val="000000"/>
                </a:solidFill>
                <a:latin typeface="Consolas"/>
              </a:rPr>
              <a:t>})</a:t>
            </a:r>
          </a:p>
        </p:txBody>
      </p:sp>
      <p:sp>
        <p:nvSpPr>
          <p:cNvPr id="10" name="Rounded Rectangle 9"/>
          <p:cNvSpPr/>
          <p:nvPr/>
        </p:nvSpPr>
        <p:spPr>
          <a:xfrm>
            <a:off x="6153912" y="3515184"/>
            <a:ext cx="5550408" cy="1056132"/>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81928" y="3606624"/>
            <a:ext cx="5294376" cy="891540"/>
          </a:xfrm>
          <a:prstGeom prst="rect">
            <a:avLst/>
          </a:prstGeom>
          <a:noFill/>
        </p:spPr>
        <p:txBody>
          <a:bodyPr wrap="square" anchor="t" lIns="0" rIns="0" tIns="0" bIns="0">
            <a:spAutoFit/>
          </a:bodyPr>
          <a:lstStyle/>
          <a:p>
            <a:pPr>
              <a:spcBef>
                <a:spcPts val="0"/>
              </a:spcBef>
              <a:spcAft>
                <a:spcPts val="0"/>
              </a:spcAft>
            </a:pPr>
            <a:r>
              <a:rPr sz="1700" b="0" i="0">
                <a:solidFill>
                  <a:srgbClr val="000000"/>
                </a:solidFill>
                <a:latin typeface="Consolas"/>
              </a:rPr>
              <a:t>db.orders.find({</a:t>
            </a:r>
          </a:p>
          <a:p>
            <a:pPr>
              <a:spcBef>
                <a:spcPts val="0"/>
              </a:spcBef>
              <a:spcAft>
                <a:spcPts val="0"/>
              </a:spcAft>
            </a:pPr>
            <a:r>
              <a:rPr sz="1700" b="0" i="0">
                <a:solidFill>
                  <a:srgbClr val="000000"/>
                </a:solidFill>
                <a:latin typeface="Consolas"/>
              </a:rPr>
              <a:t>  "items.productId": mouseId</a:t>
            </a:r>
          </a:p>
          <a:p>
            <a:pPr>
              <a:spcBef>
                <a:spcPts val="0"/>
              </a:spcBef>
              <a:spcAft>
                <a:spcPts val="0"/>
              </a:spcAft>
            </a:pPr>
            <a:r>
              <a:rPr sz="1700" b="0" i="0">
                <a:solidFill>
                  <a:srgbClr val="000000"/>
                </a:solidFill>
                <a:latin typeface="Consolas"/>
              </a:rPr>
              <a:t>})</a:t>
            </a:r>
          </a:p>
        </p:txBody>
      </p:sp>
      <p:sp>
        <p:nvSpPr>
          <p:cNvPr id="12" name="Rectangle 1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5"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MULTIKEY CONSIDERATION</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468724"/>
            <a:ext cx="237744" cy="237744"/>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68724"/>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450436"/>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852772"/>
            <a:ext cx="11247120" cy="81397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Arrays may produce multiple index entries per document. Large arrays can therefore create large indexes and increase write overhead.</a:t>
            </a:r>
          </a:p>
        </p:txBody>
      </p:sp>
      <p:sp>
        <p:nvSpPr>
          <p:cNvPr id="8" name="TextBox 7"/>
          <p:cNvSpPr txBox="1"/>
          <p:nvPr/>
        </p:nvSpPr>
        <p:spPr>
          <a:xfrm>
            <a:off x="457200" y="3758184"/>
            <a:ext cx="11247120" cy="81397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Compound multikey indexes also have restrictions when multiple indexed fields are arrays. Test the intended document structure before adopting such an index.</a:t>
            </a:r>
          </a:p>
        </p:txBody>
      </p:sp>
      <p:sp>
        <p:nvSpPr>
          <p:cNvPr id="9" name="Rectangle 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PARTIAL INDEXES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188720"/>
            <a:ext cx="237744" cy="237744"/>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170432"/>
            <a:ext cx="351129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572768"/>
            <a:ext cx="3840480" cy="429846"/>
          </a:xfrm>
          <a:prstGeom prst="rect">
            <a:avLst/>
          </a:prstGeom>
          <a:noFill/>
        </p:spPr>
        <p:txBody>
          <a:bodyPr wrap="square" anchor="t" lIns="0" rIns="0" tIns="0" bIns="0">
            <a:spAutoFit/>
          </a:bodyPr>
          <a:lstStyle/>
          <a:p>
            <a:pPr>
              <a:spcBef>
                <a:spcPts val="0"/>
              </a:spcBef>
              <a:spcAft>
                <a:spcPts val="384"/>
              </a:spcAft>
            </a:pPr>
            <a:r>
              <a:rPr sz="1000" b="0" i="0">
                <a:solidFill>
                  <a:srgbClr val="000000"/>
                </a:solidFill>
                <a:latin typeface="Nirmala UI"/>
              </a:rPr>
              <a:t>A partial index includes only documents matching a filter.</a:t>
            </a:r>
          </a:p>
        </p:txBody>
      </p:sp>
      <p:sp>
        <p:nvSpPr>
          <p:cNvPr id="8" name="TextBox 7"/>
          <p:cNvSpPr txBox="1"/>
          <p:nvPr/>
        </p:nvSpPr>
        <p:spPr>
          <a:xfrm>
            <a:off x="457200" y="2094054"/>
            <a:ext cx="3840480" cy="429846"/>
          </a:xfrm>
          <a:prstGeom prst="rect">
            <a:avLst/>
          </a:prstGeom>
          <a:noFill/>
        </p:spPr>
        <p:txBody>
          <a:bodyPr wrap="square" anchor="t" lIns="0" rIns="0" tIns="0" bIns="0">
            <a:spAutoFit/>
          </a:bodyPr>
          <a:lstStyle/>
          <a:p>
            <a:pPr>
              <a:spcBef>
                <a:spcPts val="0"/>
              </a:spcBef>
              <a:spcAft>
                <a:spcPts val="384"/>
              </a:spcAft>
            </a:pPr>
            <a:r>
              <a:rPr sz="1000" b="0" i="0">
                <a:solidFill>
                  <a:srgbClr val="000000"/>
                </a:solidFill>
                <a:latin typeface="Nirmala UI"/>
              </a:rPr>
              <a:t>Suppose most product queries retrieve active products:</a:t>
            </a:r>
          </a:p>
        </p:txBody>
      </p:sp>
      <p:sp>
        <p:nvSpPr>
          <p:cNvPr id="9" name="TextBox 8"/>
          <p:cNvSpPr txBox="1"/>
          <p:nvPr/>
        </p:nvSpPr>
        <p:spPr>
          <a:xfrm>
            <a:off x="457200" y="2615340"/>
            <a:ext cx="3840480" cy="262206"/>
          </a:xfrm>
          <a:prstGeom prst="rect">
            <a:avLst/>
          </a:prstGeom>
          <a:noFill/>
        </p:spPr>
        <p:txBody>
          <a:bodyPr wrap="square" anchor="t" lIns="0" rIns="0" tIns="0" bIns="0">
            <a:spAutoFit/>
          </a:bodyPr>
          <a:lstStyle/>
          <a:p>
            <a:pPr>
              <a:spcBef>
                <a:spcPts val="0"/>
              </a:spcBef>
              <a:spcAft>
                <a:spcPts val="384"/>
              </a:spcAft>
            </a:pPr>
            <a:r>
              <a:rPr sz="1000" b="0" i="0">
                <a:solidFill>
                  <a:srgbClr val="000000"/>
                </a:solidFill>
                <a:latin typeface="Nirmala UI"/>
              </a:rPr>
              <a:t>The index includes only active products.</a:t>
            </a:r>
          </a:p>
        </p:txBody>
      </p:sp>
      <p:sp>
        <p:nvSpPr>
          <p:cNvPr id="10" name="TextBox 9"/>
          <p:cNvSpPr txBox="1"/>
          <p:nvPr/>
        </p:nvSpPr>
        <p:spPr>
          <a:xfrm>
            <a:off x="457200" y="2968986"/>
            <a:ext cx="3840480" cy="262206"/>
          </a:xfrm>
          <a:prstGeom prst="rect">
            <a:avLst/>
          </a:prstGeom>
          <a:noFill/>
        </p:spPr>
        <p:txBody>
          <a:bodyPr wrap="square" anchor="t" lIns="0" rIns="0" tIns="0" bIns="0">
            <a:spAutoFit/>
          </a:bodyPr>
          <a:lstStyle/>
          <a:p>
            <a:pPr>
              <a:spcBef>
                <a:spcPts val="0"/>
              </a:spcBef>
              <a:spcAft>
                <a:spcPts val="384"/>
              </a:spcAft>
            </a:pPr>
            <a:r>
              <a:rPr sz="1000" b="0" i="0">
                <a:solidFill>
                  <a:srgbClr val="000000"/>
                </a:solidFill>
                <a:latin typeface="Nirmala UI"/>
              </a:rPr>
              <a:t>This can:</a:t>
            </a:r>
          </a:p>
        </p:txBody>
      </p:sp>
      <p:sp>
        <p:nvSpPr>
          <p:cNvPr id="11" name="TextBox 10"/>
          <p:cNvSpPr txBox="1"/>
          <p:nvPr/>
        </p:nvSpPr>
        <p:spPr>
          <a:xfrm>
            <a:off x="457200" y="3322632"/>
            <a:ext cx="3840480" cy="695178"/>
          </a:xfrm>
          <a:prstGeom prst="rect">
            <a:avLst/>
          </a:prstGeom>
          <a:noFill/>
        </p:spPr>
        <p:txBody>
          <a:bodyPr wrap="square" anchor="t" lIns="0" rIns="0" tIns="0" bIns="0">
            <a:spAutoFit/>
          </a:bodyPr>
          <a:lstStyle/>
          <a:p>
            <a:pPr>
              <a:spcBef>
                <a:spcPts val="0"/>
              </a:spcBef>
              <a:spcAft>
                <a:spcPts val="384"/>
              </a:spcAft>
            </a:pPr>
            <a:r>
              <a:rPr sz="1000" b="0" i="0">
                <a:solidFill>
                  <a:srgbClr val="000000"/>
                </a:solidFill>
                <a:latin typeface="Nirmala UI"/>
              </a:rPr>
              <a:t>•  </a:t>
            </a:r>
            <a:r>
              <a:rPr sz="1000" b="0" i="0">
                <a:solidFill>
                  <a:srgbClr val="000000"/>
                </a:solidFill>
                <a:latin typeface="Nirmala UI"/>
              </a:rPr>
              <a:t>Reduce index size</a:t>
            </a:r>
          </a:p>
          <a:p>
            <a:pPr>
              <a:spcBef>
                <a:spcPts val="0"/>
              </a:spcBef>
              <a:spcAft>
                <a:spcPts val="384"/>
              </a:spcAft>
            </a:pPr>
            <a:r>
              <a:rPr sz="1000" b="0" i="0">
                <a:solidFill>
                  <a:srgbClr val="000000"/>
                </a:solidFill>
                <a:latin typeface="Nirmala UI"/>
              </a:rPr>
              <a:t>•  </a:t>
            </a:r>
            <a:r>
              <a:rPr sz="1000" b="0" i="0">
                <a:solidFill>
                  <a:srgbClr val="000000"/>
                </a:solidFill>
                <a:latin typeface="Nirmala UI"/>
              </a:rPr>
              <a:t>Reduce index maintenance</a:t>
            </a:r>
          </a:p>
          <a:p>
            <a:pPr>
              <a:spcBef>
                <a:spcPts val="0"/>
              </a:spcBef>
              <a:spcAft>
                <a:spcPts val="384"/>
              </a:spcAft>
            </a:pPr>
            <a:r>
              <a:rPr sz="1000" b="0" i="0">
                <a:solidFill>
                  <a:srgbClr val="000000"/>
                </a:solidFill>
                <a:latin typeface="Nirmala UI"/>
              </a:rPr>
              <a:t>•  </a:t>
            </a:r>
            <a:r>
              <a:rPr sz="1000" b="0" i="0">
                <a:solidFill>
                  <a:srgbClr val="000000"/>
                </a:solidFill>
                <a:latin typeface="Nirmala UI"/>
              </a:rPr>
              <a:t>Improve queries that match the partial condition</a:t>
            </a:r>
          </a:p>
        </p:txBody>
      </p:sp>
      <p:sp>
        <p:nvSpPr>
          <p:cNvPr id="12" name="Rounded Rectangle 11"/>
          <p:cNvSpPr/>
          <p:nvPr/>
        </p:nvSpPr>
        <p:spPr>
          <a:xfrm>
            <a:off x="457200" y="4109250"/>
            <a:ext cx="3840480" cy="1810512"/>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5216" y="4200690"/>
            <a:ext cx="3584448" cy="1645920"/>
          </a:xfrm>
          <a:prstGeom prst="rect">
            <a:avLst/>
          </a:prstGeom>
          <a:noFill/>
        </p:spPr>
        <p:txBody>
          <a:bodyPr wrap="square" anchor="t" lIns="0" rIns="0" tIns="0" bIns="0">
            <a:spAutoFit/>
          </a:bodyPr>
          <a:lstStyle/>
          <a:p>
            <a:pPr>
              <a:spcBef>
                <a:spcPts val="0"/>
              </a:spcBef>
              <a:spcAft>
                <a:spcPts val="0"/>
              </a:spcAft>
            </a:pPr>
            <a:r>
              <a:rPr sz="800" b="0" i="0">
                <a:solidFill>
                  <a:srgbClr val="000000"/>
                </a:solidFill>
                <a:latin typeface="Consolas"/>
              </a:rPr>
              <a:t>db.products.createIndex(</a:t>
            </a:r>
          </a:p>
          <a:p>
            <a:pPr>
              <a:spcBef>
                <a:spcPts val="0"/>
              </a:spcBef>
              <a:spcAft>
                <a:spcPts val="0"/>
              </a:spcAft>
            </a:pPr>
            <a:r>
              <a:rPr sz="800" b="0" i="0">
                <a:solidFill>
                  <a:srgbClr val="000000"/>
                </a:solidFill>
                <a:latin typeface="Consolas"/>
              </a:rPr>
              <a:t>  {</a:t>
            </a:r>
          </a:p>
          <a:p>
            <a:pPr>
              <a:spcBef>
                <a:spcPts val="0"/>
              </a:spcBef>
              <a:spcAft>
                <a:spcPts val="0"/>
              </a:spcAft>
            </a:pPr>
            <a:r>
              <a:rPr sz="800" b="0" i="0">
                <a:solidFill>
                  <a:srgbClr val="000000"/>
                </a:solidFill>
                <a:latin typeface="Consolas"/>
              </a:rPr>
              <a:t>    category: 1,</a:t>
            </a:r>
          </a:p>
          <a:p>
            <a:pPr>
              <a:spcBef>
                <a:spcPts val="0"/>
              </a:spcBef>
              <a:spcAft>
                <a:spcPts val="0"/>
              </a:spcAft>
            </a:pPr>
            <a:r>
              <a:rPr sz="800" b="0" i="0">
                <a:solidFill>
                  <a:srgbClr val="000000"/>
                </a:solidFill>
                <a:latin typeface="Consolas"/>
              </a:rPr>
              <a:t>    price: 1</a:t>
            </a:r>
          </a:p>
          <a:p>
            <a:pPr>
              <a:spcBef>
                <a:spcPts val="0"/>
              </a:spcBef>
              <a:spcAft>
                <a:spcPts val="0"/>
              </a:spcAft>
            </a:pPr>
            <a:r>
              <a:rPr sz="800" b="0" i="0">
                <a:solidFill>
                  <a:srgbClr val="000000"/>
                </a:solidFill>
                <a:latin typeface="Consolas"/>
              </a:rPr>
              <a:t>  },</a:t>
            </a:r>
          </a:p>
          <a:p>
            <a:pPr>
              <a:spcBef>
                <a:spcPts val="0"/>
              </a:spcBef>
              <a:spcAft>
                <a:spcPts val="0"/>
              </a:spcAft>
            </a:pPr>
            <a:r>
              <a:rPr sz="800" b="0" i="0">
                <a:solidFill>
                  <a:srgbClr val="000000"/>
                </a:solidFill>
                <a:latin typeface="Consolas"/>
              </a:rPr>
              <a:t>  {</a:t>
            </a:r>
          </a:p>
          <a:p>
            <a:pPr>
              <a:spcBef>
                <a:spcPts val="0"/>
              </a:spcBef>
              <a:spcAft>
                <a:spcPts val="0"/>
              </a:spcAft>
            </a:pPr>
            <a:r>
              <a:rPr sz="800" b="0" i="0">
                <a:solidFill>
                  <a:srgbClr val="000000"/>
                </a:solidFill>
                <a:latin typeface="Consolas"/>
              </a:rPr>
              <a:t>    name: "idx_active_products_category_price",</a:t>
            </a:r>
          </a:p>
          <a:p>
            <a:pPr>
              <a:spcBef>
                <a:spcPts val="0"/>
              </a:spcBef>
              <a:spcAft>
                <a:spcPts val="0"/>
              </a:spcAft>
            </a:pPr>
            <a:r>
              <a:rPr sz="800" b="0" i="0">
                <a:solidFill>
                  <a:srgbClr val="000000"/>
                </a:solidFill>
                <a:latin typeface="Consolas"/>
              </a:rPr>
              <a:t>    partialFilterExpression: {</a:t>
            </a:r>
          </a:p>
          <a:p>
            <a:pPr>
              <a:spcBef>
                <a:spcPts val="0"/>
              </a:spcBef>
              <a:spcAft>
                <a:spcPts val="0"/>
              </a:spcAft>
            </a:pPr>
            <a:r>
              <a:rPr sz="800" b="0" i="0">
                <a:solidFill>
                  <a:srgbClr val="000000"/>
                </a:solidFill>
                <a:latin typeface="Consolas"/>
              </a:rPr>
              <a:t>      active: true</a:t>
            </a:r>
          </a:p>
          <a:p>
            <a:pPr>
              <a:spcBef>
                <a:spcPts val="0"/>
              </a:spcBef>
              <a:spcAft>
                <a:spcPts val="0"/>
              </a:spcAft>
            </a:pPr>
            <a:r>
              <a:rPr sz="800" b="0" i="0">
                <a:solidFill>
                  <a:srgbClr val="000000"/>
                </a:solidFill>
                <a:latin typeface="Consolas"/>
              </a:rPr>
              <a:t>    }</a:t>
            </a:r>
          </a:p>
          <a:p>
            <a:pPr>
              <a:spcBef>
                <a:spcPts val="0"/>
              </a:spcBef>
              <a:spcAft>
                <a:spcPts val="0"/>
              </a:spcAft>
            </a:pPr>
            <a:r>
              <a:rPr sz="800" b="0" i="0">
                <a:solidFill>
                  <a:srgbClr val="000000"/>
                </a:solidFill>
                <a:latin typeface="Consolas"/>
              </a:rPr>
              <a:t>  }</a:t>
            </a:r>
          </a:p>
          <a:p>
            <a:pPr>
              <a:spcBef>
                <a:spcPts val="0"/>
              </a:spcBef>
              <a:spcAft>
                <a:spcPts val="0"/>
              </a:spcAft>
            </a:pPr>
            <a:r>
              <a:rPr sz="800" b="0" i="0">
                <a:solidFill>
                  <a:srgbClr val="000000"/>
                </a:solidFill>
                <a:latin typeface="Consolas"/>
              </a:rPr>
              <a:t>)</a:t>
            </a:r>
          </a:p>
        </p:txBody>
      </p:sp>
      <p:sp>
        <p:nvSpPr>
          <p:cNvPr id="14" name="Rectangle 13"/>
          <p:cNvSpPr/>
          <p:nvPr/>
        </p:nvSpPr>
        <p:spPr>
          <a:xfrm>
            <a:off x="4471035" y="1839651"/>
            <a:ext cx="7242810" cy="3434729"/>
          </a:xfrm>
          <a:prstGeom prst="rect">
            <a:avLst/>
          </a:prstGeom>
          <a:solidFill>
            <a:srgbClr val="FFFFFF"/>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2"/>
          <a:stretch>
            <a:fillRect/>
          </a:stretch>
        </p:blipFill>
        <p:spPr>
          <a:xfrm>
            <a:off x="4480560" y="1849176"/>
            <a:ext cx="7223760" cy="3415679"/>
          </a:xfrm>
          <a:prstGeom prst="rect">
            <a:avLst/>
          </a:prstGeom>
        </p:spPr>
      </p:pic>
      <p:sp>
        <p:nvSpPr>
          <p:cNvPr id="16" name="Rectangle 1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PARTIAL INDEXES (CONT.)</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324962"/>
            <a:ext cx="237744" cy="237744"/>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24962"/>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306674"/>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709010"/>
            <a:ext cx="11247120" cy="81397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A query must satisfy the partial-filter condition for MongoDB to safely use the index:</a:t>
            </a:r>
          </a:p>
        </p:txBody>
      </p:sp>
      <p:sp>
        <p:nvSpPr>
          <p:cNvPr id="8" name="TextBox 7"/>
          <p:cNvSpPr txBox="1"/>
          <p:nvPr/>
        </p:nvSpPr>
        <p:spPr>
          <a:xfrm>
            <a:off x="457200" y="2614422"/>
            <a:ext cx="11247120" cy="81397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A query that does not restrict </a:t>
            </a:r>
            <a:r>
              <a:rPr sz="2000" b="0" i="0">
                <a:solidFill>
                  <a:srgbClr val="000000"/>
                </a:solidFill>
                <a:latin typeface="Consolas"/>
              </a:rPr>
              <a:t>active</a:t>
            </a:r>
            <a:r>
              <a:rPr sz="2000" b="0" i="0">
                <a:solidFill>
                  <a:srgbClr val="000000"/>
                </a:solidFill>
                <a:latin typeface="Nirmala UI"/>
              </a:rPr>
              <a:t> to </a:t>
            </a:r>
            <a:r>
              <a:rPr sz="2000" b="0" i="0">
                <a:solidFill>
                  <a:srgbClr val="000000"/>
                </a:solidFill>
                <a:latin typeface="Consolas"/>
              </a:rPr>
              <a:t>true</a:t>
            </a:r>
            <a:r>
              <a:rPr sz="2000" b="0" i="0">
                <a:solidFill>
                  <a:srgbClr val="000000"/>
                </a:solidFill>
                <a:latin typeface="Nirmala UI"/>
              </a:rPr>
              <a:t> cannot generally rely on this partial index because inactive matching documents are absent from it.</a:t>
            </a:r>
          </a:p>
        </p:txBody>
      </p:sp>
      <p:sp>
        <p:nvSpPr>
          <p:cNvPr id="9" name="Rounded Rectangle 8"/>
          <p:cNvSpPr/>
          <p:nvPr/>
        </p:nvSpPr>
        <p:spPr>
          <a:xfrm>
            <a:off x="457200" y="3519834"/>
            <a:ext cx="11247120" cy="2196084"/>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 y="3611274"/>
            <a:ext cx="10991088" cy="2031492"/>
          </a:xfrm>
          <a:prstGeom prst="rect">
            <a:avLst/>
          </a:prstGeom>
          <a:noFill/>
        </p:spPr>
        <p:txBody>
          <a:bodyPr wrap="square" anchor="t" lIns="0" rIns="0" tIns="0" bIns="0">
            <a:spAutoFit/>
          </a:bodyPr>
          <a:lstStyle/>
          <a:p>
            <a:pPr>
              <a:spcBef>
                <a:spcPts val="0"/>
              </a:spcBef>
              <a:spcAft>
                <a:spcPts val="0"/>
              </a:spcAft>
            </a:pPr>
            <a:r>
              <a:rPr sz="1700" b="0" i="0">
                <a:solidFill>
                  <a:srgbClr val="000000"/>
                </a:solidFill>
                <a:latin typeface="Consolas"/>
              </a:rPr>
              <a:t>db.products.find({</a:t>
            </a:r>
          </a:p>
          <a:p>
            <a:pPr>
              <a:spcBef>
                <a:spcPts val="0"/>
              </a:spcBef>
              <a:spcAft>
                <a:spcPts val="0"/>
              </a:spcAft>
            </a:pPr>
            <a:r>
              <a:rPr sz="1700" b="0" i="0">
                <a:solidFill>
                  <a:srgbClr val="000000"/>
                </a:solidFill>
                <a:latin typeface="Consolas"/>
              </a:rPr>
              <a:t>  active: true,</a:t>
            </a:r>
          </a:p>
          <a:p>
            <a:pPr>
              <a:spcBef>
                <a:spcPts val="0"/>
              </a:spcBef>
              <a:spcAft>
                <a:spcPts val="0"/>
              </a:spcAft>
            </a:pPr>
            <a:r>
              <a:rPr sz="1700" b="0" i="0">
                <a:solidFill>
                  <a:srgbClr val="000000"/>
                </a:solidFill>
                <a:latin typeface="Consolas"/>
              </a:rPr>
              <a:t>  category: "Electronics",</a:t>
            </a:r>
          </a:p>
          <a:p>
            <a:pPr>
              <a:spcBef>
                <a:spcPts val="0"/>
              </a:spcBef>
              <a:spcAft>
                <a:spcPts val="0"/>
              </a:spcAft>
            </a:pPr>
            <a:r>
              <a:rPr sz="1700" b="0" i="0">
                <a:solidFill>
                  <a:srgbClr val="000000"/>
                </a:solidFill>
                <a:latin typeface="Consolas"/>
              </a:rPr>
              <a:t>  price: {</a:t>
            </a:r>
          </a:p>
          <a:p>
            <a:pPr>
              <a:spcBef>
                <a:spcPts val="0"/>
              </a:spcBef>
              <a:spcAft>
                <a:spcPts val="0"/>
              </a:spcAft>
            </a:pPr>
            <a:r>
              <a:rPr sz="1700" b="0" i="0">
                <a:solidFill>
                  <a:srgbClr val="000000"/>
                </a:solidFill>
                <a:latin typeface="Consolas"/>
              </a:rPr>
              <a:t>    $lt: NumberDecimal("100.00")</a:t>
            </a:r>
          </a:p>
          <a:p>
            <a:pPr>
              <a:spcBef>
                <a:spcPts val="0"/>
              </a:spcBef>
              <a:spcAft>
                <a:spcPts val="0"/>
              </a:spcAft>
            </a:pPr>
            <a:r>
              <a:rPr sz="1700" b="0" i="0">
                <a:solidFill>
                  <a:srgbClr val="000000"/>
                </a:solidFill>
                <a:latin typeface="Consolas"/>
              </a:rPr>
              <a:t>  }</a:t>
            </a:r>
          </a:p>
          <a:p>
            <a:pPr>
              <a:spcBef>
                <a:spcPts val="0"/>
              </a:spcBef>
              <a:spcAft>
                <a:spcPts val="0"/>
              </a:spcAft>
            </a:pPr>
            <a:r>
              <a:rPr sz="1700" b="0" i="0">
                <a:solidFill>
                  <a:srgbClr val="000000"/>
                </a:solidFill>
                <a:latin typeface="Consolas"/>
              </a:rPr>
              <a:t>})</a:t>
            </a:r>
          </a:p>
        </p:txBody>
      </p:sp>
      <p:sp>
        <p:nvSpPr>
          <p:cNvPr id="11" name="Rectangle 1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SPARSE INDEXES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299679"/>
            <a:ext cx="237744" cy="237744"/>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99679"/>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281391"/>
            <a:ext cx="351129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683727"/>
            <a:ext cx="3840480" cy="506671"/>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A sparse index includes documents that contain the indexed field.</a:t>
            </a:r>
          </a:p>
        </p:txBody>
      </p:sp>
      <p:sp>
        <p:nvSpPr>
          <p:cNvPr id="8" name="TextBox 7"/>
          <p:cNvSpPr txBox="1"/>
          <p:nvPr/>
        </p:nvSpPr>
        <p:spPr>
          <a:xfrm>
            <a:off x="457200" y="2281838"/>
            <a:ext cx="3840480" cy="707839"/>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Sparse indexes can be useful for optional fields, but partial indexes offer more precise control and are often preferred.</a:t>
            </a:r>
          </a:p>
        </p:txBody>
      </p:sp>
      <p:sp>
        <p:nvSpPr>
          <p:cNvPr id="9" name="TextBox 8"/>
          <p:cNvSpPr txBox="1"/>
          <p:nvPr/>
        </p:nvSpPr>
        <p:spPr>
          <a:xfrm>
            <a:off x="457200" y="3081117"/>
            <a:ext cx="3840480" cy="707839"/>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Be especially careful with unique sparse indexes because uniqueness applies only to indexed documents.</a:t>
            </a:r>
          </a:p>
        </p:txBody>
      </p:sp>
      <p:sp>
        <p:nvSpPr>
          <p:cNvPr id="10" name="Rounded Rectangle 9"/>
          <p:cNvSpPr/>
          <p:nvPr/>
        </p:nvSpPr>
        <p:spPr>
          <a:xfrm>
            <a:off x="457200" y="3880396"/>
            <a:ext cx="3840480" cy="1860804"/>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 y="3971836"/>
            <a:ext cx="3584448" cy="1696212"/>
          </a:xfrm>
          <a:prstGeom prst="rect">
            <a:avLst/>
          </a:prstGeom>
          <a:noFill/>
        </p:spPr>
        <p:txBody>
          <a:bodyPr wrap="square" anchor="t" lIns="0" rIns="0" tIns="0" bIns="0">
            <a:spAutoFit/>
          </a:bodyPr>
          <a:lstStyle/>
          <a:p>
            <a:pPr>
              <a:spcBef>
                <a:spcPts val="0"/>
              </a:spcBef>
              <a:spcAft>
                <a:spcPts val="0"/>
              </a:spcAft>
            </a:pPr>
            <a:r>
              <a:rPr sz="1100" b="0" i="0">
                <a:solidFill>
                  <a:srgbClr val="000000"/>
                </a:solidFill>
                <a:latin typeface="Consolas"/>
              </a:rPr>
              <a:t>db.customers.createIndex(</a:t>
            </a:r>
          </a:p>
          <a:p>
            <a:pPr>
              <a:spcBef>
                <a:spcPts val="0"/>
              </a:spcBef>
              <a:spcAft>
                <a:spcPts val="0"/>
              </a:spcAft>
            </a:pPr>
            <a:r>
              <a:rPr sz="1100" b="0" i="0">
                <a:solidFill>
                  <a:srgbClr val="000000"/>
                </a:solidFill>
                <a:latin typeface="Consolas"/>
              </a:rPr>
              <a:t>  {</a:t>
            </a:r>
          </a:p>
          <a:p>
            <a:pPr>
              <a:spcBef>
                <a:spcPts val="0"/>
              </a:spcBef>
              <a:spcAft>
                <a:spcPts val="0"/>
              </a:spcAft>
            </a:pPr>
            <a:r>
              <a:rPr sz="1100" b="0" i="0">
                <a:solidFill>
                  <a:srgbClr val="000000"/>
                </a:solidFill>
                <a:latin typeface="Consolas"/>
              </a:rPr>
              <a:t>    loyaltyNumber: 1</a:t>
            </a:r>
          </a:p>
          <a:p>
            <a:pPr>
              <a:spcBef>
                <a:spcPts val="0"/>
              </a:spcBef>
              <a:spcAft>
                <a:spcPts val="0"/>
              </a:spcAft>
            </a:pPr>
            <a:r>
              <a:rPr sz="1100" b="0" i="0">
                <a:solidFill>
                  <a:srgbClr val="000000"/>
                </a:solidFill>
                <a:latin typeface="Consolas"/>
              </a:rPr>
              <a:t>  },</a:t>
            </a:r>
          </a:p>
          <a:p>
            <a:pPr>
              <a:spcBef>
                <a:spcPts val="0"/>
              </a:spcBef>
              <a:spcAft>
                <a:spcPts val="0"/>
              </a:spcAft>
            </a:pPr>
            <a:r>
              <a:rPr sz="1100" b="0" i="0">
                <a:solidFill>
                  <a:srgbClr val="000000"/>
                </a:solidFill>
                <a:latin typeface="Consolas"/>
              </a:rPr>
              <a:t>  {</a:t>
            </a:r>
          </a:p>
          <a:p>
            <a:pPr>
              <a:spcBef>
                <a:spcPts val="0"/>
              </a:spcBef>
              <a:spcAft>
                <a:spcPts val="0"/>
              </a:spcAft>
            </a:pPr>
            <a:r>
              <a:rPr sz="1100" b="0" i="0">
                <a:solidFill>
                  <a:srgbClr val="000000"/>
                </a:solidFill>
                <a:latin typeface="Consolas"/>
              </a:rPr>
              <a:t>    sparse: true,</a:t>
            </a:r>
          </a:p>
          <a:p>
            <a:pPr>
              <a:spcBef>
                <a:spcPts val="0"/>
              </a:spcBef>
              <a:spcAft>
                <a:spcPts val="0"/>
              </a:spcAft>
            </a:pPr>
            <a:r>
              <a:rPr sz="1100" b="0" i="0">
                <a:solidFill>
                  <a:srgbClr val="000000"/>
                </a:solidFill>
                <a:latin typeface="Consolas"/>
              </a:rPr>
              <a:t>    name: "idx_customers_loyalty_sparse"</a:t>
            </a:r>
          </a:p>
          <a:p>
            <a:pPr>
              <a:spcBef>
                <a:spcPts val="0"/>
              </a:spcBef>
              <a:spcAft>
                <a:spcPts val="0"/>
              </a:spcAft>
            </a:pPr>
            <a:r>
              <a:rPr sz="1100" b="0" i="0">
                <a:solidFill>
                  <a:srgbClr val="000000"/>
                </a:solidFill>
                <a:latin typeface="Consolas"/>
              </a:rPr>
              <a:t>  }</a:t>
            </a:r>
          </a:p>
          <a:p>
            <a:pPr>
              <a:spcBef>
                <a:spcPts val="0"/>
              </a:spcBef>
              <a:spcAft>
                <a:spcPts val="0"/>
              </a:spcAft>
            </a:pPr>
            <a:r>
              <a:rPr sz="1100" b="0" i="0">
                <a:solidFill>
                  <a:srgbClr val="000000"/>
                </a:solidFill>
                <a:latin typeface="Consolas"/>
              </a:rPr>
              <a:t>)</a:t>
            </a:r>
          </a:p>
        </p:txBody>
      </p:sp>
      <p:sp>
        <p:nvSpPr>
          <p:cNvPr id="12" name="Rectangle 11"/>
          <p:cNvSpPr/>
          <p:nvPr/>
        </p:nvSpPr>
        <p:spPr>
          <a:xfrm>
            <a:off x="4471035" y="2087322"/>
            <a:ext cx="7242810" cy="2939387"/>
          </a:xfrm>
          <a:prstGeom prst="rect">
            <a:avLst/>
          </a:prstGeom>
          <a:solidFill>
            <a:srgbClr val="FFFFFF"/>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2"/>
          <a:stretch>
            <a:fillRect/>
          </a:stretch>
        </p:blipFill>
        <p:spPr>
          <a:xfrm>
            <a:off x="4480560" y="2096847"/>
            <a:ext cx="7223760" cy="2920337"/>
          </a:xfrm>
          <a:prstGeom prst="rect">
            <a:avLst/>
          </a:prstGeom>
        </p:spPr>
      </p:pic>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TTL INDEXES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728919"/>
            <a:ext cx="237744" cy="237744"/>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728919"/>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710631"/>
            <a:ext cx="351129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112967"/>
            <a:ext cx="3840480" cy="1038899"/>
          </a:xfrm>
          <a:prstGeom prst="rect">
            <a:avLst/>
          </a:prstGeom>
          <a:noFill/>
        </p:spPr>
        <p:txBody>
          <a:bodyPr wrap="square" anchor="t" lIns="0" rIns="0" tIns="0" bIns="0">
            <a:spAutoFit/>
          </a:bodyPr>
          <a:lstStyle/>
          <a:p>
            <a:pPr>
              <a:spcBef>
                <a:spcPts val="0"/>
              </a:spcBef>
              <a:spcAft>
                <a:spcPts val="692"/>
              </a:spcAft>
            </a:pPr>
            <a:r>
              <a:rPr sz="1800" b="0" i="0">
                <a:solidFill>
                  <a:srgbClr val="000000"/>
                </a:solidFill>
                <a:latin typeface="Nirmala UI"/>
              </a:rPr>
              <a:t>A TTL, or time-to-live, index automatically removes expired documents.</a:t>
            </a:r>
          </a:p>
        </p:txBody>
      </p:sp>
      <p:sp>
        <p:nvSpPr>
          <p:cNvPr id="8" name="TextBox 7"/>
          <p:cNvSpPr txBox="1"/>
          <p:nvPr/>
        </p:nvSpPr>
        <p:spPr>
          <a:xfrm>
            <a:off x="457200" y="3243306"/>
            <a:ext cx="3840480" cy="435395"/>
          </a:xfrm>
          <a:prstGeom prst="rect">
            <a:avLst/>
          </a:prstGeom>
          <a:noFill/>
        </p:spPr>
        <p:txBody>
          <a:bodyPr wrap="square" anchor="t" lIns="0" rIns="0" tIns="0" bIns="0">
            <a:spAutoFit/>
          </a:bodyPr>
          <a:lstStyle/>
          <a:p>
            <a:pPr>
              <a:spcBef>
                <a:spcPts val="0"/>
              </a:spcBef>
              <a:spcAft>
                <a:spcPts val="692"/>
              </a:spcAft>
            </a:pPr>
            <a:r>
              <a:rPr sz="1800" b="0" i="0">
                <a:solidFill>
                  <a:srgbClr val="000000"/>
                </a:solidFill>
                <a:latin typeface="Nirmala UI"/>
              </a:rPr>
              <a:t>Example session document:</a:t>
            </a:r>
          </a:p>
        </p:txBody>
      </p:sp>
      <p:sp>
        <p:nvSpPr>
          <p:cNvPr id="9" name="TextBox 8"/>
          <p:cNvSpPr txBox="1"/>
          <p:nvPr/>
        </p:nvSpPr>
        <p:spPr>
          <a:xfrm>
            <a:off x="457200" y="3770141"/>
            <a:ext cx="3840480" cy="435395"/>
          </a:xfrm>
          <a:prstGeom prst="rect">
            <a:avLst/>
          </a:prstGeom>
          <a:noFill/>
        </p:spPr>
        <p:txBody>
          <a:bodyPr wrap="square" anchor="t" lIns="0" rIns="0" tIns="0" bIns="0">
            <a:spAutoFit/>
          </a:bodyPr>
          <a:lstStyle/>
          <a:p>
            <a:pPr>
              <a:spcBef>
                <a:spcPts val="0"/>
              </a:spcBef>
              <a:spcAft>
                <a:spcPts val="692"/>
              </a:spcAft>
            </a:pPr>
            <a:r>
              <a:rPr sz="1800" b="0" i="0">
                <a:solidFill>
                  <a:srgbClr val="000000"/>
                </a:solidFill>
                <a:latin typeface="Nirmala UI"/>
              </a:rPr>
              <a:t>Create a TTL index:</a:t>
            </a:r>
          </a:p>
        </p:txBody>
      </p:sp>
      <p:sp>
        <p:nvSpPr>
          <p:cNvPr id="10" name="Rounded Rectangle 9"/>
          <p:cNvSpPr/>
          <p:nvPr/>
        </p:nvSpPr>
        <p:spPr>
          <a:xfrm>
            <a:off x="457200" y="4296976"/>
            <a:ext cx="1847088" cy="1106424"/>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 y="4388416"/>
            <a:ext cx="1591056" cy="941832"/>
          </a:xfrm>
          <a:prstGeom prst="rect">
            <a:avLst/>
          </a:prstGeom>
          <a:noFill/>
        </p:spPr>
        <p:txBody>
          <a:bodyPr wrap="square" anchor="t" lIns="0" rIns="0" tIns="0" bIns="0">
            <a:spAutoFit/>
          </a:bodyPr>
          <a:lstStyle/>
          <a:p>
            <a:pPr>
              <a:spcBef>
                <a:spcPts val="0"/>
              </a:spcBef>
              <a:spcAft>
                <a:spcPts val="0"/>
              </a:spcAft>
            </a:pPr>
            <a:r>
              <a:rPr sz="600" b="0" i="0">
                <a:solidFill>
                  <a:srgbClr val="000000"/>
                </a:solidFill>
                <a:latin typeface="Consolas"/>
              </a:rPr>
              <a:t>{</a:t>
            </a:r>
          </a:p>
          <a:p>
            <a:pPr>
              <a:spcBef>
                <a:spcPts val="0"/>
              </a:spcBef>
              <a:spcAft>
                <a:spcPts val="0"/>
              </a:spcAft>
            </a:pPr>
            <a:r>
              <a:rPr sz="600" b="0" i="0">
                <a:solidFill>
                  <a:srgbClr val="000000"/>
                </a:solidFill>
                <a:latin typeface="Consolas"/>
              </a:rPr>
              <a:t>  sessionId: "S-1001",</a:t>
            </a:r>
          </a:p>
          <a:p>
            <a:pPr>
              <a:spcBef>
                <a:spcPts val="0"/>
              </a:spcBef>
              <a:spcAft>
                <a:spcPts val="0"/>
              </a:spcAft>
            </a:pPr>
            <a:r>
              <a:rPr sz="600" b="0" i="0">
                <a:solidFill>
                  <a:srgbClr val="000000"/>
                </a:solidFill>
                <a:latin typeface="Consolas"/>
              </a:rPr>
              <a:t>  customerId: customerId,</a:t>
            </a:r>
          </a:p>
          <a:p>
            <a:pPr>
              <a:spcBef>
                <a:spcPts val="0"/>
              </a:spcBef>
              <a:spcAft>
                <a:spcPts val="0"/>
              </a:spcAft>
            </a:pPr>
            <a:r>
              <a:rPr sz="600" b="0" i="0">
                <a:solidFill>
                  <a:srgbClr val="000000"/>
                </a:solidFill>
                <a:latin typeface="Consolas"/>
              </a:rPr>
              <a:t>  expiresAt: ISODate("2026-09-22T20:00:00Z")</a:t>
            </a:r>
          </a:p>
          <a:p>
            <a:pPr>
              <a:spcBef>
                <a:spcPts val="0"/>
              </a:spcBef>
              <a:spcAft>
                <a:spcPts val="0"/>
              </a:spcAft>
            </a:pPr>
            <a:r>
              <a:rPr sz="600" b="0" i="0">
                <a:solidFill>
                  <a:srgbClr val="000000"/>
                </a:solidFill>
                <a:latin typeface="Consolas"/>
              </a:rPr>
              <a:t>}</a:t>
            </a:r>
          </a:p>
        </p:txBody>
      </p:sp>
      <p:sp>
        <p:nvSpPr>
          <p:cNvPr id="12" name="Rounded Rectangle 11"/>
          <p:cNvSpPr/>
          <p:nvPr/>
        </p:nvSpPr>
        <p:spPr>
          <a:xfrm>
            <a:off x="2450592" y="4296976"/>
            <a:ext cx="1847088" cy="1106424"/>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78608" y="4388416"/>
            <a:ext cx="1591056" cy="941832"/>
          </a:xfrm>
          <a:prstGeom prst="rect">
            <a:avLst/>
          </a:prstGeom>
          <a:noFill/>
        </p:spPr>
        <p:txBody>
          <a:bodyPr wrap="square" anchor="t" lIns="0" rIns="0" tIns="0" bIns="0">
            <a:spAutoFit/>
          </a:bodyPr>
          <a:lstStyle/>
          <a:p>
            <a:pPr>
              <a:spcBef>
                <a:spcPts val="0"/>
              </a:spcBef>
              <a:spcAft>
                <a:spcPts val="0"/>
              </a:spcAft>
            </a:pPr>
            <a:r>
              <a:rPr sz="600" b="0" i="0">
                <a:solidFill>
                  <a:srgbClr val="000000"/>
                </a:solidFill>
                <a:latin typeface="Consolas"/>
              </a:rPr>
              <a:t>db.sessions.createIndex(</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expiresAt: 1</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expireAfterSeconds: 0,</a:t>
            </a:r>
          </a:p>
          <a:p>
            <a:pPr>
              <a:spcBef>
                <a:spcPts val="0"/>
              </a:spcBef>
              <a:spcAft>
                <a:spcPts val="0"/>
              </a:spcAft>
            </a:pPr>
            <a:r>
              <a:rPr sz="600" b="0" i="0">
                <a:solidFill>
                  <a:srgbClr val="000000"/>
                </a:solidFill>
                <a:latin typeface="Consolas"/>
              </a:rPr>
              <a:t>    name: "ttl_sessions_expiresAt"</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a:t>
            </a:r>
          </a:p>
        </p:txBody>
      </p:sp>
      <p:sp>
        <p:nvSpPr>
          <p:cNvPr id="14" name="Rectangle 13"/>
          <p:cNvSpPr/>
          <p:nvPr/>
        </p:nvSpPr>
        <p:spPr>
          <a:xfrm>
            <a:off x="4471035" y="1961896"/>
            <a:ext cx="7242810" cy="3190240"/>
          </a:xfrm>
          <a:prstGeom prst="rect">
            <a:avLst/>
          </a:prstGeom>
          <a:solidFill>
            <a:srgbClr val="FFFFFF"/>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2"/>
          <a:stretch>
            <a:fillRect/>
          </a:stretch>
        </p:blipFill>
        <p:spPr>
          <a:xfrm>
            <a:off x="4480560" y="1971421"/>
            <a:ext cx="7223760" cy="3171190"/>
          </a:xfrm>
          <a:prstGeom prst="rect">
            <a:avLst/>
          </a:prstGeom>
        </p:spPr>
      </p:pic>
      <p:sp>
        <p:nvSpPr>
          <p:cNvPr id="16" name="Rectangle 1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TTL INDEXES (CONT.)</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338427"/>
            <a:ext cx="237744" cy="237744"/>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38427"/>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320139"/>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722475"/>
            <a:ext cx="11247120" cy="392097"/>
          </a:xfrm>
          <a:prstGeom prst="rect">
            <a:avLst/>
          </a:prstGeom>
          <a:noFill/>
        </p:spPr>
        <p:txBody>
          <a:bodyPr wrap="square" anchor="t" lIns="0" rIns="0" tIns="0" bIns="0">
            <a:spAutoFit/>
          </a:bodyPr>
          <a:lstStyle/>
          <a:p>
            <a:pPr>
              <a:spcBef>
                <a:spcPts val="0"/>
              </a:spcBef>
              <a:spcAft>
                <a:spcPts val="615"/>
              </a:spcAft>
            </a:pPr>
            <a:r>
              <a:rPr sz="1600" b="1" i="0">
                <a:solidFill>
                  <a:srgbClr val="000000"/>
                </a:solidFill>
                <a:latin typeface="Nirmala UI"/>
              </a:rPr>
              <a:t>With `expireAfterSeconds: </a:t>
            </a:r>
            <a:r>
              <a:rPr sz="1600" b="0" i="0">
                <a:solidFill>
                  <a:srgbClr val="000000"/>
                </a:solidFill>
                <a:latin typeface="Nirmala UI"/>
              </a:rPr>
              <a:t>0</a:t>
            </a:r>
            <a:r>
              <a:rPr sz="1600" b="0" i="0">
                <a:solidFill>
                  <a:srgbClr val="000000"/>
                </a:solidFill>
                <a:latin typeface="Consolas"/>
              </a:rPr>
              <a:t>, each document expires based on the date stored in </a:t>
            </a:r>
            <a:r>
              <a:rPr sz="1600" b="0" i="0">
                <a:solidFill>
                  <a:srgbClr val="000000"/>
                </a:solidFill>
                <a:latin typeface="Nirmala UI"/>
              </a:rPr>
              <a:t>expiresAt`.</a:t>
            </a:r>
          </a:p>
        </p:txBody>
      </p:sp>
      <p:sp>
        <p:nvSpPr>
          <p:cNvPr id="8" name="TextBox 7"/>
          <p:cNvSpPr txBox="1"/>
          <p:nvPr/>
        </p:nvSpPr>
        <p:spPr>
          <a:xfrm>
            <a:off x="457200" y="2206012"/>
            <a:ext cx="11247120" cy="660321"/>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TTL indexes are single-field indexes, and deletion can occur after the precise expiration time rather than exactly at that instant.</a:t>
            </a:r>
          </a:p>
        </p:txBody>
      </p:sp>
      <p:sp>
        <p:nvSpPr>
          <p:cNvPr id="9" name="TextBox 8"/>
          <p:cNvSpPr txBox="1"/>
          <p:nvPr/>
        </p:nvSpPr>
        <p:spPr>
          <a:xfrm>
            <a:off x="457200" y="2957773"/>
            <a:ext cx="11247120" cy="392097"/>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Common uses include:</a:t>
            </a:r>
          </a:p>
        </p:txBody>
      </p:sp>
      <p:sp>
        <p:nvSpPr>
          <p:cNvPr id="10" name="TextBox 9"/>
          <p:cNvSpPr txBox="1"/>
          <p:nvPr/>
        </p:nvSpPr>
        <p:spPr>
          <a:xfrm>
            <a:off x="457200" y="3441310"/>
            <a:ext cx="11247120" cy="1777605"/>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  </a:t>
            </a:r>
            <a:r>
              <a:rPr sz="1600" b="0" i="0">
                <a:solidFill>
                  <a:srgbClr val="000000"/>
                </a:solidFill>
                <a:latin typeface="Nirmala UI"/>
              </a:rPr>
              <a:t>Login sessions</a:t>
            </a:r>
          </a:p>
          <a:p>
            <a:pPr>
              <a:spcBef>
                <a:spcPts val="0"/>
              </a:spcBef>
              <a:spcAft>
                <a:spcPts val="615"/>
              </a:spcAft>
            </a:pPr>
            <a:r>
              <a:rPr sz="1600" b="0" i="0">
                <a:solidFill>
                  <a:srgbClr val="000000"/>
                </a:solidFill>
                <a:latin typeface="Nirmala UI"/>
              </a:rPr>
              <a:t>•  </a:t>
            </a:r>
            <a:r>
              <a:rPr sz="1600" b="0" i="0">
                <a:solidFill>
                  <a:srgbClr val="000000"/>
                </a:solidFill>
                <a:latin typeface="Nirmala UI"/>
              </a:rPr>
              <a:t>Temporary verification codes</a:t>
            </a:r>
          </a:p>
          <a:p>
            <a:pPr>
              <a:spcBef>
                <a:spcPts val="0"/>
              </a:spcBef>
              <a:spcAft>
                <a:spcPts val="615"/>
              </a:spcAft>
            </a:pPr>
            <a:r>
              <a:rPr sz="1600" b="0" i="0">
                <a:solidFill>
                  <a:srgbClr val="000000"/>
                </a:solidFill>
                <a:latin typeface="Nirmala UI"/>
              </a:rPr>
              <a:t>•  </a:t>
            </a:r>
            <a:r>
              <a:rPr sz="1600" b="0" i="0">
                <a:solidFill>
                  <a:srgbClr val="000000"/>
                </a:solidFill>
                <a:latin typeface="Nirmala UI"/>
              </a:rPr>
              <a:t>Short-lived event data</a:t>
            </a:r>
          </a:p>
          <a:p>
            <a:pPr>
              <a:spcBef>
                <a:spcPts val="0"/>
              </a:spcBef>
              <a:spcAft>
                <a:spcPts val="615"/>
              </a:spcAft>
            </a:pPr>
            <a:r>
              <a:rPr sz="1600" b="0" i="0">
                <a:solidFill>
                  <a:srgbClr val="000000"/>
                </a:solidFill>
                <a:latin typeface="Nirmala UI"/>
              </a:rPr>
              <a:t>•  </a:t>
            </a:r>
            <a:r>
              <a:rPr sz="1600" b="0" i="0">
                <a:solidFill>
                  <a:srgbClr val="000000"/>
                </a:solidFill>
                <a:latin typeface="Nirmala UI"/>
              </a:rPr>
              <a:t>Temporary processing records</a:t>
            </a:r>
          </a:p>
          <a:p>
            <a:pPr>
              <a:spcBef>
                <a:spcPts val="0"/>
              </a:spcBef>
              <a:spcAft>
                <a:spcPts val="615"/>
              </a:spcAft>
            </a:pPr>
            <a:r>
              <a:rPr sz="1600" b="0" i="0">
                <a:solidFill>
                  <a:srgbClr val="000000"/>
                </a:solidFill>
                <a:latin typeface="Nirmala UI"/>
              </a:rPr>
              <a:t>•  </a:t>
            </a:r>
            <a:r>
              <a:rPr sz="1600" b="0" i="0">
                <a:solidFill>
                  <a:srgbClr val="000000"/>
                </a:solidFill>
                <a:latin typeface="Nirmala UI"/>
              </a:rPr>
              <a:t>Expiring audit data when permitted by policy</a:t>
            </a:r>
          </a:p>
        </p:txBody>
      </p:sp>
      <p:sp>
        <p:nvSpPr>
          <p:cNvPr id="11" name="TextBox 10"/>
          <p:cNvSpPr txBox="1"/>
          <p:nvPr/>
        </p:nvSpPr>
        <p:spPr>
          <a:xfrm>
            <a:off x="457200" y="5310355"/>
            <a:ext cx="11247120" cy="392097"/>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Do not use TTL deletion for records that must be retained for legal, audit or business purposes.</a:t>
            </a:r>
          </a:p>
        </p:txBody>
      </p:sp>
      <p:sp>
        <p:nvSpPr>
          <p:cNvPr id="12" name="Rectangle 1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5"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TEXT INDEXES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798086"/>
            <a:ext cx="237744" cy="237744"/>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798086"/>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779798"/>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182134"/>
            <a:ext cx="11247120" cy="81397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A self-managed MongoDB deployment can use a text index for basic </a:t>
            </a:r>
            <a:r>
              <a:rPr sz="2000" b="0" i="0">
                <a:solidFill>
                  <a:srgbClr val="000000"/>
                </a:solidFill>
                <a:latin typeface="Consolas"/>
              </a:rPr>
              <a:t>$text</a:t>
            </a:r>
            <a:r>
              <a:rPr sz="2000" b="0" i="0">
                <a:solidFill>
                  <a:srgbClr val="000000"/>
                </a:solidFill>
                <a:latin typeface="Nirmala UI"/>
              </a:rPr>
              <a:t> searches:</a:t>
            </a:r>
          </a:p>
        </p:txBody>
      </p:sp>
      <p:sp>
        <p:nvSpPr>
          <p:cNvPr id="8" name="TextBox 7"/>
          <p:cNvSpPr txBox="1"/>
          <p:nvPr/>
        </p:nvSpPr>
        <p:spPr>
          <a:xfrm>
            <a:off x="457200" y="3087546"/>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Query:</a:t>
            </a:r>
          </a:p>
        </p:txBody>
      </p:sp>
      <p:sp>
        <p:nvSpPr>
          <p:cNvPr id="9" name="TextBox 8"/>
          <p:cNvSpPr txBox="1"/>
          <p:nvPr/>
        </p:nvSpPr>
        <p:spPr>
          <a:xfrm>
            <a:off x="457200" y="3657678"/>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Return the text score:</a:t>
            </a:r>
          </a:p>
        </p:txBody>
      </p:sp>
      <p:sp>
        <p:nvSpPr>
          <p:cNvPr id="10" name="Rounded Rectangle 9"/>
          <p:cNvSpPr/>
          <p:nvPr/>
        </p:nvSpPr>
        <p:spPr>
          <a:xfrm>
            <a:off x="457200" y="4227810"/>
            <a:ext cx="5550408" cy="1106424"/>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 y="4319250"/>
            <a:ext cx="5294376" cy="941832"/>
          </a:xfrm>
          <a:prstGeom prst="rect">
            <a:avLst/>
          </a:prstGeom>
          <a:noFill/>
        </p:spPr>
        <p:txBody>
          <a:bodyPr wrap="square" anchor="t" lIns="0" rIns="0" tIns="0" bIns="0">
            <a:spAutoFit/>
          </a:bodyPr>
          <a:lstStyle/>
          <a:p>
            <a:pPr>
              <a:spcBef>
                <a:spcPts val="0"/>
              </a:spcBef>
              <a:spcAft>
                <a:spcPts val="0"/>
              </a:spcAft>
            </a:pPr>
            <a:r>
              <a:rPr sz="600" b="0" i="0">
                <a:solidFill>
                  <a:srgbClr val="000000"/>
                </a:solidFill>
                <a:latin typeface="Consolas"/>
              </a:rPr>
              <a:t>db.products.createIndex(</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name: "text",</a:t>
            </a:r>
          </a:p>
          <a:p>
            <a:pPr>
              <a:spcBef>
                <a:spcPts val="0"/>
              </a:spcBef>
              <a:spcAft>
                <a:spcPts val="0"/>
              </a:spcAft>
            </a:pPr>
            <a:r>
              <a:rPr sz="600" b="0" i="0">
                <a:solidFill>
                  <a:srgbClr val="000000"/>
                </a:solidFill>
                <a:latin typeface="Consolas"/>
              </a:rPr>
              <a:t>    description: "text"</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name: "txt_products_name_description"</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a:t>
            </a:r>
          </a:p>
        </p:txBody>
      </p:sp>
      <p:sp>
        <p:nvSpPr>
          <p:cNvPr id="12" name="Rounded Rectangle 11"/>
          <p:cNvSpPr/>
          <p:nvPr/>
        </p:nvSpPr>
        <p:spPr>
          <a:xfrm>
            <a:off x="6153912" y="4227810"/>
            <a:ext cx="5550408" cy="1106424"/>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81928" y="4319250"/>
            <a:ext cx="5294376" cy="941832"/>
          </a:xfrm>
          <a:prstGeom prst="rect">
            <a:avLst/>
          </a:prstGeom>
          <a:noFill/>
        </p:spPr>
        <p:txBody>
          <a:bodyPr wrap="square" anchor="t" lIns="0" rIns="0" tIns="0" bIns="0">
            <a:spAutoFit/>
          </a:bodyPr>
          <a:lstStyle/>
          <a:p>
            <a:pPr>
              <a:spcBef>
                <a:spcPts val="0"/>
              </a:spcBef>
              <a:spcAft>
                <a:spcPts val="0"/>
              </a:spcAft>
            </a:pPr>
            <a:r>
              <a:rPr sz="600" b="0" i="0">
                <a:solidFill>
                  <a:srgbClr val="000000"/>
                </a:solidFill>
                <a:latin typeface="Consolas"/>
              </a:rPr>
              <a:t>db.products.find({</a:t>
            </a:r>
          </a:p>
          <a:p>
            <a:pPr>
              <a:spcBef>
                <a:spcPts val="0"/>
              </a:spcBef>
              <a:spcAft>
                <a:spcPts val="0"/>
              </a:spcAft>
            </a:pPr>
            <a:r>
              <a:rPr sz="600" b="0" i="0">
                <a:solidFill>
                  <a:srgbClr val="000000"/>
                </a:solidFill>
                <a:latin typeface="Consolas"/>
              </a:rPr>
              <a:t>  $text: {</a:t>
            </a:r>
          </a:p>
          <a:p>
            <a:pPr>
              <a:spcBef>
                <a:spcPts val="0"/>
              </a:spcBef>
              <a:spcAft>
                <a:spcPts val="0"/>
              </a:spcAft>
            </a:pPr>
            <a:r>
              <a:rPr sz="600" b="0" i="0">
                <a:solidFill>
                  <a:srgbClr val="000000"/>
                </a:solidFill>
                <a:latin typeface="Consolas"/>
              </a:rPr>
              <a:t>    $search: "wireless ergonomic"</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TEXT INDEXES (CONT.)</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188720"/>
            <a:ext cx="237744" cy="237744"/>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170432"/>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572768"/>
            <a:ext cx="11247120" cy="114925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Traditional text indexes support basic word-based text queries, but they add write and storage cost. MongoDB recommends its newer search capabilities for more advanced search requirements.</a:t>
            </a:r>
          </a:p>
        </p:txBody>
      </p:sp>
      <p:sp>
        <p:nvSpPr>
          <p:cNvPr id="8" name="TextBox 7"/>
          <p:cNvSpPr txBox="1"/>
          <p:nvPr/>
        </p:nvSpPr>
        <p:spPr>
          <a:xfrm>
            <a:off x="457200" y="2813460"/>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Use a dedicated search solution when requirements include:</a:t>
            </a:r>
          </a:p>
        </p:txBody>
      </p:sp>
      <p:sp>
        <p:nvSpPr>
          <p:cNvPr id="9" name="Rounded Rectangle 8"/>
          <p:cNvSpPr/>
          <p:nvPr/>
        </p:nvSpPr>
        <p:spPr>
          <a:xfrm>
            <a:off x="457200" y="3383592"/>
            <a:ext cx="11247120" cy="2481072"/>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 y="3475032"/>
            <a:ext cx="10991088" cy="2316480"/>
          </a:xfrm>
          <a:prstGeom prst="rect">
            <a:avLst/>
          </a:prstGeom>
          <a:noFill/>
        </p:spPr>
        <p:txBody>
          <a:bodyPr wrap="square" anchor="t" lIns="0" rIns="0" tIns="0" bIns="0">
            <a:spAutoFit/>
          </a:bodyPr>
          <a:lstStyle/>
          <a:p>
            <a:pPr>
              <a:spcBef>
                <a:spcPts val="0"/>
              </a:spcBef>
              <a:spcAft>
                <a:spcPts val="0"/>
              </a:spcAft>
            </a:pPr>
            <a:r>
              <a:rPr sz="800" b="0" i="0">
                <a:solidFill>
                  <a:srgbClr val="000000"/>
                </a:solidFill>
                <a:latin typeface="Consolas"/>
              </a:rPr>
              <a:t>db.products.find(</a:t>
            </a:r>
          </a:p>
          <a:p>
            <a:pPr>
              <a:spcBef>
                <a:spcPts val="0"/>
              </a:spcBef>
              <a:spcAft>
                <a:spcPts val="0"/>
              </a:spcAft>
            </a:pPr>
            <a:r>
              <a:rPr sz="800" b="0" i="0">
                <a:solidFill>
                  <a:srgbClr val="000000"/>
                </a:solidFill>
                <a:latin typeface="Consolas"/>
              </a:rPr>
              <a:t>  {</a:t>
            </a:r>
          </a:p>
          <a:p>
            <a:pPr>
              <a:spcBef>
                <a:spcPts val="0"/>
              </a:spcBef>
              <a:spcAft>
                <a:spcPts val="0"/>
              </a:spcAft>
            </a:pPr>
            <a:r>
              <a:rPr sz="800" b="0" i="0">
                <a:solidFill>
                  <a:srgbClr val="000000"/>
                </a:solidFill>
                <a:latin typeface="Consolas"/>
              </a:rPr>
              <a:t>    $text: {</a:t>
            </a:r>
          </a:p>
          <a:p>
            <a:pPr>
              <a:spcBef>
                <a:spcPts val="0"/>
              </a:spcBef>
              <a:spcAft>
                <a:spcPts val="0"/>
              </a:spcAft>
            </a:pPr>
            <a:r>
              <a:rPr sz="800" b="0" i="0">
                <a:solidFill>
                  <a:srgbClr val="000000"/>
                </a:solidFill>
                <a:latin typeface="Consolas"/>
              </a:rPr>
              <a:t>      $search: "wireless ergonomic"</a:t>
            </a:r>
          </a:p>
          <a:p>
            <a:pPr>
              <a:spcBef>
                <a:spcPts val="0"/>
              </a:spcBef>
              <a:spcAft>
                <a:spcPts val="0"/>
              </a:spcAft>
            </a:pPr>
            <a:r>
              <a:rPr sz="800" b="0" i="0">
                <a:solidFill>
                  <a:srgbClr val="000000"/>
                </a:solidFill>
                <a:latin typeface="Consolas"/>
              </a:rPr>
              <a:t>    }</a:t>
            </a:r>
          </a:p>
          <a:p>
            <a:pPr>
              <a:spcBef>
                <a:spcPts val="0"/>
              </a:spcBef>
              <a:spcAft>
                <a:spcPts val="0"/>
              </a:spcAft>
            </a:pPr>
            <a:r>
              <a:rPr sz="800" b="0" i="0">
                <a:solidFill>
                  <a:srgbClr val="000000"/>
                </a:solidFill>
                <a:latin typeface="Consolas"/>
              </a:rPr>
              <a:t>  },</a:t>
            </a:r>
          </a:p>
          <a:p>
            <a:pPr>
              <a:spcBef>
                <a:spcPts val="0"/>
              </a:spcBef>
              <a:spcAft>
                <a:spcPts val="0"/>
              </a:spcAft>
            </a:pPr>
            <a:r>
              <a:rPr sz="800" b="0" i="0">
                <a:solidFill>
                  <a:srgbClr val="000000"/>
                </a:solidFill>
                <a:latin typeface="Consolas"/>
              </a:rPr>
              <a:t>  {</a:t>
            </a:r>
          </a:p>
          <a:p>
            <a:pPr>
              <a:spcBef>
                <a:spcPts val="0"/>
              </a:spcBef>
              <a:spcAft>
                <a:spcPts val="0"/>
              </a:spcAft>
            </a:pPr>
            <a:r>
              <a:rPr sz="800" b="0" i="0">
                <a:solidFill>
                  <a:srgbClr val="000000"/>
                </a:solidFill>
                <a:latin typeface="Consolas"/>
              </a:rPr>
              <a:t>    name: 1,</a:t>
            </a:r>
          </a:p>
          <a:p>
            <a:pPr>
              <a:spcBef>
                <a:spcPts val="0"/>
              </a:spcBef>
              <a:spcAft>
                <a:spcPts val="0"/>
              </a:spcAft>
            </a:pPr>
            <a:r>
              <a:rPr sz="800" b="0" i="0">
                <a:solidFill>
                  <a:srgbClr val="000000"/>
                </a:solidFill>
                <a:latin typeface="Consolas"/>
              </a:rPr>
              <a:t>    score: {</a:t>
            </a:r>
          </a:p>
          <a:p>
            <a:pPr>
              <a:spcBef>
                <a:spcPts val="0"/>
              </a:spcBef>
              <a:spcAft>
                <a:spcPts val="0"/>
              </a:spcAft>
            </a:pPr>
            <a:r>
              <a:rPr sz="800" b="0" i="0">
                <a:solidFill>
                  <a:srgbClr val="000000"/>
                </a:solidFill>
                <a:latin typeface="Consolas"/>
              </a:rPr>
              <a:t>      $meta: "textScore"</a:t>
            </a:r>
          </a:p>
          <a:p>
            <a:pPr>
              <a:spcBef>
                <a:spcPts val="0"/>
              </a:spcBef>
              <a:spcAft>
                <a:spcPts val="0"/>
              </a:spcAft>
            </a:pPr>
            <a:r>
              <a:rPr sz="800" b="0" i="0">
                <a:solidFill>
                  <a:srgbClr val="000000"/>
                </a:solidFill>
                <a:latin typeface="Consolas"/>
              </a:rPr>
              <a:t>    }</a:t>
            </a:r>
          </a:p>
          <a:p>
            <a:pPr>
              <a:spcBef>
                <a:spcPts val="0"/>
              </a:spcBef>
              <a:spcAft>
                <a:spcPts val="0"/>
              </a:spcAft>
            </a:pPr>
            <a:r>
              <a:rPr sz="800" b="0" i="0">
                <a:solidFill>
                  <a:srgbClr val="000000"/>
                </a:solidFill>
                <a:latin typeface="Consolas"/>
              </a:rPr>
              <a:t>  }</a:t>
            </a:r>
          </a:p>
          <a:p>
            <a:pPr>
              <a:spcBef>
                <a:spcPts val="0"/>
              </a:spcBef>
              <a:spcAft>
                <a:spcPts val="0"/>
              </a:spcAft>
            </a:pPr>
            <a:r>
              <a:rPr sz="800" b="0" i="0">
                <a:solidFill>
                  <a:srgbClr val="000000"/>
                </a:solidFill>
                <a:latin typeface="Consolas"/>
              </a:rPr>
              <a:t>).sort({</a:t>
            </a:r>
          </a:p>
          <a:p>
            <a:pPr>
              <a:spcBef>
                <a:spcPts val="0"/>
              </a:spcBef>
              <a:spcAft>
                <a:spcPts val="0"/>
              </a:spcAft>
            </a:pPr>
            <a:r>
              <a:rPr sz="800" b="0" i="0">
                <a:solidFill>
                  <a:srgbClr val="000000"/>
                </a:solidFill>
                <a:latin typeface="Consolas"/>
              </a:rPr>
              <a:t>  score: {</a:t>
            </a:r>
          </a:p>
          <a:p>
            <a:pPr>
              <a:spcBef>
                <a:spcPts val="0"/>
              </a:spcBef>
              <a:spcAft>
                <a:spcPts val="0"/>
              </a:spcAft>
            </a:pPr>
            <a:r>
              <a:rPr sz="800" b="0" i="0">
                <a:solidFill>
                  <a:srgbClr val="000000"/>
                </a:solidFill>
                <a:latin typeface="Consolas"/>
              </a:rPr>
              <a:t>    $meta: "textScore"</a:t>
            </a:r>
          </a:p>
          <a:p>
            <a:pPr>
              <a:spcBef>
                <a:spcPts val="0"/>
              </a:spcBef>
              <a:spcAft>
                <a:spcPts val="0"/>
              </a:spcAft>
            </a:pPr>
            <a:r>
              <a:rPr sz="800" b="0" i="0">
                <a:solidFill>
                  <a:srgbClr val="000000"/>
                </a:solidFill>
                <a:latin typeface="Consolas"/>
              </a:rPr>
              <a:t>  }</a:t>
            </a:r>
          </a:p>
          <a:p>
            <a:pPr>
              <a:spcBef>
                <a:spcPts val="0"/>
              </a:spcBef>
              <a:spcAft>
                <a:spcPts val="0"/>
              </a:spcAft>
            </a:pPr>
            <a:r>
              <a:rPr sz="800" b="0" i="0">
                <a:solidFill>
                  <a:srgbClr val="000000"/>
                </a:solidFill>
                <a:latin typeface="Consolas"/>
              </a:rPr>
              <a:t>})</a:t>
            </a:r>
          </a:p>
        </p:txBody>
      </p:sp>
      <p:sp>
        <p:nvSpPr>
          <p:cNvPr id="11" name="Rectangle 1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TEXT INDEXES (CONT.)</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790154"/>
            <a:ext cx="237744" cy="237744"/>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790154"/>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771866"/>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174202"/>
            <a:ext cx="11247120" cy="3076524"/>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0" i="0">
                <a:solidFill>
                  <a:srgbClr val="000000"/>
                </a:solidFill>
                <a:latin typeface="Nirmala UI"/>
              </a:rPr>
              <a:t>Autocomplete</a:t>
            </a:r>
          </a:p>
          <a:p>
            <a:pPr>
              <a:spcBef>
                <a:spcPts val="0"/>
              </a:spcBef>
              <a:spcAft>
                <a:spcPts val="769"/>
              </a:spcAft>
            </a:pPr>
            <a:r>
              <a:rPr sz="2000" b="0" i="0">
                <a:solidFill>
                  <a:srgbClr val="000000"/>
                </a:solidFill>
                <a:latin typeface="Nirmala UI"/>
              </a:rPr>
              <a:t>•  </a:t>
            </a:r>
            <a:r>
              <a:rPr sz="2000" b="0" i="0">
                <a:solidFill>
                  <a:srgbClr val="000000"/>
                </a:solidFill>
                <a:latin typeface="Nirmala UI"/>
              </a:rPr>
              <a:t>Fuzzy matching</a:t>
            </a:r>
          </a:p>
          <a:p>
            <a:pPr>
              <a:spcBef>
                <a:spcPts val="0"/>
              </a:spcBef>
              <a:spcAft>
                <a:spcPts val="769"/>
              </a:spcAft>
            </a:pPr>
            <a:r>
              <a:rPr sz="2000" b="0" i="0">
                <a:solidFill>
                  <a:srgbClr val="000000"/>
                </a:solidFill>
                <a:latin typeface="Nirmala UI"/>
              </a:rPr>
              <a:t>•  </a:t>
            </a:r>
            <a:r>
              <a:rPr sz="2000" b="0" i="0">
                <a:solidFill>
                  <a:srgbClr val="000000"/>
                </a:solidFill>
                <a:latin typeface="Nirmala UI"/>
              </a:rPr>
              <a:t>Relevance tuning</a:t>
            </a:r>
          </a:p>
          <a:p>
            <a:pPr>
              <a:spcBef>
                <a:spcPts val="0"/>
              </a:spcBef>
              <a:spcAft>
                <a:spcPts val="769"/>
              </a:spcAft>
            </a:pPr>
            <a:r>
              <a:rPr sz="2000" b="0" i="0">
                <a:solidFill>
                  <a:srgbClr val="000000"/>
                </a:solidFill>
                <a:latin typeface="Nirmala UI"/>
              </a:rPr>
              <a:t>•  </a:t>
            </a:r>
            <a:r>
              <a:rPr sz="2000" b="0" i="0">
                <a:solidFill>
                  <a:srgbClr val="000000"/>
                </a:solidFill>
                <a:latin typeface="Nirmala UI"/>
              </a:rPr>
              <a:t>Faceting</a:t>
            </a:r>
          </a:p>
          <a:p>
            <a:pPr>
              <a:spcBef>
                <a:spcPts val="0"/>
              </a:spcBef>
              <a:spcAft>
                <a:spcPts val="769"/>
              </a:spcAft>
            </a:pPr>
            <a:r>
              <a:rPr sz="2000" b="0" i="0">
                <a:solidFill>
                  <a:srgbClr val="000000"/>
                </a:solidFill>
                <a:latin typeface="Nirmala UI"/>
              </a:rPr>
              <a:t>•  </a:t>
            </a:r>
            <a:r>
              <a:rPr sz="2000" b="0" i="0">
                <a:solidFill>
                  <a:srgbClr val="000000"/>
                </a:solidFill>
                <a:latin typeface="Nirmala UI"/>
              </a:rPr>
              <a:t>Synonyms</a:t>
            </a:r>
          </a:p>
          <a:p>
            <a:pPr>
              <a:spcBef>
                <a:spcPts val="0"/>
              </a:spcBef>
              <a:spcAft>
                <a:spcPts val="769"/>
              </a:spcAft>
            </a:pPr>
            <a:r>
              <a:rPr sz="2000" b="0" i="0">
                <a:solidFill>
                  <a:srgbClr val="000000"/>
                </a:solidFill>
                <a:latin typeface="Nirmala UI"/>
              </a:rPr>
              <a:t>•  </a:t>
            </a:r>
            <a:r>
              <a:rPr sz="2000" b="0" i="0">
                <a:solidFill>
                  <a:srgbClr val="000000"/>
                </a:solidFill>
                <a:latin typeface="Nirmala UI"/>
              </a:rPr>
              <a:t>Semantic or vector search</a:t>
            </a:r>
          </a:p>
          <a:p>
            <a:pPr>
              <a:spcBef>
                <a:spcPts val="0"/>
              </a:spcBef>
              <a:spcAft>
                <a:spcPts val="769"/>
              </a:spcAft>
            </a:pPr>
            <a:r>
              <a:rPr sz="2000" b="0" i="0">
                <a:solidFill>
                  <a:srgbClr val="000000"/>
                </a:solidFill>
                <a:latin typeface="Nirmala UI"/>
              </a:rPr>
              <a:t>•  </a:t>
            </a:r>
            <a:r>
              <a:rPr sz="2000" b="0" i="0">
                <a:solidFill>
                  <a:srgbClr val="000000"/>
                </a:solidFill>
                <a:latin typeface="Nirmala UI"/>
              </a:rPr>
              <a:t>Advanced language analysis</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WILDCARD INDEXES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241064"/>
            <a:ext cx="237744" cy="237744"/>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41064"/>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222776"/>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625112"/>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A wildcard index can cover varying or unpredictable field names.</a:t>
            </a:r>
          </a:p>
        </p:txBody>
      </p:sp>
      <p:sp>
        <p:nvSpPr>
          <p:cNvPr id="8" name="TextBox 7"/>
          <p:cNvSpPr txBox="1"/>
          <p:nvPr/>
        </p:nvSpPr>
        <p:spPr>
          <a:xfrm>
            <a:off x="457200" y="2195244"/>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The </a:t>
            </a:r>
            <a:r>
              <a:rPr sz="2000" b="0" i="0">
                <a:solidFill>
                  <a:srgbClr val="000000"/>
                </a:solidFill>
                <a:latin typeface="Consolas"/>
              </a:rPr>
              <a:t>specifications</a:t>
            </a:r>
            <a:r>
              <a:rPr sz="2000" b="0" i="0">
                <a:solidFill>
                  <a:srgbClr val="000000"/>
                </a:solidFill>
                <a:latin typeface="Nirmala UI"/>
              </a:rPr>
              <a:t> fields differ by product category:</a:t>
            </a:r>
          </a:p>
        </p:txBody>
      </p:sp>
      <p:sp>
        <p:nvSpPr>
          <p:cNvPr id="9" name="TextBox 8"/>
          <p:cNvSpPr txBox="1"/>
          <p:nvPr/>
        </p:nvSpPr>
        <p:spPr>
          <a:xfrm>
            <a:off x="457200" y="2765376"/>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A wildcard index can cover specification fields:</a:t>
            </a:r>
          </a:p>
        </p:txBody>
      </p:sp>
      <p:sp>
        <p:nvSpPr>
          <p:cNvPr id="10" name="Rounded Rectangle 9"/>
          <p:cNvSpPr/>
          <p:nvPr/>
        </p:nvSpPr>
        <p:spPr>
          <a:xfrm>
            <a:off x="457200" y="3335508"/>
            <a:ext cx="11247120" cy="2464308"/>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 y="3426948"/>
            <a:ext cx="10991088" cy="2299716"/>
          </a:xfrm>
          <a:prstGeom prst="rect">
            <a:avLst/>
          </a:prstGeom>
          <a:noFill/>
        </p:spPr>
        <p:txBody>
          <a:bodyPr wrap="square" anchor="t" lIns="0" rIns="0" tIns="0" bIns="0">
            <a:spAutoFit/>
          </a:bodyPr>
          <a:lstStyle/>
          <a:p>
            <a:pPr>
              <a:spcBef>
                <a:spcPts val="0"/>
              </a:spcBef>
              <a:spcAft>
                <a:spcPts val="0"/>
              </a:spcAft>
            </a:pPr>
            <a:r>
              <a:rPr sz="900" b="0" i="0">
                <a:solidFill>
                  <a:srgbClr val="000000"/>
                </a:solidFill>
                <a:latin typeface="Consolas"/>
              </a:rPr>
              <a:t>// Electronics</a:t>
            </a:r>
          </a:p>
          <a:p>
            <a:pPr>
              <a:spcBef>
                <a:spcPts val="0"/>
              </a:spcBef>
              <a:spcAft>
                <a:spcPts val="0"/>
              </a:spcAft>
            </a:pPr>
            <a:r>
              <a:rPr sz="900" b="0" i="0">
                <a:solidFill>
                  <a:srgbClr val="000000"/>
                </a:solidFill>
                <a:latin typeface="Consolas"/>
              </a:rPr>
              <a:t>{</a:t>
            </a:r>
          </a:p>
          <a:p>
            <a:pPr>
              <a:spcBef>
                <a:spcPts val="0"/>
              </a:spcBef>
              <a:spcAft>
                <a:spcPts val="0"/>
              </a:spcAft>
            </a:pPr>
            <a:r>
              <a:rPr sz="900" b="0" i="0">
                <a:solidFill>
                  <a:srgbClr val="000000"/>
                </a:solidFill>
                <a:latin typeface="Consolas"/>
              </a:rPr>
              <a:t>  specifications: {</a:t>
            </a:r>
          </a:p>
          <a:p>
            <a:pPr>
              <a:spcBef>
                <a:spcPts val="0"/>
              </a:spcBef>
              <a:spcAft>
                <a:spcPts val="0"/>
              </a:spcAft>
            </a:pPr>
            <a:r>
              <a:rPr sz="900" b="0" i="0">
                <a:solidFill>
                  <a:srgbClr val="000000"/>
                </a:solidFill>
                <a:latin typeface="Consolas"/>
              </a:rPr>
              <a:t>    connection: "Bluetooth",</a:t>
            </a:r>
          </a:p>
          <a:p>
            <a:pPr>
              <a:spcBef>
                <a:spcPts val="0"/>
              </a:spcBef>
              <a:spcAft>
                <a:spcPts val="0"/>
              </a:spcAft>
            </a:pPr>
            <a:r>
              <a:rPr sz="900" b="0" i="0">
                <a:solidFill>
                  <a:srgbClr val="000000"/>
                </a:solidFill>
                <a:latin typeface="Consolas"/>
              </a:rPr>
              <a:t>    rechargeable: true</a:t>
            </a:r>
          </a:p>
          <a:p>
            <a:pPr>
              <a:spcBef>
                <a:spcPts val="0"/>
              </a:spcBef>
              <a:spcAft>
                <a:spcPts val="0"/>
              </a:spcAft>
            </a:pPr>
            <a:r>
              <a:rPr sz="900" b="0" i="0">
                <a:solidFill>
                  <a:srgbClr val="000000"/>
                </a:solidFill>
                <a:latin typeface="Consolas"/>
              </a:rPr>
              <a:t>  }</a:t>
            </a:r>
          </a:p>
          <a:p>
            <a:pPr>
              <a:spcBef>
                <a:spcPts val="0"/>
              </a:spcBef>
              <a:spcAft>
                <a:spcPts val="0"/>
              </a:spcAft>
            </a:pPr>
            <a:r>
              <a:rPr sz="900" b="0" i="0">
                <a:solidFill>
                  <a:srgbClr val="000000"/>
                </a:solidFill>
                <a:latin typeface="Consolas"/>
              </a:rPr>
              <a:t>}</a:t>
            </a:r>
          </a:p>
          <a:p>
            <a:pPr>
              <a:spcBef>
                <a:spcPts val="0"/>
              </a:spcBef>
              <a:spcAft>
                <a:spcPts val="0"/>
              </a:spcAft>
            </a:pPr>
            <a:r>
              <a:rPr sz="900" b="0" i="0">
                <a:solidFill>
                  <a:srgbClr val="000000"/>
                </a:solidFill>
                <a:latin typeface="Consolas"/>
              </a:rPr>
              <a:t> </a:t>
            </a:r>
          </a:p>
          <a:p>
            <a:pPr>
              <a:spcBef>
                <a:spcPts val="0"/>
              </a:spcBef>
              <a:spcAft>
                <a:spcPts val="0"/>
              </a:spcAft>
            </a:pPr>
            <a:r>
              <a:rPr sz="900" b="0" i="0">
                <a:solidFill>
                  <a:srgbClr val="000000"/>
                </a:solidFill>
                <a:latin typeface="Consolas"/>
              </a:rPr>
              <a:t>// Book</a:t>
            </a:r>
          </a:p>
          <a:p>
            <a:pPr>
              <a:spcBef>
                <a:spcPts val="0"/>
              </a:spcBef>
              <a:spcAft>
                <a:spcPts val="0"/>
              </a:spcAft>
            </a:pPr>
            <a:r>
              <a:rPr sz="900" b="0" i="0">
                <a:solidFill>
                  <a:srgbClr val="000000"/>
                </a:solidFill>
                <a:latin typeface="Consolas"/>
              </a:rPr>
              <a:t>{</a:t>
            </a:r>
          </a:p>
          <a:p>
            <a:pPr>
              <a:spcBef>
                <a:spcPts val="0"/>
              </a:spcBef>
              <a:spcAft>
                <a:spcPts val="0"/>
              </a:spcAft>
            </a:pPr>
            <a:r>
              <a:rPr sz="900" b="0" i="0">
                <a:solidFill>
                  <a:srgbClr val="000000"/>
                </a:solidFill>
                <a:latin typeface="Consolas"/>
              </a:rPr>
              <a:t>  specifications: {</a:t>
            </a:r>
          </a:p>
          <a:p>
            <a:pPr>
              <a:spcBef>
                <a:spcPts val="0"/>
              </a:spcBef>
              <a:spcAft>
                <a:spcPts val="0"/>
              </a:spcAft>
            </a:pPr>
            <a:r>
              <a:rPr sz="900" b="0" i="0">
                <a:solidFill>
                  <a:srgbClr val="000000"/>
                </a:solidFill>
                <a:latin typeface="Consolas"/>
              </a:rPr>
              <a:t>    author: "A. Singh",</a:t>
            </a:r>
          </a:p>
          <a:p>
            <a:pPr>
              <a:spcBef>
                <a:spcPts val="0"/>
              </a:spcBef>
              <a:spcAft>
                <a:spcPts val="0"/>
              </a:spcAft>
            </a:pPr>
            <a:r>
              <a:rPr sz="900" b="0" i="0">
                <a:solidFill>
                  <a:srgbClr val="000000"/>
                </a:solidFill>
                <a:latin typeface="Consolas"/>
              </a:rPr>
              <a:t>    pages: 420</a:t>
            </a:r>
          </a:p>
          <a:p>
            <a:pPr>
              <a:spcBef>
                <a:spcPts val="0"/>
              </a:spcBef>
              <a:spcAft>
                <a:spcPts val="0"/>
              </a:spcAft>
            </a:pPr>
            <a:r>
              <a:rPr sz="900" b="0" i="0">
                <a:solidFill>
                  <a:srgbClr val="000000"/>
                </a:solidFill>
                <a:latin typeface="Consolas"/>
              </a:rPr>
              <a:t>  }</a:t>
            </a:r>
          </a:p>
          <a:p>
            <a:pPr>
              <a:spcBef>
                <a:spcPts val="0"/>
              </a:spcBef>
              <a:spcAft>
                <a:spcPts val="0"/>
              </a:spcAft>
            </a:pPr>
            <a:r>
              <a:rPr sz="900" b="0" i="0">
                <a:solidFill>
                  <a:srgbClr val="000000"/>
                </a:solidFill>
                <a:latin typeface="Consolas"/>
              </a:rPr>
              <a:t>}</a:t>
            </a:r>
          </a:p>
        </p:txBody>
      </p:sp>
      <p:sp>
        <p:nvSpPr>
          <p:cNvPr id="12" name="Rectangle 1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5"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WILDCARD INDEXES (CONT.)</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560420"/>
            <a:ext cx="237744" cy="237744"/>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60420"/>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542132"/>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944468"/>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This may help varied queries such as:</a:t>
            </a:r>
          </a:p>
        </p:txBody>
      </p:sp>
      <p:sp>
        <p:nvSpPr>
          <p:cNvPr id="8" name="TextBox 7"/>
          <p:cNvSpPr txBox="1"/>
          <p:nvPr/>
        </p:nvSpPr>
        <p:spPr>
          <a:xfrm>
            <a:off x="457200" y="2514600"/>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or:</a:t>
            </a:r>
          </a:p>
        </p:txBody>
      </p:sp>
      <p:sp>
        <p:nvSpPr>
          <p:cNvPr id="9" name="Rounded Rectangle 8"/>
          <p:cNvSpPr/>
          <p:nvPr/>
        </p:nvSpPr>
        <p:spPr>
          <a:xfrm>
            <a:off x="457200" y="3084732"/>
            <a:ext cx="11247120" cy="1005840"/>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 y="3176172"/>
            <a:ext cx="10991088" cy="841248"/>
          </a:xfrm>
          <a:prstGeom prst="rect">
            <a:avLst/>
          </a:prstGeom>
          <a:noFill/>
        </p:spPr>
        <p:txBody>
          <a:bodyPr wrap="square" anchor="t" lIns="0" rIns="0" tIns="0" bIns="0">
            <a:spAutoFit/>
          </a:bodyPr>
          <a:lstStyle/>
          <a:p>
            <a:pPr>
              <a:spcBef>
                <a:spcPts val="0"/>
              </a:spcBef>
              <a:spcAft>
                <a:spcPts val="0"/>
              </a:spcAft>
            </a:pPr>
            <a:r>
              <a:rPr sz="600" b="0" i="0">
                <a:solidFill>
                  <a:srgbClr val="000000"/>
                </a:solidFill>
                <a:latin typeface="Consolas"/>
              </a:rPr>
              <a:t>db.products.createIndex(</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"specifications.$**": 1</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name: "idx_products_specifications_wildcard"</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a:t>
            </a:r>
          </a:p>
        </p:txBody>
      </p:sp>
      <p:sp>
        <p:nvSpPr>
          <p:cNvPr id="11" name="Rounded Rectangle 10"/>
          <p:cNvSpPr/>
          <p:nvPr/>
        </p:nvSpPr>
        <p:spPr>
          <a:xfrm>
            <a:off x="457200" y="4182012"/>
            <a:ext cx="11247120" cy="502920"/>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 y="4273452"/>
            <a:ext cx="10991088" cy="338328"/>
          </a:xfrm>
          <a:prstGeom prst="rect">
            <a:avLst/>
          </a:prstGeom>
          <a:noFill/>
        </p:spPr>
        <p:txBody>
          <a:bodyPr wrap="square" anchor="t" lIns="0" rIns="0" tIns="0" bIns="0">
            <a:spAutoFit/>
          </a:bodyPr>
          <a:lstStyle/>
          <a:p>
            <a:pPr>
              <a:spcBef>
                <a:spcPts val="0"/>
              </a:spcBef>
              <a:spcAft>
                <a:spcPts val="0"/>
              </a:spcAft>
            </a:pPr>
            <a:r>
              <a:rPr sz="600" b="0" i="0">
                <a:solidFill>
                  <a:srgbClr val="000000"/>
                </a:solidFill>
                <a:latin typeface="Consolas"/>
              </a:rPr>
              <a:t>db.products.find({</a:t>
            </a:r>
          </a:p>
          <a:p>
            <a:pPr>
              <a:spcBef>
                <a:spcPts val="0"/>
              </a:spcBef>
              <a:spcAft>
                <a:spcPts val="0"/>
              </a:spcAft>
            </a:pPr>
            <a:r>
              <a:rPr sz="600" b="0" i="0">
                <a:solidFill>
                  <a:srgbClr val="000000"/>
                </a:solidFill>
                <a:latin typeface="Consolas"/>
              </a:rPr>
              <a:t>  "specifications.connection": "Bluetooth"</a:t>
            </a:r>
          </a:p>
          <a:p>
            <a:pPr>
              <a:spcBef>
                <a:spcPts val="0"/>
              </a:spcBef>
              <a:spcAft>
                <a:spcPts val="0"/>
              </a:spcAft>
            </a:pPr>
            <a:r>
              <a:rPr sz="600" b="0" i="0">
                <a:solidFill>
                  <a:srgbClr val="000000"/>
                </a:solidFill>
                <a:latin typeface="Consolas"/>
              </a:rPr>
              <a:t>})</a:t>
            </a:r>
          </a:p>
        </p:txBody>
      </p:sp>
      <p:sp>
        <p:nvSpPr>
          <p:cNvPr id="13" name="Rounded Rectangle 12"/>
          <p:cNvSpPr/>
          <p:nvPr/>
        </p:nvSpPr>
        <p:spPr>
          <a:xfrm>
            <a:off x="457200" y="4776372"/>
            <a:ext cx="11247120" cy="704088"/>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5216" y="4867812"/>
            <a:ext cx="10991088" cy="539496"/>
          </a:xfrm>
          <a:prstGeom prst="rect">
            <a:avLst/>
          </a:prstGeom>
          <a:noFill/>
        </p:spPr>
        <p:txBody>
          <a:bodyPr wrap="square" anchor="t" lIns="0" rIns="0" tIns="0" bIns="0">
            <a:spAutoFit/>
          </a:bodyPr>
          <a:lstStyle/>
          <a:p>
            <a:pPr>
              <a:spcBef>
                <a:spcPts val="0"/>
              </a:spcBef>
              <a:spcAft>
                <a:spcPts val="0"/>
              </a:spcAft>
            </a:pPr>
            <a:r>
              <a:rPr sz="600" b="0" i="0">
                <a:solidFill>
                  <a:srgbClr val="000000"/>
                </a:solidFill>
                <a:latin typeface="Consolas"/>
              </a:rPr>
              <a:t>db.products.find({</a:t>
            </a:r>
          </a:p>
          <a:p>
            <a:pPr>
              <a:spcBef>
                <a:spcPts val="0"/>
              </a:spcBef>
              <a:spcAft>
                <a:spcPts val="0"/>
              </a:spcAft>
            </a:pPr>
            <a:r>
              <a:rPr sz="600" b="0" i="0">
                <a:solidFill>
                  <a:srgbClr val="000000"/>
                </a:solidFill>
                <a:latin typeface="Consolas"/>
              </a:rPr>
              <a:t>  "specifications.pages": {</a:t>
            </a:r>
          </a:p>
          <a:p>
            <a:pPr>
              <a:spcBef>
                <a:spcPts val="0"/>
              </a:spcBef>
              <a:spcAft>
                <a:spcPts val="0"/>
              </a:spcAft>
            </a:pPr>
            <a:r>
              <a:rPr sz="600" b="0" i="0">
                <a:solidFill>
                  <a:srgbClr val="000000"/>
                </a:solidFill>
                <a:latin typeface="Consolas"/>
              </a:rPr>
              <a:t>    $gte: 300</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a:t>
            </a:r>
          </a:p>
        </p:txBody>
      </p:sp>
      <p:sp>
        <p:nvSpPr>
          <p:cNvPr id="15" name="Rectangle 1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WILDCARD INDEXES (CONT.)</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636364"/>
            <a:ext cx="237744" cy="237744"/>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636364"/>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618076"/>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3020412"/>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Wildcard indexes support flexible schemas with varying field names.</a:t>
            </a:r>
          </a:p>
        </p:txBody>
      </p:sp>
      <p:sp>
        <p:nvSpPr>
          <p:cNvPr id="8" name="TextBox 7"/>
          <p:cNvSpPr txBox="1"/>
          <p:nvPr/>
        </p:nvSpPr>
        <p:spPr>
          <a:xfrm>
            <a:off x="457200" y="3590544"/>
            <a:ext cx="11247120" cy="81397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They are not a substitute for intentional indexes on stable, high-volume query patterns.</a:t>
            </a:r>
          </a:p>
        </p:txBody>
      </p:sp>
      <p:sp>
        <p:nvSpPr>
          <p:cNvPr id="9" name="Rectangle 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51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GEOSPATIAL INDEXES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630368"/>
            <a:ext cx="237744" cy="237744"/>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3036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61208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014416"/>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Use a </a:t>
            </a:r>
            <a:r>
              <a:rPr sz="2000" b="0" i="0">
                <a:solidFill>
                  <a:srgbClr val="000000"/>
                </a:solidFill>
                <a:latin typeface="Consolas"/>
              </a:rPr>
              <a:t>2dsphere</a:t>
            </a:r>
            <a:r>
              <a:rPr sz="2000" b="0" i="0">
                <a:solidFill>
                  <a:srgbClr val="000000"/>
                </a:solidFill>
                <a:latin typeface="Nirmala UI"/>
              </a:rPr>
              <a:t> index for Earth-like geographic coordinates.</a:t>
            </a:r>
          </a:p>
        </p:txBody>
      </p:sp>
      <p:sp>
        <p:nvSpPr>
          <p:cNvPr id="8" name="TextBox 7"/>
          <p:cNvSpPr txBox="1"/>
          <p:nvPr/>
        </p:nvSpPr>
        <p:spPr>
          <a:xfrm>
            <a:off x="457200" y="2584548"/>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Store GeoJSON points with longitude first:</a:t>
            </a:r>
          </a:p>
        </p:txBody>
      </p:sp>
      <p:sp>
        <p:nvSpPr>
          <p:cNvPr id="9" name="TextBox 8"/>
          <p:cNvSpPr txBox="1"/>
          <p:nvPr/>
        </p:nvSpPr>
        <p:spPr>
          <a:xfrm>
            <a:off x="457200" y="3154680"/>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Create the index:</a:t>
            </a:r>
          </a:p>
        </p:txBody>
      </p:sp>
      <p:sp>
        <p:nvSpPr>
          <p:cNvPr id="10" name="TextBox 9"/>
          <p:cNvSpPr txBox="1"/>
          <p:nvPr/>
        </p:nvSpPr>
        <p:spPr>
          <a:xfrm>
            <a:off x="457200" y="3724812"/>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Find nearby stores:</a:t>
            </a:r>
          </a:p>
        </p:txBody>
      </p:sp>
      <p:sp>
        <p:nvSpPr>
          <p:cNvPr id="11" name="Rounded Rectangle 10"/>
          <p:cNvSpPr/>
          <p:nvPr/>
        </p:nvSpPr>
        <p:spPr>
          <a:xfrm>
            <a:off x="457200" y="4294944"/>
            <a:ext cx="5550408" cy="1207008"/>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 y="4386384"/>
            <a:ext cx="5294376" cy="1042416"/>
          </a:xfrm>
          <a:prstGeom prst="rect">
            <a:avLst/>
          </a:prstGeom>
          <a:noFill/>
        </p:spPr>
        <p:txBody>
          <a:bodyPr wrap="square" anchor="t" lIns="0" rIns="0" tIns="0" bIns="0">
            <a:spAutoFit/>
          </a:bodyPr>
          <a:lstStyle/>
          <a:p>
            <a:pPr>
              <a:spcBef>
                <a:spcPts val="0"/>
              </a:spcBef>
              <a:spcAft>
                <a:spcPts val="0"/>
              </a:spcAft>
            </a:pPr>
            <a:r>
              <a:rPr sz="600" b="0" i="0">
                <a:solidFill>
                  <a:srgbClr val="000000"/>
                </a:solidFill>
                <a:latin typeface="Consolas"/>
              </a:rPr>
              <a:t>{</a:t>
            </a:r>
          </a:p>
          <a:p>
            <a:pPr>
              <a:spcBef>
                <a:spcPts val="0"/>
              </a:spcBef>
              <a:spcAft>
                <a:spcPts val="0"/>
              </a:spcAft>
            </a:pPr>
            <a:r>
              <a:rPr sz="600" b="0" i="0">
                <a:solidFill>
                  <a:srgbClr val="000000"/>
                </a:solidFill>
                <a:latin typeface="Consolas"/>
              </a:rPr>
              <a:t>  name: "Brampton Store",</a:t>
            </a:r>
          </a:p>
          <a:p>
            <a:pPr>
              <a:spcBef>
                <a:spcPts val="0"/>
              </a:spcBef>
              <a:spcAft>
                <a:spcPts val="0"/>
              </a:spcAft>
            </a:pPr>
            <a:r>
              <a:rPr sz="600" b="0" i="0">
                <a:solidFill>
                  <a:srgbClr val="000000"/>
                </a:solidFill>
                <a:latin typeface="Consolas"/>
              </a:rPr>
              <a:t>  location: {</a:t>
            </a:r>
          </a:p>
          <a:p>
            <a:pPr>
              <a:spcBef>
                <a:spcPts val="0"/>
              </a:spcBef>
              <a:spcAft>
                <a:spcPts val="0"/>
              </a:spcAft>
            </a:pPr>
            <a:r>
              <a:rPr sz="600" b="0" i="0">
                <a:solidFill>
                  <a:srgbClr val="000000"/>
                </a:solidFill>
                <a:latin typeface="Consolas"/>
              </a:rPr>
              <a:t>    type: "Point",</a:t>
            </a:r>
          </a:p>
          <a:p>
            <a:pPr>
              <a:spcBef>
                <a:spcPts val="0"/>
              </a:spcBef>
              <a:spcAft>
                <a:spcPts val="0"/>
              </a:spcAft>
            </a:pPr>
            <a:r>
              <a:rPr sz="600" b="0" i="0">
                <a:solidFill>
                  <a:srgbClr val="000000"/>
                </a:solidFill>
                <a:latin typeface="Consolas"/>
              </a:rPr>
              <a:t>    coordinates: [</a:t>
            </a:r>
          </a:p>
          <a:p>
            <a:pPr>
              <a:spcBef>
                <a:spcPts val="0"/>
              </a:spcBef>
              <a:spcAft>
                <a:spcPts val="0"/>
              </a:spcAft>
            </a:pPr>
            <a:r>
              <a:rPr sz="600" b="0" i="0">
                <a:solidFill>
                  <a:srgbClr val="000000"/>
                </a:solidFill>
                <a:latin typeface="Consolas"/>
              </a:rPr>
              <a:t>      -79.7624,</a:t>
            </a:r>
          </a:p>
          <a:p>
            <a:pPr>
              <a:spcBef>
                <a:spcPts val="0"/>
              </a:spcBef>
              <a:spcAft>
                <a:spcPts val="0"/>
              </a:spcAft>
            </a:pPr>
            <a:r>
              <a:rPr sz="600" b="0" i="0">
                <a:solidFill>
                  <a:srgbClr val="000000"/>
                </a:solidFill>
                <a:latin typeface="Consolas"/>
              </a:rPr>
              <a:t>      43.7315</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a:t>
            </a:r>
          </a:p>
        </p:txBody>
      </p:sp>
      <p:sp>
        <p:nvSpPr>
          <p:cNvPr id="13" name="Rounded Rectangle 12"/>
          <p:cNvSpPr/>
          <p:nvPr/>
        </p:nvSpPr>
        <p:spPr>
          <a:xfrm>
            <a:off x="6153912" y="4294944"/>
            <a:ext cx="5550408" cy="1207008"/>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81928" y="4386384"/>
            <a:ext cx="5294376" cy="1042416"/>
          </a:xfrm>
          <a:prstGeom prst="rect">
            <a:avLst/>
          </a:prstGeom>
          <a:noFill/>
        </p:spPr>
        <p:txBody>
          <a:bodyPr wrap="square" anchor="t" lIns="0" rIns="0" tIns="0" bIns="0">
            <a:spAutoFit/>
          </a:bodyPr>
          <a:lstStyle/>
          <a:p>
            <a:pPr>
              <a:spcBef>
                <a:spcPts val="0"/>
              </a:spcBef>
              <a:spcAft>
                <a:spcPts val="0"/>
              </a:spcAft>
            </a:pPr>
            <a:r>
              <a:rPr sz="600" b="0" i="0">
                <a:solidFill>
                  <a:srgbClr val="000000"/>
                </a:solidFill>
                <a:latin typeface="Consolas"/>
              </a:rPr>
              <a:t>db.stores.createIndex(</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location: "2dsphere"</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name: "geo_stores_location"</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a:t>
            </a:r>
          </a:p>
        </p:txBody>
      </p:sp>
      <p:sp>
        <p:nvSpPr>
          <p:cNvPr id="15" name="Rectangle 1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52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GEOSPATIAL INDEXES (CONT.)</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249602"/>
            <a:ext cx="237744" cy="237744"/>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49602"/>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231314"/>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633650"/>
            <a:ext cx="11247120" cy="81397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Geospatial indexes are designed for geographic proximity and containment queries.</a:t>
            </a:r>
          </a:p>
        </p:txBody>
      </p:sp>
      <p:sp>
        <p:nvSpPr>
          <p:cNvPr id="8" name="Rounded Rectangle 7"/>
          <p:cNvSpPr/>
          <p:nvPr/>
        </p:nvSpPr>
        <p:spPr>
          <a:xfrm>
            <a:off x="457200" y="2539062"/>
            <a:ext cx="11247120" cy="3252216"/>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5216" y="2630502"/>
            <a:ext cx="10991088" cy="3087624"/>
          </a:xfrm>
          <a:prstGeom prst="rect">
            <a:avLst/>
          </a:prstGeom>
          <a:noFill/>
        </p:spPr>
        <p:txBody>
          <a:bodyPr wrap="square" anchor="t" lIns="0" rIns="0" tIns="0" bIns="0">
            <a:spAutoFit/>
          </a:bodyPr>
          <a:lstStyle/>
          <a:p>
            <a:pPr>
              <a:spcBef>
                <a:spcPts val="0"/>
              </a:spcBef>
              <a:spcAft>
                <a:spcPts val="0"/>
              </a:spcAft>
            </a:pPr>
            <a:r>
              <a:rPr sz="1300" b="0" i="0">
                <a:solidFill>
                  <a:srgbClr val="000000"/>
                </a:solidFill>
                <a:latin typeface="Consolas"/>
              </a:rPr>
              <a:t>db.stores.find({</a:t>
            </a:r>
          </a:p>
          <a:p>
            <a:pPr>
              <a:spcBef>
                <a:spcPts val="0"/>
              </a:spcBef>
              <a:spcAft>
                <a:spcPts val="0"/>
              </a:spcAft>
            </a:pPr>
            <a:r>
              <a:rPr sz="1300" b="0" i="0">
                <a:solidFill>
                  <a:srgbClr val="000000"/>
                </a:solidFill>
                <a:latin typeface="Consolas"/>
              </a:rPr>
              <a:t>  location: {</a:t>
            </a:r>
          </a:p>
          <a:p>
            <a:pPr>
              <a:spcBef>
                <a:spcPts val="0"/>
              </a:spcBef>
              <a:spcAft>
                <a:spcPts val="0"/>
              </a:spcAft>
            </a:pPr>
            <a:r>
              <a:rPr sz="1300" b="0" i="0">
                <a:solidFill>
                  <a:srgbClr val="000000"/>
                </a:solidFill>
                <a:latin typeface="Consolas"/>
              </a:rPr>
              <a:t>    $near: {</a:t>
            </a:r>
          </a:p>
          <a:p>
            <a:pPr>
              <a:spcBef>
                <a:spcPts val="0"/>
              </a:spcBef>
              <a:spcAft>
                <a:spcPts val="0"/>
              </a:spcAft>
            </a:pPr>
            <a:r>
              <a:rPr sz="1300" b="0" i="0">
                <a:solidFill>
                  <a:srgbClr val="000000"/>
                </a:solidFill>
                <a:latin typeface="Consolas"/>
              </a:rPr>
              <a:t>      $geometry: {</a:t>
            </a:r>
          </a:p>
          <a:p>
            <a:pPr>
              <a:spcBef>
                <a:spcPts val="0"/>
              </a:spcBef>
              <a:spcAft>
                <a:spcPts val="0"/>
              </a:spcAft>
            </a:pPr>
            <a:r>
              <a:rPr sz="1300" b="0" i="0">
                <a:solidFill>
                  <a:srgbClr val="000000"/>
                </a:solidFill>
                <a:latin typeface="Consolas"/>
              </a:rPr>
              <a:t>        type: "Point",</a:t>
            </a:r>
          </a:p>
          <a:p>
            <a:pPr>
              <a:spcBef>
                <a:spcPts val="0"/>
              </a:spcBef>
              <a:spcAft>
                <a:spcPts val="0"/>
              </a:spcAft>
            </a:pPr>
            <a:r>
              <a:rPr sz="1300" b="0" i="0">
                <a:solidFill>
                  <a:srgbClr val="000000"/>
                </a:solidFill>
                <a:latin typeface="Consolas"/>
              </a:rPr>
              <a:t>        coordinates: [</a:t>
            </a:r>
          </a:p>
          <a:p>
            <a:pPr>
              <a:spcBef>
                <a:spcPts val="0"/>
              </a:spcBef>
              <a:spcAft>
                <a:spcPts val="0"/>
              </a:spcAft>
            </a:pPr>
            <a:r>
              <a:rPr sz="1300" b="0" i="0">
                <a:solidFill>
                  <a:srgbClr val="000000"/>
                </a:solidFill>
                <a:latin typeface="Consolas"/>
              </a:rPr>
              <a:t>          -79.7624,</a:t>
            </a:r>
          </a:p>
          <a:p>
            <a:pPr>
              <a:spcBef>
                <a:spcPts val="0"/>
              </a:spcBef>
              <a:spcAft>
                <a:spcPts val="0"/>
              </a:spcAft>
            </a:pPr>
            <a:r>
              <a:rPr sz="1300" b="0" i="0">
                <a:solidFill>
                  <a:srgbClr val="000000"/>
                </a:solidFill>
                <a:latin typeface="Consolas"/>
              </a:rPr>
              <a:t>          43.7315</a:t>
            </a:r>
          </a:p>
          <a:p>
            <a:pPr>
              <a:spcBef>
                <a:spcPts val="0"/>
              </a:spcBef>
              <a:spcAft>
                <a:spcPts val="0"/>
              </a:spcAft>
            </a:pPr>
            <a:r>
              <a:rPr sz="1300" b="0" i="0">
                <a:solidFill>
                  <a:srgbClr val="000000"/>
                </a:solidFill>
                <a:latin typeface="Consolas"/>
              </a:rPr>
              <a:t>        ]</a:t>
            </a:r>
          </a:p>
          <a:p>
            <a:pPr>
              <a:spcBef>
                <a:spcPts val="0"/>
              </a:spcBef>
              <a:spcAft>
                <a:spcPts val="0"/>
              </a:spcAft>
            </a:pPr>
            <a:r>
              <a:rPr sz="1300" b="0" i="0">
                <a:solidFill>
                  <a:srgbClr val="000000"/>
                </a:solidFill>
                <a:latin typeface="Consolas"/>
              </a:rPr>
              <a:t>      },</a:t>
            </a:r>
          </a:p>
          <a:p>
            <a:pPr>
              <a:spcBef>
                <a:spcPts val="0"/>
              </a:spcBef>
              <a:spcAft>
                <a:spcPts val="0"/>
              </a:spcAft>
            </a:pPr>
            <a:r>
              <a:rPr sz="1300" b="0" i="0">
                <a:solidFill>
                  <a:srgbClr val="000000"/>
                </a:solidFill>
                <a:latin typeface="Consolas"/>
              </a:rPr>
              <a:t>      $maxDistance: 10000</a:t>
            </a:r>
          </a:p>
          <a:p>
            <a:pPr>
              <a:spcBef>
                <a:spcPts val="0"/>
              </a:spcBef>
              <a:spcAft>
                <a:spcPts val="0"/>
              </a:spcAft>
            </a:pPr>
            <a:r>
              <a:rPr sz="1300" b="0" i="0">
                <a:solidFill>
                  <a:srgbClr val="000000"/>
                </a:solidFill>
                <a:latin typeface="Consolas"/>
              </a:rPr>
              <a:t>    }</a:t>
            </a:r>
          </a:p>
          <a:p>
            <a:pPr>
              <a:spcBef>
                <a:spcPts val="0"/>
              </a:spcBef>
              <a:spcAft>
                <a:spcPts val="0"/>
              </a:spcAft>
            </a:pPr>
            <a:r>
              <a:rPr sz="1300" b="0" i="0">
                <a:solidFill>
                  <a:srgbClr val="000000"/>
                </a:solidFill>
                <a:latin typeface="Consolas"/>
              </a:rPr>
              <a:t>  }</a:t>
            </a:r>
          </a:p>
          <a:p>
            <a:pPr>
              <a:spcBef>
                <a:spcPts val="0"/>
              </a:spcBef>
              <a:spcAft>
                <a:spcPts val="0"/>
              </a:spcAft>
            </a:pPr>
            <a:r>
              <a:rPr sz="1300" b="0" i="0">
                <a:solidFill>
                  <a:srgbClr val="000000"/>
                </a:solidFill>
                <a:latin typeface="Consolas"/>
              </a:rPr>
              <a:t>})</a:t>
            </a:r>
          </a:p>
        </p:txBody>
      </p:sp>
      <p:sp>
        <p:nvSpPr>
          <p:cNvPr id="10" name="Rectangle 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53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HASHED INDEXES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548209"/>
            <a:ext cx="237744" cy="237744"/>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48209"/>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529921"/>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932257"/>
            <a:ext cx="11247120" cy="305503"/>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A hashed index stores a hash of a field’s value:</a:t>
            </a:r>
          </a:p>
        </p:txBody>
      </p:sp>
      <p:sp>
        <p:nvSpPr>
          <p:cNvPr id="8" name="TextBox 7"/>
          <p:cNvSpPr txBox="1"/>
          <p:nvPr/>
        </p:nvSpPr>
        <p:spPr>
          <a:xfrm>
            <a:off x="457200" y="2329200"/>
            <a:ext cx="11247120" cy="305503"/>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Hashed indexes are primarily associated with hashed sharding and distributing values across shards.</a:t>
            </a:r>
          </a:p>
        </p:txBody>
      </p:sp>
      <p:sp>
        <p:nvSpPr>
          <p:cNvPr id="9" name="TextBox 8"/>
          <p:cNvSpPr txBox="1"/>
          <p:nvPr/>
        </p:nvSpPr>
        <p:spPr>
          <a:xfrm>
            <a:off x="457200" y="2726143"/>
            <a:ext cx="11247120" cy="305503"/>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They support equality-oriented access but are not appropriate for:</a:t>
            </a:r>
          </a:p>
        </p:txBody>
      </p:sp>
      <p:sp>
        <p:nvSpPr>
          <p:cNvPr id="10" name="TextBox 9"/>
          <p:cNvSpPr txBox="1"/>
          <p:nvPr/>
        </p:nvSpPr>
        <p:spPr>
          <a:xfrm>
            <a:off x="457200" y="3123086"/>
            <a:ext cx="11247120" cy="825069"/>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  </a:t>
            </a:r>
            <a:r>
              <a:rPr sz="1200" b="0" i="0">
                <a:solidFill>
                  <a:srgbClr val="000000"/>
                </a:solidFill>
                <a:latin typeface="Nirmala UI"/>
              </a:rPr>
              <a:t>Range queries</a:t>
            </a:r>
          </a:p>
          <a:p>
            <a:pPr>
              <a:spcBef>
                <a:spcPts val="0"/>
              </a:spcBef>
              <a:spcAft>
                <a:spcPts val="461"/>
              </a:spcAft>
            </a:pPr>
            <a:r>
              <a:rPr sz="1200" b="0" i="0">
                <a:solidFill>
                  <a:srgbClr val="000000"/>
                </a:solidFill>
                <a:latin typeface="Nirmala UI"/>
              </a:rPr>
              <a:t>•  </a:t>
            </a:r>
            <a:r>
              <a:rPr sz="1200" b="0" i="0">
                <a:solidFill>
                  <a:srgbClr val="000000"/>
                </a:solidFill>
                <a:latin typeface="Nirmala UI"/>
              </a:rPr>
              <a:t>Sorting by the original field value</a:t>
            </a:r>
          </a:p>
          <a:p>
            <a:pPr>
              <a:spcBef>
                <a:spcPts val="0"/>
              </a:spcBef>
              <a:spcAft>
                <a:spcPts val="461"/>
              </a:spcAft>
            </a:pPr>
            <a:r>
              <a:rPr sz="1200" b="0" i="0">
                <a:solidFill>
                  <a:srgbClr val="000000"/>
                </a:solidFill>
                <a:latin typeface="Nirmala UI"/>
              </a:rPr>
              <a:t>•  </a:t>
            </a:r>
            <a:r>
              <a:rPr sz="1200" b="0" i="0">
                <a:solidFill>
                  <a:srgbClr val="000000"/>
                </a:solidFill>
                <a:latin typeface="Nirmala UI"/>
              </a:rPr>
              <a:t>Prefix-based searches</a:t>
            </a:r>
          </a:p>
        </p:txBody>
      </p:sp>
      <p:sp>
        <p:nvSpPr>
          <p:cNvPr id="11" name="TextBox 10"/>
          <p:cNvSpPr txBox="1"/>
          <p:nvPr/>
        </p:nvSpPr>
        <p:spPr>
          <a:xfrm>
            <a:off x="457200" y="4039595"/>
            <a:ext cx="11247120" cy="305503"/>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MongoDB describes hashed indexes as indexing the hash of a field value and using them to support hashed sharding.</a:t>
            </a:r>
          </a:p>
        </p:txBody>
      </p:sp>
      <p:sp>
        <p:nvSpPr>
          <p:cNvPr id="12" name="Rounded Rectangle 11"/>
          <p:cNvSpPr/>
          <p:nvPr/>
        </p:nvSpPr>
        <p:spPr>
          <a:xfrm>
            <a:off x="457200" y="4436538"/>
            <a:ext cx="11247120" cy="1056132"/>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5216" y="4527978"/>
            <a:ext cx="10991088" cy="891540"/>
          </a:xfrm>
          <a:prstGeom prst="rect">
            <a:avLst/>
          </a:prstGeom>
          <a:noFill/>
        </p:spPr>
        <p:txBody>
          <a:bodyPr wrap="square" anchor="t" lIns="0" rIns="0" tIns="0" bIns="0">
            <a:spAutoFit/>
          </a:bodyPr>
          <a:lstStyle/>
          <a:p>
            <a:pPr>
              <a:spcBef>
                <a:spcPts val="0"/>
              </a:spcBef>
              <a:spcAft>
                <a:spcPts val="0"/>
              </a:spcAft>
            </a:pPr>
            <a:r>
              <a:rPr sz="1700" b="0" i="0">
                <a:solidFill>
                  <a:srgbClr val="000000"/>
                </a:solidFill>
                <a:latin typeface="Consolas"/>
              </a:rPr>
              <a:t>db.customers.createIndex({</a:t>
            </a:r>
          </a:p>
          <a:p>
            <a:pPr>
              <a:spcBef>
                <a:spcPts val="0"/>
              </a:spcBef>
              <a:spcAft>
                <a:spcPts val="0"/>
              </a:spcAft>
            </a:pPr>
            <a:r>
              <a:rPr sz="1700" b="0" i="0">
                <a:solidFill>
                  <a:srgbClr val="000000"/>
                </a:solidFill>
                <a:latin typeface="Consolas"/>
              </a:rPr>
              <a:t>  customerNumber: "hashed"</a:t>
            </a:r>
          </a:p>
          <a:p>
            <a:pPr>
              <a:spcBef>
                <a:spcPts val="0"/>
              </a:spcBef>
              <a:spcAft>
                <a:spcPts val="0"/>
              </a:spcAft>
            </a:pPr>
            <a:r>
              <a:rPr sz="1700" b="0" i="0">
                <a:solidFill>
                  <a:srgbClr val="000000"/>
                </a:solidFill>
                <a:latin typeface="Consolas"/>
              </a:rPr>
              <a:t>})</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54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COVERED QUERIES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477459"/>
            <a:ext cx="237744" cy="237744"/>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77459"/>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459171"/>
            <a:ext cx="351129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861507"/>
            <a:ext cx="3840480" cy="1340651"/>
          </a:xfrm>
          <a:prstGeom prst="rect">
            <a:avLst/>
          </a:prstGeom>
          <a:noFill/>
        </p:spPr>
        <p:txBody>
          <a:bodyPr wrap="square" anchor="t" lIns="0" rIns="0" tIns="0" bIns="0">
            <a:spAutoFit/>
          </a:bodyPr>
          <a:lstStyle/>
          <a:p>
            <a:pPr>
              <a:spcBef>
                <a:spcPts val="0"/>
              </a:spcBef>
              <a:spcAft>
                <a:spcPts val="692"/>
              </a:spcAft>
            </a:pPr>
            <a:r>
              <a:rPr sz="1800" b="0" i="0">
                <a:solidFill>
                  <a:srgbClr val="000000"/>
                </a:solidFill>
                <a:latin typeface="Nirmala UI"/>
              </a:rPr>
              <a:t>A covered query can be answered entirely from the index without retrieving the full collection documents.</a:t>
            </a:r>
          </a:p>
        </p:txBody>
      </p:sp>
      <p:sp>
        <p:nvSpPr>
          <p:cNvPr id="8" name="TextBox 7"/>
          <p:cNvSpPr txBox="1"/>
          <p:nvPr/>
        </p:nvSpPr>
        <p:spPr>
          <a:xfrm>
            <a:off x="457200" y="3293598"/>
            <a:ext cx="3840480" cy="435395"/>
          </a:xfrm>
          <a:prstGeom prst="rect">
            <a:avLst/>
          </a:prstGeom>
          <a:noFill/>
        </p:spPr>
        <p:txBody>
          <a:bodyPr wrap="square" anchor="t" lIns="0" rIns="0" tIns="0" bIns="0">
            <a:spAutoFit/>
          </a:bodyPr>
          <a:lstStyle/>
          <a:p>
            <a:pPr>
              <a:spcBef>
                <a:spcPts val="0"/>
              </a:spcBef>
              <a:spcAft>
                <a:spcPts val="692"/>
              </a:spcAft>
            </a:pPr>
            <a:r>
              <a:rPr sz="1800" b="0" i="0">
                <a:solidFill>
                  <a:srgbClr val="000000"/>
                </a:solidFill>
                <a:latin typeface="Nirmala UI"/>
              </a:rPr>
              <a:t>Create:</a:t>
            </a:r>
          </a:p>
        </p:txBody>
      </p:sp>
      <p:sp>
        <p:nvSpPr>
          <p:cNvPr id="9" name="TextBox 8"/>
          <p:cNvSpPr txBox="1"/>
          <p:nvPr/>
        </p:nvSpPr>
        <p:spPr>
          <a:xfrm>
            <a:off x="457200" y="3820433"/>
            <a:ext cx="3840480" cy="435395"/>
          </a:xfrm>
          <a:prstGeom prst="rect">
            <a:avLst/>
          </a:prstGeom>
          <a:noFill/>
        </p:spPr>
        <p:txBody>
          <a:bodyPr wrap="square" anchor="t" lIns="0" rIns="0" tIns="0" bIns="0">
            <a:spAutoFit/>
          </a:bodyPr>
          <a:lstStyle/>
          <a:p>
            <a:pPr>
              <a:spcBef>
                <a:spcPts val="0"/>
              </a:spcBef>
              <a:spcAft>
                <a:spcPts val="692"/>
              </a:spcAft>
            </a:pPr>
            <a:r>
              <a:rPr sz="1800" b="0" i="0">
                <a:solidFill>
                  <a:srgbClr val="000000"/>
                </a:solidFill>
                <a:latin typeface="Nirmala UI"/>
              </a:rPr>
              <a:t>Query only indexed fields:</a:t>
            </a:r>
          </a:p>
        </p:txBody>
      </p:sp>
      <p:sp>
        <p:nvSpPr>
          <p:cNvPr id="10" name="Rounded Rectangle 9"/>
          <p:cNvSpPr/>
          <p:nvPr/>
        </p:nvSpPr>
        <p:spPr>
          <a:xfrm>
            <a:off x="457200" y="4347268"/>
            <a:ext cx="1847088" cy="1307592"/>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 y="4438708"/>
            <a:ext cx="1591056" cy="1143000"/>
          </a:xfrm>
          <a:prstGeom prst="rect">
            <a:avLst/>
          </a:prstGeom>
          <a:noFill/>
        </p:spPr>
        <p:txBody>
          <a:bodyPr wrap="square" anchor="t" lIns="0" rIns="0" tIns="0" bIns="0">
            <a:spAutoFit/>
          </a:bodyPr>
          <a:lstStyle/>
          <a:p>
            <a:pPr>
              <a:spcBef>
                <a:spcPts val="0"/>
              </a:spcBef>
              <a:spcAft>
                <a:spcPts val="0"/>
              </a:spcAft>
            </a:pPr>
            <a:r>
              <a:rPr sz="600" b="0" i="0">
                <a:solidFill>
                  <a:srgbClr val="000000"/>
                </a:solidFill>
                <a:latin typeface="Consolas"/>
              </a:rPr>
              <a:t>db.products.createIndex({</a:t>
            </a:r>
          </a:p>
          <a:p>
            <a:pPr>
              <a:spcBef>
                <a:spcPts val="0"/>
              </a:spcBef>
              <a:spcAft>
                <a:spcPts val="0"/>
              </a:spcAft>
            </a:pPr>
            <a:r>
              <a:rPr sz="600" b="0" i="0">
                <a:solidFill>
                  <a:srgbClr val="000000"/>
                </a:solidFill>
                <a:latin typeface="Consolas"/>
              </a:rPr>
              <a:t>  category: 1,</a:t>
            </a:r>
          </a:p>
          <a:p>
            <a:pPr>
              <a:spcBef>
                <a:spcPts val="0"/>
              </a:spcBef>
              <a:spcAft>
                <a:spcPts val="0"/>
              </a:spcAft>
            </a:pPr>
            <a:r>
              <a:rPr sz="600" b="0" i="0">
                <a:solidFill>
                  <a:srgbClr val="000000"/>
                </a:solidFill>
                <a:latin typeface="Consolas"/>
              </a:rPr>
              <a:t>  name: 1,</a:t>
            </a:r>
          </a:p>
          <a:p>
            <a:pPr>
              <a:spcBef>
                <a:spcPts val="0"/>
              </a:spcBef>
              <a:spcAft>
                <a:spcPts val="0"/>
              </a:spcAft>
            </a:pPr>
            <a:r>
              <a:rPr sz="600" b="0" i="0">
                <a:solidFill>
                  <a:srgbClr val="000000"/>
                </a:solidFill>
                <a:latin typeface="Consolas"/>
              </a:rPr>
              <a:t>  price: 1</a:t>
            </a:r>
          </a:p>
          <a:p>
            <a:pPr>
              <a:spcBef>
                <a:spcPts val="0"/>
              </a:spcBef>
              <a:spcAft>
                <a:spcPts val="0"/>
              </a:spcAft>
            </a:pPr>
            <a:r>
              <a:rPr sz="600" b="0" i="0">
                <a:solidFill>
                  <a:srgbClr val="000000"/>
                </a:solidFill>
                <a:latin typeface="Consolas"/>
              </a:rPr>
              <a:t>})</a:t>
            </a:r>
          </a:p>
        </p:txBody>
      </p:sp>
      <p:sp>
        <p:nvSpPr>
          <p:cNvPr id="12" name="Rounded Rectangle 11"/>
          <p:cNvSpPr/>
          <p:nvPr/>
        </p:nvSpPr>
        <p:spPr>
          <a:xfrm>
            <a:off x="2450592" y="4347268"/>
            <a:ext cx="1847088" cy="1307592"/>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78608" y="4438708"/>
            <a:ext cx="1591056" cy="1143000"/>
          </a:xfrm>
          <a:prstGeom prst="rect">
            <a:avLst/>
          </a:prstGeom>
          <a:noFill/>
        </p:spPr>
        <p:txBody>
          <a:bodyPr wrap="square" anchor="t" lIns="0" rIns="0" tIns="0" bIns="0">
            <a:spAutoFit/>
          </a:bodyPr>
          <a:lstStyle/>
          <a:p>
            <a:pPr>
              <a:spcBef>
                <a:spcPts val="0"/>
              </a:spcBef>
              <a:spcAft>
                <a:spcPts val="0"/>
              </a:spcAft>
            </a:pPr>
            <a:r>
              <a:rPr sz="600" b="0" i="0">
                <a:solidFill>
                  <a:srgbClr val="000000"/>
                </a:solidFill>
                <a:latin typeface="Consolas"/>
              </a:rPr>
              <a:t>db.products.find(</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category: "Electronics"</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_id: 0,</a:t>
            </a:r>
          </a:p>
          <a:p>
            <a:pPr>
              <a:spcBef>
                <a:spcPts val="0"/>
              </a:spcBef>
              <a:spcAft>
                <a:spcPts val="0"/>
              </a:spcAft>
            </a:pPr>
            <a:r>
              <a:rPr sz="600" b="0" i="0">
                <a:solidFill>
                  <a:srgbClr val="000000"/>
                </a:solidFill>
                <a:latin typeface="Consolas"/>
              </a:rPr>
              <a:t>    category: 1,</a:t>
            </a:r>
          </a:p>
          <a:p>
            <a:pPr>
              <a:spcBef>
                <a:spcPts val="0"/>
              </a:spcBef>
              <a:spcAft>
                <a:spcPts val="0"/>
              </a:spcAft>
            </a:pPr>
            <a:r>
              <a:rPr sz="600" b="0" i="0">
                <a:solidFill>
                  <a:srgbClr val="000000"/>
                </a:solidFill>
                <a:latin typeface="Consolas"/>
              </a:rPr>
              <a:t>    name: 1,</a:t>
            </a:r>
          </a:p>
          <a:p>
            <a:pPr>
              <a:spcBef>
                <a:spcPts val="0"/>
              </a:spcBef>
              <a:spcAft>
                <a:spcPts val="0"/>
              </a:spcAft>
            </a:pPr>
            <a:r>
              <a:rPr sz="600" b="0" i="0">
                <a:solidFill>
                  <a:srgbClr val="000000"/>
                </a:solidFill>
                <a:latin typeface="Consolas"/>
              </a:rPr>
              <a:t>    price: 1</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a:t>
            </a:r>
          </a:p>
        </p:txBody>
      </p:sp>
      <p:sp>
        <p:nvSpPr>
          <p:cNvPr id="14" name="Rectangle 13"/>
          <p:cNvSpPr/>
          <p:nvPr/>
        </p:nvSpPr>
        <p:spPr>
          <a:xfrm>
            <a:off x="4471035" y="1924223"/>
            <a:ext cx="7242810" cy="3265585"/>
          </a:xfrm>
          <a:prstGeom prst="rect">
            <a:avLst/>
          </a:prstGeom>
          <a:solidFill>
            <a:srgbClr val="FFFFFF"/>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2"/>
          <a:stretch>
            <a:fillRect/>
          </a:stretch>
        </p:blipFill>
        <p:spPr>
          <a:xfrm>
            <a:off x="4480560" y="1933748"/>
            <a:ext cx="7223760" cy="3246535"/>
          </a:xfrm>
          <a:prstGeom prst="rect">
            <a:avLst/>
          </a:prstGeom>
        </p:spPr>
      </p:pic>
      <p:sp>
        <p:nvSpPr>
          <p:cNvPr id="16" name="Rectangle 1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55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COVERED QUERIES (CONT.)</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468724"/>
            <a:ext cx="237744" cy="237744"/>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68724"/>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450436"/>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852772"/>
            <a:ext cx="11247120" cy="81397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Because the filter and returned fields are contained in the index, MongoDB may avoid the document-fetch stage.</a:t>
            </a:r>
          </a:p>
        </p:txBody>
      </p:sp>
      <p:sp>
        <p:nvSpPr>
          <p:cNvPr id="8" name="TextBox 7"/>
          <p:cNvSpPr txBox="1"/>
          <p:nvPr/>
        </p:nvSpPr>
        <p:spPr>
          <a:xfrm>
            <a:off x="457200" y="3758184"/>
            <a:ext cx="11247120" cy="81397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If </a:t>
            </a:r>
            <a:r>
              <a:rPr sz="2000" b="0" i="0">
                <a:solidFill>
                  <a:srgbClr val="000000"/>
                </a:solidFill>
                <a:latin typeface="Consolas"/>
              </a:rPr>
              <a:t>_id</a:t>
            </a:r>
            <a:r>
              <a:rPr sz="2000" b="0" i="0">
                <a:solidFill>
                  <a:srgbClr val="000000"/>
                </a:solidFill>
                <a:latin typeface="Nirmala UI"/>
              </a:rPr>
              <a:t> is not part of the index, exclude it from the projection when attempting to create a covered query.</a:t>
            </a:r>
          </a:p>
        </p:txBody>
      </p:sp>
      <p:sp>
        <p:nvSpPr>
          <p:cNvPr id="9" name="Rectangle 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56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INDEX SELECTIVITY</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750432"/>
            <a:ext cx="237744" cy="237744"/>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750432"/>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732144"/>
            <a:ext cx="351129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134480"/>
            <a:ext cx="3840480" cy="506671"/>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A selective condition matches a relatively small portion of a collection.</a:t>
            </a:r>
          </a:p>
        </p:txBody>
      </p:sp>
      <p:sp>
        <p:nvSpPr>
          <p:cNvPr id="8" name="TextBox 7"/>
          <p:cNvSpPr txBox="1"/>
          <p:nvPr/>
        </p:nvSpPr>
        <p:spPr>
          <a:xfrm>
            <a:off x="457200" y="2732591"/>
            <a:ext cx="3840480" cy="305503"/>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Highly selective:</a:t>
            </a:r>
          </a:p>
        </p:txBody>
      </p:sp>
      <p:sp>
        <p:nvSpPr>
          <p:cNvPr id="9" name="TextBox 8"/>
          <p:cNvSpPr txBox="1"/>
          <p:nvPr/>
        </p:nvSpPr>
        <p:spPr>
          <a:xfrm>
            <a:off x="457200" y="3129534"/>
            <a:ext cx="3840480" cy="305503"/>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Potentially low selectivity:</a:t>
            </a:r>
          </a:p>
        </p:txBody>
      </p:sp>
      <p:sp>
        <p:nvSpPr>
          <p:cNvPr id="10" name="TextBox 9"/>
          <p:cNvSpPr txBox="1"/>
          <p:nvPr/>
        </p:nvSpPr>
        <p:spPr>
          <a:xfrm>
            <a:off x="457200" y="3526477"/>
            <a:ext cx="3840480" cy="707839"/>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If nearly every product is active, an index on </a:t>
            </a:r>
            <a:r>
              <a:rPr sz="1200" b="0" i="0">
                <a:solidFill>
                  <a:srgbClr val="000000"/>
                </a:solidFill>
                <a:latin typeface="Consolas"/>
              </a:rPr>
              <a:t>active</a:t>
            </a:r>
            <a:r>
              <a:rPr sz="1200" b="0" i="0">
                <a:solidFill>
                  <a:srgbClr val="000000"/>
                </a:solidFill>
                <a:latin typeface="Nirmala UI"/>
              </a:rPr>
              <a:t> alone may provide little value.</a:t>
            </a:r>
          </a:p>
        </p:txBody>
      </p:sp>
      <p:sp>
        <p:nvSpPr>
          <p:cNvPr id="11" name="Rounded Rectangle 10"/>
          <p:cNvSpPr/>
          <p:nvPr/>
        </p:nvSpPr>
        <p:spPr>
          <a:xfrm>
            <a:off x="457200" y="4325756"/>
            <a:ext cx="1847088" cy="804672"/>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 y="4417196"/>
            <a:ext cx="1591056" cy="640080"/>
          </a:xfrm>
          <a:prstGeom prst="rect">
            <a:avLst/>
          </a:prstGeom>
          <a:noFill/>
        </p:spPr>
        <p:txBody>
          <a:bodyPr wrap="square" anchor="t" lIns="0" rIns="0" tIns="0" bIns="0">
            <a:spAutoFit/>
          </a:bodyPr>
          <a:lstStyle/>
          <a:p>
            <a:pPr>
              <a:spcBef>
                <a:spcPts val="0"/>
              </a:spcBef>
              <a:spcAft>
                <a:spcPts val="0"/>
              </a:spcAft>
            </a:pPr>
            <a:r>
              <a:rPr sz="1200" b="0" i="0">
                <a:solidFill>
                  <a:srgbClr val="000000"/>
                </a:solidFill>
                <a:latin typeface="Consolas"/>
              </a:rPr>
              <a:t>{</a:t>
            </a:r>
          </a:p>
          <a:p>
            <a:pPr>
              <a:spcBef>
                <a:spcPts val="0"/>
              </a:spcBef>
              <a:spcAft>
                <a:spcPts val="0"/>
              </a:spcAft>
            </a:pPr>
            <a:r>
              <a:rPr sz="1200" b="0" i="0">
                <a:solidFill>
                  <a:srgbClr val="000000"/>
                </a:solidFill>
                <a:latin typeface="Consolas"/>
              </a:rPr>
              <a:t>  sku: "ELEC-1001"</a:t>
            </a:r>
          </a:p>
          <a:p>
            <a:pPr>
              <a:spcBef>
                <a:spcPts val="0"/>
              </a:spcBef>
              <a:spcAft>
                <a:spcPts val="0"/>
              </a:spcAft>
            </a:pPr>
            <a:r>
              <a:rPr sz="1200" b="0" i="0">
                <a:solidFill>
                  <a:srgbClr val="000000"/>
                </a:solidFill>
                <a:latin typeface="Consolas"/>
              </a:rPr>
              <a:t>}</a:t>
            </a:r>
          </a:p>
        </p:txBody>
      </p:sp>
      <p:sp>
        <p:nvSpPr>
          <p:cNvPr id="13" name="Rounded Rectangle 12"/>
          <p:cNvSpPr/>
          <p:nvPr/>
        </p:nvSpPr>
        <p:spPr>
          <a:xfrm>
            <a:off x="2450592" y="4325756"/>
            <a:ext cx="1847088" cy="804672"/>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78608" y="4417196"/>
            <a:ext cx="1591056" cy="640080"/>
          </a:xfrm>
          <a:prstGeom prst="rect">
            <a:avLst/>
          </a:prstGeom>
          <a:noFill/>
        </p:spPr>
        <p:txBody>
          <a:bodyPr wrap="square" anchor="t" lIns="0" rIns="0" tIns="0" bIns="0">
            <a:spAutoFit/>
          </a:bodyPr>
          <a:lstStyle/>
          <a:p>
            <a:pPr>
              <a:spcBef>
                <a:spcPts val="0"/>
              </a:spcBef>
              <a:spcAft>
                <a:spcPts val="0"/>
              </a:spcAft>
            </a:pPr>
            <a:r>
              <a:rPr sz="1200" b="0" i="0">
                <a:solidFill>
                  <a:srgbClr val="000000"/>
                </a:solidFill>
                <a:latin typeface="Consolas"/>
              </a:rPr>
              <a:t>{</a:t>
            </a:r>
          </a:p>
          <a:p>
            <a:pPr>
              <a:spcBef>
                <a:spcPts val="0"/>
              </a:spcBef>
              <a:spcAft>
                <a:spcPts val="0"/>
              </a:spcAft>
            </a:pPr>
            <a:r>
              <a:rPr sz="1200" b="0" i="0">
                <a:solidFill>
                  <a:srgbClr val="000000"/>
                </a:solidFill>
                <a:latin typeface="Consolas"/>
              </a:rPr>
              <a:t>  active: true</a:t>
            </a:r>
          </a:p>
          <a:p>
            <a:pPr>
              <a:spcBef>
                <a:spcPts val="0"/>
              </a:spcBef>
              <a:spcAft>
                <a:spcPts val="0"/>
              </a:spcAft>
            </a:pPr>
            <a:r>
              <a:rPr sz="1200" b="0" i="0">
                <a:solidFill>
                  <a:srgbClr val="000000"/>
                </a:solidFill>
                <a:latin typeface="Consolas"/>
              </a:rPr>
              <a:t>}</a:t>
            </a:r>
          </a:p>
        </p:txBody>
      </p:sp>
      <p:sp>
        <p:nvSpPr>
          <p:cNvPr id="15" name="Rectangle 14"/>
          <p:cNvSpPr/>
          <p:nvPr/>
        </p:nvSpPr>
        <p:spPr>
          <a:xfrm>
            <a:off x="4471035" y="1767018"/>
            <a:ext cx="7242810" cy="3579996"/>
          </a:xfrm>
          <a:prstGeom prst="rect">
            <a:avLst/>
          </a:prstGeom>
          <a:solidFill>
            <a:srgbClr val="FFFFFF"/>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2"/>
          <a:stretch>
            <a:fillRect/>
          </a:stretch>
        </p:blipFill>
        <p:spPr>
          <a:xfrm>
            <a:off x="4480560" y="1776543"/>
            <a:ext cx="7223760" cy="3560946"/>
          </a:xfrm>
          <a:prstGeom prst="rect">
            <a:avLst/>
          </a:prstGeom>
        </p:spPr>
      </p:pic>
      <p:sp>
        <p:nvSpPr>
          <p:cNvPr id="17" name="Rectangle 1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57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INDEX SELECTIVITY (CONT.)</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248842"/>
            <a:ext cx="237744" cy="237744"/>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48842"/>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230554"/>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632890"/>
            <a:ext cx="11247120" cy="348800"/>
          </a:xfrm>
          <a:prstGeom prst="rect">
            <a:avLst/>
          </a:prstGeom>
          <a:noFill/>
        </p:spPr>
        <p:txBody>
          <a:bodyPr wrap="square" anchor="t" lIns="0" rIns="0" tIns="0" bIns="0">
            <a:spAutoFit/>
          </a:bodyPr>
          <a:lstStyle/>
          <a:p>
            <a:pPr>
              <a:spcBef>
                <a:spcPts val="0"/>
              </a:spcBef>
              <a:spcAft>
                <a:spcPts val="538"/>
              </a:spcAft>
            </a:pPr>
            <a:r>
              <a:rPr sz="1400" b="0" i="0">
                <a:solidFill>
                  <a:srgbClr val="000000"/>
                </a:solidFill>
                <a:latin typeface="Nirmala UI"/>
              </a:rPr>
              <a:t>Instead, combine it with other fields used by the query:</a:t>
            </a:r>
          </a:p>
        </p:txBody>
      </p:sp>
      <p:sp>
        <p:nvSpPr>
          <p:cNvPr id="8" name="TextBox 7"/>
          <p:cNvSpPr txBox="1"/>
          <p:nvPr/>
        </p:nvSpPr>
        <p:spPr>
          <a:xfrm>
            <a:off x="457200" y="2073130"/>
            <a:ext cx="11247120" cy="348800"/>
          </a:xfrm>
          <a:prstGeom prst="rect">
            <a:avLst/>
          </a:prstGeom>
          <a:noFill/>
        </p:spPr>
        <p:txBody>
          <a:bodyPr wrap="square" anchor="t" lIns="0" rIns="0" tIns="0" bIns="0">
            <a:spAutoFit/>
          </a:bodyPr>
          <a:lstStyle/>
          <a:p>
            <a:pPr>
              <a:spcBef>
                <a:spcPts val="0"/>
              </a:spcBef>
              <a:spcAft>
                <a:spcPts val="538"/>
              </a:spcAft>
            </a:pPr>
            <a:r>
              <a:rPr sz="1400" b="0" i="0">
                <a:solidFill>
                  <a:srgbClr val="000000"/>
                </a:solidFill>
                <a:latin typeface="Nirmala UI"/>
              </a:rPr>
              <a:t>Whether this is the best field order depends on:</a:t>
            </a:r>
          </a:p>
        </p:txBody>
      </p:sp>
      <p:sp>
        <p:nvSpPr>
          <p:cNvPr id="9" name="TextBox 8"/>
          <p:cNvSpPr txBox="1"/>
          <p:nvPr/>
        </p:nvSpPr>
        <p:spPr>
          <a:xfrm>
            <a:off x="457200" y="2513370"/>
            <a:ext cx="11247120" cy="1561120"/>
          </a:xfrm>
          <a:prstGeom prst="rect">
            <a:avLst/>
          </a:prstGeom>
          <a:noFill/>
        </p:spPr>
        <p:txBody>
          <a:bodyPr wrap="square" anchor="t" lIns="0" rIns="0" tIns="0" bIns="0">
            <a:spAutoFit/>
          </a:bodyPr>
          <a:lstStyle/>
          <a:p>
            <a:pPr>
              <a:spcBef>
                <a:spcPts val="0"/>
              </a:spcBef>
              <a:spcAft>
                <a:spcPts val="538"/>
              </a:spcAft>
            </a:pPr>
            <a:r>
              <a:rPr sz="1400" b="0" i="0">
                <a:solidFill>
                  <a:srgbClr val="000000"/>
                </a:solidFill>
                <a:latin typeface="Nirmala UI"/>
              </a:rPr>
              <a:t>•  </a:t>
            </a:r>
            <a:r>
              <a:rPr sz="1400" b="0" i="0">
                <a:solidFill>
                  <a:srgbClr val="000000"/>
                </a:solidFill>
                <a:latin typeface="Nirmala UI"/>
              </a:rPr>
              <a:t>Query frequencies</a:t>
            </a:r>
          </a:p>
          <a:p>
            <a:pPr>
              <a:spcBef>
                <a:spcPts val="0"/>
              </a:spcBef>
              <a:spcAft>
                <a:spcPts val="538"/>
              </a:spcAft>
            </a:pPr>
            <a:r>
              <a:rPr sz="1400" b="0" i="0">
                <a:solidFill>
                  <a:srgbClr val="000000"/>
                </a:solidFill>
                <a:latin typeface="Nirmala UI"/>
              </a:rPr>
              <a:t>•  </a:t>
            </a:r>
            <a:r>
              <a:rPr sz="1400" b="0" i="0">
                <a:solidFill>
                  <a:srgbClr val="000000"/>
                </a:solidFill>
                <a:latin typeface="Nirmala UI"/>
              </a:rPr>
              <a:t>Data distribution</a:t>
            </a:r>
          </a:p>
          <a:p>
            <a:pPr>
              <a:spcBef>
                <a:spcPts val="0"/>
              </a:spcBef>
              <a:spcAft>
                <a:spcPts val="538"/>
              </a:spcAft>
            </a:pPr>
            <a:r>
              <a:rPr sz="1400" b="0" i="0">
                <a:solidFill>
                  <a:srgbClr val="000000"/>
                </a:solidFill>
                <a:latin typeface="Nirmala UI"/>
              </a:rPr>
              <a:t>•  </a:t>
            </a:r>
            <a:r>
              <a:rPr sz="1400" b="0" i="0">
                <a:solidFill>
                  <a:srgbClr val="000000"/>
                </a:solidFill>
                <a:latin typeface="Nirmala UI"/>
              </a:rPr>
              <a:t>Sorting requirements</a:t>
            </a:r>
          </a:p>
          <a:p>
            <a:pPr>
              <a:spcBef>
                <a:spcPts val="0"/>
              </a:spcBef>
              <a:spcAft>
                <a:spcPts val="538"/>
              </a:spcAft>
            </a:pPr>
            <a:r>
              <a:rPr sz="1400" b="0" i="0">
                <a:solidFill>
                  <a:srgbClr val="000000"/>
                </a:solidFill>
                <a:latin typeface="Nirmala UI"/>
              </a:rPr>
              <a:t>•  </a:t>
            </a:r>
            <a:r>
              <a:rPr sz="1400" b="0" i="0">
                <a:solidFill>
                  <a:srgbClr val="000000"/>
                </a:solidFill>
                <a:latin typeface="Nirmala UI"/>
              </a:rPr>
              <a:t>Range conditions</a:t>
            </a:r>
          </a:p>
          <a:p>
            <a:pPr>
              <a:spcBef>
                <a:spcPts val="0"/>
              </a:spcBef>
              <a:spcAft>
                <a:spcPts val="538"/>
              </a:spcAft>
            </a:pPr>
            <a:r>
              <a:rPr sz="1400" b="0" i="0">
                <a:solidFill>
                  <a:srgbClr val="000000"/>
                </a:solidFill>
                <a:latin typeface="Nirmala UI"/>
              </a:rPr>
              <a:t>•  </a:t>
            </a:r>
            <a:r>
              <a:rPr sz="1400" b="0" i="0">
                <a:solidFill>
                  <a:srgbClr val="000000"/>
                </a:solidFill>
                <a:latin typeface="Nirmala UI"/>
              </a:rPr>
              <a:t>Explain-plan results</a:t>
            </a:r>
          </a:p>
        </p:txBody>
      </p:sp>
      <p:sp>
        <p:nvSpPr>
          <p:cNvPr id="10" name="Rounded Rectangle 9"/>
          <p:cNvSpPr/>
          <p:nvPr/>
        </p:nvSpPr>
        <p:spPr>
          <a:xfrm>
            <a:off x="457200" y="4165930"/>
            <a:ext cx="11247120" cy="1626108"/>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 y="4257370"/>
            <a:ext cx="10991088" cy="1461516"/>
          </a:xfrm>
          <a:prstGeom prst="rect">
            <a:avLst/>
          </a:prstGeom>
          <a:noFill/>
        </p:spPr>
        <p:txBody>
          <a:bodyPr wrap="square" anchor="t" lIns="0" rIns="0" tIns="0" bIns="0">
            <a:spAutoFit/>
          </a:bodyPr>
          <a:lstStyle/>
          <a:p>
            <a:pPr>
              <a:spcBef>
                <a:spcPts val="0"/>
              </a:spcBef>
              <a:spcAft>
                <a:spcPts val="0"/>
              </a:spcAft>
            </a:pPr>
            <a:r>
              <a:rPr sz="1700" b="0" i="0">
                <a:solidFill>
                  <a:srgbClr val="000000"/>
                </a:solidFill>
                <a:latin typeface="Consolas"/>
              </a:rPr>
              <a:t>db.products.createIndex({</a:t>
            </a:r>
          </a:p>
          <a:p>
            <a:pPr>
              <a:spcBef>
                <a:spcPts val="0"/>
              </a:spcBef>
              <a:spcAft>
                <a:spcPts val="0"/>
              </a:spcAft>
            </a:pPr>
            <a:r>
              <a:rPr sz="1700" b="0" i="0">
                <a:solidFill>
                  <a:srgbClr val="000000"/>
                </a:solidFill>
                <a:latin typeface="Consolas"/>
              </a:rPr>
              <a:t>  active: 1,</a:t>
            </a:r>
          </a:p>
          <a:p>
            <a:pPr>
              <a:spcBef>
                <a:spcPts val="0"/>
              </a:spcBef>
              <a:spcAft>
                <a:spcPts val="0"/>
              </a:spcAft>
            </a:pPr>
            <a:r>
              <a:rPr sz="1700" b="0" i="0">
                <a:solidFill>
                  <a:srgbClr val="000000"/>
                </a:solidFill>
                <a:latin typeface="Consolas"/>
              </a:rPr>
              <a:t>  category: 1,</a:t>
            </a:r>
          </a:p>
          <a:p>
            <a:pPr>
              <a:spcBef>
                <a:spcPts val="0"/>
              </a:spcBef>
              <a:spcAft>
                <a:spcPts val="0"/>
              </a:spcAft>
            </a:pPr>
            <a:r>
              <a:rPr sz="1700" b="0" i="0">
                <a:solidFill>
                  <a:srgbClr val="000000"/>
                </a:solidFill>
                <a:latin typeface="Consolas"/>
              </a:rPr>
              <a:t>  price: 1</a:t>
            </a:r>
          </a:p>
          <a:p>
            <a:pPr>
              <a:spcBef>
                <a:spcPts val="0"/>
              </a:spcBef>
              <a:spcAft>
                <a:spcPts val="0"/>
              </a:spcAft>
            </a:pPr>
            <a:r>
              <a:rPr sz="1700" b="0" i="0">
                <a:solidFill>
                  <a:srgbClr val="000000"/>
                </a:solidFill>
                <a:latin typeface="Consolas"/>
              </a:rPr>
              <a:t>})</a:t>
            </a:r>
          </a:p>
        </p:txBody>
      </p:sp>
      <p:sp>
        <p:nvSpPr>
          <p:cNvPr id="12" name="Rectangle 1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5"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58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STORAGE COST</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301084"/>
            <a:ext cx="237744" cy="237744"/>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301084"/>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282796"/>
            <a:ext cx="351129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685132"/>
            <a:ext cx="3840480" cy="114925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Indexes improve reads, but every additional index has a cost.</a:t>
            </a:r>
          </a:p>
        </p:txBody>
      </p:sp>
      <p:sp>
        <p:nvSpPr>
          <p:cNvPr id="8" name="TextBox 7"/>
          <p:cNvSpPr txBox="1"/>
          <p:nvPr/>
        </p:nvSpPr>
        <p:spPr>
          <a:xfrm>
            <a:off x="457200" y="3925824"/>
            <a:ext cx="3840480" cy="81397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Indexes consume disk space.</a:t>
            </a:r>
          </a:p>
        </p:txBody>
      </p:sp>
      <p:sp>
        <p:nvSpPr>
          <p:cNvPr id="9" name="Rectangle 8"/>
          <p:cNvSpPr/>
          <p:nvPr/>
        </p:nvSpPr>
        <p:spPr>
          <a:xfrm>
            <a:off x="4471035" y="1672219"/>
            <a:ext cx="7242810" cy="3769594"/>
          </a:xfrm>
          <a:prstGeom prst="rect">
            <a:avLst/>
          </a:prstGeom>
          <a:solidFill>
            <a:srgbClr val="FFFFFF"/>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4480560" y="1681744"/>
            <a:ext cx="7223760" cy="3750544"/>
          </a:xfrm>
          <a:prstGeom prst="rect">
            <a:avLst/>
          </a:prstGeom>
        </p:spPr>
      </p:pic>
      <p:sp>
        <p:nvSpPr>
          <p:cNvPr id="11" name="Rectangle 1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59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MEMORY PRESSURE</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3089070"/>
            <a:ext cx="237744" cy="237744"/>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089070"/>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3070782"/>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3473118"/>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Frequently used index pages compete for memory.</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60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WRITE AMPLIFICATION</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412985"/>
            <a:ext cx="237744" cy="237744"/>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12985"/>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394697"/>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797033"/>
            <a:ext cx="11247120" cy="392097"/>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For an insertion:</a:t>
            </a:r>
          </a:p>
        </p:txBody>
      </p:sp>
      <p:sp>
        <p:nvSpPr>
          <p:cNvPr id="8" name="TextBox 7"/>
          <p:cNvSpPr txBox="1"/>
          <p:nvPr/>
        </p:nvSpPr>
        <p:spPr>
          <a:xfrm>
            <a:off x="457200" y="2280570"/>
            <a:ext cx="11247120" cy="392097"/>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MongoDB must update:</a:t>
            </a:r>
          </a:p>
        </p:txBody>
      </p:sp>
      <p:sp>
        <p:nvSpPr>
          <p:cNvPr id="9" name="TextBox 8"/>
          <p:cNvSpPr txBox="1"/>
          <p:nvPr/>
        </p:nvSpPr>
        <p:spPr>
          <a:xfrm>
            <a:off x="457200" y="2764107"/>
            <a:ext cx="11247120" cy="1431228"/>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  </a:t>
            </a:r>
            <a:r>
              <a:rPr sz="1600" b="0" i="0">
                <a:solidFill>
                  <a:srgbClr val="000000"/>
                </a:solidFill>
                <a:latin typeface="Nirmala UI"/>
              </a:rPr>
              <a:t>The collection data</a:t>
            </a:r>
          </a:p>
          <a:p>
            <a:pPr>
              <a:spcBef>
                <a:spcPts val="0"/>
              </a:spcBef>
              <a:spcAft>
                <a:spcPts val="615"/>
              </a:spcAft>
            </a:pPr>
            <a:r>
              <a:rPr sz="1600" b="0" i="0">
                <a:solidFill>
                  <a:srgbClr val="000000"/>
                </a:solidFill>
                <a:latin typeface="Nirmala UI"/>
              </a:rPr>
              <a:t>•  </a:t>
            </a:r>
            <a:r>
              <a:rPr sz="1600" b="0" i="0">
                <a:solidFill>
                  <a:srgbClr val="000000"/>
                </a:solidFill>
                <a:latin typeface="Nirmala UI"/>
              </a:rPr>
              <a:t>The </a:t>
            </a:r>
            <a:r>
              <a:rPr sz="1600" b="0" i="0">
                <a:solidFill>
                  <a:srgbClr val="000000"/>
                </a:solidFill>
                <a:latin typeface="Consolas"/>
              </a:rPr>
              <a:t>_id</a:t>
            </a:r>
            <a:r>
              <a:rPr sz="1600" b="0" i="0">
                <a:solidFill>
                  <a:srgbClr val="000000"/>
                </a:solidFill>
                <a:latin typeface="Nirmala UI"/>
              </a:rPr>
              <a:t> index</a:t>
            </a:r>
          </a:p>
          <a:p>
            <a:pPr>
              <a:spcBef>
                <a:spcPts val="0"/>
              </a:spcBef>
              <a:spcAft>
                <a:spcPts val="615"/>
              </a:spcAft>
            </a:pPr>
            <a:r>
              <a:rPr sz="1600" b="0" i="0">
                <a:solidFill>
                  <a:srgbClr val="000000"/>
                </a:solidFill>
                <a:latin typeface="Nirmala UI"/>
              </a:rPr>
              <a:t>•  </a:t>
            </a:r>
            <a:r>
              <a:rPr sz="1600" b="0" i="0">
                <a:solidFill>
                  <a:srgbClr val="000000"/>
                </a:solidFill>
                <a:latin typeface="Nirmala UI"/>
              </a:rPr>
              <a:t>The SKU index</a:t>
            </a:r>
          </a:p>
          <a:p>
            <a:pPr>
              <a:spcBef>
                <a:spcPts val="0"/>
              </a:spcBef>
              <a:spcAft>
                <a:spcPts val="615"/>
              </a:spcAft>
            </a:pPr>
            <a:r>
              <a:rPr sz="1600" b="0" i="0">
                <a:solidFill>
                  <a:srgbClr val="000000"/>
                </a:solidFill>
                <a:latin typeface="Nirmala UI"/>
              </a:rPr>
              <a:t>•  </a:t>
            </a:r>
            <a:r>
              <a:rPr sz="1600" b="0" i="0">
                <a:solidFill>
                  <a:srgbClr val="000000"/>
                </a:solidFill>
                <a:latin typeface="Nirmala UI"/>
              </a:rPr>
              <a:t>Every other applicable index</a:t>
            </a:r>
          </a:p>
        </p:txBody>
      </p:sp>
      <p:sp>
        <p:nvSpPr>
          <p:cNvPr id="10" name="Rounded Rectangle 9"/>
          <p:cNvSpPr/>
          <p:nvPr/>
        </p:nvSpPr>
        <p:spPr>
          <a:xfrm>
            <a:off x="457200" y="4286775"/>
            <a:ext cx="11247120" cy="1341120"/>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 y="4378215"/>
            <a:ext cx="10991088" cy="1176528"/>
          </a:xfrm>
          <a:prstGeom prst="rect">
            <a:avLst/>
          </a:prstGeom>
          <a:noFill/>
        </p:spPr>
        <p:txBody>
          <a:bodyPr wrap="square" anchor="t" lIns="0" rIns="0" tIns="0" bIns="0">
            <a:spAutoFit/>
          </a:bodyPr>
          <a:lstStyle/>
          <a:p>
            <a:pPr>
              <a:spcBef>
                <a:spcPts val="0"/>
              </a:spcBef>
              <a:spcAft>
                <a:spcPts val="0"/>
              </a:spcAft>
            </a:pPr>
            <a:r>
              <a:rPr sz="1700" b="0" i="0">
                <a:solidFill>
                  <a:srgbClr val="000000"/>
                </a:solidFill>
                <a:latin typeface="Consolas"/>
              </a:rPr>
              <a:t>db.products.insertOne({</a:t>
            </a:r>
          </a:p>
          <a:p>
            <a:pPr>
              <a:spcBef>
                <a:spcPts val="0"/>
              </a:spcBef>
              <a:spcAft>
                <a:spcPts val="0"/>
              </a:spcAft>
            </a:pPr>
            <a:r>
              <a:rPr sz="1700" b="0" i="0">
                <a:solidFill>
                  <a:srgbClr val="000000"/>
                </a:solidFill>
                <a:latin typeface="Consolas"/>
              </a:rPr>
              <a:t>  sku: "ELEC-3000",</a:t>
            </a:r>
          </a:p>
          <a:p>
            <a:pPr>
              <a:spcBef>
                <a:spcPts val="0"/>
              </a:spcBef>
              <a:spcAft>
                <a:spcPts val="0"/>
              </a:spcAft>
            </a:pPr>
            <a:r>
              <a:rPr sz="1700" b="0" i="0">
                <a:solidFill>
                  <a:srgbClr val="000000"/>
                </a:solidFill>
                <a:latin typeface="Consolas"/>
              </a:rPr>
              <a:t>  name: "Webcam"</a:t>
            </a:r>
          </a:p>
          <a:p>
            <a:pPr>
              <a:spcBef>
                <a:spcPts val="0"/>
              </a:spcBef>
              <a:spcAft>
                <a:spcPts val="0"/>
              </a:spcAft>
            </a:pPr>
            <a:r>
              <a:rPr sz="1700" b="0" i="0">
                <a:solidFill>
                  <a:srgbClr val="000000"/>
                </a:solidFill>
                <a:latin typeface="Consolas"/>
              </a:rPr>
              <a:t>})</a:t>
            </a:r>
          </a:p>
        </p:txBody>
      </p:sp>
      <p:sp>
        <p:nvSpPr>
          <p:cNvPr id="12" name="Rectangle 1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5"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61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UPDATE COST</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517826"/>
            <a:ext cx="237744" cy="237744"/>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17826"/>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499538"/>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901874"/>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Changing an indexed field requires updating its index entries:</a:t>
            </a:r>
          </a:p>
        </p:txBody>
      </p:sp>
      <p:sp>
        <p:nvSpPr>
          <p:cNvPr id="8" name="Rounded Rectangle 7"/>
          <p:cNvSpPr/>
          <p:nvPr/>
        </p:nvSpPr>
        <p:spPr>
          <a:xfrm>
            <a:off x="457200" y="2472006"/>
            <a:ext cx="11247120" cy="3051048"/>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5216" y="2563446"/>
            <a:ext cx="10991088" cy="2886456"/>
          </a:xfrm>
          <a:prstGeom prst="rect">
            <a:avLst/>
          </a:prstGeom>
          <a:noFill/>
        </p:spPr>
        <p:txBody>
          <a:bodyPr wrap="square" anchor="t" lIns="0" rIns="0" tIns="0" bIns="0">
            <a:spAutoFit/>
          </a:bodyPr>
          <a:lstStyle/>
          <a:p>
            <a:pPr>
              <a:spcBef>
                <a:spcPts val="0"/>
              </a:spcBef>
              <a:spcAft>
                <a:spcPts val="0"/>
              </a:spcAft>
            </a:pPr>
            <a:r>
              <a:rPr sz="1700" b="0" i="0">
                <a:solidFill>
                  <a:srgbClr val="000000"/>
                </a:solidFill>
                <a:latin typeface="Consolas"/>
              </a:rPr>
              <a:t>db.products.updateOne(</a:t>
            </a:r>
          </a:p>
          <a:p>
            <a:pPr>
              <a:spcBef>
                <a:spcPts val="0"/>
              </a:spcBef>
              <a:spcAft>
                <a:spcPts val="0"/>
              </a:spcAft>
            </a:pPr>
            <a:r>
              <a:rPr sz="1700" b="0" i="0">
                <a:solidFill>
                  <a:srgbClr val="000000"/>
                </a:solidFill>
                <a:latin typeface="Consolas"/>
              </a:rPr>
              <a:t>  {</a:t>
            </a:r>
          </a:p>
          <a:p>
            <a:pPr>
              <a:spcBef>
                <a:spcPts val="0"/>
              </a:spcBef>
              <a:spcAft>
                <a:spcPts val="0"/>
              </a:spcAft>
            </a:pPr>
            <a:r>
              <a:rPr sz="1700" b="0" i="0">
                <a:solidFill>
                  <a:srgbClr val="000000"/>
                </a:solidFill>
                <a:latin typeface="Consolas"/>
              </a:rPr>
              <a:t>    sku: "ELEC-3000"</a:t>
            </a:r>
          </a:p>
          <a:p>
            <a:pPr>
              <a:spcBef>
                <a:spcPts val="0"/>
              </a:spcBef>
              <a:spcAft>
                <a:spcPts val="0"/>
              </a:spcAft>
            </a:pPr>
            <a:r>
              <a:rPr sz="1700" b="0" i="0">
                <a:solidFill>
                  <a:srgbClr val="000000"/>
                </a:solidFill>
                <a:latin typeface="Consolas"/>
              </a:rPr>
              <a:t>  },</a:t>
            </a:r>
          </a:p>
          <a:p>
            <a:pPr>
              <a:spcBef>
                <a:spcPts val="0"/>
              </a:spcBef>
              <a:spcAft>
                <a:spcPts val="0"/>
              </a:spcAft>
            </a:pPr>
            <a:r>
              <a:rPr sz="1700" b="0" i="0">
                <a:solidFill>
                  <a:srgbClr val="000000"/>
                </a:solidFill>
                <a:latin typeface="Consolas"/>
              </a:rPr>
              <a:t>  {</a:t>
            </a:r>
          </a:p>
          <a:p>
            <a:pPr>
              <a:spcBef>
                <a:spcPts val="0"/>
              </a:spcBef>
              <a:spcAft>
                <a:spcPts val="0"/>
              </a:spcAft>
            </a:pPr>
            <a:r>
              <a:rPr sz="1700" b="0" i="0">
                <a:solidFill>
                  <a:srgbClr val="000000"/>
                </a:solidFill>
                <a:latin typeface="Consolas"/>
              </a:rPr>
              <a:t>    $set: {</a:t>
            </a:r>
          </a:p>
          <a:p>
            <a:pPr>
              <a:spcBef>
                <a:spcPts val="0"/>
              </a:spcBef>
              <a:spcAft>
                <a:spcPts val="0"/>
              </a:spcAft>
            </a:pPr>
            <a:r>
              <a:rPr sz="1700" b="0" i="0">
                <a:solidFill>
                  <a:srgbClr val="000000"/>
                </a:solidFill>
                <a:latin typeface="Consolas"/>
              </a:rPr>
              <a:t>      category: "Computer Accessories"</a:t>
            </a:r>
          </a:p>
          <a:p>
            <a:pPr>
              <a:spcBef>
                <a:spcPts val="0"/>
              </a:spcBef>
              <a:spcAft>
                <a:spcPts val="0"/>
              </a:spcAft>
            </a:pPr>
            <a:r>
              <a:rPr sz="1700" b="0" i="0">
                <a:solidFill>
                  <a:srgbClr val="000000"/>
                </a:solidFill>
                <a:latin typeface="Consolas"/>
              </a:rPr>
              <a:t>    }</a:t>
            </a:r>
          </a:p>
          <a:p>
            <a:pPr>
              <a:spcBef>
                <a:spcPts val="0"/>
              </a:spcBef>
              <a:spcAft>
                <a:spcPts val="0"/>
              </a:spcAft>
            </a:pPr>
            <a:r>
              <a:rPr sz="1700" b="0" i="0">
                <a:solidFill>
                  <a:srgbClr val="000000"/>
                </a:solidFill>
                <a:latin typeface="Consolas"/>
              </a:rPr>
              <a:t>  }</a:t>
            </a:r>
          </a:p>
          <a:p>
            <a:pPr>
              <a:spcBef>
                <a:spcPts val="0"/>
              </a:spcBef>
              <a:spcAft>
                <a:spcPts val="0"/>
              </a:spcAft>
            </a:pPr>
            <a:r>
              <a:rPr sz="1700" b="0" i="0">
                <a:solidFill>
                  <a:srgbClr val="000000"/>
                </a:solidFill>
                <a:latin typeface="Consolas"/>
              </a:rPr>
              <a:t>)</a:t>
            </a:r>
          </a:p>
        </p:txBody>
      </p:sp>
      <p:sp>
        <p:nvSpPr>
          <p:cNvPr id="10" name="Rectangle 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62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OPERATIONAL COST</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869480"/>
            <a:ext cx="237744" cy="237744"/>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869480"/>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851192"/>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253528"/>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More indexes mean:</a:t>
            </a:r>
          </a:p>
        </p:txBody>
      </p:sp>
      <p:sp>
        <p:nvSpPr>
          <p:cNvPr id="8" name="TextBox 7"/>
          <p:cNvSpPr txBox="1"/>
          <p:nvPr/>
        </p:nvSpPr>
        <p:spPr>
          <a:xfrm>
            <a:off x="457200" y="2823660"/>
            <a:ext cx="11247120" cy="1777608"/>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0" i="0">
                <a:solidFill>
                  <a:srgbClr val="000000"/>
                </a:solidFill>
                <a:latin typeface="Nirmala UI"/>
              </a:rPr>
              <a:t>Longer index builds</a:t>
            </a:r>
          </a:p>
          <a:p>
            <a:pPr>
              <a:spcBef>
                <a:spcPts val="0"/>
              </a:spcBef>
              <a:spcAft>
                <a:spcPts val="769"/>
              </a:spcAft>
            </a:pPr>
            <a:r>
              <a:rPr sz="2000" b="0" i="0">
                <a:solidFill>
                  <a:srgbClr val="000000"/>
                </a:solidFill>
                <a:latin typeface="Nirmala UI"/>
              </a:rPr>
              <a:t>•  </a:t>
            </a:r>
            <a:r>
              <a:rPr sz="2000" b="0" i="0">
                <a:solidFill>
                  <a:srgbClr val="000000"/>
                </a:solidFill>
                <a:latin typeface="Nirmala UI"/>
              </a:rPr>
              <a:t>More monitoring</a:t>
            </a:r>
          </a:p>
          <a:p>
            <a:pPr>
              <a:spcBef>
                <a:spcPts val="0"/>
              </a:spcBef>
              <a:spcAft>
                <a:spcPts val="769"/>
              </a:spcAft>
            </a:pPr>
            <a:r>
              <a:rPr sz="2000" b="0" i="0">
                <a:solidFill>
                  <a:srgbClr val="000000"/>
                </a:solidFill>
                <a:latin typeface="Nirmala UI"/>
              </a:rPr>
              <a:t>•  </a:t>
            </a:r>
            <a:r>
              <a:rPr sz="2000" b="0" i="0">
                <a:solidFill>
                  <a:srgbClr val="000000"/>
                </a:solidFill>
                <a:latin typeface="Nirmala UI"/>
              </a:rPr>
              <a:t>More complex query-plan choices</a:t>
            </a:r>
          </a:p>
          <a:p>
            <a:pPr>
              <a:spcBef>
                <a:spcPts val="0"/>
              </a:spcBef>
              <a:spcAft>
                <a:spcPts val="769"/>
              </a:spcAft>
            </a:pPr>
            <a:r>
              <a:rPr sz="2000" b="0" i="0">
                <a:solidFill>
                  <a:srgbClr val="000000"/>
                </a:solidFill>
                <a:latin typeface="Nirmala UI"/>
              </a:rPr>
              <a:t>•  </a:t>
            </a:r>
            <a:r>
              <a:rPr sz="2000" b="0" i="0">
                <a:solidFill>
                  <a:srgbClr val="000000"/>
                </a:solidFill>
                <a:latin typeface="Nirmala UI"/>
              </a:rPr>
              <a:t>Additional backup and replication volume</a:t>
            </a:r>
          </a:p>
        </p:txBody>
      </p:sp>
      <p:sp>
        <p:nvSpPr>
          <p:cNvPr id="9" name="TextBox 8"/>
          <p:cNvSpPr txBox="1"/>
          <p:nvPr/>
        </p:nvSpPr>
        <p:spPr>
          <a:xfrm>
            <a:off x="457200" y="4692708"/>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Avoid indexing every field “just in case.”</a:t>
            </a:r>
          </a:p>
        </p:txBody>
      </p:sp>
      <p:sp>
        <p:nvSpPr>
          <p:cNvPr id="10" name="Rectangle 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63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QUERY-SHAPE WORKSHEET</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345153"/>
            <a:ext cx="237744" cy="237744"/>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45153"/>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326865"/>
            <a:ext cx="351129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729201"/>
            <a:ext cx="3840480" cy="218908"/>
          </a:xfrm>
          <a:prstGeom prst="rect">
            <a:avLst/>
          </a:prstGeom>
          <a:noFill/>
        </p:spPr>
        <p:txBody>
          <a:bodyPr wrap="square" anchor="t" lIns="0" rIns="0" tIns="0" bIns="0">
            <a:spAutoFit/>
          </a:bodyPr>
          <a:lstStyle/>
          <a:p>
            <a:pPr>
              <a:spcBef>
                <a:spcPts val="0"/>
              </a:spcBef>
              <a:spcAft>
                <a:spcPts val="307"/>
              </a:spcAft>
            </a:pPr>
            <a:r>
              <a:rPr sz="800" b="0" i="0">
                <a:solidFill>
                  <a:srgbClr val="000000"/>
                </a:solidFill>
                <a:latin typeface="Nirmala UI"/>
              </a:rPr>
              <a:t>Index selection begins with the complete query shape:</a:t>
            </a:r>
          </a:p>
        </p:txBody>
      </p:sp>
      <p:sp>
        <p:nvSpPr>
          <p:cNvPr id="8" name="TextBox 7"/>
          <p:cNvSpPr txBox="1"/>
          <p:nvPr/>
        </p:nvSpPr>
        <p:spPr>
          <a:xfrm>
            <a:off x="457200" y="2039549"/>
            <a:ext cx="3840480" cy="1431224"/>
          </a:xfrm>
          <a:prstGeom prst="rect">
            <a:avLst/>
          </a:prstGeom>
          <a:noFill/>
        </p:spPr>
        <p:txBody>
          <a:bodyPr wrap="square" anchor="t" lIns="0" rIns="0" tIns="0" bIns="0">
            <a:spAutoFit/>
          </a:bodyPr>
          <a:lstStyle/>
          <a:p>
            <a:pPr>
              <a:spcBef>
                <a:spcPts val="0"/>
              </a:spcBef>
              <a:spcAft>
                <a:spcPts val="307"/>
              </a:spcAft>
            </a:pPr>
            <a:r>
              <a:rPr sz="800" b="0" i="0">
                <a:solidFill>
                  <a:srgbClr val="000000"/>
                </a:solidFill>
                <a:latin typeface="Nirmala UI"/>
              </a:rPr>
              <a:t>•  </a:t>
            </a:r>
            <a:r>
              <a:rPr sz="800" b="0" i="0">
                <a:solidFill>
                  <a:srgbClr val="000000"/>
                </a:solidFill>
                <a:latin typeface="Nirmala UI"/>
              </a:rPr>
              <a:t>Filter fields</a:t>
            </a:r>
          </a:p>
          <a:p>
            <a:pPr>
              <a:spcBef>
                <a:spcPts val="0"/>
              </a:spcBef>
              <a:spcAft>
                <a:spcPts val="307"/>
              </a:spcAft>
            </a:pPr>
            <a:r>
              <a:rPr sz="800" b="0" i="0">
                <a:solidFill>
                  <a:srgbClr val="000000"/>
                </a:solidFill>
                <a:latin typeface="Nirmala UI"/>
              </a:rPr>
              <a:t>•  </a:t>
            </a:r>
            <a:r>
              <a:rPr sz="800" b="0" i="0">
                <a:solidFill>
                  <a:srgbClr val="000000"/>
                </a:solidFill>
                <a:latin typeface="Nirmala UI"/>
              </a:rPr>
              <a:t>Equality conditions</a:t>
            </a:r>
          </a:p>
          <a:p>
            <a:pPr>
              <a:spcBef>
                <a:spcPts val="0"/>
              </a:spcBef>
              <a:spcAft>
                <a:spcPts val="307"/>
              </a:spcAft>
            </a:pPr>
            <a:r>
              <a:rPr sz="800" b="0" i="0">
                <a:solidFill>
                  <a:srgbClr val="000000"/>
                </a:solidFill>
                <a:latin typeface="Nirmala UI"/>
              </a:rPr>
              <a:t>•  </a:t>
            </a:r>
            <a:r>
              <a:rPr sz="800" b="0" i="0">
                <a:solidFill>
                  <a:srgbClr val="000000"/>
                </a:solidFill>
                <a:latin typeface="Nirmala UI"/>
              </a:rPr>
              <a:t>Range conditions</a:t>
            </a:r>
          </a:p>
          <a:p>
            <a:pPr>
              <a:spcBef>
                <a:spcPts val="0"/>
              </a:spcBef>
              <a:spcAft>
                <a:spcPts val="307"/>
              </a:spcAft>
            </a:pPr>
            <a:r>
              <a:rPr sz="800" b="0" i="0">
                <a:solidFill>
                  <a:srgbClr val="000000"/>
                </a:solidFill>
                <a:latin typeface="Nirmala UI"/>
              </a:rPr>
              <a:t>•  </a:t>
            </a:r>
            <a:r>
              <a:rPr sz="800" b="0" i="0">
                <a:solidFill>
                  <a:srgbClr val="000000"/>
                </a:solidFill>
                <a:latin typeface="Nirmala UI"/>
              </a:rPr>
              <a:t>Sort fields and directions</a:t>
            </a:r>
          </a:p>
          <a:p>
            <a:pPr>
              <a:spcBef>
                <a:spcPts val="0"/>
              </a:spcBef>
              <a:spcAft>
                <a:spcPts val="307"/>
              </a:spcAft>
            </a:pPr>
            <a:r>
              <a:rPr sz="800" b="0" i="0">
                <a:solidFill>
                  <a:srgbClr val="000000"/>
                </a:solidFill>
                <a:latin typeface="Nirmala UI"/>
              </a:rPr>
              <a:t>•  </a:t>
            </a:r>
            <a:r>
              <a:rPr sz="800" b="0" i="0">
                <a:solidFill>
                  <a:srgbClr val="000000"/>
                </a:solidFill>
                <a:latin typeface="Nirmala UI"/>
              </a:rPr>
              <a:t>Projected fields</a:t>
            </a:r>
          </a:p>
          <a:p>
            <a:pPr>
              <a:spcBef>
                <a:spcPts val="0"/>
              </a:spcBef>
              <a:spcAft>
                <a:spcPts val="307"/>
              </a:spcAft>
            </a:pPr>
            <a:r>
              <a:rPr sz="800" b="0" i="0">
                <a:solidFill>
                  <a:srgbClr val="000000"/>
                </a:solidFill>
                <a:latin typeface="Nirmala UI"/>
              </a:rPr>
              <a:t>•  </a:t>
            </a:r>
            <a:r>
              <a:rPr sz="800" b="0" i="0">
                <a:solidFill>
                  <a:srgbClr val="000000"/>
                </a:solidFill>
                <a:latin typeface="Nirmala UI"/>
              </a:rPr>
              <a:t>Query frequency</a:t>
            </a:r>
          </a:p>
          <a:p>
            <a:pPr>
              <a:spcBef>
                <a:spcPts val="0"/>
              </a:spcBef>
              <a:spcAft>
                <a:spcPts val="307"/>
              </a:spcAft>
            </a:pPr>
            <a:r>
              <a:rPr sz="800" b="0" i="0">
                <a:solidFill>
                  <a:srgbClr val="000000"/>
                </a:solidFill>
                <a:latin typeface="Nirmala UI"/>
              </a:rPr>
              <a:t>•  </a:t>
            </a:r>
            <a:r>
              <a:rPr sz="800" b="0" i="0">
                <a:solidFill>
                  <a:srgbClr val="000000"/>
                </a:solidFill>
                <a:latin typeface="Nirmala UI"/>
              </a:rPr>
              <a:t>Number of matching documents</a:t>
            </a:r>
          </a:p>
          <a:p>
            <a:pPr>
              <a:spcBef>
                <a:spcPts val="0"/>
              </a:spcBef>
              <a:spcAft>
                <a:spcPts val="307"/>
              </a:spcAft>
            </a:pPr>
            <a:r>
              <a:rPr sz="800" b="0" i="0">
                <a:solidFill>
                  <a:srgbClr val="000000"/>
                </a:solidFill>
                <a:latin typeface="Nirmala UI"/>
              </a:rPr>
              <a:t>•  </a:t>
            </a:r>
            <a:r>
              <a:rPr sz="800" b="0" i="0">
                <a:solidFill>
                  <a:srgbClr val="000000"/>
                </a:solidFill>
                <a:latin typeface="Nirmala UI"/>
              </a:rPr>
              <a:t>Read-versus-write balance</a:t>
            </a:r>
          </a:p>
        </p:txBody>
      </p:sp>
      <p:graphicFrame>
        <p:nvGraphicFramePr>
          <p:cNvPr id="9" name="Table 8"/>
          <p:cNvGraphicFramePr>
            <a:graphicFrameLocks noGrp="1"/>
          </p:cNvGraphicFramePr>
          <p:nvPr/>
        </p:nvGraphicFramePr>
        <p:xfrm>
          <a:off x="457200" y="3562213"/>
          <a:ext cx="3840480" cy="1823166"/>
        </p:xfrm>
        <a:graphic>
          <a:graphicData uri="http://schemas.openxmlformats.org/drawingml/2006/table">
            <a:tbl>
              <a:tblPr firstRow="1" bandRow="1">
                <a:tableStyleId>{5C22544A-7EE6-4342-B048-85BDC9FD1C3A}</a:tableStyleId>
              </a:tblPr>
              <a:tblGrid>
                <a:gridCol w="1460282"/>
                <a:gridCol w="2380198"/>
              </a:tblGrid>
              <a:tr h="202574">
                <a:tc>
                  <a:txBody>
                    <a:bodyPr/>
                    <a:lstStyle/>
                    <a:p>
                      <a:pPr algn="l"/>
                      <a:r>
                        <a:rPr sz="738" b="1">
                          <a:solidFill>
                            <a:srgbClr val="FFFFFF"/>
                          </a:solidFill>
                          <a:latin typeface="Nirmala UI"/>
                        </a:rPr>
                        <a:t>Workload question</a:t>
                      </a:r>
                    </a:p>
                  </a:txBody>
                  <a:tcPr>
                    <a:solidFill>
                      <a:srgbClr val="002060"/>
                    </a:solidFill>
                  </a:tcPr>
                </a:tc>
                <a:tc>
                  <a:txBody>
                    <a:bodyPr/>
                    <a:lstStyle/>
                    <a:p>
                      <a:pPr algn="l"/>
                      <a:r>
                        <a:rPr sz="738" b="1">
                          <a:solidFill>
                            <a:srgbClr val="FFFFFF"/>
                          </a:solidFill>
                          <a:latin typeface="Nirmala UI"/>
                        </a:rPr>
                        <a:t>Example</a:t>
                      </a:r>
                    </a:p>
                  </a:txBody>
                  <a:tcPr>
                    <a:solidFill>
                      <a:srgbClr val="002060"/>
                    </a:solidFill>
                  </a:tcPr>
                </a:tc>
              </a:tr>
              <a:tr h="202574">
                <a:tc>
                  <a:txBody>
                    <a:bodyPr/>
                    <a:lstStyle/>
                    <a:p>
                      <a:r>
                        <a:rPr sz="738" b="1">
                          <a:solidFill>
                            <a:srgbClr val="000000"/>
                          </a:solidFill>
                          <a:latin typeface="Nirmala UI"/>
                        </a:rPr>
                        <a:t>Which collection?</a:t>
                      </a:r>
                    </a:p>
                  </a:txBody>
                  <a:tcPr>
                    <a:solidFill>
                      <a:srgbClr val="FFFFFF"/>
                    </a:solidFill>
                  </a:tcPr>
                </a:tc>
                <a:tc>
                  <a:txBody>
                    <a:bodyPr/>
                    <a:lstStyle/>
                    <a:p>
                      <a:r>
                        <a:rPr sz="738" b="0">
                          <a:solidFill>
                            <a:srgbClr val="000000"/>
                          </a:solidFill>
                          <a:latin typeface="Nirmala UI"/>
                        </a:rPr>
                        <a:t>orders</a:t>
                      </a:r>
                    </a:p>
                  </a:txBody>
                  <a:tcPr>
                    <a:solidFill>
                      <a:srgbClr val="FFFFFF"/>
                    </a:solidFill>
                  </a:tcPr>
                </a:tc>
              </a:tr>
              <a:tr h="202574">
                <a:tc>
                  <a:txBody>
                    <a:bodyPr/>
                    <a:lstStyle/>
                    <a:p>
                      <a:r>
                        <a:rPr sz="738" b="1">
                          <a:solidFill>
                            <a:srgbClr val="000000"/>
                          </a:solidFill>
                          <a:latin typeface="Nirmala UI"/>
                        </a:rPr>
                        <a:t>Equality filters?</a:t>
                      </a:r>
                    </a:p>
                  </a:txBody>
                  <a:tcPr>
                    <a:solidFill>
                      <a:srgbClr val="F5F5F5"/>
                    </a:solidFill>
                  </a:tcPr>
                </a:tc>
                <a:tc>
                  <a:txBody>
                    <a:bodyPr/>
                    <a:lstStyle/>
                    <a:p>
                      <a:r>
                        <a:rPr sz="738" b="0">
                          <a:solidFill>
                            <a:srgbClr val="000000"/>
                          </a:solidFill>
                          <a:latin typeface="Nirmala UI"/>
                        </a:rPr>
                        <a:t>customerId, status</a:t>
                      </a:r>
                    </a:p>
                  </a:txBody>
                  <a:tcPr>
                    <a:solidFill>
                      <a:srgbClr val="F5F5F5"/>
                    </a:solidFill>
                  </a:tcPr>
                </a:tc>
              </a:tr>
              <a:tr h="202574">
                <a:tc>
                  <a:txBody>
                    <a:bodyPr/>
                    <a:lstStyle/>
                    <a:p>
                      <a:r>
                        <a:rPr sz="738" b="1">
                          <a:solidFill>
                            <a:srgbClr val="000000"/>
                          </a:solidFill>
                          <a:latin typeface="Nirmala UI"/>
                        </a:rPr>
                        <a:t>Range filters?</a:t>
                      </a:r>
                    </a:p>
                  </a:txBody>
                  <a:tcPr>
                    <a:solidFill>
                      <a:srgbClr val="FFFFFF"/>
                    </a:solidFill>
                  </a:tcPr>
                </a:tc>
                <a:tc>
                  <a:txBody>
                    <a:bodyPr/>
                    <a:lstStyle/>
                    <a:p>
                      <a:r>
                        <a:rPr sz="738" b="0">
                          <a:solidFill>
                            <a:srgbClr val="000000"/>
                          </a:solidFill>
                          <a:latin typeface="Nirmala UI"/>
                        </a:rPr>
                        <a:t>orderedAt</a:t>
                      </a:r>
                    </a:p>
                  </a:txBody>
                  <a:tcPr>
                    <a:solidFill>
                      <a:srgbClr val="FFFFFF"/>
                    </a:solidFill>
                  </a:tcPr>
                </a:tc>
              </a:tr>
              <a:tr h="202574">
                <a:tc>
                  <a:txBody>
                    <a:bodyPr/>
                    <a:lstStyle/>
                    <a:p>
                      <a:r>
                        <a:rPr sz="738" b="1">
                          <a:solidFill>
                            <a:srgbClr val="000000"/>
                          </a:solidFill>
                          <a:latin typeface="Nirmala UI"/>
                        </a:rPr>
                        <a:t>Sort fields?</a:t>
                      </a:r>
                    </a:p>
                  </a:txBody>
                  <a:tcPr>
                    <a:solidFill>
                      <a:srgbClr val="F5F5F5"/>
                    </a:solidFill>
                  </a:tcPr>
                </a:tc>
                <a:tc>
                  <a:txBody>
                    <a:bodyPr/>
                    <a:lstStyle/>
                    <a:p>
                      <a:r>
                        <a:rPr sz="738" b="0">
                          <a:solidFill>
                            <a:srgbClr val="000000"/>
                          </a:solidFill>
                          <a:latin typeface="Nirmala UI"/>
                        </a:rPr>
                        <a:t>orderedAt: -1</a:t>
                      </a:r>
                    </a:p>
                  </a:txBody>
                  <a:tcPr>
                    <a:solidFill>
                      <a:srgbClr val="F5F5F5"/>
                    </a:solidFill>
                  </a:tcPr>
                </a:tc>
              </a:tr>
              <a:tr h="202574">
                <a:tc>
                  <a:txBody>
                    <a:bodyPr/>
                    <a:lstStyle/>
                    <a:p>
                      <a:r>
                        <a:rPr sz="738" b="1">
                          <a:solidFill>
                            <a:srgbClr val="000000"/>
                          </a:solidFill>
                          <a:latin typeface="Nirmala UI"/>
                        </a:rPr>
                        <a:t>Returned fields?</a:t>
                      </a:r>
                    </a:p>
                  </a:txBody>
                  <a:tcPr>
                    <a:solidFill>
                      <a:srgbClr val="FFFFFF"/>
                    </a:solidFill>
                  </a:tcPr>
                </a:tc>
                <a:tc>
                  <a:txBody>
                    <a:bodyPr/>
                    <a:lstStyle/>
                    <a:p>
                      <a:r>
                        <a:rPr sz="738" b="0">
                          <a:solidFill>
                            <a:srgbClr val="000000"/>
                          </a:solidFill>
                          <a:latin typeface="Nirmala UI"/>
                        </a:rPr>
                        <a:t>orderNumber, total, status</a:t>
                      </a:r>
                    </a:p>
                  </a:txBody>
                  <a:tcPr>
                    <a:solidFill>
                      <a:srgbClr val="FFFFFF"/>
                    </a:solidFill>
                  </a:tcPr>
                </a:tc>
              </a:tr>
              <a:tr h="202574">
                <a:tc>
                  <a:txBody>
                    <a:bodyPr/>
                    <a:lstStyle/>
                    <a:p>
                      <a:r>
                        <a:rPr sz="738" b="1">
                          <a:solidFill>
                            <a:srgbClr val="000000"/>
                          </a:solidFill>
                          <a:latin typeface="Nirmala UI"/>
                        </a:rPr>
                        <a:t>Frequency?</a:t>
                      </a:r>
                    </a:p>
                  </a:txBody>
                  <a:tcPr>
                    <a:solidFill>
                      <a:srgbClr val="F5F5F5"/>
                    </a:solidFill>
                  </a:tcPr>
                </a:tc>
                <a:tc>
                  <a:txBody>
                    <a:bodyPr/>
                    <a:lstStyle/>
                    <a:p>
                      <a:r>
                        <a:rPr sz="738" b="0">
                          <a:solidFill>
                            <a:srgbClr val="000000"/>
                          </a:solidFill>
                          <a:latin typeface="Nirmala UI"/>
                        </a:rPr>
                        <a:t>Every customer-profile request</a:t>
                      </a:r>
                    </a:p>
                  </a:txBody>
                  <a:tcPr>
                    <a:solidFill>
                      <a:srgbClr val="F5F5F5"/>
                    </a:solidFill>
                  </a:tcPr>
                </a:tc>
              </a:tr>
              <a:tr h="202574">
                <a:tc>
                  <a:txBody>
                    <a:bodyPr/>
                    <a:lstStyle/>
                    <a:p>
                      <a:r>
                        <a:rPr sz="738" b="1">
                          <a:solidFill>
                            <a:srgbClr val="000000"/>
                          </a:solidFill>
                          <a:latin typeface="Nirmala UI"/>
                        </a:rPr>
                        <a:t>Expected matches?</a:t>
                      </a:r>
                    </a:p>
                  </a:txBody>
                  <a:tcPr>
                    <a:solidFill>
                      <a:srgbClr val="FFFFFF"/>
                    </a:solidFill>
                  </a:tcPr>
                </a:tc>
                <a:tc>
                  <a:txBody>
                    <a:bodyPr/>
                    <a:lstStyle/>
                    <a:p>
                      <a:r>
                        <a:rPr sz="738" b="0">
                          <a:solidFill>
                            <a:srgbClr val="000000"/>
                          </a:solidFill>
                          <a:latin typeface="Nirmala UI"/>
                        </a:rPr>
                        <a:t>20–100 orders per customer</a:t>
                      </a:r>
                    </a:p>
                  </a:txBody>
                  <a:tcPr>
                    <a:solidFill>
                      <a:srgbClr val="FFFFFF"/>
                    </a:solidFill>
                  </a:tcPr>
                </a:tc>
              </a:tr>
              <a:tr h="202574">
                <a:tc>
                  <a:txBody>
                    <a:bodyPr/>
                    <a:lstStyle/>
                    <a:p>
                      <a:r>
                        <a:rPr sz="738" b="1">
                          <a:solidFill>
                            <a:srgbClr val="000000"/>
                          </a:solidFill>
                          <a:latin typeface="Nirmala UI"/>
                        </a:rPr>
                        <a:t>Write rate?</a:t>
                      </a:r>
                    </a:p>
                  </a:txBody>
                  <a:tcPr>
                    <a:solidFill>
                      <a:srgbClr val="F5F5F5"/>
                    </a:solidFill>
                  </a:tcPr>
                </a:tc>
                <a:tc>
                  <a:txBody>
                    <a:bodyPr/>
                    <a:lstStyle/>
                    <a:p>
                      <a:r>
                        <a:rPr sz="738" b="0">
                          <a:solidFill>
                            <a:srgbClr val="000000"/>
                          </a:solidFill>
                          <a:latin typeface="Nirmala UI"/>
                        </a:rPr>
                        <a:t>Moderate</a:t>
                      </a:r>
                    </a:p>
                  </a:txBody>
                  <a:tcPr>
                    <a:solidFill>
                      <a:srgbClr val="F5F5F5"/>
                    </a:solidFill>
                  </a:tcPr>
                </a:tc>
              </a:tr>
            </a:tbl>
          </a:graphicData>
        </a:graphic>
      </p:graphicFrame>
      <p:sp>
        <p:nvSpPr>
          <p:cNvPr id="10" name="TextBox 9"/>
          <p:cNvSpPr txBox="1"/>
          <p:nvPr/>
        </p:nvSpPr>
        <p:spPr>
          <a:xfrm>
            <a:off x="457200" y="5476819"/>
            <a:ext cx="3840480" cy="218908"/>
          </a:xfrm>
          <a:prstGeom prst="rect">
            <a:avLst/>
          </a:prstGeom>
          <a:noFill/>
        </p:spPr>
        <p:txBody>
          <a:bodyPr wrap="square" anchor="t" lIns="0" rIns="0" tIns="0" bIns="0">
            <a:spAutoFit/>
          </a:bodyPr>
          <a:lstStyle/>
          <a:p>
            <a:pPr>
              <a:spcBef>
                <a:spcPts val="0"/>
              </a:spcBef>
              <a:spcAft>
                <a:spcPts val="307"/>
              </a:spcAft>
            </a:pPr>
            <a:r>
              <a:rPr sz="800" b="0" i="0">
                <a:solidFill>
                  <a:srgbClr val="000000"/>
                </a:solidFill>
                <a:latin typeface="Nirmala UI"/>
              </a:rPr>
              <a:t>Possible index:</a:t>
            </a:r>
          </a:p>
        </p:txBody>
      </p:sp>
      <p:sp>
        <p:nvSpPr>
          <p:cNvPr id="11" name="Rectangle 10"/>
          <p:cNvSpPr/>
          <p:nvPr/>
        </p:nvSpPr>
        <p:spPr>
          <a:xfrm>
            <a:off x="4471035" y="1817858"/>
            <a:ext cx="7242810" cy="3478315"/>
          </a:xfrm>
          <a:prstGeom prst="rect">
            <a:avLst/>
          </a:prstGeom>
          <a:solidFill>
            <a:srgbClr val="FFFFFF"/>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2"/>
          <a:stretch>
            <a:fillRect/>
          </a:stretch>
        </p:blipFill>
        <p:spPr>
          <a:xfrm>
            <a:off x="4480560" y="1827383"/>
            <a:ext cx="7223760" cy="3459265"/>
          </a:xfrm>
          <a:prstGeom prst="rect">
            <a:avLst/>
          </a:prstGeom>
        </p:spPr>
      </p:pic>
      <p:sp>
        <p:nvSpPr>
          <p:cNvPr id="13" name="Rectangle 12"/>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64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QUERY-SHAPE WORKSHEET (CONT.)</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Rounded Rectangle 3"/>
          <p:cNvSpPr/>
          <p:nvPr/>
        </p:nvSpPr>
        <p:spPr>
          <a:xfrm>
            <a:off x="457200" y="2698242"/>
            <a:ext cx="11247120" cy="1626108"/>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85216" y="2789682"/>
            <a:ext cx="10991088" cy="1461516"/>
          </a:xfrm>
          <a:prstGeom prst="rect">
            <a:avLst/>
          </a:prstGeom>
          <a:noFill/>
        </p:spPr>
        <p:txBody>
          <a:bodyPr wrap="square" anchor="t" lIns="0" rIns="0" tIns="0" bIns="0">
            <a:spAutoFit/>
          </a:bodyPr>
          <a:lstStyle/>
          <a:p>
            <a:pPr>
              <a:spcBef>
                <a:spcPts val="0"/>
              </a:spcBef>
              <a:spcAft>
                <a:spcPts val="0"/>
              </a:spcAft>
            </a:pPr>
            <a:r>
              <a:rPr sz="1700" b="0" i="0">
                <a:solidFill>
                  <a:srgbClr val="000000"/>
                </a:solidFill>
                <a:latin typeface="Consolas"/>
              </a:rPr>
              <a:t>db.orders.createIndex({</a:t>
            </a:r>
          </a:p>
          <a:p>
            <a:pPr>
              <a:spcBef>
                <a:spcPts val="0"/>
              </a:spcBef>
              <a:spcAft>
                <a:spcPts val="0"/>
              </a:spcAft>
            </a:pPr>
            <a:r>
              <a:rPr sz="1700" b="0" i="0">
                <a:solidFill>
                  <a:srgbClr val="000000"/>
                </a:solidFill>
                <a:latin typeface="Consolas"/>
              </a:rPr>
              <a:t>  customerId: 1,</a:t>
            </a:r>
          </a:p>
          <a:p>
            <a:pPr>
              <a:spcBef>
                <a:spcPts val="0"/>
              </a:spcBef>
              <a:spcAft>
                <a:spcPts val="0"/>
              </a:spcAft>
            </a:pPr>
            <a:r>
              <a:rPr sz="1700" b="0" i="0">
                <a:solidFill>
                  <a:srgbClr val="000000"/>
                </a:solidFill>
                <a:latin typeface="Consolas"/>
              </a:rPr>
              <a:t>  status: 1,</a:t>
            </a:r>
          </a:p>
          <a:p>
            <a:pPr>
              <a:spcBef>
                <a:spcPts val="0"/>
              </a:spcBef>
              <a:spcAft>
                <a:spcPts val="0"/>
              </a:spcAft>
            </a:pPr>
            <a:r>
              <a:rPr sz="1700" b="0" i="0">
                <a:solidFill>
                  <a:srgbClr val="000000"/>
                </a:solidFill>
                <a:latin typeface="Consolas"/>
              </a:rPr>
              <a:t>  orderedAt: -1</a:t>
            </a:r>
          </a:p>
          <a:p>
            <a:pPr>
              <a:spcBef>
                <a:spcPts val="0"/>
              </a:spcBef>
              <a:spcAft>
                <a:spcPts val="0"/>
              </a:spcAft>
            </a:pPr>
            <a:r>
              <a:rPr sz="1700" b="0" i="0">
                <a:solidFill>
                  <a:srgbClr val="000000"/>
                </a:solidFill>
                <a:latin typeface="Consolas"/>
              </a:rPr>
              <a:t>})</a:t>
            </a:r>
          </a:p>
        </p:txBody>
      </p:sp>
      <p:sp>
        <p:nvSpPr>
          <p:cNvPr id="6" name="Rectangle 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65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PRODUCT LOOKUP BY SKU</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024478"/>
            <a:ext cx="237744" cy="237744"/>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2447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00619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408526"/>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Query:</a:t>
            </a:r>
          </a:p>
        </p:txBody>
      </p:sp>
      <p:sp>
        <p:nvSpPr>
          <p:cNvPr id="8" name="TextBox 7"/>
          <p:cNvSpPr txBox="1"/>
          <p:nvPr/>
        </p:nvSpPr>
        <p:spPr>
          <a:xfrm>
            <a:off x="457200" y="2978658"/>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Index:</a:t>
            </a:r>
          </a:p>
        </p:txBody>
      </p:sp>
      <p:sp>
        <p:nvSpPr>
          <p:cNvPr id="9" name="Rounded Rectangle 8"/>
          <p:cNvSpPr/>
          <p:nvPr/>
        </p:nvSpPr>
        <p:spPr>
          <a:xfrm>
            <a:off x="457200" y="3548790"/>
            <a:ext cx="5550408" cy="1106424"/>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 y="3640230"/>
            <a:ext cx="5294376" cy="941832"/>
          </a:xfrm>
          <a:prstGeom prst="rect">
            <a:avLst/>
          </a:prstGeom>
          <a:noFill/>
        </p:spPr>
        <p:txBody>
          <a:bodyPr wrap="square" anchor="t" lIns="0" rIns="0" tIns="0" bIns="0">
            <a:spAutoFit/>
          </a:bodyPr>
          <a:lstStyle/>
          <a:p>
            <a:pPr>
              <a:spcBef>
                <a:spcPts val="0"/>
              </a:spcBef>
              <a:spcAft>
                <a:spcPts val="0"/>
              </a:spcAft>
            </a:pPr>
            <a:r>
              <a:rPr sz="600" b="0" i="0">
                <a:solidFill>
                  <a:srgbClr val="000000"/>
                </a:solidFill>
                <a:latin typeface="Consolas"/>
              </a:rPr>
              <a:t>db.products.findOne({</a:t>
            </a:r>
          </a:p>
          <a:p>
            <a:pPr>
              <a:spcBef>
                <a:spcPts val="0"/>
              </a:spcBef>
              <a:spcAft>
                <a:spcPts val="0"/>
              </a:spcAft>
            </a:pPr>
            <a:r>
              <a:rPr sz="600" b="0" i="0">
                <a:solidFill>
                  <a:srgbClr val="000000"/>
                </a:solidFill>
                <a:latin typeface="Consolas"/>
              </a:rPr>
              <a:t>  sku: "ELEC-1001"</a:t>
            </a:r>
          </a:p>
          <a:p>
            <a:pPr>
              <a:spcBef>
                <a:spcPts val="0"/>
              </a:spcBef>
              <a:spcAft>
                <a:spcPts val="0"/>
              </a:spcAft>
            </a:pPr>
            <a:r>
              <a:rPr sz="600" b="0" i="0">
                <a:solidFill>
                  <a:srgbClr val="000000"/>
                </a:solidFill>
                <a:latin typeface="Consolas"/>
              </a:rPr>
              <a:t>})</a:t>
            </a:r>
          </a:p>
        </p:txBody>
      </p:sp>
      <p:sp>
        <p:nvSpPr>
          <p:cNvPr id="11" name="Rounded Rectangle 10"/>
          <p:cNvSpPr/>
          <p:nvPr/>
        </p:nvSpPr>
        <p:spPr>
          <a:xfrm>
            <a:off x="6153912" y="3548790"/>
            <a:ext cx="5550408" cy="1106424"/>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81928" y="3640230"/>
            <a:ext cx="5294376" cy="941832"/>
          </a:xfrm>
          <a:prstGeom prst="rect">
            <a:avLst/>
          </a:prstGeom>
          <a:noFill/>
        </p:spPr>
        <p:txBody>
          <a:bodyPr wrap="square" anchor="t" lIns="0" rIns="0" tIns="0" bIns="0">
            <a:spAutoFit/>
          </a:bodyPr>
          <a:lstStyle/>
          <a:p>
            <a:pPr>
              <a:spcBef>
                <a:spcPts val="0"/>
              </a:spcBef>
              <a:spcAft>
                <a:spcPts val="0"/>
              </a:spcAft>
            </a:pPr>
            <a:r>
              <a:rPr sz="600" b="0" i="0">
                <a:solidFill>
                  <a:srgbClr val="000000"/>
                </a:solidFill>
                <a:latin typeface="Consolas"/>
              </a:rPr>
              <a:t>db.products.createIndex(</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sku: 1</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unique: true,</a:t>
            </a:r>
          </a:p>
          <a:p>
            <a:pPr>
              <a:spcBef>
                <a:spcPts val="0"/>
              </a:spcBef>
              <a:spcAft>
                <a:spcPts val="0"/>
              </a:spcAft>
            </a:pPr>
            <a:r>
              <a:rPr sz="600" b="0" i="0">
                <a:solidFill>
                  <a:srgbClr val="000000"/>
                </a:solidFill>
                <a:latin typeface="Consolas"/>
              </a:rPr>
              <a:t>    name: "uq_products_sku"</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a:t>
            </a:r>
          </a:p>
        </p:txBody>
      </p:sp>
      <p:sp>
        <p:nvSpPr>
          <p:cNvPr id="13" name="Rectangle 12"/>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66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BROWSE PRODUCTS BY CATEGORY AND PRICE</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024478"/>
            <a:ext cx="237744" cy="237744"/>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2447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00619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408526"/>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Query:</a:t>
            </a:r>
          </a:p>
        </p:txBody>
      </p:sp>
      <p:sp>
        <p:nvSpPr>
          <p:cNvPr id="8" name="TextBox 7"/>
          <p:cNvSpPr txBox="1"/>
          <p:nvPr/>
        </p:nvSpPr>
        <p:spPr>
          <a:xfrm>
            <a:off x="457200" y="2978658"/>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Index:</a:t>
            </a:r>
          </a:p>
        </p:txBody>
      </p:sp>
      <p:sp>
        <p:nvSpPr>
          <p:cNvPr id="9" name="Rounded Rectangle 8"/>
          <p:cNvSpPr/>
          <p:nvPr/>
        </p:nvSpPr>
        <p:spPr>
          <a:xfrm>
            <a:off x="457200" y="3548790"/>
            <a:ext cx="5550408" cy="1106424"/>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 y="3640230"/>
            <a:ext cx="5294376" cy="941832"/>
          </a:xfrm>
          <a:prstGeom prst="rect">
            <a:avLst/>
          </a:prstGeom>
          <a:noFill/>
        </p:spPr>
        <p:txBody>
          <a:bodyPr wrap="square" anchor="t" lIns="0" rIns="0" tIns="0" bIns="0">
            <a:spAutoFit/>
          </a:bodyPr>
          <a:lstStyle/>
          <a:p>
            <a:pPr>
              <a:spcBef>
                <a:spcPts val="0"/>
              </a:spcBef>
              <a:spcAft>
                <a:spcPts val="0"/>
              </a:spcAft>
            </a:pPr>
            <a:r>
              <a:rPr sz="600" b="0" i="0">
                <a:solidFill>
                  <a:srgbClr val="000000"/>
                </a:solidFill>
                <a:latin typeface="Consolas"/>
              </a:rPr>
              <a:t>db.products.find({</a:t>
            </a:r>
          </a:p>
          <a:p>
            <a:pPr>
              <a:spcBef>
                <a:spcPts val="0"/>
              </a:spcBef>
              <a:spcAft>
                <a:spcPts val="0"/>
              </a:spcAft>
            </a:pPr>
            <a:r>
              <a:rPr sz="600" b="0" i="0">
                <a:solidFill>
                  <a:srgbClr val="000000"/>
                </a:solidFill>
                <a:latin typeface="Consolas"/>
              </a:rPr>
              <a:t>  category: "Electronics",</a:t>
            </a:r>
          </a:p>
          <a:p>
            <a:pPr>
              <a:spcBef>
                <a:spcPts val="0"/>
              </a:spcBef>
              <a:spcAft>
                <a:spcPts val="0"/>
              </a:spcAft>
            </a:pPr>
            <a:r>
              <a:rPr sz="600" b="0" i="0">
                <a:solidFill>
                  <a:srgbClr val="000000"/>
                </a:solidFill>
                <a:latin typeface="Consolas"/>
              </a:rPr>
              <a:t>  price: {</a:t>
            </a:r>
          </a:p>
          <a:p>
            <a:pPr>
              <a:spcBef>
                <a:spcPts val="0"/>
              </a:spcBef>
              <a:spcAft>
                <a:spcPts val="0"/>
              </a:spcAft>
            </a:pPr>
            <a:r>
              <a:rPr sz="600" b="0" i="0">
                <a:solidFill>
                  <a:srgbClr val="000000"/>
                </a:solidFill>
                <a:latin typeface="Consolas"/>
              </a:rPr>
              <a:t>    $lte: NumberDecimal("100.00")</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}).sort({</a:t>
            </a:r>
          </a:p>
          <a:p>
            <a:pPr>
              <a:spcBef>
                <a:spcPts val="0"/>
              </a:spcBef>
              <a:spcAft>
                <a:spcPts val="0"/>
              </a:spcAft>
            </a:pPr>
            <a:r>
              <a:rPr sz="600" b="0" i="0">
                <a:solidFill>
                  <a:srgbClr val="000000"/>
                </a:solidFill>
                <a:latin typeface="Consolas"/>
              </a:rPr>
              <a:t>  price: 1</a:t>
            </a:r>
          </a:p>
          <a:p>
            <a:pPr>
              <a:spcBef>
                <a:spcPts val="0"/>
              </a:spcBef>
              <a:spcAft>
                <a:spcPts val="0"/>
              </a:spcAft>
            </a:pPr>
            <a:r>
              <a:rPr sz="600" b="0" i="0">
                <a:solidFill>
                  <a:srgbClr val="000000"/>
                </a:solidFill>
                <a:latin typeface="Consolas"/>
              </a:rPr>
              <a:t>})</a:t>
            </a:r>
          </a:p>
        </p:txBody>
      </p:sp>
      <p:sp>
        <p:nvSpPr>
          <p:cNvPr id="11" name="Rounded Rectangle 10"/>
          <p:cNvSpPr/>
          <p:nvPr/>
        </p:nvSpPr>
        <p:spPr>
          <a:xfrm>
            <a:off x="6153912" y="3548790"/>
            <a:ext cx="5550408" cy="1106424"/>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81928" y="3640230"/>
            <a:ext cx="5294376" cy="941832"/>
          </a:xfrm>
          <a:prstGeom prst="rect">
            <a:avLst/>
          </a:prstGeom>
          <a:noFill/>
        </p:spPr>
        <p:txBody>
          <a:bodyPr wrap="square" anchor="t" lIns="0" rIns="0" tIns="0" bIns="0">
            <a:spAutoFit/>
          </a:bodyPr>
          <a:lstStyle/>
          <a:p>
            <a:pPr>
              <a:spcBef>
                <a:spcPts val="0"/>
              </a:spcBef>
              <a:spcAft>
                <a:spcPts val="0"/>
              </a:spcAft>
            </a:pPr>
            <a:r>
              <a:rPr sz="600" b="0" i="0">
                <a:solidFill>
                  <a:srgbClr val="000000"/>
                </a:solidFill>
                <a:latin typeface="Consolas"/>
              </a:rPr>
              <a:t>db.products.createIndex(</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category: 1,</a:t>
            </a:r>
          </a:p>
          <a:p>
            <a:pPr>
              <a:spcBef>
                <a:spcPts val="0"/>
              </a:spcBef>
              <a:spcAft>
                <a:spcPts val="0"/>
              </a:spcAft>
            </a:pPr>
            <a:r>
              <a:rPr sz="600" b="0" i="0">
                <a:solidFill>
                  <a:srgbClr val="000000"/>
                </a:solidFill>
                <a:latin typeface="Consolas"/>
              </a:rPr>
              <a:t>    price: 1</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name: "idx_products_category_price"</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a:t>
            </a:r>
          </a:p>
        </p:txBody>
      </p:sp>
      <p:sp>
        <p:nvSpPr>
          <p:cNvPr id="13" name="Rectangle 12"/>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67</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CUSTOMER LOOKUP BY EMAIL</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Rounded Rectangle 3"/>
          <p:cNvSpPr/>
          <p:nvPr/>
        </p:nvSpPr>
        <p:spPr>
          <a:xfrm>
            <a:off x="457200" y="2128266"/>
            <a:ext cx="11247120" cy="2766060"/>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85216" y="2219706"/>
            <a:ext cx="10991088" cy="2601468"/>
          </a:xfrm>
          <a:prstGeom prst="rect">
            <a:avLst/>
          </a:prstGeom>
          <a:noFill/>
        </p:spPr>
        <p:txBody>
          <a:bodyPr wrap="square" anchor="t" lIns="0" rIns="0" tIns="0" bIns="0">
            <a:spAutoFit/>
          </a:bodyPr>
          <a:lstStyle/>
          <a:p>
            <a:pPr>
              <a:spcBef>
                <a:spcPts val="0"/>
              </a:spcBef>
              <a:spcAft>
                <a:spcPts val="0"/>
              </a:spcAft>
            </a:pPr>
            <a:r>
              <a:rPr sz="1700" b="0" i="0">
                <a:solidFill>
                  <a:srgbClr val="000000"/>
                </a:solidFill>
                <a:latin typeface="Consolas"/>
              </a:rPr>
              <a:t>db.customers.createIndex(</a:t>
            </a:r>
          </a:p>
          <a:p>
            <a:pPr>
              <a:spcBef>
                <a:spcPts val="0"/>
              </a:spcBef>
              <a:spcAft>
                <a:spcPts val="0"/>
              </a:spcAft>
            </a:pPr>
            <a:r>
              <a:rPr sz="1700" b="0" i="0">
                <a:solidFill>
                  <a:srgbClr val="000000"/>
                </a:solidFill>
                <a:latin typeface="Consolas"/>
              </a:rPr>
              <a:t>  {</a:t>
            </a:r>
          </a:p>
          <a:p>
            <a:pPr>
              <a:spcBef>
                <a:spcPts val="0"/>
              </a:spcBef>
              <a:spcAft>
                <a:spcPts val="0"/>
              </a:spcAft>
            </a:pPr>
            <a:r>
              <a:rPr sz="1700" b="0" i="0">
                <a:solidFill>
                  <a:srgbClr val="000000"/>
                </a:solidFill>
                <a:latin typeface="Consolas"/>
              </a:rPr>
              <a:t>    email: 1</a:t>
            </a:r>
          </a:p>
          <a:p>
            <a:pPr>
              <a:spcBef>
                <a:spcPts val="0"/>
              </a:spcBef>
              <a:spcAft>
                <a:spcPts val="0"/>
              </a:spcAft>
            </a:pPr>
            <a:r>
              <a:rPr sz="1700" b="0" i="0">
                <a:solidFill>
                  <a:srgbClr val="000000"/>
                </a:solidFill>
                <a:latin typeface="Consolas"/>
              </a:rPr>
              <a:t>  },</a:t>
            </a:r>
          </a:p>
          <a:p>
            <a:pPr>
              <a:spcBef>
                <a:spcPts val="0"/>
              </a:spcBef>
              <a:spcAft>
                <a:spcPts val="0"/>
              </a:spcAft>
            </a:pPr>
            <a:r>
              <a:rPr sz="1700" b="0" i="0">
                <a:solidFill>
                  <a:srgbClr val="000000"/>
                </a:solidFill>
                <a:latin typeface="Consolas"/>
              </a:rPr>
              <a:t>  {</a:t>
            </a:r>
          </a:p>
          <a:p>
            <a:pPr>
              <a:spcBef>
                <a:spcPts val="0"/>
              </a:spcBef>
              <a:spcAft>
                <a:spcPts val="0"/>
              </a:spcAft>
            </a:pPr>
            <a:r>
              <a:rPr sz="1700" b="0" i="0">
                <a:solidFill>
                  <a:srgbClr val="000000"/>
                </a:solidFill>
                <a:latin typeface="Consolas"/>
              </a:rPr>
              <a:t>    unique: true,</a:t>
            </a:r>
          </a:p>
          <a:p>
            <a:pPr>
              <a:spcBef>
                <a:spcPts val="0"/>
              </a:spcBef>
              <a:spcAft>
                <a:spcPts val="0"/>
              </a:spcAft>
            </a:pPr>
            <a:r>
              <a:rPr sz="1700" b="0" i="0">
                <a:solidFill>
                  <a:srgbClr val="000000"/>
                </a:solidFill>
                <a:latin typeface="Consolas"/>
              </a:rPr>
              <a:t>    name: "uq_customers_email"</a:t>
            </a:r>
          </a:p>
          <a:p>
            <a:pPr>
              <a:spcBef>
                <a:spcPts val="0"/>
              </a:spcBef>
              <a:spcAft>
                <a:spcPts val="0"/>
              </a:spcAft>
            </a:pPr>
            <a:r>
              <a:rPr sz="1700" b="0" i="0">
                <a:solidFill>
                  <a:srgbClr val="000000"/>
                </a:solidFill>
                <a:latin typeface="Consolas"/>
              </a:rPr>
              <a:t>  }</a:t>
            </a:r>
          </a:p>
          <a:p>
            <a:pPr>
              <a:spcBef>
                <a:spcPts val="0"/>
              </a:spcBef>
              <a:spcAft>
                <a:spcPts val="0"/>
              </a:spcAft>
            </a:pPr>
            <a:r>
              <a:rPr sz="1700" b="0" i="0">
                <a:solidFill>
                  <a:srgbClr val="000000"/>
                </a:solidFill>
                <a:latin typeface="Consolas"/>
              </a:rPr>
              <a:t>)</a:t>
            </a:r>
          </a:p>
        </p:txBody>
      </p:sp>
      <p:sp>
        <p:nvSpPr>
          <p:cNvPr id="6" name="Rectangle 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68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CUSTOMER ORDER HISTORY</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024478"/>
            <a:ext cx="237744" cy="237744"/>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2447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00619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408526"/>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Query:</a:t>
            </a:r>
          </a:p>
        </p:txBody>
      </p:sp>
      <p:sp>
        <p:nvSpPr>
          <p:cNvPr id="8" name="TextBox 7"/>
          <p:cNvSpPr txBox="1"/>
          <p:nvPr/>
        </p:nvSpPr>
        <p:spPr>
          <a:xfrm>
            <a:off x="457200" y="2978658"/>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Index:</a:t>
            </a:r>
          </a:p>
        </p:txBody>
      </p:sp>
      <p:sp>
        <p:nvSpPr>
          <p:cNvPr id="9" name="Rounded Rectangle 8"/>
          <p:cNvSpPr/>
          <p:nvPr/>
        </p:nvSpPr>
        <p:spPr>
          <a:xfrm>
            <a:off x="457200" y="3548790"/>
            <a:ext cx="5550408" cy="1106424"/>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 y="3640230"/>
            <a:ext cx="5294376" cy="941832"/>
          </a:xfrm>
          <a:prstGeom prst="rect">
            <a:avLst/>
          </a:prstGeom>
          <a:noFill/>
        </p:spPr>
        <p:txBody>
          <a:bodyPr wrap="square" anchor="t" lIns="0" rIns="0" tIns="0" bIns="0">
            <a:spAutoFit/>
          </a:bodyPr>
          <a:lstStyle/>
          <a:p>
            <a:pPr>
              <a:spcBef>
                <a:spcPts val="0"/>
              </a:spcBef>
              <a:spcAft>
                <a:spcPts val="0"/>
              </a:spcAft>
            </a:pPr>
            <a:r>
              <a:rPr sz="600" b="0" i="0">
                <a:solidFill>
                  <a:srgbClr val="000000"/>
                </a:solidFill>
                <a:latin typeface="Consolas"/>
              </a:rPr>
              <a:t>db.orders.find({</a:t>
            </a:r>
          </a:p>
          <a:p>
            <a:pPr>
              <a:spcBef>
                <a:spcPts val="0"/>
              </a:spcBef>
              <a:spcAft>
                <a:spcPts val="0"/>
              </a:spcAft>
            </a:pPr>
            <a:r>
              <a:rPr sz="600" b="0" i="0">
                <a:solidFill>
                  <a:srgbClr val="000000"/>
                </a:solidFill>
                <a:latin typeface="Consolas"/>
              </a:rPr>
              <a:t>  customerId: customerId</a:t>
            </a:r>
          </a:p>
          <a:p>
            <a:pPr>
              <a:spcBef>
                <a:spcPts val="0"/>
              </a:spcBef>
              <a:spcAft>
                <a:spcPts val="0"/>
              </a:spcAft>
            </a:pPr>
            <a:r>
              <a:rPr sz="600" b="0" i="0">
                <a:solidFill>
                  <a:srgbClr val="000000"/>
                </a:solidFill>
                <a:latin typeface="Consolas"/>
              </a:rPr>
              <a:t>}).sort({</a:t>
            </a:r>
          </a:p>
          <a:p>
            <a:pPr>
              <a:spcBef>
                <a:spcPts val="0"/>
              </a:spcBef>
              <a:spcAft>
                <a:spcPts val="0"/>
              </a:spcAft>
            </a:pPr>
            <a:r>
              <a:rPr sz="600" b="0" i="0">
                <a:solidFill>
                  <a:srgbClr val="000000"/>
                </a:solidFill>
                <a:latin typeface="Consolas"/>
              </a:rPr>
              <a:t>  orderedAt: -1</a:t>
            </a:r>
          </a:p>
          <a:p>
            <a:pPr>
              <a:spcBef>
                <a:spcPts val="0"/>
              </a:spcBef>
              <a:spcAft>
                <a:spcPts val="0"/>
              </a:spcAft>
            </a:pPr>
            <a:r>
              <a:rPr sz="600" b="0" i="0">
                <a:solidFill>
                  <a:srgbClr val="000000"/>
                </a:solidFill>
                <a:latin typeface="Consolas"/>
              </a:rPr>
              <a:t>})</a:t>
            </a:r>
          </a:p>
        </p:txBody>
      </p:sp>
      <p:sp>
        <p:nvSpPr>
          <p:cNvPr id="11" name="Rounded Rectangle 10"/>
          <p:cNvSpPr/>
          <p:nvPr/>
        </p:nvSpPr>
        <p:spPr>
          <a:xfrm>
            <a:off x="6153912" y="3548790"/>
            <a:ext cx="5550408" cy="1106424"/>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81928" y="3640230"/>
            <a:ext cx="5294376" cy="941832"/>
          </a:xfrm>
          <a:prstGeom prst="rect">
            <a:avLst/>
          </a:prstGeom>
          <a:noFill/>
        </p:spPr>
        <p:txBody>
          <a:bodyPr wrap="square" anchor="t" lIns="0" rIns="0" tIns="0" bIns="0">
            <a:spAutoFit/>
          </a:bodyPr>
          <a:lstStyle/>
          <a:p>
            <a:pPr>
              <a:spcBef>
                <a:spcPts val="0"/>
              </a:spcBef>
              <a:spcAft>
                <a:spcPts val="0"/>
              </a:spcAft>
            </a:pPr>
            <a:r>
              <a:rPr sz="600" b="0" i="0">
                <a:solidFill>
                  <a:srgbClr val="000000"/>
                </a:solidFill>
                <a:latin typeface="Consolas"/>
              </a:rPr>
              <a:t>db.orders.createIndex(</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customerId: 1,</a:t>
            </a:r>
          </a:p>
          <a:p>
            <a:pPr>
              <a:spcBef>
                <a:spcPts val="0"/>
              </a:spcBef>
              <a:spcAft>
                <a:spcPts val="0"/>
              </a:spcAft>
            </a:pPr>
            <a:r>
              <a:rPr sz="600" b="0" i="0">
                <a:solidFill>
                  <a:srgbClr val="000000"/>
                </a:solidFill>
                <a:latin typeface="Consolas"/>
              </a:rPr>
              <a:t>    orderedAt: -1</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name: "idx_orders_customer_date"</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a:t>
            </a:r>
          </a:p>
        </p:txBody>
      </p:sp>
      <p:sp>
        <p:nvSpPr>
          <p:cNvPr id="13" name="Rectangle 12"/>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69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OPERATIONAL ORDER QUEUE</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024478"/>
            <a:ext cx="237744" cy="237744"/>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2447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00619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408526"/>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Query:</a:t>
            </a:r>
          </a:p>
        </p:txBody>
      </p:sp>
      <p:sp>
        <p:nvSpPr>
          <p:cNvPr id="8" name="TextBox 7"/>
          <p:cNvSpPr txBox="1"/>
          <p:nvPr/>
        </p:nvSpPr>
        <p:spPr>
          <a:xfrm>
            <a:off x="457200" y="2978658"/>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Index:</a:t>
            </a:r>
          </a:p>
        </p:txBody>
      </p:sp>
      <p:sp>
        <p:nvSpPr>
          <p:cNvPr id="9" name="Rounded Rectangle 8"/>
          <p:cNvSpPr/>
          <p:nvPr/>
        </p:nvSpPr>
        <p:spPr>
          <a:xfrm>
            <a:off x="457200" y="3548790"/>
            <a:ext cx="5550408" cy="1106424"/>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 y="3640230"/>
            <a:ext cx="5294376" cy="941832"/>
          </a:xfrm>
          <a:prstGeom prst="rect">
            <a:avLst/>
          </a:prstGeom>
          <a:noFill/>
        </p:spPr>
        <p:txBody>
          <a:bodyPr wrap="square" anchor="t" lIns="0" rIns="0" tIns="0" bIns="0">
            <a:spAutoFit/>
          </a:bodyPr>
          <a:lstStyle/>
          <a:p>
            <a:pPr>
              <a:spcBef>
                <a:spcPts val="0"/>
              </a:spcBef>
              <a:spcAft>
                <a:spcPts val="0"/>
              </a:spcAft>
            </a:pPr>
            <a:r>
              <a:rPr sz="600" b="0" i="0">
                <a:solidFill>
                  <a:srgbClr val="000000"/>
                </a:solidFill>
                <a:latin typeface="Consolas"/>
              </a:rPr>
              <a:t>db.orders.find({</a:t>
            </a:r>
          </a:p>
          <a:p>
            <a:pPr>
              <a:spcBef>
                <a:spcPts val="0"/>
              </a:spcBef>
              <a:spcAft>
                <a:spcPts val="0"/>
              </a:spcAft>
            </a:pPr>
            <a:r>
              <a:rPr sz="600" b="0" i="0">
                <a:solidFill>
                  <a:srgbClr val="000000"/>
                </a:solidFill>
                <a:latin typeface="Consolas"/>
              </a:rPr>
              <a:t>  status: "Processing"</a:t>
            </a:r>
          </a:p>
          <a:p>
            <a:pPr>
              <a:spcBef>
                <a:spcPts val="0"/>
              </a:spcBef>
              <a:spcAft>
                <a:spcPts val="0"/>
              </a:spcAft>
            </a:pPr>
            <a:r>
              <a:rPr sz="600" b="0" i="0">
                <a:solidFill>
                  <a:srgbClr val="000000"/>
                </a:solidFill>
                <a:latin typeface="Consolas"/>
              </a:rPr>
              <a:t>}).sort({</a:t>
            </a:r>
          </a:p>
          <a:p>
            <a:pPr>
              <a:spcBef>
                <a:spcPts val="0"/>
              </a:spcBef>
              <a:spcAft>
                <a:spcPts val="0"/>
              </a:spcAft>
            </a:pPr>
            <a:r>
              <a:rPr sz="600" b="0" i="0">
                <a:solidFill>
                  <a:srgbClr val="000000"/>
                </a:solidFill>
                <a:latin typeface="Consolas"/>
              </a:rPr>
              <a:t>  orderedAt: 1</a:t>
            </a:r>
          </a:p>
          <a:p>
            <a:pPr>
              <a:spcBef>
                <a:spcPts val="0"/>
              </a:spcBef>
              <a:spcAft>
                <a:spcPts val="0"/>
              </a:spcAft>
            </a:pPr>
            <a:r>
              <a:rPr sz="600" b="0" i="0">
                <a:solidFill>
                  <a:srgbClr val="000000"/>
                </a:solidFill>
                <a:latin typeface="Consolas"/>
              </a:rPr>
              <a:t>})</a:t>
            </a:r>
          </a:p>
        </p:txBody>
      </p:sp>
      <p:sp>
        <p:nvSpPr>
          <p:cNvPr id="11" name="Rounded Rectangle 10"/>
          <p:cNvSpPr/>
          <p:nvPr/>
        </p:nvSpPr>
        <p:spPr>
          <a:xfrm>
            <a:off x="6153912" y="3548790"/>
            <a:ext cx="5550408" cy="1106424"/>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81928" y="3640230"/>
            <a:ext cx="5294376" cy="941832"/>
          </a:xfrm>
          <a:prstGeom prst="rect">
            <a:avLst/>
          </a:prstGeom>
          <a:noFill/>
        </p:spPr>
        <p:txBody>
          <a:bodyPr wrap="square" anchor="t" lIns="0" rIns="0" tIns="0" bIns="0">
            <a:spAutoFit/>
          </a:bodyPr>
          <a:lstStyle/>
          <a:p>
            <a:pPr>
              <a:spcBef>
                <a:spcPts val="0"/>
              </a:spcBef>
              <a:spcAft>
                <a:spcPts val="0"/>
              </a:spcAft>
            </a:pPr>
            <a:r>
              <a:rPr sz="600" b="0" i="0">
                <a:solidFill>
                  <a:srgbClr val="000000"/>
                </a:solidFill>
                <a:latin typeface="Consolas"/>
              </a:rPr>
              <a:t>db.orders.createIndex(</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status: 1,</a:t>
            </a:r>
          </a:p>
          <a:p>
            <a:pPr>
              <a:spcBef>
                <a:spcPts val="0"/>
              </a:spcBef>
              <a:spcAft>
                <a:spcPts val="0"/>
              </a:spcAft>
            </a:pPr>
            <a:r>
              <a:rPr sz="600" b="0" i="0">
                <a:solidFill>
                  <a:srgbClr val="000000"/>
                </a:solidFill>
                <a:latin typeface="Consolas"/>
              </a:rPr>
              <a:t>    orderedAt: 1</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name: "idx_orders_status_date"</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a:t>
            </a:r>
          </a:p>
        </p:txBody>
      </p:sp>
      <p:sp>
        <p:nvSpPr>
          <p:cNvPr id="13" name="Rectangle 12"/>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70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PRODUCT REVIEW HISTORY</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024478"/>
            <a:ext cx="237744" cy="237744"/>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2447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00619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408526"/>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Query:</a:t>
            </a:r>
          </a:p>
        </p:txBody>
      </p:sp>
      <p:sp>
        <p:nvSpPr>
          <p:cNvPr id="8" name="TextBox 7"/>
          <p:cNvSpPr txBox="1"/>
          <p:nvPr/>
        </p:nvSpPr>
        <p:spPr>
          <a:xfrm>
            <a:off x="457200" y="2978658"/>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Index:</a:t>
            </a:r>
          </a:p>
        </p:txBody>
      </p:sp>
      <p:sp>
        <p:nvSpPr>
          <p:cNvPr id="9" name="Rounded Rectangle 8"/>
          <p:cNvSpPr/>
          <p:nvPr/>
        </p:nvSpPr>
        <p:spPr>
          <a:xfrm>
            <a:off x="457200" y="3548790"/>
            <a:ext cx="5550408" cy="1106424"/>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 y="3640230"/>
            <a:ext cx="5294376" cy="941832"/>
          </a:xfrm>
          <a:prstGeom prst="rect">
            <a:avLst/>
          </a:prstGeom>
          <a:noFill/>
        </p:spPr>
        <p:txBody>
          <a:bodyPr wrap="square" anchor="t" lIns="0" rIns="0" tIns="0" bIns="0">
            <a:spAutoFit/>
          </a:bodyPr>
          <a:lstStyle/>
          <a:p>
            <a:pPr>
              <a:spcBef>
                <a:spcPts val="0"/>
              </a:spcBef>
              <a:spcAft>
                <a:spcPts val="0"/>
              </a:spcAft>
            </a:pPr>
            <a:r>
              <a:rPr sz="600" b="0" i="0">
                <a:solidFill>
                  <a:srgbClr val="000000"/>
                </a:solidFill>
                <a:latin typeface="Consolas"/>
              </a:rPr>
              <a:t>db.reviews.find({</a:t>
            </a:r>
          </a:p>
          <a:p>
            <a:pPr>
              <a:spcBef>
                <a:spcPts val="0"/>
              </a:spcBef>
              <a:spcAft>
                <a:spcPts val="0"/>
              </a:spcAft>
            </a:pPr>
            <a:r>
              <a:rPr sz="600" b="0" i="0">
                <a:solidFill>
                  <a:srgbClr val="000000"/>
                </a:solidFill>
                <a:latin typeface="Consolas"/>
              </a:rPr>
              <a:t>  productId: productId</a:t>
            </a:r>
          </a:p>
          <a:p>
            <a:pPr>
              <a:spcBef>
                <a:spcPts val="0"/>
              </a:spcBef>
              <a:spcAft>
                <a:spcPts val="0"/>
              </a:spcAft>
            </a:pPr>
            <a:r>
              <a:rPr sz="600" b="0" i="0">
                <a:solidFill>
                  <a:srgbClr val="000000"/>
                </a:solidFill>
                <a:latin typeface="Consolas"/>
              </a:rPr>
              <a:t>}).sort({</a:t>
            </a:r>
          </a:p>
          <a:p>
            <a:pPr>
              <a:spcBef>
                <a:spcPts val="0"/>
              </a:spcBef>
              <a:spcAft>
                <a:spcPts val="0"/>
              </a:spcAft>
            </a:pPr>
            <a:r>
              <a:rPr sz="600" b="0" i="0">
                <a:solidFill>
                  <a:srgbClr val="000000"/>
                </a:solidFill>
                <a:latin typeface="Consolas"/>
              </a:rPr>
              <a:t>  createdAt: -1</a:t>
            </a:r>
          </a:p>
          <a:p>
            <a:pPr>
              <a:spcBef>
                <a:spcPts val="0"/>
              </a:spcBef>
              <a:spcAft>
                <a:spcPts val="0"/>
              </a:spcAft>
            </a:pPr>
            <a:r>
              <a:rPr sz="600" b="0" i="0">
                <a:solidFill>
                  <a:srgbClr val="000000"/>
                </a:solidFill>
                <a:latin typeface="Consolas"/>
              </a:rPr>
              <a:t>})</a:t>
            </a:r>
          </a:p>
        </p:txBody>
      </p:sp>
      <p:sp>
        <p:nvSpPr>
          <p:cNvPr id="11" name="Rounded Rectangle 10"/>
          <p:cNvSpPr/>
          <p:nvPr/>
        </p:nvSpPr>
        <p:spPr>
          <a:xfrm>
            <a:off x="6153912" y="3548790"/>
            <a:ext cx="5550408" cy="1106424"/>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81928" y="3640230"/>
            <a:ext cx="5294376" cy="941832"/>
          </a:xfrm>
          <a:prstGeom prst="rect">
            <a:avLst/>
          </a:prstGeom>
          <a:noFill/>
        </p:spPr>
        <p:txBody>
          <a:bodyPr wrap="square" anchor="t" lIns="0" rIns="0" tIns="0" bIns="0">
            <a:spAutoFit/>
          </a:bodyPr>
          <a:lstStyle/>
          <a:p>
            <a:pPr>
              <a:spcBef>
                <a:spcPts val="0"/>
              </a:spcBef>
              <a:spcAft>
                <a:spcPts val="0"/>
              </a:spcAft>
            </a:pPr>
            <a:r>
              <a:rPr sz="600" b="0" i="0">
                <a:solidFill>
                  <a:srgbClr val="000000"/>
                </a:solidFill>
                <a:latin typeface="Consolas"/>
              </a:rPr>
              <a:t>db.reviews.createIndex(</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productId: 1,</a:t>
            </a:r>
          </a:p>
          <a:p>
            <a:pPr>
              <a:spcBef>
                <a:spcPts val="0"/>
              </a:spcBef>
              <a:spcAft>
                <a:spcPts val="0"/>
              </a:spcAft>
            </a:pPr>
            <a:r>
              <a:rPr sz="600" b="0" i="0">
                <a:solidFill>
                  <a:srgbClr val="000000"/>
                </a:solidFill>
                <a:latin typeface="Consolas"/>
              </a:rPr>
              <a:t>    createdAt: -1</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name: "idx_reviews_product_date"</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a:t>
            </a:r>
          </a:p>
        </p:txBody>
      </p:sp>
      <p:sp>
        <p:nvSpPr>
          <p:cNvPr id="13" name="Rectangle 12"/>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71</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PREVENT DUPLICATE CUSTOMER REVIEWS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232760"/>
            <a:ext cx="237744" cy="237744"/>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32760"/>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214472"/>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616808"/>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If one customer may review a product only once:</a:t>
            </a:r>
          </a:p>
        </p:txBody>
      </p:sp>
      <p:sp>
        <p:nvSpPr>
          <p:cNvPr id="8" name="TextBox 7"/>
          <p:cNvSpPr txBox="1"/>
          <p:nvPr/>
        </p:nvSpPr>
        <p:spPr>
          <a:xfrm>
            <a:off x="457200" y="2186940"/>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This index enforces the business rule at the database level.</a:t>
            </a:r>
          </a:p>
        </p:txBody>
      </p:sp>
      <p:sp>
        <p:nvSpPr>
          <p:cNvPr id="9" name="Rounded Rectangle 8"/>
          <p:cNvSpPr/>
          <p:nvPr/>
        </p:nvSpPr>
        <p:spPr>
          <a:xfrm>
            <a:off x="457200" y="2757072"/>
            <a:ext cx="11247120" cy="3051048"/>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 y="2848512"/>
            <a:ext cx="10991088" cy="2886456"/>
          </a:xfrm>
          <a:prstGeom prst="rect">
            <a:avLst/>
          </a:prstGeom>
          <a:noFill/>
        </p:spPr>
        <p:txBody>
          <a:bodyPr wrap="square" anchor="t" lIns="0" rIns="0" tIns="0" bIns="0">
            <a:spAutoFit/>
          </a:bodyPr>
          <a:lstStyle/>
          <a:p>
            <a:pPr>
              <a:spcBef>
                <a:spcPts val="0"/>
              </a:spcBef>
              <a:spcAft>
                <a:spcPts val="0"/>
              </a:spcAft>
            </a:pPr>
            <a:r>
              <a:rPr sz="1700" b="0" i="0">
                <a:solidFill>
                  <a:srgbClr val="000000"/>
                </a:solidFill>
                <a:latin typeface="Consolas"/>
              </a:rPr>
              <a:t>db.reviews.createIndex(</a:t>
            </a:r>
          </a:p>
          <a:p>
            <a:pPr>
              <a:spcBef>
                <a:spcPts val="0"/>
              </a:spcBef>
              <a:spcAft>
                <a:spcPts val="0"/>
              </a:spcAft>
            </a:pPr>
            <a:r>
              <a:rPr sz="1700" b="0" i="0">
                <a:solidFill>
                  <a:srgbClr val="000000"/>
                </a:solidFill>
                <a:latin typeface="Consolas"/>
              </a:rPr>
              <a:t>  {</a:t>
            </a:r>
          </a:p>
          <a:p>
            <a:pPr>
              <a:spcBef>
                <a:spcPts val="0"/>
              </a:spcBef>
              <a:spcAft>
                <a:spcPts val="0"/>
              </a:spcAft>
            </a:pPr>
            <a:r>
              <a:rPr sz="1700" b="0" i="0">
                <a:solidFill>
                  <a:srgbClr val="000000"/>
                </a:solidFill>
                <a:latin typeface="Consolas"/>
              </a:rPr>
              <a:t>    productId: 1,</a:t>
            </a:r>
          </a:p>
          <a:p>
            <a:pPr>
              <a:spcBef>
                <a:spcPts val="0"/>
              </a:spcBef>
              <a:spcAft>
                <a:spcPts val="0"/>
              </a:spcAft>
            </a:pPr>
            <a:r>
              <a:rPr sz="1700" b="0" i="0">
                <a:solidFill>
                  <a:srgbClr val="000000"/>
                </a:solidFill>
                <a:latin typeface="Consolas"/>
              </a:rPr>
              <a:t>    customerId: 1</a:t>
            </a:r>
          </a:p>
          <a:p>
            <a:pPr>
              <a:spcBef>
                <a:spcPts val="0"/>
              </a:spcBef>
              <a:spcAft>
                <a:spcPts val="0"/>
              </a:spcAft>
            </a:pPr>
            <a:r>
              <a:rPr sz="1700" b="0" i="0">
                <a:solidFill>
                  <a:srgbClr val="000000"/>
                </a:solidFill>
                <a:latin typeface="Consolas"/>
              </a:rPr>
              <a:t>  },</a:t>
            </a:r>
          </a:p>
          <a:p>
            <a:pPr>
              <a:spcBef>
                <a:spcPts val="0"/>
              </a:spcBef>
              <a:spcAft>
                <a:spcPts val="0"/>
              </a:spcAft>
            </a:pPr>
            <a:r>
              <a:rPr sz="1700" b="0" i="0">
                <a:solidFill>
                  <a:srgbClr val="000000"/>
                </a:solidFill>
                <a:latin typeface="Consolas"/>
              </a:rPr>
              <a:t>  {</a:t>
            </a:r>
          </a:p>
          <a:p>
            <a:pPr>
              <a:spcBef>
                <a:spcPts val="0"/>
              </a:spcBef>
              <a:spcAft>
                <a:spcPts val="0"/>
              </a:spcAft>
            </a:pPr>
            <a:r>
              <a:rPr sz="1700" b="0" i="0">
                <a:solidFill>
                  <a:srgbClr val="000000"/>
                </a:solidFill>
                <a:latin typeface="Consolas"/>
              </a:rPr>
              <a:t>    unique: true,</a:t>
            </a:r>
          </a:p>
          <a:p>
            <a:pPr>
              <a:spcBef>
                <a:spcPts val="0"/>
              </a:spcBef>
              <a:spcAft>
                <a:spcPts val="0"/>
              </a:spcAft>
            </a:pPr>
            <a:r>
              <a:rPr sz="1700" b="0" i="0">
                <a:solidFill>
                  <a:srgbClr val="000000"/>
                </a:solidFill>
                <a:latin typeface="Consolas"/>
              </a:rPr>
              <a:t>    name: "uq_reviews_product_customer"</a:t>
            </a:r>
          </a:p>
          <a:p>
            <a:pPr>
              <a:spcBef>
                <a:spcPts val="0"/>
              </a:spcBef>
              <a:spcAft>
                <a:spcPts val="0"/>
              </a:spcAft>
            </a:pPr>
            <a:r>
              <a:rPr sz="1700" b="0" i="0">
                <a:solidFill>
                  <a:srgbClr val="000000"/>
                </a:solidFill>
                <a:latin typeface="Consolas"/>
              </a:rPr>
              <a:t>  }</a:t>
            </a:r>
          </a:p>
          <a:p>
            <a:pPr>
              <a:spcBef>
                <a:spcPts val="0"/>
              </a:spcBef>
              <a:spcAft>
                <a:spcPts val="0"/>
              </a:spcAft>
            </a:pPr>
            <a:r>
              <a:rPr sz="1700" b="0" i="0">
                <a:solidFill>
                  <a:srgbClr val="000000"/>
                </a:solidFill>
                <a:latin typeface="Consolas"/>
              </a:rPr>
              <a:t>)</a:t>
            </a:r>
          </a:p>
        </p:txBody>
      </p:sp>
      <p:sp>
        <p:nvSpPr>
          <p:cNvPr id="11" name="Rectangle 1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72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INDEX-TYPE SELECTION GUIDE</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330259"/>
            <a:ext cx="237744" cy="237744"/>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30259"/>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311971"/>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graphicFrame>
        <p:nvGraphicFramePr>
          <p:cNvPr id="7" name="Table 6"/>
          <p:cNvGraphicFramePr>
            <a:graphicFrameLocks noGrp="1"/>
          </p:cNvGraphicFramePr>
          <p:nvPr/>
        </p:nvGraphicFramePr>
        <p:xfrm>
          <a:off x="457200" y="1714307"/>
          <a:ext cx="11247120" cy="3621020"/>
        </p:xfrm>
        <a:graphic>
          <a:graphicData uri="http://schemas.openxmlformats.org/drawingml/2006/table">
            <a:tbl>
              <a:tblPr firstRow="1" bandRow="1">
                <a:tableStyleId>{5C22544A-7EE6-4342-B048-85BDC9FD1C3A}</a:tableStyleId>
              </a:tblPr>
              <a:tblGrid>
                <a:gridCol w="7459143"/>
                <a:gridCol w="3787977"/>
              </a:tblGrid>
              <a:tr h="278540">
                <a:tc>
                  <a:txBody>
                    <a:bodyPr/>
                    <a:lstStyle/>
                    <a:p>
                      <a:pPr algn="l"/>
                      <a:r>
                        <a:rPr sz="1015" b="1">
                          <a:solidFill>
                            <a:srgbClr val="FFFFFF"/>
                          </a:solidFill>
                          <a:latin typeface="Nirmala UI"/>
                        </a:rPr>
                        <a:t>Workload</a:t>
                      </a:r>
                    </a:p>
                  </a:txBody>
                  <a:tcPr>
                    <a:solidFill>
                      <a:srgbClr val="002060"/>
                    </a:solidFill>
                  </a:tcPr>
                </a:tc>
                <a:tc>
                  <a:txBody>
                    <a:bodyPr/>
                    <a:lstStyle/>
                    <a:p>
                      <a:pPr algn="l"/>
                      <a:r>
                        <a:rPr sz="1015" b="1">
                          <a:solidFill>
                            <a:srgbClr val="FFFFFF"/>
                          </a:solidFill>
                          <a:latin typeface="Nirmala UI"/>
                        </a:rPr>
                        <a:t>Appropriate index</a:t>
                      </a:r>
                    </a:p>
                  </a:txBody>
                  <a:tcPr>
                    <a:solidFill>
                      <a:srgbClr val="002060"/>
                    </a:solidFill>
                  </a:tcPr>
                </a:tc>
              </a:tr>
              <a:tr h="278540">
                <a:tc>
                  <a:txBody>
                    <a:bodyPr/>
                    <a:lstStyle/>
                    <a:p>
                      <a:r>
                        <a:rPr sz="1015" b="1">
                          <a:solidFill>
                            <a:srgbClr val="000000"/>
                          </a:solidFill>
                          <a:latin typeface="Nirmala UI"/>
                        </a:rPr>
                        <a:t>Lookup by one stable field</a:t>
                      </a:r>
                    </a:p>
                  </a:txBody>
                  <a:tcPr>
                    <a:solidFill>
                      <a:srgbClr val="FFFFFF"/>
                    </a:solidFill>
                  </a:tcPr>
                </a:tc>
                <a:tc>
                  <a:txBody>
                    <a:bodyPr/>
                    <a:lstStyle/>
                    <a:p>
                      <a:r>
                        <a:rPr sz="1015" b="0">
                          <a:solidFill>
                            <a:srgbClr val="000000"/>
                          </a:solidFill>
                          <a:latin typeface="Nirmala UI"/>
                        </a:rPr>
                        <a:t>Single-field</a:t>
                      </a:r>
                    </a:p>
                  </a:txBody>
                  <a:tcPr>
                    <a:solidFill>
                      <a:srgbClr val="FFFFFF"/>
                    </a:solidFill>
                  </a:tcPr>
                </a:tc>
              </a:tr>
              <a:tr h="278540">
                <a:tc>
                  <a:txBody>
                    <a:bodyPr/>
                    <a:lstStyle/>
                    <a:p>
                      <a:r>
                        <a:rPr sz="1015" b="1">
                          <a:solidFill>
                            <a:srgbClr val="000000"/>
                          </a:solidFill>
                          <a:latin typeface="Nirmala UI"/>
                        </a:rPr>
                        <a:t>Filter and sort across several fields</a:t>
                      </a:r>
                    </a:p>
                  </a:txBody>
                  <a:tcPr>
                    <a:solidFill>
                      <a:srgbClr val="F5F5F5"/>
                    </a:solidFill>
                  </a:tcPr>
                </a:tc>
                <a:tc>
                  <a:txBody>
                    <a:bodyPr/>
                    <a:lstStyle/>
                    <a:p>
                      <a:r>
                        <a:rPr sz="1015" b="0">
                          <a:solidFill>
                            <a:srgbClr val="000000"/>
                          </a:solidFill>
                          <a:latin typeface="Nirmala UI"/>
                        </a:rPr>
                        <a:t>Compound</a:t>
                      </a:r>
                    </a:p>
                  </a:txBody>
                  <a:tcPr>
                    <a:solidFill>
                      <a:srgbClr val="F5F5F5"/>
                    </a:solidFill>
                  </a:tcPr>
                </a:tc>
              </a:tr>
              <a:tr h="278540">
                <a:tc>
                  <a:txBody>
                    <a:bodyPr/>
                    <a:lstStyle/>
                    <a:p>
                      <a:r>
                        <a:rPr sz="1015" b="1">
                          <a:solidFill>
                            <a:srgbClr val="000000"/>
                          </a:solidFill>
                          <a:latin typeface="Nirmala UI"/>
                        </a:rPr>
                        <a:t>Enforce unique SKU or email</a:t>
                      </a:r>
                    </a:p>
                  </a:txBody>
                  <a:tcPr>
                    <a:solidFill>
                      <a:srgbClr val="FFFFFF"/>
                    </a:solidFill>
                  </a:tcPr>
                </a:tc>
                <a:tc>
                  <a:txBody>
                    <a:bodyPr/>
                    <a:lstStyle/>
                    <a:p>
                      <a:r>
                        <a:rPr sz="1015" b="0">
                          <a:solidFill>
                            <a:srgbClr val="000000"/>
                          </a:solidFill>
                          <a:latin typeface="Nirmala UI"/>
                        </a:rPr>
                        <a:t>Unique</a:t>
                      </a:r>
                    </a:p>
                  </a:txBody>
                  <a:tcPr>
                    <a:solidFill>
                      <a:srgbClr val="FFFFFF"/>
                    </a:solidFill>
                  </a:tcPr>
                </a:tc>
              </a:tr>
              <a:tr h="278540">
                <a:tc>
                  <a:txBody>
                    <a:bodyPr/>
                    <a:lstStyle/>
                    <a:p>
                      <a:r>
                        <a:rPr sz="1015" b="1">
                          <a:solidFill>
                            <a:srgbClr val="000000"/>
                          </a:solidFill>
                          <a:latin typeface="Nirmala UI"/>
                        </a:rPr>
                        <a:t>Search array elements</a:t>
                      </a:r>
                    </a:p>
                  </a:txBody>
                  <a:tcPr>
                    <a:solidFill>
                      <a:srgbClr val="F5F5F5"/>
                    </a:solidFill>
                  </a:tcPr>
                </a:tc>
                <a:tc>
                  <a:txBody>
                    <a:bodyPr/>
                    <a:lstStyle/>
                    <a:p>
                      <a:r>
                        <a:rPr sz="1015" b="0">
                          <a:solidFill>
                            <a:srgbClr val="000000"/>
                          </a:solidFill>
                          <a:latin typeface="Nirmala UI"/>
                        </a:rPr>
                        <a:t>Multikey</a:t>
                      </a:r>
                    </a:p>
                  </a:txBody>
                  <a:tcPr>
                    <a:solidFill>
                      <a:srgbClr val="F5F5F5"/>
                    </a:solidFill>
                  </a:tcPr>
                </a:tc>
              </a:tr>
              <a:tr h="278540">
                <a:tc>
                  <a:txBody>
                    <a:bodyPr/>
                    <a:lstStyle/>
                    <a:p>
                      <a:r>
                        <a:rPr sz="1015" b="1">
                          <a:solidFill>
                            <a:srgbClr val="000000"/>
                          </a:solidFill>
                          <a:latin typeface="Nirmala UI"/>
                        </a:rPr>
                        <a:t>Index only qualifying documents</a:t>
                      </a:r>
                    </a:p>
                  </a:txBody>
                  <a:tcPr>
                    <a:solidFill>
                      <a:srgbClr val="FFFFFF"/>
                    </a:solidFill>
                  </a:tcPr>
                </a:tc>
                <a:tc>
                  <a:txBody>
                    <a:bodyPr/>
                    <a:lstStyle/>
                    <a:p>
                      <a:r>
                        <a:rPr sz="1015" b="0">
                          <a:solidFill>
                            <a:srgbClr val="000000"/>
                          </a:solidFill>
                          <a:latin typeface="Nirmala UI"/>
                        </a:rPr>
                        <a:t>Partial</a:t>
                      </a:r>
                    </a:p>
                  </a:txBody>
                  <a:tcPr>
                    <a:solidFill>
                      <a:srgbClr val="FFFFFF"/>
                    </a:solidFill>
                  </a:tcPr>
                </a:tc>
              </a:tr>
              <a:tr h="278540">
                <a:tc>
                  <a:txBody>
                    <a:bodyPr/>
                    <a:lstStyle/>
                    <a:p>
                      <a:r>
                        <a:rPr sz="1015" b="1">
                          <a:solidFill>
                            <a:srgbClr val="000000"/>
                          </a:solidFill>
                          <a:latin typeface="Nirmala UI"/>
                        </a:rPr>
                        <a:t>Optional field exists in some records</a:t>
                      </a:r>
                    </a:p>
                  </a:txBody>
                  <a:tcPr>
                    <a:solidFill>
                      <a:srgbClr val="F5F5F5"/>
                    </a:solidFill>
                  </a:tcPr>
                </a:tc>
                <a:tc>
                  <a:txBody>
                    <a:bodyPr/>
                    <a:lstStyle/>
                    <a:p>
                      <a:r>
                        <a:rPr sz="1015" b="0">
                          <a:solidFill>
                            <a:srgbClr val="000000"/>
                          </a:solidFill>
                          <a:latin typeface="Nirmala UI"/>
                        </a:rPr>
                        <a:t>Partial or sparse</a:t>
                      </a:r>
                    </a:p>
                  </a:txBody>
                  <a:tcPr>
                    <a:solidFill>
                      <a:srgbClr val="F5F5F5"/>
                    </a:solidFill>
                  </a:tcPr>
                </a:tc>
              </a:tr>
              <a:tr h="278540">
                <a:tc>
                  <a:txBody>
                    <a:bodyPr/>
                    <a:lstStyle/>
                    <a:p>
                      <a:r>
                        <a:rPr sz="1015" b="1">
                          <a:solidFill>
                            <a:srgbClr val="000000"/>
                          </a:solidFill>
                          <a:latin typeface="Nirmala UI"/>
                        </a:rPr>
                        <a:t>Automatically expire documents</a:t>
                      </a:r>
                    </a:p>
                  </a:txBody>
                  <a:tcPr>
                    <a:solidFill>
                      <a:srgbClr val="FFFFFF"/>
                    </a:solidFill>
                  </a:tcPr>
                </a:tc>
                <a:tc>
                  <a:txBody>
                    <a:bodyPr/>
                    <a:lstStyle/>
                    <a:p>
                      <a:r>
                        <a:rPr sz="1015" b="0">
                          <a:solidFill>
                            <a:srgbClr val="000000"/>
                          </a:solidFill>
                          <a:latin typeface="Nirmala UI"/>
                        </a:rPr>
                        <a:t>TTL</a:t>
                      </a:r>
                    </a:p>
                  </a:txBody>
                  <a:tcPr>
                    <a:solidFill>
                      <a:srgbClr val="FFFFFF"/>
                    </a:solidFill>
                  </a:tcPr>
                </a:tc>
              </a:tr>
              <a:tr h="278540">
                <a:tc>
                  <a:txBody>
                    <a:bodyPr/>
                    <a:lstStyle/>
                    <a:p>
                      <a:r>
                        <a:rPr sz="1015" b="1">
                          <a:solidFill>
                            <a:srgbClr val="000000"/>
                          </a:solidFill>
                          <a:latin typeface="Nirmala UI"/>
                        </a:rPr>
                        <a:t>Basic self-managed word search</a:t>
                      </a:r>
                    </a:p>
                  </a:txBody>
                  <a:tcPr>
                    <a:solidFill>
                      <a:srgbClr val="F5F5F5"/>
                    </a:solidFill>
                  </a:tcPr>
                </a:tc>
                <a:tc>
                  <a:txBody>
                    <a:bodyPr/>
                    <a:lstStyle/>
                    <a:p>
                      <a:r>
                        <a:rPr sz="1015" b="0">
                          <a:solidFill>
                            <a:srgbClr val="000000"/>
                          </a:solidFill>
                          <a:latin typeface="Nirmala UI"/>
                        </a:rPr>
                        <a:t>Text</a:t>
                      </a:r>
                    </a:p>
                  </a:txBody>
                  <a:tcPr>
                    <a:solidFill>
                      <a:srgbClr val="F5F5F5"/>
                    </a:solidFill>
                  </a:tcPr>
                </a:tc>
              </a:tr>
              <a:tr h="278540">
                <a:tc>
                  <a:txBody>
                    <a:bodyPr/>
                    <a:lstStyle/>
                    <a:p>
                      <a:r>
                        <a:rPr sz="1015" b="1">
                          <a:solidFill>
                            <a:srgbClr val="000000"/>
                          </a:solidFill>
                          <a:latin typeface="Nirmala UI"/>
                        </a:rPr>
                        <a:t>Advanced full-text search</a:t>
                      </a:r>
                    </a:p>
                  </a:txBody>
                  <a:tcPr>
                    <a:solidFill>
                      <a:srgbClr val="FFFFFF"/>
                    </a:solidFill>
                  </a:tcPr>
                </a:tc>
                <a:tc>
                  <a:txBody>
                    <a:bodyPr/>
                    <a:lstStyle/>
                    <a:p>
                      <a:r>
                        <a:rPr sz="1015" b="0">
                          <a:solidFill>
                            <a:srgbClr val="000000"/>
                          </a:solidFill>
                          <a:latin typeface="Nirmala UI"/>
                        </a:rPr>
                        <a:t>MongoDB Search</a:t>
                      </a:r>
                    </a:p>
                  </a:txBody>
                  <a:tcPr>
                    <a:solidFill>
                      <a:srgbClr val="FFFFFF"/>
                    </a:solidFill>
                  </a:tcPr>
                </a:tc>
              </a:tr>
              <a:tr h="278540">
                <a:tc>
                  <a:txBody>
                    <a:bodyPr/>
                    <a:lstStyle/>
                    <a:p>
                      <a:r>
                        <a:rPr sz="1015" b="1">
                          <a:solidFill>
                            <a:srgbClr val="000000"/>
                          </a:solidFill>
                          <a:latin typeface="Nirmala UI"/>
                        </a:rPr>
                        <a:t>Flexible and unpredictable fields</a:t>
                      </a:r>
                    </a:p>
                  </a:txBody>
                  <a:tcPr>
                    <a:solidFill>
                      <a:srgbClr val="F5F5F5"/>
                    </a:solidFill>
                  </a:tcPr>
                </a:tc>
                <a:tc>
                  <a:txBody>
                    <a:bodyPr/>
                    <a:lstStyle/>
                    <a:p>
                      <a:r>
                        <a:rPr sz="1015" b="0">
                          <a:solidFill>
                            <a:srgbClr val="000000"/>
                          </a:solidFill>
                          <a:latin typeface="Nirmala UI"/>
                        </a:rPr>
                        <a:t>Wildcard</a:t>
                      </a:r>
                    </a:p>
                  </a:txBody>
                  <a:tcPr>
                    <a:solidFill>
                      <a:srgbClr val="F5F5F5"/>
                    </a:solidFill>
                  </a:tcPr>
                </a:tc>
              </a:tr>
              <a:tr h="278540">
                <a:tc>
                  <a:txBody>
                    <a:bodyPr/>
                    <a:lstStyle/>
                    <a:p>
                      <a:r>
                        <a:rPr sz="1015" b="1">
                          <a:solidFill>
                            <a:srgbClr val="000000"/>
                          </a:solidFill>
                          <a:latin typeface="Nirmala UI"/>
                        </a:rPr>
                        <a:t>Geographic proximity</a:t>
                      </a:r>
                    </a:p>
                  </a:txBody>
                  <a:tcPr>
                    <a:solidFill>
                      <a:srgbClr val="FFFFFF"/>
                    </a:solidFill>
                  </a:tcPr>
                </a:tc>
                <a:tc>
                  <a:txBody>
                    <a:bodyPr/>
                    <a:lstStyle/>
                    <a:p>
                      <a:r>
                        <a:rPr sz="1015" b="0">
                          <a:solidFill>
                            <a:srgbClr val="000000"/>
                          </a:solidFill>
                          <a:latin typeface="Nirmala UI"/>
                        </a:rPr>
                        <a:t>2dsphere</a:t>
                      </a:r>
                    </a:p>
                  </a:txBody>
                  <a:tcPr>
                    <a:solidFill>
                      <a:srgbClr val="FFFFFF"/>
                    </a:solidFill>
                  </a:tcPr>
                </a:tc>
              </a:tr>
              <a:tr h="278540">
                <a:tc>
                  <a:txBody>
                    <a:bodyPr/>
                    <a:lstStyle/>
                    <a:p>
                      <a:r>
                        <a:rPr sz="1015" b="1">
                          <a:solidFill>
                            <a:srgbClr val="000000"/>
                          </a:solidFill>
                          <a:latin typeface="Nirmala UI"/>
                        </a:rPr>
                        <a:t>Hashed shard-key distribution</a:t>
                      </a:r>
                    </a:p>
                  </a:txBody>
                  <a:tcPr>
                    <a:solidFill>
                      <a:srgbClr val="F5F5F5"/>
                    </a:solidFill>
                  </a:tcPr>
                </a:tc>
                <a:tc>
                  <a:txBody>
                    <a:bodyPr/>
                    <a:lstStyle/>
                    <a:p>
                      <a:r>
                        <a:rPr sz="1015" b="0">
                          <a:solidFill>
                            <a:srgbClr val="000000"/>
                          </a:solidFill>
                          <a:latin typeface="Nirmala UI"/>
                        </a:rPr>
                        <a:t>Hashed</a:t>
                      </a:r>
                    </a:p>
                  </a:txBody>
                  <a:tcPr>
                    <a:solidFill>
                      <a:srgbClr val="F5F5F5"/>
                    </a:solidFill>
                  </a:tcPr>
                </a:tc>
              </a:tr>
            </a:tbl>
          </a:graphicData>
        </a:graphic>
      </p:graphicFrame>
      <p:sp>
        <p:nvSpPr>
          <p:cNvPr id="8" name="TextBox 7"/>
          <p:cNvSpPr txBox="1"/>
          <p:nvPr/>
        </p:nvSpPr>
        <p:spPr>
          <a:xfrm>
            <a:off x="457200" y="5426767"/>
            <a:ext cx="11247120" cy="283854"/>
          </a:xfrm>
          <a:prstGeom prst="rect">
            <a:avLst/>
          </a:prstGeom>
          <a:noFill/>
        </p:spPr>
        <p:txBody>
          <a:bodyPr wrap="square" anchor="t" lIns="0" rIns="0" tIns="0" bIns="0">
            <a:spAutoFit/>
          </a:bodyPr>
          <a:lstStyle/>
          <a:p>
            <a:pPr>
              <a:spcBef>
                <a:spcPts val="0"/>
              </a:spcBef>
              <a:spcAft>
                <a:spcPts val="423"/>
              </a:spcAft>
            </a:pPr>
            <a:r>
              <a:rPr sz="1100" b="0" i="0">
                <a:solidFill>
                  <a:srgbClr val="000000"/>
                </a:solidFill>
                <a:latin typeface="Nirmala UI"/>
              </a:rPr>
              <a:t>MongoDB supports compound, multikey, wildcard, geospatial, hashed, text and clustered index types, among others.</a:t>
            </a:r>
          </a:p>
        </p:txBody>
      </p:sp>
      <p:sp>
        <p:nvSpPr>
          <p:cNvPr id="9" name="Rectangle 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73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1: ESTABLISH THE BASELINE</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443072"/>
            <a:ext cx="237744" cy="237744"/>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43072"/>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424784"/>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827120"/>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Run:</a:t>
            </a:r>
          </a:p>
        </p:txBody>
      </p:sp>
      <p:sp>
        <p:nvSpPr>
          <p:cNvPr id="8" name="TextBox 7"/>
          <p:cNvSpPr txBox="1"/>
          <p:nvPr/>
        </p:nvSpPr>
        <p:spPr>
          <a:xfrm>
            <a:off x="457200" y="2397252"/>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Record:</a:t>
            </a:r>
          </a:p>
        </p:txBody>
      </p:sp>
      <p:sp>
        <p:nvSpPr>
          <p:cNvPr id="9" name="Rounded Rectangle 8"/>
          <p:cNvSpPr/>
          <p:nvPr/>
        </p:nvSpPr>
        <p:spPr>
          <a:xfrm>
            <a:off x="457200" y="2967384"/>
            <a:ext cx="11247120" cy="502920"/>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 y="3058824"/>
            <a:ext cx="10991088" cy="338328"/>
          </a:xfrm>
          <a:prstGeom prst="rect">
            <a:avLst/>
          </a:prstGeom>
          <a:noFill/>
        </p:spPr>
        <p:txBody>
          <a:bodyPr wrap="square" anchor="t" lIns="0" rIns="0" tIns="0" bIns="0">
            <a:spAutoFit/>
          </a:bodyPr>
          <a:lstStyle/>
          <a:p>
            <a:pPr>
              <a:spcBef>
                <a:spcPts val="0"/>
              </a:spcBef>
              <a:spcAft>
                <a:spcPts val="0"/>
              </a:spcAft>
            </a:pPr>
            <a:r>
              <a:rPr sz="900" b="0" i="0">
                <a:solidFill>
                  <a:srgbClr val="000000"/>
                </a:solidFill>
                <a:latin typeface="Consolas"/>
              </a:rPr>
              <a:t>const customerId =</a:t>
            </a:r>
          </a:p>
          <a:p>
            <a:pPr>
              <a:spcBef>
                <a:spcPts val="0"/>
              </a:spcBef>
              <a:spcAft>
                <a:spcPts val="0"/>
              </a:spcAft>
            </a:pPr>
            <a:r>
              <a:rPr sz="900" b="0" i="0">
                <a:solidFill>
                  <a:srgbClr val="000000"/>
                </a:solidFill>
                <a:latin typeface="Consolas"/>
              </a:rPr>
              <a:t>  ObjectId("66a100000000000000000001");</a:t>
            </a:r>
          </a:p>
        </p:txBody>
      </p:sp>
      <p:sp>
        <p:nvSpPr>
          <p:cNvPr id="11" name="Rounded Rectangle 10"/>
          <p:cNvSpPr/>
          <p:nvPr/>
        </p:nvSpPr>
        <p:spPr>
          <a:xfrm>
            <a:off x="457200" y="3561744"/>
            <a:ext cx="11247120" cy="955548"/>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 y="3653184"/>
            <a:ext cx="10991088" cy="790956"/>
          </a:xfrm>
          <a:prstGeom prst="rect">
            <a:avLst/>
          </a:prstGeom>
          <a:noFill/>
        </p:spPr>
        <p:txBody>
          <a:bodyPr wrap="square" anchor="t" lIns="0" rIns="0" tIns="0" bIns="0">
            <a:spAutoFit/>
          </a:bodyPr>
          <a:lstStyle/>
          <a:p>
            <a:pPr>
              <a:spcBef>
                <a:spcPts val="0"/>
              </a:spcBef>
              <a:spcAft>
                <a:spcPts val="0"/>
              </a:spcAft>
            </a:pPr>
            <a:r>
              <a:rPr sz="900" b="0" i="0">
                <a:solidFill>
                  <a:srgbClr val="000000"/>
                </a:solidFill>
                <a:latin typeface="Consolas"/>
              </a:rPr>
              <a:t>db.orders.find({</a:t>
            </a:r>
          </a:p>
          <a:p>
            <a:pPr>
              <a:spcBef>
                <a:spcPts val="0"/>
              </a:spcBef>
              <a:spcAft>
                <a:spcPts val="0"/>
              </a:spcAft>
            </a:pPr>
            <a:r>
              <a:rPr sz="900" b="0" i="0">
                <a:solidFill>
                  <a:srgbClr val="000000"/>
                </a:solidFill>
                <a:latin typeface="Consolas"/>
              </a:rPr>
              <a:t>  customerId: customerId</a:t>
            </a:r>
          </a:p>
          <a:p>
            <a:pPr>
              <a:spcBef>
                <a:spcPts val="0"/>
              </a:spcBef>
              <a:spcAft>
                <a:spcPts val="0"/>
              </a:spcAft>
            </a:pPr>
            <a:r>
              <a:rPr sz="900" b="0" i="0">
                <a:solidFill>
                  <a:srgbClr val="000000"/>
                </a:solidFill>
                <a:latin typeface="Consolas"/>
              </a:rPr>
              <a:t>}).sort({</a:t>
            </a:r>
          </a:p>
          <a:p>
            <a:pPr>
              <a:spcBef>
                <a:spcPts val="0"/>
              </a:spcBef>
              <a:spcAft>
                <a:spcPts val="0"/>
              </a:spcAft>
            </a:pPr>
            <a:r>
              <a:rPr sz="900" b="0" i="0">
                <a:solidFill>
                  <a:srgbClr val="000000"/>
                </a:solidFill>
                <a:latin typeface="Consolas"/>
              </a:rPr>
              <a:t>  orderedAt: -1</a:t>
            </a:r>
          </a:p>
          <a:p>
            <a:pPr>
              <a:spcBef>
                <a:spcPts val="0"/>
              </a:spcBef>
              <a:spcAft>
                <a:spcPts val="0"/>
              </a:spcAft>
            </a:pPr>
            <a:r>
              <a:rPr sz="900" b="0" i="0">
                <a:solidFill>
                  <a:srgbClr val="000000"/>
                </a:solidFill>
                <a:latin typeface="Consolas"/>
              </a:rPr>
              <a:t>}).explain("executionStats")</a:t>
            </a:r>
          </a:p>
        </p:txBody>
      </p:sp>
      <p:sp>
        <p:nvSpPr>
          <p:cNvPr id="13" name="Rounded Rectangle 12"/>
          <p:cNvSpPr/>
          <p:nvPr/>
        </p:nvSpPr>
        <p:spPr>
          <a:xfrm>
            <a:off x="457200" y="4608732"/>
            <a:ext cx="11247120" cy="804672"/>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5216" y="4700172"/>
            <a:ext cx="10991088" cy="640080"/>
          </a:xfrm>
          <a:prstGeom prst="rect">
            <a:avLst/>
          </a:prstGeom>
          <a:noFill/>
        </p:spPr>
        <p:txBody>
          <a:bodyPr wrap="square" anchor="t" lIns="0" rIns="0" tIns="0" bIns="0">
            <a:spAutoFit/>
          </a:bodyPr>
          <a:lstStyle/>
          <a:p>
            <a:pPr>
              <a:spcBef>
                <a:spcPts val="0"/>
              </a:spcBef>
              <a:spcAft>
                <a:spcPts val="0"/>
              </a:spcAft>
            </a:pPr>
            <a:r>
              <a:rPr sz="900" b="0" i="0">
                <a:solidFill>
                  <a:srgbClr val="000000"/>
                </a:solidFill>
                <a:latin typeface="Consolas"/>
              </a:rPr>
              <a:t>winning plan:</a:t>
            </a:r>
          </a:p>
          <a:p>
            <a:pPr>
              <a:spcBef>
                <a:spcPts val="0"/>
              </a:spcBef>
              <a:spcAft>
                <a:spcPts val="0"/>
              </a:spcAft>
            </a:pPr>
            <a:r>
              <a:rPr sz="900" b="0" i="0">
                <a:solidFill>
                  <a:srgbClr val="000000"/>
                </a:solidFill>
                <a:latin typeface="Consolas"/>
              </a:rPr>
              <a:t>nReturned:</a:t>
            </a:r>
          </a:p>
          <a:p>
            <a:pPr>
              <a:spcBef>
                <a:spcPts val="0"/>
              </a:spcBef>
              <a:spcAft>
                <a:spcPts val="0"/>
              </a:spcAft>
            </a:pPr>
            <a:r>
              <a:rPr sz="900" b="0" i="0">
                <a:solidFill>
                  <a:srgbClr val="000000"/>
                </a:solidFill>
                <a:latin typeface="Consolas"/>
              </a:rPr>
              <a:t>totalKeysExamined:</a:t>
            </a:r>
          </a:p>
          <a:p>
            <a:pPr>
              <a:spcBef>
                <a:spcPts val="0"/>
              </a:spcBef>
              <a:spcAft>
                <a:spcPts val="0"/>
              </a:spcAft>
            </a:pPr>
            <a:r>
              <a:rPr sz="900" b="0" i="0">
                <a:solidFill>
                  <a:srgbClr val="000000"/>
                </a:solidFill>
                <a:latin typeface="Consolas"/>
              </a:rPr>
              <a:t>totalDocsExamined:</a:t>
            </a:r>
          </a:p>
        </p:txBody>
      </p:sp>
      <p:sp>
        <p:nvSpPr>
          <p:cNvPr id="15" name="Rectangle 1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74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2: CREATE THE INDEX</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Rounded Rectangle 3"/>
          <p:cNvSpPr/>
          <p:nvPr/>
        </p:nvSpPr>
        <p:spPr>
          <a:xfrm>
            <a:off x="457200" y="2128266"/>
            <a:ext cx="11247120" cy="2766060"/>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85216" y="2219706"/>
            <a:ext cx="10991088" cy="2601468"/>
          </a:xfrm>
          <a:prstGeom prst="rect">
            <a:avLst/>
          </a:prstGeom>
          <a:noFill/>
        </p:spPr>
        <p:txBody>
          <a:bodyPr wrap="square" anchor="t" lIns="0" rIns="0" tIns="0" bIns="0">
            <a:spAutoFit/>
          </a:bodyPr>
          <a:lstStyle/>
          <a:p>
            <a:pPr>
              <a:spcBef>
                <a:spcPts val="0"/>
              </a:spcBef>
              <a:spcAft>
                <a:spcPts val="0"/>
              </a:spcAft>
            </a:pPr>
            <a:r>
              <a:rPr sz="1700" b="0" i="0">
                <a:solidFill>
                  <a:srgbClr val="000000"/>
                </a:solidFill>
                <a:latin typeface="Consolas"/>
              </a:rPr>
              <a:t>db.orders.createIndex(</a:t>
            </a:r>
          </a:p>
          <a:p>
            <a:pPr>
              <a:spcBef>
                <a:spcPts val="0"/>
              </a:spcBef>
              <a:spcAft>
                <a:spcPts val="0"/>
              </a:spcAft>
            </a:pPr>
            <a:r>
              <a:rPr sz="1700" b="0" i="0">
                <a:solidFill>
                  <a:srgbClr val="000000"/>
                </a:solidFill>
                <a:latin typeface="Consolas"/>
              </a:rPr>
              <a:t>  {</a:t>
            </a:r>
          </a:p>
          <a:p>
            <a:pPr>
              <a:spcBef>
                <a:spcPts val="0"/>
              </a:spcBef>
              <a:spcAft>
                <a:spcPts val="0"/>
              </a:spcAft>
            </a:pPr>
            <a:r>
              <a:rPr sz="1700" b="0" i="0">
                <a:solidFill>
                  <a:srgbClr val="000000"/>
                </a:solidFill>
                <a:latin typeface="Consolas"/>
              </a:rPr>
              <a:t>    customerId: 1,</a:t>
            </a:r>
          </a:p>
          <a:p>
            <a:pPr>
              <a:spcBef>
                <a:spcPts val="0"/>
              </a:spcBef>
              <a:spcAft>
                <a:spcPts val="0"/>
              </a:spcAft>
            </a:pPr>
            <a:r>
              <a:rPr sz="1700" b="0" i="0">
                <a:solidFill>
                  <a:srgbClr val="000000"/>
                </a:solidFill>
                <a:latin typeface="Consolas"/>
              </a:rPr>
              <a:t>    orderedAt: -1</a:t>
            </a:r>
          </a:p>
          <a:p>
            <a:pPr>
              <a:spcBef>
                <a:spcPts val="0"/>
              </a:spcBef>
              <a:spcAft>
                <a:spcPts val="0"/>
              </a:spcAft>
            </a:pPr>
            <a:r>
              <a:rPr sz="1700" b="0" i="0">
                <a:solidFill>
                  <a:srgbClr val="000000"/>
                </a:solidFill>
                <a:latin typeface="Consolas"/>
              </a:rPr>
              <a:t>  },</a:t>
            </a:r>
          </a:p>
          <a:p>
            <a:pPr>
              <a:spcBef>
                <a:spcPts val="0"/>
              </a:spcBef>
              <a:spcAft>
                <a:spcPts val="0"/>
              </a:spcAft>
            </a:pPr>
            <a:r>
              <a:rPr sz="1700" b="0" i="0">
                <a:solidFill>
                  <a:srgbClr val="000000"/>
                </a:solidFill>
                <a:latin typeface="Consolas"/>
              </a:rPr>
              <a:t>  {</a:t>
            </a:r>
          </a:p>
          <a:p>
            <a:pPr>
              <a:spcBef>
                <a:spcPts val="0"/>
              </a:spcBef>
              <a:spcAft>
                <a:spcPts val="0"/>
              </a:spcAft>
            </a:pPr>
            <a:r>
              <a:rPr sz="1700" b="0" i="0">
                <a:solidFill>
                  <a:srgbClr val="000000"/>
                </a:solidFill>
                <a:latin typeface="Consolas"/>
              </a:rPr>
              <a:t>    name: "idx_orders_customer_date"</a:t>
            </a:r>
          </a:p>
          <a:p>
            <a:pPr>
              <a:spcBef>
                <a:spcPts val="0"/>
              </a:spcBef>
              <a:spcAft>
                <a:spcPts val="0"/>
              </a:spcAft>
            </a:pPr>
            <a:r>
              <a:rPr sz="1700" b="0" i="0">
                <a:solidFill>
                  <a:srgbClr val="000000"/>
                </a:solidFill>
                <a:latin typeface="Consolas"/>
              </a:rPr>
              <a:t>  }</a:t>
            </a:r>
          </a:p>
          <a:p>
            <a:pPr>
              <a:spcBef>
                <a:spcPts val="0"/>
              </a:spcBef>
              <a:spcAft>
                <a:spcPts val="0"/>
              </a:spcAft>
            </a:pPr>
            <a:r>
              <a:rPr sz="1700" b="0" i="0">
                <a:solidFill>
                  <a:srgbClr val="000000"/>
                </a:solidFill>
                <a:latin typeface="Consolas"/>
              </a:rPr>
              <a:t>)</a:t>
            </a:r>
          </a:p>
        </p:txBody>
      </p:sp>
      <p:sp>
        <p:nvSpPr>
          <p:cNvPr id="6" name="Rectangle 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75</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3: MEASURE AGAIN</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230296"/>
            <a:ext cx="237744" cy="237744"/>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30296"/>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212008"/>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614344"/>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Compare the execution metrics.</a:t>
            </a:r>
          </a:p>
        </p:txBody>
      </p:sp>
      <p:sp>
        <p:nvSpPr>
          <p:cNvPr id="8" name="Rounded Rectangle 7"/>
          <p:cNvSpPr/>
          <p:nvPr/>
        </p:nvSpPr>
        <p:spPr>
          <a:xfrm>
            <a:off x="457200" y="3184476"/>
            <a:ext cx="11247120" cy="1626108"/>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5216" y="3275916"/>
            <a:ext cx="10991088" cy="1461516"/>
          </a:xfrm>
          <a:prstGeom prst="rect">
            <a:avLst/>
          </a:prstGeom>
          <a:noFill/>
        </p:spPr>
        <p:txBody>
          <a:bodyPr wrap="square" anchor="t" lIns="0" rIns="0" tIns="0" bIns="0">
            <a:spAutoFit/>
          </a:bodyPr>
          <a:lstStyle/>
          <a:p>
            <a:pPr>
              <a:spcBef>
                <a:spcPts val="0"/>
              </a:spcBef>
              <a:spcAft>
                <a:spcPts val="0"/>
              </a:spcAft>
            </a:pPr>
            <a:r>
              <a:rPr sz="1700" b="0" i="0">
                <a:solidFill>
                  <a:srgbClr val="000000"/>
                </a:solidFill>
                <a:latin typeface="Consolas"/>
              </a:rPr>
              <a:t>db.orders.find({</a:t>
            </a:r>
          </a:p>
          <a:p>
            <a:pPr>
              <a:spcBef>
                <a:spcPts val="0"/>
              </a:spcBef>
              <a:spcAft>
                <a:spcPts val="0"/>
              </a:spcAft>
            </a:pPr>
            <a:r>
              <a:rPr sz="1700" b="0" i="0">
                <a:solidFill>
                  <a:srgbClr val="000000"/>
                </a:solidFill>
                <a:latin typeface="Consolas"/>
              </a:rPr>
              <a:t>  customerId: customerId</a:t>
            </a:r>
          </a:p>
          <a:p>
            <a:pPr>
              <a:spcBef>
                <a:spcPts val="0"/>
              </a:spcBef>
              <a:spcAft>
                <a:spcPts val="0"/>
              </a:spcAft>
            </a:pPr>
            <a:r>
              <a:rPr sz="1700" b="0" i="0">
                <a:solidFill>
                  <a:srgbClr val="000000"/>
                </a:solidFill>
                <a:latin typeface="Consolas"/>
              </a:rPr>
              <a:t>}).sort({</a:t>
            </a:r>
          </a:p>
          <a:p>
            <a:pPr>
              <a:spcBef>
                <a:spcPts val="0"/>
              </a:spcBef>
              <a:spcAft>
                <a:spcPts val="0"/>
              </a:spcAft>
            </a:pPr>
            <a:r>
              <a:rPr sz="1700" b="0" i="0">
                <a:solidFill>
                  <a:srgbClr val="000000"/>
                </a:solidFill>
                <a:latin typeface="Consolas"/>
              </a:rPr>
              <a:t>  orderedAt: -1</a:t>
            </a:r>
          </a:p>
          <a:p>
            <a:pPr>
              <a:spcBef>
                <a:spcPts val="0"/>
              </a:spcBef>
              <a:spcAft>
                <a:spcPts val="0"/>
              </a:spcAft>
            </a:pPr>
            <a:r>
              <a:rPr sz="1700" b="0" i="0">
                <a:solidFill>
                  <a:srgbClr val="000000"/>
                </a:solidFill>
                <a:latin typeface="Consolas"/>
              </a:rPr>
              <a:t>}).explain("executionStats")</a:t>
            </a:r>
          </a:p>
        </p:txBody>
      </p:sp>
      <p:sp>
        <p:nvSpPr>
          <p:cNvPr id="10" name="Rectangle 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76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4: TEST A DIFFERENT QUERY SHAPE</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798086"/>
            <a:ext cx="237744" cy="237744"/>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798086"/>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779798"/>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182134"/>
            <a:ext cx="11247120" cy="81397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The customer-history index is not designed for this query because its leading field is </a:t>
            </a:r>
            <a:r>
              <a:rPr sz="2000" b="0" i="0">
                <a:solidFill>
                  <a:srgbClr val="000000"/>
                </a:solidFill>
                <a:latin typeface="Consolas"/>
              </a:rPr>
              <a:t>customerId</a:t>
            </a:r>
            <a:r>
              <a:rPr sz="2000" b="0" i="0">
                <a:solidFill>
                  <a:srgbClr val="000000"/>
                </a:solidFill>
                <a:latin typeface="Nirmala UI"/>
              </a:rPr>
              <a:t>.</a:t>
            </a:r>
          </a:p>
        </p:txBody>
      </p:sp>
      <p:sp>
        <p:nvSpPr>
          <p:cNvPr id="8" name="TextBox 7"/>
          <p:cNvSpPr txBox="1"/>
          <p:nvPr/>
        </p:nvSpPr>
        <p:spPr>
          <a:xfrm>
            <a:off x="457200" y="3087546"/>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Create a workload-specific index:</a:t>
            </a:r>
          </a:p>
        </p:txBody>
      </p:sp>
      <p:sp>
        <p:nvSpPr>
          <p:cNvPr id="9" name="TextBox 8"/>
          <p:cNvSpPr txBox="1"/>
          <p:nvPr/>
        </p:nvSpPr>
        <p:spPr>
          <a:xfrm>
            <a:off x="457200" y="3657678"/>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Run </a:t>
            </a:r>
            <a:r>
              <a:rPr sz="2000" b="0" i="0">
                <a:solidFill>
                  <a:srgbClr val="000000"/>
                </a:solidFill>
                <a:latin typeface="Consolas"/>
              </a:rPr>
              <a:t>explain()</a:t>
            </a:r>
            <a:r>
              <a:rPr sz="2000" b="0" i="0">
                <a:solidFill>
                  <a:srgbClr val="000000"/>
                </a:solidFill>
                <a:latin typeface="Nirmala UI"/>
              </a:rPr>
              <a:t> again.</a:t>
            </a:r>
          </a:p>
        </p:txBody>
      </p:sp>
      <p:sp>
        <p:nvSpPr>
          <p:cNvPr id="10" name="Rounded Rectangle 9"/>
          <p:cNvSpPr/>
          <p:nvPr/>
        </p:nvSpPr>
        <p:spPr>
          <a:xfrm>
            <a:off x="457200" y="4227810"/>
            <a:ext cx="5550408" cy="1106424"/>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 y="4319250"/>
            <a:ext cx="5294376" cy="941832"/>
          </a:xfrm>
          <a:prstGeom prst="rect">
            <a:avLst/>
          </a:prstGeom>
          <a:noFill/>
        </p:spPr>
        <p:txBody>
          <a:bodyPr wrap="square" anchor="t" lIns="0" rIns="0" tIns="0" bIns="0">
            <a:spAutoFit/>
          </a:bodyPr>
          <a:lstStyle/>
          <a:p>
            <a:pPr>
              <a:spcBef>
                <a:spcPts val="0"/>
              </a:spcBef>
              <a:spcAft>
                <a:spcPts val="0"/>
              </a:spcAft>
            </a:pPr>
            <a:r>
              <a:rPr sz="600" b="0" i="0">
                <a:solidFill>
                  <a:srgbClr val="000000"/>
                </a:solidFill>
                <a:latin typeface="Consolas"/>
              </a:rPr>
              <a:t>db.orders.find({</a:t>
            </a:r>
          </a:p>
          <a:p>
            <a:pPr>
              <a:spcBef>
                <a:spcPts val="0"/>
              </a:spcBef>
              <a:spcAft>
                <a:spcPts val="0"/>
              </a:spcAft>
            </a:pPr>
            <a:r>
              <a:rPr sz="600" b="0" i="0">
                <a:solidFill>
                  <a:srgbClr val="000000"/>
                </a:solidFill>
                <a:latin typeface="Consolas"/>
              </a:rPr>
              <a:t>  status: "Processing"</a:t>
            </a:r>
          </a:p>
          <a:p>
            <a:pPr>
              <a:spcBef>
                <a:spcPts val="0"/>
              </a:spcBef>
              <a:spcAft>
                <a:spcPts val="0"/>
              </a:spcAft>
            </a:pPr>
            <a:r>
              <a:rPr sz="600" b="0" i="0">
                <a:solidFill>
                  <a:srgbClr val="000000"/>
                </a:solidFill>
                <a:latin typeface="Consolas"/>
              </a:rPr>
              <a:t>}).sort({</a:t>
            </a:r>
          </a:p>
          <a:p>
            <a:pPr>
              <a:spcBef>
                <a:spcPts val="0"/>
              </a:spcBef>
              <a:spcAft>
                <a:spcPts val="0"/>
              </a:spcAft>
            </a:pPr>
            <a:r>
              <a:rPr sz="600" b="0" i="0">
                <a:solidFill>
                  <a:srgbClr val="000000"/>
                </a:solidFill>
                <a:latin typeface="Consolas"/>
              </a:rPr>
              <a:t>  orderedAt: 1</a:t>
            </a:r>
          </a:p>
          <a:p>
            <a:pPr>
              <a:spcBef>
                <a:spcPts val="0"/>
              </a:spcBef>
              <a:spcAft>
                <a:spcPts val="0"/>
              </a:spcAft>
            </a:pPr>
            <a:r>
              <a:rPr sz="600" b="0" i="0">
                <a:solidFill>
                  <a:srgbClr val="000000"/>
                </a:solidFill>
                <a:latin typeface="Consolas"/>
              </a:rPr>
              <a:t>}).explain("executionStats")</a:t>
            </a:r>
          </a:p>
        </p:txBody>
      </p:sp>
      <p:sp>
        <p:nvSpPr>
          <p:cNvPr id="12" name="Rounded Rectangle 11"/>
          <p:cNvSpPr/>
          <p:nvPr/>
        </p:nvSpPr>
        <p:spPr>
          <a:xfrm>
            <a:off x="6153912" y="4227810"/>
            <a:ext cx="5550408" cy="1106424"/>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81928" y="4319250"/>
            <a:ext cx="5294376" cy="941832"/>
          </a:xfrm>
          <a:prstGeom prst="rect">
            <a:avLst/>
          </a:prstGeom>
          <a:noFill/>
        </p:spPr>
        <p:txBody>
          <a:bodyPr wrap="square" anchor="t" lIns="0" rIns="0" tIns="0" bIns="0">
            <a:spAutoFit/>
          </a:bodyPr>
          <a:lstStyle/>
          <a:p>
            <a:pPr>
              <a:spcBef>
                <a:spcPts val="0"/>
              </a:spcBef>
              <a:spcAft>
                <a:spcPts val="0"/>
              </a:spcAft>
            </a:pPr>
            <a:r>
              <a:rPr sz="600" b="0" i="0">
                <a:solidFill>
                  <a:srgbClr val="000000"/>
                </a:solidFill>
                <a:latin typeface="Consolas"/>
              </a:rPr>
              <a:t>db.orders.createIndex(</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status: 1,</a:t>
            </a:r>
          </a:p>
          <a:p>
            <a:pPr>
              <a:spcBef>
                <a:spcPts val="0"/>
              </a:spcBef>
              <a:spcAft>
                <a:spcPts val="0"/>
              </a:spcAft>
            </a:pPr>
            <a:r>
              <a:rPr sz="600" b="0" i="0">
                <a:solidFill>
                  <a:srgbClr val="000000"/>
                </a:solidFill>
                <a:latin typeface="Consolas"/>
              </a:rPr>
              <a:t>    orderedAt: 1</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    name: "idx_orders_status_date"</a:t>
            </a:r>
          </a:p>
          <a:p>
            <a:pPr>
              <a:spcBef>
                <a:spcPts val="0"/>
              </a:spcBef>
              <a:spcAft>
                <a:spcPts val="0"/>
              </a:spcAft>
            </a:pPr>
            <a:r>
              <a:rPr sz="600" b="0" i="0">
                <a:solidFill>
                  <a:srgbClr val="000000"/>
                </a:solidFill>
                <a:latin typeface="Consolas"/>
              </a:rPr>
              <a:t>  }</a:t>
            </a:r>
          </a:p>
          <a:p>
            <a:pPr>
              <a:spcBef>
                <a:spcPts val="0"/>
              </a:spcBef>
              <a:spcAft>
                <a:spcPts val="0"/>
              </a:spcAft>
            </a:pPr>
            <a:r>
              <a:rPr sz="600" b="0" i="0">
                <a:solidFill>
                  <a:srgbClr val="000000"/>
                </a:solidFill>
                <a:latin typeface="Consolas"/>
              </a:rPr>
              <a:t>)</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77</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5: TEST A MULTIKEY INDEX</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032860"/>
            <a:ext cx="237744" cy="237744"/>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32860"/>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014572"/>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416908"/>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Create:</a:t>
            </a:r>
          </a:p>
        </p:txBody>
      </p:sp>
      <p:sp>
        <p:nvSpPr>
          <p:cNvPr id="8" name="TextBox 7"/>
          <p:cNvSpPr txBox="1"/>
          <p:nvPr/>
        </p:nvSpPr>
        <p:spPr>
          <a:xfrm>
            <a:off x="457200" y="2987040"/>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Analyze:</a:t>
            </a:r>
          </a:p>
        </p:txBody>
      </p:sp>
      <p:sp>
        <p:nvSpPr>
          <p:cNvPr id="9" name="Rounded Rectangle 8"/>
          <p:cNvSpPr/>
          <p:nvPr/>
        </p:nvSpPr>
        <p:spPr>
          <a:xfrm>
            <a:off x="457200" y="3557172"/>
            <a:ext cx="5550408" cy="1139952"/>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 y="3648612"/>
            <a:ext cx="5294376" cy="975360"/>
          </a:xfrm>
          <a:prstGeom prst="rect">
            <a:avLst/>
          </a:prstGeom>
          <a:noFill/>
        </p:spPr>
        <p:txBody>
          <a:bodyPr wrap="square" anchor="t" lIns="0" rIns="0" tIns="0" bIns="0">
            <a:spAutoFit/>
          </a:bodyPr>
          <a:lstStyle/>
          <a:p>
            <a:pPr>
              <a:spcBef>
                <a:spcPts val="0"/>
              </a:spcBef>
              <a:spcAft>
                <a:spcPts val="0"/>
              </a:spcAft>
            </a:pPr>
            <a:r>
              <a:rPr sz="700" b="0" i="0">
                <a:solidFill>
                  <a:srgbClr val="000000"/>
                </a:solidFill>
                <a:latin typeface="Consolas"/>
              </a:rPr>
              <a:t>db.products.createIndex(</a:t>
            </a:r>
          </a:p>
          <a:p>
            <a:pPr>
              <a:spcBef>
                <a:spcPts val="0"/>
              </a:spcBef>
              <a:spcAft>
                <a:spcPts val="0"/>
              </a:spcAft>
            </a:pPr>
            <a:r>
              <a:rPr sz="700" b="0" i="0">
                <a:solidFill>
                  <a:srgbClr val="000000"/>
                </a:solidFill>
                <a:latin typeface="Consolas"/>
              </a:rPr>
              <a:t>  {</a:t>
            </a:r>
          </a:p>
          <a:p>
            <a:pPr>
              <a:spcBef>
                <a:spcPts val="0"/>
              </a:spcBef>
              <a:spcAft>
                <a:spcPts val="0"/>
              </a:spcAft>
            </a:pPr>
            <a:r>
              <a:rPr sz="700" b="0" i="0">
                <a:solidFill>
                  <a:srgbClr val="000000"/>
                </a:solidFill>
                <a:latin typeface="Consolas"/>
              </a:rPr>
              <a:t>    tags: 1</a:t>
            </a:r>
          </a:p>
          <a:p>
            <a:pPr>
              <a:spcBef>
                <a:spcPts val="0"/>
              </a:spcBef>
              <a:spcAft>
                <a:spcPts val="0"/>
              </a:spcAft>
            </a:pPr>
            <a:r>
              <a:rPr sz="700" b="0" i="0">
                <a:solidFill>
                  <a:srgbClr val="000000"/>
                </a:solidFill>
                <a:latin typeface="Consolas"/>
              </a:rPr>
              <a:t>  },</a:t>
            </a:r>
          </a:p>
          <a:p>
            <a:pPr>
              <a:spcBef>
                <a:spcPts val="0"/>
              </a:spcBef>
              <a:spcAft>
                <a:spcPts val="0"/>
              </a:spcAft>
            </a:pPr>
            <a:r>
              <a:rPr sz="700" b="0" i="0">
                <a:solidFill>
                  <a:srgbClr val="000000"/>
                </a:solidFill>
                <a:latin typeface="Consolas"/>
              </a:rPr>
              <a:t>  {</a:t>
            </a:r>
          </a:p>
          <a:p>
            <a:pPr>
              <a:spcBef>
                <a:spcPts val="0"/>
              </a:spcBef>
              <a:spcAft>
                <a:spcPts val="0"/>
              </a:spcAft>
            </a:pPr>
            <a:r>
              <a:rPr sz="700" b="0" i="0">
                <a:solidFill>
                  <a:srgbClr val="000000"/>
                </a:solidFill>
                <a:latin typeface="Consolas"/>
              </a:rPr>
              <a:t>    name: "idx_products_tags"</a:t>
            </a:r>
          </a:p>
          <a:p>
            <a:pPr>
              <a:spcBef>
                <a:spcPts val="0"/>
              </a:spcBef>
              <a:spcAft>
                <a:spcPts val="0"/>
              </a:spcAft>
            </a:pPr>
            <a:r>
              <a:rPr sz="700" b="0" i="0">
                <a:solidFill>
                  <a:srgbClr val="000000"/>
                </a:solidFill>
                <a:latin typeface="Consolas"/>
              </a:rPr>
              <a:t>  }</a:t>
            </a:r>
          </a:p>
          <a:p>
            <a:pPr>
              <a:spcBef>
                <a:spcPts val="0"/>
              </a:spcBef>
              <a:spcAft>
                <a:spcPts val="0"/>
              </a:spcAft>
            </a:pPr>
            <a:r>
              <a:rPr sz="700" b="0" i="0">
                <a:solidFill>
                  <a:srgbClr val="000000"/>
                </a:solidFill>
                <a:latin typeface="Consolas"/>
              </a:rPr>
              <a:t>)</a:t>
            </a:r>
          </a:p>
        </p:txBody>
      </p:sp>
      <p:sp>
        <p:nvSpPr>
          <p:cNvPr id="11" name="Rounded Rectangle 10"/>
          <p:cNvSpPr/>
          <p:nvPr/>
        </p:nvSpPr>
        <p:spPr>
          <a:xfrm>
            <a:off x="6153912" y="3557172"/>
            <a:ext cx="5550408" cy="1139952"/>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81928" y="3648612"/>
            <a:ext cx="5294376" cy="975360"/>
          </a:xfrm>
          <a:prstGeom prst="rect">
            <a:avLst/>
          </a:prstGeom>
          <a:noFill/>
        </p:spPr>
        <p:txBody>
          <a:bodyPr wrap="square" anchor="t" lIns="0" rIns="0" tIns="0" bIns="0">
            <a:spAutoFit/>
          </a:bodyPr>
          <a:lstStyle/>
          <a:p>
            <a:pPr>
              <a:spcBef>
                <a:spcPts val="0"/>
              </a:spcBef>
              <a:spcAft>
                <a:spcPts val="0"/>
              </a:spcAft>
            </a:pPr>
            <a:r>
              <a:rPr sz="700" b="0" i="0">
                <a:solidFill>
                  <a:srgbClr val="000000"/>
                </a:solidFill>
                <a:latin typeface="Consolas"/>
              </a:rPr>
              <a:t>db.products.find({</a:t>
            </a:r>
          </a:p>
          <a:p>
            <a:pPr>
              <a:spcBef>
                <a:spcPts val="0"/>
              </a:spcBef>
              <a:spcAft>
                <a:spcPts val="0"/>
              </a:spcAft>
            </a:pPr>
            <a:r>
              <a:rPr sz="700" b="0" i="0">
                <a:solidFill>
                  <a:srgbClr val="000000"/>
                </a:solidFill>
                <a:latin typeface="Consolas"/>
              </a:rPr>
              <a:t>  tags: "wireless"</a:t>
            </a:r>
          </a:p>
          <a:p>
            <a:pPr>
              <a:spcBef>
                <a:spcPts val="0"/>
              </a:spcBef>
              <a:spcAft>
                <a:spcPts val="0"/>
              </a:spcAft>
            </a:pPr>
            <a:r>
              <a:rPr sz="700" b="0" i="0">
                <a:solidFill>
                  <a:srgbClr val="000000"/>
                </a:solidFill>
                <a:latin typeface="Consolas"/>
              </a:rPr>
              <a:t>}).explain("executionStats")</a:t>
            </a:r>
          </a:p>
        </p:txBody>
      </p:sp>
      <p:sp>
        <p:nvSpPr>
          <p:cNvPr id="13" name="Rectangle 12"/>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78</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6: REVIEW ALL INDEXES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459916"/>
            <a:ext cx="237744" cy="237744"/>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59916"/>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441628"/>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843964"/>
            <a:ext cx="11247120" cy="348800"/>
          </a:xfrm>
          <a:prstGeom prst="rect">
            <a:avLst/>
          </a:prstGeom>
          <a:noFill/>
        </p:spPr>
        <p:txBody>
          <a:bodyPr wrap="square" anchor="t" lIns="0" rIns="0" tIns="0" bIns="0">
            <a:spAutoFit/>
          </a:bodyPr>
          <a:lstStyle/>
          <a:p>
            <a:pPr>
              <a:spcBef>
                <a:spcPts val="0"/>
              </a:spcBef>
              <a:spcAft>
                <a:spcPts val="538"/>
              </a:spcAft>
            </a:pPr>
            <a:r>
              <a:rPr sz="1400" b="0" i="0">
                <a:solidFill>
                  <a:srgbClr val="000000"/>
                </a:solidFill>
                <a:latin typeface="Nirmala UI"/>
              </a:rPr>
              <a:t>For every non-</a:t>
            </a:r>
            <a:r>
              <a:rPr sz="1400" b="0" i="0">
                <a:solidFill>
                  <a:srgbClr val="000000"/>
                </a:solidFill>
                <a:latin typeface="Consolas"/>
              </a:rPr>
              <a:t>_id</a:t>
            </a:r>
            <a:r>
              <a:rPr sz="1400" b="0" i="0">
                <a:solidFill>
                  <a:srgbClr val="000000"/>
                </a:solidFill>
                <a:latin typeface="Nirmala UI"/>
              </a:rPr>
              <a:t> index, document:</a:t>
            </a:r>
          </a:p>
        </p:txBody>
      </p:sp>
      <p:sp>
        <p:nvSpPr>
          <p:cNvPr id="8" name="TextBox 7"/>
          <p:cNvSpPr txBox="1"/>
          <p:nvPr/>
        </p:nvSpPr>
        <p:spPr>
          <a:xfrm>
            <a:off x="457200" y="2284204"/>
            <a:ext cx="11247120" cy="1864200"/>
          </a:xfrm>
          <a:prstGeom prst="rect">
            <a:avLst/>
          </a:prstGeom>
          <a:noFill/>
        </p:spPr>
        <p:txBody>
          <a:bodyPr wrap="square" anchor="t" lIns="0" rIns="0" tIns="0" bIns="0">
            <a:spAutoFit/>
          </a:bodyPr>
          <a:lstStyle/>
          <a:p>
            <a:pPr>
              <a:spcBef>
                <a:spcPts val="0"/>
              </a:spcBef>
              <a:spcAft>
                <a:spcPts val="538"/>
              </a:spcAft>
            </a:pPr>
            <a:r>
              <a:rPr sz="1400" b="0" i="0">
                <a:solidFill>
                  <a:srgbClr val="000000"/>
                </a:solidFill>
                <a:latin typeface="Nirmala UI"/>
              </a:rPr>
              <a:t>•  </a:t>
            </a:r>
            <a:r>
              <a:rPr sz="1400" b="0" i="0">
                <a:solidFill>
                  <a:srgbClr val="000000"/>
                </a:solidFill>
                <a:latin typeface="Nirmala UI"/>
              </a:rPr>
              <a:t>Which query it supports</a:t>
            </a:r>
          </a:p>
          <a:p>
            <a:pPr>
              <a:spcBef>
                <a:spcPts val="0"/>
              </a:spcBef>
              <a:spcAft>
                <a:spcPts val="538"/>
              </a:spcAft>
            </a:pPr>
            <a:r>
              <a:rPr sz="1400" b="0" i="0">
                <a:solidFill>
                  <a:srgbClr val="000000"/>
                </a:solidFill>
                <a:latin typeface="Nirmala UI"/>
              </a:rPr>
              <a:t>•  </a:t>
            </a:r>
            <a:r>
              <a:rPr sz="1400" b="0" i="0">
                <a:solidFill>
                  <a:srgbClr val="000000"/>
                </a:solidFill>
                <a:latin typeface="Nirmala UI"/>
              </a:rPr>
              <a:t>How frequently that query runs</a:t>
            </a:r>
          </a:p>
          <a:p>
            <a:pPr>
              <a:spcBef>
                <a:spcPts val="0"/>
              </a:spcBef>
              <a:spcAft>
                <a:spcPts val="538"/>
              </a:spcAft>
            </a:pPr>
            <a:r>
              <a:rPr sz="1400" b="0" i="0">
                <a:solidFill>
                  <a:srgbClr val="000000"/>
                </a:solidFill>
                <a:latin typeface="Nirmala UI"/>
              </a:rPr>
              <a:t>•  </a:t>
            </a:r>
            <a:r>
              <a:rPr sz="1400" b="0" i="0">
                <a:solidFill>
                  <a:srgbClr val="000000"/>
                </a:solidFill>
                <a:latin typeface="Nirmala UI"/>
              </a:rPr>
              <a:t>Whether it supports sorting</a:t>
            </a:r>
          </a:p>
          <a:p>
            <a:pPr>
              <a:spcBef>
                <a:spcPts val="0"/>
              </a:spcBef>
              <a:spcAft>
                <a:spcPts val="538"/>
              </a:spcAft>
            </a:pPr>
            <a:r>
              <a:rPr sz="1400" b="0" i="0">
                <a:solidFill>
                  <a:srgbClr val="000000"/>
                </a:solidFill>
                <a:latin typeface="Nirmala UI"/>
              </a:rPr>
              <a:t>•  </a:t>
            </a:r>
            <a:r>
              <a:rPr sz="1400" b="0" i="0">
                <a:solidFill>
                  <a:srgbClr val="000000"/>
                </a:solidFill>
                <a:latin typeface="Nirmala UI"/>
              </a:rPr>
              <a:t>Whether it enforces a business rule</a:t>
            </a:r>
          </a:p>
          <a:p>
            <a:pPr>
              <a:spcBef>
                <a:spcPts val="0"/>
              </a:spcBef>
              <a:spcAft>
                <a:spcPts val="538"/>
              </a:spcAft>
            </a:pPr>
            <a:r>
              <a:rPr sz="1400" b="0" i="0">
                <a:solidFill>
                  <a:srgbClr val="000000"/>
                </a:solidFill>
                <a:latin typeface="Nirmala UI"/>
              </a:rPr>
              <a:t>•  </a:t>
            </a:r>
            <a:r>
              <a:rPr sz="1400" b="0" i="0">
                <a:solidFill>
                  <a:srgbClr val="000000"/>
                </a:solidFill>
                <a:latin typeface="Nirmala UI"/>
              </a:rPr>
              <a:t>Its expected write cost</a:t>
            </a:r>
          </a:p>
          <a:p>
            <a:pPr>
              <a:spcBef>
                <a:spcPts val="0"/>
              </a:spcBef>
              <a:spcAft>
                <a:spcPts val="538"/>
              </a:spcAft>
            </a:pPr>
            <a:r>
              <a:rPr sz="1400" b="0" i="0">
                <a:solidFill>
                  <a:srgbClr val="000000"/>
                </a:solidFill>
                <a:latin typeface="Nirmala UI"/>
              </a:rPr>
              <a:t>•  </a:t>
            </a:r>
            <a:r>
              <a:rPr sz="1400" b="0" i="0">
                <a:solidFill>
                  <a:srgbClr val="000000"/>
                </a:solidFill>
                <a:latin typeface="Nirmala UI"/>
              </a:rPr>
              <a:t>Whether another index makes it redundant</a:t>
            </a:r>
          </a:p>
        </p:txBody>
      </p:sp>
      <p:sp>
        <p:nvSpPr>
          <p:cNvPr id="9" name="Rounded Rectangle 8"/>
          <p:cNvSpPr/>
          <p:nvPr/>
        </p:nvSpPr>
        <p:spPr>
          <a:xfrm>
            <a:off x="457200" y="4239844"/>
            <a:ext cx="11247120" cy="1341120"/>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 y="4331284"/>
            <a:ext cx="10991088" cy="1176528"/>
          </a:xfrm>
          <a:prstGeom prst="rect">
            <a:avLst/>
          </a:prstGeom>
          <a:noFill/>
        </p:spPr>
        <p:txBody>
          <a:bodyPr wrap="square" anchor="t" lIns="0" rIns="0" tIns="0" bIns="0">
            <a:spAutoFit/>
          </a:bodyPr>
          <a:lstStyle/>
          <a:p>
            <a:pPr>
              <a:spcBef>
                <a:spcPts val="0"/>
              </a:spcBef>
              <a:spcAft>
                <a:spcPts val="0"/>
              </a:spcAft>
            </a:pPr>
            <a:r>
              <a:rPr sz="1700" b="0" i="0">
                <a:solidFill>
                  <a:srgbClr val="000000"/>
                </a:solidFill>
                <a:latin typeface="Consolas"/>
              </a:rPr>
              <a:t>db.products.getIndexes()</a:t>
            </a:r>
          </a:p>
          <a:p>
            <a:pPr>
              <a:spcBef>
                <a:spcPts val="0"/>
              </a:spcBef>
              <a:spcAft>
                <a:spcPts val="0"/>
              </a:spcAft>
            </a:pPr>
            <a:r>
              <a:rPr sz="1700" b="0" i="0">
                <a:solidFill>
                  <a:srgbClr val="000000"/>
                </a:solidFill>
                <a:latin typeface="Consolas"/>
              </a:rPr>
              <a:t>db.customers.getIndexes()</a:t>
            </a:r>
          </a:p>
          <a:p>
            <a:pPr>
              <a:spcBef>
                <a:spcPts val="0"/>
              </a:spcBef>
              <a:spcAft>
                <a:spcPts val="0"/>
              </a:spcAft>
            </a:pPr>
            <a:r>
              <a:rPr sz="1700" b="0" i="0">
                <a:solidFill>
                  <a:srgbClr val="000000"/>
                </a:solidFill>
                <a:latin typeface="Consolas"/>
              </a:rPr>
              <a:t>db.orders.getIndexes()</a:t>
            </a:r>
          </a:p>
          <a:p>
            <a:pPr>
              <a:spcBef>
                <a:spcPts val="0"/>
              </a:spcBef>
              <a:spcAft>
                <a:spcPts val="0"/>
              </a:spcAft>
            </a:pPr>
            <a:r>
              <a:rPr sz="1700" b="0" i="0">
                <a:solidFill>
                  <a:srgbClr val="000000"/>
                </a:solidFill>
                <a:latin typeface="Consolas"/>
              </a:rPr>
              <a:t>db.reviews.getIndexes()</a:t>
            </a:r>
          </a:p>
        </p:txBody>
      </p:sp>
      <p:sp>
        <p:nvSpPr>
          <p:cNvPr id="11" name="Rectangle 1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79</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INDEXING EVERY FIELD</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921430"/>
            <a:ext cx="237744" cy="237744"/>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921430"/>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903142"/>
            <a:ext cx="351129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3305478"/>
            <a:ext cx="3840480" cy="81397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This wastes storage and harms write performance.</a:t>
            </a:r>
          </a:p>
        </p:txBody>
      </p:sp>
      <p:sp>
        <p:nvSpPr>
          <p:cNvPr id="8" name="Rectangle 7"/>
          <p:cNvSpPr/>
          <p:nvPr/>
        </p:nvSpPr>
        <p:spPr>
          <a:xfrm>
            <a:off x="4471035" y="2592175"/>
            <a:ext cx="7242810" cy="1929682"/>
          </a:xfrm>
          <a:prstGeom prst="rect">
            <a:avLst/>
          </a:prstGeom>
          <a:solidFill>
            <a:srgbClr val="FFFFFF"/>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2"/>
          <a:stretch>
            <a:fillRect/>
          </a:stretch>
        </p:blipFill>
        <p:spPr>
          <a:xfrm>
            <a:off x="4480560" y="2601700"/>
            <a:ext cx="7223760" cy="1910632"/>
          </a:xfrm>
          <a:prstGeom prst="rect">
            <a:avLst/>
          </a:prstGeom>
        </p:spPr>
      </p:pic>
      <p:sp>
        <p:nvSpPr>
          <p:cNvPr id="10" name="Rectangle 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80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IGNORING COMPOUND FIELD ORDER</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083152"/>
            <a:ext cx="237744" cy="237744"/>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83152"/>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064864"/>
            <a:ext cx="351129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467200"/>
            <a:ext cx="3840480" cy="81397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These are different indexes:</a:t>
            </a:r>
          </a:p>
        </p:txBody>
      </p:sp>
      <p:sp>
        <p:nvSpPr>
          <p:cNvPr id="8" name="TextBox 7"/>
          <p:cNvSpPr txBox="1"/>
          <p:nvPr/>
        </p:nvSpPr>
        <p:spPr>
          <a:xfrm>
            <a:off x="457200" y="3372612"/>
            <a:ext cx="3840480" cy="81397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They support different prefixes and query shapes.</a:t>
            </a:r>
          </a:p>
        </p:txBody>
      </p:sp>
      <p:sp>
        <p:nvSpPr>
          <p:cNvPr id="9" name="Rounded Rectangle 8"/>
          <p:cNvSpPr/>
          <p:nvPr/>
        </p:nvSpPr>
        <p:spPr>
          <a:xfrm>
            <a:off x="457200" y="4278024"/>
            <a:ext cx="1847088" cy="771144"/>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 y="4369464"/>
            <a:ext cx="1591056" cy="606552"/>
          </a:xfrm>
          <a:prstGeom prst="rect">
            <a:avLst/>
          </a:prstGeom>
          <a:noFill/>
        </p:spPr>
        <p:txBody>
          <a:bodyPr wrap="square" anchor="t" lIns="0" rIns="0" tIns="0" bIns="0">
            <a:spAutoFit/>
          </a:bodyPr>
          <a:lstStyle/>
          <a:p>
            <a:pPr>
              <a:spcBef>
                <a:spcPts val="0"/>
              </a:spcBef>
              <a:spcAft>
                <a:spcPts val="0"/>
              </a:spcAft>
            </a:pPr>
            <a:r>
              <a:rPr sz="1700" b="0" i="0">
                <a:solidFill>
                  <a:srgbClr val="000000"/>
                </a:solidFill>
                <a:latin typeface="Consolas"/>
              </a:rPr>
              <a:t>{ category: 1, price: 1 }</a:t>
            </a:r>
          </a:p>
        </p:txBody>
      </p:sp>
      <p:sp>
        <p:nvSpPr>
          <p:cNvPr id="11" name="Rounded Rectangle 10"/>
          <p:cNvSpPr/>
          <p:nvPr/>
        </p:nvSpPr>
        <p:spPr>
          <a:xfrm>
            <a:off x="2450592" y="4278024"/>
            <a:ext cx="1847088" cy="771144"/>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78608" y="4369464"/>
            <a:ext cx="1591056" cy="606552"/>
          </a:xfrm>
          <a:prstGeom prst="rect">
            <a:avLst/>
          </a:prstGeom>
          <a:noFill/>
        </p:spPr>
        <p:txBody>
          <a:bodyPr wrap="square" anchor="t" lIns="0" rIns="0" tIns="0" bIns="0">
            <a:spAutoFit/>
          </a:bodyPr>
          <a:lstStyle/>
          <a:p>
            <a:pPr>
              <a:spcBef>
                <a:spcPts val="0"/>
              </a:spcBef>
              <a:spcAft>
                <a:spcPts val="0"/>
              </a:spcAft>
            </a:pPr>
            <a:r>
              <a:rPr sz="1700" b="0" i="0">
                <a:solidFill>
                  <a:srgbClr val="000000"/>
                </a:solidFill>
                <a:latin typeface="Consolas"/>
              </a:rPr>
              <a:t>{ price: 1, category: 1 }</a:t>
            </a:r>
          </a:p>
        </p:txBody>
      </p:sp>
      <p:sp>
        <p:nvSpPr>
          <p:cNvPr id="13" name="Rectangle 12"/>
          <p:cNvSpPr/>
          <p:nvPr/>
        </p:nvSpPr>
        <p:spPr>
          <a:xfrm>
            <a:off x="4471035" y="1551977"/>
            <a:ext cx="7242810" cy="4010077"/>
          </a:xfrm>
          <a:prstGeom prst="rect">
            <a:avLst/>
          </a:prstGeom>
          <a:solidFill>
            <a:srgbClr val="FFFFFF"/>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2"/>
          <a:stretch>
            <a:fillRect/>
          </a:stretch>
        </p:blipFill>
        <p:spPr>
          <a:xfrm>
            <a:off x="4480560" y="1561502"/>
            <a:ext cx="7223760" cy="3991027"/>
          </a:xfrm>
          <a:prstGeom prst="rect">
            <a:avLst/>
          </a:prstGeom>
        </p:spPr>
      </p:pic>
      <p:sp>
        <p:nvSpPr>
          <p:cNvPr id="15" name="Rectangle 1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81</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CREATING SEPARATE INDEXES WHEN A COMPOUND INDEX IS REQUIRED</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133444"/>
            <a:ext cx="237744" cy="237744"/>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133444"/>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115156"/>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517492"/>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Separate indexes:</a:t>
            </a:r>
          </a:p>
        </p:txBody>
      </p:sp>
      <p:sp>
        <p:nvSpPr>
          <p:cNvPr id="8" name="TextBox 7"/>
          <p:cNvSpPr txBox="1"/>
          <p:nvPr/>
        </p:nvSpPr>
        <p:spPr>
          <a:xfrm>
            <a:off x="457200" y="3087624"/>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do not necessarily support filtering and sorting as effectively as:</a:t>
            </a:r>
          </a:p>
        </p:txBody>
      </p:sp>
      <p:sp>
        <p:nvSpPr>
          <p:cNvPr id="9" name="Rounded Rectangle 8"/>
          <p:cNvSpPr/>
          <p:nvPr/>
        </p:nvSpPr>
        <p:spPr>
          <a:xfrm>
            <a:off x="457200" y="3657756"/>
            <a:ext cx="5550408" cy="1072896"/>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 y="3749196"/>
            <a:ext cx="5294376" cy="908304"/>
          </a:xfrm>
          <a:prstGeom prst="rect">
            <a:avLst/>
          </a:prstGeom>
          <a:noFill/>
        </p:spPr>
        <p:txBody>
          <a:bodyPr wrap="square" anchor="t" lIns="0" rIns="0" tIns="0" bIns="0">
            <a:spAutoFit/>
          </a:bodyPr>
          <a:lstStyle/>
          <a:p>
            <a:pPr>
              <a:spcBef>
                <a:spcPts val="0"/>
              </a:spcBef>
              <a:spcAft>
                <a:spcPts val="0"/>
              </a:spcAft>
            </a:pPr>
            <a:r>
              <a:rPr sz="1300" b="0" i="0">
                <a:solidFill>
                  <a:srgbClr val="000000"/>
                </a:solidFill>
                <a:latin typeface="Consolas"/>
              </a:rPr>
              <a:t>{ customerId: 1 }</a:t>
            </a:r>
          </a:p>
          <a:p>
            <a:pPr>
              <a:spcBef>
                <a:spcPts val="0"/>
              </a:spcBef>
              <a:spcAft>
                <a:spcPts val="0"/>
              </a:spcAft>
            </a:pPr>
            <a:r>
              <a:rPr sz="1300" b="0" i="0">
                <a:solidFill>
                  <a:srgbClr val="000000"/>
                </a:solidFill>
                <a:latin typeface="Consolas"/>
              </a:rPr>
              <a:t>{ orderedAt: -1 }</a:t>
            </a:r>
          </a:p>
        </p:txBody>
      </p:sp>
      <p:sp>
        <p:nvSpPr>
          <p:cNvPr id="11" name="Rounded Rectangle 10"/>
          <p:cNvSpPr/>
          <p:nvPr/>
        </p:nvSpPr>
        <p:spPr>
          <a:xfrm>
            <a:off x="6153912" y="3657756"/>
            <a:ext cx="5550408" cy="1072896"/>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81928" y="3749196"/>
            <a:ext cx="5294376" cy="908304"/>
          </a:xfrm>
          <a:prstGeom prst="rect">
            <a:avLst/>
          </a:prstGeom>
          <a:noFill/>
        </p:spPr>
        <p:txBody>
          <a:bodyPr wrap="square" anchor="t" lIns="0" rIns="0" tIns="0" bIns="0">
            <a:spAutoFit/>
          </a:bodyPr>
          <a:lstStyle/>
          <a:p>
            <a:pPr>
              <a:spcBef>
                <a:spcPts val="0"/>
              </a:spcBef>
              <a:spcAft>
                <a:spcPts val="0"/>
              </a:spcAft>
            </a:pPr>
            <a:r>
              <a:rPr sz="1300" b="0" i="0">
                <a:solidFill>
                  <a:srgbClr val="000000"/>
                </a:solidFill>
                <a:latin typeface="Consolas"/>
              </a:rPr>
              <a:t>{</a:t>
            </a:r>
          </a:p>
          <a:p>
            <a:pPr>
              <a:spcBef>
                <a:spcPts val="0"/>
              </a:spcBef>
              <a:spcAft>
                <a:spcPts val="0"/>
              </a:spcAft>
            </a:pPr>
            <a:r>
              <a:rPr sz="1300" b="0" i="0">
                <a:solidFill>
                  <a:srgbClr val="000000"/>
                </a:solidFill>
                <a:latin typeface="Consolas"/>
              </a:rPr>
              <a:t>  customerId: 1,</a:t>
            </a:r>
          </a:p>
          <a:p>
            <a:pPr>
              <a:spcBef>
                <a:spcPts val="0"/>
              </a:spcBef>
              <a:spcAft>
                <a:spcPts val="0"/>
              </a:spcAft>
            </a:pPr>
            <a:r>
              <a:rPr sz="1300" b="0" i="0">
                <a:solidFill>
                  <a:srgbClr val="000000"/>
                </a:solidFill>
                <a:latin typeface="Consolas"/>
              </a:rPr>
              <a:t>  orderedAt: -1</a:t>
            </a:r>
          </a:p>
          <a:p>
            <a:pPr>
              <a:spcBef>
                <a:spcPts val="0"/>
              </a:spcBef>
              <a:spcAft>
                <a:spcPts val="0"/>
              </a:spcAft>
            </a:pPr>
            <a:r>
              <a:rPr sz="1300" b="0" i="0">
                <a:solidFill>
                  <a:srgbClr val="000000"/>
                </a:solidFill>
                <a:latin typeface="Consolas"/>
              </a:rPr>
              <a:t>}</a:t>
            </a:r>
          </a:p>
        </p:txBody>
      </p:sp>
      <p:sp>
        <p:nvSpPr>
          <p:cNvPr id="13" name="Rectangle 12"/>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82</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KEEPING REDUNDANT INDEXES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741464"/>
            <a:ext cx="237744" cy="237744"/>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741464"/>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723176"/>
            <a:ext cx="351129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125512"/>
            <a:ext cx="3840480" cy="348800"/>
          </a:xfrm>
          <a:prstGeom prst="rect">
            <a:avLst/>
          </a:prstGeom>
          <a:noFill/>
        </p:spPr>
        <p:txBody>
          <a:bodyPr wrap="square" anchor="t" lIns="0" rIns="0" tIns="0" bIns="0">
            <a:spAutoFit/>
          </a:bodyPr>
          <a:lstStyle/>
          <a:p>
            <a:pPr>
              <a:spcBef>
                <a:spcPts val="0"/>
              </a:spcBef>
              <a:spcAft>
                <a:spcPts val="538"/>
              </a:spcAft>
            </a:pPr>
            <a:r>
              <a:rPr sz="1400" b="0" i="0">
                <a:solidFill>
                  <a:srgbClr val="000000"/>
                </a:solidFill>
                <a:latin typeface="Nirmala UI"/>
              </a:rPr>
              <a:t>If the collection has:</a:t>
            </a:r>
          </a:p>
        </p:txBody>
      </p:sp>
      <p:sp>
        <p:nvSpPr>
          <p:cNvPr id="8" name="TextBox 7"/>
          <p:cNvSpPr txBox="1"/>
          <p:nvPr/>
        </p:nvSpPr>
        <p:spPr>
          <a:xfrm>
            <a:off x="457200" y="2565752"/>
            <a:ext cx="3840480" cy="348800"/>
          </a:xfrm>
          <a:prstGeom prst="rect">
            <a:avLst/>
          </a:prstGeom>
          <a:noFill/>
        </p:spPr>
        <p:txBody>
          <a:bodyPr wrap="square" anchor="t" lIns="0" rIns="0" tIns="0" bIns="0">
            <a:spAutoFit/>
          </a:bodyPr>
          <a:lstStyle/>
          <a:p>
            <a:pPr>
              <a:spcBef>
                <a:spcPts val="0"/>
              </a:spcBef>
              <a:spcAft>
                <a:spcPts val="538"/>
              </a:spcAft>
            </a:pPr>
            <a:r>
              <a:rPr sz="1400" b="0" i="0">
                <a:solidFill>
                  <a:srgbClr val="000000"/>
                </a:solidFill>
                <a:latin typeface="Nirmala UI"/>
              </a:rPr>
              <a:t>and:</a:t>
            </a:r>
          </a:p>
        </p:txBody>
      </p:sp>
      <p:sp>
        <p:nvSpPr>
          <p:cNvPr id="9" name="TextBox 8"/>
          <p:cNvSpPr txBox="1"/>
          <p:nvPr/>
        </p:nvSpPr>
        <p:spPr>
          <a:xfrm>
            <a:off x="457200" y="3005992"/>
            <a:ext cx="3840480" cy="1522280"/>
          </a:xfrm>
          <a:prstGeom prst="rect">
            <a:avLst/>
          </a:prstGeom>
          <a:noFill/>
        </p:spPr>
        <p:txBody>
          <a:bodyPr wrap="square" anchor="t" lIns="0" rIns="0" tIns="0" bIns="0">
            <a:spAutoFit/>
          </a:bodyPr>
          <a:lstStyle/>
          <a:p>
            <a:pPr>
              <a:spcBef>
                <a:spcPts val="0"/>
              </a:spcBef>
              <a:spcAft>
                <a:spcPts val="538"/>
              </a:spcAft>
            </a:pPr>
            <a:r>
              <a:rPr sz="1400" b="0" i="0">
                <a:solidFill>
                  <a:srgbClr val="000000"/>
                </a:solidFill>
                <a:latin typeface="Nirmala UI"/>
              </a:rPr>
              <a:t>the single-field index may be redundant because the compound index begins with </a:t>
            </a:r>
            <a:r>
              <a:rPr sz="1400" b="0" i="0">
                <a:solidFill>
                  <a:srgbClr val="000000"/>
                </a:solidFill>
                <a:latin typeface="Consolas"/>
              </a:rPr>
              <a:t>category</a:t>
            </a:r>
            <a:r>
              <a:rPr sz="1400" b="0" i="0">
                <a:solidFill>
                  <a:srgbClr val="000000"/>
                </a:solidFill>
                <a:latin typeface="Nirmala UI"/>
              </a:rPr>
              <a:t>. Verify differences such as uniqueness, sparsity, collation and workload behavior before removing anything.</a:t>
            </a:r>
          </a:p>
        </p:txBody>
      </p:sp>
      <p:sp>
        <p:nvSpPr>
          <p:cNvPr id="10" name="Rounded Rectangle 9"/>
          <p:cNvSpPr/>
          <p:nvPr/>
        </p:nvSpPr>
        <p:spPr>
          <a:xfrm>
            <a:off x="457200" y="4619712"/>
            <a:ext cx="1847088" cy="637032"/>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 y="4711152"/>
            <a:ext cx="1591056" cy="472440"/>
          </a:xfrm>
          <a:prstGeom prst="rect">
            <a:avLst/>
          </a:prstGeom>
          <a:noFill/>
        </p:spPr>
        <p:txBody>
          <a:bodyPr wrap="square" anchor="t" lIns="0" rIns="0" tIns="0" bIns="0">
            <a:spAutoFit/>
          </a:bodyPr>
          <a:lstStyle/>
          <a:p>
            <a:pPr>
              <a:spcBef>
                <a:spcPts val="0"/>
              </a:spcBef>
              <a:spcAft>
                <a:spcPts val="0"/>
              </a:spcAft>
            </a:pPr>
            <a:r>
              <a:rPr sz="1300" b="0" i="0">
                <a:solidFill>
                  <a:srgbClr val="000000"/>
                </a:solidFill>
                <a:latin typeface="Consolas"/>
              </a:rPr>
              <a:t>{ category: 1 }</a:t>
            </a:r>
          </a:p>
        </p:txBody>
      </p:sp>
      <p:sp>
        <p:nvSpPr>
          <p:cNvPr id="12" name="Rounded Rectangle 11"/>
          <p:cNvSpPr/>
          <p:nvPr/>
        </p:nvSpPr>
        <p:spPr>
          <a:xfrm>
            <a:off x="2450592" y="4619712"/>
            <a:ext cx="1847088" cy="637032"/>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78608" y="4711152"/>
            <a:ext cx="1591056" cy="472440"/>
          </a:xfrm>
          <a:prstGeom prst="rect">
            <a:avLst/>
          </a:prstGeom>
          <a:noFill/>
        </p:spPr>
        <p:txBody>
          <a:bodyPr wrap="square" anchor="t" lIns="0" rIns="0" tIns="0" bIns="0">
            <a:spAutoFit/>
          </a:bodyPr>
          <a:lstStyle/>
          <a:p>
            <a:pPr>
              <a:spcBef>
                <a:spcPts val="0"/>
              </a:spcBef>
              <a:spcAft>
                <a:spcPts val="0"/>
              </a:spcAft>
            </a:pPr>
            <a:r>
              <a:rPr sz="1300" b="0" i="0">
                <a:solidFill>
                  <a:srgbClr val="000000"/>
                </a:solidFill>
                <a:latin typeface="Consolas"/>
              </a:rPr>
              <a:t>{ category: 1, price: 1 }</a:t>
            </a:r>
          </a:p>
        </p:txBody>
      </p:sp>
      <p:sp>
        <p:nvSpPr>
          <p:cNvPr id="14" name="Rectangle 13"/>
          <p:cNvSpPr/>
          <p:nvPr/>
        </p:nvSpPr>
        <p:spPr>
          <a:xfrm>
            <a:off x="4471035" y="1509677"/>
            <a:ext cx="7242810" cy="4094677"/>
          </a:xfrm>
          <a:prstGeom prst="rect">
            <a:avLst/>
          </a:prstGeom>
          <a:solidFill>
            <a:srgbClr val="FFFFFF"/>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2"/>
          <a:stretch>
            <a:fillRect/>
          </a:stretch>
        </p:blipFill>
        <p:spPr>
          <a:xfrm>
            <a:off x="4480560" y="1519202"/>
            <a:ext cx="7223760" cy="4075627"/>
          </a:xfrm>
          <a:prstGeom prst="rect">
            <a:avLst/>
          </a:prstGeom>
        </p:spPr>
      </p:pic>
      <p:sp>
        <p:nvSpPr>
          <p:cNvPr id="16" name="Rectangle 1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83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JUDGING ONLY BY EXECUTION TIME</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921430"/>
            <a:ext cx="237744" cy="237744"/>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921430"/>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903142"/>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3305478"/>
            <a:ext cx="11247120" cy="81397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A tiny collection may be faster with a collection scan. Use realistic data volumes and examine keys and documents inspected.</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84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USING HINT() AS A PERMANENT FIRST RESPONSE</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271682"/>
            <a:ext cx="237744" cy="237744"/>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71682"/>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253394"/>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655730"/>
            <a:ext cx="11247120" cy="392097"/>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Consolas"/>
              </a:rPr>
              <a:t>hint()</a:t>
            </a:r>
            <a:r>
              <a:rPr sz="1600" b="0" i="0">
                <a:solidFill>
                  <a:srgbClr val="000000"/>
                </a:solidFill>
                <a:latin typeface="Nirmala UI"/>
              </a:rPr>
              <a:t> forces a particular index:</a:t>
            </a:r>
          </a:p>
        </p:txBody>
      </p:sp>
      <p:sp>
        <p:nvSpPr>
          <p:cNvPr id="8" name="TextBox 7"/>
          <p:cNvSpPr txBox="1"/>
          <p:nvPr/>
        </p:nvSpPr>
        <p:spPr>
          <a:xfrm>
            <a:off x="457200" y="2139267"/>
            <a:ext cx="11247120" cy="660321"/>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It is valuable for testing, but forcing an index can become harmful as data distribution and workloads change. Allow the query planner to choose unless testing demonstrates a specific need.</a:t>
            </a:r>
          </a:p>
        </p:txBody>
      </p:sp>
      <p:sp>
        <p:nvSpPr>
          <p:cNvPr id="9" name="TextBox 8"/>
          <p:cNvSpPr txBox="1"/>
          <p:nvPr/>
        </p:nvSpPr>
        <p:spPr>
          <a:xfrm>
            <a:off x="457200" y="2891028"/>
            <a:ext cx="11247120" cy="392097"/>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 Module Outcome</a:t>
            </a:r>
          </a:p>
        </p:txBody>
      </p:sp>
      <p:sp>
        <p:nvSpPr>
          <p:cNvPr id="10" name="TextBox 9"/>
          <p:cNvSpPr txBox="1"/>
          <p:nvPr/>
        </p:nvSpPr>
        <p:spPr>
          <a:xfrm>
            <a:off x="457200" y="3374565"/>
            <a:ext cx="11247120" cy="392097"/>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After completing this module, learners should be able to:</a:t>
            </a:r>
          </a:p>
        </p:txBody>
      </p:sp>
      <p:sp>
        <p:nvSpPr>
          <p:cNvPr id="11" name="Rounded Rectangle 10"/>
          <p:cNvSpPr/>
          <p:nvPr/>
        </p:nvSpPr>
        <p:spPr>
          <a:xfrm>
            <a:off x="457200" y="3858102"/>
            <a:ext cx="11247120" cy="1911096"/>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 y="3949542"/>
            <a:ext cx="10991088" cy="1746504"/>
          </a:xfrm>
          <a:prstGeom prst="rect">
            <a:avLst/>
          </a:prstGeom>
          <a:noFill/>
        </p:spPr>
        <p:txBody>
          <a:bodyPr wrap="square" anchor="t" lIns="0" rIns="0" tIns="0" bIns="0">
            <a:spAutoFit/>
          </a:bodyPr>
          <a:lstStyle/>
          <a:p>
            <a:pPr>
              <a:spcBef>
                <a:spcPts val="0"/>
              </a:spcBef>
              <a:spcAft>
                <a:spcPts val="0"/>
              </a:spcAft>
            </a:pPr>
            <a:r>
              <a:rPr sz="1700" b="0" i="0">
                <a:solidFill>
                  <a:srgbClr val="000000"/>
                </a:solidFill>
                <a:latin typeface="Consolas"/>
              </a:rPr>
              <a:t>db.products.find({</a:t>
            </a:r>
          </a:p>
          <a:p>
            <a:pPr>
              <a:spcBef>
                <a:spcPts val="0"/>
              </a:spcBef>
              <a:spcAft>
                <a:spcPts val="0"/>
              </a:spcAft>
            </a:pPr>
            <a:r>
              <a:rPr sz="1700" b="0" i="0">
                <a:solidFill>
                  <a:srgbClr val="000000"/>
                </a:solidFill>
                <a:latin typeface="Consolas"/>
              </a:rPr>
              <a:t>  category: "Electronics"</a:t>
            </a:r>
          </a:p>
          <a:p>
            <a:pPr>
              <a:spcBef>
                <a:spcPts val="0"/>
              </a:spcBef>
              <a:spcAft>
                <a:spcPts val="0"/>
              </a:spcAft>
            </a:pPr>
            <a:r>
              <a:rPr sz="1700" b="0" i="0">
                <a:solidFill>
                  <a:srgbClr val="000000"/>
                </a:solidFill>
                <a:latin typeface="Consolas"/>
              </a:rPr>
              <a:t>}).hint({</a:t>
            </a:r>
          </a:p>
          <a:p>
            <a:pPr>
              <a:spcBef>
                <a:spcPts val="0"/>
              </a:spcBef>
              <a:spcAft>
                <a:spcPts val="0"/>
              </a:spcAft>
            </a:pPr>
            <a:r>
              <a:rPr sz="1700" b="0" i="0">
                <a:solidFill>
                  <a:srgbClr val="000000"/>
                </a:solidFill>
                <a:latin typeface="Consolas"/>
              </a:rPr>
              <a:t>  category: 1,</a:t>
            </a:r>
          </a:p>
          <a:p>
            <a:pPr>
              <a:spcBef>
                <a:spcPts val="0"/>
              </a:spcBef>
              <a:spcAft>
                <a:spcPts val="0"/>
              </a:spcAft>
            </a:pPr>
            <a:r>
              <a:rPr sz="1700" b="0" i="0">
                <a:solidFill>
                  <a:srgbClr val="000000"/>
                </a:solidFill>
                <a:latin typeface="Consolas"/>
              </a:rPr>
              <a:t>  price: 1</a:t>
            </a:r>
          </a:p>
          <a:p>
            <a:pPr>
              <a:spcBef>
                <a:spcPts val="0"/>
              </a:spcBef>
              <a:spcAft>
                <a:spcPts val="0"/>
              </a:spcAft>
            </a:pPr>
            <a:r>
              <a:rPr sz="1700" b="0" i="0">
                <a:solidFill>
                  <a:srgbClr val="000000"/>
                </a:solidFill>
                <a:latin typeface="Consolas"/>
              </a:rPr>
              <a:t>})</a:t>
            </a:r>
          </a:p>
        </p:txBody>
      </p:sp>
      <p:sp>
        <p:nvSpPr>
          <p:cNvPr id="13" name="Rectangle 12"/>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85</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USING HINT() AS A PERMANENT FIRST RESPONSE (CONT.)</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573671"/>
            <a:ext cx="237744" cy="237744"/>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73671"/>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555383"/>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957719"/>
            <a:ext cx="11247120" cy="3509490"/>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  </a:t>
            </a:r>
            <a:r>
              <a:rPr sz="1600" b="0" i="0">
                <a:solidFill>
                  <a:srgbClr val="000000"/>
                </a:solidFill>
                <a:latin typeface="Nirmala UI"/>
              </a:rPr>
              <a:t>Explain how MongoDB indexes improve data access.</a:t>
            </a:r>
          </a:p>
          <a:p>
            <a:pPr>
              <a:spcBef>
                <a:spcPts val="0"/>
              </a:spcBef>
              <a:spcAft>
                <a:spcPts val="615"/>
              </a:spcAft>
            </a:pPr>
            <a:r>
              <a:rPr sz="1600" b="0" i="0">
                <a:solidFill>
                  <a:srgbClr val="000000"/>
                </a:solidFill>
                <a:latin typeface="Nirmala UI"/>
              </a:rPr>
              <a:t>•  </a:t>
            </a:r>
            <a:r>
              <a:rPr sz="1600" b="0" i="0">
                <a:solidFill>
                  <a:srgbClr val="000000"/>
                </a:solidFill>
                <a:latin typeface="Nirmala UI"/>
              </a:rPr>
              <a:t>Create, list, hide, restore and remove indexes.</a:t>
            </a:r>
          </a:p>
          <a:p>
            <a:pPr>
              <a:spcBef>
                <a:spcPts val="0"/>
              </a:spcBef>
              <a:spcAft>
                <a:spcPts val="615"/>
              </a:spcAft>
            </a:pPr>
            <a:r>
              <a:rPr sz="1600" b="0" i="0">
                <a:solidFill>
                  <a:srgbClr val="000000"/>
                </a:solidFill>
                <a:latin typeface="Nirmala UI"/>
              </a:rPr>
              <a:t>•  </a:t>
            </a:r>
            <a:r>
              <a:rPr sz="1600" b="0" i="0">
                <a:solidFill>
                  <a:srgbClr val="000000"/>
                </a:solidFill>
                <a:latin typeface="Nirmala UI"/>
              </a:rPr>
              <a:t>Interpret </a:t>
            </a:r>
            <a:r>
              <a:rPr sz="1600" b="0" i="0">
                <a:solidFill>
                  <a:srgbClr val="000000"/>
                </a:solidFill>
                <a:latin typeface="Consolas"/>
              </a:rPr>
              <a:t>COLLSCAN</a:t>
            </a:r>
            <a:r>
              <a:rPr sz="1600" b="0" i="0">
                <a:solidFill>
                  <a:srgbClr val="000000"/>
                </a:solidFill>
                <a:latin typeface="Nirmala UI"/>
              </a:rPr>
              <a:t>, </a:t>
            </a:r>
            <a:r>
              <a:rPr sz="1600" b="0" i="0">
                <a:solidFill>
                  <a:srgbClr val="000000"/>
                </a:solidFill>
                <a:latin typeface="Consolas"/>
              </a:rPr>
              <a:t>IXSCAN</a:t>
            </a:r>
            <a:r>
              <a:rPr sz="1600" b="0" i="0">
                <a:solidFill>
                  <a:srgbClr val="000000"/>
                </a:solidFill>
                <a:latin typeface="Nirmala UI"/>
              </a:rPr>
              <a:t>, </a:t>
            </a:r>
            <a:r>
              <a:rPr sz="1600" b="0" i="0">
                <a:solidFill>
                  <a:srgbClr val="000000"/>
                </a:solidFill>
                <a:latin typeface="Consolas"/>
              </a:rPr>
              <a:t>FETCH</a:t>
            </a:r>
            <a:r>
              <a:rPr sz="1600" b="0" i="0">
                <a:solidFill>
                  <a:srgbClr val="000000"/>
                </a:solidFill>
                <a:latin typeface="Nirmala UI"/>
              </a:rPr>
              <a:t> and </a:t>
            </a:r>
            <a:r>
              <a:rPr sz="1600" b="0" i="0">
                <a:solidFill>
                  <a:srgbClr val="000000"/>
                </a:solidFill>
                <a:latin typeface="Consolas"/>
              </a:rPr>
              <a:t>SORT</a:t>
            </a:r>
            <a:r>
              <a:rPr sz="1600" b="0" i="0">
                <a:solidFill>
                  <a:srgbClr val="000000"/>
                </a:solidFill>
                <a:latin typeface="Nirmala UI"/>
              </a:rPr>
              <a:t>.</a:t>
            </a:r>
          </a:p>
          <a:p>
            <a:pPr>
              <a:spcBef>
                <a:spcPts val="0"/>
              </a:spcBef>
              <a:spcAft>
                <a:spcPts val="615"/>
              </a:spcAft>
            </a:pPr>
            <a:r>
              <a:rPr sz="1600" b="0" i="0">
                <a:solidFill>
                  <a:srgbClr val="000000"/>
                </a:solidFill>
                <a:latin typeface="Nirmala UI"/>
              </a:rPr>
              <a:t>•  </a:t>
            </a:r>
            <a:r>
              <a:rPr sz="1600" b="0" i="0">
                <a:solidFill>
                  <a:srgbClr val="000000"/>
                </a:solidFill>
                <a:latin typeface="Nirmala UI"/>
              </a:rPr>
              <a:t>Compare query behavior using </a:t>
            </a:r>
            <a:r>
              <a:rPr sz="1600" b="0" i="0">
                <a:solidFill>
                  <a:srgbClr val="000000"/>
                </a:solidFill>
                <a:latin typeface="Consolas"/>
              </a:rPr>
              <a:t>explain("executionStats")</a:t>
            </a:r>
            <a:r>
              <a:rPr sz="1600" b="0" i="0">
                <a:solidFill>
                  <a:srgbClr val="000000"/>
                </a:solidFill>
                <a:latin typeface="Nirmala UI"/>
              </a:rPr>
              <a:t>.</a:t>
            </a:r>
          </a:p>
          <a:p>
            <a:pPr>
              <a:spcBef>
                <a:spcPts val="0"/>
              </a:spcBef>
              <a:spcAft>
                <a:spcPts val="615"/>
              </a:spcAft>
            </a:pPr>
            <a:r>
              <a:rPr sz="1600" b="0" i="0">
                <a:solidFill>
                  <a:srgbClr val="000000"/>
                </a:solidFill>
                <a:latin typeface="Nirmala UI"/>
              </a:rPr>
              <a:t>•  </a:t>
            </a:r>
            <a:r>
              <a:rPr sz="1600" b="0" i="0">
                <a:solidFill>
                  <a:srgbClr val="000000"/>
                </a:solidFill>
                <a:latin typeface="Nirmala UI"/>
              </a:rPr>
              <a:t>Design compound indexes around filters and sorts.</a:t>
            </a:r>
          </a:p>
          <a:p>
            <a:pPr>
              <a:spcBef>
                <a:spcPts val="0"/>
              </a:spcBef>
              <a:spcAft>
                <a:spcPts val="615"/>
              </a:spcAft>
            </a:pPr>
            <a:r>
              <a:rPr sz="1600" b="0" i="0">
                <a:solidFill>
                  <a:srgbClr val="000000"/>
                </a:solidFill>
                <a:latin typeface="Nirmala UI"/>
              </a:rPr>
              <a:t>•  </a:t>
            </a:r>
            <a:r>
              <a:rPr sz="1600" b="0" i="0">
                <a:solidFill>
                  <a:srgbClr val="000000"/>
                </a:solidFill>
                <a:latin typeface="Nirmala UI"/>
              </a:rPr>
              <a:t>Apply the equality-sort-range guideline.</a:t>
            </a:r>
          </a:p>
          <a:p>
            <a:pPr>
              <a:spcBef>
                <a:spcPts val="0"/>
              </a:spcBef>
              <a:spcAft>
                <a:spcPts val="615"/>
              </a:spcAft>
            </a:pPr>
            <a:r>
              <a:rPr sz="1600" b="0" i="0">
                <a:solidFill>
                  <a:srgbClr val="000000"/>
                </a:solidFill>
                <a:latin typeface="Nirmala UI"/>
              </a:rPr>
              <a:t>•  </a:t>
            </a:r>
            <a:r>
              <a:rPr sz="1600" b="0" i="0">
                <a:solidFill>
                  <a:srgbClr val="000000"/>
                </a:solidFill>
                <a:latin typeface="Nirmala UI"/>
              </a:rPr>
              <a:t>Use unique indexes to enforce business rules.</a:t>
            </a:r>
          </a:p>
          <a:p>
            <a:pPr>
              <a:spcBef>
                <a:spcPts val="0"/>
              </a:spcBef>
              <a:spcAft>
                <a:spcPts val="615"/>
              </a:spcAft>
            </a:pPr>
            <a:r>
              <a:rPr sz="1600" b="0" i="0">
                <a:solidFill>
                  <a:srgbClr val="000000"/>
                </a:solidFill>
                <a:latin typeface="Nirmala UI"/>
              </a:rPr>
              <a:t>•  </a:t>
            </a:r>
            <a:r>
              <a:rPr sz="1600" b="0" i="0">
                <a:solidFill>
                  <a:srgbClr val="000000"/>
                </a:solidFill>
                <a:latin typeface="Nirmala UI"/>
              </a:rPr>
              <a:t>Identify multikey, partial, sparse, TTL, text, wildcard, geospatial and hashed index use cases.</a:t>
            </a:r>
          </a:p>
          <a:p>
            <a:pPr>
              <a:spcBef>
                <a:spcPts val="0"/>
              </a:spcBef>
              <a:spcAft>
                <a:spcPts val="615"/>
              </a:spcAft>
            </a:pPr>
            <a:r>
              <a:rPr sz="1600" b="0" i="0">
                <a:solidFill>
                  <a:srgbClr val="000000"/>
                </a:solidFill>
                <a:latin typeface="Nirmala UI"/>
              </a:rPr>
              <a:t>•  </a:t>
            </a:r>
            <a:r>
              <a:rPr sz="1600" b="0" i="0">
                <a:solidFill>
                  <a:srgbClr val="000000"/>
                </a:solidFill>
                <a:latin typeface="Nirmala UI"/>
              </a:rPr>
              <a:t>Recognize the storage and write costs of indexing.</a:t>
            </a:r>
          </a:p>
          <a:p>
            <a:pPr>
              <a:spcBef>
                <a:spcPts val="0"/>
              </a:spcBef>
              <a:spcAft>
                <a:spcPts val="615"/>
              </a:spcAft>
            </a:pPr>
            <a:r>
              <a:rPr sz="1600" b="0" i="0">
                <a:solidFill>
                  <a:srgbClr val="000000"/>
                </a:solidFill>
                <a:latin typeface="Nirmala UI"/>
              </a:rPr>
              <a:t>•  </a:t>
            </a:r>
            <a:r>
              <a:rPr sz="1600" b="0" i="0">
                <a:solidFill>
                  <a:srgbClr val="000000"/>
                </a:solidFill>
                <a:latin typeface="Nirmala UI"/>
              </a:rPr>
              <a:t>Select indexes according to real query shapes and workload evidence.</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86</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DEMO 6.1 — COMPARE A COLLECTION SCAN AND INDEX SCAN</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223126"/>
            <a:ext cx="237744" cy="237744"/>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23126"/>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204838"/>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607174"/>
            <a:ext cx="11247120" cy="2210580"/>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Time:</a:t>
            </a:r>
            <a:r>
              <a:rPr sz="2000" b="0" i="0">
                <a:solidFill>
                  <a:srgbClr val="000000"/>
                </a:solidFill>
                <a:latin typeface="Nirmala UI"/>
              </a:rPr>
              <a:t> 15 min</a:t>
            </a:r>
          </a:p>
          <a:p>
            <a:pPr>
              <a:spcBef>
                <a:spcPts val="0"/>
              </a:spcBef>
              <a:spcAft>
                <a:spcPts val="769"/>
              </a:spcAft>
            </a:pPr>
            <a:r>
              <a:rPr sz="2000" b="0" i="0">
                <a:solidFill>
                  <a:srgbClr val="000000"/>
                </a:solidFill>
                <a:latin typeface="Nirmala UI"/>
              </a:rPr>
              <a:t>•  </a:t>
            </a:r>
            <a:r>
              <a:rPr sz="2000" b="1" i="0">
                <a:solidFill>
                  <a:srgbClr val="000000"/>
                </a:solidFill>
                <a:latin typeface="Nirmala UI"/>
              </a:rPr>
              <a:t>Explain `find({ category: </a:t>
            </a:r>
            <a:r>
              <a:rPr sz="2000" b="0" i="0">
                <a:solidFill>
                  <a:srgbClr val="000000"/>
                </a:solidFill>
                <a:latin typeface="Nirmala UI"/>
              </a:rPr>
              <a:t>"ACCESSORY" })` — record stage, keys, docs, nReturned</a:t>
            </a:r>
          </a:p>
          <a:p>
            <a:pPr>
              <a:spcBef>
                <a:spcPts val="0"/>
              </a:spcBef>
              <a:spcAft>
                <a:spcPts val="769"/>
              </a:spcAft>
            </a:pPr>
            <a:r>
              <a:rPr sz="2000" b="0" i="0">
                <a:solidFill>
                  <a:srgbClr val="000000"/>
                </a:solidFill>
                <a:latin typeface="Nirmala UI"/>
              </a:rPr>
              <a:t>•  </a:t>
            </a:r>
            <a:r>
              <a:rPr sz="2000" b="0" i="0">
                <a:solidFill>
                  <a:srgbClr val="000000"/>
                </a:solidFill>
                <a:latin typeface="Nirmala UI"/>
              </a:rPr>
              <a:t>Create </a:t>
            </a:r>
            <a:r>
              <a:rPr sz="2000" b="0" i="0">
                <a:solidFill>
                  <a:srgbClr val="000000"/>
                </a:solidFill>
                <a:latin typeface="Consolas"/>
              </a:rPr>
              <a:t>idx_products_category</a:t>
            </a:r>
          </a:p>
          <a:p>
            <a:pPr>
              <a:spcBef>
                <a:spcPts val="0"/>
              </a:spcBef>
              <a:spcAft>
                <a:spcPts val="769"/>
              </a:spcAft>
            </a:pPr>
            <a:r>
              <a:rPr sz="2000" b="0" i="0">
                <a:solidFill>
                  <a:srgbClr val="000000"/>
                </a:solidFill>
                <a:latin typeface="Nirmala UI"/>
              </a:rPr>
              <a:t>•  </a:t>
            </a:r>
            <a:r>
              <a:rPr sz="2000" b="0" i="0">
                <a:solidFill>
                  <a:srgbClr val="000000"/>
                </a:solidFill>
                <a:latin typeface="Nirmala UI"/>
              </a:rPr>
              <a:t>Explain again and compare</a:t>
            </a:r>
          </a:p>
          <a:p>
            <a:pPr>
              <a:spcBef>
                <a:spcPts val="0"/>
              </a:spcBef>
              <a:spcAft>
                <a:spcPts val="769"/>
              </a:spcAft>
            </a:pPr>
            <a:r>
              <a:rPr sz="2000" b="0" i="0">
                <a:solidFill>
                  <a:srgbClr val="000000"/>
                </a:solidFill>
                <a:latin typeface="Nirmala UI"/>
              </a:rPr>
              <a:t>•  </a:t>
            </a:r>
            <a:r>
              <a:rPr sz="2000" b="0" i="0">
                <a:solidFill>
                  <a:srgbClr val="000000"/>
                </a:solidFill>
                <a:latin typeface="Nirmala UI"/>
              </a:rPr>
              <a:t>training_store is small — teach the plan, not the clock</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87</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DEMO 6.1 — COMMANDS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802814"/>
            <a:ext cx="237744" cy="237744"/>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802814"/>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784526"/>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186862"/>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Record winning stage, </a:t>
            </a:r>
            <a:r>
              <a:rPr sz="2000" b="0" i="0">
                <a:solidFill>
                  <a:srgbClr val="000000"/>
                </a:solidFill>
                <a:latin typeface="Consolas"/>
              </a:rPr>
              <a:t>totalKeysExamined</a:t>
            </a:r>
            <a:r>
              <a:rPr sz="2000" b="0" i="0">
                <a:solidFill>
                  <a:srgbClr val="000000"/>
                </a:solidFill>
                <a:latin typeface="Nirmala UI"/>
              </a:rPr>
              <a:t>, </a:t>
            </a:r>
            <a:r>
              <a:rPr sz="2000" b="0" i="0">
                <a:solidFill>
                  <a:srgbClr val="000000"/>
                </a:solidFill>
                <a:latin typeface="Consolas"/>
              </a:rPr>
              <a:t>totalDocsExamined</a:t>
            </a:r>
            <a:r>
              <a:rPr sz="2000" b="0" i="0">
                <a:solidFill>
                  <a:srgbClr val="000000"/>
                </a:solidFill>
                <a:latin typeface="Nirmala UI"/>
              </a:rPr>
              <a:t>, </a:t>
            </a:r>
            <a:r>
              <a:rPr sz="2000" b="0" i="0">
                <a:solidFill>
                  <a:srgbClr val="000000"/>
                </a:solidFill>
                <a:latin typeface="Consolas"/>
              </a:rPr>
              <a:t>nReturned</a:t>
            </a:r>
            <a:r>
              <a:rPr sz="2000" b="0" i="0">
                <a:solidFill>
                  <a:srgbClr val="000000"/>
                </a:solidFill>
                <a:latin typeface="Nirmala UI"/>
              </a:rPr>
              <a:t>.</a:t>
            </a:r>
          </a:p>
        </p:txBody>
      </p:sp>
      <p:sp>
        <p:nvSpPr>
          <p:cNvPr id="8" name="Rounded Rectangle 7"/>
          <p:cNvSpPr/>
          <p:nvPr/>
        </p:nvSpPr>
        <p:spPr>
          <a:xfrm>
            <a:off x="457200" y="2756994"/>
            <a:ext cx="11247120" cy="2481072"/>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5216" y="2848434"/>
            <a:ext cx="10991088" cy="2316480"/>
          </a:xfrm>
          <a:prstGeom prst="rect">
            <a:avLst/>
          </a:prstGeom>
          <a:noFill/>
        </p:spPr>
        <p:txBody>
          <a:bodyPr wrap="square" anchor="t" lIns="0" rIns="0" tIns="0" bIns="0">
            <a:spAutoFit/>
          </a:bodyPr>
          <a:lstStyle/>
          <a:p>
            <a:pPr>
              <a:spcBef>
                <a:spcPts val="0"/>
              </a:spcBef>
              <a:spcAft>
                <a:spcPts val="0"/>
              </a:spcAft>
            </a:pPr>
            <a:r>
              <a:rPr sz="1700" b="0" i="0">
                <a:solidFill>
                  <a:srgbClr val="000000"/>
                </a:solidFill>
                <a:latin typeface="Consolas"/>
              </a:rPr>
              <a:t>db.products.find({ category: "ACCESSORY" }).explain("executionStats")</a:t>
            </a:r>
          </a:p>
          <a:p>
            <a:pPr>
              <a:spcBef>
                <a:spcPts val="0"/>
              </a:spcBef>
              <a:spcAft>
                <a:spcPts val="0"/>
              </a:spcAft>
            </a:pPr>
            <a:r>
              <a:rPr sz="1700" b="0" i="0">
                <a:solidFill>
                  <a:srgbClr val="000000"/>
                </a:solidFill>
                <a:latin typeface="Consolas"/>
              </a:rPr>
              <a:t> </a:t>
            </a:r>
          </a:p>
          <a:p>
            <a:pPr>
              <a:spcBef>
                <a:spcPts val="0"/>
              </a:spcBef>
              <a:spcAft>
                <a:spcPts val="0"/>
              </a:spcAft>
            </a:pPr>
            <a:r>
              <a:rPr sz="1700" b="0" i="0">
                <a:solidFill>
                  <a:srgbClr val="000000"/>
                </a:solidFill>
                <a:latin typeface="Consolas"/>
              </a:rPr>
              <a:t>db.products.createIndex(</a:t>
            </a:r>
          </a:p>
          <a:p>
            <a:pPr>
              <a:spcBef>
                <a:spcPts val="0"/>
              </a:spcBef>
              <a:spcAft>
                <a:spcPts val="0"/>
              </a:spcAft>
            </a:pPr>
            <a:r>
              <a:rPr sz="1700" b="0" i="0">
                <a:solidFill>
                  <a:srgbClr val="000000"/>
                </a:solidFill>
                <a:latin typeface="Consolas"/>
              </a:rPr>
              <a:t>  { category: 1 },</a:t>
            </a:r>
          </a:p>
          <a:p>
            <a:pPr>
              <a:spcBef>
                <a:spcPts val="0"/>
              </a:spcBef>
              <a:spcAft>
                <a:spcPts val="0"/>
              </a:spcAft>
            </a:pPr>
            <a:r>
              <a:rPr sz="1700" b="0" i="0">
                <a:solidFill>
                  <a:srgbClr val="000000"/>
                </a:solidFill>
                <a:latin typeface="Consolas"/>
              </a:rPr>
              <a:t>  { name: "idx_products_category" }</a:t>
            </a:r>
          </a:p>
          <a:p>
            <a:pPr>
              <a:spcBef>
                <a:spcPts val="0"/>
              </a:spcBef>
              <a:spcAft>
                <a:spcPts val="0"/>
              </a:spcAft>
            </a:pPr>
            <a:r>
              <a:rPr sz="1700" b="0" i="0">
                <a:solidFill>
                  <a:srgbClr val="000000"/>
                </a:solidFill>
                <a:latin typeface="Consolas"/>
              </a:rPr>
              <a:t>)</a:t>
            </a:r>
          </a:p>
          <a:p>
            <a:pPr>
              <a:spcBef>
                <a:spcPts val="0"/>
              </a:spcBef>
              <a:spcAft>
                <a:spcPts val="0"/>
              </a:spcAft>
            </a:pPr>
            <a:r>
              <a:rPr sz="1700" b="0" i="0">
                <a:solidFill>
                  <a:srgbClr val="000000"/>
                </a:solidFill>
                <a:latin typeface="Consolas"/>
              </a:rPr>
              <a:t> </a:t>
            </a:r>
          </a:p>
          <a:p>
            <a:pPr>
              <a:spcBef>
                <a:spcPts val="0"/>
              </a:spcBef>
              <a:spcAft>
                <a:spcPts val="0"/>
              </a:spcAft>
            </a:pPr>
            <a:r>
              <a:rPr sz="1700" b="0" i="0">
                <a:solidFill>
                  <a:srgbClr val="000000"/>
                </a:solidFill>
                <a:latin typeface="Consolas"/>
              </a:rPr>
              <a:t>db.products.find({ category: "ACCESSORY" }).explain("executionStats")</a:t>
            </a:r>
          </a:p>
        </p:txBody>
      </p:sp>
      <p:sp>
        <p:nvSpPr>
          <p:cNvPr id="10" name="Rectangle 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88</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DEMO 6.2 — CREATE AND INSPECT A SINGLE-FIELD INDEX</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439612"/>
            <a:ext cx="237744" cy="237744"/>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39612"/>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421324"/>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823660"/>
            <a:ext cx="11247120" cy="1777608"/>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Time:</a:t>
            </a:r>
            <a:r>
              <a:rPr sz="2000" b="0" i="0">
                <a:solidFill>
                  <a:srgbClr val="000000"/>
                </a:solidFill>
                <a:latin typeface="Nirmala UI"/>
              </a:rPr>
              <a:t> 10 min</a:t>
            </a:r>
          </a:p>
          <a:p>
            <a:pPr>
              <a:spcBef>
                <a:spcPts val="0"/>
              </a:spcBef>
              <a:spcAft>
                <a:spcPts val="769"/>
              </a:spcAft>
            </a:pPr>
            <a:r>
              <a:rPr sz="2000" b="0" i="0">
                <a:solidFill>
                  <a:srgbClr val="000000"/>
                </a:solidFill>
                <a:latin typeface="Nirmala UI"/>
              </a:rPr>
              <a:t>•  </a:t>
            </a:r>
            <a:r>
              <a:rPr sz="2000" b="1" i="0">
                <a:solidFill>
                  <a:srgbClr val="000000"/>
                </a:solidFill>
                <a:latin typeface="Nirmala UI"/>
              </a:rPr>
              <a:t>Create `idx_products_sku` on `{ sku: </a:t>
            </a:r>
            <a:r>
              <a:rPr sz="2000" b="0" i="0">
                <a:solidFill>
                  <a:srgbClr val="000000"/>
                </a:solidFill>
                <a:latin typeface="Nirmala UI"/>
              </a:rPr>
              <a:t>1 }`</a:t>
            </a:r>
          </a:p>
          <a:p>
            <a:pPr>
              <a:spcBef>
                <a:spcPts val="0"/>
              </a:spcBef>
              <a:spcAft>
                <a:spcPts val="769"/>
              </a:spcAft>
            </a:pPr>
            <a:r>
              <a:rPr sz="2000" b="0" i="0">
                <a:solidFill>
                  <a:srgbClr val="000000"/>
                </a:solidFill>
                <a:latin typeface="Nirmala UI"/>
              </a:rPr>
              <a:t>•  </a:t>
            </a:r>
            <a:r>
              <a:rPr sz="2000" b="0" i="0">
                <a:solidFill>
                  <a:srgbClr val="000000"/>
                </a:solidFill>
                <a:latin typeface="Consolas"/>
              </a:rPr>
              <a:t>getIndexes()</a:t>
            </a:r>
            <a:r>
              <a:rPr sz="2000" b="0" i="0">
                <a:solidFill>
                  <a:srgbClr val="000000"/>
                </a:solidFill>
                <a:latin typeface="Nirmala UI"/>
              </a:rPr>
              <a:t> — name, key, unique flag</a:t>
            </a:r>
          </a:p>
          <a:p>
            <a:pPr>
              <a:spcBef>
                <a:spcPts val="0"/>
              </a:spcBef>
              <a:spcAft>
                <a:spcPts val="769"/>
              </a:spcAft>
            </a:pPr>
            <a:r>
              <a:rPr sz="2000" b="0" i="0">
                <a:solidFill>
                  <a:srgbClr val="000000"/>
                </a:solidFill>
                <a:latin typeface="Nirmala UI"/>
              </a:rPr>
              <a:t>•  </a:t>
            </a:r>
            <a:r>
              <a:rPr sz="2000" b="1" i="0">
                <a:solidFill>
                  <a:srgbClr val="000000"/>
                </a:solidFill>
                <a:latin typeface="Nirmala UI"/>
              </a:rPr>
              <a:t>Explain `find({ sku: </a:t>
            </a:r>
            <a:r>
              <a:rPr sz="2000" b="0" i="0">
                <a:solidFill>
                  <a:srgbClr val="000000"/>
                </a:solidFill>
                <a:latin typeface="Nirmala UI"/>
              </a:rPr>
              <a:t>"L100" })`</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89</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DEMO 6.3 — DESIGN A COMPOUND INDEX</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439612"/>
            <a:ext cx="237744" cy="237744"/>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39612"/>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421324"/>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823660"/>
            <a:ext cx="11247120" cy="1777608"/>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Time:</a:t>
            </a:r>
            <a:r>
              <a:rPr sz="2000" b="0" i="0">
                <a:solidFill>
                  <a:srgbClr val="000000"/>
                </a:solidFill>
                <a:latin typeface="Nirmala UI"/>
              </a:rPr>
              <a:t> 15 min</a:t>
            </a:r>
          </a:p>
          <a:p>
            <a:pPr>
              <a:spcBef>
                <a:spcPts val="0"/>
              </a:spcBef>
              <a:spcAft>
                <a:spcPts val="769"/>
              </a:spcAft>
            </a:pPr>
            <a:r>
              <a:rPr sz="2000" b="0" i="0">
                <a:solidFill>
                  <a:srgbClr val="000000"/>
                </a:solidFill>
                <a:latin typeface="Nirmala UI"/>
              </a:rPr>
              <a:t>•  </a:t>
            </a:r>
            <a:r>
              <a:rPr sz="2000" b="1" i="0">
                <a:solidFill>
                  <a:srgbClr val="000000"/>
                </a:solidFill>
                <a:latin typeface="Nirmala UI"/>
              </a:rPr>
              <a:t>Query: </a:t>
            </a:r>
            <a:r>
              <a:rPr sz="2000" b="0" i="0">
                <a:solidFill>
                  <a:srgbClr val="000000"/>
                </a:solidFill>
                <a:latin typeface="Nirmala UI"/>
              </a:rPr>
              <a:t>ACCESSORY + active, sort price</a:t>
            </a:r>
          </a:p>
          <a:p>
            <a:pPr>
              <a:spcBef>
                <a:spcPts val="0"/>
              </a:spcBef>
              <a:spcAft>
                <a:spcPts val="769"/>
              </a:spcAft>
            </a:pPr>
            <a:r>
              <a:rPr sz="2000" b="0" i="0">
                <a:solidFill>
                  <a:srgbClr val="000000"/>
                </a:solidFill>
                <a:latin typeface="Nirmala UI"/>
              </a:rPr>
              <a:t>•  </a:t>
            </a:r>
            <a:r>
              <a:rPr sz="2000" b="0" i="0">
                <a:solidFill>
                  <a:srgbClr val="000000"/>
                </a:solidFill>
                <a:latin typeface="Nirmala UI"/>
              </a:rPr>
              <a:t>Create </a:t>
            </a:r>
            <a:r>
              <a:rPr sz="2000" b="0" i="0">
                <a:solidFill>
                  <a:srgbClr val="000000"/>
                </a:solidFill>
                <a:latin typeface="Consolas"/>
              </a:rPr>
              <a:t>idx_products_category_active_price</a:t>
            </a:r>
          </a:p>
          <a:p>
            <a:pPr>
              <a:spcBef>
                <a:spcPts val="0"/>
              </a:spcBef>
              <a:spcAft>
                <a:spcPts val="769"/>
              </a:spcAft>
            </a:pPr>
            <a:r>
              <a:rPr sz="2000" b="0" i="0">
                <a:solidFill>
                  <a:srgbClr val="000000"/>
                </a:solidFill>
                <a:latin typeface="Nirmala UI"/>
              </a:rPr>
              <a:t>•  </a:t>
            </a:r>
            <a:r>
              <a:rPr sz="2000" b="0" i="0">
                <a:solidFill>
                  <a:srgbClr val="000000"/>
                </a:solidFill>
                <a:latin typeface="Nirmala UI"/>
              </a:rPr>
              <a:t>Compare explain before and after — watch for SORT</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90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DEMO 6.4 — APPLY EQUALITY–SORT–RANGE</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271972"/>
            <a:ext cx="237744" cy="237744"/>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71972"/>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253684"/>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656020"/>
            <a:ext cx="11247120" cy="2112888"/>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Time:</a:t>
            </a:r>
            <a:r>
              <a:rPr sz="2000" b="0" i="0">
                <a:solidFill>
                  <a:srgbClr val="000000"/>
                </a:solidFill>
                <a:latin typeface="Nirmala UI"/>
              </a:rPr>
              <a:t> 20 min</a:t>
            </a:r>
          </a:p>
          <a:p>
            <a:pPr>
              <a:spcBef>
                <a:spcPts val="0"/>
              </a:spcBef>
              <a:spcAft>
                <a:spcPts val="769"/>
              </a:spcAft>
            </a:pPr>
            <a:r>
              <a:rPr sz="2000" b="0" i="0">
                <a:solidFill>
                  <a:srgbClr val="000000"/>
                </a:solidFill>
                <a:latin typeface="Nirmala UI"/>
              </a:rPr>
              <a:t>•  </a:t>
            </a:r>
            <a:r>
              <a:rPr sz="2000" b="1" i="0">
                <a:solidFill>
                  <a:srgbClr val="000000"/>
                </a:solidFill>
                <a:latin typeface="Nirmala UI"/>
              </a:rPr>
              <a:t>Customer order history: </a:t>
            </a:r>
            <a:r>
              <a:rPr sz="2000" b="0" i="0">
                <a:solidFill>
                  <a:srgbClr val="000000"/>
                </a:solidFill>
                <a:latin typeface="Nirmala UI"/>
              </a:rPr>
              <a:t>equality customerId, sort createdAt, range total — or date range on createdAt</a:t>
            </a:r>
          </a:p>
          <a:p>
            <a:pPr>
              <a:spcBef>
                <a:spcPts val="0"/>
              </a:spcBef>
              <a:spcAft>
                <a:spcPts val="769"/>
              </a:spcAft>
            </a:pPr>
            <a:r>
              <a:rPr sz="2000" b="0" i="0">
                <a:solidFill>
                  <a:srgbClr val="000000"/>
                </a:solidFill>
                <a:latin typeface="Nirmala UI"/>
              </a:rPr>
              <a:t>•  </a:t>
            </a:r>
            <a:r>
              <a:rPr sz="2000" b="0" i="0">
                <a:solidFill>
                  <a:srgbClr val="000000"/>
                </a:solidFill>
                <a:latin typeface="Nirmala UI"/>
              </a:rPr>
              <a:t>Test alternative field orders</a:t>
            </a:r>
          </a:p>
          <a:p>
            <a:pPr>
              <a:spcBef>
                <a:spcPts val="0"/>
              </a:spcBef>
              <a:spcAft>
                <a:spcPts val="769"/>
              </a:spcAft>
            </a:pPr>
            <a:r>
              <a:rPr sz="2000" b="0" i="0">
                <a:solidFill>
                  <a:srgbClr val="000000"/>
                </a:solidFill>
                <a:latin typeface="Nirmala UI"/>
              </a:rPr>
              <a:t>•  </a:t>
            </a:r>
            <a:r>
              <a:rPr sz="2000" b="0" i="0">
                <a:solidFill>
                  <a:srgbClr val="000000"/>
                </a:solidFill>
                <a:latin typeface="Nirmala UI"/>
              </a:rPr>
              <a:t>Compare examined keys</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91</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6.1 — IDENTIFY CANDIDATE INDEXES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488458"/>
            <a:ext cx="237744" cy="237744"/>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8845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47017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872506"/>
            <a:ext cx="11247120" cy="1679916"/>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Time:</a:t>
            </a:r>
            <a:r>
              <a:rPr sz="2000" b="0" i="0">
                <a:solidFill>
                  <a:srgbClr val="000000"/>
                </a:solidFill>
                <a:latin typeface="Nirmala UI"/>
              </a:rPr>
              <a:t> 15 min</a:t>
            </a:r>
          </a:p>
          <a:p>
            <a:pPr>
              <a:spcBef>
                <a:spcPts val="0"/>
              </a:spcBef>
              <a:spcAft>
                <a:spcPts val="769"/>
              </a:spcAft>
            </a:pPr>
            <a:r>
              <a:rPr sz="2000" b="0" i="0">
                <a:solidFill>
                  <a:srgbClr val="000000"/>
                </a:solidFill>
                <a:latin typeface="Nirmala UI"/>
              </a:rPr>
              <a:t>•  </a:t>
            </a:r>
            <a:r>
              <a:rPr sz="2000" b="0" i="0">
                <a:solidFill>
                  <a:srgbClr val="000000"/>
                </a:solidFill>
                <a:latin typeface="Nirmala UI"/>
              </a:rPr>
              <a:t>Name indexed fields for six recurring training_store queries.</a:t>
            </a:r>
          </a:p>
          <a:p>
            <a:pPr>
              <a:spcBef>
                <a:spcPts val="0"/>
              </a:spcBef>
              <a:spcAft>
                <a:spcPts val="769"/>
              </a:spcAft>
            </a:pPr>
            <a:r>
              <a:rPr sz="2000" b="0" i="0">
                <a:solidFill>
                  <a:srgbClr val="000000"/>
                </a:solidFill>
                <a:latin typeface="Nirmala UI"/>
              </a:rPr>
              <a:t>•  </a:t>
            </a:r>
            <a:r>
              <a:rPr sz="2000" b="1" i="0">
                <a:solidFill>
                  <a:srgbClr val="000000"/>
                </a:solidFill>
                <a:latin typeface="Nirmala UI"/>
              </a:rPr>
              <a:t>Lab guide:</a:t>
            </a:r>
            <a:r>
              <a:rPr sz="2000" b="0" i="0">
                <a:solidFill>
                  <a:srgbClr val="000000"/>
                </a:solidFill>
                <a:latin typeface="Nirmala UI"/>
              </a:rPr>
              <a:t> </a:t>
            </a:r>
            <a:r>
              <a:rPr sz="2000" b="0" i="0">
                <a:solidFill>
                  <a:srgbClr val="000000"/>
                </a:solidFill>
                <a:latin typeface="Consolas"/>
              </a:rPr>
              <a:t>Exercise 6.1</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92</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6.1 — STEPS 1–2</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410426"/>
            <a:ext cx="237744" cy="237744"/>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10426"/>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392138"/>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Rounded Rectangle 6"/>
          <p:cNvSpPr/>
          <p:nvPr/>
        </p:nvSpPr>
        <p:spPr>
          <a:xfrm>
            <a:off x="457200" y="1794474"/>
            <a:ext cx="11247120" cy="554736"/>
          </a:xfrm>
          <a:prstGeom prst="roundRect">
            <a:avLst>
              <a:gd name="adj" fmla="val 6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794474"/>
            <a:ext cx="11027664" cy="554736"/>
          </a:xfrm>
          <a:prstGeom prst="rect">
            <a:avLst/>
          </a:prstGeom>
          <a:noFill/>
        </p:spPr>
        <p:txBody>
          <a:bodyPr wrap="square" anchor="ctr" lIns="0" rIns="0" tIns="0" bIns="0">
            <a:spAutoFit/>
          </a:bodyPr>
          <a:lstStyle/>
          <a:p>
            <a:r>
              <a:rPr sz="1200" b="1" i="0">
                <a:solidFill>
                  <a:srgbClr val="D1282E"/>
                </a:solidFill>
                <a:latin typeface="Nirmala UI"/>
              </a:rPr>
              <a:t>LAB GUIDE   </a:t>
            </a:r>
            <a:r>
              <a:rPr sz="2000" b="0" i="0">
                <a:solidFill>
                  <a:srgbClr val="000000"/>
                </a:solidFill>
                <a:latin typeface="Consolas"/>
              </a:rPr>
              <a:t>Exercise 6.1</a:t>
            </a:r>
          </a:p>
        </p:txBody>
      </p:sp>
      <p:sp>
        <p:nvSpPr>
          <p:cNvPr id="9" name="TextBox 8"/>
          <p:cNvSpPr txBox="1"/>
          <p:nvPr/>
        </p:nvSpPr>
        <p:spPr>
          <a:xfrm>
            <a:off x="457200" y="2440650"/>
            <a:ext cx="11247120" cy="283854"/>
          </a:xfrm>
          <a:prstGeom prst="rect">
            <a:avLst/>
          </a:prstGeom>
          <a:noFill/>
        </p:spPr>
        <p:txBody>
          <a:bodyPr wrap="square" anchor="t" lIns="0" rIns="0" tIns="0" bIns="0">
            <a:spAutoFit/>
          </a:bodyPr>
          <a:lstStyle/>
          <a:p>
            <a:pPr>
              <a:spcBef>
                <a:spcPts val="0"/>
              </a:spcBef>
              <a:spcAft>
                <a:spcPts val="423"/>
              </a:spcAft>
            </a:pPr>
            <a:r>
              <a:rPr sz="1100" b="1" i="0">
                <a:solidFill>
                  <a:srgbClr val="000000"/>
                </a:solidFill>
                <a:latin typeface="Nirmala UI"/>
              </a:rPr>
              <a:t>Follow along (Windows) — key steps:</a:t>
            </a:r>
          </a:p>
        </p:txBody>
      </p:sp>
      <p:sp>
        <p:nvSpPr>
          <p:cNvPr id="10" name="TextBox 9"/>
          <p:cNvSpPr txBox="1"/>
          <p:nvPr/>
        </p:nvSpPr>
        <p:spPr>
          <a:xfrm>
            <a:off x="457200" y="2815944"/>
            <a:ext cx="11247120" cy="283854"/>
          </a:xfrm>
          <a:prstGeom prst="rect">
            <a:avLst/>
          </a:prstGeom>
          <a:noFill/>
        </p:spPr>
        <p:txBody>
          <a:bodyPr wrap="square" anchor="t" lIns="0" rIns="0" tIns="0" bIns="0">
            <a:spAutoFit/>
          </a:bodyPr>
          <a:lstStyle/>
          <a:p>
            <a:pPr>
              <a:spcBef>
                <a:spcPts val="0"/>
              </a:spcBef>
              <a:spcAft>
                <a:spcPts val="423"/>
              </a:spcAft>
            </a:pPr>
            <a:r>
              <a:rPr sz="1100" b="1" i="0">
                <a:solidFill>
                  <a:srgbClr val="000000"/>
                </a:solidFill>
                <a:latin typeface="Nirmala UI"/>
              </a:rPr>
              <a:t>Step 1 — Identifier lookups</a:t>
            </a:r>
          </a:p>
        </p:txBody>
      </p:sp>
      <p:sp>
        <p:nvSpPr>
          <p:cNvPr id="11" name="TextBox 10"/>
          <p:cNvSpPr txBox="1"/>
          <p:nvPr/>
        </p:nvSpPr>
        <p:spPr>
          <a:xfrm>
            <a:off x="457200" y="3191238"/>
            <a:ext cx="11247120" cy="706392"/>
          </a:xfrm>
          <a:prstGeom prst="rect">
            <a:avLst/>
          </a:prstGeom>
          <a:noFill/>
        </p:spPr>
        <p:txBody>
          <a:bodyPr wrap="square" anchor="t" lIns="0" rIns="0" tIns="0" bIns="0">
            <a:spAutoFit/>
          </a:bodyPr>
          <a:lstStyle/>
          <a:p>
            <a:pPr>
              <a:spcBef>
                <a:spcPts val="0"/>
              </a:spcBef>
              <a:spcAft>
                <a:spcPts val="423"/>
              </a:spcAft>
            </a:pPr>
            <a:r>
              <a:rPr sz="1100" b="0" i="0">
                <a:solidFill>
                  <a:srgbClr val="000000"/>
                </a:solidFill>
                <a:latin typeface="Nirmala UI"/>
              </a:rPr>
              <a:t>•  </a:t>
            </a:r>
            <a:r>
              <a:rPr sz="1100" b="1" i="0">
                <a:solidFill>
                  <a:srgbClr val="000000"/>
                </a:solidFill>
                <a:latin typeface="Nirmala UI"/>
              </a:rPr>
              <a:t>Do:</a:t>
            </a:r>
            <a:r>
              <a:rPr sz="1100" b="0" i="0">
                <a:solidFill>
                  <a:srgbClr val="000000"/>
                </a:solidFill>
                <a:latin typeface="Nirmala UI"/>
              </a:rPr>
              <a:t> For (1) product by SKU and (2) customer by email, write the collection, the filter field, and whether uniqueness is a business rule.</a:t>
            </a:r>
          </a:p>
          <a:p>
            <a:pPr>
              <a:spcBef>
                <a:spcPts val="0"/>
              </a:spcBef>
              <a:spcAft>
                <a:spcPts val="423"/>
              </a:spcAft>
            </a:pPr>
            <a:r>
              <a:rPr sz="1100" b="0" i="0">
                <a:solidFill>
                  <a:srgbClr val="000000"/>
                </a:solidFill>
                <a:latin typeface="Nirmala UI"/>
              </a:rPr>
              <a:t>•  </a:t>
            </a:r>
            <a:r>
              <a:rPr sz="1100" b="1" i="0">
                <a:solidFill>
                  <a:srgbClr val="000000"/>
                </a:solidFill>
                <a:latin typeface="Nirmala UI"/>
              </a:rPr>
              <a:t>Expected:</a:t>
            </a:r>
            <a:r>
              <a:rPr sz="1100" b="0" i="0">
                <a:solidFill>
                  <a:srgbClr val="000000"/>
                </a:solidFill>
                <a:latin typeface="Nirmala UI"/>
              </a:rPr>
              <a:t> products.sku (unique) and customers.contact.email (unique if the store treats email as a login). </a:t>
            </a:r>
            <a:r>
              <a:rPr sz="1100" b="0" i="0">
                <a:solidFill>
                  <a:srgbClr val="000000"/>
                </a:solidFill>
                <a:latin typeface="Consolas"/>
              </a:rPr>
              <a:t>_id</a:t>
            </a:r>
            <a:r>
              <a:rPr sz="1100" b="0" i="0">
                <a:solidFill>
                  <a:srgbClr val="000000"/>
                </a:solidFill>
                <a:latin typeface="Nirmala UI"/>
              </a:rPr>
              <a:t> already covers ObjectId lookups.</a:t>
            </a:r>
          </a:p>
        </p:txBody>
      </p:sp>
      <p:sp>
        <p:nvSpPr>
          <p:cNvPr id="12" name="TextBox 11"/>
          <p:cNvSpPr txBox="1"/>
          <p:nvPr/>
        </p:nvSpPr>
        <p:spPr>
          <a:xfrm>
            <a:off x="457200" y="3989070"/>
            <a:ext cx="11247120" cy="283854"/>
          </a:xfrm>
          <a:prstGeom prst="rect">
            <a:avLst/>
          </a:prstGeom>
          <a:noFill/>
        </p:spPr>
        <p:txBody>
          <a:bodyPr wrap="square" anchor="t" lIns="0" rIns="0" tIns="0" bIns="0">
            <a:spAutoFit/>
          </a:bodyPr>
          <a:lstStyle/>
          <a:p>
            <a:pPr>
              <a:spcBef>
                <a:spcPts val="0"/>
              </a:spcBef>
              <a:spcAft>
                <a:spcPts val="423"/>
              </a:spcAft>
            </a:pPr>
            <a:r>
              <a:rPr sz="1100" b="1" i="0">
                <a:solidFill>
                  <a:srgbClr val="000000"/>
                </a:solidFill>
                <a:latin typeface="Nirmala UI"/>
              </a:rPr>
              <a:t>Step 2 — History and catalog queries</a:t>
            </a:r>
          </a:p>
        </p:txBody>
      </p:sp>
      <p:sp>
        <p:nvSpPr>
          <p:cNvPr id="13" name="TextBox 12"/>
          <p:cNvSpPr txBox="1"/>
          <p:nvPr/>
        </p:nvSpPr>
        <p:spPr>
          <a:xfrm>
            <a:off x="457200" y="4364364"/>
            <a:ext cx="11247120" cy="890796"/>
          </a:xfrm>
          <a:prstGeom prst="rect">
            <a:avLst/>
          </a:prstGeom>
          <a:noFill/>
        </p:spPr>
        <p:txBody>
          <a:bodyPr wrap="square" anchor="t" lIns="0" rIns="0" tIns="0" bIns="0">
            <a:spAutoFit/>
          </a:bodyPr>
          <a:lstStyle/>
          <a:p>
            <a:pPr>
              <a:spcBef>
                <a:spcPts val="0"/>
              </a:spcBef>
              <a:spcAft>
                <a:spcPts val="423"/>
              </a:spcAft>
            </a:pPr>
            <a:r>
              <a:rPr sz="1100" b="0" i="0">
                <a:solidFill>
                  <a:srgbClr val="000000"/>
                </a:solidFill>
                <a:latin typeface="Nirmala UI"/>
              </a:rPr>
              <a:t>•  </a:t>
            </a:r>
            <a:r>
              <a:rPr sz="1100" b="1" i="0">
                <a:solidFill>
                  <a:srgbClr val="000000"/>
                </a:solidFill>
                <a:latin typeface="Nirmala UI"/>
              </a:rPr>
              <a:t>Do:</a:t>
            </a:r>
            <a:r>
              <a:rPr sz="1100" b="0" i="0">
                <a:solidFill>
                  <a:srgbClr val="000000"/>
                </a:solidFill>
                <a:latin typeface="Nirmala UI"/>
              </a:rPr>
              <a:t> For (3) a customer’s orders newest first, (4) active products by category and price, (5) reviews by product and date, and (6) orders by payment status and creation date, list equality, sort, and range fields.</a:t>
            </a:r>
          </a:p>
          <a:p>
            <a:pPr>
              <a:spcBef>
                <a:spcPts val="0"/>
              </a:spcBef>
              <a:spcAft>
                <a:spcPts val="423"/>
              </a:spcAft>
            </a:pPr>
            <a:r>
              <a:rPr sz="1100" b="0" i="0">
                <a:solidFill>
                  <a:srgbClr val="000000"/>
                </a:solidFill>
                <a:latin typeface="Nirmala UI"/>
              </a:rPr>
              <a:t>•  </a:t>
            </a:r>
            <a:r>
              <a:rPr sz="1100" b="1" i="0">
                <a:solidFill>
                  <a:srgbClr val="000000"/>
                </a:solidFill>
                <a:latin typeface="Nirmala UI"/>
              </a:rPr>
              <a:t>Expected:</a:t>
            </a:r>
            <a:r>
              <a:rPr sz="1100" b="0" i="0">
                <a:solidFill>
                  <a:srgbClr val="000000"/>
                </a:solidFill>
                <a:latin typeface="Nirmala UI"/>
              </a:rPr>
              <a:t> (3) customerId equality, createdAt sort. (4) category + active equality, price sort/range. (5) productId equality, createdAt sort. (6) paymentStatus equality, c</a:t>
            </a:r>
          </a:p>
        </p:txBody>
      </p:sp>
      <p:sp>
        <p:nvSpPr>
          <p:cNvPr id="14" name="TextBox 13"/>
          <p:cNvSpPr txBox="1"/>
          <p:nvPr/>
        </p:nvSpPr>
        <p:spPr>
          <a:xfrm>
            <a:off x="457200" y="5346600"/>
            <a:ext cx="11247120" cy="283854"/>
          </a:xfrm>
          <a:prstGeom prst="rect">
            <a:avLst/>
          </a:prstGeom>
          <a:noFill/>
        </p:spPr>
        <p:txBody>
          <a:bodyPr wrap="square" anchor="t" lIns="0" rIns="0" tIns="0" bIns="0">
            <a:spAutoFit/>
          </a:bodyPr>
          <a:lstStyle/>
          <a:p>
            <a:pPr>
              <a:spcBef>
                <a:spcPts val="0"/>
              </a:spcBef>
              <a:spcAft>
                <a:spcPts val="423"/>
              </a:spcAft>
            </a:pPr>
            <a:r>
              <a:rPr sz="1100" b="1" i="0">
                <a:solidFill>
                  <a:srgbClr val="000000"/>
                </a:solidFill>
                <a:latin typeface="Nirmala UI"/>
              </a:rPr>
              <a:t>_Full lab guide with every command: </a:t>
            </a:r>
            <a:r>
              <a:rPr sz="1100" b="0" i="0">
                <a:solidFill>
                  <a:srgbClr val="000000"/>
                </a:solidFill>
                <a:latin typeface="Nirmala UI"/>
              </a:rPr>
              <a:t>see </a:t>
            </a:r>
            <a:r>
              <a:rPr sz="1100" b="1" i="0">
                <a:solidFill>
                  <a:srgbClr val="000000"/>
                </a:solidFill>
                <a:latin typeface="Nirmala UI"/>
              </a:rPr>
              <a:t>Lab guide</a:t>
            </a:r>
            <a:r>
              <a:rPr sz="1100" b="0" i="0">
                <a:solidFill>
                  <a:srgbClr val="000000"/>
                </a:solidFill>
                <a:latin typeface="Nirmala UI"/>
              </a:rPr>
              <a:t> on the lesson divider slide._</a:t>
            </a:r>
          </a:p>
        </p:txBody>
      </p:sp>
      <p:sp>
        <p:nvSpPr>
          <p:cNvPr id="15" name="Rectangle 1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93</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6.2 — SELECT SINGLE OR COMPOUND INDEXES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320818"/>
            <a:ext cx="237744" cy="237744"/>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32081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30253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704866"/>
            <a:ext cx="11247120" cy="2015196"/>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Time:</a:t>
            </a:r>
            <a:r>
              <a:rPr sz="2000" b="0" i="0">
                <a:solidFill>
                  <a:srgbClr val="000000"/>
                </a:solidFill>
                <a:latin typeface="Nirmala UI"/>
              </a:rPr>
              <a:t> 15 min</a:t>
            </a:r>
          </a:p>
          <a:p>
            <a:pPr>
              <a:spcBef>
                <a:spcPts val="0"/>
              </a:spcBef>
              <a:spcAft>
                <a:spcPts val="769"/>
              </a:spcAft>
            </a:pPr>
            <a:r>
              <a:rPr sz="2000" b="0" i="0">
                <a:solidFill>
                  <a:srgbClr val="000000"/>
                </a:solidFill>
                <a:latin typeface="Nirmala UI"/>
              </a:rPr>
              <a:t>•  </a:t>
            </a:r>
            <a:r>
              <a:rPr sz="2000" b="0" i="0">
                <a:solidFill>
                  <a:srgbClr val="000000"/>
                </a:solidFill>
                <a:latin typeface="Nirmala UI"/>
              </a:rPr>
              <a:t>Classify requirements as single-field, compound, specialized, or not enough evidence.</a:t>
            </a:r>
          </a:p>
          <a:p>
            <a:pPr>
              <a:spcBef>
                <a:spcPts val="0"/>
              </a:spcBef>
              <a:spcAft>
                <a:spcPts val="769"/>
              </a:spcAft>
            </a:pPr>
            <a:r>
              <a:rPr sz="2000" b="0" i="0">
                <a:solidFill>
                  <a:srgbClr val="000000"/>
                </a:solidFill>
                <a:latin typeface="Nirmala UI"/>
              </a:rPr>
              <a:t>•  </a:t>
            </a:r>
            <a:r>
              <a:rPr sz="2000" b="1" i="0">
                <a:solidFill>
                  <a:srgbClr val="000000"/>
                </a:solidFill>
                <a:latin typeface="Nirmala UI"/>
              </a:rPr>
              <a:t>Lab guide:</a:t>
            </a:r>
            <a:r>
              <a:rPr sz="2000" b="0" i="0">
                <a:solidFill>
                  <a:srgbClr val="000000"/>
                </a:solidFill>
                <a:latin typeface="Nirmala UI"/>
              </a:rPr>
              <a:t> </a:t>
            </a:r>
            <a:r>
              <a:rPr sz="2000" b="0" i="0">
                <a:solidFill>
                  <a:srgbClr val="000000"/>
                </a:solidFill>
                <a:latin typeface="Consolas"/>
              </a:rPr>
              <a:t>Exercise 6.2</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94</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6.2 — STEPS 1–2</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596803"/>
            <a:ext cx="237744" cy="237744"/>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96803"/>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578515"/>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Rounded Rectangle 6"/>
          <p:cNvSpPr/>
          <p:nvPr/>
        </p:nvSpPr>
        <p:spPr>
          <a:xfrm>
            <a:off x="457200" y="1980851"/>
            <a:ext cx="11247120" cy="554736"/>
          </a:xfrm>
          <a:prstGeom prst="roundRect">
            <a:avLst>
              <a:gd name="adj" fmla="val 6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980851"/>
            <a:ext cx="11027664" cy="554736"/>
          </a:xfrm>
          <a:prstGeom prst="rect">
            <a:avLst/>
          </a:prstGeom>
          <a:noFill/>
        </p:spPr>
        <p:txBody>
          <a:bodyPr wrap="square" anchor="ctr" lIns="0" rIns="0" tIns="0" bIns="0">
            <a:spAutoFit/>
          </a:bodyPr>
          <a:lstStyle/>
          <a:p>
            <a:r>
              <a:rPr sz="1200" b="1" i="0">
                <a:solidFill>
                  <a:srgbClr val="D1282E"/>
                </a:solidFill>
                <a:latin typeface="Nirmala UI"/>
              </a:rPr>
              <a:t>LAB GUIDE   </a:t>
            </a:r>
            <a:r>
              <a:rPr sz="2000" b="0" i="0">
                <a:solidFill>
                  <a:srgbClr val="000000"/>
                </a:solidFill>
                <a:latin typeface="Consolas"/>
              </a:rPr>
              <a:t>Exercise 6.2</a:t>
            </a:r>
          </a:p>
        </p:txBody>
      </p:sp>
      <p:sp>
        <p:nvSpPr>
          <p:cNvPr id="9" name="TextBox 8"/>
          <p:cNvSpPr txBox="1"/>
          <p:nvPr/>
        </p:nvSpPr>
        <p:spPr>
          <a:xfrm>
            <a:off x="457200" y="2627027"/>
            <a:ext cx="11247120" cy="240557"/>
          </a:xfrm>
          <a:prstGeom prst="rect">
            <a:avLst/>
          </a:prstGeom>
          <a:noFill/>
        </p:spPr>
        <p:txBody>
          <a:bodyPr wrap="square" anchor="t" lIns="0" rIns="0" tIns="0" bIns="0">
            <a:spAutoFit/>
          </a:bodyPr>
          <a:lstStyle/>
          <a:p>
            <a:pPr>
              <a:spcBef>
                <a:spcPts val="0"/>
              </a:spcBef>
              <a:spcAft>
                <a:spcPts val="346"/>
              </a:spcAft>
            </a:pPr>
            <a:r>
              <a:rPr sz="900" b="1" i="0">
                <a:solidFill>
                  <a:srgbClr val="000000"/>
                </a:solidFill>
                <a:latin typeface="Nirmala UI"/>
              </a:rPr>
              <a:t>Follow along (Windows) — key steps:</a:t>
            </a:r>
          </a:p>
        </p:txBody>
      </p:sp>
      <p:sp>
        <p:nvSpPr>
          <p:cNvPr id="10" name="TextBox 9"/>
          <p:cNvSpPr txBox="1"/>
          <p:nvPr/>
        </p:nvSpPr>
        <p:spPr>
          <a:xfrm>
            <a:off x="457200" y="2959024"/>
            <a:ext cx="11247120" cy="240557"/>
          </a:xfrm>
          <a:prstGeom prst="rect">
            <a:avLst/>
          </a:prstGeom>
          <a:noFill/>
        </p:spPr>
        <p:txBody>
          <a:bodyPr wrap="square" anchor="t" lIns="0" rIns="0" tIns="0" bIns="0">
            <a:spAutoFit/>
          </a:bodyPr>
          <a:lstStyle/>
          <a:p>
            <a:pPr>
              <a:spcBef>
                <a:spcPts val="0"/>
              </a:spcBef>
              <a:spcAft>
                <a:spcPts val="346"/>
              </a:spcAft>
            </a:pPr>
            <a:r>
              <a:rPr sz="900" b="1" i="0">
                <a:solidFill>
                  <a:srgbClr val="000000"/>
                </a:solidFill>
                <a:latin typeface="Nirmala UI"/>
              </a:rPr>
              <a:t>Step 1 — Classify four requirements</a:t>
            </a:r>
          </a:p>
        </p:txBody>
      </p:sp>
      <p:sp>
        <p:nvSpPr>
          <p:cNvPr id="11" name="TextBox 10"/>
          <p:cNvSpPr txBox="1"/>
          <p:nvPr/>
        </p:nvSpPr>
        <p:spPr>
          <a:xfrm>
            <a:off x="457200" y="3291021"/>
            <a:ext cx="11247120" cy="435394"/>
          </a:xfrm>
          <a:prstGeom prst="rect">
            <a:avLst/>
          </a:prstGeom>
          <a:noFill/>
        </p:spPr>
        <p:txBody>
          <a:bodyPr wrap="square" anchor="t" lIns="0" rIns="0" tIns="0" bIns="0">
            <a:spAutoFit/>
          </a:bodyPr>
          <a:lstStyle/>
          <a:p>
            <a:pPr>
              <a:spcBef>
                <a:spcPts val="0"/>
              </a:spcBef>
              <a:spcAft>
                <a:spcPts val="346"/>
              </a:spcAft>
            </a:pPr>
            <a:r>
              <a:rPr sz="900" b="0" i="0">
                <a:solidFill>
                  <a:srgbClr val="000000"/>
                </a:solidFill>
                <a:latin typeface="Nirmala UI"/>
              </a:rPr>
              <a:t>•  </a:t>
            </a:r>
            <a:r>
              <a:rPr sz="900" b="1" i="0">
                <a:solidFill>
                  <a:srgbClr val="000000"/>
                </a:solidFill>
                <a:latin typeface="Nirmala UI"/>
              </a:rPr>
              <a:t>Do:</a:t>
            </a:r>
            <a:r>
              <a:rPr sz="900" b="0" i="0">
                <a:solidFill>
                  <a:srgbClr val="000000"/>
                </a:solidFill>
                <a:latin typeface="Nirmala UI"/>
              </a:rPr>
              <a:t> Classify: (A) lookup product by SKU, (B) active accessories sorted by price, (C) expire session documents, (D) a manager’s one-time ad-hoc count of all orders.</a:t>
            </a:r>
          </a:p>
          <a:p>
            <a:pPr>
              <a:spcBef>
                <a:spcPts val="0"/>
              </a:spcBef>
              <a:spcAft>
                <a:spcPts val="346"/>
              </a:spcAft>
            </a:pPr>
            <a:r>
              <a:rPr sz="900" b="0" i="0">
                <a:solidFill>
                  <a:srgbClr val="000000"/>
                </a:solidFill>
                <a:latin typeface="Nirmala UI"/>
              </a:rPr>
              <a:t>•  </a:t>
            </a:r>
            <a:r>
              <a:rPr sz="900" b="1" i="0">
                <a:solidFill>
                  <a:srgbClr val="000000"/>
                </a:solidFill>
                <a:latin typeface="Nirmala UI"/>
              </a:rPr>
              <a:t>Expected:</a:t>
            </a:r>
            <a:r>
              <a:rPr sz="900" b="0" i="0">
                <a:solidFill>
                  <a:srgbClr val="000000"/>
                </a:solidFill>
                <a:latin typeface="Nirmala UI"/>
              </a:rPr>
              <a:t> A single-field unique. B compound. C specialized TTL. D no new index without evidence — one-time reporting is not a standing query shape.</a:t>
            </a:r>
          </a:p>
        </p:txBody>
      </p:sp>
      <p:sp>
        <p:nvSpPr>
          <p:cNvPr id="12" name="TextBox 11"/>
          <p:cNvSpPr txBox="1"/>
          <p:nvPr/>
        </p:nvSpPr>
        <p:spPr>
          <a:xfrm>
            <a:off x="457200" y="3817855"/>
            <a:ext cx="11247120" cy="240557"/>
          </a:xfrm>
          <a:prstGeom prst="rect">
            <a:avLst/>
          </a:prstGeom>
          <a:noFill/>
        </p:spPr>
        <p:txBody>
          <a:bodyPr wrap="square" anchor="t" lIns="0" rIns="0" tIns="0" bIns="0">
            <a:spAutoFit/>
          </a:bodyPr>
          <a:lstStyle/>
          <a:p>
            <a:pPr>
              <a:spcBef>
                <a:spcPts val="0"/>
              </a:spcBef>
              <a:spcAft>
                <a:spcPts val="346"/>
              </a:spcAft>
            </a:pPr>
            <a:r>
              <a:rPr sz="900" b="1" i="0">
                <a:solidFill>
                  <a:srgbClr val="000000"/>
                </a:solidFill>
                <a:latin typeface="Nirmala UI"/>
              </a:rPr>
              <a:t>Step 2 — Justify one borderline case</a:t>
            </a:r>
          </a:p>
        </p:txBody>
      </p:sp>
      <p:sp>
        <p:nvSpPr>
          <p:cNvPr id="13" name="TextBox 12"/>
          <p:cNvSpPr txBox="1"/>
          <p:nvPr/>
        </p:nvSpPr>
        <p:spPr>
          <a:xfrm>
            <a:off x="457200" y="4149852"/>
            <a:ext cx="11247120" cy="435394"/>
          </a:xfrm>
          <a:prstGeom prst="rect">
            <a:avLst/>
          </a:prstGeom>
          <a:noFill/>
        </p:spPr>
        <p:txBody>
          <a:bodyPr wrap="square" anchor="t" lIns="0" rIns="0" tIns="0" bIns="0">
            <a:spAutoFit/>
          </a:bodyPr>
          <a:lstStyle/>
          <a:p>
            <a:pPr>
              <a:spcBef>
                <a:spcPts val="0"/>
              </a:spcBef>
              <a:spcAft>
                <a:spcPts val="346"/>
              </a:spcAft>
            </a:pPr>
            <a:r>
              <a:rPr sz="900" b="0" i="0">
                <a:solidFill>
                  <a:srgbClr val="000000"/>
                </a:solidFill>
                <a:latin typeface="Nirmala UI"/>
              </a:rPr>
              <a:t>•  </a:t>
            </a:r>
            <a:r>
              <a:rPr sz="900" b="1" i="0">
                <a:solidFill>
                  <a:srgbClr val="000000"/>
                </a:solidFill>
                <a:latin typeface="Nirmala UI"/>
              </a:rPr>
              <a:t>Do:</a:t>
            </a:r>
            <a:r>
              <a:rPr sz="900" b="0" i="0">
                <a:solidFill>
                  <a:srgbClr val="000000"/>
                </a:solidFill>
                <a:latin typeface="Nirmala UI"/>
              </a:rPr>
              <a:t> Write two sentences on why a boolean </a:t>
            </a:r>
            <a:r>
              <a:rPr sz="900" b="0" i="0">
                <a:solidFill>
                  <a:srgbClr val="000000"/>
                </a:solidFill>
                <a:latin typeface="Consolas"/>
              </a:rPr>
              <a:t>active</a:t>
            </a:r>
            <a:r>
              <a:rPr sz="900" b="0" i="0">
                <a:solidFill>
                  <a:srgbClr val="000000"/>
                </a:solidFill>
                <a:latin typeface="Nirmala UI"/>
              </a:rPr>
              <a:t> field is a poor standalone index but a useful compound or partial-index field.</a:t>
            </a:r>
          </a:p>
          <a:p>
            <a:pPr>
              <a:spcBef>
                <a:spcPts val="0"/>
              </a:spcBef>
              <a:spcAft>
                <a:spcPts val="346"/>
              </a:spcAft>
            </a:pPr>
            <a:r>
              <a:rPr sz="900" b="0" i="0">
                <a:solidFill>
                  <a:srgbClr val="000000"/>
                </a:solidFill>
                <a:latin typeface="Nirmala UI"/>
              </a:rPr>
              <a:t>•  </a:t>
            </a:r>
            <a:r>
              <a:rPr sz="900" b="1" i="0">
                <a:solidFill>
                  <a:srgbClr val="000000"/>
                </a:solidFill>
                <a:latin typeface="Nirmala UI"/>
              </a:rPr>
              <a:t>Expected:</a:t>
            </a:r>
            <a:r>
              <a:rPr sz="900" b="0" i="0">
                <a:solidFill>
                  <a:srgbClr val="000000"/>
                </a:solidFill>
                <a:latin typeface="Nirmala UI"/>
              </a:rPr>
              <a:t> Low selectivity: most products are active, so </a:t>
            </a:r>
            <a:r>
              <a:rPr sz="900" b="0" i="0">
                <a:solidFill>
                  <a:srgbClr val="000000"/>
                </a:solidFill>
                <a:latin typeface="Consolas"/>
              </a:rPr>
              <a:t>{ active: 1 }</a:t>
            </a:r>
            <a:r>
              <a:rPr sz="900" b="0" i="0">
                <a:solidFill>
                  <a:srgbClr val="000000"/>
                </a:solidFill>
                <a:latin typeface="Nirmala UI"/>
              </a:rPr>
              <a:t> barely narrows the scan. Combined with category (and optionally a partial filter) it supports the </a:t>
            </a:r>
          </a:p>
        </p:txBody>
      </p:sp>
      <p:sp>
        <p:nvSpPr>
          <p:cNvPr id="14" name="TextBox 13"/>
          <p:cNvSpPr txBox="1"/>
          <p:nvPr/>
        </p:nvSpPr>
        <p:spPr>
          <a:xfrm>
            <a:off x="457200" y="4676686"/>
            <a:ext cx="11247120" cy="240557"/>
          </a:xfrm>
          <a:prstGeom prst="rect">
            <a:avLst/>
          </a:prstGeom>
          <a:noFill/>
        </p:spPr>
        <p:txBody>
          <a:bodyPr wrap="square" anchor="t" lIns="0" rIns="0" tIns="0" bIns="0">
            <a:spAutoFit/>
          </a:bodyPr>
          <a:lstStyle/>
          <a:p>
            <a:pPr>
              <a:spcBef>
                <a:spcPts val="0"/>
              </a:spcBef>
              <a:spcAft>
                <a:spcPts val="346"/>
              </a:spcAft>
            </a:pPr>
            <a:r>
              <a:rPr sz="900" b="1" i="0">
                <a:solidFill>
                  <a:srgbClr val="000000"/>
                </a:solidFill>
                <a:latin typeface="Nirmala UI"/>
              </a:rPr>
              <a:t>_Full lab guide with every command: </a:t>
            </a:r>
            <a:r>
              <a:rPr sz="900" b="0" i="0">
                <a:solidFill>
                  <a:srgbClr val="000000"/>
                </a:solidFill>
                <a:latin typeface="Nirmala UI"/>
              </a:rPr>
              <a:t>see </a:t>
            </a:r>
            <a:r>
              <a:rPr sz="900" b="1" i="0">
                <a:solidFill>
                  <a:srgbClr val="000000"/>
                </a:solidFill>
                <a:latin typeface="Nirmala UI"/>
              </a:rPr>
              <a:t>Lab guide</a:t>
            </a:r>
            <a:r>
              <a:rPr sz="900" b="0" i="0">
                <a:solidFill>
                  <a:srgbClr val="000000"/>
                </a:solidFill>
                <a:latin typeface="Nirmala UI"/>
              </a:rPr>
              <a:t> on the lesson divider slide._</a:t>
            </a:r>
          </a:p>
        </p:txBody>
      </p:sp>
      <p:sp>
        <p:nvSpPr>
          <p:cNvPr id="15" name="TextBox 14"/>
          <p:cNvSpPr txBox="1"/>
          <p:nvPr/>
        </p:nvSpPr>
        <p:spPr>
          <a:xfrm>
            <a:off x="457200" y="5008683"/>
            <a:ext cx="11247120" cy="435394"/>
          </a:xfrm>
          <a:prstGeom prst="rect">
            <a:avLst/>
          </a:prstGeom>
          <a:noFill/>
        </p:spPr>
        <p:txBody>
          <a:bodyPr wrap="square" anchor="t" lIns="0" rIns="0" tIns="0" bIns="0">
            <a:spAutoFit/>
          </a:bodyPr>
          <a:lstStyle/>
          <a:p>
            <a:pPr>
              <a:spcBef>
                <a:spcPts val="0"/>
              </a:spcBef>
              <a:spcAft>
                <a:spcPts val="346"/>
              </a:spcAft>
            </a:pPr>
            <a:r>
              <a:rPr sz="900" b="0" i="0">
                <a:solidFill>
                  <a:srgbClr val="000000"/>
                </a:solidFill>
                <a:latin typeface="Nirmala UI"/>
              </a:rPr>
              <a:t>•  </a:t>
            </a:r>
            <a:r>
              <a:rPr sz="900" b="1" i="0">
                <a:solidFill>
                  <a:srgbClr val="000000"/>
                </a:solidFill>
                <a:latin typeface="Nirmala UI"/>
              </a:rPr>
              <a:t>Do:</a:t>
            </a:r>
            <a:r>
              <a:rPr sz="900" b="0" i="0">
                <a:solidFill>
                  <a:srgbClr val="000000"/>
                </a:solidFill>
                <a:latin typeface="Nirmala UI"/>
              </a:rPr>
              <a:t> Write two sentences on why a boolean </a:t>
            </a:r>
            <a:r>
              <a:rPr sz="900" b="0" i="0">
                <a:solidFill>
                  <a:srgbClr val="000000"/>
                </a:solidFill>
                <a:latin typeface="Consolas"/>
              </a:rPr>
              <a:t>active</a:t>
            </a:r>
            <a:r>
              <a:rPr sz="900" b="0" i="0">
                <a:solidFill>
                  <a:srgbClr val="000000"/>
                </a:solidFill>
                <a:latin typeface="Nirmala UI"/>
              </a:rPr>
              <a:t> field is a poor standalone index but a useful compound or partial-index field.</a:t>
            </a:r>
          </a:p>
          <a:p>
            <a:pPr>
              <a:spcBef>
                <a:spcPts val="0"/>
              </a:spcBef>
              <a:spcAft>
                <a:spcPts val="346"/>
              </a:spcAft>
            </a:pPr>
            <a:r>
              <a:rPr sz="900" b="0" i="0">
                <a:solidFill>
                  <a:srgbClr val="000000"/>
                </a:solidFill>
                <a:latin typeface="Nirmala UI"/>
              </a:rPr>
              <a:t>•  </a:t>
            </a:r>
            <a:r>
              <a:rPr sz="900" b="1" i="0">
                <a:solidFill>
                  <a:srgbClr val="000000"/>
                </a:solidFill>
                <a:latin typeface="Nirmala UI"/>
              </a:rPr>
              <a:t>Expected:</a:t>
            </a:r>
            <a:r>
              <a:rPr sz="900" b="0" i="0">
                <a:solidFill>
                  <a:srgbClr val="000000"/>
                </a:solidFill>
                <a:latin typeface="Nirmala UI"/>
              </a:rPr>
              <a:t> Low selectivity: most products are active, so </a:t>
            </a:r>
            <a:r>
              <a:rPr sz="900" b="0" i="0">
                <a:solidFill>
                  <a:srgbClr val="000000"/>
                </a:solidFill>
                <a:latin typeface="Consolas"/>
              </a:rPr>
              <a:t>{ active: 1 }</a:t>
            </a:r>
            <a:r>
              <a:rPr sz="900" b="0" i="0">
                <a:solidFill>
                  <a:srgbClr val="000000"/>
                </a:solidFill>
                <a:latin typeface="Nirmala UI"/>
              </a:rPr>
              <a:t> barely narrows the scan. Combined with category (and optionally a partial filter) it supports the</a:t>
            </a:r>
          </a:p>
        </p:txBody>
      </p:sp>
      <p:sp>
        <p:nvSpPr>
          <p:cNvPr id="16" name="Rectangle 1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95</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6.3 — ARRANGE COMPOUND-INDEX FIELDS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488458"/>
            <a:ext cx="237744" cy="237744"/>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8845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47017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872506"/>
            <a:ext cx="11247120" cy="1679916"/>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Time:</a:t>
            </a:r>
            <a:r>
              <a:rPr sz="2000" b="0" i="0">
                <a:solidFill>
                  <a:srgbClr val="000000"/>
                </a:solidFill>
                <a:latin typeface="Nirmala UI"/>
              </a:rPr>
              <a:t> 15 min</a:t>
            </a:r>
          </a:p>
          <a:p>
            <a:pPr>
              <a:spcBef>
                <a:spcPts val="0"/>
              </a:spcBef>
              <a:spcAft>
                <a:spcPts val="769"/>
              </a:spcAft>
            </a:pPr>
            <a:r>
              <a:rPr sz="2000" b="0" i="0">
                <a:solidFill>
                  <a:srgbClr val="000000"/>
                </a:solidFill>
                <a:latin typeface="Nirmala UI"/>
              </a:rPr>
              <a:t>•  </a:t>
            </a:r>
            <a:r>
              <a:rPr sz="2000" b="0" i="0">
                <a:solidFill>
                  <a:srgbClr val="000000"/>
                </a:solidFill>
                <a:latin typeface="Nirmala UI"/>
              </a:rPr>
              <a:t>Propose field order for a paid high-value order query that sorts by date.</a:t>
            </a:r>
          </a:p>
          <a:p>
            <a:pPr>
              <a:spcBef>
                <a:spcPts val="0"/>
              </a:spcBef>
              <a:spcAft>
                <a:spcPts val="769"/>
              </a:spcAft>
            </a:pPr>
            <a:r>
              <a:rPr sz="2000" b="0" i="0">
                <a:solidFill>
                  <a:srgbClr val="000000"/>
                </a:solidFill>
                <a:latin typeface="Nirmala UI"/>
              </a:rPr>
              <a:t>•  </a:t>
            </a:r>
            <a:r>
              <a:rPr sz="2000" b="1" i="0">
                <a:solidFill>
                  <a:srgbClr val="000000"/>
                </a:solidFill>
                <a:latin typeface="Nirmala UI"/>
              </a:rPr>
              <a:t>Lab guide:</a:t>
            </a:r>
            <a:r>
              <a:rPr sz="2000" b="0" i="0">
                <a:solidFill>
                  <a:srgbClr val="000000"/>
                </a:solidFill>
                <a:latin typeface="Nirmala UI"/>
              </a:rPr>
              <a:t> </a:t>
            </a:r>
            <a:r>
              <a:rPr sz="2000" b="0" i="0">
                <a:solidFill>
                  <a:srgbClr val="000000"/>
                </a:solidFill>
                <a:latin typeface="Consolas"/>
              </a:rPr>
              <a:t>Exercise 6.3</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96</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6.3 — STEPS 1–2</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445927"/>
            <a:ext cx="237744" cy="237744"/>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45927"/>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427639"/>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Rounded Rectangle 6"/>
          <p:cNvSpPr/>
          <p:nvPr/>
        </p:nvSpPr>
        <p:spPr>
          <a:xfrm>
            <a:off x="457200" y="1829975"/>
            <a:ext cx="11247120" cy="554736"/>
          </a:xfrm>
          <a:prstGeom prst="roundRect">
            <a:avLst>
              <a:gd name="adj" fmla="val 6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829975"/>
            <a:ext cx="11027664" cy="554736"/>
          </a:xfrm>
          <a:prstGeom prst="rect">
            <a:avLst/>
          </a:prstGeom>
          <a:noFill/>
        </p:spPr>
        <p:txBody>
          <a:bodyPr wrap="square" anchor="ctr" lIns="0" rIns="0" tIns="0" bIns="0">
            <a:spAutoFit/>
          </a:bodyPr>
          <a:lstStyle/>
          <a:p>
            <a:r>
              <a:rPr sz="1200" b="1" i="0">
                <a:solidFill>
                  <a:srgbClr val="D1282E"/>
                </a:solidFill>
                <a:latin typeface="Nirmala UI"/>
              </a:rPr>
              <a:t>LAB GUIDE   </a:t>
            </a:r>
            <a:r>
              <a:rPr sz="2000" b="0" i="0">
                <a:solidFill>
                  <a:srgbClr val="000000"/>
                </a:solidFill>
                <a:latin typeface="Consolas"/>
              </a:rPr>
              <a:t>Exercise 6.3</a:t>
            </a:r>
          </a:p>
        </p:txBody>
      </p:sp>
      <p:sp>
        <p:nvSpPr>
          <p:cNvPr id="9" name="TextBox 8"/>
          <p:cNvSpPr txBox="1"/>
          <p:nvPr/>
        </p:nvSpPr>
        <p:spPr>
          <a:xfrm>
            <a:off x="457200" y="2476151"/>
            <a:ext cx="11247120" cy="240557"/>
          </a:xfrm>
          <a:prstGeom prst="rect">
            <a:avLst/>
          </a:prstGeom>
          <a:noFill/>
        </p:spPr>
        <p:txBody>
          <a:bodyPr wrap="square" anchor="t" lIns="0" rIns="0" tIns="0" bIns="0">
            <a:spAutoFit/>
          </a:bodyPr>
          <a:lstStyle/>
          <a:p>
            <a:pPr>
              <a:spcBef>
                <a:spcPts val="0"/>
              </a:spcBef>
              <a:spcAft>
                <a:spcPts val="346"/>
              </a:spcAft>
            </a:pPr>
            <a:r>
              <a:rPr sz="900" b="1" i="0">
                <a:solidFill>
                  <a:srgbClr val="000000"/>
                </a:solidFill>
                <a:latin typeface="Nirmala UI"/>
              </a:rPr>
              <a:t>Follow along (Windows) — key steps:</a:t>
            </a:r>
          </a:p>
        </p:txBody>
      </p:sp>
      <p:sp>
        <p:nvSpPr>
          <p:cNvPr id="10" name="TextBox 9"/>
          <p:cNvSpPr txBox="1"/>
          <p:nvPr/>
        </p:nvSpPr>
        <p:spPr>
          <a:xfrm>
            <a:off x="457200" y="2808148"/>
            <a:ext cx="11247120" cy="240557"/>
          </a:xfrm>
          <a:prstGeom prst="rect">
            <a:avLst/>
          </a:prstGeom>
          <a:noFill/>
        </p:spPr>
        <p:txBody>
          <a:bodyPr wrap="square" anchor="t" lIns="0" rIns="0" tIns="0" bIns="0">
            <a:spAutoFit/>
          </a:bodyPr>
          <a:lstStyle/>
          <a:p>
            <a:pPr>
              <a:spcBef>
                <a:spcPts val="0"/>
              </a:spcBef>
              <a:spcAft>
                <a:spcPts val="346"/>
              </a:spcAft>
            </a:pPr>
            <a:r>
              <a:rPr sz="900" b="1" i="0">
                <a:solidFill>
                  <a:srgbClr val="000000"/>
                </a:solidFill>
                <a:latin typeface="Nirmala UI"/>
              </a:rPr>
              <a:t>Step 1 — Label ESR roles</a:t>
            </a:r>
          </a:p>
        </p:txBody>
      </p:sp>
      <p:sp>
        <p:nvSpPr>
          <p:cNvPr id="11" name="TextBox 10"/>
          <p:cNvSpPr txBox="1"/>
          <p:nvPr/>
        </p:nvSpPr>
        <p:spPr>
          <a:xfrm>
            <a:off x="457200" y="3140145"/>
            <a:ext cx="11247120" cy="586270"/>
          </a:xfrm>
          <a:prstGeom prst="rect">
            <a:avLst/>
          </a:prstGeom>
          <a:noFill/>
        </p:spPr>
        <p:txBody>
          <a:bodyPr wrap="square" anchor="t" lIns="0" rIns="0" tIns="0" bIns="0">
            <a:spAutoFit/>
          </a:bodyPr>
          <a:lstStyle/>
          <a:p>
            <a:pPr>
              <a:spcBef>
                <a:spcPts val="0"/>
              </a:spcBef>
              <a:spcAft>
                <a:spcPts val="346"/>
              </a:spcAft>
            </a:pPr>
            <a:r>
              <a:rPr sz="900" b="0" i="0">
                <a:solidFill>
                  <a:srgbClr val="000000"/>
                </a:solidFill>
                <a:latin typeface="Nirmala UI"/>
              </a:rPr>
              <a:t>•  </a:t>
            </a:r>
            <a:r>
              <a:rPr sz="900" b="1" i="0">
                <a:solidFill>
                  <a:srgbClr val="000000"/>
                </a:solidFill>
                <a:latin typeface="Nirmala UI"/>
              </a:rPr>
              <a:t>Do:</a:t>
            </a:r>
            <a:r>
              <a:rPr sz="900" b="0" i="0">
                <a:solidFill>
                  <a:srgbClr val="000000"/>
                </a:solidFill>
                <a:latin typeface="Nirmala UI"/>
              </a:rPr>
              <a:t> Given: javascript db.orders .find({ customerId: customerId, paymentStatus: "PAID", total: { $gte: Decimal128("500.00") } }) .sort({ createdAt: -1 })  Label each field as equality, sort, or range.</a:t>
            </a:r>
          </a:p>
          <a:p>
            <a:pPr>
              <a:spcBef>
                <a:spcPts val="0"/>
              </a:spcBef>
              <a:spcAft>
                <a:spcPts val="346"/>
              </a:spcAft>
            </a:pPr>
            <a:r>
              <a:rPr sz="900" b="0" i="0">
                <a:solidFill>
                  <a:srgbClr val="000000"/>
                </a:solidFill>
                <a:latin typeface="Nirmala UI"/>
              </a:rPr>
              <a:t>•  </a:t>
            </a:r>
            <a:r>
              <a:rPr sz="900" b="1" i="0">
                <a:solidFill>
                  <a:srgbClr val="000000"/>
                </a:solidFill>
                <a:latin typeface="Nirmala UI"/>
              </a:rPr>
              <a:t>Expected:</a:t>
            </a:r>
            <a:r>
              <a:rPr sz="900" b="0" i="0">
                <a:solidFill>
                  <a:srgbClr val="000000"/>
                </a:solidFill>
                <a:latin typeface="Nirmala UI"/>
              </a:rPr>
              <a:t> Equality: customerId, paymentStatus. Sort: createdAt. Range: total.</a:t>
            </a:r>
          </a:p>
        </p:txBody>
      </p:sp>
      <p:sp>
        <p:nvSpPr>
          <p:cNvPr id="12" name="TextBox 11"/>
          <p:cNvSpPr txBox="1"/>
          <p:nvPr/>
        </p:nvSpPr>
        <p:spPr>
          <a:xfrm>
            <a:off x="457200" y="3817855"/>
            <a:ext cx="11247120" cy="240557"/>
          </a:xfrm>
          <a:prstGeom prst="rect">
            <a:avLst/>
          </a:prstGeom>
          <a:noFill/>
        </p:spPr>
        <p:txBody>
          <a:bodyPr wrap="square" anchor="t" lIns="0" rIns="0" tIns="0" bIns="0">
            <a:spAutoFit/>
          </a:bodyPr>
          <a:lstStyle/>
          <a:p>
            <a:pPr>
              <a:spcBef>
                <a:spcPts val="0"/>
              </a:spcBef>
              <a:spcAft>
                <a:spcPts val="346"/>
              </a:spcAft>
            </a:pPr>
            <a:r>
              <a:rPr sz="900" b="1" i="0">
                <a:solidFill>
                  <a:srgbClr val="000000"/>
                </a:solidFill>
                <a:latin typeface="Nirmala UI"/>
              </a:rPr>
              <a:t>Step 2 — Propose order and an alternative</a:t>
            </a:r>
          </a:p>
        </p:txBody>
      </p:sp>
      <p:sp>
        <p:nvSpPr>
          <p:cNvPr id="13" name="TextBox 12"/>
          <p:cNvSpPr txBox="1"/>
          <p:nvPr/>
        </p:nvSpPr>
        <p:spPr>
          <a:xfrm>
            <a:off x="457200" y="4149852"/>
            <a:ext cx="11247120" cy="435394"/>
          </a:xfrm>
          <a:prstGeom prst="rect">
            <a:avLst/>
          </a:prstGeom>
          <a:noFill/>
        </p:spPr>
        <p:txBody>
          <a:bodyPr wrap="square" anchor="t" lIns="0" rIns="0" tIns="0" bIns="0">
            <a:spAutoFit/>
          </a:bodyPr>
          <a:lstStyle/>
          <a:p>
            <a:pPr>
              <a:spcBef>
                <a:spcPts val="0"/>
              </a:spcBef>
              <a:spcAft>
                <a:spcPts val="346"/>
              </a:spcAft>
            </a:pPr>
            <a:r>
              <a:rPr sz="900" b="0" i="0">
                <a:solidFill>
                  <a:srgbClr val="000000"/>
                </a:solidFill>
                <a:latin typeface="Nirmala UI"/>
              </a:rPr>
              <a:t>•  </a:t>
            </a:r>
            <a:r>
              <a:rPr sz="900" b="1" i="0">
                <a:solidFill>
                  <a:srgbClr val="000000"/>
                </a:solidFill>
                <a:latin typeface="Nirmala UI"/>
              </a:rPr>
              <a:t>Do:</a:t>
            </a:r>
            <a:r>
              <a:rPr sz="900" b="0" i="0">
                <a:solidFill>
                  <a:srgbClr val="000000"/>
                </a:solidFill>
                <a:latin typeface="Nirmala UI"/>
              </a:rPr>
              <a:t> Write a candidate key following Equality–Sort–Range. Then note when you might put the more selective equality field first if </a:t>
            </a:r>
            <a:r>
              <a:rPr sz="900" b="0" i="0">
                <a:solidFill>
                  <a:srgbClr val="000000"/>
                </a:solidFill>
                <a:latin typeface="Consolas"/>
              </a:rPr>
              <a:t>paymentStatus</a:t>
            </a:r>
            <a:r>
              <a:rPr sz="900" b="0" i="0">
                <a:solidFill>
                  <a:srgbClr val="000000"/>
                </a:solidFill>
                <a:latin typeface="Nirmala UI"/>
              </a:rPr>
              <a:t> is a small set of values.</a:t>
            </a:r>
          </a:p>
          <a:p>
            <a:pPr>
              <a:spcBef>
                <a:spcPts val="0"/>
              </a:spcBef>
              <a:spcAft>
                <a:spcPts val="346"/>
              </a:spcAft>
            </a:pPr>
            <a:r>
              <a:rPr sz="900" b="0" i="0">
                <a:solidFill>
                  <a:srgbClr val="000000"/>
                </a:solidFill>
                <a:latin typeface="Nirmala UI"/>
              </a:rPr>
              <a:t>•  </a:t>
            </a:r>
            <a:r>
              <a:rPr sz="900" b="1" i="0">
                <a:solidFill>
                  <a:srgbClr val="000000"/>
                </a:solidFill>
                <a:latin typeface="Nirmala UI"/>
              </a:rPr>
              <a:t>Expected:</a:t>
            </a:r>
            <a:r>
              <a:rPr sz="900" b="0" i="0">
                <a:solidFill>
                  <a:srgbClr val="000000"/>
                </a:solidFill>
                <a:latin typeface="Nirmala UI"/>
              </a:rPr>
              <a:t> Candidate </a:t>
            </a:r>
            <a:r>
              <a:rPr sz="900" b="0" i="0">
                <a:solidFill>
                  <a:srgbClr val="000000"/>
                </a:solidFill>
                <a:latin typeface="Consolas"/>
              </a:rPr>
              <a:t>{ customerId: 1, paymentStatus: 1, createdAt: -1, total: 1 }</a:t>
            </a:r>
            <a:r>
              <a:rPr sz="900" b="0" i="0">
                <a:solidFill>
                  <a:srgbClr val="000000"/>
                </a:solidFill>
                <a:latin typeface="Nirmala UI"/>
              </a:rPr>
              <a:t>. Alternative: still lead with customerId (high selectivity) even if paymentStatus is lo</a:t>
            </a:r>
          </a:p>
        </p:txBody>
      </p:sp>
      <p:sp>
        <p:nvSpPr>
          <p:cNvPr id="14" name="TextBox 13"/>
          <p:cNvSpPr txBox="1"/>
          <p:nvPr/>
        </p:nvSpPr>
        <p:spPr>
          <a:xfrm>
            <a:off x="457200" y="4676686"/>
            <a:ext cx="11247120" cy="240557"/>
          </a:xfrm>
          <a:prstGeom prst="rect">
            <a:avLst/>
          </a:prstGeom>
          <a:noFill/>
        </p:spPr>
        <p:txBody>
          <a:bodyPr wrap="square" anchor="t" lIns="0" rIns="0" tIns="0" bIns="0">
            <a:spAutoFit/>
          </a:bodyPr>
          <a:lstStyle/>
          <a:p>
            <a:pPr>
              <a:spcBef>
                <a:spcPts val="0"/>
              </a:spcBef>
              <a:spcAft>
                <a:spcPts val="346"/>
              </a:spcAft>
            </a:pPr>
            <a:r>
              <a:rPr sz="900" b="1" i="0">
                <a:solidFill>
                  <a:srgbClr val="000000"/>
                </a:solidFill>
                <a:latin typeface="Nirmala UI"/>
              </a:rPr>
              <a:t>_Full lab guide with every command: </a:t>
            </a:r>
            <a:r>
              <a:rPr sz="900" b="0" i="0">
                <a:solidFill>
                  <a:srgbClr val="000000"/>
                </a:solidFill>
                <a:latin typeface="Nirmala UI"/>
              </a:rPr>
              <a:t>see </a:t>
            </a:r>
            <a:r>
              <a:rPr sz="900" b="1" i="0">
                <a:solidFill>
                  <a:srgbClr val="000000"/>
                </a:solidFill>
                <a:latin typeface="Nirmala UI"/>
              </a:rPr>
              <a:t>Lab guide</a:t>
            </a:r>
            <a:r>
              <a:rPr sz="900" b="0" i="0">
                <a:solidFill>
                  <a:srgbClr val="000000"/>
                </a:solidFill>
                <a:latin typeface="Nirmala UI"/>
              </a:rPr>
              <a:t> on the lesson divider slide._</a:t>
            </a:r>
          </a:p>
        </p:txBody>
      </p:sp>
      <p:sp>
        <p:nvSpPr>
          <p:cNvPr id="15" name="TextBox 14"/>
          <p:cNvSpPr txBox="1"/>
          <p:nvPr/>
        </p:nvSpPr>
        <p:spPr>
          <a:xfrm>
            <a:off x="457200" y="5008683"/>
            <a:ext cx="11247120" cy="586270"/>
          </a:xfrm>
          <a:prstGeom prst="rect">
            <a:avLst/>
          </a:prstGeom>
          <a:noFill/>
        </p:spPr>
        <p:txBody>
          <a:bodyPr wrap="square" anchor="t" lIns="0" rIns="0" tIns="0" bIns="0">
            <a:spAutoFit/>
          </a:bodyPr>
          <a:lstStyle/>
          <a:p>
            <a:pPr>
              <a:spcBef>
                <a:spcPts val="0"/>
              </a:spcBef>
              <a:spcAft>
                <a:spcPts val="346"/>
              </a:spcAft>
            </a:pPr>
            <a:r>
              <a:rPr sz="900" b="0" i="0">
                <a:solidFill>
                  <a:srgbClr val="000000"/>
                </a:solidFill>
                <a:latin typeface="Nirmala UI"/>
              </a:rPr>
              <a:t>•  </a:t>
            </a:r>
            <a:r>
              <a:rPr sz="900" b="1" i="0">
                <a:solidFill>
                  <a:srgbClr val="000000"/>
                </a:solidFill>
                <a:latin typeface="Nirmala UI"/>
              </a:rPr>
              <a:t>Do:</a:t>
            </a:r>
            <a:r>
              <a:rPr sz="900" b="0" i="0">
                <a:solidFill>
                  <a:srgbClr val="000000"/>
                </a:solidFill>
                <a:latin typeface="Nirmala UI"/>
              </a:rPr>
              <a:t> Given: ``</a:t>
            </a:r>
            <a:r>
              <a:rPr sz="900" b="0" i="0">
                <a:solidFill>
                  <a:srgbClr val="000000"/>
                </a:solidFill>
                <a:latin typeface="Consolas"/>
              </a:rPr>
              <a:t>javascript db.orders .find({ customerId: customerId, paymentStatus: "PAID", total: { $gte: Decimal128("500.00") } }) .sort({ createdAt: -1 }) </a:t>
            </a:r>
            <a:r>
              <a:rPr sz="900" b="0" i="0">
                <a:solidFill>
                  <a:srgbClr val="000000"/>
                </a:solidFill>
                <a:latin typeface="Nirmala UI"/>
              </a:rPr>
              <a:t>`` Label each field as equality, sort, or range.</a:t>
            </a:r>
          </a:p>
          <a:p>
            <a:pPr>
              <a:spcBef>
                <a:spcPts val="0"/>
              </a:spcBef>
              <a:spcAft>
                <a:spcPts val="346"/>
              </a:spcAft>
            </a:pPr>
            <a:r>
              <a:rPr sz="900" b="0" i="0">
                <a:solidFill>
                  <a:srgbClr val="000000"/>
                </a:solidFill>
                <a:latin typeface="Nirmala UI"/>
              </a:rPr>
              <a:t>•  </a:t>
            </a:r>
            <a:r>
              <a:rPr sz="900" b="1" i="0">
                <a:solidFill>
                  <a:srgbClr val="000000"/>
                </a:solidFill>
                <a:latin typeface="Nirmala UI"/>
              </a:rPr>
              <a:t>Expected:</a:t>
            </a:r>
            <a:r>
              <a:rPr sz="900" b="0" i="0">
                <a:solidFill>
                  <a:srgbClr val="000000"/>
                </a:solidFill>
                <a:latin typeface="Nirmala UI"/>
              </a:rPr>
              <a:t> Equality: customerId, paymentStatus. Sort: createdAt. Range: total.</a:t>
            </a:r>
          </a:p>
        </p:txBody>
      </p:sp>
      <p:sp>
        <p:nvSpPr>
          <p:cNvPr id="16" name="Rectangle 1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97</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6.4 — APPLY EQUALITY–SORT–RANGE</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488458"/>
            <a:ext cx="237744" cy="237744"/>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8845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47017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872506"/>
            <a:ext cx="11247120" cy="1679916"/>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Time:</a:t>
            </a:r>
            <a:r>
              <a:rPr sz="2000" b="0" i="0">
                <a:solidFill>
                  <a:srgbClr val="000000"/>
                </a:solidFill>
                <a:latin typeface="Nirmala UI"/>
              </a:rPr>
              <a:t> 15 min</a:t>
            </a:r>
          </a:p>
          <a:p>
            <a:pPr>
              <a:spcBef>
                <a:spcPts val="0"/>
              </a:spcBef>
              <a:spcAft>
                <a:spcPts val="769"/>
              </a:spcAft>
            </a:pPr>
            <a:r>
              <a:rPr sz="2000" b="0" i="0">
                <a:solidFill>
                  <a:srgbClr val="000000"/>
                </a:solidFill>
                <a:latin typeface="Nirmala UI"/>
              </a:rPr>
              <a:t>•  </a:t>
            </a:r>
            <a:r>
              <a:rPr sz="2000" b="0" i="0">
                <a:solidFill>
                  <a:srgbClr val="000000"/>
                </a:solidFill>
                <a:latin typeface="Nirmala UI"/>
              </a:rPr>
              <a:t>Label equality, sort, and range on three shapes and propose compound indexes.</a:t>
            </a:r>
          </a:p>
          <a:p>
            <a:pPr>
              <a:spcBef>
                <a:spcPts val="0"/>
              </a:spcBef>
              <a:spcAft>
                <a:spcPts val="769"/>
              </a:spcAft>
            </a:pPr>
            <a:r>
              <a:rPr sz="2000" b="0" i="0">
                <a:solidFill>
                  <a:srgbClr val="000000"/>
                </a:solidFill>
                <a:latin typeface="Nirmala UI"/>
              </a:rPr>
              <a:t>•  </a:t>
            </a:r>
            <a:r>
              <a:rPr sz="2000" b="1" i="0">
                <a:solidFill>
                  <a:srgbClr val="000000"/>
                </a:solidFill>
                <a:latin typeface="Nirmala UI"/>
              </a:rPr>
              <a:t>Lab guide:</a:t>
            </a:r>
            <a:r>
              <a:rPr sz="2000" b="0" i="0">
                <a:solidFill>
                  <a:srgbClr val="000000"/>
                </a:solidFill>
                <a:latin typeface="Nirmala UI"/>
              </a:rPr>
              <a:t> </a:t>
            </a:r>
            <a:r>
              <a:rPr sz="2000" b="0" i="0">
                <a:solidFill>
                  <a:srgbClr val="000000"/>
                </a:solidFill>
                <a:latin typeface="Consolas"/>
              </a:rPr>
              <a:t>Exercise 6.4</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98</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6.4 — STEPS 1–2</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438344"/>
            <a:ext cx="237744" cy="237744"/>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38344"/>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420056"/>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Rounded Rectangle 6"/>
          <p:cNvSpPr/>
          <p:nvPr/>
        </p:nvSpPr>
        <p:spPr>
          <a:xfrm>
            <a:off x="457200" y="1822392"/>
            <a:ext cx="11247120" cy="554736"/>
          </a:xfrm>
          <a:prstGeom prst="roundRect">
            <a:avLst>
              <a:gd name="adj" fmla="val 6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822392"/>
            <a:ext cx="11027664" cy="554736"/>
          </a:xfrm>
          <a:prstGeom prst="rect">
            <a:avLst/>
          </a:prstGeom>
          <a:noFill/>
        </p:spPr>
        <p:txBody>
          <a:bodyPr wrap="square" anchor="ctr" lIns="0" rIns="0" tIns="0" bIns="0">
            <a:spAutoFit/>
          </a:bodyPr>
          <a:lstStyle/>
          <a:p>
            <a:r>
              <a:rPr sz="1200" b="1" i="0">
                <a:solidFill>
                  <a:srgbClr val="D1282E"/>
                </a:solidFill>
                <a:latin typeface="Nirmala UI"/>
              </a:rPr>
              <a:t>LAB GUIDE   </a:t>
            </a:r>
            <a:r>
              <a:rPr sz="2000" b="0" i="0">
                <a:solidFill>
                  <a:srgbClr val="000000"/>
                </a:solidFill>
                <a:latin typeface="Consolas"/>
              </a:rPr>
              <a:t>Exercise 6.4</a:t>
            </a:r>
          </a:p>
        </p:txBody>
      </p:sp>
      <p:sp>
        <p:nvSpPr>
          <p:cNvPr id="9" name="TextBox 8"/>
          <p:cNvSpPr txBox="1"/>
          <p:nvPr/>
        </p:nvSpPr>
        <p:spPr>
          <a:xfrm>
            <a:off x="457200" y="2468568"/>
            <a:ext cx="11247120" cy="262206"/>
          </a:xfrm>
          <a:prstGeom prst="rect">
            <a:avLst/>
          </a:prstGeom>
          <a:noFill/>
        </p:spPr>
        <p:txBody>
          <a:bodyPr wrap="square" anchor="t" lIns="0" rIns="0" tIns="0" bIns="0">
            <a:spAutoFit/>
          </a:bodyPr>
          <a:lstStyle/>
          <a:p>
            <a:pPr>
              <a:spcBef>
                <a:spcPts val="0"/>
              </a:spcBef>
              <a:spcAft>
                <a:spcPts val="384"/>
              </a:spcAft>
            </a:pPr>
            <a:r>
              <a:rPr sz="1000" b="1" i="0">
                <a:solidFill>
                  <a:srgbClr val="000000"/>
                </a:solidFill>
                <a:latin typeface="Nirmala UI"/>
              </a:rPr>
              <a:t>Follow along (Windows) — key steps:</a:t>
            </a:r>
          </a:p>
        </p:txBody>
      </p:sp>
      <p:sp>
        <p:nvSpPr>
          <p:cNvPr id="10" name="TextBox 9"/>
          <p:cNvSpPr txBox="1"/>
          <p:nvPr/>
        </p:nvSpPr>
        <p:spPr>
          <a:xfrm>
            <a:off x="457200" y="2822214"/>
            <a:ext cx="11247120" cy="262206"/>
          </a:xfrm>
          <a:prstGeom prst="rect">
            <a:avLst/>
          </a:prstGeom>
          <a:noFill/>
        </p:spPr>
        <p:txBody>
          <a:bodyPr wrap="square" anchor="t" lIns="0" rIns="0" tIns="0" bIns="0">
            <a:spAutoFit/>
          </a:bodyPr>
          <a:lstStyle/>
          <a:p>
            <a:pPr>
              <a:spcBef>
                <a:spcPts val="0"/>
              </a:spcBef>
              <a:spcAft>
                <a:spcPts val="384"/>
              </a:spcAft>
            </a:pPr>
            <a:r>
              <a:rPr sz="1000" b="1" i="0">
                <a:solidFill>
                  <a:srgbClr val="000000"/>
                </a:solidFill>
                <a:latin typeface="Nirmala UI"/>
              </a:rPr>
              <a:t>Step 1 — Catalog and history shapes</a:t>
            </a:r>
          </a:p>
        </p:txBody>
      </p:sp>
      <p:sp>
        <p:nvSpPr>
          <p:cNvPr id="11" name="TextBox 10"/>
          <p:cNvSpPr txBox="1"/>
          <p:nvPr/>
        </p:nvSpPr>
        <p:spPr>
          <a:xfrm>
            <a:off x="457200" y="3175860"/>
            <a:ext cx="11247120" cy="813972"/>
          </a:xfrm>
          <a:prstGeom prst="rect">
            <a:avLst/>
          </a:prstGeom>
          <a:noFill/>
        </p:spPr>
        <p:txBody>
          <a:bodyPr wrap="square" anchor="t" lIns="0" rIns="0" tIns="0" bIns="0">
            <a:spAutoFit/>
          </a:bodyPr>
          <a:lstStyle/>
          <a:p>
            <a:pPr>
              <a:spcBef>
                <a:spcPts val="0"/>
              </a:spcBef>
              <a:spcAft>
                <a:spcPts val="384"/>
              </a:spcAft>
            </a:pPr>
            <a:r>
              <a:rPr sz="1000" b="0" i="0">
                <a:solidFill>
                  <a:srgbClr val="000000"/>
                </a:solidFill>
                <a:latin typeface="Nirmala UI"/>
              </a:rPr>
              <a:t>•  </a:t>
            </a:r>
            <a:r>
              <a:rPr sz="1000" b="1" i="0">
                <a:solidFill>
                  <a:srgbClr val="000000"/>
                </a:solidFill>
                <a:latin typeface="Nirmala UI"/>
              </a:rPr>
              <a:t>Do:</a:t>
            </a:r>
            <a:r>
              <a:rPr sz="1000" b="0" i="0">
                <a:solidFill>
                  <a:srgbClr val="000000"/>
                </a:solidFill>
                <a:latin typeface="Nirmala UI"/>
              </a:rPr>
              <a:t> Shape A: active products in category ACCESSORY, price ≤ 100, sort by price. Shape B: one customerId, createdAt in a date range, sort createdAt descending. Label ESR and propose indexes.</a:t>
            </a:r>
          </a:p>
          <a:p>
            <a:pPr>
              <a:spcBef>
                <a:spcPts val="0"/>
              </a:spcBef>
              <a:spcAft>
                <a:spcPts val="384"/>
              </a:spcAft>
            </a:pPr>
            <a:r>
              <a:rPr sz="1000" b="0" i="0">
                <a:solidFill>
                  <a:srgbClr val="000000"/>
                </a:solidFill>
                <a:latin typeface="Nirmala UI"/>
              </a:rPr>
              <a:t>•  </a:t>
            </a:r>
            <a:r>
              <a:rPr sz="1000" b="1" i="0">
                <a:solidFill>
                  <a:srgbClr val="000000"/>
                </a:solidFill>
                <a:latin typeface="Nirmala UI"/>
              </a:rPr>
              <a:t>Expected:</a:t>
            </a:r>
            <a:r>
              <a:rPr sz="1000" b="0" i="0">
                <a:solidFill>
                  <a:srgbClr val="000000"/>
                </a:solidFill>
                <a:latin typeface="Nirmala UI"/>
              </a:rPr>
              <a:t> A: equality category+active, sort/range price → </a:t>
            </a:r>
            <a:r>
              <a:rPr sz="1000" b="0" i="0">
                <a:solidFill>
                  <a:srgbClr val="000000"/>
                </a:solidFill>
                <a:latin typeface="Consolas"/>
              </a:rPr>
              <a:t>{ category: 1, active: 1, price: 1 }</a:t>
            </a:r>
            <a:r>
              <a:rPr sz="1000" b="0" i="0">
                <a:solidFill>
                  <a:srgbClr val="000000"/>
                </a:solidFill>
                <a:latin typeface="Nirmala UI"/>
              </a:rPr>
              <a:t>. B: equality customerId, sort createdAt, range createdAt (same field) → `</a:t>
            </a:r>
          </a:p>
        </p:txBody>
      </p:sp>
      <p:sp>
        <p:nvSpPr>
          <p:cNvPr id="12" name="TextBox 11"/>
          <p:cNvSpPr txBox="1"/>
          <p:nvPr/>
        </p:nvSpPr>
        <p:spPr>
          <a:xfrm>
            <a:off x="457200" y="4081272"/>
            <a:ext cx="11247120" cy="262206"/>
          </a:xfrm>
          <a:prstGeom prst="rect">
            <a:avLst/>
          </a:prstGeom>
          <a:noFill/>
        </p:spPr>
        <p:txBody>
          <a:bodyPr wrap="square" anchor="t" lIns="0" rIns="0" tIns="0" bIns="0">
            <a:spAutoFit/>
          </a:bodyPr>
          <a:lstStyle/>
          <a:p>
            <a:pPr>
              <a:spcBef>
                <a:spcPts val="0"/>
              </a:spcBef>
              <a:spcAft>
                <a:spcPts val="384"/>
              </a:spcAft>
            </a:pPr>
            <a:r>
              <a:rPr sz="1000" b="1" i="0">
                <a:solidFill>
                  <a:srgbClr val="000000"/>
                </a:solidFill>
                <a:latin typeface="Nirmala UI"/>
              </a:rPr>
              <a:t>Step 2 — Reporting shape</a:t>
            </a:r>
          </a:p>
        </p:txBody>
      </p:sp>
      <p:sp>
        <p:nvSpPr>
          <p:cNvPr id="13" name="TextBox 12"/>
          <p:cNvSpPr txBox="1"/>
          <p:nvPr/>
        </p:nvSpPr>
        <p:spPr>
          <a:xfrm>
            <a:off x="457200" y="4434918"/>
            <a:ext cx="11247120" cy="813972"/>
          </a:xfrm>
          <a:prstGeom prst="rect">
            <a:avLst/>
          </a:prstGeom>
          <a:noFill/>
        </p:spPr>
        <p:txBody>
          <a:bodyPr wrap="square" anchor="t" lIns="0" rIns="0" tIns="0" bIns="0">
            <a:spAutoFit/>
          </a:bodyPr>
          <a:lstStyle/>
          <a:p>
            <a:pPr>
              <a:spcBef>
                <a:spcPts val="0"/>
              </a:spcBef>
              <a:spcAft>
                <a:spcPts val="384"/>
              </a:spcAft>
            </a:pPr>
            <a:r>
              <a:rPr sz="1000" b="0" i="0">
                <a:solidFill>
                  <a:srgbClr val="000000"/>
                </a:solidFill>
                <a:latin typeface="Nirmala UI"/>
              </a:rPr>
              <a:t>•  </a:t>
            </a:r>
            <a:r>
              <a:rPr sz="1000" b="1" i="0">
                <a:solidFill>
                  <a:srgbClr val="000000"/>
                </a:solidFill>
                <a:latin typeface="Nirmala UI"/>
              </a:rPr>
              <a:t>Do:</a:t>
            </a:r>
            <a:r>
              <a:rPr sz="1000" b="0" i="0">
                <a:solidFill>
                  <a:srgbClr val="000000"/>
                </a:solidFill>
                <a:latin typeface="Nirmala UI"/>
              </a:rPr>
              <a:t> Shape C: paymentStatus PAID, createdAt ≥ start, sort createdAt descending. Propose an index and one sentence on why paymentStatus still belongs first even though it is low selectivity.</a:t>
            </a:r>
          </a:p>
          <a:p>
            <a:pPr>
              <a:spcBef>
                <a:spcPts val="0"/>
              </a:spcBef>
              <a:spcAft>
                <a:spcPts val="384"/>
              </a:spcAft>
            </a:pPr>
            <a:r>
              <a:rPr sz="1000" b="0" i="0">
                <a:solidFill>
                  <a:srgbClr val="000000"/>
                </a:solidFill>
                <a:latin typeface="Nirmala UI"/>
              </a:rPr>
              <a:t>•  </a:t>
            </a:r>
            <a:r>
              <a:rPr sz="1000" b="1" i="0">
                <a:solidFill>
                  <a:srgbClr val="000000"/>
                </a:solidFill>
                <a:latin typeface="Nirmala UI"/>
              </a:rPr>
              <a:t>Expected:</a:t>
            </a:r>
            <a:r>
              <a:rPr sz="1000" b="0" i="0">
                <a:solidFill>
                  <a:srgbClr val="000000"/>
                </a:solidFill>
                <a:latin typeface="Nirmala UI"/>
              </a:rPr>
              <a:t> </a:t>
            </a:r>
            <a:r>
              <a:rPr sz="1000" b="0" i="0">
                <a:solidFill>
                  <a:srgbClr val="000000"/>
                </a:solidFill>
                <a:latin typeface="Consolas"/>
              </a:rPr>
              <a:t>{ paymentStatus: 1, createdAt: -1 }</a:t>
            </a:r>
            <a:r>
              <a:rPr sz="1000" b="0" i="0">
                <a:solidFill>
                  <a:srgbClr val="000000"/>
                </a:solidFill>
                <a:latin typeface="Nirmala UI"/>
              </a:rPr>
              <a:t>. Equality first partitions the index so the date sort/range walks one status’s keys instead of mixing statuses.</a:t>
            </a:r>
          </a:p>
        </p:txBody>
      </p:sp>
      <p:sp>
        <p:nvSpPr>
          <p:cNvPr id="14" name="TextBox 13"/>
          <p:cNvSpPr txBox="1"/>
          <p:nvPr/>
        </p:nvSpPr>
        <p:spPr>
          <a:xfrm>
            <a:off x="457200" y="5340330"/>
            <a:ext cx="11247120" cy="262206"/>
          </a:xfrm>
          <a:prstGeom prst="rect">
            <a:avLst/>
          </a:prstGeom>
          <a:noFill/>
        </p:spPr>
        <p:txBody>
          <a:bodyPr wrap="square" anchor="t" lIns="0" rIns="0" tIns="0" bIns="0">
            <a:spAutoFit/>
          </a:bodyPr>
          <a:lstStyle/>
          <a:p>
            <a:pPr>
              <a:spcBef>
                <a:spcPts val="0"/>
              </a:spcBef>
              <a:spcAft>
                <a:spcPts val="384"/>
              </a:spcAft>
            </a:pPr>
            <a:r>
              <a:rPr sz="1000" b="1" i="0">
                <a:solidFill>
                  <a:srgbClr val="000000"/>
                </a:solidFill>
                <a:latin typeface="Nirmala UI"/>
              </a:rPr>
              <a:t>_Full lab guide with every command: </a:t>
            </a:r>
            <a:r>
              <a:rPr sz="1000" b="0" i="0">
                <a:solidFill>
                  <a:srgbClr val="000000"/>
                </a:solidFill>
                <a:latin typeface="Nirmala UI"/>
              </a:rPr>
              <a:t>see </a:t>
            </a:r>
            <a:r>
              <a:rPr sz="1000" b="1" i="0">
                <a:solidFill>
                  <a:srgbClr val="000000"/>
                </a:solidFill>
                <a:latin typeface="Nirmala UI"/>
              </a:rPr>
              <a:t>Lab guide</a:t>
            </a:r>
            <a:r>
              <a:rPr sz="1000" b="0" i="0">
                <a:solidFill>
                  <a:srgbClr val="000000"/>
                </a:solidFill>
                <a:latin typeface="Nirmala UI"/>
              </a:rPr>
              <a:t> on the lesson divider slide._</a:t>
            </a:r>
          </a:p>
        </p:txBody>
      </p:sp>
      <p:sp>
        <p:nvSpPr>
          <p:cNvPr id="15" name="Rectangle 1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99</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6.5 — IDENTIFY INDEX PREFIXES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320818"/>
            <a:ext cx="237744" cy="237744"/>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32081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30253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704866"/>
            <a:ext cx="11247120" cy="2015196"/>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Time:</a:t>
            </a:r>
            <a:r>
              <a:rPr sz="2000" b="0" i="0">
                <a:solidFill>
                  <a:srgbClr val="000000"/>
                </a:solidFill>
                <a:latin typeface="Nirmala UI"/>
              </a:rPr>
              <a:t> 10 min</a:t>
            </a:r>
          </a:p>
          <a:p>
            <a:pPr>
              <a:spcBef>
                <a:spcPts val="0"/>
              </a:spcBef>
              <a:spcAft>
                <a:spcPts val="769"/>
              </a:spcAft>
            </a:pPr>
            <a:r>
              <a:rPr sz="2000" b="0" i="0">
                <a:solidFill>
                  <a:srgbClr val="000000"/>
                </a:solidFill>
                <a:latin typeface="Nirmala UI"/>
              </a:rPr>
              <a:t>•  </a:t>
            </a:r>
            <a:r>
              <a:rPr sz="2000" b="1" i="0">
                <a:solidFill>
                  <a:srgbClr val="000000"/>
                </a:solidFill>
                <a:latin typeface="Nirmala UI"/>
              </a:rPr>
              <a:t>List prefixes of `{ customerId: </a:t>
            </a:r>
            <a:r>
              <a:rPr sz="2000" b="0" i="0">
                <a:solidFill>
                  <a:srgbClr val="000000"/>
                </a:solidFill>
                <a:latin typeface="Nirmala UI"/>
              </a:rPr>
              <a:t>1, paymentStatus: 1, createdAt: -1 }` and mark unsupported shapes.</a:t>
            </a:r>
          </a:p>
          <a:p>
            <a:pPr>
              <a:spcBef>
                <a:spcPts val="0"/>
              </a:spcBef>
              <a:spcAft>
                <a:spcPts val="769"/>
              </a:spcAft>
            </a:pPr>
            <a:r>
              <a:rPr sz="2000" b="0" i="0">
                <a:solidFill>
                  <a:srgbClr val="000000"/>
                </a:solidFill>
                <a:latin typeface="Nirmala UI"/>
              </a:rPr>
              <a:t>•  </a:t>
            </a:r>
            <a:r>
              <a:rPr sz="2000" b="1" i="0">
                <a:solidFill>
                  <a:srgbClr val="000000"/>
                </a:solidFill>
                <a:latin typeface="Nirmala UI"/>
              </a:rPr>
              <a:t>Lab guide:</a:t>
            </a:r>
            <a:r>
              <a:rPr sz="2000" b="0" i="0">
                <a:solidFill>
                  <a:srgbClr val="000000"/>
                </a:solidFill>
                <a:latin typeface="Nirmala UI"/>
              </a:rPr>
              <a:t> </a:t>
            </a:r>
            <a:r>
              <a:rPr sz="2000" b="0" i="0">
                <a:solidFill>
                  <a:srgbClr val="000000"/>
                </a:solidFill>
                <a:latin typeface="Consolas"/>
              </a:rPr>
              <a:t>Exercise 6.5</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100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6.5 — STEPS 1–2</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399268"/>
            <a:ext cx="237744" cy="237744"/>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9926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38098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Rounded Rectangle 6"/>
          <p:cNvSpPr/>
          <p:nvPr/>
        </p:nvSpPr>
        <p:spPr>
          <a:xfrm>
            <a:off x="457200" y="1783316"/>
            <a:ext cx="11247120" cy="554736"/>
          </a:xfrm>
          <a:prstGeom prst="roundRect">
            <a:avLst>
              <a:gd name="adj" fmla="val 6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783316"/>
            <a:ext cx="11027664" cy="554736"/>
          </a:xfrm>
          <a:prstGeom prst="rect">
            <a:avLst/>
          </a:prstGeom>
          <a:noFill/>
        </p:spPr>
        <p:txBody>
          <a:bodyPr wrap="square" anchor="ctr" lIns="0" rIns="0" tIns="0" bIns="0">
            <a:spAutoFit/>
          </a:bodyPr>
          <a:lstStyle/>
          <a:p>
            <a:r>
              <a:rPr sz="1200" b="1" i="0">
                <a:solidFill>
                  <a:srgbClr val="D1282E"/>
                </a:solidFill>
                <a:latin typeface="Nirmala UI"/>
              </a:rPr>
              <a:t>LAB GUIDE   </a:t>
            </a:r>
            <a:r>
              <a:rPr sz="2000" b="0" i="0">
                <a:solidFill>
                  <a:srgbClr val="000000"/>
                </a:solidFill>
                <a:latin typeface="Consolas"/>
              </a:rPr>
              <a:t>Exercise 6.5</a:t>
            </a:r>
          </a:p>
        </p:txBody>
      </p:sp>
      <p:sp>
        <p:nvSpPr>
          <p:cNvPr id="9" name="TextBox 8"/>
          <p:cNvSpPr txBox="1"/>
          <p:nvPr/>
        </p:nvSpPr>
        <p:spPr>
          <a:xfrm>
            <a:off x="457200" y="2429492"/>
            <a:ext cx="11247120" cy="305503"/>
          </a:xfrm>
          <a:prstGeom prst="rect">
            <a:avLst/>
          </a:prstGeom>
          <a:noFill/>
        </p:spPr>
        <p:txBody>
          <a:bodyPr wrap="square" anchor="t" lIns="0" rIns="0" tIns="0" bIns="0">
            <a:spAutoFit/>
          </a:bodyPr>
          <a:lstStyle/>
          <a:p>
            <a:pPr>
              <a:spcBef>
                <a:spcPts val="0"/>
              </a:spcBef>
              <a:spcAft>
                <a:spcPts val="461"/>
              </a:spcAft>
            </a:pPr>
            <a:r>
              <a:rPr sz="1200" b="1" i="0">
                <a:solidFill>
                  <a:srgbClr val="000000"/>
                </a:solidFill>
                <a:latin typeface="Nirmala UI"/>
              </a:rPr>
              <a:t>Follow along (Windows) — key steps:</a:t>
            </a:r>
          </a:p>
        </p:txBody>
      </p:sp>
      <p:sp>
        <p:nvSpPr>
          <p:cNvPr id="10" name="TextBox 9"/>
          <p:cNvSpPr txBox="1"/>
          <p:nvPr/>
        </p:nvSpPr>
        <p:spPr>
          <a:xfrm>
            <a:off x="457200" y="2826435"/>
            <a:ext cx="11247120" cy="305503"/>
          </a:xfrm>
          <a:prstGeom prst="rect">
            <a:avLst/>
          </a:prstGeom>
          <a:noFill/>
        </p:spPr>
        <p:txBody>
          <a:bodyPr wrap="square" anchor="t" lIns="0" rIns="0" tIns="0" bIns="0">
            <a:spAutoFit/>
          </a:bodyPr>
          <a:lstStyle/>
          <a:p>
            <a:pPr>
              <a:spcBef>
                <a:spcPts val="0"/>
              </a:spcBef>
              <a:spcAft>
                <a:spcPts val="461"/>
              </a:spcAft>
            </a:pPr>
            <a:r>
              <a:rPr sz="1200" b="1" i="0">
                <a:solidFill>
                  <a:srgbClr val="000000"/>
                </a:solidFill>
                <a:latin typeface="Nirmala UI"/>
              </a:rPr>
              <a:t>Step 1 — List usable prefixes</a:t>
            </a:r>
          </a:p>
        </p:txBody>
      </p:sp>
      <p:sp>
        <p:nvSpPr>
          <p:cNvPr id="11" name="TextBox 10"/>
          <p:cNvSpPr txBox="1"/>
          <p:nvPr/>
        </p:nvSpPr>
        <p:spPr>
          <a:xfrm>
            <a:off x="457200" y="3223378"/>
            <a:ext cx="11247120" cy="565286"/>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  </a:t>
            </a:r>
            <a:r>
              <a:rPr sz="1200" b="1" i="0">
                <a:solidFill>
                  <a:srgbClr val="000000"/>
                </a:solidFill>
                <a:latin typeface="Nirmala UI"/>
              </a:rPr>
              <a:t>Do:</a:t>
            </a:r>
            <a:r>
              <a:rPr sz="1200" b="0" i="0">
                <a:solidFill>
                  <a:srgbClr val="000000"/>
                </a:solidFill>
                <a:latin typeface="Nirmala UI"/>
              </a:rPr>
              <a:t> Given </a:t>
            </a:r>
            <a:r>
              <a:rPr sz="1200" b="0" i="0">
                <a:solidFill>
                  <a:srgbClr val="000000"/>
                </a:solidFill>
                <a:latin typeface="Consolas"/>
              </a:rPr>
              <a:t>{ customerId: 1, paymentStatus: 1, createdAt: -1 }</a:t>
            </a:r>
            <a:r>
              <a:rPr sz="1200" b="0" i="0">
                <a:solidFill>
                  <a:srgbClr val="000000"/>
                </a:solidFill>
                <a:latin typeface="Nirmala UI"/>
              </a:rPr>
              <a:t>, list the prefixes MongoDB can use from the left.</a:t>
            </a:r>
          </a:p>
          <a:p>
            <a:pPr>
              <a:spcBef>
                <a:spcPts val="0"/>
              </a:spcBef>
              <a:spcAft>
                <a:spcPts val="461"/>
              </a:spcAft>
            </a:pPr>
            <a:r>
              <a:rPr sz="1200" b="0" i="0">
                <a:solidFill>
                  <a:srgbClr val="000000"/>
                </a:solidFill>
                <a:latin typeface="Nirmala UI"/>
              </a:rPr>
              <a:t>•  </a:t>
            </a:r>
            <a:r>
              <a:rPr sz="1200" b="1" i="0">
                <a:solidFill>
                  <a:srgbClr val="000000"/>
                </a:solidFill>
                <a:latin typeface="Nirmala UI"/>
              </a:rPr>
              <a:t>Expected:</a:t>
            </a:r>
            <a:r>
              <a:rPr sz="1200" b="0" i="0">
                <a:solidFill>
                  <a:srgbClr val="000000"/>
                </a:solidFill>
                <a:latin typeface="Nirmala UI"/>
              </a:rPr>
              <a:t> customerId; customerId + paymentStatus; customerId + paymentStatus + createdAt.</a:t>
            </a:r>
          </a:p>
        </p:txBody>
      </p:sp>
      <p:sp>
        <p:nvSpPr>
          <p:cNvPr id="12" name="TextBox 11"/>
          <p:cNvSpPr txBox="1"/>
          <p:nvPr/>
        </p:nvSpPr>
        <p:spPr>
          <a:xfrm>
            <a:off x="457200" y="3880104"/>
            <a:ext cx="11247120" cy="305503"/>
          </a:xfrm>
          <a:prstGeom prst="rect">
            <a:avLst/>
          </a:prstGeom>
          <a:noFill/>
        </p:spPr>
        <p:txBody>
          <a:bodyPr wrap="square" anchor="t" lIns="0" rIns="0" tIns="0" bIns="0">
            <a:spAutoFit/>
          </a:bodyPr>
          <a:lstStyle/>
          <a:p>
            <a:pPr>
              <a:spcBef>
                <a:spcPts val="0"/>
              </a:spcBef>
              <a:spcAft>
                <a:spcPts val="461"/>
              </a:spcAft>
            </a:pPr>
            <a:r>
              <a:rPr sz="1200" b="1" i="0">
                <a:solidFill>
                  <a:srgbClr val="000000"/>
                </a:solidFill>
                <a:latin typeface="Nirmala UI"/>
              </a:rPr>
              <a:t>Step 2 — Mark unsupported shapes</a:t>
            </a:r>
          </a:p>
        </p:txBody>
      </p:sp>
      <p:sp>
        <p:nvSpPr>
          <p:cNvPr id="13" name="TextBox 12"/>
          <p:cNvSpPr txBox="1"/>
          <p:nvPr/>
        </p:nvSpPr>
        <p:spPr>
          <a:xfrm>
            <a:off x="457200" y="4277047"/>
            <a:ext cx="11247120" cy="967622"/>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  </a:t>
            </a:r>
            <a:r>
              <a:rPr sz="1200" b="1" i="0">
                <a:solidFill>
                  <a:srgbClr val="000000"/>
                </a:solidFill>
                <a:latin typeface="Nirmala UI"/>
              </a:rPr>
              <a:t>Do:</a:t>
            </a:r>
            <a:r>
              <a:rPr sz="1200" b="0" i="0">
                <a:solidFill>
                  <a:srgbClr val="000000"/>
                </a:solidFill>
                <a:latin typeface="Nirmala UI"/>
              </a:rPr>
              <a:t> Decide whether these can use that index as a leading prefix: (1) filter only paymentStatus, (2) filter customerId, (3) filter customerId and sort createdAt without paymentStatus.</a:t>
            </a:r>
          </a:p>
          <a:p>
            <a:pPr>
              <a:spcBef>
                <a:spcPts val="0"/>
              </a:spcBef>
              <a:spcAft>
                <a:spcPts val="461"/>
              </a:spcAft>
            </a:pPr>
            <a:r>
              <a:rPr sz="1200" b="0" i="0">
                <a:solidFill>
                  <a:srgbClr val="000000"/>
                </a:solidFill>
                <a:latin typeface="Nirmala UI"/>
              </a:rPr>
              <a:t>•  </a:t>
            </a:r>
            <a:r>
              <a:rPr sz="1200" b="1" i="0">
                <a:solidFill>
                  <a:srgbClr val="000000"/>
                </a:solidFill>
                <a:latin typeface="Nirmala UI"/>
              </a:rPr>
              <a:t>Expected:</a:t>
            </a:r>
            <a:r>
              <a:rPr sz="1200" b="0" i="0">
                <a:solidFill>
                  <a:srgbClr val="000000"/>
                </a:solidFill>
                <a:latin typeface="Nirmala UI"/>
              </a:rPr>
              <a:t> (1) No — paymentStatus is not leading. (2) Yes. (3) Usually not for the sort: skipping paymentStatus breaks the sort prefix, so an extra SORT is likely.</a:t>
            </a:r>
          </a:p>
        </p:txBody>
      </p:sp>
      <p:sp>
        <p:nvSpPr>
          <p:cNvPr id="14" name="TextBox 13"/>
          <p:cNvSpPr txBox="1"/>
          <p:nvPr/>
        </p:nvSpPr>
        <p:spPr>
          <a:xfrm>
            <a:off x="457200" y="5336109"/>
            <a:ext cx="11247120" cy="305503"/>
          </a:xfrm>
          <a:prstGeom prst="rect">
            <a:avLst/>
          </a:prstGeom>
          <a:noFill/>
        </p:spPr>
        <p:txBody>
          <a:bodyPr wrap="square" anchor="t" lIns="0" rIns="0" tIns="0" bIns="0">
            <a:spAutoFit/>
          </a:bodyPr>
          <a:lstStyle/>
          <a:p>
            <a:pPr>
              <a:spcBef>
                <a:spcPts val="0"/>
              </a:spcBef>
              <a:spcAft>
                <a:spcPts val="461"/>
              </a:spcAft>
            </a:pPr>
            <a:r>
              <a:rPr sz="1200" b="1" i="0">
                <a:solidFill>
                  <a:srgbClr val="000000"/>
                </a:solidFill>
                <a:latin typeface="Nirmala UI"/>
              </a:rPr>
              <a:t>_Full lab guide with every command: </a:t>
            </a:r>
            <a:r>
              <a:rPr sz="1200" b="0" i="0">
                <a:solidFill>
                  <a:srgbClr val="000000"/>
                </a:solidFill>
                <a:latin typeface="Nirmala UI"/>
              </a:rPr>
              <a:t>see </a:t>
            </a:r>
            <a:r>
              <a:rPr sz="1200" b="1" i="0">
                <a:solidFill>
                  <a:srgbClr val="000000"/>
                </a:solidFill>
                <a:latin typeface="Nirmala UI"/>
              </a:rPr>
              <a:t>Lab guide</a:t>
            </a:r>
            <a:r>
              <a:rPr sz="1200" b="0" i="0">
                <a:solidFill>
                  <a:srgbClr val="000000"/>
                </a:solidFill>
                <a:latin typeface="Nirmala UI"/>
              </a:rPr>
              <a:t> on the lesson divider slide._</a:t>
            </a:r>
          </a:p>
        </p:txBody>
      </p:sp>
      <p:sp>
        <p:nvSpPr>
          <p:cNvPr id="15" name="Rectangle 1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101</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DEMO 6.5 — CREATE A MULTIKEY INDEX</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439612"/>
            <a:ext cx="237744" cy="237744"/>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39612"/>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421324"/>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823660"/>
            <a:ext cx="11247120" cy="1777608"/>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Time:</a:t>
            </a:r>
            <a:r>
              <a:rPr sz="2000" b="0" i="0">
                <a:solidFill>
                  <a:srgbClr val="000000"/>
                </a:solidFill>
                <a:latin typeface="Nirmala UI"/>
              </a:rPr>
              <a:t> 10 min</a:t>
            </a:r>
          </a:p>
          <a:p>
            <a:pPr>
              <a:spcBef>
                <a:spcPts val="0"/>
              </a:spcBef>
              <a:spcAft>
                <a:spcPts val="769"/>
              </a:spcAft>
            </a:pPr>
            <a:r>
              <a:rPr sz="2000" b="0" i="0">
                <a:solidFill>
                  <a:srgbClr val="000000"/>
                </a:solidFill>
                <a:latin typeface="Nirmala UI"/>
              </a:rPr>
              <a:t>•  </a:t>
            </a:r>
            <a:r>
              <a:rPr sz="2000" b="0" i="0">
                <a:solidFill>
                  <a:srgbClr val="000000"/>
                </a:solidFill>
                <a:latin typeface="Nirmala UI"/>
              </a:rPr>
              <a:t>Create </a:t>
            </a:r>
            <a:r>
              <a:rPr sz="2000" b="0" i="0">
                <a:solidFill>
                  <a:srgbClr val="000000"/>
                </a:solidFill>
                <a:latin typeface="Consolas"/>
              </a:rPr>
              <a:t>idx_products_tags</a:t>
            </a:r>
          </a:p>
          <a:p>
            <a:pPr>
              <a:spcBef>
                <a:spcPts val="0"/>
              </a:spcBef>
              <a:spcAft>
                <a:spcPts val="769"/>
              </a:spcAft>
            </a:pPr>
            <a:r>
              <a:rPr sz="2000" b="0" i="0">
                <a:solidFill>
                  <a:srgbClr val="000000"/>
                </a:solidFill>
                <a:latin typeface="Nirmala UI"/>
              </a:rPr>
              <a:t>•  </a:t>
            </a:r>
            <a:r>
              <a:rPr sz="2000" b="1" i="0">
                <a:solidFill>
                  <a:srgbClr val="000000"/>
                </a:solidFill>
                <a:latin typeface="Nirmala UI"/>
              </a:rPr>
              <a:t>Query `tags: </a:t>
            </a:r>
            <a:r>
              <a:rPr sz="2000" b="0" i="0">
                <a:solidFill>
                  <a:srgbClr val="000000"/>
                </a:solidFill>
                <a:latin typeface="Nirmala UI"/>
              </a:rPr>
              <a:t>"technology"`</a:t>
            </a:r>
          </a:p>
          <a:p>
            <a:pPr>
              <a:spcBef>
                <a:spcPts val="0"/>
              </a:spcBef>
              <a:spcAft>
                <a:spcPts val="769"/>
              </a:spcAft>
            </a:pPr>
            <a:r>
              <a:rPr sz="2000" b="0" i="0">
                <a:solidFill>
                  <a:srgbClr val="000000"/>
                </a:solidFill>
                <a:latin typeface="Nirmala UI"/>
              </a:rPr>
              <a:t>•  </a:t>
            </a:r>
            <a:r>
              <a:rPr sz="2000" b="0" i="0">
                <a:solidFill>
                  <a:srgbClr val="000000"/>
                </a:solidFill>
                <a:latin typeface="Nirmala UI"/>
              </a:rPr>
              <a:t>Show multikey in getIndexes or explain</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102</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DEMO 6.6 — ENFORCE UNIQUENESS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439612"/>
            <a:ext cx="237744" cy="237744"/>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39612"/>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421324"/>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823660"/>
            <a:ext cx="11247120" cy="1777608"/>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Time:</a:t>
            </a:r>
            <a:r>
              <a:rPr sz="2000" b="0" i="0">
                <a:solidFill>
                  <a:srgbClr val="000000"/>
                </a:solidFill>
                <a:latin typeface="Nirmala UI"/>
              </a:rPr>
              <a:t> 10 min</a:t>
            </a:r>
          </a:p>
          <a:p>
            <a:pPr>
              <a:spcBef>
                <a:spcPts val="0"/>
              </a:spcBef>
              <a:spcAft>
                <a:spcPts val="769"/>
              </a:spcAft>
            </a:pPr>
            <a:r>
              <a:rPr sz="2000" b="0" i="0">
                <a:solidFill>
                  <a:srgbClr val="000000"/>
                </a:solidFill>
                <a:latin typeface="Nirmala UI"/>
              </a:rPr>
              <a:t>•  </a:t>
            </a:r>
            <a:r>
              <a:rPr sz="2000" b="0" i="0">
                <a:solidFill>
                  <a:srgbClr val="000000"/>
                </a:solidFill>
                <a:latin typeface="Nirmala UI"/>
              </a:rPr>
              <a:t>Drop </a:t>
            </a:r>
            <a:r>
              <a:rPr sz="2000" b="0" i="0">
                <a:solidFill>
                  <a:srgbClr val="000000"/>
                </a:solidFill>
                <a:latin typeface="Consolas"/>
              </a:rPr>
              <a:t>idx_products_sku</a:t>
            </a:r>
            <a:r>
              <a:rPr sz="2000" b="0" i="0">
                <a:solidFill>
                  <a:srgbClr val="000000"/>
                </a:solidFill>
                <a:latin typeface="Nirmala UI"/>
              </a:rPr>
              <a:t> if present (same keys)</a:t>
            </a:r>
          </a:p>
          <a:p>
            <a:pPr>
              <a:spcBef>
                <a:spcPts val="0"/>
              </a:spcBef>
              <a:spcAft>
                <a:spcPts val="769"/>
              </a:spcAft>
            </a:pPr>
            <a:r>
              <a:rPr sz="2000" b="0" i="0">
                <a:solidFill>
                  <a:srgbClr val="000000"/>
                </a:solidFill>
                <a:latin typeface="Nirmala UI"/>
              </a:rPr>
              <a:t>•  </a:t>
            </a:r>
            <a:r>
              <a:rPr sz="2000" b="0" i="0">
                <a:solidFill>
                  <a:srgbClr val="000000"/>
                </a:solidFill>
                <a:latin typeface="Nirmala UI"/>
              </a:rPr>
              <a:t>Create </a:t>
            </a:r>
            <a:r>
              <a:rPr sz="2000" b="0" i="0">
                <a:solidFill>
                  <a:srgbClr val="000000"/>
                </a:solidFill>
                <a:latin typeface="Consolas"/>
              </a:rPr>
              <a:t>uq_products_sku</a:t>
            </a:r>
          </a:p>
          <a:p>
            <a:pPr>
              <a:spcBef>
                <a:spcPts val="0"/>
              </a:spcBef>
              <a:spcAft>
                <a:spcPts val="769"/>
              </a:spcAft>
            </a:pPr>
            <a:r>
              <a:rPr sz="2000" b="0" i="0">
                <a:solidFill>
                  <a:srgbClr val="000000"/>
                </a:solidFill>
                <a:latin typeface="Nirmala UI"/>
              </a:rPr>
              <a:t>•  </a:t>
            </a:r>
            <a:r>
              <a:rPr sz="2000" b="0" i="0">
                <a:solidFill>
                  <a:srgbClr val="000000"/>
                </a:solidFill>
                <a:latin typeface="Nirmala UI"/>
              </a:rPr>
              <a:t>Insert a second L100 — read the duplicate-key error</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103</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DEMO 6.7 — USE A PARTIAL INDEX</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439612"/>
            <a:ext cx="237744" cy="237744"/>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39612"/>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421324"/>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823660"/>
            <a:ext cx="11247120" cy="1777608"/>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Time:</a:t>
            </a:r>
            <a:r>
              <a:rPr sz="2000" b="0" i="0">
                <a:solidFill>
                  <a:srgbClr val="000000"/>
                </a:solidFill>
                <a:latin typeface="Nirmala UI"/>
              </a:rPr>
              <a:t> 15 min</a:t>
            </a:r>
          </a:p>
          <a:p>
            <a:pPr>
              <a:spcBef>
                <a:spcPts val="0"/>
              </a:spcBef>
              <a:spcAft>
                <a:spcPts val="769"/>
              </a:spcAft>
            </a:pPr>
            <a:r>
              <a:rPr sz="2000" b="0" i="0">
                <a:solidFill>
                  <a:srgbClr val="000000"/>
                </a:solidFill>
                <a:latin typeface="Nirmala UI"/>
              </a:rPr>
              <a:t>•  </a:t>
            </a:r>
            <a:r>
              <a:rPr sz="2000" b="1" i="0">
                <a:solidFill>
                  <a:srgbClr val="000000"/>
                </a:solidFill>
                <a:latin typeface="Nirmala UI"/>
              </a:rPr>
              <a:t>Create `idx_active_products_category_price` with `active: </a:t>
            </a:r>
            <a:r>
              <a:rPr sz="2000" b="0" i="0">
                <a:solidFill>
                  <a:srgbClr val="000000"/>
                </a:solidFill>
                <a:latin typeface="Nirmala UI"/>
              </a:rPr>
              <a:t>true`</a:t>
            </a:r>
          </a:p>
          <a:p>
            <a:pPr>
              <a:spcBef>
                <a:spcPts val="0"/>
              </a:spcBef>
              <a:spcAft>
                <a:spcPts val="769"/>
              </a:spcAft>
            </a:pPr>
            <a:r>
              <a:rPr sz="2000" b="0" i="0">
                <a:solidFill>
                  <a:srgbClr val="000000"/>
                </a:solidFill>
                <a:latin typeface="Nirmala UI"/>
              </a:rPr>
              <a:t>•  </a:t>
            </a:r>
            <a:r>
              <a:rPr sz="2000" b="1" i="0">
                <a:solidFill>
                  <a:srgbClr val="000000"/>
                </a:solidFill>
                <a:latin typeface="Nirmala UI"/>
              </a:rPr>
              <a:t>Explain a query that includes `active: </a:t>
            </a:r>
            <a:r>
              <a:rPr sz="2000" b="0" i="0">
                <a:solidFill>
                  <a:srgbClr val="000000"/>
                </a:solidFill>
                <a:latin typeface="Nirmala UI"/>
              </a:rPr>
              <a:t>true`</a:t>
            </a:r>
          </a:p>
          <a:p>
            <a:pPr>
              <a:spcBef>
                <a:spcPts val="0"/>
              </a:spcBef>
              <a:spcAft>
                <a:spcPts val="769"/>
              </a:spcAft>
            </a:pPr>
            <a:r>
              <a:rPr sz="2000" b="0" i="0">
                <a:solidFill>
                  <a:srgbClr val="000000"/>
                </a:solidFill>
                <a:latin typeface="Nirmala UI"/>
              </a:rPr>
              <a:t>•  </a:t>
            </a:r>
            <a:r>
              <a:rPr sz="2000" b="0" i="0">
                <a:solidFill>
                  <a:srgbClr val="000000"/>
                </a:solidFill>
                <a:latin typeface="Nirmala UI"/>
              </a:rPr>
              <a:t>Explain the same category/price query that omits it</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104</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DEMO 6.8 — CREATE A TTL INDEX</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223126"/>
            <a:ext cx="237744" cy="237744"/>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23126"/>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204838"/>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607174"/>
            <a:ext cx="11247120" cy="2210580"/>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Time:</a:t>
            </a:r>
            <a:r>
              <a:rPr sz="2000" b="0" i="0">
                <a:solidFill>
                  <a:srgbClr val="000000"/>
                </a:solidFill>
                <a:latin typeface="Nirmala UI"/>
              </a:rPr>
              <a:t> 10 min</a:t>
            </a:r>
          </a:p>
          <a:p>
            <a:pPr>
              <a:spcBef>
                <a:spcPts val="0"/>
              </a:spcBef>
              <a:spcAft>
                <a:spcPts val="769"/>
              </a:spcAft>
            </a:pPr>
            <a:r>
              <a:rPr sz="2000" b="0" i="0">
                <a:solidFill>
                  <a:srgbClr val="000000"/>
                </a:solidFill>
                <a:latin typeface="Nirmala UI"/>
              </a:rPr>
              <a:t>•  </a:t>
            </a:r>
            <a:r>
              <a:rPr sz="2000" b="0" i="0">
                <a:solidFill>
                  <a:srgbClr val="000000"/>
                </a:solidFill>
                <a:latin typeface="Nirmala UI"/>
              </a:rPr>
              <a:t>Use a dedicated </a:t>
            </a:r>
            <a:r>
              <a:rPr sz="2000" b="0" i="0">
                <a:solidFill>
                  <a:srgbClr val="000000"/>
                </a:solidFill>
                <a:latin typeface="Consolas"/>
              </a:rPr>
              <a:t>sessions</a:t>
            </a:r>
            <a:r>
              <a:rPr sz="2000" b="0" i="0">
                <a:solidFill>
                  <a:srgbClr val="000000"/>
                </a:solidFill>
                <a:latin typeface="Nirmala UI"/>
              </a:rPr>
              <a:t> collection — not a second app dataset</a:t>
            </a:r>
          </a:p>
          <a:p>
            <a:pPr>
              <a:spcBef>
                <a:spcPts val="0"/>
              </a:spcBef>
              <a:spcAft>
                <a:spcPts val="769"/>
              </a:spcAft>
            </a:pPr>
            <a:r>
              <a:rPr sz="2000" b="0" i="0">
                <a:solidFill>
                  <a:srgbClr val="000000"/>
                </a:solidFill>
                <a:latin typeface="Nirmala UI"/>
              </a:rPr>
              <a:t>•  </a:t>
            </a:r>
            <a:r>
              <a:rPr sz="2000" b="0" i="0">
                <a:solidFill>
                  <a:srgbClr val="000000"/>
                </a:solidFill>
                <a:latin typeface="Nirmala UI"/>
              </a:rPr>
              <a:t>Index </a:t>
            </a:r>
            <a:r>
              <a:rPr sz="2000" b="0" i="0">
                <a:solidFill>
                  <a:srgbClr val="000000"/>
                </a:solidFill>
                <a:latin typeface="Consolas"/>
              </a:rPr>
              <a:t>expiresAt</a:t>
            </a:r>
            <a:r>
              <a:rPr sz="2000" b="0" i="0">
                <a:solidFill>
                  <a:srgbClr val="000000"/>
                </a:solidFill>
                <a:latin typeface="Nirmala UI"/>
              </a:rPr>
              <a:t> with expireAfterSeconds 0</a:t>
            </a:r>
          </a:p>
          <a:p>
            <a:pPr>
              <a:spcBef>
                <a:spcPts val="0"/>
              </a:spcBef>
              <a:spcAft>
                <a:spcPts val="769"/>
              </a:spcAft>
            </a:pPr>
            <a:r>
              <a:rPr sz="2000" b="0" i="0">
                <a:solidFill>
                  <a:srgbClr val="000000"/>
                </a:solidFill>
                <a:latin typeface="Nirmala UI"/>
              </a:rPr>
              <a:t>•  </a:t>
            </a:r>
            <a:r>
              <a:rPr sz="2000" b="0" i="0">
                <a:solidFill>
                  <a:srgbClr val="000000"/>
                </a:solidFill>
                <a:latin typeface="Nirmala UI"/>
              </a:rPr>
              <a:t>Insert one future and one past document</a:t>
            </a:r>
          </a:p>
          <a:p>
            <a:pPr>
              <a:spcBef>
                <a:spcPts val="0"/>
              </a:spcBef>
              <a:spcAft>
                <a:spcPts val="769"/>
              </a:spcAft>
            </a:pPr>
            <a:r>
              <a:rPr sz="2000" b="0" i="0">
                <a:solidFill>
                  <a:srgbClr val="000000"/>
                </a:solidFill>
                <a:latin typeface="Nirmala UI"/>
              </a:rPr>
              <a:t>•  </a:t>
            </a:r>
            <a:r>
              <a:rPr sz="2000" b="0" i="0">
                <a:solidFill>
                  <a:srgbClr val="000000"/>
                </a:solidFill>
                <a:latin typeface="Nirmala UI"/>
              </a:rPr>
              <a:t>Explain async cleanup</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105</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6.6 — SELECT SPECIALIZED INDEX TYPES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320818"/>
            <a:ext cx="237744" cy="237744"/>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32081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30253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704866"/>
            <a:ext cx="11247120" cy="2015196"/>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Time:</a:t>
            </a:r>
            <a:r>
              <a:rPr sz="2000" b="0" i="0">
                <a:solidFill>
                  <a:srgbClr val="000000"/>
                </a:solidFill>
                <a:latin typeface="Nirmala UI"/>
              </a:rPr>
              <a:t> 15 min</a:t>
            </a:r>
          </a:p>
          <a:p>
            <a:pPr>
              <a:spcBef>
                <a:spcPts val="0"/>
              </a:spcBef>
              <a:spcAft>
                <a:spcPts val="769"/>
              </a:spcAft>
            </a:pPr>
            <a:r>
              <a:rPr sz="2000" b="0" i="0">
                <a:solidFill>
                  <a:srgbClr val="000000"/>
                </a:solidFill>
                <a:latin typeface="Nirmala UI"/>
              </a:rPr>
              <a:t>•  </a:t>
            </a:r>
            <a:r>
              <a:rPr sz="2000" b="0" i="0">
                <a:solidFill>
                  <a:srgbClr val="000000"/>
                </a:solidFill>
                <a:latin typeface="Nirmala UI"/>
              </a:rPr>
              <a:t>Match eight requirements to unique, partial, sparse, TTL, text, wildcard, geospatial, or hashed.</a:t>
            </a:r>
          </a:p>
          <a:p>
            <a:pPr>
              <a:spcBef>
                <a:spcPts val="0"/>
              </a:spcBef>
              <a:spcAft>
                <a:spcPts val="769"/>
              </a:spcAft>
            </a:pPr>
            <a:r>
              <a:rPr sz="2000" b="0" i="0">
                <a:solidFill>
                  <a:srgbClr val="000000"/>
                </a:solidFill>
                <a:latin typeface="Nirmala UI"/>
              </a:rPr>
              <a:t>•  </a:t>
            </a:r>
            <a:r>
              <a:rPr sz="2000" b="1" i="0">
                <a:solidFill>
                  <a:srgbClr val="000000"/>
                </a:solidFill>
                <a:latin typeface="Nirmala UI"/>
              </a:rPr>
              <a:t>Lab guide:</a:t>
            </a:r>
            <a:r>
              <a:rPr sz="2000" b="0" i="0">
                <a:solidFill>
                  <a:srgbClr val="000000"/>
                </a:solidFill>
                <a:latin typeface="Nirmala UI"/>
              </a:rPr>
              <a:t> </a:t>
            </a:r>
            <a:r>
              <a:rPr sz="2000" b="0" i="0">
                <a:solidFill>
                  <a:srgbClr val="000000"/>
                </a:solidFill>
                <a:latin typeface="Consolas"/>
              </a:rPr>
              <a:t>Exercise 6.6</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106</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6.6 — STEPS 1–2</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399268"/>
            <a:ext cx="237744" cy="237744"/>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9926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38098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Rounded Rectangle 6"/>
          <p:cNvSpPr/>
          <p:nvPr/>
        </p:nvSpPr>
        <p:spPr>
          <a:xfrm>
            <a:off x="457200" y="1783316"/>
            <a:ext cx="11247120" cy="554736"/>
          </a:xfrm>
          <a:prstGeom prst="roundRect">
            <a:avLst>
              <a:gd name="adj" fmla="val 6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783316"/>
            <a:ext cx="11027664" cy="554736"/>
          </a:xfrm>
          <a:prstGeom prst="rect">
            <a:avLst/>
          </a:prstGeom>
          <a:noFill/>
        </p:spPr>
        <p:txBody>
          <a:bodyPr wrap="square" anchor="ctr" lIns="0" rIns="0" tIns="0" bIns="0">
            <a:spAutoFit/>
          </a:bodyPr>
          <a:lstStyle/>
          <a:p>
            <a:r>
              <a:rPr sz="1200" b="1" i="0">
                <a:solidFill>
                  <a:srgbClr val="D1282E"/>
                </a:solidFill>
                <a:latin typeface="Nirmala UI"/>
              </a:rPr>
              <a:t>LAB GUIDE   </a:t>
            </a:r>
            <a:r>
              <a:rPr sz="2000" b="0" i="0">
                <a:solidFill>
                  <a:srgbClr val="000000"/>
                </a:solidFill>
                <a:latin typeface="Consolas"/>
              </a:rPr>
              <a:t>Exercise 6.6</a:t>
            </a:r>
          </a:p>
        </p:txBody>
      </p:sp>
      <p:sp>
        <p:nvSpPr>
          <p:cNvPr id="9" name="TextBox 8"/>
          <p:cNvSpPr txBox="1"/>
          <p:nvPr/>
        </p:nvSpPr>
        <p:spPr>
          <a:xfrm>
            <a:off x="457200" y="2429492"/>
            <a:ext cx="11247120" cy="305503"/>
          </a:xfrm>
          <a:prstGeom prst="rect">
            <a:avLst/>
          </a:prstGeom>
          <a:noFill/>
        </p:spPr>
        <p:txBody>
          <a:bodyPr wrap="square" anchor="t" lIns="0" rIns="0" tIns="0" bIns="0">
            <a:spAutoFit/>
          </a:bodyPr>
          <a:lstStyle/>
          <a:p>
            <a:pPr>
              <a:spcBef>
                <a:spcPts val="0"/>
              </a:spcBef>
              <a:spcAft>
                <a:spcPts val="461"/>
              </a:spcAft>
            </a:pPr>
            <a:r>
              <a:rPr sz="1200" b="1" i="0">
                <a:solidFill>
                  <a:srgbClr val="000000"/>
                </a:solidFill>
                <a:latin typeface="Nirmala UI"/>
              </a:rPr>
              <a:t>Follow along (Windows) — key steps:</a:t>
            </a:r>
          </a:p>
        </p:txBody>
      </p:sp>
      <p:sp>
        <p:nvSpPr>
          <p:cNvPr id="10" name="TextBox 9"/>
          <p:cNvSpPr txBox="1"/>
          <p:nvPr/>
        </p:nvSpPr>
        <p:spPr>
          <a:xfrm>
            <a:off x="457200" y="2826435"/>
            <a:ext cx="11247120" cy="305503"/>
          </a:xfrm>
          <a:prstGeom prst="rect">
            <a:avLst/>
          </a:prstGeom>
          <a:noFill/>
        </p:spPr>
        <p:txBody>
          <a:bodyPr wrap="square" anchor="t" lIns="0" rIns="0" tIns="0" bIns="0">
            <a:spAutoFit/>
          </a:bodyPr>
          <a:lstStyle/>
          <a:p>
            <a:pPr>
              <a:spcBef>
                <a:spcPts val="0"/>
              </a:spcBef>
              <a:spcAft>
                <a:spcPts val="461"/>
              </a:spcAft>
            </a:pPr>
            <a:r>
              <a:rPr sz="1200" b="1" i="0">
                <a:solidFill>
                  <a:srgbClr val="000000"/>
                </a:solidFill>
                <a:latin typeface="Nirmala UI"/>
              </a:rPr>
              <a:t>Step 1 — Match the first four</a:t>
            </a:r>
          </a:p>
        </p:txBody>
      </p:sp>
      <p:sp>
        <p:nvSpPr>
          <p:cNvPr id="11" name="TextBox 10"/>
          <p:cNvSpPr txBox="1"/>
          <p:nvPr/>
        </p:nvSpPr>
        <p:spPr>
          <a:xfrm>
            <a:off x="457200" y="3223378"/>
            <a:ext cx="11247120" cy="766454"/>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  </a:t>
            </a:r>
            <a:r>
              <a:rPr sz="1200" b="1" i="0">
                <a:solidFill>
                  <a:srgbClr val="000000"/>
                </a:solidFill>
                <a:latin typeface="Nirmala UI"/>
              </a:rPr>
              <a:t>Do:</a:t>
            </a:r>
            <a:r>
              <a:rPr sz="1200" b="0" i="0">
                <a:solidFill>
                  <a:srgbClr val="000000"/>
                </a:solidFill>
                <a:latin typeface="Nirmala UI"/>
              </a:rPr>
              <a:t> Match: (1) product SKU must never duplicate, (2) index only active products, (3) optional discountCode present on few documents, (4) delete sessions after expiresAt.</a:t>
            </a:r>
          </a:p>
          <a:p>
            <a:pPr>
              <a:spcBef>
                <a:spcPts val="0"/>
              </a:spcBef>
              <a:spcAft>
                <a:spcPts val="461"/>
              </a:spcAft>
            </a:pPr>
            <a:r>
              <a:rPr sz="1200" b="0" i="0">
                <a:solidFill>
                  <a:srgbClr val="000000"/>
                </a:solidFill>
                <a:latin typeface="Nirmala UI"/>
              </a:rPr>
              <a:t>•  </a:t>
            </a:r>
            <a:r>
              <a:rPr sz="1200" b="1" i="0">
                <a:solidFill>
                  <a:srgbClr val="000000"/>
                </a:solidFill>
                <a:latin typeface="Nirmala UI"/>
              </a:rPr>
              <a:t>Expected:</a:t>
            </a:r>
            <a:r>
              <a:rPr sz="1200" b="0" i="0">
                <a:solidFill>
                  <a:srgbClr val="000000"/>
                </a:solidFill>
                <a:latin typeface="Nirmala UI"/>
              </a:rPr>
              <a:t> 1 unique, 2 partial, 3 sparse (or a partial filter on $exists), 4 TTL.</a:t>
            </a:r>
          </a:p>
        </p:txBody>
      </p:sp>
      <p:sp>
        <p:nvSpPr>
          <p:cNvPr id="12" name="TextBox 11"/>
          <p:cNvSpPr txBox="1"/>
          <p:nvPr/>
        </p:nvSpPr>
        <p:spPr>
          <a:xfrm>
            <a:off x="457200" y="4081272"/>
            <a:ext cx="11247120" cy="305503"/>
          </a:xfrm>
          <a:prstGeom prst="rect">
            <a:avLst/>
          </a:prstGeom>
          <a:noFill/>
        </p:spPr>
        <p:txBody>
          <a:bodyPr wrap="square" anchor="t" lIns="0" rIns="0" tIns="0" bIns="0">
            <a:spAutoFit/>
          </a:bodyPr>
          <a:lstStyle/>
          <a:p>
            <a:pPr>
              <a:spcBef>
                <a:spcPts val="0"/>
              </a:spcBef>
              <a:spcAft>
                <a:spcPts val="461"/>
              </a:spcAft>
            </a:pPr>
            <a:r>
              <a:rPr sz="1200" b="1" i="0">
                <a:solidFill>
                  <a:srgbClr val="000000"/>
                </a:solidFill>
                <a:latin typeface="Nirmala UI"/>
              </a:rPr>
              <a:t>Step 2 — Match the last four</a:t>
            </a:r>
          </a:p>
        </p:txBody>
      </p:sp>
      <p:sp>
        <p:nvSpPr>
          <p:cNvPr id="13" name="TextBox 12"/>
          <p:cNvSpPr txBox="1"/>
          <p:nvPr/>
        </p:nvSpPr>
        <p:spPr>
          <a:xfrm>
            <a:off x="457200" y="4478215"/>
            <a:ext cx="11247120" cy="766454"/>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  </a:t>
            </a:r>
            <a:r>
              <a:rPr sz="1200" b="1" i="0">
                <a:solidFill>
                  <a:srgbClr val="000000"/>
                </a:solidFill>
                <a:latin typeface="Nirmala UI"/>
              </a:rPr>
              <a:t>Do:</a:t>
            </a:r>
            <a:r>
              <a:rPr sz="1200" b="0" i="0">
                <a:solidFill>
                  <a:srgbClr val="000000"/>
                </a:solidFill>
                <a:latin typeface="Nirmala UI"/>
              </a:rPr>
              <a:t> Match: (5) word search on product names, (6) unpredictable attributes.* paths, (7) nearby stores from a GeoJSON point, (8) hashed shard-key distribution on tenantId.</a:t>
            </a:r>
          </a:p>
          <a:p>
            <a:pPr>
              <a:spcBef>
                <a:spcPts val="0"/>
              </a:spcBef>
              <a:spcAft>
                <a:spcPts val="461"/>
              </a:spcAft>
            </a:pPr>
            <a:r>
              <a:rPr sz="1200" b="0" i="0">
                <a:solidFill>
                  <a:srgbClr val="000000"/>
                </a:solidFill>
                <a:latin typeface="Nirmala UI"/>
              </a:rPr>
              <a:t>•  </a:t>
            </a:r>
            <a:r>
              <a:rPr sz="1200" b="1" i="0">
                <a:solidFill>
                  <a:srgbClr val="000000"/>
                </a:solidFill>
                <a:latin typeface="Nirmala UI"/>
              </a:rPr>
              <a:t>Expected:</a:t>
            </a:r>
            <a:r>
              <a:rPr sz="1200" b="0" i="0">
                <a:solidFill>
                  <a:srgbClr val="000000"/>
                </a:solidFill>
                <a:latin typeface="Nirmala UI"/>
              </a:rPr>
              <a:t> 5 text (or an external search product for advanced relevance), 6 wildcard, 7 geospatial 2dsphere, 8 hashed.</a:t>
            </a:r>
          </a:p>
        </p:txBody>
      </p:sp>
      <p:sp>
        <p:nvSpPr>
          <p:cNvPr id="14" name="TextBox 13"/>
          <p:cNvSpPr txBox="1"/>
          <p:nvPr/>
        </p:nvSpPr>
        <p:spPr>
          <a:xfrm>
            <a:off x="457200" y="5336109"/>
            <a:ext cx="11247120" cy="305503"/>
          </a:xfrm>
          <a:prstGeom prst="rect">
            <a:avLst/>
          </a:prstGeom>
          <a:noFill/>
        </p:spPr>
        <p:txBody>
          <a:bodyPr wrap="square" anchor="t" lIns="0" rIns="0" tIns="0" bIns="0">
            <a:spAutoFit/>
          </a:bodyPr>
          <a:lstStyle/>
          <a:p>
            <a:pPr>
              <a:spcBef>
                <a:spcPts val="0"/>
              </a:spcBef>
              <a:spcAft>
                <a:spcPts val="461"/>
              </a:spcAft>
            </a:pPr>
            <a:r>
              <a:rPr sz="1200" b="1" i="0">
                <a:solidFill>
                  <a:srgbClr val="000000"/>
                </a:solidFill>
                <a:latin typeface="Nirmala UI"/>
              </a:rPr>
              <a:t>_Full lab guide with every command: </a:t>
            </a:r>
            <a:r>
              <a:rPr sz="1200" b="0" i="0">
                <a:solidFill>
                  <a:srgbClr val="000000"/>
                </a:solidFill>
                <a:latin typeface="Nirmala UI"/>
              </a:rPr>
              <a:t>see </a:t>
            </a:r>
            <a:r>
              <a:rPr sz="1200" b="1" i="0">
                <a:solidFill>
                  <a:srgbClr val="000000"/>
                </a:solidFill>
                <a:latin typeface="Nirmala UI"/>
              </a:rPr>
              <a:t>Lab guide</a:t>
            </a:r>
            <a:r>
              <a:rPr sz="1200" b="0" i="0">
                <a:solidFill>
                  <a:srgbClr val="000000"/>
                </a:solidFill>
                <a:latin typeface="Nirmala UI"/>
              </a:rPr>
              <a:t> on the lesson divider slide._</a:t>
            </a:r>
          </a:p>
        </p:txBody>
      </p:sp>
      <p:sp>
        <p:nvSpPr>
          <p:cNvPr id="15" name="Rectangle 1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107</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DEMO 6.9 — IDENTIFY A COVERED QUERY</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439612"/>
            <a:ext cx="237744" cy="237744"/>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39612"/>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421324"/>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823660"/>
            <a:ext cx="11247120" cy="1777608"/>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Time:</a:t>
            </a:r>
            <a:r>
              <a:rPr sz="2000" b="0" i="0">
                <a:solidFill>
                  <a:srgbClr val="000000"/>
                </a:solidFill>
                <a:latin typeface="Nirmala UI"/>
              </a:rPr>
              <a:t> 15 min</a:t>
            </a:r>
          </a:p>
          <a:p>
            <a:pPr>
              <a:spcBef>
                <a:spcPts val="0"/>
              </a:spcBef>
              <a:spcAft>
                <a:spcPts val="769"/>
              </a:spcAft>
            </a:pPr>
            <a:r>
              <a:rPr sz="2000" b="0" i="0">
                <a:solidFill>
                  <a:srgbClr val="000000"/>
                </a:solidFill>
                <a:latin typeface="Nirmala UI"/>
              </a:rPr>
              <a:t>•  </a:t>
            </a:r>
            <a:r>
              <a:rPr sz="2000" b="0" i="0">
                <a:solidFill>
                  <a:srgbClr val="000000"/>
                </a:solidFill>
                <a:latin typeface="Nirmala UI"/>
              </a:rPr>
              <a:t>Create </a:t>
            </a:r>
            <a:r>
              <a:rPr sz="2000" b="0" i="0">
                <a:solidFill>
                  <a:srgbClr val="000000"/>
                </a:solidFill>
                <a:latin typeface="Consolas"/>
              </a:rPr>
              <a:t>idx_products_category_price_name</a:t>
            </a:r>
          </a:p>
          <a:p>
            <a:pPr>
              <a:spcBef>
                <a:spcPts val="0"/>
              </a:spcBef>
              <a:spcAft>
                <a:spcPts val="769"/>
              </a:spcAft>
            </a:pPr>
            <a:r>
              <a:rPr sz="2000" b="0" i="0">
                <a:solidFill>
                  <a:srgbClr val="000000"/>
                </a:solidFill>
                <a:latin typeface="Nirmala UI"/>
              </a:rPr>
              <a:t>•  </a:t>
            </a:r>
            <a:r>
              <a:rPr sz="2000" b="1" i="0">
                <a:solidFill>
                  <a:srgbClr val="000000"/>
                </a:solidFill>
                <a:latin typeface="Nirmala UI"/>
              </a:rPr>
              <a:t>Query BOOK with `_id: </a:t>
            </a:r>
            <a:r>
              <a:rPr sz="2000" b="0" i="0">
                <a:solidFill>
                  <a:srgbClr val="000000"/>
                </a:solidFill>
                <a:latin typeface="Nirmala UI"/>
              </a:rPr>
              <a:t>0`, name, price</a:t>
            </a:r>
          </a:p>
          <a:p>
            <a:pPr>
              <a:spcBef>
                <a:spcPts val="0"/>
              </a:spcBef>
              <a:spcAft>
                <a:spcPts val="769"/>
              </a:spcAft>
            </a:pPr>
            <a:r>
              <a:rPr sz="2000" b="0" i="0">
                <a:solidFill>
                  <a:srgbClr val="000000"/>
                </a:solidFill>
                <a:latin typeface="Nirmala UI"/>
              </a:rPr>
              <a:t>•  </a:t>
            </a:r>
            <a:r>
              <a:rPr sz="2000" b="0" i="0">
                <a:solidFill>
                  <a:srgbClr val="000000"/>
                </a:solidFill>
                <a:latin typeface="Nirmala UI"/>
              </a:rPr>
              <a:t>Inspect whether FETCH is absent</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108</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DEMO 6.10 — EVALUATE INDEXES WITH EXPLAIN()</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439612"/>
            <a:ext cx="237744" cy="237744"/>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39612"/>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421324"/>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823660"/>
            <a:ext cx="11247120" cy="1777608"/>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Time:</a:t>
            </a:r>
            <a:r>
              <a:rPr sz="2000" b="0" i="0">
                <a:solidFill>
                  <a:srgbClr val="000000"/>
                </a:solidFill>
                <a:latin typeface="Nirmala UI"/>
              </a:rPr>
              <a:t> 20 min</a:t>
            </a:r>
          </a:p>
          <a:p>
            <a:pPr>
              <a:spcBef>
                <a:spcPts val="0"/>
              </a:spcBef>
              <a:spcAft>
                <a:spcPts val="769"/>
              </a:spcAft>
            </a:pPr>
            <a:r>
              <a:rPr sz="2000" b="0" i="0">
                <a:solidFill>
                  <a:srgbClr val="000000"/>
                </a:solidFill>
                <a:latin typeface="Nirmala UI"/>
              </a:rPr>
              <a:t>•  </a:t>
            </a:r>
            <a:r>
              <a:rPr sz="2000" b="0" i="0">
                <a:solidFill>
                  <a:srgbClr val="000000"/>
                </a:solidFill>
                <a:latin typeface="Nirmala UI"/>
              </a:rPr>
              <a:t>Walk winning plan, index name, nReturned, keys, docs</a:t>
            </a:r>
          </a:p>
          <a:p>
            <a:pPr>
              <a:spcBef>
                <a:spcPts val="0"/>
              </a:spcBef>
              <a:spcAft>
                <a:spcPts val="769"/>
              </a:spcAft>
            </a:pPr>
            <a:r>
              <a:rPr sz="2000" b="0" i="0">
                <a:solidFill>
                  <a:srgbClr val="000000"/>
                </a:solidFill>
                <a:latin typeface="Nirmala UI"/>
              </a:rPr>
              <a:t>•  </a:t>
            </a:r>
            <a:r>
              <a:rPr sz="2000" b="0" i="0">
                <a:solidFill>
                  <a:srgbClr val="000000"/>
                </a:solidFill>
                <a:latin typeface="Nirmala UI"/>
              </a:rPr>
              <a:t>Find SORT if present</a:t>
            </a:r>
          </a:p>
          <a:p>
            <a:pPr>
              <a:spcBef>
                <a:spcPts val="0"/>
              </a:spcBef>
              <a:spcAft>
                <a:spcPts val="769"/>
              </a:spcAft>
            </a:pPr>
            <a:r>
              <a:rPr sz="2000" b="0" i="0">
                <a:solidFill>
                  <a:srgbClr val="000000"/>
                </a:solidFill>
                <a:latin typeface="Nirmala UI"/>
              </a:rPr>
              <a:t>•  </a:t>
            </a:r>
            <a:r>
              <a:rPr sz="2000" b="0" i="0">
                <a:solidFill>
                  <a:srgbClr val="000000"/>
                </a:solidFill>
                <a:latin typeface="Nirmala UI"/>
              </a:rPr>
              <a:t>Glance at rejected plans</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109</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6.7 — INTERPRET EXPLAIN OUTPUT</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488458"/>
            <a:ext cx="237744" cy="237744"/>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8845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47017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872506"/>
            <a:ext cx="11247120" cy="1679916"/>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Time:</a:t>
            </a:r>
            <a:r>
              <a:rPr sz="2000" b="0" i="0">
                <a:solidFill>
                  <a:srgbClr val="000000"/>
                </a:solidFill>
                <a:latin typeface="Nirmala UI"/>
              </a:rPr>
              <a:t> 20 min</a:t>
            </a:r>
          </a:p>
          <a:p>
            <a:pPr>
              <a:spcBef>
                <a:spcPts val="0"/>
              </a:spcBef>
              <a:spcAft>
                <a:spcPts val="769"/>
              </a:spcAft>
            </a:pPr>
            <a:r>
              <a:rPr sz="2000" b="0" i="0">
                <a:solidFill>
                  <a:srgbClr val="000000"/>
                </a:solidFill>
                <a:latin typeface="Nirmala UI"/>
              </a:rPr>
              <a:t>•  </a:t>
            </a:r>
            <a:r>
              <a:rPr sz="2000" b="0" i="0">
                <a:solidFill>
                  <a:srgbClr val="000000"/>
                </a:solidFill>
                <a:latin typeface="Nirmala UI"/>
              </a:rPr>
              <a:t>Identify COLLSCAN vs IXSCAN, examined counts, extra sort, and poor selectivity.</a:t>
            </a:r>
          </a:p>
          <a:p>
            <a:pPr>
              <a:spcBef>
                <a:spcPts val="0"/>
              </a:spcBef>
              <a:spcAft>
                <a:spcPts val="769"/>
              </a:spcAft>
            </a:pPr>
            <a:r>
              <a:rPr sz="2000" b="0" i="0">
                <a:solidFill>
                  <a:srgbClr val="000000"/>
                </a:solidFill>
                <a:latin typeface="Nirmala UI"/>
              </a:rPr>
              <a:t>•  </a:t>
            </a:r>
            <a:r>
              <a:rPr sz="2000" b="1" i="0">
                <a:solidFill>
                  <a:srgbClr val="000000"/>
                </a:solidFill>
                <a:latin typeface="Nirmala UI"/>
              </a:rPr>
              <a:t>Lab guide:</a:t>
            </a:r>
            <a:r>
              <a:rPr sz="2000" b="0" i="0">
                <a:solidFill>
                  <a:srgbClr val="000000"/>
                </a:solidFill>
                <a:latin typeface="Nirmala UI"/>
              </a:rPr>
              <a:t> </a:t>
            </a:r>
            <a:r>
              <a:rPr sz="2000" b="0" i="0">
                <a:solidFill>
                  <a:srgbClr val="000000"/>
                </a:solidFill>
                <a:latin typeface="Consolas"/>
              </a:rPr>
              <a:t>Exercise 6.7</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110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6.7 — STEPS 1–2</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370489"/>
            <a:ext cx="237744" cy="237744"/>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0489"/>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352201"/>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Rounded Rectangle 6"/>
          <p:cNvSpPr/>
          <p:nvPr/>
        </p:nvSpPr>
        <p:spPr>
          <a:xfrm>
            <a:off x="457200" y="1754537"/>
            <a:ext cx="11247120" cy="554736"/>
          </a:xfrm>
          <a:prstGeom prst="roundRect">
            <a:avLst>
              <a:gd name="adj" fmla="val 6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754537"/>
            <a:ext cx="11027664" cy="554736"/>
          </a:xfrm>
          <a:prstGeom prst="rect">
            <a:avLst/>
          </a:prstGeom>
          <a:noFill/>
        </p:spPr>
        <p:txBody>
          <a:bodyPr wrap="square" anchor="ctr" lIns="0" rIns="0" tIns="0" bIns="0">
            <a:spAutoFit/>
          </a:bodyPr>
          <a:lstStyle/>
          <a:p>
            <a:r>
              <a:rPr sz="1200" b="1" i="0">
                <a:solidFill>
                  <a:srgbClr val="D1282E"/>
                </a:solidFill>
                <a:latin typeface="Nirmala UI"/>
              </a:rPr>
              <a:t>LAB GUIDE   </a:t>
            </a:r>
            <a:r>
              <a:rPr sz="2000" b="0" i="0">
                <a:solidFill>
                  <a:srgbClr val="000000"/>
                </a:solidFill>
                <a:latin typeface="Consolas"/>
              </a:rPr>
              <a:t>Exercise 6.7</a:t>
            </a:r>
          </a:p>
        </p:txBody>
      </p:sp>
      <p:sp>
        <p:nvSpPr>
          <p:cNvPr id="9" name="TextBox 8"/>
          <p:cNvSpPr txBox="1"/>
          <p:nvPr/>
        </p:nvSpPr>
        <p:spPr>
          <a:xfrm>
            <a:off x="457200" y="2400713"/>
            <a:ext cx="11247120" cy="240557"/>
          </a:xfrm>
          <a:prstGeom prst="rect">
            <a:avLst/>
          </a:prstGeom>
          <a:noFill/>
        </p:spPr>
        <p:txBody>
          <a:bodyPr wrap="square" anchor="t" lIns="0" rIns="0" tIns="0" bIns="0">
            <a:spAutoFit/>
          </a:bodyPr>
          <a:lstStyle/>
          <a:p>
            <a:pPr>
              <a:spcBef>
                <a:spcPts val="0"/>
              </a:spcBef>
              <a:spcAft>
                <a:spcPts val="346"/>
              </a:spcAft>
            </a:pPr>
            <a:r>
              <a:rPr sz="900" b="1" i="0">
                <a:solidFill>
                  <a:srgbClr val="000000"/>
                </a:solidFill>
                <a:latin typeface="Nirmala UI"/>
              </a:rPr>
              <a:t>Follow along (Windows) — key steps:</a:t>
            </a:r>
          </a:p>
        </p:txBody>
      </p:sp>
      <p:sp>
        <p:nvSpPr>
          <p:cNvPr id="10" name="TextBox 9"/>
          <p:cNvSpPr txBox="1"/>
          <p:nvPr/>
        </p:nvSpPr>
        <p:spPr>
          <a:xfrm>
            <a:off x="457200" y="2732710"/>
            <a:ext cx="11247120" cy="240557"/>
          </a:xfrm>
          <a:prstGeom prst="rect">
            <a:avLst/>
          </a:prstGeom>
          <a:noFill/>
        </p:spPr>
        <p:txBody>
          <a:bodyPr wrap="square" anchor="t" lIns="0" rIns="0" tIns="0" bIns="0">
            <a:spAutoFit/>
          </a:bodyPr>
          <a:lstStyle/>
          <a:p>
            <a:pPr>
              <a:spcBef>
                <a:spcPts val="0"/>
              </a:spcBef>
              <a:spcAft>
                <a:spcPts val="346"/>
              </a:spcAft>
            </a:pPr>
            <a:r>
              <a:rPr sz="900" b="1" i="0">
                <a:solidFill>
                  <a:srgbClr val="000000"/>
                </a:solidFill>
                <a:latin typeface="Nirmala UI"/>
              </a:rPr>
              <a:t>Step 1 — Label the sample plan</a:t>
            </a:r>
          </a:p>
        </p:txBody>
      </p:sp>
      <p:sp>
        <p:nvSpPr>
          <p:cNvPr id="11" name="TextBox 10"/>
          <p:cNvSpPr txBox="1"/>
          <p:nvPr/>
        </p:nvSpPr>
        <p:spPr>
          <a:xfrm>
            <a:off x="457200" y="3064707"/>
            <a:ext cx="11247120" cy="586270"/>
          </a:xfrm>
          <a:prstGeom prst="rect">
            <a:avLst/>
          </a:prstGeom>
          <a:noFill/>
        </p:spPr>
        <p:txBody>
          <a:bodyPr wrap="square" anchor="t" lIns="0" rIns="0" tIns="0" bIns="0">
            <a:spAutoFit/>
          </a:bodyPr>
          <a:lstStyle/>
          <a:p>
            <a:pPr>
              <a:spcBef>
                <a:spcPts val="0"/>
              </a:spcBef>
              <a:spcAft>
                <a:spcPts val="346"/>
              </a:spcAft>
            </a:pPr>
            <a:r>
              <a:rPr sz="900" b="0" i="0">
                <a:solidFill>
                  <a:srgbClr val="000000"/>
                </a:solidFill>
                <a:latin typeface="Nirmala UI"/>
              </a:rPr>
              <a:t>•  </a:t>
            </a:r>
            <a:r>
              <a:rPr sz="900" b="1" i="0">
                <a:solidFill>
                  <a:srgbClr val="000000"/>
                </a:solidFill>
                <a:latin typeface="Nirmala UI"/>
              </a:rPr>
              <a:t>Do:</a:t>
            </a:r>
            <a:r>
              <a:rPr sz="900" b="0" i="0">
                <a:solidFill>
                  <a:srgbClr val="000000"/>
                </a:solidFill>
                <a:latin typeface="Nirmala UI"/>
              </a:rPr>
              <a:t> Using this training-style output, name the winning stage path, the index, and whether a FETCH occurred: text winningPlan.stage: FETCH winningPlan.inputStage.stage: IXSCAN winningPlan.inputStage.indexName: idx_products</a:t>
            </a:r>
          </a:p>
          <a:p>
            <a:pPr>
              <a:spcBef>
                <a:spcPts val="0"/>
              </a:spcBef>
              <a:spcAft>
                <a:spcPts val="346"/>
              </a:spcAft>
            </a:pPr>
            <a:r>
              <a:rPr sz="900" b="0" i="0">
                <a:solidFill>
                  <a:srgbClr val="000000"/>
                </a:solidFill>
                <a:latin typeface="Nirmala UI"/>
              </a:rPr>
              <a:t>•  </a:t>
            </a:r>
            <a:r>
              <a:rPr sz="900" b="1" i="0">
                <a:solidFill>
                  <a:srgbClr val="000000"/>
                </a:solidFill>
                <a:latin typeface="Nirmala UI"/>
              </a:rPr>
              <a:t>Expected:</a:t>
            </a:r>
            <a:r>
              <a:rPr sz="900" b="0" i="0">
                <a:solidFill>
                  <a:srgbClr val="000000"/>
                </a:solidFill>
                <a:latin typeface="Nirmala UI"/>
              </a:rPr>
              <a:t> IXSCAN on idx</a:t>
            </a:r>
            <a:r>
              <a:rPr sz="900" b="0" i="1">
                <a:solidFill>
                  <a:srgbClr val="000000"/>
                </a:solidFill>
                <a:latin typeface="Nirmala UI"/>
              </a:rPr>
              <a:t>products</a:t>
            </a:r>
            <a:r>
              <a:rPr sz="900" b="0" i="0">
                <a:solidFill>
                  <a:srgbClr val="000000"/>
                </a:solidFill>
                <a:latin typeface="Nirmala UI"/>
              </a:rPr>
              <a:t>category, then FETCH. Four keys, four docs, four returned — targeted for this dataset.</a:t>
            </a:r>
          </a:p>
        </p:txBody>
      </p:sp>
      <p:sp>
        <p:nvSpPr>
          <p:cNvPr id="12" name="TextBox 11"/>
          <p:cNvSpPr txBox="1"/>
          <p:nvPr/>
        </p:nvSpPr>
        <p:spPr>
          <a:xfrm>
            <a:off x="457200" y="3742417"/>
            <a:ext cx="11247120" cy="240557"/>
          </a:xfrm>
          <a:prstGeom prst="rect">
            <a:avLst/>
          </a:prstGeom>
          <a:noFill/>
        </p:spPr>
        <p:txBody>
          <a:bodyPr wrap="square" anchor="t" lIns="0" rIns="0" tIns="0" bIns="0">
            <a:spAutoFit/>
          </a:bodyPr>
          <a:lstStyle/>
          <a:p>
            <a:pPr>
              <a:spcBef>
                <a:spcPts val="0"/>
              </a:spcBef>
              <a:spcAft>
                <a:spcPts val="346"/>
              </a:spcAft>
            </a:pPr>
            <a:r>
              <a:rPr sz="900" b="1" i="0">
                <a:solidFill>
                  <a:srgbClr val="000000"/>
                </a:solidFill>
                <a:latin typeface="Nirmala UI"/>
              </a:rPr>
              <a:t>Step 2 — Contrast a bad ratio</a:t>
            </a:r>
          </a:p>
        </p:txBody>
      </p:sp>
      <p:sp>
        <p:nvSpPr>
          <p:cNvPr id="13" name="TextBox 12"/>
          <p:cNvSpPr txBox="1"/>
          <p:nvPr/>
        </p:nvSpPr>
        <p:spPr>
          <a:xfrm>
            <a:off x="457200" y="4074414"/>
            <a:ext cx="11247120" cy="586270"/>
          </a:xfrm>
          <a:prstGeom prst="rect">
            <a:avLst/>
          </a:prstGeom>
          <a:noFill/>
        </p:spPr>
        <p:txBody>
          <a:bodyPr wrap="square" anchor="t" lIns="0" rIns="0" tIns="0" bIns="0">
            <a:spAutoFit/>
          </a:bodyPr>
          <a:lstStyle/>
          <a:p>
            <a:pPr>
              <a:spcBef>
                <a:spcPts val="0"/>
              </a:spcBef>
              <a:spcAft>
                <a:spcPts val="346"/>
              </a:spcAft>
            </a:pPr>
            <a:r>
              <a:rPr sz="900" b="0" i="0">
                <a:solidFill>
                  <a:srgbClr val="000000"/>
                </a:solidFill>
                <a:latin typeface="Nirmala UI"/>
              </a:rPr>
              <a:t>•  </a:t>
            </a:r>
            <a:r>
              <a:rPr sz="900" b="1" i="0">
                <a:solidFill>
                  <a:srgbClr val="000000"/>
                </a:solidFill>
                <a:latin typeface="Nirmala UI"/>
              </a:rPr>
              <a:t>Do:</a:t>
            </a:r>
            <a:r>
              <a:rPr sz="900" b="0" i="0">
                <a:solidFill>
                  <a:srgbClr val="000000"/>
                </a:solidFill>
                <a:latin typeface="Nirmala UI"/>
              </a:rPr>
              <a:t> If another query showed COLLSCAN, totalDocsExamined 12, nReturned 1, write what you would try next. If it showed IXSCAN with keys examined 50,000 and nReturned 10, why is IXSCAN not enough?</a:t>
            </a:r>
          </a:p>
          <a:p>
            <a:pPr>
              <a:spcBef>
                <a:spcPts val="0"/>
              </a:spcBef>
              <a:spcAft>
                <a:spcPts val="346"/>
              </a:spcAft>
            </a:pPr>
            <a:r>
              <a:rPr sz="900" b="0" i="0">
                <a:solidFill>
                  <a:srgbClr val="000000"/>
                </a:solidFill>
                <a:latin typeface="Nirmala UI"/>
              </a:rPr>
              <a:t>•  </a:t>
            </a:r>
            <a:r>
              <a:rPr sz="900" b="1" i="0">
                <a:solidFill>
                  <a:srgbClr val="000000"/>
                </a:solidFill>
                <a:latin typeface="Nirmala UI"/>
              </a:rPr>
              <a:t>Expected:</a:t>
            </a:r>
            <a:r>
              <a:rPr sz="900" b="0" i="0">
                <a:solidFill>
                  <a:srgbClr val="000000"/>
                </a:solidFill>
                <a:latin typeface="Nirmala UI"/>
              </a:rPr>
              <a:t> COLLSCAN: add an index on the filter/sort shape. High-key IXSCAN: the index is used but not selective (wrong order, low-selectivity leading field, or a wide ran</a:t>
            </a:r>
          </a:p>
        </p:txBody>
      </p:sp>
      <p:sp>
        <p:nvSpPr>
          <p:cNvPr id="14" name="TextBox 13"/>
          <p:cNvSpPr txBox="1"/>
          <p:nvPr/>
        </p:nvSpPr>
        <p:spPr>
          <a:xfrm>
            <a:off x="457200" y="4752124"/>
            <a:ext cx="11247120" cy="240557"/>
          </a:xfrm>
          <a:prstGeom prst="rect">
            <a:avLst/>
          </a:prstGeom>
          <a:noFill/>
        </p:spPr>
        <p:txBody>
          <a:bodyPr wrap="square" anchor="t" lIns="0" rIns="0" tIns="0" bIns="0">
            <a:spAutoFit/>
          </a:bodyPr>
          <a:lstStyle/>
          <a:p>
            <a:pPr>
              <a:spcBef>
                <a:spcPts val="0"/>
              </a:spcBef>
              <a:spcAft>
                <a:spcPts val="346"/>
              </a:spcAft>
            </a:pPr>
            <a:r>
              <a:rPr sz="900" b="1" i="0">
                <a:solidFill>
                  <a:srgbClr val="000000"/>
                </a:solidFill>
                <a:latin typeface="Nirmala UI"/>
              </a:rPr>
              <a:t>_Full lab guide with every command: </a:t>
            </a:r>
            <a:r>
              <a:rPr sz="900" b="0" i="0">
                <a:solidFill>
                  <a:srgbClr val="000000"/>
                </a:solidFill>
                <a:latin typeface="Nirmala UI"/>
              </a:rPr>
              <a:t>see </a:t>
            </a:r>
            <a:r>
              <a:rPr sz="900" b="1" i="0">
                <a:solidFill>
                  <a:srgbClr val="000000"/>
                </a:solidFill>
                <a:latin typeface="Nirmala UI"/>
              </a:rPr>
              <a:t>Lab guide</a:t>
            </a:r>
            <a:r>
              <a:rPr sz="900" b="0" i="0">
                <a:solidFill>
                  <a:srgbClr val="000000"/>
                </a:solidFill>
                <a:latin typeface="Nirmala UI"/>
              </a:rPr>
              <a:t> on the lesson divider slide._</a:t>
            </a:r>
          </a:p>
        </p:txBody>
      </p:sp>
      <p:sp>
        <p:nvSpPr>
          <p:cNvPr id="15" name="TextBox 14"/>
          <p:cNvSpPr txBox="1"/>
          <p:nvPr/>
        </p:nvSpPr>
        <p:spPr>
          <a:xfrm>
            <a:off x="457200" y="5084121"/>
            <a:ext cx="11247120" cy="586270"/>
          </a:xfrm>
          <a:prstGeom prst="rect">
            <a:avLst/>
          </a:prstGeom>
          <a:noFill/>
        </p:spPr>
        <p:txBody>
          <a:bodyPr wrap="square" anchor="t" lIns="0" rIns="0" tIns="0" bIns="0">
            <a:spAutoFit/>
          </a:bodyPr>
          <a:lstStyle/>
          <a:p>
            <a:pPr>
              <a:spcBef>
                <a:spcPts val="0"/>
              </a:spcBef>
              <a:spcAft>
                <a:spcPts val="346"/>
              </a:spcAft>
            </a:pPr>
            <a:r>
              <a:rPr sz="900" b="0" i="0">
                <a:solidFill>
                  <a:srgbClr val="000000"/>
                </a:solidFill>
                <a:latin typeface="Nirmala UI"/>
              </a:rPr>
              <a:t>•  </a:t>
            </a:r>
            <a:r>
              <a:rPr sz="900" b="1" i="0">
                <a:solidFill>
                  <a:srgbClr val="000000"/>
                </a:solidFill>
                <a:latin typeface="Nirmala UI"/>
              </a:rPr>
              <a:t>Do:</a:t>
            </a:r>
            <a:r>
              <a:rPr sz="900" b="0" i="0">
                <a:solidFill>
                  <a:srgbClr val="000000"/>
                </a:solidFill>
                <a:latin typeface="Nirmala UI"/>
              </a:rPr>
              <a:t> Using this training-style output, name the winning stage path, the index, and whether a FETCH occurred: ```text winningPlan.stage: FETCH winningPlan.inputStage.stage: IXSCAN winningPlan.inputStage.indexName: idx_products</a:t>
            </a:r>
          </a:p>
          <a:p>
            <a:pPr>
              <a:spcBef>
                <a:spcPts val="0"/>
              </a:spcBef>
              <a:spcAft>
                <a:spcPts val="346"/>
              </a:spcAft>
            </a:pPr>
            <a:r>
              <a:rPr sz="900" b="0" i="0">
                <a:solidFill>
                  <a:srgbClr val="000000"/>
                </a:solidFill>
                <a:latin typeface="Nirmala UI"/>
              </a:rPr>
              <a:t>•  </a:t>
            </a:r>
            <a:r>
              <a:rPr sz="900" b="1" i="0">
                <a:solidFill>
                  <a:srgbClr val="000000"/>
                </a:solidFill>
                <a:latin typeface="Nirmala UI"/>
              </a:rPr>
              <a:t>Expected:</a:t>
            </a:r>
            <a:r>
              <a:rPr sz="900" b="0" i="0">
                <a:solidFill>
                  <a:srgbClr val="000000"/>
                </a:solidFill>
                <a:latin typeface="Nirmala UI"/>
              </a:rPr>
              <a:t> IXSCAN on idx</a:t>
            </a:r>
            <a:r>
              <a:rPr sz="900" b="0" i="1">
                <a:solidFill>
                  <a:srgbClr val="000000"/>
                </a:solidFill>
                <a:latin typeface="Nirmala UI"/>
              </a:rPr>
              <a:t>products</a:t>
            </a:r>
            <a:r>
              <a:rPr sz="900" b="0" i="0">
                <a:solidFill>
                  <a:srgbClr val="000000"/>
                </a:solidFill>
                <a:latin typeface="Nirmala UI"/>
              </a:rPr>
              <a:t>category, then FETCH. Four keys, four docs, four returned — targeted for this dataset.</a:t>
            </a:r>
          </a:p>
        </p:txBody>
      </p:sp>
      <p:sp>
        <p:nvSpPr>
          <p:cNvPr id="16" name="Rectangle 1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111</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6.8 — IDENTIFY COVERED QUERIES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320818"/>
            <a:ext cx="237744" cy="237744"/>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32081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30253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704866"/>
            <a:ext cx="11247120" cy="2015196"/>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Time:</a:t>
            </a:r>
            <a:r>
              <a:rPr sz="2000" b="0" i="0">
                <a:solidFill>
                  <a:srgbClr val="000000"/>
                </a:solidFill>
                <a:latin typeface="Nirmala UI"/>
              </a:rPr>
              <a:t> 15 min</a:t>
            </a:r>
          </a:p>
          <a:p>
            <a:pPr>
              <a:spcBef>
                <a:spcPts val="0"/>
              </a:spcBef>
              <a:spcAft>
                <a:spcPts val="769"/>
              </a:spcAft>
            </a:pPr>
            <a:r>
              <a:rPr sz="2000" b="0" i="0">
                <a:solidFill>
                  <a:srgbClr val="000000"/>
                </a:solidFill>
                <a:latin typeface="Nirmala UI"/>
              </a:rPr>
              <a:t>•  </a:t>
            </a:r>
            <a:r>
              <a:rPr sz="2000" b="0" i="0">
                <a:solidFill>
                  <a:srgbClr val="000000"/>
                </a:solidFill>
                <a:latin typeface="Nirmala UI"/>
              </a:rPr>
              <a:t>Decide which query/projection pairs may be covered by </a:t>
            </a:r>
            <a:r>
              <a:rPr sz="2000" b="0" i="0">
                <a:solidFill>
                  <a:srgbClr val="000000"/>
                </a:solidFill>
                <a:latin typeface="Consolas"/>
              </a:rPr>
              <a:t>{ category: 1, price: 1, name: 1 }</a:t>
            </a:r>
            <a:r>
              <a:rPr sz="2000" b="0" i="0">
                <a:solidFill>
                  <a:srgbClr val="000000"/>
                </a:solidFill>
                <a:latin typeface="Nirmala UI"/>
              </a:rPr>
              <a:t>.</a:t>
            </a:r>
          </a:p>
          <a:p>
            <a:pPr>
              <a:spcBef>
                <a:spcPts val="0"/>
              </a:spcBef>
              <a:spcAft>
                <a:spcPts val="769"/>
              </a:spcAft>
            </a:pPr>
            <a:r>
              <a:rPr sz="2000" b="0" i="0">
                <a:solidFill>
                  <a:srgbClr val="000000"/>
                </a:solidFill>
                <a:latin typeface="Nirmala UI"/>
              </a:rPr>
              <a:t>•  </a:t>
            </a:r>
            <a:r>
              <a:rPr sz="2000" b="1" i="0">
                <a:solidFill>
                  <a:srgbClr val="000000"/>
                </a:solidFill>
                <a:latin typeface="Nirmala UI"/>
              </a:rPr>
              <a:t>Lab guide:</a:t>
            </a:r>
            <a:r>
              <a:rPr sz="2000" b="0" i="0">
                <a:solidFill>
                  <a:srgbClr val="000000"/>
                </a:solidFill>
                <a:latin typeface="Nirmala UI"/>
              </a:rPr>
              <a:t> </a:t>
            </a:r>
            <a:r>
              <a:rPr sz="2000" b="0" i="0">
                <a:solidFill>
                  <a:srgbClr val="000000"/>
                </a:solidFill>
                <a:latin typeface="Consolas"/>
              </a:rPr>
              <a:t>Exercise 6.8</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112</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6.8 — STEPS 1–2</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410426"/>
            <a:ext cx="237744" cy="237744"/>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10426"/>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392138"/>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Rounded Rectangle 6"/>
          <p:cNvSpPr/>
          <p:nvPr/>
        </p:nvSpPr>
        <p:spPr>
          <a:xfrm>
            <a:off x="457200" y="1794474"/>
            <a:ext cx="11247120" cy="554736"/>
          </a:xfrm>
          <a:prstGeom prst="roundRect">
            <a:avLst>
              <a:gd name="adj" fmla="val 6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794474"/>
            <a:ext cx="11027664" cy="554736"/>
          </a:xfrm>
          <a:prstGeom prst="rect">
            <a:avLst/>
          </a:prstGeom>
          <a:noFill/>
        </p:spPr>
        <p:txBody>
          <a:bodyPr wrap="square" anchor="ctr" lIns="0" rIns="0" tIns="0" bIns="0">
            <a:spAutoFit/>
          </a:bodyPr>
          <a:lstStyle/>
          <a:p>
            <a:r>
              <a:rPr sz="1200" b="1" i="0">
                <a:solidFill>
                  <a:srgbClr val="D1282E"/>
                </a:solidFill>
                <a:latin typeface="Nirmala UI"/>
              </a:rPr>
              <a:t>LAB GUIDE   </a:t>
            </a:r>
            <a:r>
              <a:rPr sz="2000" b="0" i="0">
                <a:solidFill>
                  <a:srgbClr val="000000"/>
                </a:solidFill>
                <a:latin typeface="Consolas"/>
              </a:rPr>
              <a:t>Exercise 6.8</a:t>
            </a:r>
          </a:p>
        </p:txBody>
      </p:sp>
      <p:sp>
        <p:nvSpPr>
          <p:cNvPr id="9" name="TextBox 8"/>
          <p:cNvSpPr txBox="1"/>
          <p:nvPr/>
        </p:nvSpPr>
        <p:spPr>
          <a:xfrm>
            <a:off x="457200" y="2440650"/>
            <a:ext cx="11247120" cy="283854"/>
          </a:xfrm>
          <a:prstGeom prst="rect">
            <a:avLst/>
          </a:prstGeom>
          <a:noFill/>
        </p:spPr>
        <p:txBody>
          <a:bodyPr wrap="square" anchor="t" lIns="0" rIns="0" tIns="0" bIns="0">
            <a:spAutoFit/>
          </a:bodyPr>
          <a:lstStyle/>
          <a:p>
            <a:pPr>
              <a:spcBef>
                <a:spcPts val="0"/>
              </a:spcBef>
              <a:spcAft>
                <a:spcPts val="423"/>
              </a:spcAft>
            </a:pPr>
            <a:r>
              <a:rPr sz="1100" b="1" i="0">
                <a:solidFill>
                  <a:srgbClr val="000000"/>
                </a:solidFill>
                <a:latin typeface="Nirmala UI"/>
              </a:rPr>
              <a:t>Follow along (Windows) — key steps:</a:t>
            </a:r>
          </a:p>
        </p:txBody>
      </p:sp>
      <p:sp>
        <p:nvSpPr>
          <p:cNvPr id="10" name="TextBox 9"/>
          <p:cNvSpPr txBox="1"/>
          <p:nvPr/>
        </p:nvSpPr>
        <p:spPr>
          <a:xfrm>
            <a:off x="457200" y="2815944"/>
            <a:ext cx="11247120" cy="283854"/>
          </a:xfrm>
          <a:prstGeom prst="rect">
            <a:avLst/>
          </a:prstGeom>
          <a:noFill/>
        </p:spPr>
        <p:txBody>
          <a:bodyPr wrap="square" anchor="t" lIns="0" rIns="0" tIns="0" bIns="0">
            <a:spAutoFit/>
          </a:bodyPr>
          <a:lstStyle/>
          <a:p>
            <a:pPr>
              <a:spcBef>
                <a:spcPts val="0"/>
              </a:spcBef>
              <a:spcAft>
                <a:spcPts val="423"/>
              </a:spcAft>
            </a:pPr>
            <a:r>
              <a:rPr sz="1100" b="1" i="0">
                <a:solidFill>
                  <a:srgbClr val="000000"/>
                </a:solidFill>
                <a:latin typeface="Nirmala UI"/>
              </a:rPr>
              <a:t>Step 1 — Index and three queries</a:t>
            </a:r>
          </a:p>
        </p:txBody>
      </p:sp>
      <p:sp>
        <p:nvSpPr>
          <p:cNvPr id="11" name="TextBox 10"/>
          <p:cNvSpPr txBox="1"/>
          <p:nvPr/>
        </p:nvSpPr>
        <p:spPr>
          <a:xfrm>
            <a:off x="457200" y="3191238"/>
            <a:ext cx="11247120" cy="890796"/>
          </a:xfrm>
          <a:prstGeom prst="rect">
            <a:avLst/>
          </a:prstGeom>
          <a:noFill/>
        </p:spPr>
        <p:txBody>
          <a:bodyPr wrap="square" anchor="t" lIns="0" rIns="0" tIns="0" bIns="0">
            <a:spAutoFit/>
          </a:bodyPr>
          <a:lstStyle/>
          <a:p>
            <a:pPr>
              <a:spcBef>
                <a:spcPts val="0"/>
              </a:spcBef>
              <a:spcAft>
                <a:spcPts val="423"/>
              </a:spcAft>
            </a:pPr>
            <a:r>
              <a:rPr sz="1100" b="0" i="0">
                <a:solidFill>
                  <a:srgbClr val="000000"/>
                </a:solidFill>
                <a:latin typeface="Nirmala UI"/>
              </a:rPr>
              <a:t>•  </a:t>
            </a:r>
            <a:r>
              <a:rPr sz="1100" b="1" i="0">
                <a:solidFill>
                  <a:srgbClr val="000000"/>
                </a:solidFill>
                <a:latin typeface="Nirmala UI"/>
              </a:rPr>
              <a:t>Do:</a:t>
            </a:r>
            <a:r>
              <a:rPr sz="1100" b="0" i="0">
                <a:solidFill>
                  <a:srgbClr val="000000"/>
                </a:solidFill>
                <a:latin typeface="Nirmala UI"/>
              </a:rPr>
              <a:t> Index </a:t>
            </a:r>
            <a:r>
              <a:rPr sz="1100" b="0" i="0">
                <a:solidFill>
                  <a:srgbClr val="000000"/>
                </a:solidFill>
                <a:latin typeface="Consolas"/>
              </a:rPr>
              <a:t>{ category: 1, price: 1, name: 1 }</a:t>
            </a:r>
            <a:r>
              <a:rPr sz="1100" b="0" i="0">
                <a:solidFill>
                  <a:srgbClr val="000000"/>
                </a:solidFill>
                <a:latin typeface="Nirmala UI"/>
              </a:rPr>
              <a:t>. Decide coverage for: (Q1) filter category, project name and price with </a:t>
            </a:r>
            <a:r>
              <a:rPr sz="1100" b="0" i="0">
                <a:solidFill>
                  <a:srgbClr val="000000"/>
                </a:solidFill>
                <a:latin typeface="Consolas"/>
              </a:rPr>
              <a:t>_id: 0</a:t>
            </a:r>
            <a:r>
              <a:rPr sz="1100" b="0" i="0">
                <a:solidFill>
                  <a:srgbClr val="000000"/>
                </a:solidFill>
                <a:latin typeface="Nirmala UI"/>
              </a:rPr>
              <a:t>; (Q2) same filter, project name, price, and tags; (Q3) filter category, project name only but le</a:t>
            </a:r>
          </a:p>
          <a:p>
            <a:pPr>
              <a:spcBef>
                <a:spcPts val="0"/>
              </a:spcBef>
              <a:spcAft>
                <a:spcPts val="423"/>
              </a:spcAft>
            </a:pPr>
            <a:r>
              <a:rPr sz="1100" b="0" i="0">
                <a:solidFill>
                  <a:srgbClr val="000000"/>
                </a:solidFill>
                <a:latin typeface="Nirmala UI"/>
              </a:rPr>
              <a:t>•  </a:t>
            </a:r>
            <a:r>
              <a:rPr sz="1100" b="1" i="0">
                <a:solidFill>
                  <a:srgbClr val="000000"/>
                </a:solidFill>
                <a:latin typeface="Nirmala UI"/>
              </a:rPr>
              <a:t>Expected:</a:t>
            </a:r>
            <a:r>
              <a:rPr sz="1100" b="0" i="0">
                <a:solidFill>
                  <a:srgbClr val="000000"/>
                </a:solidFill>
                <a:latin typeface="Nirmala UI"/>
              </a:rPr>
              <a:t> Q1 may be covered. Q2 is not — tags are not in the index, so FETCH. Q3 is not covered unless </a:t>
            </a:r>
            <a:r>
              <a:rPr sz="1100" b="0" i="0">
                <a:solidFill>
                  <a:srgbClr val="000000"/>
                </a:solidFill>
                <a:latin typeface="Consolas"/>
              </a:rPr>
              <a:t>_id</a:t>
            </a:r>
            <a:r>
              <a:rPr sz="1100" b="0" i="0">
                <a:solidFill>
                  <a:srgbClr val="000000"/>
                </a:solidFill>
                <a:latin typeface="Nirmala UI"/>
              </a:rPr>
              <a:t> is in the index — default </a:t>
            </a:r>
            <a:r>
              <a:rPr sz="1100" b="0" i="0">
                <a:solidFill>
                  <a:srgbClr val="000000"/>
                </a:solidFill>
                <a:latin typeface="Consolas"/>
              </a:rPr>
              <a:t>_id</a:t>
            </a:r>
            <a:r>
              <a:rPr sz="1100" b="0" i="0">
                <a:solidFill>
                  <a:srgbClr val="000000"/>
                </a:solidFill>
                <a:latin typeface="Nirmala UI"/>
              </a:rPr>
              <a:t> forces a document fetch.</a:t>
            </a:r>
          </a:p>
        </p:txBody>
      </p:sp>
      <p:sp>
        <p:nvSpPr>
          <p:cNvPr id="12" name="TextBox 11"/>
          <p:cNvSpPr txBox="1"/>
          <p:nvPr/>
        </p:nvSpPr>
        <p:spPr>
          <a:xfrm>
            <a:off x="457200" y="4173474"/>
            <a:ext cx="11247120" cy="283854"/>
          </a:xfrm>
          <a:prstGeom prst="rect">
            <a:avLst/>
          </a:prstGeom>
          <a:noFill/>
        </p:spPr>
        <p:txBody>
          <a:bodyPr wrap="square" anchor="t" lIns="0" rIns="0" tIns="0" bIns="0">
            <a:spAutoFit/>
          </a:bodyPr>
          <a:lstStyle/>
          <a:p>
            <a:pPr>
              <a:spcBef>
                <a:spcPts val="0"/>
              </a:spcBef>
              <a:spcAft>
                <a:spcPts val="423"/>
              </a:spcAft>
            </a:pPr>
            <a:r>
              <a:rPr sz="1100" b="1" i="0">
                <a:solidFill>
                  <a:srgbClr val="000000"/>
                </a:solidFill>
                <a:latin typeface="Nirmala UI"/>
              </a:rPr>
              <a:t>Step 2 — State the confirmation rule</a:t>
            </a:r>
          </a:p>
        </p:txBody>
      </p:sp>
      <p:sp>
        <p:nvSpPr>
          <p:cNvPr id="13" name="TextBox 12"/>
          <p:cNvSpPr txBox="1"/>
          <p:nvPr/>
        </p:nvSpPr>
        <p:spPr>
          <a:xfrm>
            <a:off x="457200" y="4548768"/>
            <a:ext cx="11247120" cy="706392"/>
          </a:xfrm>
          <a:prstGeom prst="rect">
            <a:avLst/>
          </a:prstGeom>
          <a:noFill/>
        </p:spPr>
        <p:txBody>
          <a:bodyPr wrap="square" anchor="t" lIns="0" rIns="0" tIns="0" bIns="0">
            <a:spAutoFit/>
          </a:bodyPr>
          <a:lstStyle/>
          <a:p>
            <a:pPr>
              <a:spcBef>
                <a:spcPts val="0"/>
              </a:spcBef>
              <a:spcAft>
                <a:spcPts val="423"/>
              </a:spcAft>
            </a:pPr>
            <a:r>
              <a:rPr sz="1100" b="0" i="0">
                <a:solidFill>
                  <a:srgbClr val="000000"/>
                </a:solidFill>
                <a:latin typeface="Nirmala UI"/>
              </a:rPr>
              <a:t>•  </a:t>
            </a:r>
            <a:r>
              <a:rPr sz="1100" b="1" i="0">
                <a:solidFill>
                  <a:srgbClr val="000000"/>
                </a:solidFill>
                <a:latin typeface="Nirmala UI"/>
              </a:rPr>
              <a:t>Do:</a:t>
            </a:r>
            <a:r>
              <a:rPr sz="1100" b="0" i="0">
                <a:solidFill>
                  <a:srgbClr val="000000"/>
                </a:solidFill>
                <a:latin typeface="Nirmala UI"/>
              </a:rPr>
              <a:t> Write the three conditions for coverage and the explain signal you would look for.</a:t>
            </a:r>
          </a:p>
          <a:p>
            <a:pPr>
              <a:spcBef>
                <a:spcPts val="0"/>
              </a:spcBef>
              <a:spcAft>
                <a:spcPts val="423"/>
              </a:spcAft>
            </a:pPr>
            <a:r>
              <a:rPr sz="1100" b="0" i="0">
                <a:solidFill>
                  <a:srgbClr val="000000"/>
                </a:solidFill>
                <a:latin typeface="Nirmala UI"/>
              </a:rPr>
              <a:t>•  </a:t>
            </a:r>
            <a:r>
              <a:rPr sz="1100" b="1" i="0">
                <a:solidFill>
                  <a:srgbClr val="000000"/>
                </a:solidFill>
                <a:latin typeface="Nirmala UI"/>
              </a:rPr>
              <a:t>Expected:</a:t>
            </a:r>
            <a:r>
              <a:rPr sz="1100" b="0" i="0">
                <a:solidFill>
                  <a:srgbClr val="000000"/>
                </a:solidFill>
                <a:latin typeface="Nirmala UI"/>
              </a:rPr>
              <a:t> Filter fields indexed, returned fields indexed, </a:t>
            </a:r>
            <a:r>
              <a:rPr sz="1100" b="0" i="0">
                <a:solidFill>
                  <a:srgbClr val="000000"/>
                </a:solidFill>
                <a:latin typeface="Consolas"/>
              </a:rPr>
              <a:t>_id</a:t>
            </a:r>
            <a:r>
              <a:rPr sz="1100" b="0" i="0">
                <a:solidFill>
                  <a:srgbClr val="000000"/>
                </a:solidFill>
                <a:latin typeface="Nirmala UI"/>
              </a:rPr>
              <a:t> excluded or indexed. Confirm with explain: IXSCAN without FETCH (projection-covered plan).</a:t>
            </a:r>
          </a:p>
        </p:txBody>
      </p:sp>
      <p:sp>
        <p:nvSpPr>
          <p:cNvPr id="14" name="TextBox 13"/>
          <p:cNvSpPr txBox="1"/>
          <p:nvPr/>
        </p:nvSpPr>
        <p:spPr>
          <a:xfrm>
            <a:off x="457200" y="5346600"/>
            <a:ext cx="11247120" cy="283854"/>
          </a:xfrm>
          <a:prstGeom prst="rect">
            <a:avLst/>
          </a:prstGeom>
          <a:noFill/>
        </p:spPr>
        <p:txBody>
          <a:bodyPr wrap="square" anchor="t" lIns="0" rIns="0" tIns="0" bIns="0">
            <a:spAutoFit/>
          </a:bodyPr>
          <a:lstStyle/>
          <a:p>
            <a:pPr>
              <a:spcBef>
                <a:spcPts val="0"/>
              </a:spcBef>
              <a:spcAft>
                <a:spcPts val="423"/>
              </a:spcAft>
            </a:pPr>
            <a:r>
              <a:rPr sz="1100" b="1" i="0">
                <a:solidFill>
                  <a:srgbClr val="000000"/>
                </a:solidFill>
                <a:latin typeface="Nirmala UI"/>
              </a:rPr>
              <a:t>_Full lab guide with every command: </a:t>
            </a:r>
            <a:r>
              <a:rPr sz="1100" b="0" i="0">
                <a:solidFill>
                  <a:srgbClr val="000000"/>
                </a:solidFill>
                <a:latin typeface="Nirmala UI"/>
              </a:rPr>
              <a:t>see </a:t>
            </a:r>
            <a:r>
              <a:rPr sz="1100" b="1" i="0">
                <a:solidFill>
                  <a:srgbClr val="000000"/>
                </a:solidFill>
                <a:latin typeface="Nirmala UI"/>
              </a:rPr>
              <a:t>Lab guide</a:t>
            </a:r>
            <a:r>
              <a:rPr sz="1100" b="0" i="0">
                <a:solidFill>
                  <a:srgbClr val="000000"/>
                </a:solidFill>
                <a:latin typeface="Nirmala UI"/>
              </a:rPr>
              <a:t> on the lesson divider slide._</a:t>
            </a:r>
          </a:p>
        </p:txBody>
      </p:sp>
      <p:sp>
        <p:nvSpPr>
          <p:cNvPr id="15" name="Rectangle 1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113</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DEMO 6.11 — HIDE AN INDEX FOR TESTING</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223126"/>
            <a:ext cx="237744" cy="237744"/>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23126"/>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204838"/>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607174"/>
            <a:ext cx="11247120" cy="2210580"/>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Time:</a:t>
            </a:r>
            <a:r>
              <a:rPr sz="2000" b="0" i="0">
                <a:solidFill>
                  <a:srgbClr val="000000"/>
                </a:solidFill>
                <a:latin typeface="Nirmala UI"/>
              </a:rPr>
              <a:t> 10 min</a:t>
            </a:r>
          </a:p>
          <a:p>
            <a:pPr>
              <a:spcBef>
                <a:spcPts val="0"/>
              </a:spcBef>
              <a:spcAft>
                <a:spcPts val="769"/>
              </a:spcAft>
            </a:pPr>
            <a:r>
              <a:rPr sz="2000" b="0" i="0">
                <a:solidFill>
                  <a:srgbClr val="000000"/>
                </a:solidFill>
                <a:latin typeface="Nirmala UI"/>
              </a:rPr>
              <a:t>•  </a:t>
            </a:r>
            <a:r>
              <a:rPr sz="2000" b="0" i="0">
                <a:solidFill>
                  <a:srgbClr val="000000"/>
                </a:solidFill>
                <a:latin typeface="Nirmala UI"/>
              </a:rPr>
              <a:t>Hide a noncritical training index (not </a:t>
            </a:r>
            <a:r>
              <a:rPr sz="2000" b="0" i="0">
                <a:solidFill>
                  <a:srgbClr val="000000"/>
                </a:solidFill>
                <a:latin typeface="Consolas"/>
              </a:rPr>
              <a:t>_id_</a:t>
            </a:r>
            <a:r>
              <a:rPr sz="2000" b="0" i="0">
                <a:solidFill>
                  <a:srgbClr val="000000"/>
                </a:solidFill>
                <a:latin typeface="Nirmala UI"/>
              </a:rPr>
              <a:t>, not unique SKU)</a:t>
            </a:r>
          </a:p>
          <a:p>
            <a:pPr>
              <a:spcBef>
                <a:spcPts val="0"/>
              </a:spcBef>
              <a:spcAft>
                <a:spcPts val="769"/>
              </a:spcAft>
            </a:pPr>
            <a:r>
              <a:rPr sz="2000" b="0" i="0">
                <a:solidFill>
                  <a:srgbClr val="000000"/>
                </a:solidFill>
                <a:latin typeface="Nirmala UI"/>
              </a:rPr>
              <a:t>•  </a:t>
            </a:r>
            <a:r>
              <a:rPr sz="2000" b="0" i="0">
                <a:solidFill>
                  <a:srgbClr val="000000"/>
                </a:solidFill>
                <a:latin typeface="Nirmala UI"/>
              </a:rPr>
              <a:t>Rerun explain — planner should skip it</a:t>
            </a:r>
          </a:p>
          <a:p>
            <a:pPr>
              <a:spcBef>
                <a:spcPts val="0"/>
              </a:spcBef>
              <a:spcAft>
                <a:spcPts val="769"/>
              </a:spcAft>
            </a:pPr>
            <a:r>
              <a:rPr sz="2000" b="0" i="0">
                <a:solidFill>
                  <a:srgbClr val="000000"/>
                </a:solidFill>
                <a:latin typeface="Nirmala UI"/>
              </a:rPr>
              <a:t>•  </a:t>
            </a:r>
            <a:r>
              <a:rPr sz="2000" b="0" i="0">
                <a:solidFill>
                  <a:srgbClr val="000000"/>
                </a:solidFill>
                <a:latin typeface="Nirmala UI"/>
              </a:rPr>
              <a:t>Unhide</a:t>
            </a:r>
          </a:p>
          <a:p>
            <a:pPr>
              <a:spcBef>
                <a:spcPts val="0"/>
              </a:spcBef>
              <a:spcAft>
                <a:spcPts val="769"/>
              </a:spcAft>
            </a:pPr>
            <a:r>
              <a:rPr sz="2000" b="0" i="0">
                <a:solidFill>
                  <a:srgbClr val="000000"/>
                </a:solidFill>
                <a:latin typeface="Nirmala UI"/>
              </a:rPr>
              <a:t>•  </a:t>
            </a:r>
            <a:r>
              <a:rPr sz="2000" b="0" i="0">
                <a:solidFill>
                  <a:srgbClr val="000000"/>
                </a:solidFill>
                <a:latin typeface="Nirmala UI"/>
              </a:rPr>
              <a:t>Writes still paid the whole time</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114</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DEMO 6.12 — IDENTIFY A REDUNDANT INDEX</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271972"/>
            <a:ext cx="237744" cy="237744"/>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71972"/>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253684"/>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656020"/>
            <a:ext cx="11247120" cy="2112888"/>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Time:</a:t>
            </a:r>
            <a:r>
              <a:rPr sz="2000" b="0" i="0">
                <a:solidFill>
                  <a:srgbClr val="000000"/>
                </a:solidFill>
                <a:latin typeface="Nirmala UI"/>
              </a:rPr>
              <a:t> 15 min</a:t>
            </a:r>
          </a:p>
          <a:p>
            <a:pPr>
              <a:spcBef>
                <a:spcPts val="0"/>
              </a:spcBef>
              <a:spcAft>
                <a:spcPts val="769"/>
              </a:spcAft>
            </a:pPr>
            <a:r>
              <a:rPr sz="2000" b="0" i="0">
                <a:solidFill>
                  <a:srgbClr val="000000"/>
                </a:solidFill>
                <a:latin typeface="Nirmala UI"/>
              </a:rPr>
              <a:t>•  </a:t>
            </a:r>
            <a:r>
              <a:rPr sz="2000" b="1" i="0">
                <a:solidFill>
                  <a:srgbClr val="000000"/>
                </a:solidFill>
                <a:latin typeface="Nirmala UI"/>
              </a:rPr>
              <a:t>Compare `{ category: </a:t>
            </a:r>
            <a:r>
              <a:rPr sz="2000" b="0" i="0">
                <a:solidFill>
                  <a:srgbClr val="000000"/>
                </a:solidFill>
                <a:latin typeface="Nirmala UI"/>
              </a:rPr>
              <a:t>1 }</a:t>
            </a:r>
            <a:r>
              <a:rPr sz="2000" b="0" i="0">
                <a:solidFill>
                  <a:srgbClr val="000000"/>
                </a:solidFill>
                <a:latin typeface="Consolas"/>
              </a:rPr>
              <a:t> with </a:t>
            </a:r>
            <a:r>
              <a:rPr sz="2000" b="0" i="0">
                <a:solidFill>
                  <a:srgbClr val="000000"/>
                </a:solidFill>
                <a:latin typeface="Nirmala UI"/>
              </a:rPr>
              <a:t>{ category: 1, price: 1 }` (or the active+price compound)</a:t>
            </a:r>
          </a:p>
          <a:p>
            <a:pPr>
              <a:spcBef>
                <a:spcPts val="0"/>
              </a:spcBef>
              <a:spcAft>
                <a:spcPts val="769"/>
              </a:spcAft>
            </a:pPr>
            <a:r>
              <a:rPr sz="2000" b="0" i="0">
                <a:solidFill>
                  <a:srgbClr val="000000"/>
                </a:solidFill>
                <a:latin typeface="Nirmala UI"/>
              </a:rPr>
              <a:t>•  </a:t>
            </a:r>
            <a:r>
              <a:rPr sz="2000" b="0" i="0">
                <a:solidFill>
                  <a:srgbClr val="000000"/>
                </a:solidFill>
                <a:latin typeface="Nirmala UI"/>
              </a:rPr>
              <a:t>Review prefix support, plans, stats, size</a:t>
            </a:r>
          </a:p>
          <a:p>
            <a:pPr>
              <a:spcBef>
                <a:spcPts val="0"/>
              </a:spcBef>
              <a:spcAft>
                <a:spcPts val="769"/>
              </a:spcAft>
            </a:pPr>
            <a:r>
              <a:rPr sz="2000" b="0" i="0">
                <a:solidFill>
                  <a:srgbClr val="000000"/>
                </a:solidFill>
                <a:latin typeface="Nirmala UI"/>
              </a:rPr>
              <a:t>•  </a:t>
            </a:r>
            <a:r>
              <a:rPr sz="2000" b="0" i="0">
                <a:solidFill>
                  <a:srgbClr val="000000"/>
                </a:solidFill>
                <a:latin typeface="Nirmala UI"/>
              </a:rPr>
              <a:t>Do not drop until evidence supports it</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115</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MODULE SUMMARY</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729977"/>
            <a:ext cx="237744" cy="237744"/>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729977"/>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711689"/>
            <a:ext cx="351129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114025"/>
            <a:ext cx="3840480" cy="3196878"/>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  </a:t>
            </a:r>
            <a:r>
              <a:rPr sz="1600" b="0" i="0">
                <a:solidFill>
                  <a:srgbClr val="000000"/>
                </a:solidFill>
                <a:latin typeface="Nirmala UI"/>
              </a:rPr>
              <a:t>Indexes speed selected reads and tax writes/storage</a:t>
            </a:r>
          </a:p>
          <a:p>
            <a:pPr>
              <a:spcBef>
                <a:spcPts val="0"/>
              </a:spcBef>
              <a:spcAft>
                <a:spcPts val="615"/>
              </a:spcAft>
            </a:pPr>
            <a:r>
              <a:rPr sz="1600" b="0" i="0">
                <a:solidFill>
                  <a:srgbClr val="000000"/>
                </a:solidFill>
                <a:latin typeface="Nirmala UI"/>
              </a:rPr>
              <a:t>•  </a:t>
            </a:r>
            <a:r>
              <a:rPr sz="1600" b="0" i="0">
                <a:solidFill>
                  <a:srgbClr val="000000"/>
                </a:solidFill>
                <a:latin typeface="Nirmala UI"/>
              </a:rPr>
              <a:t>Compound order and prefixes define supported shapes</a:t>
            </a:r>
          </a:p>
          <a:p>
            <a:pPr>
              <a:spcBef>
                <a:spcPts val="0"/>
              </a:spcBef>
              <a:spcAft>
                <a:spcPts val="615"/>
              </a:spcAft>
            </a:pPr>
            <a:r>
              <a:rPr sz="1600" b="0" i="0">
                <a:solidFill>
                  <a:srgbClr val="000000"/>
                </a:solidFill>
                <a:latin typeface="Nirmala UI"/>
              </a:rPr>
              <a:t>•  </a:t>
            </a:r>
            <a:r>
              <a:rPr sz="1600" b="0" i="0">
                <a:solidFill>
                  <a:srgbClr val="000000"/>
                </a:solidFill>
                <a:latin typeface="Nirmala UI"/>
              </a:rPr>
              <a:t>ESR is a starting guideline</a:t>
            </a:r>
          </a:p>
          <a:p>
            <a:pPr>
              <a:spcBef>
                <a:spcPts val="0"/>
              </a:spcBef>
              <a:spcAft>
                <a:spcPts val="615"/>
              </a:spcAft>
            </a:pPr>
            <a:r>
              <a:rPr sz="1600" b="0" i="0">
                <a:solidFill>
                  <a:srgbClr val="000000"/>
                </a:solidFill>
                <a:latin typeface="Nirmala UI"/>
              </a:rPr>
              <a:t>•  </a:t>
            </a:r>
            <a:r>
              <a:rPr sz="1600" b="0" i="0">
                <a:solidFill>
                  <a:srgbClr val="000000"/>
                </a:solidFill>
                <a:latin typeface="Nirmala UI"/>
              </a:rPr>
              <a:t>Arrays become multikey; specialized types solve specific jobs</a:t>
            </a:r>
          </a:p>
          <a:p>
            <a:pPr>
              <a:spcBef>
                <a:spcPts val="0"/>
              </a:spcBef>
              <a:spcAft>
                <a:spcPts val="615"/>
              </a:spcAft>
            </a:pPr>
            <a:r>
              <a:rPr sz="1600" b="0" i="0">
                <a:solidFill>
                  <a:srgbClr val="000000"/>
                </a:solidFill>
                <a:latin typeface="Nirmala UI"/>
              </a:rPr>
              <a:t>•  </a:t>
            </a:r>
            <a:r>
              <a:rPr sz="1600" b="0" i="0">
                <a:solidFill>
                  <a:srgbClr val="000000"/>
                </a:solidFill>
                <a:latin typeface="Consolas"/>
              </a:rPr>
              <a:t>explain()</a:t>
            </a:r>
            <a:r>
              <a:rPr sz="1600" b="0" i="0">
                <a:solidFill>
                  <a:srgbClr val="000000"/>
                </a:solidFill>
                <a:latin typeface="Nirmala UI"/>
              </a:rPr>
              <a:t> is evidence; IXSCAN is not a trophy</a:t>
            </a:r>
          </a:p>
          <a:p>
            <a:pPr>
              <a:spcBef>
                <a:spcPts val="0"/>
              </a:spcBef>
              <a:spcAft>
                <a:spcPts val="615"/>
              </a:spcAft>
            </a:pPr>
            <a:r>
              <a:rPr sz="1600" b="0" i="0">
                <a:solidFill>
                  <a:srgbClr val="000000"/>
                </a:solidFill>
                <a:latin typeface="Nirmala UI"/>
              </a:rPr>
              <a:t>•  </a:t>
            </a:r>
            <a:r>
              <a:rPr sz="1600" b="0" i="0">
                <a:solidFill>
                  <a:srgbClr val="000000"/>
                </a:solidFill>
                <a:latin typeface="Nirmala UI"/>
              </a:rPr>
              <a:t>Hide, measure, maintain</a:t>
            </a:r>
          </a:p>
        </p:txBody>
      </p:sp>
      <p:sp>
        <p:nvSpPr>
          <p:cNvPr id="8" name="Rectangle 7"/>
          <p:cNvSpPr/>
          <p:nvPr/>
        </p:nvSpPr>
        <p:spPr>
          <a:xfrm>
            <a:off x="4471035" y="2295108"/>
            <a:ext cx="7242810" cy="2523815"/>
          </a:xfrm>
          <a:prstGeom prst="rect">
            <a:avLst/>
          </a:prstGeom>
          <a:solidFill>
            <a:srgbClr val="FFFFFF"/>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2"/>
          <a:stretch>
            <a:fillRect/>
          </a:stretch>
        </p:blipFill>
        <p:spPr>
          <a:xfrm>
            <a:off x="4480560" y="2304633"/>
            <a:ext cx="7223760" cy="2504765"/>
          </a:xfrm>
          <a:prstGeom prst="rect">
            <a:avLst/>
          </a:prstGeom>
        </p:spPr>
      </p:pic>
      <p:sp>
        <p:nvSpPr>
          <p:cNvPr id="10" name="Rectangle 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116</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6.9 — FIND REDUNDANT INDEXES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488458"/>
            <a:ext cx="237744" cy="237744"/>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8845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47017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872506"/>
            <a:ext cx="11247120" cy="1679916"/>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Time:</a:t>
            </a:r>
            <a:r>
              <a:rPr sz="2000" b="0" i="0">
                <a:solidFill>
                  <a:srgbClr val="000000"/>
                </a:solidFill>
                <a:latin typeface="Nirmala UI"/>
              </a:rPr>
              <a:t> 15 min</a:t>
            </a:r>
          </a:p>
          <a:p>
            <a:pPr>
              <a:spcBef>
                <a:spcPts val="0"/>
              </a:spcBef>
              <a:spcAft>
                <a:spcPts val="769"/>
              </a:spcAft>
            </a:pPr>
            <a:r>
              <a:rPr sz="2000" b="0" i="0">
                <a:solidFill>
                  <a:srgbClr val="000000"/>
                </a:solidFill>
                <a:latin typeface="Nirmala UI"/>
              </a:rPr>
              <a:t>•  </a:t>
            </a:r>
            <a:r>
              <a:rPr sz="2000" b="0" i="0">
                <a:solidFill>
                  <a:srgbClr val="000000"/>
                </a:solidFill>
                <a:latin typeface="Nirmala UI"/>
              </a:rPr>
              <a:t>Spot overlapping prefixes and list evidence required before hiding one.</a:t>
            </a:r>
          </a:p>
          <a:p>
            <a:pPr>
              <a:spcBef>
                <a:spcPts val="0"/>
              </a:spcBef>
              <a:spcAft>
                <a:spcPts val="769"/>
              </a:spcAft>
            </a:pPr>
            <a:r>
              <a:rPr sz="2000" b="0" i="0">
                <a:solidFill>
                  <a:srgbClr val="000000"/>
                </a:solidFill>
                <a:latin typeface="Nirmala UI"/>
              </a:rPr>
              <a:t>•  </a:t>
            </a:r>
            <a:r>
              <a:rPr sz="2000" b="1" i="0">
                <a:solidFill>
                  <a:srgbClr val="000000"/>
                </a:solidFill>
                <a:latin typeface="Nirmala UI"/>
              </a:rPr>
              <a:t>Lab guide:</a:t>
            </a:r>
            <a:r>
              <a:rPr sz="2000" b="0" i="0">
                <a:solidFill>
                  <a:srgbClr val="000000"/>
                </a:solidFill>
                <a:latin typeface="Nirmala UI"/>
              </a:rPr>
              <a:t> </a:t>
            </a:r>
            <a:r>
              <a:rPr sz="2000" b="0" i="0">
                <a:solidFill>
                  <a:srgbClr val="000000"/>
                </a:solidFill>
                <a:latin typeface="Consolas"/>
              </a:rPr>
              <a:t>Exercise 6.9</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117</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6.9 — STEPS 1–2</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410426"/>
            <a:ext cx="237744" cy="237744"/>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10426"/>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392138"/>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Rounded Rectangle 6"/>
          <p:cNvSpPr/>
          <p:nvPr/>
        </p:nvSpPr>
        <p:spPr>
          <a:xfrm>
            <a:off x="457200" y="1794474"/>
            <a:ext cx="11247120" cy="554736"/>
          </a:xfrm>
          <a:prstGeom prst="roundRect">
            <a:avLst>
              <a:gd name="adj" fmla="val 6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794474"/>
            <a:ext cx="11027664" cy="554736"/>
          </a:xfrm>
          <a:prstGeom prst="rect">
            <a:avLst/>
          </a:prstGeom>
          <a:noFill/>
        </p:spPr>
        <p:txBody>
          <a:bodyPr wrap="square" anchor="ctr" lIns="0" rIns="0" tIns="0" bIns="0">
            <a:spAutoFit/>
          </a:bodyPr>
          <a:lstStyle/>
          <a:p>
            <a:r>
              <a:rPr sz="1200" b="1" i="0">
                <a:solidFill>
                  <a:srgbClr val="D1282E"/>
                </a:solidFill>
                <a:latin typeface="Nirmala UI"/>
              </a:rPr>
              <a:t>LAB GUIDE   </a:t>
            </a:r>
            <a:r>
              <a:rPr sz="2000" b="0" i="0">
                <a:solidFill>
                  <a:srgbClr val="000000"/>
                </a:solidFill>
                <a:latin typeface="Consolas"/>
              </a:rPr>
              <a:t>Exercise 6.9</a:t>
            </a:r>
          </a:p>
        </p:txBody>
      </p:sp>
      <p:sp>
        <p:nvSpPr>
          <p:cNvPr id="9" name="TextBox 8"/>
          <p:cNvSpPr txBox="1"/>
          <p:nvPr/>
        </p:nvSpPr>
        <p:spPr>
          <a:xfrm>
            <a:off x="457200" y="2440650"/>
            <a:ext cx="11247120" cy="283854"/>
          </a:xfrm>
          <a:prstGeom prst="rect">
            <a:avLst/>
          </a:prstGeom>
          <a:noFill/>
        </p:spPr>
        <p:txBody>
          <a:bodyPr wrap="square" anchor="t" lIns="0" rIns="0" tIns="0" bIns="0">
            <a:spAutoFit/>
          </a:bodyPr>
          <a:lstStyle/>
          <a:p>
            <a:pPr>
              <a:spcBef>
                <a:spcPts val="0"/>
              </a:spcBef>
              <a:spcAft>
                <a:spcPts val="423"/>
              </a:spcAft>
            </a:pPr>
            <a:r>
              <a:rPr sz="1100" b="1" i="0">
                <a:solidFill>
                  <a:srgbClr val="000000"/>
                </a:solidFill>
                <a:latin typeface="Nirmala UI"/>
              </a:rPr>
              <a:t>Follow along (Windows) — key steps:</a:t>
            </a:r>
          </a:p>
        </p:txBody>
      </p:sp>
      <p:sp>
        <p:nvSpPr>
          <p:cNvPr id="10" name="TextBox 9"/>
          <p:cNvSpPr txBox="1"/>
          <p:nvPr/>
        </p:nvSpPr>
        <p:spPr>
          <a:xfrm>
            <a:off x="457200" y="2815944"/>
            <a:ext cx="11247120" cy="283854"/>
          </a:xfrm>
          <a:prstGeom prst="rect">
            <a:avLst/>
          </a:prstGeom>
          <a:noFill/>
        </p:spPr>
        <p:txBody>
          <a:bodyPr wrap="square" anchor="t" lIns="0" rIns="0" tIns="0" bIns="0">
            <a:spAutoFit/>
          </a:bodyPr>
          <a:lstStyle/>
          <a:p>
            <a:pPr>
              <a:spcBef>
                <a:spcPts val="0"/>
              </a:spcBef>
              <a:spcAft>
                <a:spcPts val="423"/>
              </a:spcAft>
            </a:pPr>
            <a:r>
              <a:rPr sz="1100" b="1" i="0">
                <a:solidFill>
                  <a:srgbClr val="000000"/>
                </a:solidFill>
                <a:latin typeface="Nirmala UI"/>
              </a:rPr>
              <a:t>Step 1 — Mark overlap</a:t>
            </a:r>
          </a:p>
        </p:txBody>
      </p:sp>
      <p:sp>
        <p:nvSpPr>
          <p:cNvPr id="11" name="TextBox 10"/>
          <p:cNvSpPr txBox="1"/>
          <p:nvPr/>
        </p:nvSpPr>
        <p:spPr>
          <a:xfrm>
            <a:off x="457200" y="3191238"/>
            <a:ext cx="11247120" cy="890796"/>
          </a:xfrm>
          <a:prstGeom prst="rect">
            <a:avLst/>
          </a:prstGeom>
          <a:noFill/>
        </p:spPr>
        <p:txBody>
          <a:bodyPr wrap="square" anchor="t" lIns="0" rIns="0" tIns="0" bIns="0">
            <a:spAutoFit/>
          </a:bodyPr>
          <a:lstStyle/>
          <a:p>
            <a:pPr>
              <a:spcBef>
                <a:spcPts val="0"/>
              </a:spcBef>
              <a:spcAft>
                <a:spcPts val="423"/>
              </a:spcAft>
            </a:pPr>
            <a:r>
              <a:rPr sz="1100" b="0" i="0">
                <a:solidFill>
                  <a:srgbClr val="000000"/>
                </a:solidFill>
                <a:latin typeface="Nirmala UI"/>
              </a:rPr>
              <a:t>•  </a:t>
            </a:r>
            <a:r>
              <a:rPr sz="1100" b="1" i="0">
                <a:solidFill>
                  <a:srgbClr val="000000"/>
                </a:solidFill>
                <a:latin typeface="Nirmala UI"/>
              </a:rPr>
              <a:t>Do:</a:t>
            </a:r>
            <a:r>
              <a:rPr sz="1100" b="0" i="0">
                <a:solidFill>
                  <a:srgbClr val="000000"/>
                </a:solidFill>
                <a:latin typeface="Nirmala UI"/>
              </a:rPr>
              <a:t> Indexes: </a:t>
            </a:r>
            <a:r>
              <a:rPr sz="1100" b="0" i="0">
                <a:solidFill>
                  <a:srgbClr val="000000"/>
                </a:solidFill>
                <a:latin typeface="Consolas"/>
              </a:rPr>
              <a:t>{ category: 1 }</a:t>
            </a:r>
            <a:r>
              <a:rPr sz="1100" b="0" i="0">
                <a:solidFill>
                  <a:srgbClr val="000000"/>
                </a:solidFill>
                <a:latin typeface="Nirmala UI"/>
              </a:rPr>
              <a:t>, </a:t>
            </a:r>
            <a:r>
              <a:rPr sz="1100" b="0" i="0">
                <a:solidFill>
                  <a:srgbClr val="000000"/>
                </a:solidFill>
                <a:latin typeface="Consolas"/>
              </a:rPr>
              <a:t>{ category: 1, price: 1 }</a:t>
            </a:r>
            <a:r>
              <a:rPr sz="1100" b="0" i="0">
                <a:solidFill>
                  <a:srgbClr val="000000"/>
                </a:solidFill>
                <a:latin typeface="Nirmala UI"/>
              </a:rPr>
              <a:t>, </a:t>
            </a:r>
            <a:r>
              <a:rPr sz="1100" b="0" i="0">
                <a:solidFill>
                  <a:srgbClr val="000000"/>
                </a:solidFill>
                <a:latin typeface="Consolas"/>
              </a:rPr>
              <a:t>{ category: 1, price: 1, name: 1 }</a:t>
            </a:r>
            <a:r>
              <a:rPr sz="1100" b="0" i="0">
                <a:solidFill>
                  <a:srgbClr val="000000"/>
                </a:solidFill>
                <a:latin typeface="Nirmala UI"/>
              </a:rPr>
              <a:t>, </a:t>
            </a:r>
            <a:r>
              <a:rPr sz="1100" b="0" i="0">
                <a:solidFill>
                  <a:srgbClr val="000000"/>
                </a:solidFill>
                <a:latin typeface="Consolas"/>
              </a:rPr>
              <a:t>{ price: 1 }</a:t>
            </a:r>
            <a:r>
              <a:rPr sz="1100" b="0" i="0">
                <a:solidFill>
                  <a:srgbClr val="000000"/>
                </a:solidFill>
                <a:latin typeface="Nirmala UI"/>
              </a:rPr>
              <a:t>. Which pairs share a prefix? Which index is not a prefix of the others?</a:t>
            </a:r>
          </a:p>
          <a:p>
            <a:pPr>
              <a:spcBef>
                <a:spcPts val="0"/>
              </a:spcBef>
              <a:spcAft>
                <a:spcPts val="423"/>
              </a:spcAft>
            </a:pPr>
            <a:r>
              <a:rPr sz="1100" b="0" i="0">
                <a:solidFill>
                  <a:srgbClr val="000000"/>
                </a:solidFill>
                <a:latin typeface="Nirmala UI"/>
              </a:rPr>
              <a:t>•  </a:t>
            </a:r>
            <a:r>
              <a:rPr sz="1100" b="1" i="0">
                <a:solidFill>
                  <a:srgbClr val="000000"/>
                </a:solidFill>
                <a:latin typeface="Nirmala UI"/>
              </a:rPr>
              <a:t>Expected:</a:t>
            </a:r>
            <a:r>
              <a:rPr sz="1100" b="0" i="0">
                <a:solidFill>
                  <a:srgbClr val="000000"/>
                </a:solidFill>
                <a:latin typeface="Nirmala UI"/>
              </a:rPr>
              <a:t> The three category-leading indexes overlap; the two-field and three-field keys can serve category-only queries. </a:t>
            </a:r>
            <a:r>
              <a:rPr sz="1100" b="0" i="0">
                <a:solidFill>
                  <a:srgbClr val="000000"/>
                </a:solidFill>
                <a:latin typeface="Consolas"/>
              </a:rPr>
              <a:t>{ price: 1 }</a:t>
            </a:r>
            <a:r>
              <a:rPr sz="1100" b="0" i="0">
                <a:solidFill>
                  <a:srgbClr val="000000"/>
                </a:solidFill>
                <a:latin typeface="Nirmala UI"/>
              </a:rPr>
              <a:t> is not a prefix of the category i</a:t>
            </a:r>
          </a:p>
        </p:txBody>
      </p:sp>
      <p:sp>
        <p:nvSpPr>
          <p:cNvPr id="12" name="TextBox 11"/>
          <p:cNvSpPr txBox="1"/>
          <p:nvPr/>
        </p:nvSpPr>
        <p:spPr>
          <a:xfrm>
            <a:off x="457200" y="4173474"/>
            <a:ext cx="11247120" cy="283854"/>
          </a:xfrm>
          <a:prstGeom prst="rect">
            <a:avLst/>
          </a:prstGeom>
          <a:noFill/>
        </p:spPr>
        <p:txBody>
          <a:bodyPr wrap="square" anchor="t" lIns="0" rIns="0" tIns="0" bIns="0">
            <a:spAutoFit/>
          </a:bodyPr>
          <a:lstStyle/>
          <a:p>
            <a:pPr>
              <a:spcBef>
                <a:spcPts val="0"/>
              </a:spcBef>
              <a:spcAft>
                <a:spcPts val="423"/>
              </a:spcAft>
            </a:pPr>
            <a:r>
              <a:rPr sz="1100" b="1" i="0">
                <a:solidFill>
                  <a:srgbClr val="000000"/>
                </a:solidFill>
                <a:latin typeface="Nirmala UI"/>
              </a:rPr>
              <a:t>Step 2 — Decide what evidence is required</a:t>
            </a:r>
          </a:p>
        </p:txBody>
      </p:sp>
      <p:sp>
        <p:nvSpPr>
          <p:cNvPr id="13" name="TextBox 12"/>
          <p:cNvSpPr txBox="1"/>
          <p:nvPr/>
        </p:nvSpPr>
        <p:spPr>
          <a:xfrm>
            <a:off x="457200" y="4548768"/>
            <a:ext cx="11247120" cy="706392"/>
          </a:xfrm>
          <a:prstGeom prst="rect">
            <a:avLst/>
          </a:prstGeom>
          <a:noFill/>
        </p:spPr>
        <p:txBody>
          <a:bodyPr wrap="square" anchor="t" lIns="0" rIns="0" tIns="0" bIns="0">
            <a:spAutoFit/>
          </a:bodyPr>
          <a:lstStyle/>
          <a:p>
            <a:pPr>
              <a:spcBef>
                <a:spcPts val="0"/>
              </a:spcBef>
              <a:spcAft>
                <a:spcPts val="423"/>
              </a:spcAft>
            </a:pPr>
            <a:r>
              <a:rPr sz="1100" b="0" i="0">
                <a:solidFill>
                  <a:srgbClr val="000000"/>
                </a:solidFill>
                <a:latin typeface="Nirmala UI"/>
              </a:rPr>
              <a:t>•  </a:t>
            </a:r>
            <a:r>
              <a:rPr sz="1100" b="1" i="0">
                <a:solidFill>
                  <a:srgbClr val="000000"/>
                </a:solidFill>
                <a:latin typeface="Nirmala UI"/>
              </a:rPr>
              <a:t>Do:</a:t>
            </a:r>
            <a:r>
              <a:rPr sz="1100" b="0" i="0">
                <a:solidFill>
                  <a:srgbClr val="000000"/>
                </a:solidFill>
                <a:latin typeface="Nirmala UI"/>
              </a:rPr>
              <a:t> List four things to check before hiding </a:t>
            </a:r>
            <a:r>
              <a:rPr sz="1100" b="0" i="0">
                <a:solidFill>
                  <a:srgbClr val="000000"/>
                </a:solidFill>
                <a:latin typeface="Consolas"/>
              </a:rPr>
              <a:t>{ category: 1 }</a:t>
            </a:r>
            <a:r>
              <a:rPr sz="1100" b="0" i="0">
                <a:solidFill>
                  <a:srgbClr val="000000"/>
                </a:solidFill>
                <a:latin typeface="Nirmala UI"/>
              </a:rPr>
              <a:t> in favor of a wider compound index.</a:t>
            </a:r>
          </a:p>
          <a:p>
            <a:pPr>
              <a:spcBef>
                <a:spcPts val="0"/>
              </a:spcBef>
              <a:spcAft>
                <a:spcPts val="423"/>
              </a:spcAft>
            </a:pPr>
            <a:r>
              <a:rPr sz="1100" b="0" i="0">
                <a:solidFill>
                  <a:srgbClr val="000000"/>
                </a:solidFill>
                <a:latin typeface="Nirmala UI"/>
              </a:rPr>
              <a:t>•  </a:t>
            </a:r>
            <a:r>
              <a:rPr sz="1100" b="1" i="0">
                <a:solidFill>
                  <a:srgbClr val="000000"/>
                </a:solidFill>
                <a:latin typeface="Nirmala UI"/>
              </a:rPr>
              <a:t>Expected:</a:t>
            </a:r>
            <a:r>
              <a:rPr sz="1100" b="0" i="0">
                <a:solidFill>
                  <a:srgbClr val="000000"/>
                </a:solidFill>
                <a:latin typeface="Nirmala UI"/>
              </a:rPr>
              <a:t> Query shapes and sort needs; covered-query projections; unique/partial/TTL options; </a:t>
            </a:r>
            <a:r>
              <a:rPr sz="1100" b="0" i="0">
                <a:solidFill>
                  <a:srgbClr val="000000"/>
                </a:solidFill>
                <a:latin typeface="Consolas"/>
              </a:rPr>
              <a:t>$indexStats</a:t>
            </a:r>
            <a:r>
              <a:rPr sz="1100" b="0" i="0">
                <a:solidFill>
                  <a:srgbClr val="000000"/>
                </a:solidFill>
                <a:latin typeface="Nirmala UI"/>
              </a:rPr>
              <a:t> usage; index size vs write cost. Do not drop from visual simil</a:t>
            </a:r>
          </a:p>
        </p:txBody>
      </p:sp>
      <p:sp>
        <p:nvSpPr>
          <p:cNvPr id="14" name="TextBox 13"/>
          <p:cNvSpPr txBox="1"/>
          <p:nvPr/>
        </p:nvSpPr>
        <p:spPr>
          <a:xfrm>
            <a:off x="457200" y="5346600"/>
            <a:ext cx="11247120" cy="283854"/>
          </a:xfrm>
          <a:prstGeom prst="rect">
            <a:avLst/>
          </a:prstGeom>
          <a:noFill/>
        </p:spPr>
        <p:txBody>
          <a:bodyPr wrap="square" anchor="t" lIns="0" rIns="0" tIns="0" bIns="0">
            <a:spAutoFit/>
          </a:bodyPr>
          <a:lstStyle/>
          <a:p>
            <a:pPr>
              <a:spcBef>
                <a:spcPts val="0"/>
              </a:spcBef>
              <a:spcAft>
                <a:spcPts val="423"/>
              </a:spcAft>
            </a:pPr>
            <a:r>
              <a:rPr sz="1100" b="1" i="0">
                <a:solidFill>
                  <a:srgbClr val="000000"/>
                </a:solidFill>
                <a:latin typeface="Nirmala UI"/>
              </a:rPr>
              <a:t>_Full lab guide with every command: </a:t>
            </a:r>
            <a:r>
              <a:rPr sz="1100" b="0" i="0">
                <a:solidFill>
                  <a:srgbClr val="000000"/>
                </a:solidFill>
                <a:latin typeface="Nirmala UI"/>
              </a:rPr>
              <a:t>see </a:t>
            </a:r>
            <a:r>
              <a:rPr sz="1100" b="1" i="0">
                <a:solidFill>
                  <a:srgbClr val="000000"/>
                </a:solidFill>
                <a:latin typeface="Nirmala UI"/>
              </a:rPr>
              <a:t>Lab guide</a:t>
            </a:r>
            <a:r>
              <a:rPr sz="1100" b="0" i="0">
                <a:solidFill>
                  <a:srgbClr val="000000"/>
                </a:solidFill>
                <a:latin typeface="Nirmala UI"/>
              </a:rPr>
              <a:t> on the lesson divider slide._</a:t>
            </a:r>
          </a:p>
        </p:txBody>
      </p:sp>
      <p:sp>
        <p:nvSpPr>
          <p:cNvPr id="15" name="Rectangle 1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118</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6.10 — BALANCE READ AND WRITE PERFORMANCE</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320818"/>
            <a:ext cx="237744" cy="237744"/>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32081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30253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704866"/>
            <a:ext cx="11247120" cy="2015196"/>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Time:</a:t>
            </a:r>
            <a:r>
              <a:rPr sz="2000" b="0" i="0">
                <a:solidFill>
                  <a:srgbClr val="000000"/>
                </a:solidFill>
                <a:latin typeface="Nirmala UI"/>
              </a:rPr>
              <a:t> 15 min</a:t>
            </a:r>
          </a:p>
          <a:p>
            <a:pPr>
              <a:spcBef>
                <a:spcPts val="0"/>
              </a:spcBef>
              <a:spcAft>
                <a:spcPts val="769"/>
              </a:spcAft>
            </a:pPr>
            <a:r>
              <a:rPr sz="2000" b="0" i="0">
                <a:solidFill>
                  <a:srgbClr val="000000"/>
                </a:solidFill>
                <a:latin typeface="Nirmala UI"/>
              </a:rPr>
              <a:t>•  </a:t>
            </a:r>
            <a:r>
              <a:rPr sz="2000" b="0" i="0">
                <a:solidFill>
                  <a:srgbClr val="000000"/>
                </a:solidFill>
                <a:latin typeface="Nirmala UI"/>
              </a:rPr>
              <a:t>Plan evidence, hide-testing, and metrics for a write-heavy cluster with 14 secondary indexes.</a:t>
            </a:r>
          </a:p>
          <a:p>
            <a:pPr>
              <a:spcBef>
                <a:spcPts val="0"/>
              </a:spcBef>
              <a:spcAft>
                <a:spcPts val="769"/>
              </a:spcAft>
            </a:pPr>
            <a:r>
              <a:rPr sz="2000" b="0" i="0">
                <a:solidFill>
                  <a:srgbClr val="000000"/>
                </a:solidFill>
                <a:latin typeface="Nirmala UI"/>
              </a:rPr>
              <a:t>•  </a:t>
            </a:r>
            <a:r>
              <a:rPr sz="2000" b="1" i="0">
                <a:solidFill>
                  <a:srgbClr val="000000"/>
                </a:solidFill>
                <a:latin typeface="Nirmala UI"/>
              </a:rPr>
              <a:t>Lab guide:</a:t>
            </a:r>
            <a:r>
              <a:rPr sz="2000" b="0" i="0">
                <a:solidFill>
                  <a:srgbClr val="000000"/>
                </a:solidFill>
                <a:latin typeface="Nirmala UI"/>
              </a:rPr>
              <a:t> </a:t>
            </a:r>
            <a:r>
              <a:rPr sz="2000" b="0" i="0">
                <a:solidFill>
                  <a:srgbClr val="000000"/>
                </a:solidFill>
                <a:latin typeface="Consolas"/>
              </a:rPr>
              <a:t>Exercise 6.10</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119</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6.10 — STEPS 1–2</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399268"/>
            <a:ext cx="237744" cy="237744"/>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9926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38098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Rounded Rectangle 6"/>
          <p:cNvSpPr/>
          <p:nvPr/>
        </p:nvSpPr>
        <p:spPr>
          <a:xfrm>
            <a:off x="457200" y="1783316"/>
            <a:ext cx="11247120" cy="554736"/>
          </a:xfrm>
          <a:prstGeom prst="roundRect">
            <a:avLst>
              <a:gd name="adj" fmla="val 6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783316"/>
            <a:ext cx="11027664" cy="554736"/>
          </a:xfrm>
          <a:prstGeom prst="rect">
            <a:avLst/>
          </a:prstGeom>
          <a:noFill/>
        </p:spPr>
        <p:txBody>
          <a:bodyPr wrap="square" anchor="ctr" lIns="0" rIns="0" tIns="0" bIns="0">
            <a:spAutoFit/>
          </a:bodyPr>
          <a:lstStyle/>
          <a:p>
            <a:r>
              <a:rPr sz="1200" b="1" i="0">
                <a:solidFill>
                  <a:srgbClr val="D1282E"/>
                </a:solidFill>
                <a:latin typeface="Nirmala UI"/>
              </a:rPr>
              <a:t>LAB GUIDE   </a:t>
            </a:r>
            <a:r>
              <a:rPr sz="2000" b="0" i="0">
                <a:solidFill>
                  <a:srgbClr val="000000"/>
                </a:solidFill>
                <a:latin typeface="Consolas"/>
              </a:rPr>
              <a:t>Exercise 6.10</a:t>
            </a:r>
          </a:p>
        </p:txBody>
      </p:sp>
      <p:sp>
        <p:nvSpPr>
          <p:cNvPr id="9" name="TextBox 8"/>
          <p:cNvSpPr txBox="1"/>
          <p:nvPr/>
        </p:nvSpPr>
        <p:spPr>
          <a:xfrm>
            <a:off x="457200" y="2429492"/>
            <a:ext cx="11247120" cy="305503"/>
          </a:xfrm>
          <a:prstGeom prst="rect">
            <a:avLst/>
          </a:prstGeom>
          <a:noFill/>
        </p:spPr>
        <p:txBody>
          <a:bodyPr wrap="square" anchor="t" lIns="0" rIns="0" tIns="0" bIns="0">
            <a:spAutoFit/>
          </a:bodyPr>
          <a:lstStyle/>
          <a:p>
            <a:pPr>
              <a:spcBef>
                <a:spcPts val="0"/>
              </a:spcBef>
              <a:spcAft>
                <a:spcPts val="461"/>
              </a:spcAft>
            </a:pPr>
            <a:r>
              <a:rPr sz="1200" b="1" i="0">
                <a:solidFill>
                  <a:srgbClr val="000000"/>
                </a:solidFill>
                <a:latin typeface="Nirmala UI"/>
              </a:rPr>
              <a:t>Follow along (Windows) — key steps:</a:t>
            </a:r>
          </a:p>
        </p:txBody>
      </p:sp>
      <p:sp>
        <p:nvSpPr>
          <p:cNvPr id="10" name="TextBox 9"/>
          <p:cNvSpPr txBox="1"/>
          <p:nvPr/>
        </p:nvSpPr>
        <p:spPr>
          <a:xfrm>
            <a:off x="457200" y="2826435"/>
            <a:ext cx="11247120" cy="305503"/>
          </a:xfrm>
          <a:prstGeom prst="rect">
            <a:avLst/>
          </a:prstGeom>
          <a:noFill/>
        </p:spPr>
        <p:txBody>
          <a:bodyPr wrap="square" anchor="t" lIns="0" rIns="0" tIns="0" bIns="0">
            <a:spAutoFit/>
          </a:bodyPr>
          <a:lstStyle/>
          <a:p>
            <a:pPr>
              <a:spcBef>
                <a:spcPts val="0"/>
              </a:spcBef>
              <a:spcAft>
                <a:spcPts val="461"/>
              </a:spcAft>
            </a:pPr>
            <a:r>
              <a:rPr sz="1200" b="1" i="0">
                <a:solidFill>
                  <a:srgbClr val="000000"/>
                </a:solidFill>
                <a:latin typeface="Nirmala UI"/>
              </a:rPr>
              <a:t>Step 1 — Evidence to collect</a:t>
            </a:r>
          </a:p>
        </p:txBody>
      </p:sp>
      <p:sp>
        <p:nvSpPr>
          <p:cNvPr id="11" name="TextBox 10"/>
          <p:cNvSpPr txBox="1"/>
          <p:nvPr/>
        </p:nvSpPr>
        <p:spPr>
          <a:xfrm>
            <a:off x="457200" y="3223378"/>
            <a:ext cx="11247120" cy="766454"/>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  </a:t>
            </a:r>
            <a:r>
              <a:rPr sz="1200" b="1" i="0">
                <a:solidFill>
                  <a:srgbClr val="000000"/>
                </a:solidFill>
                <a:latin typeface="Nirmala UI"/>
              </a:rPr>
              <a:t>Do:</a:t>
            </a:r>
            <a:r>
              <a:rPr sz="1200" b="0" i="0">
                <a:solidFill>
                  <a:srgbClr val="000000"/>
                </a:solidFill>
                <a:latin typeface="Nirmala UI"/>
              </a:rPr>
              <a:t> List the measurements you would gather before dropping anything.</a:t>
            </a:r>
          </a:p>
          <a:p>
            <a:pPr>
              <a:spcBef>
                <a:spcPts val="0"/>
              </a:spcBef>
              <a:spcAft>
                <a:spcPts val="461"/>
              </a:spcAft>
            </a:pPr>
            <a:r>
              <a:rPr sz="1200" b="0" i="0">
                <a:solidFill>
                  <a:srgbClr val="000000"/>
                </a:solidFill>
                <a:latin typeface="Nirmala UI"/>
              </a:rPr>
              <a:t>•  </a:t>
            </a:r>
            <a:r>
              <a:rPr sz="1200" b="1" i="0">
                <a:solidFill>
                  <a:srgbClr val="000000"/>
                </a:solidFill>
                <a:latin typeface="Nirmala UI"/>
              </a:rPr>
              <a:t>Expected:</a:t>
            </a:r>
            <a:r>
              <a:rPr sz="1200" b="0" i="0">
                <a:solidFill>
                  <a:srgbClr val="000000"/>
                </a:solidFill>
                <a:latin typeface="Nirmala UI"/>
              </a:rPr>
              <a:t> Insert/update latency and opcounters; index sizes (</a:t>
            </a:r>
            <a:r>
              <a:rPr sz="1200" b="0" i="0">
                <a:solidFill>
                  <a:srgbClr val="000000"/>
                </a:solidFill>
                <a:latin typeface="Consolas"/>
              </a:rPr>
              <a:t>collStats</a:t>
            </a:r>
            <a:r>
              <a:rPr sz="1200" b="0" i="0">
                <a:solidFill>
                  <a:srgbClr val="000000"/>
                </a:solidFill>
                <a:latin typeface="Nirmala UI"/>
              </a:rPr>
              <a:t> / </a:t>
            </a:r>
            <a:r>
              <a:rPr sz="1200" b="0" i="0">
                <a:solidFill>
                  <a:srgbClr val="000000"/>
                </a:solidFill>
                <a:latin typeface="Consolas"/>
              </a:rPr>
              <a:t>indexSizes</a:t>
            </a:r>
            <a:r>
              <a:rPr sz="1200" b="0" i="0">
                <a:solidFill>
                  <a:srgbClr val="000000"/>
                </a:solidFill>
                <a:latin typeface="Nirmala UI"/>
              </a:rPr>
              <a:t>); </a:t>
            </a:r>
            <a:r>
              <a:rPr sz="1200" b="0" i="0">
                <a:solidFill>
                  <a:srgbClr val="000000"/>
                </a:solidFill>
                <a:latin typeface="Consolas"/>
              </a:rPr>
              <a:t>$indexStats</a:t>
            </a:r>
            <a:r>
              <a:rPr sz="1200" b="0" i="0">
                <a:solidFill>
                  <a:srgbClr val="000000"/>
                </a:solidFill>
                <a:latin typeface="Nirmala UI"/>
              </a:rPr>
              <a:t> since last restart; slow query log / profiler; explain on the 20% </a:t>
            </a:r>
          </a:p>
        </p:txBody>
      </p:sp>
      <p:sp>
        <p:nvSpPr>
          <p:cNvPr id="12" name="TextBox 11"/>
          <p:cNvSpPr txBox="1"/>
          <p:nvPr/>
        </p:nvSpPr>
        <p:spPr>
          <a:xfrm>
            <a:off x="457200" y="4081272"/>
            <a:ext cx="11247120" cy="305503"/>
          </a:xfrm>
          <a:prstGeom prst="rect">
            <a:avLst/>
          </a:prstGeom>
          <a:noFill/>
        </p:spPr>
        <p:txBody>
          <a:bodyPr wrap="square" anchor="t" lIns="0" rIns="0" tIns="0" bIns="0">
            <a:spAutoFit/>
          </a:bodyPr>
          <a:lstStyle/>
          <a:p>
            <a:pPr>
              <a:spcBef>
                <a:spcPts val="0"/>
              </a:spcBef>
              <a:spcAft>
                <a:spcPts val="461"/>
              </a:spcAft>
            </a:pPr>
            <a:r>
              <a:rPr sz="1200" b="1" i="0">
                <a:solidFill>
                  <a:srgbClr val="000000"/>
                </a:solidFill>
                <a:latin typeface="Nirmala UI"/>
              </a:rPr>
              <a:t>Step 2 — Safe test path</a:t>
            </a:r>
          </a:p>
        </p:txBody>
      </p:sp>
      <p:sp>
        <p:nvSpPr>
          <p:cNvPr id="13" name="TextBox 12"/>
          <p:cNvSpPr txBox="1"/>
          <p:nvPr/>
        </p:nvSpPr>
        <p:spPr>
          <a:xfrm>
            <a:off x="457200" y="4478215"/>
            <a:ext cx="11247120" cy="766454"/>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  </a:t>
            </a:r>
            <a:r>
              <a:rPr sz="1200" b="1" i="0">
                <a:solidFill>
                  <a:srgbClr val="000000"/>
                </a:solidFill>
                <a:latin typeface="Nirmala UI"/>
              </a:rPr>
              <a:t>Do:</a:t>
            </a:r>
            <a:r>
              <a:rPr sz="1200" b="0" i="0">
                <a:solidFill>
                  <a:srgbClr val="000000"/>
                </a:solidFill>
                <a:latin typeface="Nirmala UI"/>
              </a:rPr>
              <a:t> Describe how to test removal of one unused-looking index and which metrics to watch afterward.</a:t>
            </a:r>
          </a:p>
          <a:p>
            <a:pPr>
              <a:spcBef>
                <a:spcPts val="0"/>
              </a:spcBef>
              <a:spcAft>
                <a:spcPts val="461"/>
              </a:spcAft>
            </a:pPr>
            <a:r>
              <a:rPr sz="1200" b="0" i="0">
                <a:solidFill>
                  <a:srgbClr val="000000"/>
                </a:solidFill>
                <a:latin typeface="Nirmala UI"/>
              </a:rPr>
              <a:t>•  </a:t>
            </a:r>
            <a:r>
              <a:rPr sz="1200" b="1" i="0">
                <a:solidFill>
                  <a:srgbClr val="000000"/>
                </a:solidFill>
                <a:latin typeface="Nirmala UI"/>
              </a:rPr>
              <a:t>Expected:</a:t>
            </a:r>
            <a:r>
              <a:rPr sz="1200" b="0" i="0">
                <a:solidFill>
                  <a:srgbClr val="000000"/>
                </a:solidFill>
                <a:latin typeface="Nirmala UI"/>
              </a:rPr>
              <a:t> Hide the index (it still costs writes until dropped). Rerun the read queries and explain. If reads stay healthy, drop in a maintenance window. Monitor insert la</a:t>
            </a:r>
          </a:p>
        </p:txBody>
      </p:sp>
      <p:sp>
        <p:nvSpPr>
          <p:cNvPr id="14" name="TextBox 13"/>
          <p:cNvSpPr txBox="1"/>
          <p:nvPr/>
        </p:nvSpPr>
        <p:spPr>
          <a:xfrm>
            <a:off x="457200" y="5336109"/>
            <a:ext cx="11247120" cy="305503"/>
          </a:xfrm>
          <a:prstGeom prst="rect">
            <a:avLst/>
          </a:prstGeom>
          <a:noFill/>
        </p:spPr>
        <p:txBody>
          <a:bodyPr wrap="square" anchor="t" lIns="0" rIns="0" tIns="0" bIns="0">
            <a:spAutoFit/>
          </a:bodyPr>
          <a:lstStyle/>
          <a:p>
            <a:pPr>
              <a:spcBef>
                <a:spcPts val="0"/>
              </a:spcBef>
              <a:spcAft>
                <a:spcPts val="461"/>
              </a:spcAft>
            </a:pPr>
            <a:r>
              <a:rPr sz="1200" b="1" i="0">
                <a:solidFill>
                  <a:srgbClr val="000000"/>
                </a:solidFill>
                <a:latin typeface="Nirmala UI"/>
              </a:rPr>
              <a:t>_Full lab guide with every command: </a:t>
            </a:r>
            <a:r>
              <a:rPr sz="1200" b="0" i="0">
                <a:solidFill>
                  <a:srgbClr val="000000"/>
                </a:solidFill>
                <a:latin typeface="Nirmala UI"/>
              </a:rPr>
              <a:t>see </a:t>
            </a:r>
            <a:r>
              <a:rPr sz="1200" b="1" i="0">
                <a:solidFill>
                  <a:srgbClr val="000000"/>
                </a:solidFill>
                <a:latin typeface="Nirmala UI"/>
              </a:rPr>
              <a:t>Lab guide</a:t>
            </a:r>
            <a:r>
              <a:rPr sz="1200" b="0" i="0">
                <a:solidFill>
                  <a:srgbClr val="000000"/>
                </a:solidFill>
                <a:latin typeface="Nirmala UI"/>
              </a:rPr>
              <a:t> on the lesson divider slide._</a:t>
            </a:r>
          </a:p>
        </p:txBody>
      </p:sp>
      <p:sp>
        <p:nvSpPr>
          <p:cNvPr id="15" name="Rectangle 1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120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6.11 — CORRECT INDEXING ANTI-PATTERNS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488458"/>
            <a:ext cx="237744" cy="237744"/>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8845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47017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872506"/>
            <a:ext cx="11247120" cy="1679916"/>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Time:</a:t>
            </a:r>
            <a:r>
              <a:rPr sz="2000" b="0" i="0">
                <a:solidFill>
                  <a:srgbClr val="000000"/>
                </a:solidFill>
                <a:latin typeface="Nirmala UI"/>
              </a:rPr>
              <a:t> 15 min</a:t>
            </a:r>
          </a:p>
          <a:p>
            <a:pPr>
              <a:spcBef>
                <a:spcPts val="0"/>
              </a:spcBef>
              <a:spcAft>
                <a:spcPts val="769"/>
              </a:spcAft>
            </a:pPr>
            <a:r>
              <a:rPr sz="2000" b="0" i="0">
                <a:solidFill>
                  <a:srgbClr val="000000"/>
                </a:solidFill>
                <a:latin typeface="Nirmala UI"/>
              </a:rPr>
              <a:t>•  </a:t>
            </a:r>
            <a:r>
              <a:rPr sz="2000" b="0" i="0">
                <a:solidFill>
                  <a:srgbClr val="000000"/>
                </a:solidFill>
                <a:latin typeface="Nirmala UI"/>
              </a:rPr>
              <a:t>Rewrite seven unsafe indexing habits as safer practices.</a:t>
            </a:r>
          </a:p>
          <a:p>
            <a:pPr>
              <a:spcBef>
                <a:spcPts val="0"/>
              </a:spcBef>
              <a:spcAft>
                <a:spcPts val="769"/>
              </a:spcAft>
            </a:pPr>
            <a:r>
              <a:rPr sz="2000" b="0" i="0">
                <a:solidFill>
                  <a:srgbClr val="000000"/>
                </a:solidFill>
                <a:latin typeface="Nirmala UI"/>
              </a:rPr>
              <a:t>•  </a:t>
            </a:r>
            <a:r>
              <a:rPr sz="2000" b="1" i="0">
                <a:solidFill>
                  <a:srgbClr val="000000"/>
                </a:solidFill>
                <a:latin typeface="Nirmala UI"/>
              </a:rPr>
              <a:t>Lab guide:</a:t>
            </a:r>
            <a:r>
              <a:rPr sz="2000" b="0" i="0">
                <a:solidFill>
                  <a:srgbClr val="000000"/>
                </a:solidFill>
                <a:latin typeface="Nirmala UI"/>
              </a:rPr>
              <a:t> </a:t>
            </a:r>
            <a:r>
              <a:rPr sz="2000" b="0" i="0">
                <a:solidFill>
                  <a:srgbClr val="000000"/>
                </a:solidFill>
                <a:latin typeface="Consolas"/>
              </a:rPr>
              <a:t>Exercise 6.11</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121</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6.11 — STEPS 1–2</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399268"/>
            <a:ext cx="237744" cy="237744"/>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9926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38098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Rounded Rectangle 6"/>
          <p:cNvSpPr/>
          <p:nvPr/>
        </p:nvSpPr>
        <p:spPr>
          <a:xfrm>
            <a:off x="457200" y="1783316"/>
            <a:ext cx="11247120" cy="554736"/>
          </a:xfrm>
          <a:prstGeom prst="roundRect">
            <a:avLst>
              <a:gd name="adj" fmla="val 6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783316"/>
            <a:ext cx="11027664" cy="554736"/>
          </a:xfrm>
          <a:prstGeom prst="rect">
            <a:avLst/>
          </a:prstGeom>
          <a:noFill/>
        </p:spPr>
        <p:txBody>
          <a:bodyPr wrap="square" anchor="ctr" lIns="0" rIns="0" tIns="0" bIns="0">
            <a:spAutoFit/>
          </a:bodyPr>
          <a:lstStyle/>
          <a:p>
            <a:r>
              <a:rPr sz="1200" b="1" i="0">
                <a:solidFill>
                  <a:srgbClr val="D1282E"/>
                </a:solidFill>
                <a:latin typeface="Nirmala UI"/>
              </a:rPr>
              <a:t>LAB GUIDE   </a:t>
            </a:r>
            <a:r>
              <a:rPr sz="2000" b="0" i="0">
                <a:solidFill>
                  <a:srgbClr val="000000"/>
                </a:solidFill>
                <a:latin typeface="Consolas"/>
              </a:rPr>
              <a:t>Exercise 6.11</a:t>
            </a:r>
          </a:p>
        </p:txBody>
      </p:sp>
      <p:sp>
        <p:nvSpPr>
          <p:cNvPr id="9" name="TextBox 8"/>
          <p:cNvSpPr txBox="1"/>
          <p:nvPr/>
        </p:nvSpPr>
        <p:spPr>
          <a:xfrm>
            <a:off x="457200" y="2429492"/>
            <a:ext cx="11247120" cy="305503"/>
          </a:xfrm>
          <a:prstGeom prst="rect">
            <a:avLst/>
          </a:prstGeom>
          <a:noFill/>
        </p:spPr>
        <p:txBody>
          <a:bodyPr wrap="square" anchor="t" lIns="0" rIns="0" tIns="0" bIns="0">
            <a:spAutoFit/>
          </a:bodyPr>
          <a:lstStyle/>
          <a:p>
            <a:pPr>
              <a:spcBef>
                <a:spcPts val="0"/>
              </a:spcBef>
              <a:spcAft>
                <a:spcPts val="461"/>
              </a:spcAft>
            </a:pPr>
            <a:r>
              <a:rPr sz="1200" b="1" i="0">
                <a:solidFill>
                  <a:srgbClr val="000000"/>
                </a:solidFill>
                <a:latin typeface="Nirmala UI"/>
              </a:rPr>
              <a:t>Follow along (Windows) — key steps:</a:t>
            </a:r>
          </a:p>
        </p:txBody>
      </p:sp>
      <p:sp>
        <p:nvSpPr>
          <p:cNvPr id="10" name="TextBox 9"/>
          <p:cNvSpPr txBox="1"/>
          <p:nvPr/>
        </p:nvSpPr>
        <p:spPr>
          <a:xfrm>
            <a:off x="457200" y="2826435"/>
            <a:ext cx="11247120" cy="305503"/>
          </a:xfrm>
          <a:prstGeom prst="rect">
            <a:avLst/>
          </a:prstGeom>
          <a:noFill/>
        </p:spPr>
        <p:txBody>
          <a:bodyPr wrap="square" anchor="t" lIns="0" rIns="0" tIns="0" bIns="0">
            <a:spAutoFit/>
          </a:bodyPr>
          <a:lstStyle/>
          <a:p>
            <a:pPr>
              <a:spcBef>
                <a:spcPts val="0"/>
              </a:spcBef>
              <a:spcAft>
                <a:spcPts val="461"/>
              </a:spcAft>
            </a:pPr>
            <a:r>
              <a:rPr sz="1200" b="1" i="0">
                <a:solidFill>
                  <a:srgbClr val="000000"/>
                </a:solidFill>
                <a:latin typeface="Nirmala UI"/>
              </a:rPr>
              <a:t>Step 1 — Correct the first four</a:t>
            </a:r>
          </a:p>
        </p:txBody>
      </p:sp>
      <p:sp>
        <p:nvSpPr>
          <p:cNvPr id="11" name="TextBox 10"/>
          <p:cNvSpPr txBox="1"/>
          <p:nvPr/>
        </p:nvSpPr>
        <p:spPr>
          <a:xfrm>
            <a:off x="457200" y="3223378"/>
            <a:ext cx="11247120" cy="766454"/>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  </a:t>
            </a:r>
            <a:r>
              <a:rPr sz="1200" b="1" i="0">
                <a:solidFill>
                  <a:srgbClr val="000000"/>
                </a:solidFill>
                <a:latin typeface="Nirmala UI"/>
              </a:rPr>
              <a:t>Do:</a:t>
            </a:r>
            <a:r>
              <a:rPr sz="1200" b="0" i="0">
                <a:solidFill>
                  <a:srgbClr val="000000"/>
                </a:solidFill>
                <a:latin typeface="Nirmala UI"/>
              </a:rPr>
              <a:t> Rewrite: index every field; one new index per query without checking overlap; put a range field first in every compound index; drop unused indexes immediately.</a:t>
            </a:r>
          </a:p>
          <a:p>
            <a:pPr>
              <a:spcBef>
                <a:spcPts val="0"/>
              </a:spcBef>
              <a:spcAft>
                <a:spcPts val="461"/>
              </a:spcAft>
            </a:pPr>
            <a:r>
              <a:rPr sz="1200" b="0" i="0">
                <a:solidFill>
                  <a:srgbClr val="000000"/>
                </a:solidFill>
                <a:latin typeface="Nirmala UI"/>
              </a:rPr>
              <a:t>•  </a:t>
            </a:r>
            <a:r>
              <a:rPr sz="1200" b="1" i="0">
                <a:solidFill>
                  <a:srgbClr val="000000"/>
                </a:solidFill>
                <a:latin typeface="Nirmala UI"/>
              </a:rPr>
              <a:t>Expected:</a:t>
            </a:r>
            <a:r>
              <a:rPr sz="1200" b="0" i="0">
                <a:solidFill>
                  <a:srgbClr val="000000"/>
                </a:solidFill>
                <a:latin typeface="Nirmala UI"/>
              </a:rPr>
              <a:t> Index recurring query shapes. Reuse prefixes. Equality (then sort) before range. Hide, measure, then drop.</a:t>
            </a:r>
          </a:p>
        </p:txBody>
      </p:sp>
      <p:sp>
        <p:nvSpPr>
          <p:cNvPr id="12" name="TextBox 11"/>
          <p:cNvSpPr txBox="1"/>
          <p:nvPr/>
        </p:nvSpPr>
        <p:spPr>
          <a:xfrm>
            <a:off x="457200" y="4081272"/>
            <a:ext cx="11247120" cy="305503"/>
          </a:xfrm>
          <a:prstGeom prst="rect">
            <a:avLst/>
          </a:prstGeom>
          <a:noFill/>
        </p:spPr>
        <p:txBody>
          <a:bodyPr wrap="square" anchor="t" lIns="0" rIns="0" tIns="0" bIns="0">
            <a:spAutoFit/>
          </a:bodyPr>
          <a:lstStyle/>
          <a:p>
            <a:pPr>
              <a:spcBef>
                <a:spcPts val="0"/>
              </a:spcBef>
              <a:spcAft>
                <a:spcPts val="461"/>
              </a:spcAft>
            </a:pPr>
            <a:r>
              <a:rPr sz="1200" b="1" i="0">
                <a:solidFill>
                  <a:srgbClr val="000000"/>
                </a:solidFill>
                <a:latin typeface="Nirmala UI"/>
              </a:rPr>
              <a:t>Step 2 — Correct the last three</a:t>
            </a:r>
          </a:p>
        </p:txBody>
      </p:sp>
      <p:sp>
        <p:nvSpPr>
          <p:cNvPr id="13" name="TextBox 12"/>
          <p:cNvSpPr txBox="1"/>
          <p:nvPr/>
        </p:nvSpPr>
        <p:spPr>
          <a:xfrm>
            <a:off x="457200" y="4478215"/>
            <a:ext cx="11247120" cy="766454"/>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  </a:t>
            </a:r>
            <a:r>
              <a:rPr sz="1200" b="1" i="0">
                <a:solidFill>
                  <a:srgbClr val="000000"/>
                </a:solidFill>
                <a:latin typeface="Nirmala UI"/>
              </a:rPr>
              <a:t>Do:</a:t>
            </a:r>
            <a:r>
              <a:rPr sz="1200" b="0" i="0">
                <a:solidFill>
                  <a:srgbClr val="000000"/>
                </a:solidFill>
                <a:latin typeface="Nirmala UI"/>
              </a:rPr>
              <a:t> Rewrite: treat every IXSCAN as optimal; ignore write overhead; design indexes only on development-sized data.</a:t>
            </a:r>
          </a:p>
          <a:p>
            <a:pPr>
              <a:spcBef>
                <a:spcPts val="0"/>
              </a:spcBef>
              <a:spcAft>
                <a:spcPts val="461"/>
              </a:spcAft>
            </a:pPr>
            <a:r>
              <a:rPr sz="1200" b="0" i="0">
                <a:solidFill>
                  <a:srgbClr val="000000"/>
                </a:solidFill>
                <a:latin typeface="Nirmala UI"/>
              </a:rPr>
              <a:t>•  </a:t>
            </a:r>
            <a:r>
              <a:rPr sz="1200" b="1" i="0">
                <a:solidFill>
                  <a:srgbClr val="000000"/>
                </a:solidFill>
                <a:latin typeface="Nirmala UI"/>
              </a:rPr>
              <a:t>Expected:</a:t>
            </a:r>
            <a:r>
              <a:rPr sz="1200" b="0" i="0">
                <a:solidFill>
                  <a:srgbClr val="000000"/>
                </a:solidFill>
                <a:latin typeface="Nirmala UI"/>
              </a:rPr>
              <a:t> Read examined keys/docs. Count secondary indexes on the write path. Validate with production-like volume and distribution.</a:t>
            </a:r>
          </a:p>
        </p:txBody>
      </p:sp>
      <p:sp>
        <p:nvSpPr>
          <p:cNvPr id="14" name="TextBox 13"/>
          <p:cNvSpPr txBox="1"/>
          <p:nvPr/>
        </p:nvSpPr>
        <p:spPr>
          <a:xfrm>
            <a:off x="457200" y="5336109"/>
            <a:ext cx="11247120" cy="305503"/>
          </a:xfrm>
          <a:prstGeom prst="rect">
            <a:avLst/>
          </a:prstGeom>
          <a:noFill/>
        </p:spPr>
        <p:txBody>
          <a:bodyPr wrap="square" anchor="t" lIns="0" rIns="0" tIns="0" bIns="0">
            <a:spAutoFit/>
          </a:bodyPr>
          <a:lstStyle/>
          <a:p>
            <a:pPr>
              <a:spcBef>
                <a:spcPts val="0"/>
              </a:spcBef>
              <a:spcAft>
                <a:spcPts val="461"/>
              </a:spcAft>
            </a:pPr>
            <a:r>
              <a:rPr sz="1200" b="1" i="0">
                <a:solidFill>
                  <a:srgbClr val="000000"/>
                </a:solidFill>
                <a:latin typeface="Nirmala UI"/>
              </a:rPr>
              <a:t>_Full lab guide with every command: </a:t>
            </a:r>
            <a:r>
              <a:rPr sz="1200" b="0" i="0">
                <a:solidFill>
                  <a:srgbClr val="000000"/>
                </a:solidFill>
                <a:latin typeface="Nirmala UI"/>
              </a:rPr>
              <a:t>see </a:t>
            </a:r>
            <a:r>
              <a:rPr sz="1200" b="1" i="0">
                <a:solidFill>
                  <a:srgbClr val="000000"/>
                </a:solidFill>
                <a:latin typeface="Nirmala UI"/>
              </a:rPr>
              <a:t>Lab guide</a:t>
            </a:r>
            <a:r>
              <a:rPr sz="1200" b="0" i="0">
                <a:solidFill>
                  <a:srgbClr val="000000"/>
                </a:solidFill>
                <a:latin typeface="Nirmala UI"/>
              </a:rPr>
              <a:t> on the lesson divider slide._</a:t>
            </a:r>
          </a:p>
        </p:txBody>
      </p:sp>
      <p:sp>
        <p:nvSpPr>
          <p:cNvPr id="15" name="Rectangle 1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122</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6.12 — BUILD AN INDEXING RECOMMENDATION</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320818"/>
            <a:ext cx="237744" cy="237744"/>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32081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30253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704866"/>
            <a:ext cx="11247120" cy="2015196"/>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Time:</a:t>
            </a:r>
            <a:r>
              <a:rPr sz="2000" b="0" i="0">
                <a:solidFill>
                  <a:srgbClr val="000000"/>
                </a:solidFill>
                <a:latin typeface="Nirmala UI"/>
              </a:rPr>
              <a:t> 20 min</a:t>
            </a:r>
          </a:p>
          <a:p>
            <a:pPr>
              <a:spcBef>
                <a:spcPts val="0"/>
              </a:spcBef>
              <a:spcAft>
                <a:spcPts val="769"/>
              </a:spcAft>
            </a:pPr>
            <a:r>
              <a:rPr sz="2000" b="0" i="0">
                <a:solidFill>
                  <a:srgbClr val="000000"/>
                </a:solidFill>
                <a:latin typeface="Nirmala UI"/>
              </a:rPr>
              <a:t>•  </a:t>
            </a:r>
            <a:r>
              <a:rPr sz="2000" b="0" i="0">
                <a:solidFill>
                  <a:srgbClr val="000000"/>
                </a:solidFill>
                <a:latin typeface="Nirmala UI"/>
              </a:rPr>
              <a:t>Write query shape, plan, proposed index, benefit, cost, validation, and rollback.</a:t>
            </a:r>
          </a:p>
          <a:p>
            <a:pPr>
              <a:spcBef>
                <a:spcPts val="0"/>
              </a:spcBef>
              <a:spcAft>
                <a:spcPts val="769"/>
              </a:spcAft>
            </a:pPr>
            <a:r>
              <a:rPr sz="2000" b="0" i="0">
                <a:solidFill>
                  <a:srgbClr val="000000"/>
                </a:solidFill>
                <a:latin typeface="Nirmala UI"/>
              </a:rPr>
              <a:t>•  </a:t>
            </a:r>
            <a:r>
              <a:rPr sz="2000" b="1" i="0">
                <a:solidFill>
                  <a:srgbClr val="000000"/>
                </a:solidFill>
                <a:latin typeface="Nirmala UI"/>
              </a:rPr>
              <a:t>Lab guide:</a:t>
            </a:r>
            <a:r>
              <a:rPr sz="2000" b="0" i="0">
                <a:solidFill>
                  <a:srgbClr val="000000"/>
                </a:solidFill>
                <a:latin typeface="Nirmala UI"/>
              </a:rPr>
              <a:t> </a:t>
            </a:r>
            <a:r>
              <a:rPr sz="2000" b="0" i="0">
                <a:solidFill>
                  <a:srgbClr val="000000"/>
                </a:solidFill>
                <a:latin typeface="Consolas"/>
              </a:rPr>
              <a:t>Exercise 6.12</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123</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6.12 — STEPS 1–2</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522164"/>
            <a:ext cx="237744" cy="237744"/>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22164"/>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503876"/>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Rounded Rectangle 6"/>
          <p:cNvSpPr/>
          <p:nvPr/>
        </p:nvSpPr>
        <p:spPr>
          <a:xfrm>
            <a:off x="457200" y="1906212"/>
            <a:ext cx="11247120" cy="554736"/>
          </a:xfrm>
          <a:prstGeom prst="roundRect">
            <a:avLst>
              <a:gd name="adj" fmla="val 6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906212"/>
            <a:ext cx="11027664" cy="554736"/>
          </a:xfrm>
          <a:prstGeom prst="rect">
            <a:avLst/>
          </a:prstGeom>
          <a:noFill/>
        </p:spPr>
        <p:txBody>
          <a:bodyPr wrap="square" anchor="ctr" lIns="0" rIns="0" tIns="0" bIns="0">
            <a:spAutoFit/>
          </a:bodyPr>
          <a:lstStyle/>
          <a:p>
            <a:r>
              <a:rPr sz="1200" b="1" i="0">
                <a:solidFill>
                  <a:srgbClr val="D1282E"/>
                </a:solidFill>
                <a:latin typeface="Nirmala UI"/>
              </a:rPr>
              <a:t>LAB GUIDE   </a:t>
            </a:r>
            <a:r>
              <a:rPr sz="2000" b="0" i="0">
                <a:solidFill>
                  <a:srgbClr val="000000"/>
                </a:solidFill>
                <a:latin typeface="Consolas"/>
              </a:rPr>
              <a:t>Exercise 6.12</a:t>
            </a:r>
          </a:p>
        </p:txBody>
      </p:sp>
      <p:sp>
        <p:nvSpPr>
          <p:cNvPr id="9" name="TextBox 8"/>
          <p:cNvSpPr txBox="1"/>
          <p:nvPr/>
        </p:nvSpPr>
        <p:spPr>
          <a:xfrm>
            <a:off x="457200" y="2552388"/>
            <a:ext cx="11247120" cy="262206"/>
          </a:xfrm>
          <a:prstGeom prst="rect">
            <a:avLst/>
          </a:prstGeom>
          <a:noFill/>
        </p:spPr>
        <p:txBody>
          <a:bodyPr wrap="square" anchor="t" lIns="0" rIns="0" tIns="0" bIns="0">
            <a:spAutoFit/>
          </a:bodyPr>
          <a:lstStyle/>
          <a:p>
            <a:pPr>
              <a:spcBef>
                <a:spcPts val="0"/>
              </a:spcBef>
              <a:spcAft>
                <a:spcPts val="384"/>
              </a:spcAft>
            </a:pPr>
            <a:r>
              <a:rPr sz="1000" b="1" i="0">
                <a:solidFill>
                  <a:srgbClr val="000000"/>
                </a:solidFill>
                <a:latin typeface="Nirmala UI"/>
              </a:rPr>
              <a:t>Follow along (Windows) — key steps:</a:t>
            </a:r>
          </a:p>
        </p:txBody>
      </p:sp>
      <p:sp>
        <p:nvSpPr>
          <p:cNvPr id="10" name="TextBox 9"/>
          <p:cNvSpPr txBox="1"/>
          <p:nvPr/>
        </p:nvSpPr>
        <p:spPr>
          <a:xfrm>
            <a:off x="457200" y="2906034"/>
            <a:ext cx="11247120" cy="262206"/>
          </a:xfrm>
          <a:prstGeom prst="rect">
            <a:avLst/>
          </a:prstGeom>
          <a:noFill/>
        </p:spPr>
        <p:txBody>
          <a:bodyPr wrap="square" anchor="t" lIns="0" rIns="0" tIns="0" bIns="0">
            <a:spAutoFit/>
          </a:bodyPr>
          <a:lstStyle/>
          <a:p>
            <a:pPr>
              <a:spcBef>
                <a:spcPts val="0"/>
              </a:spcBef>
              <a:spcAft>
                <a:spcPts val="384"/>
              </a:spcAft>
            </a:pPr>
            <a:r>
              <a:rPr sz="1000" b="1" i="0">
                <a:solidFill>
                  <a:srgbClr val="000000"/>
                </a:solidFill>
                <a:latin typeface="Nirmala UI"/>
              </a:rPr>
              <a:t>Step 1 — Fill the template</a:t>
            </a:r>
          </a:p>
        </p:txBody>
      </p:sp>
      <p:sp>
        <p:nvSpPr>
          <p:cNvPr id="11" name="TextBox 10"/>
          <p:cNvSpPr txBox="1"/>
          <p:nvPr/>
        </p:nvSpPr>
        <p:spPr>
          <a:xfrm>
            <a:off x="457200" y="3259680"/>
            <a:ext cx="11247120" cy="813972"/>
          </a:xfrm>
          <a:prstGeom prst="rect">
            <a:avLst/>
          </a:prstGeom>
          <a:noFill/>
        </p:spPr>
        <p:txBody>
          <a:bodyPr wrap="square" anchor="t" lIns="0" rIns="0" tIns="0" bIns="0">
            <a:spAutoFit/>
          </a:bodyPr>
          <a:lstStyle/>
          <a:p>
            <a:pPr>
              <a:spcBef>
                <a:spcPts val="0"/>
              </a:spcBef>
              <a:spcAft>
                <a:spcPts val="384"/>
              </a:spcAft>
            </a:pPr>
            <a:r>
              <a:rPr sz="1000" b="0" i="0">
                <a:solidFill>
                  <a:srgbClr val="000000"/>
                </a:solidFill>
                <a:latin typeface="Nirmala UI"/>
              </a:rPr>
              <a:t>•  </a:t>
            </a:r>
            <a:r>
              <a:rPr sz="1000" b="1" i="0">
                <a:solidFill>
                  <a:srgbClr val="000000"/>
                </a:solidFill>
                <a:latin typeface="Nirmala UI"/>
              </a:rPr>
              <a:t>Do:</a:t>
            </a:r>
            <a:r>
              <a:rPr sz="1000" b="0" i="0">
                <a:solidFill>
                  <a:srgbClr val="000000"/>
                </a:solidFill>
                <a:latin typeface="Nirmala UI"/>
              </a:rPr>
              <a:t> Pick the catalog query (active products in a category, sorted by price) or customer order history. Write: query shape, current plan assumption, proposed index, expected improvement, write/storage cost.</a:t>
            </a:r>
          </a:p>
          <a:p>
            <a:pPr>
              <a:spcBef>
                <a:spcPts val="0"/>
              </a:spcBef>
              <a:spcAft>
                <a:spcPts val="384"/>
              </a:spcAft>
            </a:pPr>
            <a:r>
              <a:rPr sz="1000" b="0" i="0">
                <a:solidFill>
                  <a:srgbClr val="000000"/>
                </a:solidFill>
                <a:latin typeface="Nirmala UI"/>
              </a:rPr>
              <a:t>•  </a:t>
            </a:r>
            <a:r>
              <a:rPr sz="1000" b="1" i="0">
                <a:solidFill>
                  <a:srgbClr val="000000"/>
                </a:solidFill>
                <a:latin typeface="Nirmala UI"/>
              </a:rPr>
              <a:t>Expected:</a:t>
            </a:r>
            <a:r>
              <a:rPr sz="1000" b="0" i="0">
                <a:solidFill>
                  <a:srgbClr val="000000"/>
                </a:solidFill>
                <a:latin typeface="Nirmala UI"/>
              </a:rPr>
              <a:t> A complete paragraph or bullet list covering those five items. Example: </a:t>
            </a:r>
            <a:r>
              <a:rPr sz="1000" b="0" i="0">
                <a:solidFill>
                  <a:srgbClr val="000000"/>
                </a:solidFill>
                <a:latin typeface="Consolas"/>
              </a:rPr>
              <a:t>{ category: 1, active: 1, price: 1 }</a:t>
            </a:r>
            <a:r>
              <a:rPr sz="1000" b="0" i="0">
                <a:solidFill>
                  <a:srgbClr val="000000"/>
                </a:solidFill>
                <a:latin typeface="Nirmala UI"/>
              </a:rPr>
              <a:t> named </a:t>
            </a:r>
            <a:r>
              <a:rPr sz="1000" b="0" i="0">
                <a:solidFill>
                  <a:srgbClr val="000000"/>
                </a:solidFill>
                <a:latin typeface="Consolas"/>
              </a:rPr>
              <a:t>idx_products_category_active_price</a:t>
            </a:r>
            <a:r>
              <a:rPr sz="1000" b="0" i="0">
                <a:solidFill>
                  <a:srgbClr val="000000"/>
                </a:solidFill>
                <a:latin typeface="Nirmala UI"/>
              </a:rPr>
              <a:t>.</a:t>
            </a:r>
          </a:p>
        </p:txBody>
      </p:sp>
      <p:sp>
        <p:nvSpPr>
          <p:cNvPr id="12" name="TextBox 11"/>
          <p:cNvSpPr txBox="1"/>
          <p:nvPr/>
        </p:nvSpPr>
        <p:spPr>
          <a:xfrm>
            <a:off x="457200" y="4165092"/>
            <a:ext cx="11247120" cy="262206"/>
          </a:xfrm>
          <a:prstGeom prst="rect">
            <a:avLst/>
          </a:prstGeom>
          <a:noFill/>
        </p:spPr>
        <p:txBody>
          <a:bodyPr wrap="square" anchor="t" lIns="0" rIns="0" tIns="0" bIns="0">
            <a:spAutoFit/>
          </a:bodyPr>
          <a:lstStyle/>
          <a:p>
            <a:pPr>
              <a:spcBef>
                <a:spcPts val="0"/>
              </a:spcBef>
              <a:spcAft>
                <a:spcPts val="384"/>
              </a:spcAft>
            </a:pPr>
            <a:r>
              <a:rPr sz="1000" b="1" i="0">
                <a:solidFill>
                  <a:srgbClr val="000000"/>
                </a:solidFill>
                <a:latin typeface="Nirmala UI"/>
              </a:rPr>
              <a:t>Step 2 — Validation and rollback</a:t>
            </a:r>
          </a:p>
        </p:txBody>
      </p:sp>
      <p:sp>
        <p:nvSpPr>
          <p:cNvPr id="13" name="TextBox 12"/>
          <p:cNvSpPr txBox="1"/>
          <p:nvPr/>
        </p:nvSpPr>
        <p:spPr>
          <a:xfrm>
            <a:off x="457200" y="4518738"/>
            <a:ext cx="11247120" cy="646332"/>
          </a:xfrm>
          <a:prstGeom prst="rect">
            <a:avLst/>
          </a:prstGeom>
          <a:noFill/>
        </p:spPr>
        <p:txBody>
          <a:bodyPr wrap="square" anchor="t" lIns="0" rIns="0" tIns="0" bIns="0">
            <a:spAutoFit/>
          </a:bodyPr>
          <a:lstStyle/>
          <a:p>
            <a:pPr>
              <a:spcBef>
                <a:spcPts val="0"/>
              </a:spcBef>
              <a:spcAft>
                <a:spcPts val="384"/>
              </a:spcAft>
            </a:pPr>
            <a:r>
              <a:rPr sz="1000" b="0" i="0">
                <a:solidFill>
                  <a:srgbClr val="000000"/>
                </a:solidFill>
                <a:latin typeface="Nirmala UI"/>
              </a:rPr>
              <a:t>•  </a:t>
            </a:r>
            <a:r>
              <a:rPr sz="1000" b="1" i="0">
                <a:solidFill>
                  <a:srgbClr val="000000"/>
                </a:solidFill>
                <a:latin typeface="Nirmala UI"/>
              </a:rPr>
              <a:t>Do:</a:t>
            </a:r>
            <a:r>
              <a:rPr sz="1000" b="0" i="0">
                <a:solidFill>
                  <a:srgbClr val="000000"/>
                </a:solidFill>
                <a:latin typeface="Nirmala UI"/>
              </a:rPr>
              <a:t> Add a validation procedure (explain before/after, examined counts) and a rollback procedure (dropIndex of the named index; keep the createIndex snippet).</a:t>
            </a:r>
          </a:p>
          <a:p>
            <a:pPr>
              <a:spcBef>
                <a:spcPts val="0"/>
              </a:spcBef>
              <a:spcAft>
                <a:spcPts val="384"/>
              </a:spcAft>
            </a:pPr>
            <a:r>
              <a:rPr sz="1000" b="0" i="0">
                <a:solidFill>
                  <a:srgbClr val="000000"/>
                </a:solidFill>
                <a:latin typeface="Nirmala UI"/>
              </a:rPr>
              <a:t>•  </a:t>
            </a:r>
            <a:r>
              <a:rPr sz="1000" b="1" i="0">
                <a:solidFill>
                  <a:srgbClr val="000000"/>
                </a:solidFill>
                <a:latin typeface="Nirmala UI"/>
              </a:rPr>
              <a:t>Expected:</a:t>
            </a:r>
            <a:r>
              <a:rPr sz="1000" b="0" i="0">
                <a:solidFill>
                  <a:srgbClr val="000000"/>
                </a:solidFill>
                <a:latin typeface="Nirmala UI"/>
              </a:rPr>
              <a:t> Baseline explain → createIndex → explain again → compare nReturned vs keys/docs examined and SORT absence. Rollback: `db.products.dropIndex("idx</a:t>
            </a:r>
            <a:r>
              <a:rPr sz="1000" b="0" i="1">
                <a:solidFill>
                  <a:srgbClr val="000000"/>
                </a:solidFill>
                <a:latin typeface="Nirmala UI"/>
              </a:rPr>
              <a:t>products</a:t>
            </a:r>
            <a:r>
              <a:rPr sz="1000" b="0" i="0">
                <a:solidFill>
                  <a:srgbClr val="000000"/>
                </a:solidFill>
                <a:latin typeface="Nirmala UI"/>
              </a:rPr>
              <a:t>catego</a:t>
            </a:r>
          </a:p>
        </p:txBody>
      </p:sp>
      <p:sp>
        <p:nvSpPr>
          <p:cNvPr id="14" name="TextBox 13"/>
          <p:cNvSpPr txBox="1"/>
          <p:nvPr/>
        </p:nvSpPr>
        <p:spPr>
          <a:xfrm>
            <a:off x="457200" y="5256510"/>
            <a:ext cx="11247120" cy="262206"/>
          </a:xfrm>
          <a:prstGeom prst="rect">
            <a:avLst/>
          </a:prstGeom>
          <a:noFill/>
        </p:spPr>
        <p:txBody>
          <a:bodyPr wrap="square" anchor="t" lIns="0" rIns="0" tIns="0" bIns="0">
            <a:spAutoFit/>
          </a:bodyPr>
          <a:lstStyle/>
          <a:p>
            <a:pPr>
              <a:spcBef>
                <a:spcPts val="0"/>
              </a:spcBef>
              <a:spcAft>
                <a:spcPts val="384"/>
              </a:spcAft>
            </a:pPr>
            <a:r>
              <a:rPr sz="1000" b="1" i="0">
                <a:solidFill>
                  <a:srgbClr val="000000"/>
                </a:solidFill>
                <a:latin typeface="Nirmala UI"/>
              </a:rPr>
              <a:t>_Full lab guide with every command: </a:t>
            </a:r>
            <a:r>
              <a:rPr sz="1000" b="0" i="0">
                <a:solidFill>
                  <a:srgbClr val="000000"/>
                </a:solidFill>
                <a:latin typeface="Nirmala UI"/>
              </a:rPr>
              <a:t>see </a:t>
            </a:r>
            <a:r>
              <a:rPr sz="1000" b="1" i="0">
                <a:solidFill>
                  <a:srgbClr val="000000"/>
                </a:solidFill>
                <a:latin typeface="Nirmala UI"/>
              </a:rPr>
              <a:t>Lab guide</a:t>
            </a:r>
            <a:r>
              <a:rPr sz="1000" b="0" i="0">
                <a:solidFill>
                  <a:srgbClr val="000000"/>
                </a:solidFill>
                <a:latin typeface="Nirmala UI"/>
              </a:rPr>
              <a:t> on the lesson divider slide._</a:t>
            </a:r>
          </a:p>
        </p:txBody>
      </p:sp>
      <p:sp>
        <p:nvSpPr>
          <p:cNvPr id="15" name="Rectangle 1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124</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HANDS-ON LABS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495320"/>
            <a:ext cx="237744" cy="237744"/>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95320"/>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477032"/>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879368"/>
            <a:ext cx="11247120" cy="660321"/>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Same </a:t>
            </a:r>
            <a:r>
              <a:rPr sz="1600" b="0" i="0">
                <a:solidFill>
                  <a:srgbClr val="000000"/>
                </a:solidFill>
                <a:latin typeface="Consolas"/>
              </a:rPr>
              <a:t>training_store</a:t>
            </a:r>
            <a:r>
              <a:rPr sz="1600" b="0" i="0">
                <a:solidFill>
                  <a:srgbClr val="000000"/>
                </a:solidFill>
                <a:latin typeface="Nirmala UI"/>
              </a:rPr>
              <a:t> database. Reload </a:t>
            </a:r>
            <a:r>
              <a:rPr sz="1600" b="0" i="0">
                <a:solidFill>
                  <a:srgbClr val="000000"/>
                </a:solidFill>
                <a:latin typeface="Consolas"/>
              </a:rPr>
              <a:t>load.js</a:t>
            </a:r>
            <a:r>
              <a:rPr sz="1600" b="0" i="0">
                <a:solidFill>
                  <a:srgbClr val="000000"/>
                </a:solidFill>
                <a:latin typeface="Nirmala UI"/>
              </a:rPr>
              <a:t> if data or indexes are messy — then </a:t>
            </a:r>
            <a:r>
              <a:rPr sz="1600" b="1" i="0">
                <a:solidFill>
                  <a:srgbClr val="000000"/>
                </a:solidFill>
                <a:latin typeface="Nirmala UI"/>
              </a:rPr>
              <a:t>re-create only the indexes the lab asks for</a:t>
            </a:r>
            <a:r>
              <a:rPr sz="1600" b="0" i="0">
                <a:solidFill>
                  <a:srgbClr val="000000"/>
                </a:solidFill>
                <a:latin typeface="Nirmala UI"/>
              </a:rPr>
              <a:t>.</a:t>
            </a:r>
          </a:p>
        </p:txBody>
      </p:sp>
      <p:graphicFrame>
        <p:nvGraphicFramePr>
          <p:cNvPr id="8" name="Table 7"/>
          <p:cNvGraphicFramePr>
            <a:graphicFrameLocks noGrp="1"/>
          </p:cNvGraphicFramePr>
          <p:nvPr/>
        </p:nvGraphicFramePr>
        <p:xfrm>
          <a:off x="457200" y="2631129"/>
          <a:ext cx="11247120" cy="2430894"/>
        </p:xfrm>
        <a:graphic>
          <a:graphicData uri="http://schemas.openxmlformats.org/drawingml/2006/table">
            <a:tbl>
              <a:tblPr firstRow="1" bandRow="1">
                <a:tableStyleId>{5C22544A-7EE6-4342-B048-85BDC9FD1C3A}</a:tableStyleId>
              </a:tblPr>
              <a:tblGrid>
                <a:gridCol w="3148739"/>
                <a:gridCol w="8098381"/>
              </a:tblGrid>
              <a:tr h="405149">
                <a:tc>
                  <a:txBody>
                    <a:bodyPr/>
                    <a:lstStyle/>
                    <a:p>
                      <a:pPr algn="l"/>
                      <a:r>
                        <a:rPr sz="1476" b="1">
                          <a:solidFill>
                            <a:srgbClr val="FFFFFF"/>
                          </a:solidFill>
                          <a:latin typeface="Nirmala UI"/>
                        </a:rPr>
                        <a:t>Lab</a:t>
                      </a:r>
                    </a:p>
                  </a:txBody>
                  <a:tcPr>
                    <a:solidFill>
                      <a:srgbClr val="002060"/>
                    </a:solidFill>
                  </a:tcPr>
                </a:tc>
                <a:tc>
                  <a:txBody>
                    <a:bodyPr/>
                    <a:lstStyle/>
                    <a:p>
                      <a:pPr algn="l"/>
                      <a:r>
                        <a:rPr sz="1476" b="1">
                          <a:solidFill>
                            <a:srgbClr val="FFFFFF"/>
                          </a:solidFill>
                          <a:latin typeface="Nirmala UI"/>
                        </a:rPr>
                        <a:t>Focus</a:t>
                      </a:r>
                    </a:p>
                  </a:txBody>
                  <a:tcPr>
                    <a:solidFill>
                      <a:srgbClr val="002060"/>
                    </a:solidFill>
                  </a:tcPr>
                </a:tc>
              </a:tr>
              <a:tr h="405149">
                <a:tc>
                  <a:txBody>
                    <a:bodyPr/>
                    <a:lstStyle/>
                    <a:p>
                      <a:r>
                        <a:rPr sz="1476" b="1">
                          <a:solidFill>
                            <a:srgbClr val="000000"/>
                          </a:solidFill>
                          <a:latin typeface="Nirmala UI"/>
                        </a:rPr>
                        <a:t>6.1</a:t>
                      </a:r>
                    </a:p>
                  </a:txBody>
                  <a:tcPr>
                    <a:solidFill>
                      <a:srgbClr val="FFFFFF"/>
                    </a:solidFill>
                  </a:tcPr>
                </a:tc>
                <a:tc>
                  <a:txBody>
                    <a:bodyPr/>
                    <a:lstStyle/>
                    <a:p>
                      <a:r>
                        <a:rPr sz="1476" b="0">
                          <a:solidFill>
                            <a:srgbClr val="000000"/>
                          </a:solidFill>
                          <a:latin typeface="Nirmala UI"/>
                        </a:rPr>
                        <a:t>Baseline explain — no new indexes</a:t>
                      </a:r>
                    </a:p>
                  </a:txBody>
                  <a:tcPr>
                    <a:solidFill>
                      <a:srgbClr val="FFFFFF"/>
                    </a:solidFill>
                  </a:tcPr>
                </a:tc>
              </a:tr>
              <a:tr h="405149">
                <a:tc>
                  <a:txBody>
                    <a:bodyPr/>
                    <a:lstStyle/>
                    <a:p>
                      <a:r>
                        <a:rPr sz="1476" b="1">
                          <a:solidFill>
                            <a:srgbClr val="000000"/>
                          </a:solidFill>
                          <a:latin typeface="Nirmala UI"/>
                        </a:rPr>
                        <a:t>6.2–6.4</a:t>
                      </a:r>
                    </a:p>
                  </a:txBody>
                  <a:tcPr>
                    <a:solidFill>
                      <a:srgbClr val="F5F5F5"/>
                    </a:solidFill>
                  </a:tcPr>
                </a:tc>
                <a:tc>
                  <a:txBody>
                    <a:bodyPr/>
                    <a:lstStyle/>
                    <a:p>
                      <a:r>
                        <a:rPr sz="1476" b="0">
                          <a:solidFill>
                            <a:srgbClr val="000000"/>
                          </a:solidFill>
                          <a:latin typeface="Nirmala UI"/>
                        </a:rPr>
                        <a:t>Single-field, compound, filter+sort</a:t>
                      </a:r>
                    </a:p>
                  </a:txBody>
                  <a:tcPr>
                    <a:solidFill>
                      <a:srgbClr val="F5F5F5"/>
                    </a:solidFill>
                  </a:tcPr>
                </a:tc>
              </a:tr>
              <a:tr h="405149">
                <a:tc>
                  <a:txBody>
                    <a:bodyPr/>
                    <a:lstStyle/>
                    <a:p>
                      <a:r>
                        <a:rPr sz="1476" b="1">
                          <a:solidFill>
                            <a:srgbClr val="000000"/>
                          </a:solidFill>
                          <a:latin typeface="Nirmala UI"/>
                        </a:rPr>
                        <a:t>6.5–6.7</a:t>
                      </a:r>
                    </a:p>
                  </a:txBody>
                  <a:tcPr>
                    <a:solidFill>
                      <a:srgbClr val="FFFFFF"/>
                    </a:solidFill>
                  </a:tcPr>
                </a:tc>
                <a:tc>
                  <a:txBody>
                    <a:bodyPr/>
                    <a:lstStyle/>
                    <a:p>
                      <a:r>
                        <a:rPr sz="1476" b="0">
                          <a:solidFill>
                            <a:srgbClr val="000000"/>
                          </a:solidFill>
                          <a:latin typeface="Nirmala UI"/>
                        </a:rPr>
                        <a:t>Nested/multikey, unique, partial/TTL</a:t>
                      </a:r>
                    </a:p>
                  </a:txBody>
                  <a:tcPr>
                    <a:solidFill>
                      <a:srgbClr val="FFFFFF"/>
                    </a:solidFill>
                  </a:tcPr>
                </a:tc>
              </a:tr>
              <a:tr h="405149">
                <a:tc>
                  <a:txBody>
                    <a:bodyPr/>
                    <a:lstStyle/>
                    <a:p>
                      <a:r>
                        <a:rPr sz="1476" b="1">
                          <a:solidFill>
                            <a:srgbClr val="000000"/>
                          </a:solidFill>
                          <a:latin typeface="Nirmala UI"/>
                        </a:rPr>
                        <a:t>6.8–6.9</a:t>
                      </a:r>
                    </a:p>
                  </a:txBody>
                  <a:tcPr>
                    <a:solidFill>
                      <a:srgbClr val="F5F5F5"/>
                    </a:solidFill>
                  </a:tcPr>
                </a:tc>
                <a:tc>
                  <a:txBody>
                    <a:bodyPr/>
                    <a:lstStyle/>
                    <a:p>
                      <a:r>
                        <a:rPr sz="1476" b="0">
                          <a:solidFill>
                            <a:srgbClr val="000000"/>
                          </a:solidFill>
                          <a:latin typeface="Nirmala UI"/>
                        </a:rPr>
                        <a:t>Covered query, aggregation</a:t>
                      </a:r>
                    </a:p>
                  </a:txBody>
                  <a:tcPr>
                    <a:solidFill>
                      <a:srgbClr val="F5F5F5"/>
                    </a:solidFill>
                  </a:tcPr>
                </a:tc>
              </a:tr>
              <a:tr h="405149">
                <a:tc>
                  <a:txBody>
                    <a:bodyPr/>
                    <a:lstStyle/>
                    <a:p>
                      <a:r>
                        <a:rPr sz="1476" b="1">
                          <a:solidFill>
                            <a:srgbClr val="000000"/>
                          </a:solidFill>
                          <a:latin typeface="Nirmala UI"/>
                        </a:rPr>
                        <a:t>6.10–6.11</a:t>
                      </a:r>
                    </a:p>
                  </a:txBody>
                  <a:tcPr>
                    <a:solidFill>
                      <a:srgbClr val="FFFFFF"/>
                    </a:solidFill>
                  </a:tcPr>
                </a:tc>
                <a:tc>
                  <a:txBody>
                    <a:bodyPr/>
                    <a:lstStyle/>
                    <a:p>
                      <a:r>
                        <a:rPr sz="1476" b="0">
                          <a:solidFill>
                            <a:srgbClr val="000000"/>
                          </a:solidFill>
                          <a:latin typeface="Nirmala UI"/>
                        </a:rPr>
                        <a:t>Audit/hide, integrated challenge</a:t>
                      </a:r>
                    </a:p>
                  </a:txBody>
                  <a:tcPr>
                    <a:solidFill>
                      <a:srgbClr val="FFFFFF"/>
                    </a:solidFill>
                  </a:tcPr>
                </a:tc>
              </a:tr>
            </a:tbl>
          </a:graphicData>
        </a:graphic>
      </p:graphicFrame>
      <p:sp>
        <p:nvSpPr>
          <p:cNvPr id="9" name="TextBox 8"/>
          <p:cNvSpPr txBox="1"/>
          <p:nvPr/>
        </p:nvSpPr>
        <p:spPr>
          <a:xfrm>
            <a:off x="457200" y="5153463"/>
            <a:ext cx="11247120" cy="392097"/>
          </a:xfrm>
          <a:prstGeom prst="rect">
            <a:avLst/>
          </a:prstGeom>
          <a:noFill/>
        </p:spPr>
        <p:txBody>
          <a:bodyPr wrap="square" anchor="t" lIns="0" rIns="0" tIns="0" bIns="0">
            <a:spAutoFit/>
          </a:bodyPr>
          <a:lstStyle/>
          <a:p>
            <a:pPr>
              <a:spcBef>
                <a:spcPts val="0"/>
              </a:spcBef>
              <a:spcAft>
                <a:spcPts val="615"/>
              </a:spcAft>
            </a:pPr>
            <a:r>
              <a:rPr sz="1600" b="1" i="0">
                <a:solidFill>
                  <a:srgbClr val="000000"/>
                </a:solidFill>
                <a:latin typeface="Nirmala UI"/>
              </a:rPr>
              <a:t>3-day time-box (~2 h module):</a:t>
            </a:r>
            <a:r>
              <a:rPr sz="1600" b="0" i="0">
                <a:solidFill>
                  <a:srgbClr val="000000"/>
                </a:solidFill>
                <a:latin typeface="Nirmala UI"/>
              </a:rPr>
              <a:t> Labs 6.1, 6.2, 6.3, 6.4, and 6.11. Remaining labs are stretch.</a:t>
            </a:r>
          </a:p>
        </p:txBody>
      </p:sp>
      <p:sp>
        <p:nvSpPr>
          <p:cNvPr id="10" name="Rectangle 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125</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LAB 6.1 — ESTABLISH A PERFORMANCE BASELINE</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320818"/>
            <a:ext cx="237744" cy="237744"/>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32081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30253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704866"/>
            <a:ext cx="11247120" cy="2015196"/>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Time:</a:t>
            </a:r>
            <a:r>
              <a:rPr sz="2000" b="0" i="0">
                <a:solidFill>
                  <a:srgbClr val="000000"/>
                </a:solidFill>
                <a:latin typeface="Nirmala UI"/>
              </a:rPr>
              <a:t> 20 min</a:t>
            </a:r>
          </a:p>
          <a:p>
            <a:pPr>
              <a:spcBef>
                <a:spcPts val="0"/>
              </a:spcBef>
              <a:spcAft>
                <a:spcPts val="769"/>
              </a:spcAft>
            </a:pPr>
            <a:r>
              <a:rPr sz="2000" b="0" i="0">
                <a:solidFill>
                  <a:srgbClr val="000000"/>
                </a:solidFill>
                <a:latin typeface="Nirmala UI"/>
              </a:rPr>
              <a:t>•  </a:t>
            </a:r>
            <a:r>
              <a:rPr sz="2000" b="0" i="0">
                <a:solidFill>
                  <a:srgbClr val="000000"/>
                </a:solidFill>
                <a:latin typeface="Nirmala UI"/>
              </a:rPr>
              <a:t>Record explain baselines for catalog and order-history queries without creating indexes.</a:t>
            </a:r>
          </a:p>
          <a:p>
            <a:pPr>
              <a:spcBef>
                <a:spcPts val="0"/>
              </a:spcBef>
              <a:spcAft>
                <a:spcPts val="769"/>
              </a:spcAft>
            </a:pPr>
            <a:r>
              <a:rPr sz="2000" b="0" i="0">
                <a:solidFill>
                  <a:srgbClr val="000000"/>
                </a:solidFill>
                <a:latin typeface="Nirmala UI"/>
              </a:rPr>
              <a:t>•  </a:t>
            </a:r>
            <a:r>
              <a:rPr sz="2000" b="1" i="0">
                <a:solidFill>
                  <a:srgbClr val="000000"/>
                </a:solidFill>
                <a:latin typeface="Nirmala UI"/>
              </a:rPr>
              <a:t>Lab guide:</a:t>
            </a:r>
            <a:r>
              <a:rPr sz="2000" b="0" i="0">
                <a:solidFill>
                  <a:srgbClr val="000000"/>
                </a:solidFill>
                <a:latin typeface="Nirmala UI"/>
              </a:rPr>
              <a:t> </a:t>
            </a:r>
            <a:r>
              <a:rPr sz="2000" b="0" i="0">
                <a:solidFill>
                  <a:srgbClr val="000000"/>
                </a:solidFill>
                <a:latin typeface="Consolas"/>
              </a:rPr>
              <a:t>Lab 6.1</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126</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LAB 6.1 — STEPS 1–2</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497155"/>
            <a:ext cx="237744" cy="237744"/>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97155"/>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478867"/>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Rounded Rectangle 6"/>
          <p:cNvSpPr/>
          <p:nvPr/>
        </p:nvSpPr>
        <p:spPr>
          <a:xfrm>
            <a:off x="457200" y="1881203"/>
            <a:ext cx="11247120" cy="554736"/>
          </a:xfrm>
          <a:prstGeom prst="roundRect">
            <a:avLst>
              <a:gd name="adj" fmla="val 6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881203"/>
            <a:ext cx="11027664" cy="554736"/>
          </a:xfrm>
          <a:prstGeom prst="rect">
            <a:avLst/>
          </a:prstGeom>
          <a:noFill/>
        </p:spPr>
        <p:txBody>
          <a:bodyPr wrap="square" anchor="ctr" lIns="0" rIns="0" tIns="0" bIns="0">
            <a:spAutoFit/>
          </a:bodyPr>
          <a:lstStyle/>
          <a:p>
            <a:r>
              <a:rPr sz="1200" b="1" i="0">
                <a:solidFill>
                  <a:srgbClr val="D1282E"/>
                </a:solidFill>
                <a:latin typeface="Nirmala UI"/>
              </a:rPr>
              <a:t>LAB GUIDE   </a:t>
            </a:r>
            <a:r>
              <a:rPr sz="2000" b="0" i="0">
                <a:solidFill>
                  <a:srgbClr val="000000"/>
                </a:solidFill>
                <a:latin typeface="Consolas"/>
              </a:rPr>
              <a:t>Lab 6.1</a:t>
            </a:r>
          </a:p>
        </p:txBody>
      </p:sp>
      <p:sp>
        <p:nvSpPr>
          <p:cNvPr id="9" name="TextBox 8"/>
          <p:cNvSpPr txBox="1"/>
          <p:nvPr/>
        </p:nvSpPr>
        <p:spPr>
          <a:xfrm>
            <a:off x="457200" y="2527379"/>
            <a:ext cx="11247120" cy="305503"/>
          </a:xfrm>
          <a:prstGeom prst="rect">
            <a:avLst/>
          </a:prstGeom>
          <a:noFill/>
        </p:spPr>
        <p:txBody>
          <a:bodyPr wrap="square" anchor="t" lIns="0" rIns="0" tIns="0" bIns="0">
            <a:spAutoFit/>
          </a:bodyPr>
          <a:lstStyle/>
          <a:p>
            <a:pPr>
              <a:spcBef>
                <a:spcPts val="0"/>
              </a:spcBef>
              <a:spcAft>
                <a:spcPts val="461"/>
              </a:spcAft>
            </a:pPr>
            <a:r>
              <a:rPr sz="1200" b="1" i="0">
                <a:solidFill>
                  <a:srgbClr val="000000"/>
                </a:solidFill>
                <a:latin typeface="Nirmala UI"/>
              </a:rPr>
              <a:t>Follow along (Windows) — key steps:</a:t>
            </a:r>
          </a:p>
        </p:txBody>
      </p:sp>
      <p:sp>
        <p:nvSpPr>
          <p:cNvPr id="10" name="TextBox 9"/>
          <p:cNvSpPr txBox="1"/>
          <p:nvPr/>
        </p:nvSpPr>
        <p:spPr>
          <a:xfrm>
            <a:off x="457200" y="2924322"/>
            <a:ext cx="11247120" cy="305503"/>
          </a:xfrm>
          <a:prstGeom prst="rect">
            <a:avLst/>
          </a:prstGeom>
          <a:noFill/>
        </p:spPr>
        <p:txBody>
          <a:bodyPr wrap="square" anchor="t" lIns="0" rIns="0" tIns="0" bIns="0">
            <a:spAutoFit/>
          </a:bodyPr>
          <a:lstStyle/>
          <a:p>
            <a:pPr>
              <a:spcBef>
                <a:spcPts val="0"/>
              </a:spcBef>
              <a:spcAft>
                <a:spcPts val="461"/>
              </a:spcAft>
            </a:pPr>
            <a:r>
              <a:rPr sz="1200" b="1" i="0">
                <a:solidFill>
                  <a:srgbClr val="000000"/>
                </a:solidFill>
                <a:latin typeface="Nirmala UI"/>
              </a:rPr>
              <a:t>Step 1 — Confirm the dataset</a:t>
            </a:r>
          </a:p>
        </p:txBody>
      </p:sp>
      <p:sp>
        <p:nvSpPr>
          <p:cNvPr id="11" name="TextBox 10"/>
          <p:cNvSpPr txBox="1"/>
          <p:nvPr/>
        </p:nvSpPr>
        <p:spPr>
          <a:xfrm>
            <a:off x="457200" y="3321265"/>
            <a:ext cx="11247120" cy="967622"/>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  </a:t>
            </a:r>
            <a:r>
              <a:rPr sz="1200" b="1" i="0">
                <a:solidFill>
                  <a:srgbClr val="000000"/>
                </a:solidFill>
                <a:latin typeface="Nirmala UI"/>
              </a:rPr>
              <a:t>Do:</a:t>
            </a:r>
            <a:r>
              <a:rPr sz="1200" b="0" i="0">
                <a:solidFill>
                  <a:srgbClr val="000000"/>
                </a:solidFill>
                <a:latin typeface="Nirmala UI"/>
              </a:rPr>
              <a:t> Run: ``</a:t>
            </a:r>
            <a:r>
              <a:rPr sz="1200" b="0" i="0">
                <a:solidFill>
                  <a:srgbClr val="000000"/>
                </a:solidFill>
                <a:latin typeface="Consolas"/>
              </a:rPr>
              <a:t>javascript use training_store db.products.countDocuments() db.orders.countDocuments() db.products.getIndexes() db.orders.getIndexes() </a:t>
            </a:r>
            <a:r>
              <a:rPr sz="1200" b="0" i="0">
                <a:solidFill>
                  <a:srgbClr val="000000"/>
                </a:solidFill>
                <a:latin typeface="Nirmala UI"/>
              </a:rPr>
              <a:t>``</a:t>
            </a:r>
          </a:p>
          <a:p>
            <a:pPr>
              <a:spcBef>
                <a:spcPts val="0"/>
              </a:spcBef>
              <a:spcAft>
                <a:spcPts val="461"/>
              </a:spcAft>
            </a:pPr>
            <a:r>
              <a:rPr sz="1200" b="0" i="0">
                <a:solidFill>
                  <a:srgbClr val="000000"/>
                </a:solidFill>
                <a:latin typeface="Nirmala UI"/>
              </a:rPr>
              <a:t>•  </a:t>
            </a:r>
            <a:r>
              <a:rPr sz="1200" b="1" i="0">
                <a:solidFill>
                  <a:srgbClr val="000000"/>
                </a:solidFill>
                <a:latin typeface="Nirmala UI"/>
              </a:rPr>
              <a:t>Expected:</a:t>
            </a:r>
            <a:r>
              <a:rPr sz="1200" b="0" i="0">
                <a:solidFill>
                  <a:srgbClr val="000000"/>
                </a:solidFill>
                <a:latin typeface="Nirmala UI"/>
              </a:rPr>
              <a:t> About 12 products and 17 orders. Each collection should show the default </a:t>
            </a:r>
            <a:r>
              <a:rPr sz="1200" b="0" i="0">
                <a:solidFill>
                  <a:srgbClr val="000000"/>
                </a:solidFill>
                <a:latin typeface="Consolas"/>
              </a:rPr>
              <a:t>_id_</a:t>
            </a:r>
            <a:r>
              <a:rPr sz="1200" b="0" i="0">
                <a:solidFill>
                  <a:srgbClr val="000000"/>
                </a:solidFill>
                <a:latin typeface="Nirmala UI"/>
              </a:rPr>
              <a:t> index. Note any extra indexes left from a demo.</a:t>
            </a:r>
          </a:p>
        </p:txBody>
      </p:sp>
      <p:sp>
        <p:nvSpPr>
          <p:cNvPr id="12" name="TextBox 11"/>
          <p:cNvSpPr txBox="1"/>
          <p:nvPr/>
        </p:nvSpPr>
        <p:spPr>
          <a:xfrm>
            <a:off x="457200" y="4380327"/>
            <a:ext cx="11247120" cy="305503"/>
          </a:xfrm>
          <a:prstGeom prst="rect">
            <a:avLst/>
          </a:prstGeom>
          <a:noFill/>
        </p:spPr>
        <p:txBody>
          <a:bodyPr wrap="square" anchor="t" lIns="0" rIns="0" tIns="0" bIns="0">
            <a:spAutoFit/>
          </a:bodyPr>
          <a:lstStyle/>
          <a:p>
            <a:pPr>
              <a:spcBef>
                <a:spcPts val="0"/>
              </a:spcBef>
              <a:spcAft>
                <a:spcPts val="461"/>
              </a:spcAft>
            </a:pPr>
            <a:r>
              <a:rPr sz="1200" b="1" i="0">
                <a:solidFill>
                  <a:srgbClr val="000000"/>
                </a:solidFill>
                <a:latin typeface="Nirmala UI"/>
              </a:rPr>
              <a:t>Step 2 — Explain the catalog query</a:t>
            </a:r>
          </a:p>
        </p:txBody>
      </p:sp>
      <p:sp>
        <p:nvSpPr>
          <p:cNvPr id="13" name="TextBox 12"/>
          <p:cNvSpPr txBox="1"/>
          <p:nvPr/>
        </p:nvSpPr>
        <p:spPr>
          <a:xfrm>
            <a:off x="457200" y="4777270"/>
            <a:ext cx="11247120" cy="766454"/>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  </a:t>
            </a:r>
            <a:r>
              <a:rPr sz="1200" b="1" i="0">
                <a:solidFill>
                  <a:srgbClr val="000000"/>
                </a:solidFill>
                <a:latin typeface="Nirmala UI"/>
              </a:rPr>
              <a:t>Do:</a:t>
            </a:r>
            <a:r>
              <a:rPr sz="1200" b="0" i="0">
                <a:solidFill>
                  <a:srgbClr val="000000"/>
                </a:solidFill>
                <a:latin typeface="Nirmala UI"/>
              </a:rPr>
              <a:t> Run and record winning stage, nReturned, totalKeysExamined, totalDocsExamined, and any SORT: ``</a:t>
            </a:r>
            <a:r>
              <a:rPr sz="1200" b="0" i="0">
                <a:solidFill>
                  <a:srgbClr val="000000"/>
                </a:solidFill>
                <a:latin typeface="Consolas"/>
              </a:rPr>
              <a:t>javascript db.products.find( { category: "ACCESSORY", active: true } ).sort({ price: 1 }).explain("executionStats") </a:t>
            </a:r>
            <a:r>
              <a:rPr sz="1200" b="0" i="0">
                <a:solidFill>
                  <a:srgbClr val="000000"/>
                </a:solidFill>
                <a:latin typeface="Nirmala UI"/>
              </a:rPr>
              <a:t>``</a:t>
            </a:r>
          </a:p>
          <a:p>
            <a:pPr>
              <a:spcBef>
                <a:spcPts val="0"/>
              </a:spcBef>
              <a:spcAft>
                <a:spcPts val="461"/>
              </a:spcAft>
            </a:pPr>
            <a:r>
              <a:rPr sz="1200" b="0" i="0">
                <a:solidFill>
                  <a:srgbClr val="000000"/>
                </a:solidFill>
                <a:latin typeface="Nirmala UI"/>
              </a:rPr>
              <a:t>•  </a:t>
            </a:r>
            <a:r>
              <a:rPr sz="1200" b="1" i="0">
                <a:solidFill>
                  <a:srgbClr val="000000"/>
                </a:solidFill>
                <a:latin typeface="Nirmala UI"/>
              </a:rPr>
              <a:t>Expected:</a:t>
            </a:r>
            <a:r>
              <a:rPr sz="1200" b="0" i="0">
                <a:solidFill>
                  <a:srgbClr val="000000"/>
                </a:solidFill>
                <a:latin typeface="Nirmala UI"/>
              </a:rPr>
              <a:t> Likely COLLSCAN (unless a prior demo index remains). Record the numbers even if they are small.</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127</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LAB 6.1 — STEPS 3–4</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735760"/>
            <a:ext cx="237744" cy="237744"/>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735760"/>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717472"/>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119808"/>
            <a:ext cx="11247120" cy="348800"/>
          </a:xfrm>
          <a:prstGeom prst="rect">
            <a:avLst/>
          </a:prstGeom>
          <a:noFill/>
        </p:spPr>
        <p:txBody>
          <a:bodyPr wrap="square" anchor="t" lIns="0" rIns="0" tIns="0" bIns="0">
            <a:spAutoFit/>
          </a:bodyPr>
          <a:lstStyle/>
          <a:p>
            <a:pPr>
              <a:spcBef>
                <a:spcPts val="0"/>
              </a:spcBef>
              <a:spcAft>
                <a:spcPts val="538"/>
              </a:spcAft>
            </a:pPr>
            <a:r>
              <a:rPr sz="1400" b="1" i="0">
                <a:solidFill>
                  <a:srgbClr val="000000"/>
                </a:solidFill>
                <a:latin typeface="Nirmala UI"/>
              </a:rPr>
              <a:t>Follow along (Windows) — key steps:</a:t>
            </a:r>
          </a:p>
        </p:txBody>
      </p:sp>
      <p:sp>
        <p:nvSpPr>
          <p:cNvPr id="8" name="TextBox 7"/>
          <p:cNvSpPr txBox="1"/>
          <p:nvPr/>
        </p:nvSpPr>
        <p:spPr>
          <a:xfrm>
            <a:off x="457200" y="2560048"/>
            <a:ext cx="11247120" cy="348800"/>
          </a:xfrm>
          <a:prstGeom prst="rect">
            <a:avLst/>
          </a:prstGeom>
          <a:noFill/>
        </p:spPr>
        <p:txBody>
          <a:bodyPr wrap="square" anchor="t" lIns="0" rIns="0" tIns="0" bIns="0">
            <a:spAutoFit/>
          </a:bodyPr>
          <a:lstStyle/>
          <a:p>
            <a:pPr>
              <a:spcBef>
                <a:spcPts val="0"/>
              </a:spcBef>
              <a:spcAft>
                <a:spcPts val="538"/>
              </a:spcAft>
            </a:pPr>
            <a:r>
              <a:rPr sz="1400" b="1" i="0">
                <a:solidFill>
                  <a:srgbClr val="000000"/>
                </a:solidFill>
                <a:latin typeface="Nirmala UI"/>
              </a:rPr>
              <a:t>Step 3 — Explain order history</a:t>
            </a:r>
          </a:p>
        </p:txBody>
      </p:sp>
      <p:sp>
        <p:nvSpPr>
          <p:cNvPr id="9" name="TextBox 8"/>
          <p:cNvSpPr txBox="1"/>
          <p:nvPr/>
        </p:nvSpPr>
        <p:spPr>
          <a:xfrm>
            <a:off x="457200" y="3000288"/>
            <a:ext cx="11247120" cy="886576"/>
          </a:xfrm>
          <a:prstGeom prst="rect">
            <a:avLst/>
          </a:prstGeom>
          <a:noFill/>
        </p:spPr>
        <p:txBody>
          <a:bodyPr wrap="square" anchor="t" lIns="0" rIns="0" tIns="0" bIns="0">
            <a:spAutoFit/>
          </a:bodyPr>
          <a:lstStyle/>
          <a:p>
            <a:pPr>
              <a:spcBef>
                <a:spcPts val="0"/>
              </a:spcBef>
              <a:spcAft>
                <a:spcPts val="538"/>
              </a:spcAft>
            </a:pPr>
            <a:r>
              <a:rPr sz="1400" b="0" i="0">
                <a:solidFill>
                  <a:srgbClr val="000000"/>
                </a:solidFill>
                <a:latin typeface="Nirmala UI"/>
              </a:rPr>
              <a:t>•  </a:t>
            </a:r>
            <a:r>
              <a:rPr sz="1400" b="1" i="0">
                <a:solidFill>
                  <a:srgbClr val="000000"/>
                </a:solidFill>
                <a:latin typeface="Nirmala UI"/>
              </a:rPr>
              <a:t>Do:</a:t>
            </a:r>
            <a:r>
              <a:rPr sz="1400" b="0" i="0">
                <a:solidFill>
                  <a:srgbClr val="000000"/>
                </a:solidFill>
                <a:latin typeface="Nirmala UI"/>
              </a:rPr>
              <a:t> Replace </a:t>
            </a:r>
            <a:r>
              <a:rPr sz="1400" b="0" i="0">
                <a:solidFill>
                  <a:srgbClr val="000000"/>
                </a:solidFill>
                <a:latin typeface="Consolas"/>
              </a:rPr>
              <a:t>cid</a:t>
            </a:r>
            <a:r>
              <a:rPr sz="1400" b="0" i="0">
                <a:solidFill>
                  <a:srgbClr val="000000"/>
                </a:solidFill>
                <a:latin typeface="Nirmala UI"/>
              </a:rPr>
              <a:t> with C101’s </a:t>
            </a:r>
            <a:r>
              <a:rPr sz="1400" b="0" i="0">
                <a:solidFill>
                  <a:srgbClr val="000000"/>
                </a:solidFill>
                <a:latin typeface="Consolas"/>
              </a:rPr>
              <a:t>_id</a:t>
            </a:r>
            <a:r>
              <a:rPr sz="1400" b="0" i="0">
                <a:solidFill>
                  <a:srgbClr val="000000"/>
                </a:solidFill>
                <a:latin typeface="Nirmala UI"/>
              </a:rPr>
              <a:t> from </a:t>
            </a:r>
            <a:r>
              <a:rPr sz="1400" b="0" i="0">
                <a:solidFill>
                  <a:srgbClr val="000000"/>
                </a:solidFill>
                <a:latin typeface="Consolas"/>
              </a:rPr>
              <a:t>db.customers.findOne({ customerNumber: "C101" })</a:t>
            </a:r>
            <a:r>
              <a:rPr sz="1400" b="0" i="0">
                <a:solidFill>
                  <a:srgbClr val="000000"/>
                </a:solidFill>
                <a:latin typeface="Nirmala UI"/>
              </a:rPr>
              <a:t>, then: ```javascript db.orders.find({ customerId: cid, paymentStatus: "PAID" }).sort({ createdAt: -1 }).limit(10).explain("execution</a:t>
            </a:r>
          </a:p>
          <a:p>
            <a:pPr>
              <a:spcBef>
                <a:spcPts val="0"/>
              </a:spcBef>
              <a:spcAft>
                <a:spcPts val="538"/>
              </a:spcAft>
            </a:pPr>
            <a:r>
              <a:rPr sz="1400" b="0" i="0">
                <a:solidFill>
                  <a:srgbClr val="000000"/>
                </a:solidFill>
                <a:latin typeface="Nirmala UI"/>
              </a:rPr>
              <a:t>•  </a:t>
            </a:r>
            <a:r>
              <a:rPr sz="1400" b="1" i="0">
                <a:solidFill>
                  <a:srgbClr val="000000"/>
                </a:solidFill>
                <a:latin typeface="Nirmala UI"/>
              </a:rPr>
              <a:t>Expected:</a:t>
            </a:r>
            <a:r>
              <a:rPr sz="1400" b="0" i="0">
                <a:solidFill>
                  <a:srgbClr val="000000"/>
                </a:solidFill>
                <a:latin typeface="Nirmala UI"/>
              </a:rPr>
              <a:t> A baseline row exists: filter, sort, projection (none), winning plan, counts, in-memory sort yes/no.</a:t>
            </a:r>
          </a:p>
        </p:txBody>
      </p:sp>
      <p:sp>
        <p:nvSpPr>
          <p:cNvPr id="10" name="TextBox 9"/>
          <p:cNvSpPr txBox="1"/>
          <p:nvPr/>
        </p:nvSpPr>
        <p:spPr>
          <a:xfrm>
            <a:off x="457200" y="3978304"/>
            <a:ext cx="11247120" cy="348800"/>
          </a:xfrm>
          <a:prstGeom prst="rect">
            <a:avLst/>
          </a:prstGeom>
          <a:noFill/>
        </p:spPr>
        <p:txBody>
          <a:bodyPr wrap="square" anchor="t" lIns="0" rIns="0" tIns="0" bIns="0">
            <a:spAutoFit/>
          </a:bodyPr>
          <a:lstStyle/>
          <a:p>
            <a:pPr>
              <a:spcBef>
                <a:spcPts val="0"/>
              </a:spcBef>
              <a:spcAft>
                <a:spcPts val="538"/>
              </a:spcAft>
            </a:pPr>
            <a:r>
              <a:rPr sz="1400" b="1" i="0">
                <a:solidFill>
                  <a:srgbClr val="000000"/>
                </a:solidFill>
                <a:latin typeface="Nirmala UI"/>
              </a:rPr>
              <a:t>Step 4 — Fill the baseline table</a:t>
            </a:r>
          </a:p>
        </p:txBody>
      </p:sp>
      <p:sp>
        <p:nvSpPr>
          <p:cNvPr id="11" name="TextBox 10"/>
          <p:cNvSpPr txBox="1"/>
          <p:nvPr/>
        </p:nvSpPr>
        <p:spPr>
          <a:xfrm>
            <a:off x="457200" y="4418544"/>
            <a:ext cx="11247120" cy="886576"/>
          </a:xfrm>
          <a:prstGeom prst="rect">
            <a:avLst/>
          </a:prstGeom>
          <a:noFill/>
        </p:spPr>
        <p:txBody>
          <a:bodyPr wrap="square" anchor="t" lIns="0" rIns="0" tIns="0" bIns="0">
            <a:spAutoFit/>
          </a:bodyPr>
          <a:lstStyle/>
          <a:p>
            <a:pPr>
              <a:spcBef>
                <a:spcPts val="0"/>
              </a:spcBef>
              <a:spcAft>
                <a:spcPts val="538"/>
              </a:spcAft>
            </a:pPr>
            <a:r>
              <a:rPr sz="1400" b="0" i="0">
                <a:solidFill>
                  <a:srgbClr val="000000"/>
                </a:solidFill>
                <a:latin typeface="Nirmala UI"/>
              </a:rPr>
              <a:t>•  </a:t>
            </a:r>
            <a:r>
              <a:rPr sz="1400" b="1" i="0">
                <a:solidFill>
                  <a:srgbClr val="000000"/>
                </a:solidFill>
                <a:latin typeface="Nirmala UI"/>
              </a:rPr>
              <a:t>Do:</a:t>
            </a:r>
            <a:r>
              <a:rPr sz="1400" b="0" i="0">
                <a:solidFill>
                  <a:srgbClr val="000000"/>
                </a:solidFill>
                <a:latin typeface="Nirmala UI"/>
              </a:rPr>
              <a:t> In notes, one row per query: filter, sort, projection, winning plan, nReturned, keys examined, docs examined, extra sort.</a:t>
            </a:r>
          </a:p>
          <a:p>
            <a:pPr>
              <a:spcBef>
                <a:spcPts val="0"/>
              </a:spcBef>
              <a:spcAft>
                <a:spcPts val="538"/>
              </a:spcAft>
            </a:pPr>
            <a:r>
              <a:rPr sz="1400" b="0" i="0">
                <a:solidFill>
                  <a:srgbClr val="000000"/>
                </a:solidFill>
                <a:latin typeface="Nirmala UI"/>
              </a:rPr>
              <a:t>•  </a:t>
            </a:r>
            <a:r>
              <a:rPr sz="1400" b="1" i="0">
                <a:solidFill>
                  <a:srgbClr val="000000"/>
                </a:solidFill>
                <a:latin typeface="Nirmala UI"/>
              </a:rPr>
              <a:t>Expected:</a:t>
            </a:r>
            <a:r>
              <a:rPr sz="1400" b="0" i="0">
                <a:solidFill>
                  <a:srgbClr val="000000"/>
                </a:solidFill>
                <a:latin typeface="Nirmala UI"/>
              </a:rPr>
              <a:t> Two completed rows. No new indexes created in this lab.</a:t>
            </a:r>
          </a:p>
        </p:txBody>
      </p:sp>
      <p:sp>
        <p:nvSpPr>
          <p:cNvPr id="12" name="Rectangle 1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5"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128</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LAB 6.2 — CREATE AND TEST A SINGLE-FIELD INDEX</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488458"/>
            <a:ext cx="237744" cy="237744"/>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8845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47017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872506"/>
            <a:ext cx="11247120" cy="1679916"/>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Time:</a:t>
            </a:r>
            <a:r>
              <a:rPr sz="2000" b="0" i="0">
                <a:solidFill>
                  <a:srgbClr val="000000"/>
                </a:solidFill>
                <a:latin typeface="Nirmala UI"/>
              </a:rPr>
              <a:t> 20 min</a:t>
            </a:r>
          </a:p>
          <a:p>
            <a:pPr>
              <a:spcBef>
                <a:spcPts val="0"/>
              </a:spcBef>
              <a:spcAft>
                <a:spcPts val="769"/>
              </a:spcAft>
            </a:pPr>
            <a:r>
              <a:rPr sz="2000" b="0" i="0">
                <a:solidFill>
                  <a:srgbClr val="000000"/>
                </a:solidFill>
                <a:latin typeface="Nirmala UI"/>
              </a:rPr>
              <a:t>•  </a:t>
            </a:r>
            <a:r>
              <a:rPr sz="2000" b="0" i="0">
                <a:solidFill>
                  <a:srgbClr val="000000"/>
                </a:solidFill>
                <a:latin typeface="Nirmala UI"/>
              </a:rPr>
              <a:t>Index SKU and compare examined documents before and after.</a:t>
            </a:r>
          </a:p>
          <a:p>
            <a:pPr>
              <a:spcBef>
                <a:spcPts val="0"/>
              </a:spcBef>
              <a:spcAft>
                <a:spcPts val="769"/>
              </a:spcAft>
            </a:pPr>
            <a:r>
              <a:rPr sz="2000" b="0" i="0">
                <a:solidFill>
                  <a:srgbClr val="000000"/>
                </a:solidFill>
                <a:latin typeface="Nirmala UI"/>
              </a:rPr>
              <a:t>•  </a:t>
            </a:r>
            <a:r>
              <a:rPr sz="2000" b="1" i="0">
                <a:solidFill>
                  <a:srgbClr val="000000"/>
                </a:solidFill>
                <a:latin typeface="Nirmala UI"/>
              </a:rPr>
              <a:t>Lab guide:</a:t>
            </a:r>
            <a:r>
              <a:rPr sz="2000" b="0" i="0">
                <a:solidFill>
                  <a:srgbClr val="000000"/>
                </a:solidFill>
                <a:latin typeface="Nirmala UI"/>
              </a:rPr>
              <a:t> </a:t>
            </a:r>
            <a:r>
              <a:rPr sz="2000" b="0" i="0">
                <a:solidFill>
                  <a:srgbClr val="000000"/>
                </a:solidFill>
                <a:latin typeface="Consolas"/>
              </a:rPr>
              <a:t>Lab 6.2</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129</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LAB 6.2 — STEPS 1–2</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530020"/>
            <a:ext cx="237744" cy="237744"/>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30020"/>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511732"/>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Rounded Rectangle 6"/>
          <p:cNvSpPr/>
          <p:nvPr/>
        </p:nvSpPr>
        <p:spPr>
          <a:xfrm>
            <a:off x="457200" y="1914068"/>
            <a:ext cx="11247120" cy="554736"/>
          </a:xfrm>
          <a:prstGeom prst="roundRect">
            <a:avLst>
              <a:gd name="adj" fmla="val 6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914068"/>
            <a:ext cx="11027664" cy="554736"/>
          </a:xfrm>
          <a:prstGeom prst="rect">
            <a:avLst/>
          </a:prstGeom>
          <a:noFill/>
        </p:spPr>
        <p:txBody>
          <a:bodyPr wrap="square" anchor="ctr" lIns="0" rIns="0" tIns="0" bIns="0">
            <a:spAutoFit/>
          </a:bodyPr>
          <a:lstStyle/>
          <a:p>
            <a:r>
              <a:rPr sz="1200" b="1" i="0">
                <a:solidFill>
                  <a:srgbClr val="D1282E"/>
                </a:solidFill>
                <a:latin typeface="Nirmala UI"/>
              </a:rPr>
              <a:t>LAB GUIDE   </a:t>
            </a:r>
            <a:r>
              <a:rPr sz="2000" b="0" i="0">
                <a:solidFill>
                  <a:srgbClr val="000000"/>
                </a:solidFill>
                <a:latin typeface="Consolas"/>
              </a:rPr>
              <a:t>Lab 6.2</a:t>
            </a:r>
          </a:p>
        </p:txBody>
      </p:sp>
      <p:sp>
        <p:nvSpPr>
          <p:cNvPr id="9" name="TextBox 8"/>
          <p:cNvSpPr txBox="1"/>
          <p:nvPr/>
        </p:nvSpPr>
        <p:spPr>
          <a:xfrm>
            <a:off x="457200" y="2560244"/>
            <a:ext cx="11247120" cy="348800"/>
          </a:xfrm>
          <a:prstGeom prst="rect">
            <a:avLst/>
          </a:prstGeom>
          <a:noFill/>
        </p:spPr>
        <p:txBody>
          <a:bodyPr wrap="square" anchor="t" lIns="0" rIns="0" tIns="0" bIns="0">
            <a:spAutoFit/>
          </a:bodyPr>
          <a:lstStyle/>
          <a:p>
            <a:pPr>
              <a:spcBef>
                <a:spcPts val="0"/>
              </a:spcBef>
              <a:spcAft>
                <a:spcPts val="538"/>
              </a:spcAft>
            </a:pPr>
            <a:r>
              <a:rPr sz="1400" b="1" i="0">
                <a:solidFill>
                  <a:srgbClr val="000000"/>
                </a:solidFill>
                <a:latin typeface="Nirmala UI"/>
              </a:rPr>
              <a:t>Follow along (Windows) — key steps:</a:t>
            </a:r>
          </a:p>
        </p:txBody>
      </p:sp>
      <p:sp>
        <p:nvSpPr>
          <p:cNvPr id="10" name="TextBox 9"/>
          <p:cNvSpPr txBox="1"/>
          <p:nvPr/>
        </p:nvSpPr>
        <p:spPr>
          <a:xfrm>
            <a:off x="457200" y="3000484"/>
            <a:ext cx="11247120" cy="348800"/>
          </a:xfrm>
          <a:prstGeom prst="rect">
            <a:avLst/>
          </a:prstGeom>
          <a:noFill/>
        </p:spPr>
        <p:txBody>
          <a:bodyPr wrap="square" anchor="t" lIns="0" rIns="0" tIns="0" bIns="0">
            <a:spAutoFit/>
          </a:bodyPr>
          <a:lstStyle/>
          <a:p>
            <a:pPr>
              <a:spcBef>
                <a:spcPts val="0"/>
              </a:spcBef>
              <a:spcAft>
                <a:spcPts val="538"/>
              </a:spcAft>
            </a:pPr>
            <a:r>
              <a:rPr sz="1400" b="1" i="0">
                <a:solidFill>
                  <a:srgbClr val="000000"/>
                </a:solidFill>
                <a:latin typeface="Nirmala UI"/>
              </a:rPr>
              <a:t>Step 1 — Baseline SKU lookup</a:t>
            </a:r>
          </a:p>
        </p:txBody>
      </p:sp>
      <p:sp>
        <p:nvSpPr>
          <p:cNvPr id="11" name="TextBox 10"/>
          <p:cNvSpPr txBox="1"/>
          <p:nvPr/>
        </p:nvSpPr>
        <p:spPr>
          <a:xfrm>
            <a:off x="457200" y="3440724"/>
            <a:ext cx="11247120" cy="651880"/>
          </a:xfrm>
          <a:prstGeom prst="rect">
            <a:avLst/>
          </a:prstGeom>
          <a:noFill/>
        </p:spPr>
        <p:txBody>
          <a:bodyPr wrap="square" anchor="t" lIns="0" rIns="0" tIns="0" bIns="0">
            <a:spAutoFit/>
          </a:bodyPr>
          <a:lstStyle/>
          <a:p>
            <a:pPr>
              <a:spcBef>
                <a:spcPts val="0"/>
              </a:spcBef>
              <a:spcAft>
                <a:spcPts val="538"/>
              </a:spcAft>
            </a:pPr>
            <a:r>
              <a:rPr sz="1400" b="0" i="0">
                <a:solidFill>
                  <a:srgbClr val="000000"/>
                </a:solidFill>
                <a:latin typeface="Nirmala UI"/>
              </a:rPr>
              <a:t>•  </a:t>
            </a:r>
            <a:r>
              <a:rPr sz="1400" b="1" i="0">
                <a:solidFill>
                  <a:srgbClr val="000000"/>
                </a:solidFill>
                <a:latin typeface="Nirmala UI"/>
              </a:rPr>
              <a:t>Do:</a:t>
            </a:r>
            <a:r>
              <a:rPr sz="1400" b="0" i="0">
                <a:solidFill>
                  <a:srgbClr val="000000"/>
                </a:solidFill>
                <a:latin typeface="Nirmala UI"/>
              </a:rPr>
              <a:t> Run: ``</a:t>
            </a:r>
            <a:r>
              <a:rPr sz="1400" b="0" i="0">
                <a:solidFill>
                  <a:srgbClr val="000000"/>
                </a:solidFill>
                <a:latin typeface="Consolas"/>
              </a:rPr>
              <a:t>javascript db.products.find({ sku: "L100" }).explain("executionStats") </a:t>
            </a:r>
            <a:r>
              <a:rPr sz="1400" b="0" i="0">
                <a:solidFill>
                  <a:srgbClr val="000000"/>
                </a:solidFill>
                <a:latin typeface="Nirmala UI"/>
              </a:rPr>
              <a:t>``</a:t>
            </a:r>
          </a:p>
          <a:p>
            <a:pPr>
              <a:spcBef>
                <a:spcPts val="0"/>
              </a:spcBef>
              <a:spcAft>
                <a:spcPts val="538"/>
              </a:spcAft>
            </a:pPr>
            <a:r>
              <a:rPr sz="1400" b="0" i="0">
                <a:solidFill>
                  <a:srgbClr val="000000"/>
                </a:solidFill>
                <a:latin typeface="Nirmala UI"/>
              </a:rPr>
              <a:t>•  </a:t>
            </a:r>
            <a:r>
              <a:rPr sz="1400" b="1" i="0">
                <a:solidFill>
                  <a:srgbClr val="000000"/>
                </a:solidFill>
                <a:latin typeface="Nirmala UI"/>
              </a:rPr>
              <a:t>Expected:</a:t>
            </a:r>
            <a:r>
              <a:rPr sz="1400" b="0" i="0">
                <a:solidFill>
                  <a:srgbClr val="000000"/>
                </a:solidFill>
                <a:latin typeface="Nirmala UI"/>
              </a:rPr>
              <a:t> Record winning stage and examined counts. Expect COLLSCAN unless an earlier SKU index exists.</a:t>
            </a:r>
          </a:p>
        </p:txBody>
      </p:sp>
      <p:sp>
        <p:nvSpPr>
          <p:cNvPr id="12" name="TextBox 11"/>
          <p:cNvSpPr txBox="1"/>
          <p:nvPr/>
        </p:nvSpPr>
        <p:spPr>
          <a:xfrm>
            <a:off x="457200" y="4184044"/>
            <a:ext cx="11247120" cy="348800"/>
          </a:xfrm>
          <a:prstGeom prst="rect">
            <a:avLst/>
          </a:prstGeom>
          <a:noFill/>
        </p:spPr>
        <p:txBody>
          <a:bodyPr wrap="square" anchor="t" lIns="0" rIns="0" tIns="0" bIns="0">
            <a:spAutoFit/>
          </a:bodyPr>
          <a:lstStyle/>
          <a:p>
            <a:pPr>
              <a:spcBef>
                <a:spcPts val="0"/>
              </a:spcBef>
              <a:spcAft>
                <a:spcPts val="538"/>
              </a:spcAft>
            </a:pPr>
            <a:r>
              <a:rPr sz="1400" b="1" i="0">
                <a:solidFill>
                  <a:srgbClr val="000000"/>
                </a:solidFill>
                <a:latin typeface="Nirmala UI"/>
              </a:rPr>
              <a:t>Step 2 — Create the index</a:t>
            </a:r>
          </a:p>
        </p:txBody>
      </p:sp>
      <p:sp>
        <p:nvSpPr>
          <p:cNvPr id="13" name="TextBox 12"/>
          <p:cNvSpPr txBox="1"/>
          <p:nvPr/>
        </p:nvSpPr>
        <p:spPr>
          <a:xfrm>
            <a:off x="457200" y="4624284"/>
            <a:ext cx="11247120" cy="886576"/>
          </a:xfrm>
          <a:prstGeom prst="rect">
            <a:avLst/>
          </a:prstGeom>
          <a:noFill/>
        </p:spPr>
        <p:txBody>
          <a:bodyPr wrap="square" anchor="t" lIns="0" rIns="0" tIns="0" bIns="0">
            <a:spAutoFit/>
          </a:bodyPr>
          <a:lstStyle/>
          <a:p>
            <a:pPr>
              <a:spcBef>
                <a:spcPts val="0"/>
              </a:spcBef>
              <a:spcAft>
                <a:spcPts val="538"/>
              </a:spcAft>
            </a:pPr>
            <a:r>
              <a:rPr sz="1400" b="0" i="0">
                <a:solidFill>
                  <a:srgbClr val="000000"/>
                </a:solidFill>
                <a:latin typeface="Nirmala UI"/>
              </a:rPr>
              <a:t>•  </a:t>
            </a:r>
            <a:r>
              <a:rPr sz="1400" b="1" i="0">
                <a:solidFill>
                  <a:srgbClr val="000000"/>
                </a:solidFill>
                <a:latin typeface="Nirmala UI"/>
              </a:rPr>
              <a:t>Do:</a:t>
            </a:r>
            <a:r>
              <a:rPr sz="1400" b="0" i="0">
                <a:solidFill>
                  <a:srgbClr val="000000"/>
                </a:solidFill>
                <a:latin typeface="Nirmala UI"/>
              </a:rPr>
              <a:t> Run: ``</a:t>
            </a:r>
            <a:r>
              <a:rPr sz="1400" b="0" i="0">
                <a:solidFill>
                  <a:srgbClr val="000000"/>
                </a:solidFill>
                <a:latin typeface="Consolas"/>
              </a:rPr>
              <a:t>javascript db.products.createIndex( { sku: 1 }, { name: "idx_products_sku" } ) db.products.getIndexes() </a:t>
            </a:r>
            <a:r>
              <a:rPr sz="1400" b="0" i="0">
                <a:solidFill>
                  <a:srgbClr val="000000"/>
                </a:solidFill>
                <a:latin typeface="Nirmala UI"/>
              </a:rPr>
              <a:t>``</a:t>
            </a:r>
          </a:p>
          <a:p>
            <a:pPr>
              <a:spcBef>
                <a:spcPts val="0"/>
              </a:spcBef>
              <a:spcAft>
                <a:spcPts val="538"/>
              </a:spcAft>
            </a:pPr>
            <a:r>
              <a:rPr sz="1400" b="0" i="0">
                <a:solidFill>
                  <a:srgbClr val="000000"/>
                </a:solidFill>
                <a:latin typeface="Nirmala UI"/>
              </a:rPr>
              <a:t>•  </a:t>
            </a:r>
            <a:r>
              <a:rPr sz="1400" b="1" i="0">
                <a:solidFill>
                  <a:srgbClr val="000000"/>
                </a:solidFill>
                <a:latin typeface="Nirmala UI"/>
              </a:rPr>
              <a:t>Expected:</a:t>
            </a:r>
            <a:r>
              <a:rPr sz="1400" b="0" i="0">
                <a:solidFill>
                  <a:srgbClr val="000000"/>
                </a:solidFill>
                <a:latin typeface="Nirmala UI"/>
              </a:rPr>
              <a:t> The index list includes </a:t>
            </a:r>
            <a:r>
              <a:rPr sz="1400" b="0" i="0">
                <a:solidFill>
                  <a:srgbClr val="000000"/>
                </a:solidFill>
                <a:latin typeface="Consolas"/>
              </a:rPr>
              <a:t>idx_products_sku</a:t>
            </a:r>
            <a:r>
              <a:rPr sz="1400" b="0" i="0">
                <a:solidFill>
                  <a:srgbClr val="000000"/>
                </a:solidFill>
                <a:latin typeface="Nirmala UI"/>
              </a:rPr>
              <a:t> with key </a:t>
            </a:r>
            <a:r>
              <a:rPr sz="1400" b="0" i="0">
                <a:solidFill>
                  <a:srgbClr val="000000"/>
                </a:solidFill>
                <a:latin typeface="Consolas"/>
              </a:rPr>
              <a:t>{ sku: 1 }</a:t>
            </a:r>
            <a:r>
              <a:rPr sz="1400" b="0" i="0">
                <a:solidFill>
                  <a:srgbClr val="000000"/>
                </a:solidFill>
                <a:latin typeface="Nirmala UI"/>
              </a:rPr>
              <a:t>.</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130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LAB 6.2 — STEPS 3–4</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550692"/>
            <a:ext cx="237744" cy="237744"/>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50692"/>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532404"/>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934740"/>
            <a:ext cx="11247120" cy="392097"/>
          </a:xfrm>
          <a:prstGeom prst="rect">
            <a:avLst/>
          </a:prstGeom>
          <a:noFill/>
        </p:spPr>
        <p:txBody>
          <a:bodyPr wrap="square" anchor="t" lIns="0" rIns="0" tIns="0" bIns="0">
            <a:spAutoFit/>
          </a:bodyPr>
          <a:lstStyle/>
          <a:p>
            <a:pPr>
              <a:spcBef>
                <a:spcPts val="0"/>
              </a:spcBef>
              <a:spcAft>
                <a:spcPts val="615"/>
              </a:spcAft>
            </a:pPr>
            <a:r>
              <a:rPr sz="1600" b="1" i="0">
                <a:solidFill>
                  <a:srgbClr val="000000"/>
                </a:solidFill>
                <a:latin typeface="Nirmala UI"/>
              </a:rPr>
              <a:t>Follow along (Windows) — key steps:</a:t>
            </a:r>
          </a:p>
        </p:txBody>
      </p:sp>
      <p:sp>
        <p:nvSpPr>
          <p:cNvPr id="8" name="TextBox 7"/>
          <p:cNvSpPr txBox="1"/>
          <p:nvPr/>
        </p:nvSpPr>
        <p:spPr>
          <a:xfrm>
            <a:off x="457200" y="2418277"/>
            <a:ext cx="11247120" cy="392097"/>
          </a:xfrm>
          <a:prstGeom prst="rect">
            <a:avLst/>
          </a:prstGeom>
          <a:noFill/>
        </p:spPr>
        <p:txBody>
          <a:bodyPr wrap="square" anchor="t" lIns="0" rIns="0" tIns="0" bIns="0">
            <a:spAutoFit/>
          </a:bodyPr>
          <a:lstStyle/>
          <a:p>
            <a:pPr>
              <a:spcBef>
                <a:spcPts val="0"/>
              </a:spcBef>
              <a:spcAft>
                <a:spcPts val="615"/>
              </a:spcAft>
            </a:pPr>
            <a:r>
              <a:rPr sz="1600" b="1" i="0">
                <a:solidFill>
                  <a:srgbClr val="000000"/>
                </a:solidFill>
                <a:latin typeface="Nirmala UI"/>
              </a:rPr>
              <a:t>Step 3 — Re-explain</a:t>
            </a:r>
          </a:p>
        </p:txBody>
      </p:sp>
      <p:sp>
        <p:nvSpPr>
          <p:cNvPr id="9" name="TextBox 8"/>
          <p:cNvSpPr txBox="1"/>
          <p:nvPr/>
        </p:nvSpPr>
        <p:spPr>
          <a:xfrm>
            <a:off x="457200" y="2901814"/>
            <a:ext cx="11247120" cy="738474"/>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  </a:t>
            </a:r>
            <a:r>
              <a:rPr sz="1600" b="1" i="0">
                <a:solidFill>
                  <a:srgbClr val="000000"/>
                </a:solidFill>
                <a:latin typeface="Nirmala UI"/>
              </a:rPr>
              <a:t>Do:</a:t>
            </a:r>
            <a:r>
              <a:rPr sz="1600" b="0" i="0">
                <a:solidFill>
                  <a:srgbClr val="000000"/>
                </a:solidFill>
                <a:latin typeface="Nirmala UI"/>
              </a:rPr>
              <a:t> Repeat the L100 find explain. Confirm the winning index name.</a:t>
            </a:r>
          </a:p>
          <a:p>
            <a:pPr>
              <a:spcBef>
                <a:spcPts val="0"/>
              </a:spcBef>
              <a:spcAft>
                <a:spcPts val="615"/>
              </a:spcAft>
            </a:pPr>
            <a:r>
              <a:rPr sz="1600" b="0" i="0">
                <a:solidFill>
                  <a:srgbClr val="000000"/>
                </a:solidFill>
                <a:latin typeface="Nirmala UI"/>
              </a:rPr>
              <a:t>•  </a:t>
            </a:r>
            <a:r>
              <a:rPr sz="1600" b="1" i="0">
                <a:solidFill>
                  <a:srgbClr val="000000"/>
                </a:solidFill>
                <a:latin typeface="Nirmala UI"/>
              </a:rPr>
              <a:t>Expected:</a:t>
            </a:r>
            <a:r>
              <a:rPr sz="1600" b="0" i="0">
                <a:solidFill>
                  <a:srgbClr val="000000"/>
                </a:solidFill>
                <a:latin typeface="Nirmala UI"/>
              </a:rPr>
              <a:t> IXSCAN on idx</a:t>
            </a:r>
            <a:r>
              <a:rPr sz="1600" b="0" i="1">
                <a:solidFill>
                  <a:srgbClr val="000000"/>
                </a:solidFill>
                <a:latin typeface="Nirmala UI"/>
              </a:rPr>
              <a:t>products</a:t>
            </a:r>
            <a:r>
              <a:rPr sz="1600" b="0" i="0">
                <a:solidFill>
                  <a:srgbClr val="000000"/>
                </a:solidFill>
                <a:latin typeface="Nirmala UI"/>
              </a:rPr>
              <a:t>sku. Keys and docs examined should be near 1, nReturned 1.</a:t>
            </a:r>
          </a:p>
        </p:txBody>
      </p:sp>
      <p:sp>
        <p:nvSpPr>
          <p:cNvPr id="10" name="TextBox 9"/>
          <p:cNvSpPr txBox="1"/>
          <p:nvPr/>
        </p:nvSpPr>
        <p:spPr>
          <a:xfrm>
            <a:off x="457200" y="3731728"/>
            <a:ext cx="11247120" cy="392097"/>
          </a:xfrm>
          <a:prstGeom prst="rect">
            <a:avLst/>
          </a:prstGeom>
          <a:noFill/>
        </p:spPr>
        <p:txBody>
          <a:bodyPr wrap="square" anchor="t" lIns="0" rIns="0" tIns="0" bIns="0">
            <a:spAutoFit/>
          </a:bodyPr>
          <a:lstStyle/>
          <a:p>
            <a:pPr>
              <a:spcBef>
                <a:spcPts val="0"/>
              </a:spcBef>
              <a:spcAft>
                <a:spcPts val="615"/>
              </a:spcAft>
            </a:pPr>
            <a:r>
              <a:rPr sz="1600" b="1" i="0">
                <a:solidFill>
                  <a:srgbClr val="000000"/>
                </a:solidFill>
                <a:latin typeface="Nirmala UI"/>
              </a:rPr>
              <a:t>Step 4 — Tradeoff note</a:t>
            </a:r>
          </a:p>
        </p:txBody>
      </p:sp>
      <p:sp>
        <p:nvSpPr>
          <p:cNvPr id="11" name="TextBox 10"/>
          <p:cNvSpPr txBox="1"/>
          <p:nvPr/>
        </p:nvSpPr>
        <p:spPr>
          <a:xfrm>
            <a:off x="457200" y="4215265"/>
            <a:ext cx="11247120" cy="1274922"/>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  </a:t>
            </a:r>
            <a:r>
              <a:rPr sz="1600" b="1" i="0">
                <a:solidFill>
                  <a:srgbClr val="000000"/>
                </a:solidFill>
                <a:latin typeface="Nirmala UI"/>
              </a:rPr>
              <a:t>Do:</a:t>
            </a:r>
            <a:r>
              <a:rPr sz="1600" b="0" i="0">
                <a:solidFill>
                  <a:srgbClr val="000000"/>
                </a:solidFill>
                <a:latin typeface="Nirmala UI"/>
              </a:rPr>
              <a:t> Write one sentence: what write and storage cost did you add, and which query shape it serves.</a:t>
            </a:r>
          </a:p>
          <a:p>
            <a:pPr>
              <a:spcBef>
                <a:spcPts val="0"/>
              </a:spcBef>
              <a:spcAft>
                <a:spcPts val="615"/>
              </a:spcAft>
            </a:pPr>
            <a:r>
              <a:rPr sz="1600" b="0" i="0">
                <a:solidFill>
                  <a:srgbClr val="000000"/>
                </a:solidFill>
                <a:latin typeface="Nirmala UI"/>
              </a:rPr>
              <a:t>•  </a:t>
            </a:r>
            <a:r>
              <a:rPr sz="1600" b="1" i="0">
                <a:solidFill>
                  <a:srgbClr val="000000"/>
                </a:solidFill>
                <a:latin typeface="Nirmala UI"/>
              </a:rPr>
              <a:t>Expected:</a:t>
            </a:r>
            <a:r>
              <a:rPr sz="1600" b="0" i="0">
                <a:solidFill>
                  <a:srgbClr val="000000"/>
                </a:solidFill>
                <a:latin typeface="Nirmala UI"/>
              </a:rPr>
              <a:t> Each product insert/update of sku maintains this index. It serves equality lookup by SKU.</a:t>
            </a:r>
          </a:p>
        </p:txBody>
      </p:sp>
      <p:sp>
        <p:nvSpPr>
          <p:cNvPr id="12" name="Rectangle 1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5"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131</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LAB 6.3 — DESIGN A COMPOUND INDEX</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488458"/>
            <a:ext cx="237744" cy="237744"/>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8845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47017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872506"/>
            <a:ext cx="11247120" cy="1679916"/>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Time:</a:t>
            </a:r>
            <a:r>
              <a:rPr sz="2000" b="0" i="0">
                <a:solidFill>
                  <a:srgbClr val="000000"/>
                </a:solidFill>
                <a:latin typeface="Nirmala UI"/>
              </a:rPr>
              <a:t> 25 min</a:t>
            </a:r>
          </a:p>
          <a:p>
            <a:pPr>
              <a:spcBef>
                <a:spcPts val="0"/>
              </a:spcBef>
              <a:spcAft>
                <a:spcPts val="769"/>
              </a:spcAft>
            </a:pPr>
            <a:r>
              <a:rPr sz="2000" b="0" i="0">
                <a:solidFill>
                  <a:srgbClr val="000000"/>
                </a:solidFill>
                <a:latin typeface="Nirmala UI"/>
              </a:rPr>
              <a:t>•  </a:t>
            </a:r>
            <a:r>
              <a:rPr sz="2000" b="0" i="0">
                <a:solidFill>
                  <a:srgbClr val="000000"/>
                </a:solidFill>
                <a:latin typeface="Nirmala UI"/>
              </a:rPr>
              <a:t>Build </a:t>
            </a:r>
            <a:r>
              <a:rPr sz="2000" b="0" i="0">
                <a:solidFill>
                  <a:srgbClr val="000000"/>
                </a:solidFill>
                <a:latin typeface="Consolas"/>
              </a:rPr>
              <a:t>{ category, active, price }</a:t>
            </a:r>
            <a:r>
              <a:rPr sz="2000" b="0" i="0">
                <a:solidFill>
                  <a:srgbClr val="000000"/>
                </a:solidFill>
                <a:latin typeface="Nirmala UI"/>
              </a:rPr>
              <a:t> and test which prefixes it supports.</a:t>
            </a:r>
          </a:p>
          <a:p>
            <a:pPr>
              <a:spcBef>
                <a:spcPts val="0"/>
              </a:spcBef>
              <a:spcAft>
                <a:spcPts val="769"/>
              </a:spcAft>
            </a:pPr>
            <a:r>
              <a:rPr sz="2000" b="0" i="0">
                <a:solidFill>
                  <a:srgbClr val="000000"/>
                </a:solidFill>
                <a:latin typeface="Nirmala UI"/>
              </a:rPr>
              <a:t>•  </a:t>
            </a:r>
            <a:r>
              <a:rPr sz="2000" b="1" i="0">
                <a:solidFill>
                  <a:srgbClr val="000000"/>
                </a:solidFill>
                <a:latin typeface="Nirmala UI"/>
              </a:rPr>
              <a:t>Lab guide:</a:t>
            </a:r>
            <a:r>
              <a:rPr sz="2000" b="0" i="0">
                <a:solidFill>
                  <a:srgbClr val="000000"/>
                </a:solidFill>
                <a:latin typeface="Nirmala UI"/>
              </a:rPr>
              <a:t> </a:t>
            </a:r>
            <a:r>
              <a:rPr sz="2000" b="0" i="0">
                <a:solidFill>
                  <a:srgbClr val="000000"/>
                </a:solidFill>
                <a:latin typeface="Consolas"/>
              </a:rPr>
              <a:t>Lab 6.3</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132</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LAB 6.3 — STEPS 1–2</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412672"/>
            <a:ext cx="237744" cy="237744"/>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12672"/>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394384"/>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Rounded Rectangle 6"/>
          <p:cNvSpPr/>
          <p:nvPr/>
        </p:nvSpPr>
        <p:spPr>
          <a:xfrm>
            <a:off x="457200" y="1796720"/>
            <a:ext cx="11247120" cy="554736"/>
          </a:xfrm>
          <a:prstGeom prst="roundRect">
            <a:avLst>
              <a:gd name="adj" fmla="val 6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796720"/>
            <a:ext cx="11027664" cy="554736"/>
          </a:xfrm>
          <a:prstGeom prst="rect">
            <a:avLst/>
          </a:prstGeom>
          <a:noFill/>
        </p:spPr>
        <p:txBody>
          <a:bodyPr wrap="square" anchor="ctr" lIns="0" rIns="0" tIns="0" bIns="0">
            <a:spAutoFit/>
          </a:bodyPr>
          <a:lstStyle/>
          <a:p>
            <a:r>
              <a:rPr sz="1200" b="1" i="0">
                <a:solidFill>
                  <a:srgbClr val="D1282E"/>
                </a:solidFill>
                <a:latin typeface="Nirmala UI"/>
              </a:rPr>
              <a:t>LAB GUIDE   </a:t>
            </a:r>
            <a:r>
              <a:rPr sz="2000" b="0" i="0">
                <a:solidFill>
                  <a:srgbClr val="000000"/>
                </a:solidFill>
                <a:latin typeface="Consolas"/>
              </a:rPr>
              <a:t>Lab 6.3</a:t>
            </a:r>
          </a:p>
        </p:txBody>
      </p:sp>
      <p:sp>
        <p:nvSpPr>
          <p:cNvPr id="9" name="TextBox 8"/>
          <p:cNvSpPr txBox="1"/>
          <p:nvPr/>
        </p:nvSpPr>
        <p:spPr>
          <a:xfrm>
            <a:off x="457200" y="2442896"/>
            <a:ext cx="11247120" cy="348800"/>
          </a:xfrm>
          <a:prstGeom prst="rect">
            <a:avLst/>
          </a:prstGeom>
          <a:noFill/>
        </p:spPr>
        <p:txBody>
          <a:bodyPr wrap="square" anchor="t" lIns="0" rIns="0" tIns="0" bIns="0">
            <a:spAutoFit/>
          </a:bodyPr>
          <a:lstStyle/>
          <a:p>
            <a:pPr>
              <a:spcBef>
                <a:spcPts val="0"/>
              </a:spcBef>
              <a:spcAft>
                <a:spcPts val="538"/>
              </a:spcAft>
            </a:pPr>
            <a:r>
              <a:rPr sz="1400" b="1" i="0">
                <a:solidFill>
                  <a:srgbClr val="000000"/>
                </a:solidFill>
                <a:latin typeface="Nirmala UI"/>
              </a:rPr>
              <a:t>Follow along (Windows) — key steps:</a:t>
            </a:r>
          </a:p>
        </p:txBody>
      </p:sp>
      <p:sp>
        <p:nvSpPr>
          <p:cNvPr id="10" name="TextBox 9"/>
          <p:cNvSpPr txBox="1"/>
          <p:nvPr/>
        </p:nvSpPr>
        <p:spPr>
          <a:xfrm>
            <a:off x="457200" y="2883136"/>
            <a:ext cx="11247120" cy="348800"/>
          </a:xfrm>
          <a:prstGeom prst="rect">
            <a:avLst/>
          </a:prstGeom>
          <a:noFill/>
        </p:spPr>
        <p:txBody>
          <a:bodyPr wrap="square" anchor="t" lIns="0" rIns="0" tIns="0" bIns="0">
            <a:spAutoFit/>
          </a:bodyPr>
          <a:lstStyle/>
          <a:p>
            <a:pPr>
              <a:spcBef>
                <a:spcPts val="0"/>
              </a:spcBef>
              <a:spcAft>
                <a:spcPts val="538"/>
              </a:spcAft>
            </a:pPr>
            <a:r>
              <a:rPr sz="1400" b="1" i="0">
                <a:solidFill>
                  <a:srgbClr val="000000"/>
                </a:solidFill>
                <a:latin typeface="Nirmala UI"/>
              </a:rPr>
              <a:t>Step 1 — Identify fields</a:t>
            </a:r>
          </a:p>
        </p:txBody>
      </p:sp>
      <p:sp>
        <p:nvSpPr>
          <p:cNvPr id="11" name="TextBox 10"/>
          <p:cNvSpPr txBox="1"/>
          <p:nvPr/>
        </p:nvSpPr>
        <p:spPr>
          <a:xfrm>
            <a:off x="457200" y="3323376"/>
            <a:ext cx="11247120" cy="886576"/>
          </a:xfrm>
          <a:prstGeom prst="rect">
            <a:avLst/>
          </a:prstGeom>
          <a:noFill/>
        </p:spPr>
        <p:txBody>
          <a:bodyPr wrap="square" anchor="t" lIns="0" rIns="0" tIns="0" bIns="0">
            <a:spAutoFit/>
          </a:bodyPr>
          <a:lstStyle/>
          <a:p>
            <a:pPr>
              <a:spcBef>
                <a:spcPts val="0"/>
              </a:spcBef>
              <a:spcAft>
                <a:spcPts val="538"/>
              </a:spcAft>
            </a:pPr>
            <a:r>
              <a:rPr sz="1400" b="0" i="0">
                <a:solidFill>
                  <a:srgbClr val="000000"/>
                </a:solidFill>
                <a:latin typeface="Nirmala UI"/>
              </a:rPr>
              <a:t>•  </a:t>
            </a:r>
            <a:r>
              <a:rPr sz="1400" b="1" i="0">
                <a:solidFill>
                  <a:srgbClr val="000000"/>
                </a:solidFill>
                <a:latin typeface="Nirmala UI"/>
              </a:rPr>
              <a:t>Do:</a:t>
            </a:r>
            <a:r>
              <a:rPr sz="1400" b="0" i="0">
                <a:solidFill>
                  <a:srgbClr val="000000"/>
                </a:solidFill>
                <a:latin typeface="Nirmala UI"/>
              </a:rPr>
              <a:t> For </a:t>
            </a:r>
            <a:r>
              <a:rPr sz="1400" b="0" i="0">
                <a:solidFill>
                  <a:srgbClr val="000000"/>
                </a:solidFill>
                <a:latin typeface="Consolas"/>
              </a:rPr>
              <a:t>find({ category: "ACCESSORY", active: true }).sort({ price: 1 })</a:t>
            </a:r>
            <a:r>
              <a:rPr sz="1400" b="0" i="0">
                <a:solidFill>
                  <a:srgbClr val="000000"/>
                </a:solidFill>
                <a:latin typeface="Nirmala UI"/>
              </a:rPr>
              <a:t>, write equality vs sort fields and propose a key.</a:t>
            </a:r>
          </a:p>
          <a:p>
            <a:pPr>
              <a:spcBef>
                <a:spcPts val="0"/>
              </a:spcBef>
              <a:spcAft>
                <a:spcPts val="538"/>
              </a:spcAft>
            </a:pPr>
            <a:r>
              <a:rPr sz="1400" b="0" i="0">
                <a:solidFill>
                  <a:srgbClr val="000000"/>
                </a:solidFill>
                <a:latin typeface="Nirmala UI"/>
              </a:rPr>
              <a:t>•  </a:t>
            </a:r>
            <a:r>
              <a:rPr sz="1400" b="1" i="0">
                <a:solidFill>
                  <a:srgbClr val="000000"/>
                </a:solidFill>
                <a:latin typeface="Nirmala UI"/>
              </a:rPr>
              <a:t>Expected:</a:t>
            </a:r>
            <a:r>
              <a:rPr sz="1400" b="0" i="0">
                <a:solidFill>
                  <a:srgbClr val="000000"/>
                </a:solidFill>
                <a:latin typeface="Nirmala UI"/>
              </a:rPr>
              <a:t> Equality: category, active. Sort: price. Proposal </a:t>
            </a:r>
            <a:r>
              <a:rPr sz="1400" b="0" i="0">
                <a:solidFill>
                  <a:srgbClr val="000000"/>
                </a:solidFill>
                <a:latin typeface="Consolas"/>
              </a:rPr>
              <a:t>{ category: 1, active: 1, price: 1 }</a:t>
            </a:r>
            <a:r>
              <a:rPr sz="1400" b="0" i="0">
                <a:solidFill>
                  <a:srgbClr val="000000"/>
                </a:solidFill>
                <a:latin typeface="Nirmala UI"/>
              </a:rPr>
              <a:t>.</a:t>
            </a:r>
          </a:p>
        </p:txBody>
      </p:sp>
      <p:sp>
        <p:nvSpPr>
          <p:cNvPr id="12" name="TextBox 11"/>
          <p:cNvSpPr txBox="1"/>
          <p:nvPr/>
        </p:nvSpPr>
        <p:spPr>
          <a:xfrm>
            <a:off x="457200" y="4301392"/>
            <a:ext cx="11247120" cy="348800"/>
          </a:xfrm>
          <a:prstGeom prst="rect">
            <a:avLst/>
          </a:prstGeom>
          <a:noFill/>
        </p:spPr>
        <p:txBody>
          <a:bodyPr wrap="square" anchor="t" lIns="0" rIns="0" tIns="0" bIns="0">
            <a:spAutoFit/>
          </a:bodyPr>
          <a:lstStyle/>
          <a:p>
            <a:pPr>
              <a:spcBef>
                <a:spcPts val="0"/>
              </a:spcBef>
              <a:spcAft>
                <a:spcPts val="538"/>
              </a:spcAft>
            </a:pPr>
            <a:r>
              <a:rPr sz="1400" b="1" i="0">
                <a:solidFill>
                  <a:srgbClr val="000000"/>
                </a:solidFill>
                <a:latin typeface="Nirmala UI"/>
              </a:rPr>
              <a:t>Step 2 — Create and explain</a:t>
            </a:r>
          </a:p>
        </p:txBody>
      </p:sp>
      <p:sp>
        <p:nvSpPr>
          <p:cNvPr id="13" name="TextBox 12"/>
          <p:cNvSpPr txBox="1"/>
          <p:nvPr/>
        </p:nvSpPr>
        <p:spPr>
          <a:xfrm>
            <a:off x="457200" y="4741632"/>
            <a:ext cx="11247120" cy="886576"/>
          </a:xfrm>
          <a:prstGeom prst="rect">
            <a:avLst/>
          </a:prstGeom>
          <a:noFill/>
        </p:spPr>
        <p:txBody>
          <a:bodyPr wrap="square" anchor="t" lIns="0" rIns="0" tIns="0" bIns="0">
            <a:spAutoFit/>
          </a:bodyPr>
          <a:lstStyle/>
          <a:p>
            <a:pPr>
              <a:spcBef>
                <a:spcPts val="0"/>
              </a:spcBef>
              <a:spcAft>
                <a:spcPts val="538"/>
              </a:spcAft>
            </a:pPr>
            <a:r>
              <a:rPr sz="1400" b="0" i="0">
                <a:solidFill>
                  <a:srgbClr val="000000"/>
                </a:solidFill>
                <a:latin typeface="Nirmala UI"/>
              </a:rPr>
              <a:t>•  </a:t>
            </a:r>
            <a:r>
              <a:rPr sz="1400" b="1" i="0">
                <a:solidFill>
                  <a:srgbClr val="000000"/>
                </a:solidFill>
                <a:latin typeface="Nirmala UI"/>
              </a:rPr>
              <a:t>Do:</a:t>
            </a:r>
            <a:r>
              <a:rPr sz="1400" b="0" i="0">
                <a:solidFill>
                  <a:srgbClr val="000000"/>
                </a:solidFill>
                <a:latin typeface="Nirmala UI"/>
              </a:rPr>
              <a:t> Run: ```javascript db.products.createIndex( { category: 1, active: 1, price: 1 }, { name: "idx</a:t>
            </a:r>
            <a:r>
              <a:rPr sz="1400" b="0" i="1">
                <a:solidFill>
                  <a:srgbClr val="000000"/>
                </a:solidFill>
                <a:latin typeface="Nirmala UI"/>
              </a:rPr>
              <a:t>products</a:t>
            </a:r>
            <a:r>
              <a:rPr sz="1400" b="0" i="0">
                <a:solidFill>
                  <a:srgbClr val="000000"/>
                </a:solidFill>
                <a:latin typeface="Nirmala UI"/>
              </a:rPr>
              <a:t>category</a:t>
            </a:r>
            <a:r>
              <a:rPr sz="1400" b="0" i="1">
                <a:solidFill>
                  <a:srgbClr val="000000"/>
                </a:solidFill>
                <a:latin typeface="Nirmala UI"/>
              </a:rPr>
              <a:t>active</a:t>
            </a:r>
            <a:r>
              <a:rPr sz="1400" b="0" i="0">
                <a:solidFill>
                  <a:srgbClr val="000000"/>
                </a:solidFill>
                <a:latin typeface="Nirmala UI"/>
              </a:rPr>
              <a:t>price" } ) db.products.find({ category: "ACCESSORY", active: true }).sort({ price: 1 }).explain("exe</a:t>
            </a:r>
          </a:p>
          <a:p>
            <a:pPr>
              <a:spcBef>
                <a:spcPts val="0"/>
              </a:spcBef>
              <a:spcAft>
                <a:spcPts val="538"/>
              </a:spcAft>
            </a:pPr>
            <a:r>
              <a:rPr sz="1400" b="0" i="0">
                <a:solidFill>
                  <a:srgbClr val="000000"/>
                </a:solidFill>
                <a:latin typeface="Nirmala UI"/>
              </a:rPr>
              <a:t>•  </a:t>
            </a:r>
            <a:r>
              <a:rPr sz="1400" b="1" i="0">
                <a:solidFill>
                  <a:srgbClr val="000000"/>
                </a:solidFill>
                <a:latin typeface="Nirmala UI"/>
              </a:rPr>
              <a:t>Expected:</a:t>
            </a:r>
            <a:r>
              <a:rPr sz="1400" b="0" i="0">
                <a:solidFill>
                  <a:srgbClr val="000000"/>
                </a:solidFill>
                <a:latin typeface="Nirmala UI"/>
              </a:rPr>
              <a:t> Winning index is the new compound index. Look for IXSCAN and no blocking SORT.</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133</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LAB 6.3 — STEPS 3–4</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416580"/>
            <a:ext cx="237744" cy="237744"/>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16580"/>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398292"/>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800628"/>
            <a:ext cx="11247120" cy="392097"/>
          </a:xfrm>
          <a:prstGeom prst="rect">
            <a:avLst/>
          </a:prstGeom>
          <a:noFill/>
        </p:spPr>
        <p:txBody>
          <a:bodyPr wrap="square" anchor="t" lIns="0" rIns="0" tIns="0" bIns="0">
            <a:spAutoFit/>
          </a:bodyPr>
          <a:lstStyle/>
          <a:p>
            <a:pPr>
              <a:spcBef>
                <a:spcPts val="0"/>
              </a:spcBef>
              <a:spcAft>
                <a:spcPts val="615"/>
              </a:spcAft>
            </a:pPr>
            <a:r>
              <a:rPr sz="1600" b="1" i="0">
                <a:solidFill>
                  <a:srgbClr val="000000"/>
                </a:solidFill>
                <a:latin typeface="Nirmala UI"/>
              </a:rPr>
              <a:t>Follow along (Windows) — key steps:</a:t>
            </a:r>
          </a:p>
        </p:txBody>
      </p:sp>
      <p:sp>
        <p:nvSpPr>
          <p:cNvPr id="8" name="TextBox 7"/>
          <p:cNvSpPr txBox="1"/>
          <p:nvPr/>
        </p:nvSpPr>
        <p:spPr>
          <a:xfrm>
            <a:off x="457200" y="2284165"/>
            <a:ext cx="11247120" cy="392097"/>
          </a:xfrm>
          <a:prstGeom prst="rect">
            <a:avLst/>
          </a:prstGeom>
          <a:noFill/>
        </p:spPr>
        <p:txBody>
          <a:bodyPr wrap="square" anchor="t" lIns="0" rIns="0" tIns="0" bIns="0">
            <a:spAutoFit/>
          </a:bodyPr>
          <a:lstStyle/>
          <a:p>
            <a:pPr>
              <a:spcBef>
                <a:spcPts val="0"/>
              </a:spcBef>
              <a:spcAft>
                <a:spcPts val="615"/>
              </a:spcAft>
            </a:pPr>
            <a:r>
              <a:rPr sz="1600" b="1" i="0">
                <a:solidFill>
                  <a:srgbClr val="000000"/>
                </a:solidFill>
                <a:latin typeface="Nirmala UI"/>
              </a:rPr>
              <a:t>Step 3 — Test a prefix query</a:t>
            </a:r>
          </a:p>
        </p:txBody>
      </p:sp>
      <p:sp>
        <p:nvSpPr>
          <p:cNvPr id="9" name="TextBox 8"/>
          <p:cNvSpPr txBox="1"/>
          <p:nvPr/>
        </p:nvSpPr>
        <p:spPr>
          <a:xfrm>
            <a:off x="457200" y="2767702"/>
            <a:ext cx="11247120" cy="1006698"/>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  </a:t>
            </a:r>
            <a:r>
              <a:rPr sz="1600" b="1" i="0">
                <a:solidFill>
                  <a:srgbClr val="000000"/>
                </a:solidFill>
                <a:latin typeface="Nirmala UI"/>
              </a:rPr>
              <a:t>Do:</a:t>
            </a:r>
            <a:r>
              <a:rPr sz="1600" b="0" i="0">
                <a:solidFill>
                  <a:srgbClr val="000000"/>
                </a:solidFill>
                <a:latin typeface="Nirmala UI"/>
              </a:rPr>
              <a:t> Explain </a:t>
            </a:r>
            <a:r>
              <a:rPr sz="1600" b="0" i="0">
                <a:solidFill>
                  <a:srgbClr val="000000"/>
                </a:solidFill>
                <a:latin typeface="Consolas"/>
              </a:rPr>
              <a:t>db.products.find({ category: "LAPTOP" })</a:t>
            </a:r>
            <a:r>
              <a:rPr sz="1600" b="0" i="0">
                <a:solidFill>
                  <a:srgbClr val="000000"/>
                </a:solidFill>
                <a:latin typeface="Nirmala UI"/>
              </a:rPr>
              <a:t> and </a:t>
            </a:r>
            <a:r>
              <a:rPr sz="1600" b="0" i="0">
                <a:solidFill>
                  <a:srgbClr val="000000"/>
                </a:solidFill>
                <a:latin typeface="Consolas"/>
              </a:rPr>
              <a:t>db.products.find({ active: true })</a:t>
            </a:r>
            <a:r>
              <a:rPr sz="1600" b="0" i="0">
                <a:solidFill>
                  <a:srgbClr val="000000"/>
                </a:solidFill>
                <a:latin typeface="Nirmala UI"/>
              </a:rPr>
              <a:t>.</a:t>
            </a:r>
          </a:p>
          <a:p>
            <a:pPr>
              <a:spcBef>
                <a:spcPts val="0"/>
              </a:spcBef>
              <a:spcAft>
                <a:spcPts val="615"/>
              </a:spcAft>
            </a:pPr>
            <a:r>
              <a:rPr sz="1600" b="0" i="0">
                <a:solidFill>
                  <a:srgbClr val="000000"/>
                </a:solidFill>
                <a:latin typeface="Nirmala UI"/>
              </a:rPr>
              <a:t>•  </a:t>
            </a:r>
            <a:r>
              <a:rPr sz="1600" b="1" i="0">
                <a:solidFill>
                  <a:srgbClr val="000000"/>
                </a:solidFill>
                <a:latin typeface="Nirmala UI"/>
              </a:rPr>
              <a:t>Expected:</a:t>
            </a:r>
            <a:r>
              <a:rPr sz="1600" b="0" i="0">
                <a:solidFill>
                  <a:srgbClr val="000000"/>
                </a:solidFill>
                <a:latin typeface="Nirmala UI"/>
              </a:rPr>
              <a:t> Category-only can use the leading prefix. Active-only generally cannot.</a:t>
            </a:r>
          </a:p>
        </p:txBody>
      </p:sp>
      <p:sp>
        <p:nvSpPr>
          <p:cNvPr id="10" name="TextBox 9"/>
          <p:cNvSpPr txBox="1"/>
          <p:nvPr/>
        </p:nvSpPr>
        <p:spPr>
          <a:xfrm>
            <a:off x="457200" y="3865840"/>
            <a:ext cx="11247120" cy="392097"/>
          </a:xfrm>
          <a:prstGeom prst="rect">
            <a:avLst/>
          </a:prstGeom>
          <a:noFill/>
        </p:spPr>
        <p:txBody>
          <a:bodyPr wrap="square" anchor="t" lIns="0" rIns="0" tIns="0" bIns="0">
            <a:spAutoFit/>
          </a:bodyPr>
          <a:lstStyle/>
          <a:p>
            <a:pPr>
              <a:spcBef>
                <a:spcPts val="0"/>
              </a:spcBef>
              <a:spcAft>
                <a:spcPts val="615"/>
              </a:spcAft>
            </a:pPr>
            <a:r>
              <a:rPr sz="1600" b="1" i="0">
                <a:solidFill>
                  <a:srgbClr val="000000"/>
                </a:solidFill>
                <a:latin typeface="Nirmala UI"/>
              </a:rPr>
              <a:t>Step 4 — Record unsupported shapes</a:t>
            </a:r>
          </a:p>
        </p:txBody>
      </p:sp>
      <p:sp>
        <p:nvSpPr>
          <p:cNvPr id="11" name="TextBox 10"/>
          <p:cNvSpPr txBox="1"/>
          <p:nvPr/>
        </p:nvSpPr>
        <p:spPr>
          <a:xfrm>
            <a:off x="457200" y="4349377"/>
            <a:ext cx="11247120" cy="1274922"/>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  </a:t>
            </a:r>
            <a:r>
              <a:rPr sz="1600" b="1" i="0">
                <a:solidFill>
                  <a:srgbClr val="000000"/>
                </a:solidFill>
                <a:latin typeface="Nirmala UI"/>
              </a:rPr>
              <a:t>Do:</a:t>
            </a:r>
            <a:r>
              <a:rPr sz="1600" b="0" i="0">
                <a:solidFill>
                  <a:srgbClr val="000000"/>
                </a:solidFill>
                <a:latin typeface="Nirmala UI"/>
              </a:rPr>
              <a:t> Write one query this index does </a:t>
            </a:r>
            <a:r>
              <a:rPr sz="1600" b="1" i="0">
                <a:solidFill>
                  <a:srgbClr val="000000"/>
                </a:solidFill>
                <a:latin typeface="Nirmala UI"/>
              </a:rPr>
              <a:t>not</a:t>
            </a:r>
            <a:r>
              <a:rPr sz="1600" b="0" i="0">
                <a:solidFill>
                  <a:srgbClr val="000000"/>
                </a:solidFill>
                <a:latin typeface="Nirmala UI"/>
              </a:rPr>
              <a:t> support well (for example sort by name, or filter only price).</a:t>
            </a:r>
          </a:p>
          <a:p>
            <a:pPr>
              <a:spcBef>
                <a:spcPts val="0"/>
              </a:spcBef>
              <a:spcAft>
                <a:spcPts val="615"/>
              </a:spcAft>
            </a:pPr>
            <a:r>
              <a:rPr sz="1600" b="0" i="0">
                <a:solidFill>
                  <a:srgbClr val="000000"/>
                </a:solidFill>
                <a:latin typeface="Nirmala UI"/>
              </a:rPr>
              <a:t>•  </a:t>
            </a:r>
            <a:r>
              <a:rPr sz="1600" b="1" i="0">
                <a:solidFill>
                  <a:srgbClr val="000000"/>
                </a:solidFill>
                <a:latin typeface="Nirmala UI"/>
              </a:rPr>
              <a:t>Expected:</a:t>
            </a:r>
            <a:r>
              <a:rPr sz="1600" b="0" i="0">
                <a:solidFill>
                  <a:srgbClr val="000000"/>
                </a:solidFill>
                <a:latin typeface="Nirmala UI"/>
              </a:rPr>
              <a:t> A concrete unsupported shape is written, with a one-line reason (prefix or sort mismatch).</a:t>
            </a:r>
          </a:p>
        </p:txBody>
      </p:sp>
      <p:sp>
        <p:nvSpPr>
          <p:cNvPr id="12" name="Rectangle 1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5"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134</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LAB 6.4 — SUPPORT FILTERING AND SORTING</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488458"/>
            <a:ext cx="237744" cy="237744"/>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8845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47017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872506"/>
            <a:ext cx="11247120" cy="1679916"/>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Time:</a:t>
            </a:r>
            <a:r>
              <a:rPr sz="2000" b="0" i="0">
                <a:solidFill>
                  <a:srgbClr val="000000"/>
                </a:solidFill>
                <a:latin typeface="Nirmala UI"/>
              </a:rPr>
              <a:t> 25 min</a:t>
            </a:r>
          </a:p>
          <a:p>
            <a:pPr>
              <a:spcBef>
                <a:spcPts val="0"/>
              </a:spcBef>
              <a:spcAft>
                <a:spcPts val="769"/>
              </a:spcAft>
            </a:pPr>
            <a:r>
              <a:rPr sz="2000" b="0" i="0">
                <a:solidFill>
                  <a:srgbClr val="000000"/>
                </a:solidFill>
                <a:latin typeface="Nirmala UI"/>
              </a:rPr>
              <a:t>•  </a:t>
            </a:r>
            <a:r>
              <a:rPr sz="2000" b="0" i="0">
                <a:solidFill>
                  <a:srgbClr val="000000"/>
                </a:solidFill>
                <a:latin typeface="Nirmala UI"/>
              </a:rPr>
              <a:t>Compare compound orders for C101’s newest orders in a date range, limit 10.</a:t>
            </a:r>
          </a:p>
          <a:p>
            <a:pPr>
              <a:spcBef>
                <a:spcPts val="0"/>
              </a:spcBef>
              <a:spcAft>
                <a:spcPts val="769"/>
              </a:spcAft>
            </a:pPr>
            <a:r>
              <a:rPr sz="2000" b="0" i="0">
                <a:solidFill>
                  <a:srgbClr val="000000"/>
                </a:solidFill>
                <a:latin typeface="Nirmala UI"/>
              </a:rPr>
              <a:t>•  </a:t>
            </a:r>
            <a:r>
              <a:rPr sz="2000" b="1" i="0">
                <a:solidFill>
                  <a:srgbClr val="000000"/>
                </a:solidFill>
                <a:latin typeface="Nirmala UI"/>
              </a:rPr>
              <a:t>Lab guide:</a:t>
            </a:r>
            <a:r>
              <a:rPr sz="2000" b="0" i="0">
                <a:solidFill>
                  <a:srgbClr val="000000"/>
                </a:solidFill>
                <a:latin typeface="Nirmala UI"/>
              </a:rPr>
              <a:t> </a:t>
            </a:r>
            <a:r>
              <a:rPr sz="2000" b="0" i="0">
                <a:solidFill>
                  <a:srgbClr val="000000"/>
                </a:solidFill>
                <a:latin typeface="Consolas"/>
              </a:rPr>
              <a:t>Lab 6.4</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135</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LAB 6.4 — STEPS 1–2</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412672"/>
            <a:ext cx="237744" cy="237744"/>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12672"/>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394384"/>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Rounded Rectangle 6"/>
          <p:cNvSpPr/>
          <p:nvPr/>
        </p:nvSpPr>
        <p:spPr>
          <a:xfrm>
            <a:off x="457200" y="1796720"/>
            <a:ext cx="11247120" cy="554736"/>
          </a:xfrm>
          <a:prstGeom prst="roundRect">
            <a:avLst>
              <a:gd name="adj" fmla="val 6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796720"/>
            <a:ext cx="11027664" cy="554736"/>
          </a:xfrm>
          <a:prstGeom prst="rect">
            <a:avLst/>
          </a:prstGeom>
          <a:noFill/>
        </p:spPr>
        <p:txBody>
          <a:bodyPr wrap="square" anchor="ctr" lIns="0" rIns="0" tIns="0" bIns="0">
            <a:spAutoFit/>
          </a:bodyPr>
          <a:lstStyle/>
          <a:p>
            <a:r>
              <a:rPr sz="1200" b="1" i="0">
                <a:solidFill>
                  <a:srgbClr val="D1282E"/>
                </a:solidFill>
                <a:latin typeface="Nirmala UI"/>
              </a:rPr>
              <a:t>LAB GUIDE   </a:t>
            </a:r>
            <a:r>
              <a:rPr sz="2000" b="0" i="0">
                <a:solidFill>
                  <a:srgbClr val="000000"/>
                </a:solidFill>
                <a:latin typeface="Consolas"/>
              </a:rPr>
              <a:t>Lab 6.4</a:t>
            </a:r>
          </a:p>
        </p:txBody>
      </p:sp>
      <p:sp>
        <p:nvSpPr>
          <p:cNvPr id="9" name="TextBox 8"/>
          <p:cNvSpPr txBox="1"/>
          <p:nvPr/>
        </p:nvSpPr>
        <p:spPr>
          <a:xfrm>
            <a:off x="457200" y="2442896"/>
            <a:ext cx="11247120" cy="348800"/>
          </a:xfrm>
          <a:prstGeom prst="rect">
            <a:avLst/>
          </a:prstGeom>
          <a:noFill/>
        </p:spPr>
        <p:txBody>
          <a:bodyPr wrap="square" anchor="t" lIns="0" rIns="0" tIns="0" bIns="0">
            <a:spAutoFit/>
          </a:bodyPr>
          <a:lstStyle/>
          <a:p>
            <a:pPr>
              <a:spcBef>
                <a:spcPts val="0"/>
              </a:spcBef>
              <a:spcAft>
                <a:spcPts val="538"/>
              </a:spcAft>
            </a:pPr>
            <a:r>
              <a:rPr sz="1400" b="1" i="0">
                <a:solidFill>
                  <a:srgbClr val="000000"/>
                </a:solidFill>
                <a:latin typeface="Nirmala UI"/>
              </a:rPr>
              <a:t>Follow along (Windows) — key steps:</a:t>
            </a:r>
          </a:p>
        </p:txBody>
      </p:sp>
      <p:sp>
        <p:nvSpPr>
          <p:cNvPr id="10" name="TextBox 9"/>
          <p:cNvSpPr txBox="1"/>
          <p:nvPr/>
        </p:nvSpPr>
        <p:spPr>
          <a:xfrm>
            <a:off x="457200" y="2883136"/>
            <a:ext cx="11247120" cy="348800"/>
          </a:xfrm>
          <a:prstGeom prst="rect">
            <a:avLst/>
          </a:prstGeom>
          <a:noFill/>
        </p:spPr>
        <p:txBody>
          <a:bodyPr wrap="square" anchor="t" lIns="0" rIns="0" tIns="0" bIns="0">
            <a:spAutoFit/>
          </a:bodyPr>
          <a:lstStyle/>
          <a:p>
            <a:pPr>
              <a:spcBef>
                <a:spcPts val="0"/>
              </a:spcBef>
              <a:spcAft>
                <a:spcPts val="538"/>
              </a:spcAft>
            </a:pPr>
            <a:r>
              <a:rPr sz="1400" b="1" i="0">
                <a:solidFill>
                  <a:srgbClr val="000000"/>
                </a:solidFill>
                <a:latin typeface="Nirmala UI"/>
              </a:rPr>
              <a:t>Step 1 — Write the query</a:t>
            </a:r>
          </a:p>
        </p:txBody>
      </p:sp>
      <p:sp>
        <p:nvSpPr>
          <p:cNvPr id="11" name="TextBox 10"/>
          <p:cNvSpPr txBox="1"/>
          <p:nvPr/>
        </p:nvSpPr>
        <p:spPr>
          <a:xfrm>
            <a:off x="457200" y="3323376"/>
            <a:ext cx="11247120" cy="886576"/>
          </a:xfrm>
          <a:prstGeom prst="rect">
            <a:avLst/>
          </a:prstGeom>
          <a:noFill/>
        </p:spPr>
        <p:txBody>
          <a:bodyPr wrap="square" anchor="t" lIns="0" rIns="0" tIns="0" bIns="0">
            <a:spAutoFit/>
          </a:bodyPr>
          <a:lstStyle/>
          <a:p>
            <a:pPr>
              <a:spcBef>
                <a:spcPts val="0"/>
              </a:spcBef>
              <a:spcAft>
                <a:spcPts val="538"/>
              </a:spcAft>
            </a:pPr>
            <a:r>
              <a:rPr sz="1400" b="0" i="0">
                <a:solidFill>
                  <a:srgbClr val="000000"/>
                </a:solidFill>
                <a:latin typeface="Nirmala UI"/>
              </a:rPr>
              <a:t>•  </a:t>
            </a:r>
            <a:r>
              <a:rPr sz="1400" b="1" i="0">
                <a:solidFill>
                  <a:srgbClr val="000000"/>
                </a:solidFill>
                <a:latin typeface="Nirmala UI"/>
              </a:rPr>
              <a:t>Do:</a:t>
            </a:r>
            <a:r>
              <a:rPr sz="1400" b="0" i="0">
                <a:solidFill>
                  <a:srgbClr val="000000"/>
                </a:solidFill>
                <a:latin typeface="Nirmala UI"/>
              </a:rPr>
              <a:t> Using C101’s </a:t>
            </a:r>
            <a:r>
              <a:rPr sz="1400" b="0" i="0">
                <a:solidFill>
                  <a:srgbClr val="000000"/>
                </a:solidFill>
                <a:latin typeface="Consolas"/>
              </a:rPr>
              <a:t>_id</a:t>
            </a:r>
            <a:r>
              <a:rPr sz="1400" b="0" i="0">
                <a:solidFill>
                  <a:srgbClr val="000000"/>
                </a:solidFill>
                <a:latin typeface="Nirmala UI"/>
              </a:rPr>
              <a:t> as </a:t>
            </a:r>
            <a:r>
              <a:rPr sz="1400" b="0" i="0">
                <a:solidFill>
                  <a:srgbClr val="000000"/>
                </a:solidFill>
                <a:latin typeface="Consolas"/>
              </a:rPr>
              <a:t>cid</a:t>
            </a:r>
            <a:r>
              <a:rPr sz="1400" b="0" i="0">
                <a:solidFill>
                  <a:srgbClr val="000000"/>
                </a:solidFill>
                <a:latin typeface="Nirmala UI"/>
              </a:rPr>
              <a:t> and a start date of </a:t>
            </a:r>
            <a:r>
              <a:rPr sz="1400" b="0" i="0">
                <a:solidFill>
                  <a:srgbClr val="000000"/>
                </a:solidFill>
                <a:latin typeface="Consolas"/>
              </a:rPr>
              <a:t>ISODate("2026-08-01T00:00:00Z")</a:t>
            </a:r>
            <a:r>
              <a:rPr sz="1400" b="0" i="0">
                <a:solidFill>
                  <a:srgbClr val="000000"/>
                </a:solidFill>
                <a:latin typeface="Nirmala UI"/>
              </a:rPr>
              <a:t>: ```javascript db.orders.find({ customerId: cid, createdAt: { $gte: ISODate("2026-08-01T00:00:00Z") } }).sort({ createdAt: -1 }).limit(10)</a:t>
            </a:r>
          </a:p>
          <a:p>
            <a:pPr>
              <a:spcBef>
                <a:spcPts val="0"/>
              </a:spcBef>
              <a:spcAft>
                <a:spcPts val="538"/>
              </a:spcAft>
            </a:pPr>
            <a:r>
              <a:rPr sz="1400" b="0" i="0">
                <a:solidFill>
                  <a:srgbClr val="000000"/>
                </a:solidFill>
                <a:latin typeface="Nirmala UI"/>
              </a:rPr>
              <a:t>•  </a:t>
            </a:r>
            <a:r>
              <a:rPr sz="1400" b="1" i="0">
                <a:solidFill>
                  <a:srgbClr val="000000"/>
                </a:solidFill>
                <a:latin typeface="Nirmala UI"/>
              </a:rPr>
              <a:t>Expected:</a:t>
            </a:r>
            <a:r>
              <a:rPr sz="1400" b="0" i="0">
                <a:solidFill>
                  <a:srgbClr val="000000"/>
                </a:solidFill>
                <a:latin typeface="Nirmala UI"/>
              </a:rPr>
              <a:t> Baseline plan recorded. Equality customerId, sort/range createdAt.</a:t>
            </a:r>
          </a:p>
        </p:txBody>
      </p:sp>
      <p:sp>
        <p:nvSpPr>
          <p:cNvPr id="12" name="TextBox 11"/>
          <p:cNvSpPr txBox="1"/>
          <p:nvPr/>
        </p:nvSpPr>
        <p:spPr>
          <a:xfrm>
            <a:off x="457200" y="4301392"/>
            <a:ext cx="11247120" cy="348800"/>
          </a:xfrm>
          <a:prstGeom prst="rect">
            <a:avLst/>
          </a:prstGeom>
          <a:noFill/>
        </p:spPr>
        <p:txBody>
          <a:bodyPr wrap="square" anchor="t" lIns="0" rIns="0" tIns="0" bIns="0">
            <a:spAutoFit/>
          </a:bodyPr>
          <a:lstStyle/>
          <a:p>
            <a:pPr>
              <a:spcBef>
                <a:spcPts val="0"/>
              </a:spcBef>
              <a:spcAft>
                <a:spcPts val="538"/>
              </a:spcAft>
            </a:pPr>
            <a:r>
              <a:rPr sz="1400" b="1" i="0">
                <a:solidFill>
                  <a:srgbClr val="000000"/>
                </a:solidFill>
                <a:latin typeface="Nirmala UI"/>
              </a:rPr>
              <a:t>Step 2 — Create the ESR-aligned index</a:t>
            </a:r>
          </a:p>
        </p:txBody>
      </p:sp>
      <p:sp>
        <p:nvSpPr>
          <p:cNvPr id="13" name="TextBox 12"/>
          <p:cNvSpPr txBox="1"/>
          <p:nvPr/>
        </p:nvSpPr>
        <p:spPr>
          <a:xfrm>
            <a:off x="457200" y="4741632"/>
            <a:ext cx="11247120" cy="886576"/>
          </a:xfrm>
          <a:prstGeom prst="rect">
            <a:avLst/>
          </a:prstGeom>
          <a:noFill/>
        </p:spPr>
        <p:txBody>
          <a:bodyPr wrap="square" anchor="t" lIns="0" rIns="0" tIns="0" bIns="0">
            <a:spAutoFit/>
          </a:bodyPr>
          <a:lstStyle/>
          <a:p>
            <a:pPr>
              <a:spcBef>
                <a:spcPts val="0"/>
              </a:spcBef>
              <a:spcAft>
                <a:spcPts val="538"/>
              </a:spcAft>
            </a:pPr>
            <a:r>
              <a:rPr sz="1400" b="0" i="0">
                <a:solidFill>
                  <a:srgbClr val="000000"/>
                </a:solidFill>
                <a:latin typeface="Nirmala UI"/>
              </a:rPr>
              <a:t>•  </a:t>
            </a:r>
            <a:r>
              <a:rPr sz="1400" b="1" i="0">
                <a:solidFill>
                  <a:srgbClr val="000000"/>
                </a:solidFill>
                <a:latin typeface="Nirmala UI"/>
              </a:rPr>
              <a:t>Do:</a:t>
            </a:r>
            <a:r>
              <a:rPr sz="1400" b="0" i="0">
                <a:solidFill>
                  <a:srgbClr val="000000"/>
                </a:solidFill>
                <a:latin typeface="Nirmala UI"/>
              </a:rPr>
              <a:t> Run: ``</a:t>
            </a:r>
            <a:r>
              <a:rPr sz="1400" b="0" i="0">
                <a:solidFill>
                  <a:srgbClr val="000000"/>
                </a:solidFill>
                <a:latin typeface="Consolas"/>
              </a:rPr>
              <a:t>javascript db.orders.createIndex( { customerId: 1, createdAt: -1 }, { name: "idx_orders_customer_created" } ) </a:t>
            </a:r>
            <a:r>
              <a:rPr sz="1400" b="0" i="0">
                <a:solidFill>
                  <a:srgbClr val="000000"/>
                </a:solidFill>
                <a:latin typeface="Nirmala UI"/>
              </a:rPr>
              <a:t>`` Re-explain the query.</a:t>
            </a:r>
          </a:p>
          <a:p>
            <a:pPr>
              <a:spcBef>
                <a:spcPts val="0"/>
              </a:spcBef>
              <a:spcAft>
                <a:spcPts val="538"/>
              </a:spcAft>
            </a:pPr>
            <a:r>
              <a:rPr sz="1400" b="0" i="0">
                <a:solidFill>
                  <a:srgbClr val="000000"/>
                </a:solidFill>
                <a:latin typeface="Nirmala UI"/>
              </a:rPr>
              <a:t>•  </a:t>
            </a:r>
            <a:r>
              <a:rPr sz="1400" b="1" i="0">
                <a:solidFill>
                  <a:srgbClr val="000000"/>
                </a:solidFill>
                <a:latin typeface="Nirmala UI"/>
              </a:rPr>
              <a:t>Expected:</a:t>
            </a:r>
            <a:r>
              <a:rPr sz="1400" b="0" i="0">
                <a:solidFill>
                  <a:srgbClr val="000000"/>
                </a:solidFill>
                <a:latin typeface="Nirmala UI"/>
              </a:rPr>
              <a:t> IXSCAN on idx</a:t>
            </a:r>
            <a:r>
              <a:rPr sz="1400" b="0" i="1">
                <a:solidFill>
                  <a:srgbClr val="000000"/>
                </a:solidFill>
                <a:latin typeface="Nirmala UI"/>
              </a:rPr>
              <a:t>orders</a:t>
            </a:r>
            <a:r>
              <a:rPr sz="1400" b="0" i="0">
                <a:solidFill>
                  <a:srgbClr val="000000"/>
                </a:solidFill>
                <a:latin typeface="Nirmala UI"/>
              </a:rPr>
              <a:t>customer_created. Sort should be satisfied by the index.</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136</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LAB 6.4 — STEPS 3–4</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416580"/>
            <a:ext cx="237744" cy="237744"/>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16580"/>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398292"/>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800628"/>
            <a:ext cx="11247120" cy="392097"/>
          </a:xfrm>
          <a:prstGeom prst="rect">
            <a:avLst/>
          </a:prstGeom>
          <a:noFill/>
        </p:spPr>
        <p:txBody>
          <a:bodyPr wrap="square" anchor="t" lIns="0" rIns="0" tIns="0" bIns="0">
            <a:spAutoFit/>
          </a:bodyPr>
          <a:lstStyle/>
          <a:p>
            <a:pPr>
              <a:spcBef>
                <a:spcPts val="0"/>
              </a:spcBef>
              <a:spcAft>
                <a:spcPts val="615"/>
              </a:spcAft>
            </a:pPr>
            <a:r>
              <a:rPr sz="1600" b="1" i="0">
                <a:solidFill>
                  <a:srgbClr val="000000"/>
                </a:solidFill>
                <a:latin typeface="Nirmala UI"/>
              </a:rPr>
              <a:t>Follow along (Windows) — key steps:</a:t>
            </a:r>
          </a:p>
        </p:txBody>
      </p:sp>
      <p:sp>
        <p:nvSpPr>
          <p:cNvPr id="8" name="TextBox 7"/>
          <p:cNvSpPr txBox="1"/>
          <p:nvPr/>
        </p:nvSpPr>
        <p:spPr>
          <a:xfrm>
            <a:off x="457200" y="2284165"/>
            <a:ext cx="11247120" cy="392097"/>
          </a:xfrm>
          <a:prstGeom prst="rect">
            <a:avLst/>
          </a:prstGeom>
          <a:noFill/>
        </p:spPr>
        <p:txBody>
          <a:bodyPr wrap="square" anchor="t" lIns="0" rIns="0" tIns="0" bIns="0">
            <a:spAutoFit/>
          </a:bodyPr>
          <a:lstStyle/>
          <a:p>
            <a:pPr>
              <a:spcBef>
                <a:spcPts val="0"/>
              </a:spcBef>
              <a:spcAft>
                <a:spcPts val="615"/>
              </a:spcAft>
            </a:pPr>
            <a:r>
              <a:rPr sz="1600" b="1" i="0">
                <a:solidFill>
                  <a:srgbClr val="000000"/>
                </a:solidFill>
                <a:latin typeface="Nirmala UI"/>
              </a:rPr>
              <a:t>Step 3 — Compare a worse order</a:t>
            </a:r>
          </a:p>
        </p:txBody>
      </p:sp>
      <p:sp>
        <p:nvSpPr>
          <p:cNvPr id="9" name="TextBox 8"/>
          <p:cNvSpPr txBox="1"/>
          <p:nvPr/>
        </p:nvSpPr>
        <p:spPr>
          <a:xfrm>
            <a:off x="457200" y="2767702"/>
            <a:ext cx="11247120" cy="1274922"/>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  </a:t>
            </a:r>
            <a:r>
              <a:rPr sz="1600" b="1" i="0">
                <a:solidFill>
                  <a:srgbClr val="000000"/>
                </a:solidFill>
                <a:latin typeface="Nirmala UI"/>
              </a:rPr>
              <a:t>Do:</a:t>
            </a:r>
            <a:r>
              <a:rPr sz="1600" b="0" i="0">
                <a:solidFill>
                  <a:srgbClr val="000000"/>
                </a:solidFill>
                <a:latin typeface="Nirmala UI"/>
              </a:rPr>
              <a:t> Create </a:t>
            </a:r>
            <a:r>
              <a:rPr sz="1600" b="0" i="0">
                <a:solidFill>
                  <a:srgbClr val="000000"/>
                </a:solidFill>
                <a:latin typeface="Consolas"/>
              </a:rPr>
              <a:t>{ createdAt: -1, customerId: 1 }</a:t>
            </a:r>
            <a:r>
              <a:rPr sz="1600" b="0" i="0">
                <a:solidFill>
                  <a:srgbClr val="000000"/>
                </a:solidFill>
                <a:latin typeface="Nirmala UI"/>
              </a:rPr>
              <a:t> as </a:t>
            </a:r>
            <a:r>
              <a:rPr sz="1600" b="0" i="0">
                <a:solidFill>
                  <a:srgbClr val="000000"/>
                </a:solidFill>
                <a:latin typeface="Consolas"/>
              </a:rPr>
              <a:t>idx_orders_created_customer</a:t>
            </a:r>
            <a:r>
              <a:rPr sz="1600" b="0" i="0">
                <a:solidFill>
                  <a:srgbClr val="000000"/>
                </a:solidFill>
                <a:latin typeface="Nirmala UI"/>
              </a:rPr>
              <a:t> only if you have time, explain the same query, then drop that experimental index.</a:t>
            </a:r>
          </a:p>
          <a:p>
            <a:pPr>
              <a:spcBef>
                <a:spcPts val="0"/>
              </a:spcBef>
              <a:spcAft>
                <a:spcPts val="615"/>
              </a:spcAft>
            </a:pPr>
            <a:r>
              <a:rPr sz="1600" b="0" i="0">
                <a:solidFill>
                  <a:srgbClr val="000000"/>
                </a:solidFill>
                <a:latin typeface="Nirmala UI"/>
              </a:rPr>
              <a:t>•  </a:t>
            </a:r>
            <a:r>
              <a:rPr sz="1600" b="1" i="0">
                <a:solidFill>
                  <a:srgbClr val="000000"/>
                </a:solidFill>
                <a:latin typeface="Nirmala UI"/>
              </a:rPr>
              <a:t>Expected:</a:t>
            </a:r>
            <a:r>
              <a:rPr sz="1600" b="0" i="0">
                <a:solidFill>
                  <a:srgbClr val="000000"/>
                </a:solidFill>
                <a:latin typeface="Nirmala UI"/>
              </a:rPr>
              <a:t> Leading with the range/sort field scans more keys across customers. Evidence favors customerId first. Drop the experimental index.</a:t>
            </a:r>
          </a:p>
        </p:txBody>
      </p:sp>
      <p:sp>
        <p:nvSpPr>
          <p:cNvPr id="10" name="TextBox 9"/>
          <p:cNvSpPr txBox="1"/>
          <p:nvPr/>
        </p:nvSpPr>
        <p:spPr>
          <a:xfrm>
            <a:off x="457200" y="4134064"/>
            <a:ext cx="11247120" cy="392097"/>
          </a:xfrm>
          <a:prstGeom prst="rect">
            <a:avLst/>
          </a:prstGeom>
          <a:noFill/>
        </p:spPr>
        <p:txBody>
          <a:bodyPr wrap="square" anchor="t" lIns="0" rIns="0" tIns="0" bIns="0">
            <a:spAutoFit/>
          </a:bodyPr>
          <a:lstStyle/>
          <a:p>
            <a:pPr>
              <a:spcBef>
                <a:spcPts val="0"/>
              </a:spcBef>
              <a:spcAft>
                <a:spcPts val="615"/>
              </a:spcAft>
            </a:pPr>
            <a:r>
              <a:rPr sz="1600" b="1" i="0">
                <a:solidFill>
                  <a:srgbClr val="000000"/>
                </a:solidFill>
                <a:latin typeface="Nirmala UI"/>
              </a:rPr>
              <a:t>Step 4 — Choose and document</a:t>
            </a:r>
          </a:p>
        </p:txBody>
      </p:sp>
      <p:sp>
        <p:nvSpPr>
          <p:cNvPr id="11" name="TextBox 10"/>
          <p:cNvSpPr txBox="1"/>
          <p:nvPr/>
        </p:nvSpPr>
        <p:spPr>
          <a:xfrm>
            <a:off x="457200" y="4617601"/>
            <a:ext cx="11247120" cy="1006698"/>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  </a:t>
            </a:r>
            <a:r>
              <a:rPr sz="1600" b="1" i="0">
                <a:solidFill>
                  <a:srgbClr val="000000"/>
                </a:solidFill>
                <a:latin typeface="Nirmala UI"/>
              </a:rPr>
              <a:t>Do:</a:t>
            </a:r>
            <a:r>
              <a:rPr sz="1600" b="0" i="0">
                <a:solidFill>
                  <a:srgbClr val="000000"/>
                </a:solidFill>
                <a:latin typeface="Nirmala UI"/>
              </a:rPr>
              <a:t> Keep idx</a:t>
            </a:r>
            <a:r>
              <a:rPr sz="1600" b="0" i="1">
                <a:solidFill>
                  <a:srgbClr val="000000"/>
                </a:solidFill>
                <a:latin typeface="Nirmala UI"/>
              </a:rPr>
              <a:t>orders</a:t>
            </a:r>
            <a:r>
              <a:rPr sz="1600" b="0" i="0">
                <a:solidFill>
                  <a:srgbClr val="000000"/>
                </a:solidFill>
                <a:latin typeface="Nirmala UI"/>
              </a:rPr>
              <a:t>customer_created. Write why ESR put equality first here.</a:t>
            </a:r>
          </a:p>
          <a:p>
            <a:pPr>
              <a:spcBef>
                <a:spcPts val="0"/>
              </a:spcBef>
              <a:spcAft>
                <a:spcPts val="615"/>
              </a:spcAft>
            </a:pPr>
            <a:r>
              <a:rPr sz="1600" b="0" i="0">
                <a:solidFill>
                  <a:srgbClr val="000000"/>
                </a:solidFill>
                <a:latin typeface="Nirmala UI"/>
              </a:rPr>
              <a:t>•  </a:t>
            </a:r>
            <a:r>
              <a:rPr sz="1600" b="1" i="0">
                <a:solidFill>
                  <a:srgbClr val="000000"/>
                </a:solidFill>
                <a:latin typeface="Nirmala UI"/>
              </a:rPr>
              <a:t>Expected:</a:t>
            </a:r>
            <a:r>
              <a:rPr sz="1600" b="0" i="0">
                <a:solidFill>
                  <a:srgbClr val="000000"/>
                </a:solidFill>
                <a:latin typeface="Nirmala UI"/>
              </a:rPr>
              <a:t> A short justification: one customer’s keys are contiguous, then dates are ordered for newest-first and the range.</a:t>
            </a:r>
          </a:p>
        </p:txBody>
      </p:sp>
      <p:sp>
        <p:nvSpPr>
          <p:cNvPr id="12" name="Rectangle 1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5"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137</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LAB 6.5 — INDEX NESTED FIELDS AND ARRAYS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488458"/>
            <a:ext cx="237744" cy="237744"/>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8845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47017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872506"/>
            <a:ext cx="11247120" cy="1679916"/>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Time:</a:t>
            </a:r>
            <a:r>
              <a:rPr sz="2000" b="0" i="0">
                <a:solidFill>
                  <a:srgbClr val="000000"/>
                </a:solidFill>
                <a:latin typeface="Nirmala UI"/>
              </a:rPr>
              <a:t> 25 min</a:t>
            </a:r>
          </a:p>
          <a:p>
            <a:pPr>
              <a:spcBef>
                <a:spcPts val="0"/>
              </a:spcBef>
              <a:spcAft>
                <a:spcPts val="769"/>
              </a:spcAft>
            </a:pPr>
            <a:r>
              <a:rPr sz="2000" b="0" i="0">
                <a:solidFill>
                  <a:srgbClr val="000000"/>
                </a:solidFill>
                <a:latin typeface="Nirmala UI"/>
              </a:rPr>
              <a:t>•  </a:t>
            </a:r>
            <a:r>
              <a:rPr sz="2000" b="0" i="0">
                <a:solidFill>
                  <a:srgbClr val="000000"/>
                </a:solidFill>
                <a:latin typeface="Nirmala UI"/>
              </a:rPr>
              <a:t>Index contact.email and tags; confirm dotted lookup and multikey.</a:t>
            </a:r>
          </a:p>
          <a:p>
            <a:pPr>
              <a:spcBef>
                <a:spcPts val="0"/>
              </a:spcBef>
              <a:spcAft>
                <a:spcPts val="769"/>
              </a:spcAft>
            </a:pPr>
            <a:r>
              <a:rPr sz="2000" b="0" i="0">
                <a:solidFill>
                  <a:srgbClr val="000000"/>
                </a:solidFill>
                <a:latin typeface="Nirmala UI"/>
              </a:rPr>
              <a:t>•  </a:t>
            </a:r>
            <a:r>
              <a:rPr sz="2000" b="1" i="0">
                <a:solidFill>
                  <a:srgbClr val="000000"/>
                </a:solidFill>
                <a:latin typeface="Nirmala UI"/>
              </a:rPr>
              <a:t>Lab guide:</a:t>
            </a:r>
            <a:r>
              <a:rPr sz="2000" b="0" i="0">
                <a:solidFill>
                  <a:srgbClr val="000000"/>
                </a:solidFill>
                <a:latin typeface="Nirmala UI"/>
              </a:rPr>
              <a:t> </a:t>
            </a:r>
            <a:r>
              <a:rPr sz="2000" b="0" i="0">
                <a:solidFill>
                  <a:srgbClr val="000000"/>
                </a:solidFill>
                <a:latin typeface="Consolas"/>
              </a:rPr>
              <a:t>Lab 6.5</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138</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LAB 6.5 — STEPS 1–2</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412672"/>
            <a:ext cx="237744" cy="237744"/>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12672"/>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394384"/>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Rounded Rectangle 6"/>
          <p:cNvSpPr/>
          <p:nvPr/>
        </p:nvSpPr>
        <p:spPr>
          <a:xfrm>
            <a:off x="457200" y="1796720"/>
            <a:ext cx="11247120" cy="554736"/>
          </a:xfrm>
          <a:prstGeom prst="roundRect">
            <a:avLst>
              <a:gd name="adj" fmla="val 6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796720"/>
            <a:ext cx="11027664" cy="554736"/>
          </a:xfrm>
          <a:prstGeom prst="rect">
            <a:avLst/>
          </a:prstGeom>
          <a:noFill/>
        </p:spPr>
        <p:txBody>
          <a:bodyPr wrap="square" anchor="ctr" lIns="0" rIns="0" tIns="0" bIns="0">
            <a:spAutoFit/>
          </a:bodyPr>
          <a:lstStyle/>
          <a:p>
            <a:r>
              <a:rPr sz="1200" b="1" i="0">
                <a:solidFill>
                  <a:srgbClr val="D1282E"/>
                </a:solidFill>
                <a:latin typeface="Nirmala UI"/>
              </a:rPr>
              <a:t>LAB GUIDE   </a:t>
            </a:r>
            <a:r>
              <a:rPr sz="2000" b="0" i="0">
                <a:solidFill>
                  <a:srgbClr val="000000"/>
                </a:solidFill>
                <a:latin typeface="Consolas"/>
              </a:rPr>
              <a:t>Lab 6.5</a:t>
            </a:r>
          </a:p>
        </p:txBody>
      </p:sp>
      <p:sp>
        <p:nvSpPr>
          <p:cNvPr id="9" name="TextBox 8"/>
          <p:cNvSpPr txBox="1"/>
          <p:nvPr/>
        </p:nvSpPr>
        <p:spPr>
          <a:xfrm>
            <a:off x="457200" y="2442896"/>
            <a:ext cx="11247120" cy="348800"/>
          </a:xfrm>
          <a:prstGeom prst="rect">
            <a:avLst/>
          </a:prstGeom>
          <a:noFill/>
        </p:spPr>
        <p:txBody>
          <a:bodyPr wrap="square" anchor="t" lIns="0" rIns="0" tIns="0" bIns="0">
            <a:spAutoFit/>
          </a:bodyPr>
          <a:lstStyle/>
          <a:p>
            <a:pPr>
              <a:spcBef>
                <a:spcPts val="0"/>
              </a:spcBef>
              <a:spcAft>
                <a:spcPts val="538"/>
              </a:spcAft>
            </a:pPr>
            <a:r>
              <a:rPr sz="1400" b="1" i="0">
                <a:solidFill>
                  <a:srgbClr val="000000"/>
                </a:solidFill>
                <a:latin typeface="Nirmala UI"/>
              </a:rPr>
              <a:t>Follow along (Windows) — key steps:</a:t>
            </a:r>
          </a:p>
        </p:txBody>
      </p:sp>
      <p:sp>
        <p:nvSpPr>
          <p:cNvPr id="10" name="TextBox 9"/>
          <p:cNvSpPr txBox="1"/>
          <p:nvPr/>
        </p:nvSpPr>
        <p:spPr>
          <a:xfrm>
            <a:off x="457200" y="2883136"/>
            <a:ext cx="11247120" cy="348800"/>
          </a:xfrm>
          <a:prstGeom prst="rect">
            <a:avLst/>
          </a:prstGeom>
          <a:noFill/>
        </p:spPr>
        <p:txBody>
          <a:bodyPr wrap="square" anchor="t" lIns="0" rIns="0" tIns="0" bIns="0">
            <a:spAutoFit/>
          </a:bodyPr>
          <a:lstStyle/>
          <a:p>
            <a:pPr>
              <a:spcBef>
                <a:spcPts val="0"/>
              </a:spcBef>
              <a:spcAft>
                <a:spcPts val="538"/>
              </a:spcAft>
            </a:pPr>
            <a:r>
              <a:rPr sz="1400" b="1" i="0">
                <a:solidFill>
                  <a:srgbClr val="000000"/>
                </a:solidFill>
                <a:latin typeface="Nirmala UI"/>
              </a:rPr>
              <a:t>Step 1 — Nested email index</a:t>
            </a:r>
          </a:p>
        </p:txBody>
      </p:sp>
      <p:sp>
        <p:nvSpPr>
          <p:cNvPr id="11" name="TextBox 10"/>
          <p:cNvSpPr txBox="1"/>
          <p:nvPr/>
        </p:nvSpPr>
        <p:spPr>
          <a:xfrm>
            <a:off x="457200" y="3323376"/>
            <a:ext cx="11247120" cy="886576"/>
          </a:xfrm>
          <a:prstGeom prst="rect">
            <a:avLst/>
          </a:prstGeom>
          <a:noFill/>
        </p:spPr>
        <p:txBody>
          <a:bodyPr wrap="square" anchor="t" lIns="0" rIns="0" tIns="0" bIns="0">
            <a:spAutoFit/>
          </a:bodyPr>
          <a:lstStyle/>
          <a:p>
            <a:pPr>
              <a:spcBef>
                <a:spcPts val="0"/>
              </a:spcBef>
              <a:spcAft>
                <a:spcPts val="538"/>
              </a:spcAft>
            </a:pPr>
            <a:r>
              <a:rPr sz="1400" b="0" i="0">
                <a:solidFill>
                  <a:srgbClr val="000000"/>
                </a:solidFill>
                <a:latin typeface="Nirmala UI"/>
              </a:rPr>
              <a:t>•  </a:t>
            </a:r>
            <a:r>
              <a:rPr sz="1400" b="1" i="0">
                <a:solidFill>
                  <a:srgbClr val="000000"/>
                </a:solidFill>
                <a:latin typeface="Nirmala UI"/>
              </a:rPr>
              <a:t>Do:</a:t>
            </a:r>
            <a:r>
              <a:rPr sz="1400" b="0" i="0">
                <a:solidFill>
                  <a:srgbClr val="000000"/>
                </a:solidFill>
                <a:latin typeface="Nirmala UI"/>
              </a:rPr>
              <a:t> Run: ``</a:t>
            </a:r>
            <a:r>
              <a:rPr sz="1400" b="0" i="0">
                <a:solidFill>
                  <a:srgbClr val="000000"/>
                </a:solidFill>
                <a:latin typeface="Consolas"/>
              </a:rPr>
              <a:t>javascript db.customers.createIndex( { "contact.email": 1 }, { name: "idx_customers_contact_email" } ) db.customers.find({ "contact.email": "aisha@example.com" }).explain("executionStats") </a:t>
            </a:r>
            <a:r>
              <a:rPr sz="1400" b="0" i="0">
                <a:solidFill>
                  <a:srgbClr val="000000"/>
                </a:solidFill>
                <a:latin typeface="Nirmala UI"/>
              </a:rPr>
              <a:t>``</a:t>
            </a:r>
          </a:p>
          <a:p>
            <a:pPr>
              <a:spcBef>
                <a:spcPts val="0"/>
              </a:spcBef>
              <a:spcAft>
                <a:spcPts val="538"/>
              </a:spcAft>
            </a:pPr>
            <a:r>
              <a:rPr sz="1400" b="0" i="0">
                <a:solidFill>
                  <a:srgbClr val="000000"/>
                </a:solidFill>
                <a:latin typeface="Nirmala UI"/>
              </a:rPr>
              <a:t>•  </a:t>
            </a:r>
            <a:r>
              <a:rPr sz="1400" b="1" i="0">
                <a:solidFill>
                  <a:srgbClr val="000000"/>
                </a:solidFill>
                <a:latin typeface="Nirmala UI"/>
              </a:rPr>
              <a:t>Expected:</a:t>
            </a:r>
            <a:r>
              <a:rPr sz="1400" b="0" i="0">
                <a:solidFill>
                  <a:srgbClr val="000000"/>
                </a:solidFill>
                <a:latin typeface="Nirmala UI"/>
              </a:rPr>
              <a:t> IXSCAN on idx</a:t>
            </a:r>
            <a:r>
              <a:rPr sz="1400" b="0" i="1">
                <a:solidFill>
                  <a:srgbClr val="000000"/>
                </a:solidFill>
                <a:latin typeface="Nirmala UI"/>
              </a:rPr>
              <a:t>customers</a:t>
            </a:r>
            <a:r>
              <a:rPr sz="1400" b="0" i="0">
                <a:solidFill>
                  <a:srgbClr val="000000"/>
                </a:solidFill>
                <a:latin typeface="Nirmala UI"/>
              </a:rPr>
              <a:t>contact_email. nReturned 1.</a:t>
            </a:r>
          </a:p>
        </p:txBody>
      </p:sp>
      <p:sp>
        <p:nvSpPr>
          <p:cNvPr id="12" name="TextBox 11"/>
          <p:cNvSpPr txBox="1"/>
          <p:nvPr/>
        </p:nvSpPr>
        <p:spPr>
          <a:xfrm>
            <a:off x="457200" y="4301392"/>
            <a:ext cx="11247120" cy="348800"/>
          </a:xfrm>
          <a:prstGeom prst="rect">
            <a:avLst/>
          </a:prstGeom>
          <a:noFill/>
        </p:spPr>
        <p:txBody>
          <a:bodyPr wrap="square" anchor="t" lIns="0" rIns="0" tIns="0" bIns="0">
            <a:spAutoFit/>
          </a:bodyPr>
          <a:lstStyle/>
          <a:p>
            <a:pPr>
              <a:spcBef>
                <a:spcPts val="0"/>
              </a:spcBef>
              <a:spcAft>
                <a:spcPts val="538"/>
              </a:spcAft>
            </a:pPr>
            <a:r>
              <a:rPr sz="1400" b="1" i="0">
                <a:solidFill>
                  <a:srgbClr val="000000"/>
                </a:solidFill>
                <a:latin typeface="Nirmala UI"/>
              </a:rPr>
              <a:t>Step 2 — Multikey tags index</a:t>
            </a:r>
          </a:p>
        </p:txBody>
      </p:sp>
      <p:sp>
        <p:nvSpPr>
          <p:cNvPr id="13" name="TextBox 12"/>
          <p:cNvSpPr txBox="1"/>
          <p:nvPr/>
        </p:nvSpPr>
        <p:spPr>
          <a:xfrm>
            <a:off x="457200" y="4741632"/>
            <a:ext cx="11247120" cy="886576"/>
          </a:xfrm>
          <a:prstGeom prst="rect">
            <a:avLst/>
          </a:prstGeom>
          <a:noFill/>
        </p:spPr>
        <p:txBody>
          <a:bodyPr wrap="square" anchor="t" lIns="0" rIns="0" tIns="0" bIns="0">
            <a:spAutoFit/>
          </a:bodyPr>
          <a:lstStyle/>
          <a:p>
            <a:pPr>
              <a:spcBef>
                <a:spcPts val="0"/>
              </a:spcBef>
              <a:spcAft>
                <a:spcPts val="538"/>
              </a:spcAft>
            </a:pPr>
            <a:r>
              <a:rPr sz="1400" b="0" i="0">
                <a:solidFill>
                  <a:srgbClr val="000000"/>
                </a:solidFill>
                <a:latin typeface="Nirmala UI"/>
              </a:rPr>
              <a:t>•  </a:t>
            </a:r>
            <a:r>
              <a:rPr sz="1400" b="1" i="0">
                <a:solidFill>
                  <a:srgbClr val="000000"/>
                </a:solidFill>
                <a:latin typeface="Nirmala UI"/>
              </a:rPr>
              <a:t>Do:</a:t>
            </a:r>
            <a:r>
              <a:rPr sz="1400" b="0" i="0">
                <a:solidFill>
                  <a:srgbClr val="000000"/>
                </a:solidFill>
                <a:latin typeface="Nirmala UI"/>
              </a:rPr>
              <a:t> Run: ``</a:t>
            </a:r>
            <a:r>
              <a:rPr sz="1400" b="0" i="0">
                <a:solidFill>
                  <a:srgbClr val="000000"/>
                </a:solidFill>
                <a:latin typeface="Consolas"/>
              </a:rPr>
              <a:t>javascript db.products.createIndex( { tags: 1 }, { name: "idx_products_tags" } ) db.products.find({ tags: "technology" }).explain("executionStats") db.products.getIndexes() </a:t>
            </a:r>
            <a:r>
              <a:rPr sz="1400" b="0" i="0">
                <a:solidFill>
                  <a:srgbClr val="000000"/>
                </a:solidFill>
                <a:latin typeface="Nirmala UI"/>
              </a:rPr>
              <a:t>``</a:t>
            </a:r>
          </a:p>
          <a:p>
            <a:pPr>
              <a:spcBef>
                <a:spcPts val="0"/>
              </a:spcBef>
              <a:spcAft>
                <a:spcPts val="538"/>
              </a:spcAft>
            </a:pPr>
            <a:r>
              <a:rPr sz="1400" b="0" i="0">
                <a:solidFill>
                  <a:srgbClr val="000000"/>
                </a:solidFill>
                <a:latin typeface="Nirmala UI"/>
              </a:rPr>
              <a:t>•  </a:t>
            </a:r>
            <a:r>
              <a:rPr sz="1400" b="1" i="0">
                <a:solidFill>
                  <a:srgbClr val="000000"/>
                </a:solidFill>
                <a:latin typeface="Nirmala UI"/>
              </a:rPr>
              <a:t>Expected:</a:t>
            </a:r>
            <a:r>
              <a:rPr sz="1400" b="0" i="0">
                <a:solidFill>
                  <a:srgbClr val="000000"/>
                </a:solidFill>
                <a:latin typeface="Nirmala UI"/>
              </a:rPr>
              <a:t> The tags index is listed. Explain uses it. getIndexes / explain may show </a:t>
            </a:r>
            <a:r>
              <a:rPr sz="1400" b="0" i="0">
                <a:solidFill>
                  <a:srgbClr val="000000"/>
                </a:solidFill>
                <a:latin typeface="Consolas"/>
              </a:rPr>
              <a:t>multikey: true</a:t>
            </a:r>
            <a:r>
              <a:rPr sz="1400" b="0" i="0">
                <a:solidFill>
                  <a:srgbClr val="000000"/>
                </a:solidFill>
                <a:latin typeface="Nirmala UI"/>
              </a:rPr>
              <a:t>.</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139</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LAB 6.5 — STEPS 3–4</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550692"/>
            <a:ext cx="237744" cy="237744"/>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50692"/>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532404"/>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934740"/>
            <a:ext cx="11247120" cy="392097"/>
          </a:xfrm>
          <a:prstGeom prst="rect">
            <a:avLst/>
          </a:prstGeom>
          <a:noFill/>
        </p:spPr>
        <p:txBody>
          <a:bodyPr wrap="square" anchor="t" lIns="0" rIns="0" tIns="0" bIns="0">
            <a:spAutoFit/>
          </a:bodyPr>
          <a:lstStyle/>
          <a:p>
            <a:pPr>
              <a:spcBef>
                <a:spcPts val="0"/>
              </a:spcBef>
              <a:spcAft>
                <a:spcPts val="615"/>
              </a:spcAft>
            </a:pPr>
            <a:r>
              <a:rPr sz="1600" b="1" i="0">
                <a:solidFill>
                  <a:srgbClr val="000000"/>
                </a:solidFill>
                <a:latin typeface="Nirmala UI"/>
              </a:rPr>
              <a:t>Follow along (Windows) — key steps:</a:t>
            </a:r>
          </a:p>
        </p:txBody>
      </p:sp>
      <p:sp>
        <p:nvSpPr>
          <p:cNvPr id="8" name="TextBox 7"/>
          <p:cNvSpPr txBox="1"/>
          <p:nvPr/>
        </p:nvSpPr>
        <p:spPr>
          <a:xfrm>
            <a:off x="457200" y="2418277"/>
            <a:ext cx="11247120" cy="392097"/>
          </a:xfrm>
          <a:prstGeom prst="rect">
            <a:avLst/>
          </a:prstGeom>
          <a:noFill/>
        </p:spPr>
        <p:txBody>
          <a:bodyPr wrap="square" anchor="t" lIns="0" rIns="0" tIns="0" bIns="0">
            <a:spAutoFit/>
          </a:bodyPr>
          <a:lstStyle/>
          <a:p>
            <a:pPr>
              <a:spcBef>
                <a:spcPts val="0"/>
              </a:spcBef>
              <a:spcAft>
                <a:spcPts val="615"/>
              </a:spcAft>
            </a:pPr>
            <a:r>
              <a:rPr sz="1600" b="1" i="0">
                <a:solidFill>
                  <a:srgbClr val="000000"/>
                </a:solidFill>
                <a:latin typeface="Nirmala UI"/>
              </a:rPr>
              <a:t>Step 3 — Inspect multikey</a:t>
            </a:r>
          </a:p>
        </p:txBody>
      </p:sp>
      <p:sp>
        <p:nvSpPr>
          <p:cNvPr id="9" name="TextBox 8"/>
          <p:cNvSpPr txBox="1"/>
          <p:nvPr/>
        </p:nvSpPr>
        <p:spPr>
          <a:xfrm>
            <a:off x="457200" y="2901814"/>
            <a:ext cx="11247120" cy="1006698"/>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  </a:t>
            </a:r>
            <a:r>
              <a:rPr sz="1600" b="1" i="0">
                <a:solidFill>
                  <a:srgbClr val="000000"/>
                </a:solidFill>
                <a:latin typeface="Nirmala UI"/>
              </a:rPr>
              <a:t>Do:</a:t>
            </a:r>
            <a:r>
              <a:rPr sz="1600" b="0" i="0">
                <a:solidFill>
                  <a:srgbClr val="000000"/>
                </a:solidFill>
                <a:latin typeface="Nirmala UI"/>
              </a:rPr>
              <a:t> In getIndexes output for idx</a:t>
            </a:r>
            <a:r>
              <a:rPr sz="1600" b="0" i="1">
                <a:solidFill>
                  <a:srgbClr val="000000"/>
                </a:solidFill>
                <a:latin typeface="Nirmala UI"/>
              </a:rPr>
              <a:t>products</a:t>
            </a:r>
            <a:r>
              <a:rPr sz="1600" b="0" i="0">
                <a:solidFill>
                  <a:srgbClr val="000000"/>
                </a:solidFill>
                <a:latin typeface="Nirmala UI"/>
              </a:rPr>
              <a:t>tags, find </a:t>
            </a:r>
            <a:r>
              <a:rPr sz="1600" b="0" i="0">
                <a:solidFill>
                  <a:srgbClr val="000000"/>
                </a:solidFill>
                <a:latin typeface="Consolas"/>
              </a:rPr>
              <a:t>multikey</a:t>
            </a:r>
            <a:r>
              <a:rPr sz="1600" b="0" i="0">
                <a:solidFill>
                  <a:srgbClr val="000000"/>
                </a:solidFill>
                <a:latin typeface="Nirmala UI"/>
              </a:rPr>
              <a:t> (and optional </a:t>
            </a:r>
            <a:r>
              <a:rPr sz="1600" b="0" i="0">
                <a:solidFill>
                  <a:srgbClr val="000000"/>
                </a:solidFill>
                <a:latin typeface="Consolas"/>
              </a:rPr>
              <a:t>multikeyPaths</a:t>
            </a:r>
            <a:r>
              <a:rPr sz="1600" b="0" i="0">
                <a:solidFill>
                  <a:srgbClr val="000000"/>
                </a:solidFill>
                <a:latin typeface="Nirmala UI"/>
              </a:rPr>
              <a:t>). Query tags </a:t>
            </a:r>
            <a:r>
              <a:rPr sz="1600" b="0" i="0">
                <a:solidFill>
                  <a:srgbClr val="000000"/>
                </a:solidFill>
                <a:latin typeface="Consolas"/>
              </a:rPr>
              <a:t>"wireless"</a:t>
            </a:r>
            <a:r>
              <a:rPr sz="1600" b="0" i="0">
                <a:solidFill>
                  <a:srgbClr val="000000"/>
                </a:solidFill>
                <a:latin typeface="Nirmala UI"/>
              </a:rPr>
              <a:t> as well.</a:t>
            </a:r>
          </a:p>
          <a:p>
            <a:pPr>
              <a:spcBef>
                <a:spcPts val="0"/>
              </a:spcBef>
              <a:spcAft>
                <a:spcPts val="615"/>
              </a:spcAft>
            </a:pPr>
            <a:r>
              <a:rPr sz="1600" b="0" i="0">
                <a:solidFill>
                  <a:srgbClr val="000000"/>
                </a:solidFill>
                <a:latin typeface="Nirmala UI"/>
              </a:rPr>
              <a:t>•  </a:t>
            </a:r>
            <a:r>
              <a:rPr sz="1600" b="1" i="0">
                <a:solidFill>
                  <a:srgbClr val="000000"/>
                </a:solidFill>
                <a:latin typeface="Nirmala UI"/>
              </a:rPr>
              <a:t>Expected:</a:t>
            </a:r>
            <a:r>
              <a:rPr sz="1600" b="0" i="0">
                <a:solidFill>
                  <a:srgbClr val="000000"/>
                </a:solidFill>
                <a:latin typeface="Nirmala UI"/>
              </a:rPr>
              <a:t> multikey is true because tags is an array. Several accessories match wireless.</a:t>
            </a:r>
          </a:p>
        </p:txBody>
      </p:sp>
      <p:sp>
        <p:nvSpPr>
          <p:cNvPr id="10" name="TextBox 9"/>
          <p:cNvSpPr txBox="1"/>
          <p:nvPr/>
        </p:nvSpPr>
        <p:spPr>
          <a:xfrm>
            <a:off x="457200" y="3999952"/>
            <a:ext cx="11247120" cy="392097"/>
          </a:xfrm>
          <a:prstGeom prst="rect">
            <a:avLst/>
          </a:prstGeom>
          <a:noFill/>
        </p:spPr>
        <p:txBody>
          <a:bodyPr wrap="square" anchor="t" lIns="0" rIns="0" tIns="0" bIns="0">
            <a:spAutoFit/>
          </a:bodyPr>
          <a:lstStyle/>
          <a:p>
            <a:pPr>
              <a:spcBef>
                <a:spcPts val="0"/>
              </a:spcBef>
              <a:spcAft>
                <a:spcPts val="615"/>
              </a:spcAft>
            </a:pPr>
            <a:r>
              <a:rPr sz="1600" b="1" i="0">
                <a:solidFill>
                  <a:srgbClr val="000000"/>
                </a:solidFill>
                <a:latin typeface="Nirmala UI"/>
              </a:rPr>
              <a:t>Step 4 — Record examined counts</a:t>
            </a:r>
          </a:p>
        </p:txBody>
      </p:sp>
      <p:sp>
        <p:nvSpPr>
          <p:cNvPr id="11" name="TextBox 10"/>
          <p:cNvSpPr txBox="1"/>
          <p:nvPr/>
        </p:nvSpPr>
        <p:spPr>
          <a:xfrm>
            <a:off x="457200" y="4483489"/>
            <a:ext cx="11247120" cy="1006698"/>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  </a:t>
            </a:r>
            <a:r>
              <a:rPr sz="1600" b="1" i="0">
                <a:solidFill>
                  <a:srgbClr val="000000"/>
                </a:solidFill>
                <a:latin typeface="Nirmala UI"/>
              </a:rPr>
              <a:t>Do:</a:t>
            </a:r>
            <a:r>
              <a:rPr sz="1600" b="0" i="0">
                <a:solidFill>
                  <a:srgbClr val="000000"/>
                </a:solidFill>
                <a:latin typeface="Nirmala UI"/>
              </a:rPr>
              <a:t> Write keys examined and docs examined for the email query and the technology-tag query.</a:t>
            </a:r>
          </a:p>
          <a:p>
            <a:pPr>
              <a:spcBef>
                <a:spcPts val="0"/>
              </a:spcBef>
              <a:spcAft>
                <a:spcPts val="615"/>
              </a:spcAft>
            </a:pPr>
            <a:r>
              <a:rPr sz="1600" b="0" i="0">
                <a:solidFill>
                  <a:srgbClr val="000000"/>
                </a:solidFill>
                <a:latin typeface="Nirmala UI"/>
              </a:rPr>
              <a:t>•  </a:t>
            </a:r>
            <a:r>
              <a:rPr sz="1600" b="1" i="0">
                <a:solidFill>
                  <a:srgbClr val="000000"/>
                </a:solidFill>
                <a:latin typeface="Nirmala UI"/>
              </a:rPr>
              <a:t>Expected:</a:t>
            </a:r>
            <a:r>
              <a:rPr sz="1600" b="0" i="0">
                <a:solidFill>
                  <a:srgbClr val="000000"/>
                </a:solidFill>
                <a:latin typeface="Nirmala UI"/>
              </a:rPr>
              <a:t> Two rows of stats. Email should be a single-key lookup; tags examines keys for matching array values.</a:t>
            </a:r>
          </a:p>
        </p:txBody>
      </p:sp>
      <p:sp>
        <p:nvSpPr>
          <p:cNvPr id="12" name="Rectangle 1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5"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140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LAB 6.6 — IMPLEMENT DATA-INTEGRITY INDEXES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488458"/>
            <a:ext cx="237744" cy="237744"/>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8845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47017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872506"/>
            <a:ext cx="11247120" cy="1679916"/>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Time:</a:t>
            </a:r>
            <a:r>
              <a:rPr sz="2000" b="0" i="0">
                <a:solidFill>
                  <a:srgbClr val="000000"/>
                </a:solidFill>
                <a:latin typeface="Nirmala UI"/>
              </a:rPr>
              <a:t> 20 min</a:t>
            </a:r>
          </a:p>
          <a:p>
            <a:pPr>
              <a:spcBef>
                <a:spcPts val="0"/>
              </a:spcBef>
              <a:spcAft>
                <a:spcPts val="769"/>
              </a:spcAft>
            </a:pPr>
            <a:r>
              <a:rPr sz="2000" b="0" i="0">
                <a:solidFill>
                  <a:srgbClr val="000000"/>
                </a:solidFill>
                <a:latin typeface="Nirmala UI"/>
              </a:rPr>
              <a:t>•  </a:t>
            </a:r>
            <a:r>
              <a:rPr sz="2000" b="0" i="0">
                <a:solidFill>
                  <a:srgbClr val="000000"/>
                </a:solidFill>
                <a:latin typeface="Nirmala UI"/>
              </a:rPr>
              <a:t>Unique SKU, customerNumber, and orderNumber; prove a duplicate SKU fails.</a:t>
            </a:r>
          </a:p>
          <a:p>
            <a:pPr>
              <a:spcBef>
                <a:spcPts val="0"/>
              </a:spcBef>
              <a:spcAft>
                <a:spcPts val="769"/>
              </a:spcAft>
            </a:pPr>
            <a:r>
              <a:rPr sz="2000" b="0" i="0">
                <a:solidFill>
                  <a:srgbClr val="000000"/>
                </a:solidFill>
                <a:latin typeface="Nirmala UI"/>
              </a:rPr>
              <a:t>•  </a:t>
            </a:r>
            <a:r>
              <a:rPr sz="2000" b="1" i="0">
                <a:solidFill>
                  <a:srgbClr val="000000"/>
                </a:solidFill>
                <a:latin typeface="Nirmala UI"/>
              </a:rPr>
              <a:t>Lab guide:</a:t>
            </a:r>
            <a:r>
              <a:rPr sz="2000" b="0" i="0">
                <a:solidFill>
                  <a:srgbClr val="000000"/>
                </a:solidFill>
                <a:latin typeface="Nirmala UI"/>
              </a:rPr>
              <a:t> </a:t>
            </a:r>
            <a:r>
              <a:rPr sz="2000" b="0" i="0">
                <a:solidFill>
                  <a:srgbClr val="000000"/>
                </a:solidFill>
                <a:latin typeface="Consolas"/>
              </a:rPr>
              <a:t>Lab 6.6</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141</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LAB 6.6 — STEPS 1–2</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497155"/>
            <a:ext cx="237744" cy="237744"/>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97155"/>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478867"/>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Rounded Rectangle 6"/>
          <p:cNvSpPr/>
          <p:nvPr/>
        </p:nvSpPr>
        <p:spPr>
          <a:xfrm>
            <a:off x="457200" y="1881203"/>
            <a:ext cx="11247120" cy="554736"/>
          </a:xfrm>
          <a:prstGeom prst="roundRect">
            <a:avLst>
              <a:gd name="adj" fmla="val 6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881203"/>
            <a:ext cx="11027664" cy="554736"/>
          </a:xfrm>
          <a:prstGeom prst="rect">
            <a:avLst/>
          </a:prstGeom>
          <a:noFill/>
        </p:spPr>
        <p:txBody>
          <a:bodyPr wrap="square" anchor="ctr" lIns="0" rIns="0" tIns="0" bIns="0">
            <a:spAutoFit/>
          </a:bodyPr>
          <a:lstStyle/>
          <a:p>
            <a:r>
              <a:rPr sz="1200" b="1" i="0">
                <a:solidFill>
                  <a:srgbClr val="D1282E"/>
                </a:solidFill>
                <a:latin typeface="Nirmala UI"/>
              </a:rPr>
              <a:t>LAB GUIDE   </a:t>
            </a:r>
            <a:r>
              <a:rPr sz="2000" b="0" i="0">
                <a:solidFill>
                  <a:srgbClr val="000000"/>
                </a:solidFill>
                <a:latin typeface="Consolas"/>
              </a:rPr>
              <a:t>Lab 6.6</a:t>
            </a:r>
          </a:p>
        </p:txBody>
      </p:sp>
      <p:sp>
        <p:nvSpPr>
          <p:cNvPr id="9" name="TextBox 8"/>
          <p:cNvSpPr txBox="1"/>
          <p:nvPr/>
        </p:nvSpPr>
        <p:spPr>
          <a:xfrm>
            <a:off x="457200" y="2527379"/>
            <a:ext cx="11247120" cy="305503"/>
          </a:xfrm>
          <a:prstGeom prst="rect">
            <a:avLst/>
          </a:prstGeom>
          <a:noFill/>
        </p:spPr>
        <p:txBody>
          <a:bodyPr wrap="square" anchor="t" lIns="0" rIns="0" tIns="0" bIns="0">
            <a:spAutoFit/>
          </a:bodyPr>
          <a:lstStyle/>
          <a:p>
            <a:pPr>
              <a:spcBef>
                <a:spcPts val="0"/>
              </a:spcBef>
              <a:spcAft>
                <a:spcPts val="461"/>
              </a:spcAft>
            </a:pPr>
            <a:r>
              <a:rPr sz="1200" b="1" i="0">
                <a:solidFill>
                  <a:srgbClr val="000000"/>
                </a:solidFill>
                <a:latin typeface="Nirmala UI"/>
              </a:rPr>
              <a:t>Follow along (Windows) — key steps:</a:t>
            </a:r>
          </a:p>
        </p:txBody>
      </p:sp>
      <p:sp>
        <p:nvSpPr>
          <p:cNvPr id="10" name="TextBox 9"/>
          <p:cNvSpPr txBox="1"/>
          <p:nvPr/>
        </p:nvSpPr>
        <p:spPr>
          <a:xfrm>
            <a:off x="457200" y="2924322"/>
            <a:ext cx="11247120" cy="305503"/>
          </a:xfrm>
          <a:prstGeom prst="rect">
            <a:avLst/>
          </a:prstGeom>
          <a:noFill/>
        </p:spPr>
        <p:txBody>
          <a:bodyPr wrap="square" anchor="t" lIns="0" rIns="0" tIns="0" bIns="0">
            <a:spAutoFit/>
          </a:bodyPr>
          <a:lstStyle/>
          <a:p>
            <a:pPr>
              <a:spcBef>
                <a:spcPts val="0"/>
              </a:spcBef>
              <a:spcAft>
                <a:spcPts val="461"/>
              </a:spcAft>
            </a:pPr>
            <a:r>
              <a:rPr sz="1200" b="1" i="0">
                <a:solidFill>
                  <a:srgbClr val="000000"/>
                </a:solidFill>
                <a:latin typeface="Nirmala UI"/>
              </a:rPr>
              <a:t>Step 1 — Unique SKU</a:t>
            </a:r>
          </a:p>
        </p:txBody>
      </p:sp>
      <p:sp>
        <p:nvSpPr>
          <p:cNvPr id="11" name="TextBox 10"/>
          <p:cNvSpPr txBox="1"/>
          <p:nvPr/>
        </p:nvSpPr>
        <p:spPr>
          <a:xfrm>
            <a:off x="457200" y="3321265"/>
            <a:ext cx="11247120" cy="967622"/>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  </a:t>
            </a:r>
            <a:r>
              <a:rPr sz="1200" b="1" i="0">
                <a:solidFill>
                  <a:srgbClr val="000000"/>
                </a:solidFill>
                <a:latin typeface="Nirmala UI"/>
              </a:rPr>
              <a:t>Do:</a:t>
            </a:r>
            <a:r>
              <a:rPr sz="1200" b="0" i="0">
                <a:solidFill>
                  <a:srgbClr val="000000"/>
                </a:solidFill>
                <a:latin typeface="Nirmala UI"/>
              </a:rPr>
              <a:t> If </a:t>
            </a:r>
            <a:r>
              <a:rPr sz="1200" b="0" i="0">
                <a:solidFill>
                  <a:srgbClr val="000000"/>
                </a:solidFill>
                <a:latin typeface="Consolas"/>
              </a:rPr>
              <a:t>idx_products_sku</a:t>
            </a:r>
            <a:r>
              <a:rPr sz="1200" b="0" i="0">
                <a:solidFill>
                  <a:srgbClr val="000000"/>
                </a:solidFill>
                <a:latin typeface="Nirmala UI"/>
              </a:rPr>
              <a:t> exists, drop it first (MongoDB cannot keep two indexes on the same keys). Then: ```javascript db.products.dropIndex("idx</a:t>
            </a:r>
            <a:r>
              <a:rPr sz="1200" b="0" i="1">
                <a:solidFill>
                  <a:srgbClr val="000000"/>
                </a:solidFill>
                <a:latin typeface="Nirmala UI"/>
              </a:rPr>
              <a:t>products</a:t>
            </a:r>
            <a:r>
              <a:rPr sz="1200" b="0" i="0">
                <a:solidFill>
                  <a:srgbClr val="000000"/>
                </a:solidFill>
                <a:latin typeface="Nirmala UI"/>
              </a:rPr>
              <a:t>sku") db.products.createIndex( { sku: 1 }, { unique: true, name: "uq</a:t>
            </a:r>
          </a:p>
          <a:p>
            <a:pPr>
              <a:spcBef>
                <a:spcPts val="0"/>
              </a:spcBef>
              <a:spcAft>
                <a:spcPts val="461"/>
              </a:spcAft>
            </a:pPr>
            <a:r>
              <a:rPr sz="1200" b="0" i="0">
                <a:solidFill>
                  <a:srgbClr val="000000"/>
                </a:solidFill>
                <a:latin typeface="Nirmala UI"/>
              </a:rPr>
              <a:t>•  </a:t>
            </a:r>
            <a:r>
              <a:rPr sz="1200" b="1" i="0">
                <a:solidFill>
                  <a:srgbClr val="000000"/>
                </a:solidFill>
                <a:latin typeface="Nirmala UI"/>
              </a:rPr>
              <a:t>Expected:</a:t>
            </a:r>
            <a:r>
              <a:rPr sz="1200" b="0" i="0">
                <a:solidFill>
                  <a:srgbClr val="000000"/>
                </a:solidFill>
                <a:latin typeface="Nirmala UI"/>
              </a:rPr>
              <a:t> uq</a:t>
            </a:r>
            <a:r>
              <a:rPr sz="1200" b="0" i="1">
                <a:solidFill>
                  <a:srgbClr val="000000"/>
                </a:solidFill>
                <a:latin typeface="Nirmala UI"/>
              </a:rPr>
              <a:t>products</a:t>
            </a:r>
            <a:r>
              <a:rPr sz="1200" b="0" i="0">
                <a:solidFill>
                  <a:srgbClr val="000000"/>
                </a:solidFill>
                <a:latin typeface="Nirmala UI"/>
              </a:rPr>
              <a:t>sku exists with unique: true. dropIndex errors if the non-unique index was never created — that is fine; proceed to createIndex.</a:t>
            </a:r>
          </a:p>
        </p:txBody>
      </p:sp>
      <p:sp>
        <p:nvSpPr>
          <p:cNvPr id="12" name="TextBox 11"/>
          <p:cNvSpPr txBox="1"/>
          <p:nvPr/>
        </p:nvSpPr>
        <p:spPr>
          <a:xfrm>
            <a:off x="457200" y="4380327"/>
            <a:ext cx="11247120" cy="305503"/>
          </a:xfrm>
          <a:prstGeom prst="rect">
            <a:avLst/>
          </a:prstGeom>
          <a:noFill/>
        </p:spPr>
        <p:txBody>
          <a:bodyPr wrap="square" anchor="t" lIns="0" rIns="0" tIns="0" bIns="0">
            <a:spAutoFit/>
          </a:bodyPr>
          <a:lstStyle/>
          <a:p>
            <a:pPr>
              <a:spcBef>
                <a:spcPts val="0"/>
              </a:spcBef>
              <a:spcAft>
                <a:spcPts val="461"/>
              </a:spcAft>
            </a:pPr>
            <a:r>
              <a:rPr sz="1200" b="1" i="0">
                <a:solidFill>
                  <a:srgbClr val="000000"/>
                </a:solidFill>
                <a:latin typeface="Nirmala UI"/>
              </a:rPr>
              <a:t>Step 2 — Unique customer and order numbers</a:t>
            </a:r>
          </a:p>
        </p:txBody>
      </p:sp>
      <p:sp>
        <p:nvSpPr>
          <p:cNvPr id="13" name="TextBox 12"/>
          <p:cNvSpPr txBox="1"/>
          <p:nvPr/>
        </p:nvSpPr>
        <p:spPr>
          <a:xfrm>
            <a:off x="457200" y="4777270"/>
            <a:ext cx="11247120" cy="766454"/>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  </a:t>
            </a:r>
            <a:r>
              <a:rPr sz="1200" b="1" i="0">
                <a:solidFill>
                  <a:srgbClr val="000000"/>
                </a:solidFill>
                <a:latin typeface="Nirmala UI"/>
              </a:rPr>
              <a:t>Do:</a:t>
            </a:r>
            <a:r>
              <a:rPr sz="1200" b="0" i="0">
                <a:solidFill>
                  <a:srgbClr val="000000"/>
                </a:solidFill>
                <a:latin typeface="Nirmala UI"/>
              </a:rPr>
              <a:t> Run: ``</a:t>
            </a:r>
            <a:r>
              <a:rPr sz="1200" b="0" i="0">
                <a:solidFill>
                  <a:srgbClr val="000000"/>
                </a:solidFill>
                <a:latin typeface="Consolas"/>
              </a:rPr>
              <a:t>javascript db.customers.createIndex( { customerNumber: 1 }, { unique: true, name: "uq_customers_customer_number" } ) db.orders.createIndex( { orderNumber: 1 }, { unique: true, name: "uq_orders_order_number" } ) </a:t>
            </a:r>
          </a:p>
          <a:p>
            <a:pPr>
              <a:spcBef>
                <a:spcPts val="0"/>
              </a:spcBef>
              <a:spcAft>
                <a:spcPts val="461"/>
              </a:spcAft>
            </a:pPr>
            <a:r>
              <a:rPr sz="1200" b="0" i="0">
                <a:solidFill>
                  <a:srgbClr val="000000"/>
                </a:solidFill>
                <a:latin typeface="Nirmala UI"/>
              </a:rPr>
              <a:t>•  </a:t>
            </a:r>
            <a:r>
              <a:rPr sz="1200" b="1" i="0">
                <a:solidFill>
                  <a:srgbClr val="000000"/>
                </a:solidFill>
                <a:latin typeface="Nirmala UI"/>
              </a:rPr>
              <a:t>Expected:</a:t>
            </a:r>
            <a:r>
              <a:rPr sz="1200" b="0" i="0">
                <a:solidFill>
                  <a:srgbClr val="000000"/>
                </a:solidFill>
                <a:latin typeface="Nirmala UI"/>
              </a:rPr>
              <a:t> Both unique indexes build because the loader has no duplicates.</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142</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LAB 6.6 — STEPS 3–4</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416580"/>
            <a:ext cx="237744" cy="237744"/>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16580"/>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398292"/>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800628"/>
            <a:ext cx="11247120" cy="392097"/>
          </a:xfrm>
          <a:prstGeom prst="rect">
            <a:avLst/>
          </a:prstGeom>
          <a:noFill/>
        </p:spPr>
        <p:txBody>
          <a:bodyPr wrap="square" anchor="t" lIns="0" rIns="0" tIns="0" bIns="0">
            <a:spAutoFit/>
          </a:bodyPr>
          <a:lstStyle/>
          <a:p>
            <a:pPr>
              <a:spcBef>
                <a:spcPts val="0"/>
              </a:spcBef>
              <a:spcAft>
                <a:spcPts val="615"/>
              </a:spcAft>
            </a:pPr>
            <a:r>
              <a:rPr sz="1600" b="1" i="0">
                <a:solidFill>
                  <a:srgbClr val="000000"/>
                </a:solidFill>
                <a:latin typeface="Nirmala UI"/>
              </a:rPr>
              <a:t>Follow along (Windows) — key steps:</a:t>
            </a:r>
          </a:p>
        </p:txBody>
      </p:sp>
      <p:sp>
        <p:nvSpPr>
          <p:cNvPr id="8" name="TextBox 7"/>
          <p:cNvSpPr txBox="1"/>
          <p:nvPr/>
        </p:nvSpPr>
        <p:spPr>
          <a:xfrm>
            <a:off x="457200" y="2284165"/>
            <a:ext cx="11247120" cy="392097"/>
          </a:xfrm>
          <a:prstGeom prst="rect">
            <a:avLst/>
          </a:prstGeom>
          <a:noFill/>
        </p:spPr>
        <p:txBody>
          <a:bodyPr wrap="square" anchor="t" lIns="0" rIns="0" tIns="0" bIns="0">
            <a:spAutoFit/>
          </a:bodyPr>
          <a:lstStyle/>
          <a:p>
            <a:pPr>
              <a:spcBef>
                <a:spcPts val="0"/>
              </a:spcBef>
              <a:spcAft>
                <a:spcPts val="615"/>
              </a:spcAft>
            </a:pPr>
            <a:r>
              <a:rPr sz="1600" b="1" i="0">
                <a:solidFill>
                  <a:srgbClr val="000000"/>
                </a:solidFill>
                <a:latin typeface="Nirmala UI"/>
              </a:rPr>
              <a:t>Step 3 — Attempt a duplicate SKU</a:t>
            </a:r>
          </a:p>
        </p:txBody>
      </p:sp>
      <p:sp>
        <p:nvSpPr>
          <p:cNvPr id="9" name="TextBox 8"/>
          <p:cNvSpPr txBox="1"/>
          <p:nvPr/>
        </p:nvSpPr>
        <p:spPr>
          <a:xfrm>
            <a:off x="457200" y="2767702"/>
            <a:ext cx="11247120" cy="1274922"/>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  </a:t>
            </a:r>
            <a:r>
              <a:rPr sz="1600" b="1" i="0">
                <a:solidFill>
                  <a:srgbClr val="000000"/>
                </a:solidFill>
                <a:latin typeface="Nirmala UI"/>
              </a:rPr>
              <a:t>Do:</a:t>
            </a:r>
            <a:r>
              <a:rPr sz="1600" b="0" i="0">
                <a:solidFill>
                  <a:srgbClr val="000000"/>
                </a:solidFill>
                <a:latin typeface="Nirmala UI"/>
              </a:rPr>
              <a:t> Run: ``</a:t>
            </a:r>
            <a:r>
              <a:rPr sz="1600" b="0" i="0">
                <a:solidFill>
                  <a:srgbClr val="000000"/>
                </a:solidFill>
                <a:latin typeface="Consolas"/>
              </a:rPr>
              <a:t>javascript db.products.insertOne({ sku: "L100", name: "Duplicate SKU test", category: "LAPTOP", price: Decimal128("1.00"), active: false, tags: ["temp"], createdAt: new Date() }) </a:t>
            </a:r>
            <a:r>
              <a:rPr sz="1600" b="0" i="0">
                <a:solidFill>
                  <a:srgbClr val="000000"/>
                </a:solidFill>
                <a:latin typeface="Nirmala UI"/>
              </a:rPr>
              <a:t>``</a:t>
            </a:r>
          </a:p>
          <a:p>
            <a:pPr>
              <a:spcBef>
                <a:spcPts val="0"/>
              </a:spcBef>
              <a:spcAft>
                <a:spcPts val="615"/>
              </a:spcAft>
            </a:pPr>
            <a:r>
              <a:rPr sz="1600" b="0" i="0">
                <a:solidFill>
                  <a:srgbClr val="000000"/>
                </a:solidFill>
                <a:latin typeface="Nirmala UI"/>
              </a:rPr>
              <a:t>•  </a:t>
            </a:r>
            <a:r>
              <a:rPr sz="1600" b="1" i="0">
                <a:solidFill>
                  <a:srgbClr val="000000"/>
                </a:solidFill>
                <a:latin typeface="Nirmala UI"/>
              </a:rPr>
              <a:t>Expected:</a:t>
            </a:r>
            <a:r>
              <a:rPr sz="1600" b="0" i="0">
                <a:solidFill>
                  <a:srgbClr val="000000"/>
                </a:solidFill>
                <a:latin typeface="Nirmala UI"/>
              </a:rPr>
              <a:t> Duplicate key error (E11000) mentioning sku / uq</a:t>
            </a:r>
            <a:r>
              <a:rPr sz="1600" b="0" i="1">
                <a:solidFill>
                  <a:srgbClr val="000000"/>
                </a:solidFill>
                <a:latin typeface="Nirmala UI"/>
              </a:rPr>
              <a:t>products</a:t>
            </a:r>
            <a:r>
              <a:rPr sz="1600" b="0" i="0">
                <a:solidFill>
                  <a:srgbClr val="000000"/>
                </a:solidFill>
                <a:latin typeface="Nirmala UI"/>
              </a:rPr>
              <a:t>sku. The extra document is not inserted.</a:t>
            </a:r>
          </a:p>
        </p:txBody>
      </p:sp>
      <p:sp>
        <p:nvSpPr>
          <p:cNvPr id="10" name="TextBox 9"/>
          <p:cNvSpPr txBox="1"/>
          <p:nvPr/>
        </p:nvSpPr>
        <p:spPr>
          <a:xfrm>
            <a:off x="457200" y="4134064"/>
            <a:ext cx="11247120" cy="392097"/>
          </a:xfrm>
          <a:prstGeom prst="rect">
            <a:avLst/>
          </a:prstGeom>
          <a:noFill/>
        </p:spPr>
        <p:txBody>
          <a:bodyPr wrap="square" anchor="t" lIns="0" rIns="0" tIns="0" bIns="0">
            <a:spAutoFit/>
          </a:bodyPr>
          <a:lstStyle/>
          <a:p>
            <a:pPr>
              <a:spcBef>
                <a:spcPts val="0"/>
              </a:spcBef>
              <a:spcAft>
                <a:spcPts val="615"/>
              </a:spcAft>
            </a:pPr>
            <a:r>
              <a:rPr sz="1600" b="1" i="0">
                <a:solidFill>
                  <a:srgbClr val="000000"/>
                </a:solidFill>
                <a:latin typeface="Nirmala UI"/>
              </a:rPr>
              <a:t>Step 4 — Cleanup discussion</a:t>
            </a:r>
          </a:p>
        </p:txBody>
      </p:sp>
      <p:sp>
        <p:nvSpPr>
          <p:cNvPr id="11" name="TextBox 10"/>
          <p:cNvSpPr txBox="1"/>
          <p:nvPr/>
        </p:nvSpPr>
        <p:spPr>
          <a:xfrm>
            <a:off x="457200" y="4617601"/>
            <a:ext cx="11247120" cy="1006698"/>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  </a:t>
            </a:r>
            <a:r>
              <a:rPr sz="1600" b="1" i="0">
                <a:solidFill>
                  <a:srgbClr val="000000"/>
                </a:solidFill>
                <a:latin typeface="Nirmala UI"/>
              </a:rPr>
              <a:t>Do:</a:t>
            </a:r>
            <a:r>
              <a:rPr sz="1600" b="0" i="0">
                <a:solidFill>
                  <a:srgbClr val="000000"/>
                </a:solidFill>
                <a:latin typeface="Nirmala UI"/>
              </a:rPr>
              <a:t> Write what you would do if unique creation failed because duplicates already existed.</a:t>
            </a:r>
          </a:p>
          <a:p>
            <a:pPr>
              <a:spcBef>
                <a:spcPts val="0"/>
              </a:spcBef>
              <a:spcAft>
                <a:spcPts val="615"/>
              </a:spcAft>
            </a:pPr>
            <a:r>
              <a:rPr sz="1600" b="0" i="0">
                <a:solidFill>
                  <a:srgbClr val="000000"/>
                </a:solidFill>
                <a:latin typeface="Nirmala UI"/>
              </a:rPr>
              <a:t>•  </a:t>
            </a:r>
            <a:r>
              <a:rPr sz="1600" b="1" i="0">
                <a:solidFill>
                  <a:srgbClr val="000000"/>
                </a:solidFill>
                <a:latin typeface="Nirmala UI"/>
              </a:rPr>
              <a:t>Expected:</a:t>
            </a:r>
            <a:r>
              <a:rPr sz="1600" b="0" i="0">
                <a:solidFill>
                  <a:srgbClr val="000000"/>
                </a:solidFill>
                <a:latin typeface="Nirmala UI"/>
              </a:rPr>
              <a:t> Find duplicates with a </a:t>
            </a:r>
            <a:r>
              <a:rPr sz="1600" b="0" i="0">
                <a:solidFill>
                  <a:srgbClr val="000000"/>
                </a:solidFill>
                <a:latin typeface="Consolas"/>
              </a:rPr>
              <a:t>$group</a:t>
            </a:r>
            <a:r>
              <a:rPr sz="1600" b="0" i="0">
                <a:solidFill>
                  <a:srgbClr val="000000"/>
                </a:solidFill>
                <a:latin typeface="Nirmala UI"/>
              </a:rPr>
              <a:t> on the key having </a:t>
            </a:r>
            <a:r>
              <a:rPr sz="1600" b="0" i="0">
                <a:solidFill>
                  <a:srgbClr val="000000"/>
                </a:solidFill>
                <a:latin typeface="Consolas"/>
              </a:rPr>
              <a:t>$sum: 1</a:t>
            </a:r>
            <a:r>
              <a:rPr sz="1600" b="0" i="0">
                <a:solidFill>
                  <a:srgbClr val="000000"/>
                </a:solidFill>
                <a:latin typeface="Nirmala UI"/>
              </a:rPr>
              <a:t> and </a:t>
            </a:r>
            <a:r>
              <a:rPr sz="1600" b="0" i="0">
                <a:solidFill>
                  <a:srgbClr val="000000"/>
                </a:solidFill>
                <a:latin typeface="Consolas"/>
              </a:rPr>
              <a:t>$match</a:t>
            </a:r>
            <a:r>
              <a:rPr sz="1600" b="0" i="0">
                <a:solidFill>
                  <a:srgbClr val="000000"/>
                </a:solidFill>
                <a:latin typeface="Nirmala UI"/>
              </a:rPr>
              <a:t> count &gt; 1, merge or delete extras, then retry createIndex. Do not skip uniqueness becau</a:t>
            </a:r>
          </a:p>
        </p:txBody>
      </p:sp>
      <p:sp>
        <p:nvSpPr>
          <p:cNvPr id="12" name="Rectangle 1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5"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143</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LAB 6.7 — IMPLEMENT PARTIAL AND TTL INDEXES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488458"/>
            <a:ext cx="237744" cy="237744"/>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8845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47017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872506"/>
            <a:ext cx="11247120" cy="1679916"/>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Time:</a:t>
            </a:r>
            <a:r>
              <a:rPr sz="2000" b="0" i="0">
                <a:solidFill>
                  <a:srgbClr val="000000"/>
                </a:solidFill>
                <a:latin typeface="Nirmala UI"/>
              </a:rPr>
              <a:t> 25 min</a:t>
            </a:r>
          </a:p>
          <a:p>
            <a:pPr>
              <a:spcBef>
                <a:spcPts val="0"/>
              </a:spcBef>
              <a:spcAft>
                <a:spcPts val="769"/>
              </a:spcAft>
            </a:pPr>
            <a:r>
              <a:rPr sz="2000" b="0" i="0">
                <a:solidFill>
                  <a:srgbClr val="000000"/>
                </a:solidFill>
                <a:latin typeface="Nirmala UI"/>
              </a:rPr>
              <a:t>•  </a:t>
            </a:r>
            <a:r>
              <a:rPr sz="2000" b="0" i="0">
                <a:solidFill>
                  <a:srgbClr val="000000"/>
                </a:solidFill>
                <a:latin typeface="Nirmala UI"/>
              </a:rPr>
              <a:t>Partial index for active products; TTL on a sessions collection.</a:t>
            </a:r>
          </a:p>
          <a:p>
            <a:pPr>
              <a:spcBef>
                <a:spcPts val="0"/>
              </a:spcBef>
              <a:spcAft>
                <a:spcPts val="769"/>
              </a:spcAft>
            </a:pPr>
            <a:r>
              <a:rPr sz="2000" b="0" i="0">
                <a:solidFill>
                  <a:srgbClr val="000000"/>
                </a:solidFill>
                <a:latin typeface="Nirmala UI"/>
              </a:rPr>
              <a:t>•  </a:t>
            </a:r>
            <a:r>
              <a:rPr sz="2000" b="1" i="0">
                <a:solidFill>
                  <a:srgbClr val="000000"/>
                </a:solidFill>
                <a:latin typeface="Nirmala UI"/>
              </a:rPr>
              <a:t>Lab guide:</a:t>
            </a:r>
            <a:r>
              <a:rPr sz="2000" b="0" i="0">
                <a:solidFill>
                  <a:srgbClr val="000000"/>
                </a:solidFill>
                <a:latin typeface="Nirmala UI"/>
              </a:rPr>
              <a:t> </a:t>
            </a:r>
            <a:r>
              <a:rPr sz="2000" b="0" i="0">
                <a:solidFill>
                  <a:srgbClr val="000000"/>
                </a:solidFill>
                <a:latin typeface="Consolas"/>
              </a:rPr>
              <a:t>Lab 6.7</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144</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LAB 6.7 — STEPS 1–2</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497155"/>
            <a:ext cx="237744" cy="237744"/>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97155"/>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478867"/>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Rounded Rectangle 6"/>
          <p:cNvSpPr/>
          <p:nvPr/>
        </p:nvSpPr>
        <p:spPr>
          <a:xfrm>
            <a:off x="457200" y="1881203"/>
            <a:ext cx="11247120" cy="554736"/>
          </a:xfrm>
          <a:prstGeom prst="roundRect">
            <a:avLst>
              <a:gd name="adj" fmla="val 6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881203"/>
            <a:ext cx="11027664" cy="554736"/>
          </a:xfrm>
          <a:prstGeom prst="rect">
            <a:avLst/>
          </a:prstGeom>
          <a:noFill/>
        </p:spPr>
        <p:txBody>
          <a:bodyPr wrap="square" anchor="ctr" lIns="0" rIns="0" tIns="0" bIns="0">
            <a:spAutoFit/>
          </a:bodyPr>
          <a:lstStyle/>
          <a:p>
            <a:r>
              <a:rPr sz="1200" b="1" i="0">
                <a:solidFill>
                  <a:srgbClr val="D1282E"/>
                </a:solidFill>
                <a:latin typeface="Nirmala UI"/>
              </a:rPr>
              <a:t>LAB GUIDE   </a:t>
            </a:r>
            <a:r>
              <a:rPr sz="2000" b="0" i="0">
                <a:solidFill>
                  <a:srgbClr val="000000"/>
                </a:solidFill>
                <a:latin typeface="Consolas"/>
              </a:rPr>
              <a:t>Lab 6.7</a:t>
            </a:r>
          </a:p>
        </p:txBody>
      </p:sp>
      <p:sp>
        <p:nvSpPr>
          <p:cNvPr id="9" name="TextBox 8"/>
          <p:cNvSpPr txBox="1"/>
          <p:nvPr/>
        </p:nvSpPr>
        <p:spPr>
          <a:xfrm>
            <a:off x="457200" y="2527379"/>
            <a:ext cx="11247120" cy="305503"/>
          </a:xfrm>
          <a:prstGeom prst="rect">
            <a:avLst/>
          </a:prstGeom>
          <a:noFill/>
        </p:spPr>
        <p:txBody>
          <a:bodyPr wrap="square" anchor="t" lIns="0" rIns="0" tIns="0" bIns="0">
            <a:spAutoFit/>
          </a:bodyPr>
          <a:lstStyle/>
          <a:p>
            <a:pPr>
              <a:spcBef>
                <a:spcPts val="0"/>
              </a:spcBef>
              <a:spcAft>
                <a:spcPts val="461"/>
              </a:spcAft>
            </a:pPr>
            <a:r>
              <a:rPr sz="1200" b="1" i="0">
                <a:solidFill>
                  <a:srgbClr val="000000"/>
                </a:solidFill>
                <a:latin typeface="Nirmala UI"/>
              </a:rPr>
              <a:t>Follow along (Windows) — key steps:</a:t>
            </a:r>
          </a:p>
        </p:txBody>
      </p:sp>
      <p:sp>
        <p:nvSpPr>
          <p:cNvPr id="10" name="TextBox 9"/>
          <p:cNvSpPr txBox="1"/>
          <p:nvPr/>
        </p:nvSpPr>
        <p:spPr>
          <a:xfrm>
            <a:off x="457200" y="2924322"/>
            <a:ext cx="11247120" cy="305503"/>
          </a:xfrm>
          <a:prstGeom prst="rect">
            <a:avLst/>
          </a:prstGeom>
          <a:noFill/>
        </p:spPr>
        <p:txBody>
          <a:bodyPr wrap="square" anchor="t" lIns="0" rIns="0" tIns="0" bIns="0">
            <a:spAutoFit/>
          </a:bodyPr>
          <a:lstStyle/>
          <a:p>
            <a:pPr>
              <a:spcBef>
                <a:spcPts val="0"/>
              </a:spcBef>
              <a:spcAft>
                <a:spcPts val="461"/>
              </a:spcAft>
            </a:pPr>
            <a:r>
              <a:rPr sz="1200" b="1" i="0">
                <a:solidFill>
                  <a:srgbClr val="000000"/>
                </a:solidFill>
                <a:latin typeface="Nirmala UI"/>
              </a:rPr>
              <a:t>Step 1 — Partial index</a:t>
            </a:r>
          </a:p>
        </p:txBody>
      </p:sp>
      <p:sp>
        <p:nvSpPr>
          <p:cNvPr id="11" name="TextBox 10"/>
          <p:cNvSpPr txBox="1"/>
          <p:nvPr/>
        </p:nvSpPr>
        <p:spPr>
          <a:xfrm>
            <a:off x="457200" y="3321265"/>
            <a:ext cx="11247120" cy="766454"/>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  </a:t>
            </a:r>
            <a:r>
              <a:rPr sz="1200" b="1" i="0">
                <a:solidFill>
                  <a:srgbClr val="000000"/>
                </a:solidFill>
                <a:latin typeface="Nirmala UI"/>
              </a:rPr>
              <a:t>Do:</a:t>
            </a:r>
            <a:r>
              <a:rPr sz="1200" b="0" i="0">
                <a:solidFill>
                  <a:srgbClr val="000000"/>
                </a:solidFill>
                <a:latin typeface="Nirmala UI"/>
              </a:rPr>
              <a:t> Run: ``</a:t>
            </a:r>
            <a:r>
              <a:rPr sz="1200" b="0" i="0">
                <a:solidFill>
                  <a:srgbClr val="000000"/>
                </a:solidFill>
                <a:latin typeface="Consolas"/>
              </a:rPr>
              <a:t>javascript db.products.createIndex( { category: 1, price: 1 }, { partialFilterExpression: { active: true }, name: "idx_active_products_category_price" } ) db.products.getIndexes() </a:t>
            </a:r>
            <a:r>
              <a:rPr sz="1200" b="0" i="0">
                <a:solidFill>
                  <a:srgbClr val="000000"/>
                </a:solidFill>
                <a:latin typeface="Nirmala UI"/>
              </a:rPr>
              <a:t>``</a:t>
            </a:r>
          </a:p>
          <a:p>
            <a:pPr>
              <a:spcBef>
                <a:spcPts val="0"/>
              </a:spcBef>
              <a:spcAft>
                <a:spcPts val="461"/>
              </a:spcAft>
            </a:pPr>
            <a:r>
              <a:rPr sz="1200" b="0" i="0">
                <a:solidFill>
                  <a:srgbClr val="000000"/>
                </a:solidFill>
                <a:latin typeface="Nirmala UI"/>
              </a:rPr>
              <a:t>•  </a:t>
            </a:r>
            <a:r>
              <a:rPr sz="1200" b="1" i="0">
                <a:solidFill>
                  <a:srgbClr val="000000"/>
                </a:solidFill>
                <a:latin typeface="Nirmala UI"/>
              </a:rPr>
              <a:t>Expected:</a:t>
            </a:r>
            <a:r>
              <a:rPr sz="1200" b="0" i="0">
                <a:solidFill>
                  <a:srgbClr val="000000"/>
                </a:solidFill>
                <a:latin typeface="Nirmala UI"/>
              </a:rPr>
              <a:t> The index lists partialFilterExpression </a:t>
            </a:r>
            <a:r>
              <a:rPr sz="1200" b="0" i="0">
                <a:solidFill>
                  <a:srgbClr val="000000"/>
                </a:solidFill>
                <a:latin typeface="Consolas"/>
              </a:rPr>
              <a:t>{ active: true }</a:t>
            </a:r>
            <a:r>
              <a:rPr sz="1200" b="0" i="0">
                <a:solidFill>
                  <a:srgbClr val="000000"/>
                </a:solidFill>
                <a:latin typeface="Nirmala UI"/>
              </a:rPr>
              <a:t>.</a:t>
            </a:r>
          </a:p>
        </p:txBody>
      </p:sp>
      <p:sp>
        <p:nvSpPr>
          <p:cNvPr id="12" name="TextBox 11"/>
          <p:cNvSpPr txBox="1"/>
          <p:nvPr/>
        </p:nvSpPr>
        <p:spPr>
          <a:xfrm>
            <a:off x="457200" y="4179159"/>
            <a:ext cx="11247120" cy="305503"/>
          </a:xfrm>
          <a:prstGeom prst="rect">
            <a:avLst/>
          </a:prstGeom>
          <a:noFill/>
        </p:spPr>
        <p:txBody>
          <a:bodyPr wrap="square" anchor="t" lIns="0" rIns="0" tIns="0" bIns="0">
            <a:spAutoFit/>
          </a:bodyPr>
          <a:lstStyle/>
          <a:p>
            <a:pPr>
              <a:spcBef>
                <a:spcPts val="0"/>
              </a:spcBef>
              <a:spcAft>
                <a:spcPts val="461"/>
              </a:spcAft>
            </a:pPr>
            <a:r>
              <a:rPr sz="1200" b="1" i="0">
                <a:solidFill>
                  <a:srgbClr val="000000"/>
                </a:solidFill>
                <a:latin typeface="Nirmala UI"/>
              </a:rPr>
              <a:t>Step 2 — Compatible vs incompatible query</a:t>
            </a:r>
          </a:p>
        </p:txBody>
      </p:sp>
      <p:sp>
        <p:nvSpPr>
          <p:cNvPr id="13" name="TextBox 12"/>
          <p:cNvSpPr txBox="1"/>
          <p:nvPr/>
        </p:nvSpPr>
        <p:spPr>
          <a:xfrm>
            <a:off x="457200" y="4576102"/>
            <a:ext cx="11247120" cy="967622"/>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  </a:t>
            </a:r>
            <a:r>
              <a:rPr sz="1200" b="1" i="0">
                <a:solidFill>
                  <a:srgbClr val="000000"/>
                </a:solidFill>
                <a:latin typeface="Nirmala UI"/>
              </a:rPr>
              <a:t>Do:</a:t>
            </a:r>
            <a:r>
              <a:rPr sz="1200" b="0" i="0">
                <a:solidFill>
                  <a:srgbClr val="000000"/>
                </a:solidFill>
                <a:latin typeface="Nirmala UI"/>
              </a:rPr>
              <a:t> Explain both: ```javascript db.products.find({ category: "LAPTOP", active: true, price: { $lte: Decimal128("2000.00") } }).explain("executionStats") db.products.find({ category: "LAPTOP", price: { $lte: Decimal128("2000.</a:t>
            </a:r>
          </a:p>
          <a:p>
            <a:pPr>
              <a:spcBef>
                <a:spcPts val="0"/>
              </a:spcBef>
              <a:spcAft>
                <a:spcPts val="461"/>
              </a:spcAft>
            </a:pPr>
            <a:r>
              <a:rPr sz="1200" b="0" i="0">
                <a:solidFill>
                  <a:srgbClr val="000000"/>
                </a:solidFill>
                <a:latin typeface="Nirmala UI"/>
              </a:rPr>
              <a:t>•  </a:t>
            </a:r>
            <a:r>
              <a:rPr sz="1200" b="1" i="0">
                <a:solidFill>
                  <a:srgbClr val="000000"/>
                </a:solidFill>
                <a:latin typeface="Nirmala UI"/>
              </a:rPr>
              <a:t>Expected:</a:t>
            </a:r>
            <a:r>
              <a:rPr sz="1200" b="0" i="0">
                <a:solidFill>
                  <a:srgbClr val="000000"/>
                </a:solidFill>
                <a:latin typeface="Nirmala UI"/>
              </a:rPr>
              <a:t> The query that includes </a:t>
            </a:r>
            <a:r>
              <a:rPr sz="1200" b="0" i="0">
                <a:solidFill>
                  <a:srgbClr val="000000"/>
                </a:solidFill>
                <a:latin typeface="Consolas"/>
              </a:rPr>
              <a:t>active: true</a:t>
            </a:r>
            <a:r>
              <a:rPr sz="1200" b="0" i="0">
                <a:solidFill>
                  <a:srgbClr val="000000"/>
                </a:solidFill>
                <a:latin typeface="Nirmala UI"/>
              </a:rPr>
              <a:t> can use the partial index. The query that omits it typically will not, because inactive laptops (L190) are not in that in</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145</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LAB 6.7 — STEPS 3–4</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501064"/>
            <a:ext cx="237744" cy="237744"/>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01064"/>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482776"/>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885112"/>
            <a:ext cx="11247120" cy="348800"/>
          </a:xfrm>
          <a:prstGeom prst="rect">
            <a:avLst/>
          </a:prstGeom>
          <a:noFill/>
        </p:spPr>
        <p:txBody>
          <a:bodyPr wrap="square" anchor="t" lIns="0" rIns="0" tIns="0" bIns="0">
            <a:spAutoFit/>
          </a:bodyPr>
          <a:lstStyle/>
          <a:p>
            <a:pPr>
              <a:spcBef>
                <a:spcPts val="0"/>
              </a:spcBef>
              <a:spcAft>
                <a:spcPts val="538"/>
              </a:spcAft>
            </a:pPr>
            <a:r>
              <a:rPr sz="1400" b="1" i="0">
                <a:solidFill>
                  <a:srgbClr val="000000"/>
                </a:solidFill>
                <a:latin typeface="Nirmala UI"/>
              </a:rPr>
              <a:t>Follow along (Windows) — key steps:</a:t>
            </a:r>
          </a:p>
        </p:txBody>
      </p:sp>
      <p:sp>
        <p:nvSpPr>
          <p:cNvPr id="8" name="TextBox 7"/>
          <p:cNvSpPr txBox="1"/>
          <p:nvPr/>
        </p:nvSpPr>
        <p:spPr>
          <a:xfrm>
            <a:off x="457200" y="2325352"/>
            <a:ext cx="11247120" cy="348800"/>
          </a:xfrm>
          <a:prstGeom prst="rect">
            <a:avLst/>
          </a:prstGeom>
          <a:noFill/>
        </p:spPr>
        <p:txBody>
          <a:bodyPr wrap="square" anchor="t" lIns="0" rIns="0" tIns="0" bIns="0">
            <a:spAutoFit/>
          </a:bodyPr>
          <a:lstStyle/>
          <a:p>
            <a:pPr>
              <a:spcBef>
                <a:spcPts val="0"/>
              </a:spcBef>
              <a:spcAft>
                <a:spcPts val="538"/>
              </a:spcAft>
            </a:pPr>
            <a:r>
              <a:rPr sz="1400" b="1" i="0">
                <a:solidFill>
                  <a:srgbClr val="000000"/>
                </a:solidFill>
                <a:latin typeface="Nirmala UI"/>
              </a:rPr>
              <a:t>Step 3 — Create sessions and TTL</a:t>
            </a:r>
          </a:p>
        </p:txBody>
      </p:sp>
      <p:sp>
        <p:nvSpPr>
          <p:cNvPr id="9" name="TextBox 8"/>
          <p:cNvSpPr txBox="1"/>
          <p:nvPr/>
        </p:nvSpPr>
        <p:spPr>
          <a:xfrm>
            <a:off x="457200" y="2765592"/>
            <a:ext cx="11247120" cy="1121272"/>
          </a:xfrm>
          <a:prstGeom prst="rect">
            <a:avLst/>
          </a:prstGeom>
          <a:noFill/>
        </p:spPr>
        <p:txBody>
          <a:bodyPr wrap="square" anchor="t" lIns="0" rIns="0" tIns="0" bIns="0">
            <a:spAutoFit/>
          </a:bodyPr>
          <a:lstStyle/>
          <a:p>
            <a:pPr>
              <a:spcBef>
                <a:spcPts val="0"/>
              </a:spcBef>
              <a:spcAft>
                <a:spcPts val="538"/>
              </a:spcAft>
            </a:pPr>
            <a:r>
              <a:rPr sz="1400" b="0" i="0">
                <a:solidFill>
                  <a:srgbClr val="000000"/>
                </a:solidFill>
                <a:latin typeface="Nirmala UI"/>
              </a:rPr>
              <a:t>•  </a:t>
            </a:r>
            <a:r>
              <a:rPr sz="1400" b="1" i="0">
                <a:solidFill>
                  <a:srgbClr val="000000"/>
                </a:solidFill>
                <a:latin typeface="Nirmala UI"/>
              </a:rPr>
              <a:t>Do:</a:t>
            </a:r>
            <a:r>
              <a:rPr sz="1400" b="0" i="0">
                <a:solidFill>
                  <a:srgbClr val="000000"/>
                </a:solidFill>
                <a:latin typeface="Nirmala UI"/>
              </a:rPr>
              <a:t> Run: ```javascript db.sessions.drop() db.sessions.insertMany([ { sessionId: "S1", user: "aisha", expiresAt: new Date(Date.now() + 60 * 60 * 1000) }, { sessionId: "S-EXPIRED", user: "temp", expiresAt: new Date(Date.now() </a:t>
            </a:r>
          </a:p>
          <a:p>
            <a:pPr>
              <a:spcBef>
                <a:spcPts val="0"/>
              </a:spcBef>
              <a:spcAft>
                <a:spcPts val="538"/>
              </a:spcAft>
            </a:pPr>
            <a:r>
              <a:rPr sz="1400" b="0" i="0">
                <a:solidFill>
                  <a:srgbClr val="000000"/>
                </a:solidFill>
                <a:latin typeface="Nirmala UI"/>
              </a:rPr>
              <a:t>•  </a:t>
            </a:r>
            <a:r>
              <a:rPr sz="1400" b="1" i="0">
                <a:solidFill>
                  <a:srgbClr val="000000"/>
                </a:solidFill>
                <a:latin typeface="Nirmala UI"/>
              </a:rPr>
              <a:t>Expected:</a:t>
            </a:r>
            <a:r>
              <a:rPr sz="1400" b="0" i="0">
                <a:solidFill>
                  <a:srgbClr val="000000"/>
                </a:solidFill>
                <a:latin typeface="Nirmala UI"/>
              </a:rPr>
              <a:t> ttl</a:t>
            </a:r>
            <a:r>
              <a:rPr sz="1400" b="0" i="1">
                <a:solidFill>
                  <a:srgbClr val="000000"/>
                </a:solidFill>
                <a:latin typeface="Nirmala UI"/>
              </a:rPr>
              <a:t>sessions</a:t>
            </a:r>
            <a:r>
              <a:rPr sz="1400" b="0" i="0">
                <a:solidFill>
                  <a:srgbClr val="000000"/>
                </a:solidFill>
                <a:latin typeface="Nirmala UI"/>
              </a:rPr>
              <a:t>expires_at exists with expireAfterSeconds: 0. Two documents are present immediately after insert.</a:t>
            </a:r>
          </a:p>
        </p:txBody>
      </p:sp>
      <p:sp>
        <p:nvSpPr>
          <p:cNvPr id="10" name="TextBox 9"/>
          <p:cNvSpPr txBox="1"/>
          <p:nvPr/>
        </p:nvSpPr>
        <p:spPr>
          <a:xfrm>
            <a:off x="457200" y="3978304"/>
            <a:ext cx="11247120" cy="348800"/>
          </a:xfrm>
          <a:prstGeom prst="rect">
            <a:avLst/>
          </a:prstGeom>
          <a:noFill/>
        </p:spPr>
        <p:txBody>
          <a:bodyPr wrap="square" anchor="t" lIns="0" rIns="0" tIns="0" bIns="0">
            <a:spAutoFit/>
          </a:bodyPr>
          <a:lstStyle/>
          <a:p>
            <a:pPr>
              <a:spcBef>
                <a:spcPts val="0"/>
              </a:spcBef>
              <a:spcAft>
                <a:spcPts val="538"/>
              </a:spcAft>
            </a:pPr>
            <a:r>
              <a:rPr sz="1400" b="1" i="0">
                <a:solidFill>
                  <a:srgbClr val="000000"/>
                </a:solidFill>
                <a:latin typeface="Nirmala UI"/>
              </a:rPr>
              <a:t>Step 4 — Observe asynchronous expiration</a:t>
            </a:r>
          </a:p>
        </p:txBody>
      </p:sp>
      <p:sp>
        <p:nvSpPr>
          <p:cNvPr id="11" name="TextBox 10"/>
          <p:cNvSpPr txBox="1"/>
          <p:nvPr/>
        </p:nvSpPr>
        <p:spPr>
          <a:xfrm>
            <a:off x="457200" y="4418544"/>
            <a:ext cx="11247120" cy="1121272"/>
          </a:xfrm>
          <a:prstGeom prst="rect">
            <a:avLst/>
          </a:prstGeom>
          <a:noFill/>
        </p:spPr>
        <p:txBody>
          <a:bodyPr wrap="square" anchor="t" lIns="0" rIns="0" tIns="0" bIns="0">
            <a:spAutoFit/>
          </a:bodyPr>
          <a:lstStyle/>
          <a:p>
            <a:pPr>
              <a:spcBef>
                <a:spcPts val="0"/>
              </a:spcBef>
              <a:spcAft>
                <a:spcPts val="538"/>
              </a:spcAft>
            </a:pPr>
            <a:r>
              <a:rPr sz="1400" b="0" i="0">
                <a:solidFill>
                  <a:srgbClr val="000000"/>
                </a:solidFill>
                <a:latin typeface="Nirmala UI"/>
              </a:rPr>
              <a:t>•  </a:t>
            </a:r>
            <a:r>
              <a:rPr sz="1400" b="1" i="0">
                <a:solidFill>
                  <a:srgbClr val="000000"/>
                </a:solidFill>
                <a:latin typeface="Nirmala UI"/>
              </a:rPr>
              <a:t>Do:</a:t>
            </a:r>
            <a:r>
              <a:rPr sz="1400" b="0" i="0">
                <a:solidFill>
                  <a:srgbClr val="000000"/>
                </a:solidFill>
                <a:latin typeface="Nirmala UI"/>
              </a:rPr>
              <a:t> Wait about 60 seconds (TTL monitor interval), then </a:t>
            </a:r>
            <a:r>
              <a:rPr sz="1400" b="0" i="0">
                <a:solidFill>
                  <a:srgbClr val="000000"/>
                </a:solidFill>
                <a:latin typeface="Consolas"/>
              </a:rPr>
              <a:t>db.sessions.find()</a:t>
            </a:r>
            <a:r>
              <a:rPr sz="1400" b="0" i="0">
                <a:solidFill>
                  <a:srgbClr val="000000"/>
                </a:solidFill>
                <a:latin typeface="Nirmala UI"/>
              </a:rPr>
              <a:t>. Do not block the class if the expired row is still there — record that expiration is asynchronous.</a:t>
            </a:r>
          </a:p>
          <a:p>
            <a:pPr>
              <a:spcBef>
                <a:spcPts val="0"/>
              </a:spcBef>
              <a:spcAft>
                <a:spcPts val="538"/>
              </a:spcAft>
            </a:pPr>
            <a:r>
              <a:rPr sz="1400" b="0" i="0">
                <a:solidFill>
                  <a:srgbClr val="000000"/>
                </a:solidFill>
                <a:latin typeface="Nirmala UI"/>
              </a:rPr>
              <a:t>•  </a:t>
            </a:r>
            <a:r>
              <a:rPr sz="1400" b="1" i="0">
                <a:solidFill>
                  <a:srgbClr val="000000"/>
                </a:solidFill>
                <a:latin typeface="Nirmala UI"/>
              </a:rPr>
              <a:t>Expected:</a:t>
            </a:r>
            <a:r>
              <a:rPr sz="1400" b="0" i="0">
                <a:solidFill>
                  <a:srgbClr val="000000"/>
                </a:solidFill>
                <a:latin typeface="Nirmala UI"/>
              </a:rPr>
              <a:t> S-EXPIRED may disappear after the TTL thread runs. The lab succeeds if the index is configured correctly even if the delete has not fired yet. Never treat TTL a</a:t>
            </a:r>
          </a:p>
        </p:txBody>
      </p:sp>
      <p:sp>
        <p:nvSpPr>
          <p:cNvPr id="12" name="Rectangle 1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5"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146</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LAB 6.8 — BUILD A COVERED QUERY</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488458"/>
            <a:ext cx="237744" cy="237744"/>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8845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47017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872506"/>
            <a:ext cx="11247120" cy="1679916"/>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Time:</a:t>
            </a:r>
            <a:r>
              <a:rPr sz="2000" b="0" i="0">
                <a:solidFill>
                  <a:srgbClr val="000000"/>
                </a:solidFill>
                <a:latin typeface="Nirmala UI"/>
              </a:rPr>
              <a:t> 20 min</a:t>
            </a:r>
          </a:p>
          <a:p>
            <a:pPr>
              <a:spcBef>
                <a:spcPts val="0"/>
              </a:spcBef>
              <a:spcAft>
                <a:spcPts val="769"/>
              </a:spcAft>
            </a:pPr>
            <a:r>
              <a:rPr sz="2000" b="0" i="0">
                <a:solidFill>
                  <a:srgbClr val="000000"/>
                </a:solidFill>
                <a:latin typeface="Nirmala UI"/>
              </a:rPr>
              <a:t>•  </a:t>
            </a:r>
            <a:r>
              <a:rPr sz="2000" b="0" i="0">
                <a:solidFill>
                  <a:srgbClr val="000000"/>
                </a:solidFill>
                <a:latin typeface="Nirmala UI"/>
              </a:rPr>
              <a:t>Cover category/price/name and confirm FETCH disappears when </a:t>
            </a:r>
            <a:r>
              <a:rPr sz="2000" b="0" i="0">
                <a:solidFill>
                  <a:srgbClr val="000000"/>
                </a:solidFill>
                <a:latin typeface="Consolas"/>
              </a:rPr>
              <a:t>_id</a:t>
            </a:r>
            <a:r>
              <a:rPr sz="2000" b="0" i="0">
                <a:solidFill>
                  <a:srgbClr val="000000"/>
                </a:solidFill>
                <a:latin typeface="Nirmala UI"/>
              </a:rPr>
              <a:t> is excluded.</a:t>
            </a:r>
          </a:p>
          <a:p>
            <a:pPr>
              <a:spcBef>
                <a:spcPts val="0"/>
              </a:spcBef>
              <a:spcAft>
                <a:spcPts val="769"/>
              </a:spcAft>
            </a:pPr>
            <a:r>
              <a:rPr sz="2000" b="0" i="0">
                <a:solidFill>
                  <a:srgbClr val="000000"/>
                </a:solidFill>
                <a:latin typeface="Nirmala UI"/>
              </a:rPr>
              <a:t>•  </a:t>
            </a:r>
            <a:r>
              <a:rPr sz="2000" b="1" i="0">
                <a:solidFill>
                  <a:srgbClr val="000000"/>
                </a:solidFill>
                <a:latin typeface="Nirmala UI"/>
              </a:rPr>
              <a:t>Lab guide:</a:t>
            </a:r>
            <a:r>
              <a:rPr sz="2000" b="0" i="0">
                <a:solidFill>
                  <a:srgbClr val="000000"/>
                </a:solidFill>
                <a:latin typeface="Nirmala UI"/>
              </a:rPr>
              <a:t> </a:t>
            </a:r>
            <a:r>
              <a:rPr sz="2000" b="0" i="0">
                <a:solidFill>
                  <a:srgbClr val="000000"/>
                </a:solidFill>
                <a:latin typeface="Consolas"/>
              </a:rPr>
              <a:t>Lab 6.8</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147</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LAB 6.8 — STEPS 1–2</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597739"/>
            <a:ext cx="237744" cy="237744"/>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97739"/>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579451"/>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Rounded Rectangle 6"/>
          <p:cNvSpPr/>
          <p:nvPr/>
        </p:nvSpPr>
        <p:spPr>
          <a:xfrm>
            <a:off x="457200" y="1981787"/>
            <a:ext cx="11247120" cy="554736"/>
          </a:xfrm>
          <a:prstGeom prst="roundRect">
            <a:avLst>
              <a:gd name="adj" fmla="val 6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981787"/>
            <a:ext cx="11027664" cy="554736"/>
          </a:xfrm>
          <a:prstGeom prst="rect">
            <a:avLst/>
          </a:prstGeom>
          <a:noFill/>
        </p:spPr>
        <p:txBody>
          <a:bodyPr wrap="square" anchor="ctr" lIns="0" rIns="0" tIns="0" bIns="0">
            <a:spAutoFit/>
          </a:bodyPr>
          <a:lstStyle/>
          <a:p>
            <a:r>
              <a:rPr sz="1200" b="1" i="0">
                <a:solidFill>
                  <a:srgbClr val="D1282E"/>
                </a:solidFill>
                <a:latin typeface="Nirmala UI"/>
              </a:rPr>
              <a:t>LAB GUIDE   </a:t>
            </a:r>
            <a:r>
              <a:rPr sz="2000" b="0" i="0">
                <a:solidFill>
                  <a:srgbClr val="000000"/>
                </a:solidFill>
                <a:latin typeface="Consolas"/>
              </a:rPr>
              <a:t>Lab 6.8</a:t>
            </a:r>
          </a:p>
        </p:txBody>
      </p:sp>
      <p:sp>
        <p:nvSpPr>
          <p:cNvPr id="9" name="TextBox 8"/>
          <p:cNvSpPr txBox="1"/>
          <p:nvPr/>
        </p:nvSpPr>
        <p:spPr>
          <a:xfrm>
            <a:off x="457200" y="2627963"/>
            <a:ext cx="11247120" cy="305503"/>
          </a:xfrm>
          <a:prstGeom prst="rect">
            <a:avLst/>
          </a:prstGeom>
          <a:noFill/>
        </p:spPr>
        <p:txBody>
          <a:bodyPr wrap="square" anchor="t" lIns="0" rIns="0" tIns="0" bIns="0">
            <a:spAutoFit/>
          </a:bodyPr>
          <a:lstStyle/>
          <a:p>
            <a:pPr>
              <a:spcBef>
                <a:spcPts val="0"/>
              </a:spcBef>
              <a:spcAft>
                <a:spcPts val="461"/>
              </a:spcAft>
            </a:pPr>
            <a:r>
              <a:rPr sz="1200" b="1" i="0">
                <a:solidFill>
                  <a:srgbClr val="000000"/>
                </a:solidFill>
                <a:latin typeface="Nirmala UI"/>
              </a:rPr>
              <a:t>Follow along (Windows) — key steps:</a:t>
            </a:r>
          </a:p>
        </p:txBody>
      </p:sp>
      <p:sp>
        <p:nvSpPr>
          <p:cNvPr id="10" name="TextBox 9"/>
          <p:cNvSpPr txBox="1"/>
          <p:nvPr/>
        </p:nvSpPr>
        <p:spPr>
          <a:xfrm>
            <a:off x="457200" y="3024906"/>
            <a:ext cx="11247120" cy="305503"/>
          </a:xfrm>
          <a:prstGeom prst="rect">
            <a:avLst/>
          </a:prstGeom>
          <a:noFill/>
        </p:spPr>
        <p:txBody>
          <a:bodyPr wrap="square" anchor="t" lIns="0" rIns="0" tIns="0" bIns="0">
            <a:spAutoFit/>
          </a:bodyPr>
          <a:lstStyle/>
          <a:p>
            <a:pPr>
              <a:spcBef>
                <a:spcPts val="0"/>
              </a:spcBef>
              <a:spcAft>
                <a:spcPts val="461"/>
              </a:spcAft>
            </a:pPr>
            <a:r>
              <a:rPr sz="1200" b="1" i="0">
                <a:solidFill>
                  <a:srgbClr val="000000"/>
                </a:solidFill>
                <a:latin typeface="Nirmala UI"/>
              </a:rPr>
              <a:t>Step 1 — Create the covering index</a:t>
            </a:r>
          </a:p>
        </p:txBody>
      </p:sp>
      <p:sp>
        <p:nvSpPr>
          <p:cNvPr id="11" name="TextBox 10"/>
          <p:cNvSpPr txBox="1"/>
          <p:nvPr/>
        </p:nvSpPr>
        <p:spPr>
          <a:xfrm>
            <a:off x="457200" y="3421849"/>
            <a:ext cx="11247120" cy="766454"/>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  </a:t>
            </a:r>
            <a:r>
              <a:rPr sz="1200" b="1" i="0">
                <a:solidFill>
                  <a:srgbClr val="000000"/>
                </a:solidFill>
                <a:latin typeface="Nirmala UI"/>
              </a:rPr>
              <a:t>Do:</a:t>
            </a:r>
            <a:r>
              <a:rPr sz="1200" b="0" i="0">
                <a:solidFill>
                  <a:srgbClr val="000000"/>
                </a:solidFill>
                <a:latin typeface="Nirmala UI"/>
              </a:rPr>
              <a:t> Run: ``</a:t>
            </a:r>
            <a:r>
              <a:rPr sz="1200" b="0" i="0">
                <a:solidFill>
                  <a:srgbClr val="000000"/>
                </a:solidFill>
                <a:latin typeface="Consolas"/>
              </a:rPr>
              <a:t>javascript db.products.createIndex( { category: 1, price: 1, name: 1 }, { name: "idx_products_category_price_name" } ) </a:t>
            </a:r>
            <a:r>
              <a:rPr sz="1200" b="0" i="0">
                <a:solidFill>
                  <a:srgbClr val="000000"/>
                </a:solidFill>
                <a:latin typeface="Nirmala UI"/>
              </a:rPr>
              <a:t>``</a:t>
            </a:r>
          </a:p>
          <a:p>
            <a:pPr>
              <a:spcBef>
                <a:spcPts val="0"/>
              </a:spcBef>
              <a:spcAft>
                <a:spcPts val="461"/>
              </a:spcAft>
            </a:pPr>
            <a:r>
              <a:rPr sz="1200" b="0" i="0">
                <a:solidFill>
                  <a:srgbClr val="000000"/>
                </a:solidFill>
                <a:latin typeface="Nirmala UI"/>
              </a:rPr>
              <a:t>•  </a:t>
            </a:r>
            <a:r>
              <a:rPr sz="1200" b="1" i="0">
                <a:solidFill>
                  <a:srgbClr val="000000"/>
                </a:solidFill>
                <a:latin typeface="Nirmala UI"/>
              </a:rPr>
              <a:t>Expected:</a:t>
            </a:r>
            <a:r>
              <a:rPr sz="1200" b="0" i="0">
                <a:solidFill>
                  <a:srgbClr val="000000"/>
                </a:solidFill>
                <a:latin typeface="Nirmala UI"/>
              </a:rPr>
              <a:t> Index exists. </a:t>
            </a:r>
            <a:r>
              <a:rPr sz="1200" b="0" i="0">
                <a:solidFill>
                  <a:srgbClr val="000000"/>
                </a:solidFill>
                <a:latin typeface="Consolas"/>
              </a:rPr>
              <a:t>_id</a:t>
            </a:r>
            <a:r>
              <a:rPr sz="1200" b="0" i="0">
                <a:solidFill>
                  <a:srgbClr val="000000"/>
                </a:solidFill>
                <a:latin typeface="Nirmala UI"/>
              </a:rPr>
              <a:t> is not in this key.</a:t>
            </a:r>
          </a:p>
        </p:txBody>
      </p:sp>
      <p:sp>
        <p:nvSpPr>
          <p:cNvPr id="12" name="TextBox 11"/>
          <p:cNvSpPr txBox="1"/>
          <p:nvPr/>
        </p:nvSpPr>
        <p:spPr>
          <a:xfrm>
            <a:off x="457200" y="4279743"/>
            <a:ext cx="11247120" cy="305503"/>
          </a:xfrm>
          <a:prstGeom prst="rect">
            <a:avLst/>
          </a:prstGeom>
          <a:noFill/>
        </p:spPr>
        <p:txBody>
          <a:bodyPr wrap="square" anchor="t" lIns="0" rIns="0" tIns="0" bIns="0">
            <a:spAutoFit/>
          </a:bodyPr>
          <a:lstStyle/>
          <a:p>
            <a:pPr>
              <a:spcBef>
                <a:spcPts val="0"/>
              </a:spcBef>
              <a:spcAft>
                <a:spcPts val="461"/>
              </a:spcAft>
            </a:pPr>
            <a:r>
              <a:rPr sz="1200" b="1" i="0">
                <a:solidFill>
                  <a:srgbClr val="000000"/>
                </a:solidFill>
                <a:latin typeface="Nirmala UI"/>
              </a:rPr>
              <a:t>Step 2 — Query that can be covered</a:t>
            </a:r>
          </a:p>
        </p:txBody>
      </p:sp>
      <p:sp>
        <p:nvSpPr>
          <p:cNvPr id="13" name="TextBox 12"/>
          <p:cNvSpPr txBox="1"/>
          <p:nvPr/>
        </p:nvSpPr>
        <p:spPr>
          <a:xfrm>
            <a:off x="457200" y="4676686"/>
            <a:ext cx="11247120" cy="766454"/>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  </a:t>
            </a:r>
            <a:r>
              <a:rPr sz="1200" b="1" i="0">
                <a:solidFill>
                  <a:srgbClr val="000000"/>
                </a:solidFill>
                <a:latin typeface="Nirmala UI"/>
              </a:rPr>
              <a:t>Do:</a:t>
            </a:r>
            <a:r>
              <a:rPr sz="1200" b="0" i="0">
                <a:solidFill>
                  <a:srgbClr val="000000"/>
                </a:solidFill>
                <a:latin typeface="Nirmala UI"/>
              </a:rPr>
              <a:t> Run: ``</a:t>
            </a:r>
            <a:r>
              <a:rPr sz="1200" b="0" i="0">
                <a:solidFill>
                  <a:srgbClr val="000000"/>
                </a:solidFill>
                <a:latin typeface="Consolas"/>
              </a:rPr>
              <a:t>javascript db.products.find( { category: "BOOK" }, { _id: 0, name: 1, price: 1 } ).explain("executionStats") </a:t>
            </a:r>
            <a:r>
              <a:rPr sz="1200" b="0" i="0">
                <a:solidFill>
                  <a:srgbClr val="000000"/>
                </a:solidFill>
                <a:latin typeface="Nirmala UI"/>
              </a:rPr>
              <a:t>``</a:t>
            </a:r>
          </a:p>
          <a:p>
            <a:pPr>
              <a:spcBef>
                <a:spcPts val="0"/>
              </a:spcBef>
              <a:spcAft>
                <a:spcPts val="461"/>
              </a:spcAft>
            </a:pPr>
            <a:r>
              <a:rPr sz="1200" b="0" i="0">
                <a:solidFill>
                  <a:srgbClr val="000000"/>
                </a:solidFill>
                <a:latin typeface="Nirmala UI"/>
              </a:rPr>
              <a:t>•  </a:t>
            </a:r>
            <a:r>
              <a:rPr sz="1200" b="1" i="0">
                <a:solidFill>
                  <a:srgbClr val="000000"/>
                </a:solidFill>
                <a:latin typeface="Nirmala UI"/>
              </a:rPr>
              <a:t>Expected:</a:t>
            </a:r>
            <a:r>
              <a:rPr sz="1200" b="0" i="0">
                <a:solidFill>
                  <a:srgbClr val="000000"/>
                </a:solidFill>
                <a:latin typeface="Nirmala UI"/>
              </a:rPr>
              <a:t> Look for IXSCAN on idx</a:t>
            </a:r>
            <a:r>
              <a:rPr sz="1200" b="0" i="1">
                <a:solidFill>
                  <a:srgbClr val="000000"/>
                </a:solidFill>
                <a:latin typeface="Nirmala UI"/>
              </a:rPr>
              <a:t>products</a:t>
            </a:r>
            <a:r>
              <a:rPr sz="1200" b="0" i="0">
                <a:solidFill>
                  <a:srgbClr val="000000"/>
                </a:solidFill>
                <a:latin typeface="Nirmala UI"/>
              </a:rPr>
              <a:t>category</a:t>
            </a:r>
            <a:r>
              <a:rPr sz="1200" b="0" i="1">
                <a:solidFill>
                  <a:srgbClr val="000000"/>
                </a:solidFill>
                <a:latin typeface="Nirmala UI"/>
              </a:rPr>
              <a:t>price</a:t>
            </a:r>
            <a:r>
              <a:rPr sz="1200" b="0" i="0">
                <a:solidFill>
                  <a:srgbClr val="000000"/>
                </a:solidFill>
                <a:latin typeface="Nirmala UI"/>
              </a:rPr>
              <a:t>name and </a:t>
            </a:r>
            <a:r>
              <a:rPr sz="1200" b="1" i="0">
                <a:solidFill>
                  <a:srgbClr val="000000"/>
                </a:solidFill>
                <a:latin typeface="Nirmala UI"/>
              </a:rPr>
              <a:t>no FETCH</a:t>
            </a:r>
            <a:r>
              <a:rPr sz="1200" b="0" i="0">
                <a:solidFill>
                  <a:srgbClr val="000000"/>
                </a:solidFill>
                <a:latin typeface="Nirmala UI"/>
              </a:rPr>
              <a:t> (or a covering projection stage). totalDocsExamined is often 0 when covered.</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148</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LAB 6.8 — STEPS 3–4</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365621"/>
            <a:ext cx="237744" cy="237744"/>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65621"/>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347333"/>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749669"/>
            <a:ext cx="11247120" cy="435395"/>
          </a:xfrm>
          <a:prstGeom prst="rect">
            <a:avLst/>
          </a:prstGeom>
          <a:noFill/>
        </p:spPr>
        <p:txBody>
          <a:bodyPr wrap="square" anchor="t" lIns="0" rIns="0" tIns="0" bIns="0">
            <a:spAutoFit/>
          </a:bodyPr>
          <a:lstStyle/>
          <a:p>
            <a:pPr>
              <a:spcBef>
                <a:spcPts val="0"/>
              </a:spcBef>
              <a:spcAft>
                <a:spcPts val="692"/>
              </a:spcAft>
            </a:pPr>
            <a:r>
              <a:rPr sz="1800" b="1" i="0">
                <a:solidFill>
                  <a:srgbClr val="000000"/>
                </a:solidFill>
                <a:latin typeface="Nirmala UI"/>
              </a:rPr>
              <a:t>Follow along (Windows) — key steps:</a:t>
            </a:r>
          </a:p>
        </p:txBody>
      </p:sp>
      <p:sp>
        <p:nvSpPr>
          <p:cNvPr id="8" name="TextBox 7"/>
          <p:cNvSpPr txBox="1"/>
          <p:nvPr/>
        </p:nvSpPr>
        <p:spPr>
          <a:xfrm>
            <a:off x="457200" y="2276504"/>
            <a:ext cx="11247120" cy="435395"/>
          </a:xfrm>
          <a:prstGeom prst="rect">
            <a:avLst/>
          </a:prstGeom>
          <a:noFill/>
        </p:spPr>
        <p:txBody>
          <a:bodyPr wrap="square" anchor="t" lIns="0" rIns="0" tIns="0" bIns="0">
            <a:spAutoFit/>
          </a:bodyPr>
          <a:lstStyle/>
          <a:p>
            <a:pPr>
              <a:spcBef>
                <a:spcPts val="0"/>
              </a:spcBef>
              <a:spcAft>
                <a:spcPts val="692"/>
              </a:spcAft>
            </a:pPr>
            <a:r>
              <a:rPr sz="1800" b="1" i="0">
                <a:solidFill>
                  <a:srgbClr val="000000"/>
                </a:solidFill>
                <a:latin typeface="Nirmala UI"/>
              </a:rPr>
              <a:t>Step 3 — Break coverage</a:t>
            </a:r>
          </a:p>
        </p:txBody>
      </p:sp>
      <p:sp>
        <p:nvSpPr>
          <p:cNvPr id="9" name="TextBox 8"/>
          <p:cNvSpPr txBox="1"/>
          <p:nvPr/>
        </p:nvSpPr>
        <p:spPr>
          <a:xfrm>
            <a:off x="457200" y="2803339"/>
            <a:ext cx="11247120" cy="1126822"/>
          </a:xfrm>
          <a:prstGeom prst="rect">
            <a:avLst/>
          </a:prstGeom>
          <a:noFill/>
        </p:spPr>
        <p:txBody>
          <a:bodyPr wrap="square" anchor="t" lIns="0" rIns="0" tIns="0" bIns="0">
            <a:spAutoFit/>
          </a:bodyPr>
          <a:lstStyle/>
          <a:p>
            <a:pPr>
              <a:spcBef>
                <a:spcPts val="0"/>
              </a:spcBef>
              <a:spcAft>
                <a:spcPts val="692"/>
              </a:spcAft>
            </a:pPr>
            <a:r>
              <a:rPr sz="1800" b="0" i="0">
                <a:solidFill>
                  <a:srgbClr val="000000"/>
                </a:solidFill>
                <a:latin typeface="Nirmala UI"/>
              </a:rPr>
              <a:t>•  </a:t>
            </a:r>
            <a:r>
              <a:rPr sz="1800" b="1" i="0">
                <a:solidFill>
                  <a:srgbClr val="000000"/>
                </a:solidFill>
                <a:latin typeface="Nirmala UI"/>
              </a:rPr>
              <a:t>Do:</a:t>
            </a:r>
            <a:r>
              <a:rPr sz="1800" b="0" i="0">
                <a:solidFill>
                  <a:srgbClr val="000000"/>
                </a:solidFill>
                <a:latin typeface="Nirmala UI"/>
              </a:rPr>
              <a:t> Re-explain the same filter with </a:t>
            </a:r>
            <a:r>
              <a:rPr sz="1800" b="0" i="0">
                <a:solidFill>
                  <a:srgbClr val="000000"/>
                </a:solidFill>
                <a:latin typeface="Consolas"/>
              </a:rPr>
              <a:t>{ name: 1, price: 1 }</a:t>
            </a:r>
            <a:r>
              <a:rPr sz="1800" b="0" i="0">
                <a:solidFill>
                  <a:srgbClr val="000000"/>
                </a:solidFill>
                <a:latin typeface="Nirmala UI"/>
              </a:rPr>
              <a:t> ( </a:t>
            </a:r>
            <a:r>
              <a:rPr sz="1800" b="0" i="0">
                <a:solidFill>
                  <a:srgbClr val="000000"/>
                </a:solidFill>
                <a:latin typeface="Consolas"/>
              </a:rPr>
              <a:t>_id</a:t>
            </a:r>
            <a:r>
              <a:rPr sz="1800" b="0" i="0">
                <a:solidFill>
                  <a:srgbClr val="000000"/>
                </a:solidFill>
                <a:latin typeface="Nirmala UI"/>
              </a:rPr>
              <a:t> included) and with </a:t>
            </a:r>
            <a:r>
              <a:rPr sz="1800" b="0" i="0">
                <a:solidFill>
                  <a:srgbClr val="000000"/>
                </a:solidFill>
                <a:latin typeface="Consolas"/>
              </a:rPr>
              <a:t>{ name: 1, tags: 1, _id: 0 }</a:t>
            </a:r>
            <a:r>
              <a:rPr sz="1800" b="0" i="0">
                <a:solidFill>
                  <a:srgbClr val="000000"/>
                </a:solidFill>
                <a:latin typeface="Nirmala UI"/>
              </a:rPr>
              <a:t>.</a:t>
            </a:r>
          </a:p>
          <a:p>
            <a:pPr>
              <a:spcBef>
                <a:spcPts val="0"/>
              </a:spcBef>
              <a:spcAft>
                <a:spcPts val="692"/>
              </a:spcAft>
            </a:pPr>
            <a:r>
              <a:rPr sz="1800" b="0" i="0">
                <a:solidFill>
                  <a:srgbClr val="000000"/>
                </a:solidFill>
                <a:latin typeface="Nirmala UI"/>
              </a:rPr>
              <a:t>•  </a:t>
            </a:r>
            <a:r>
              <a:rPr sz="1800" b="1" i="0">
                <a:solidFill>
                  <a:srgbClr val="000000"/>
                </a:solidFill>
                <a:latin typeface="Nirmala UI"/>
              </a:rPr>
              <a:t>Expected:</a:t>
            </a:r>
            <a:r>
              <a:rPr sz="1800" b="0" i="0">
                <a:solidFill>
                  <a:srgbClr val="000000"/>
                </a:solidFill>
                <a:latin typeface="Nirmala UI"/>
              </a:rPr>
              <a:t> Including </a:t>
            </a:r>
            <a:r>
              <a:rPr sz="1800" b="0" i="0">
                <a:solidFill>
                  <a:srgbClr val="000000"/>
                </a:solidFill>
                <a:latin typeface="Consolas"/>
              </a:rPr>
              <a:t>_id</a:t>
            </a:r>
            <a:r>
              <a:rPr sz="1800" b="0" i="0">
                <a:solidFill>
                  <a:srgbClr val="000000"/>
                </a:solidFill>
                <a:latin typeface="Nirmala UI"/>
              </a:rPr>
              <a:t> or tags should introduce FETCH / document examination.</a:t>
            </a:r>
          </a:p>
        </p:txBody>
      </p:sp>
      <p:sp>
        <p:nvSpPr>
          <p:cNvPr id="10" name="TextBox 9"/>
          <p:cNvSpPr txBox="1"/>
          <p:nvPr/>
        </p:nvSpPr>
        <p:spPr>
          <a:xfrm>
            <a:off x="457200" y="4021601"/>
            <a:ext cx="11247120" cy="435395"/>
          </a:xfrm>
          <a:prstGeom prst="rect">
            <a:avLst/>
          </a:prstGeom>
          <a:noFill/>
        </p:spPr>
        <p:txBody>
          <a:bodyPr wrap="square" anchor="t" lIns="0" rIns="0" tIns="0" bIns="0">
            <a:spAutoFit/>
          </a:bodyPr>
          <a:lstStyle/>
          <a:p>
            <a:pPr>
              <a:spcBef>
                <a:spcPts val="0"/>
              </a:spcBef>
              <a:spcAft>
                <a:spcPts val="692"/>
              </a:spcAft>
            </a:pPr>
            <a:r>
              <a:rPr sz="1800" b="1" i="0">
                <a:solidFill>
                  <a:srgbClr val="000000"/>
                </a:solidFill>
                <a:latin typeface="Nirmala UI"/>
              </a:rPr>
              <a:t>Step 4 — Write the rule</a:t>
            </a:r>
          </a:p>
        </p:txBody>
      </p:sp>
      <p:sp>
        <p:nvSpPr>
          <p:cNvPr id="11" name="TextBox 10"/>
          <p:cNvSpPr txBox="1"/>
          <p:nvPr/>
        </p:nvSpPr>
        <p:spPr>
          <a:xfrm>
            <a:off x="457200" y="4548436"/>
            <a:ext cx="11247120" cy="1126822"/>
          </a:xfrm>
          <a:prstGeom prst="rect">
            <a:avLst/>
          </a:prstGeom>
          <a:noFill/>
        </p:spPr>
        <p:txBody>
          <a:bodyPr wrap="square" anchor="t" lIns="0" rIns="0" tIns="0" bIns="0">
            <a:spAutoFit/>
          </a:bodyPr>
          <a:lstStyle/>
          <a:p>
            <a:pPr>
              <a:spcBef>
                <a:spcPts val="0"/>
              </a:spcBef>
              <a:spcAft>
                <a:spcPts val="692"/>
              </a:spcAft>
            </a:pPr>
            <a:r>
              <a:rPr sz="1800" b="0" i="0">
                <a:solidFill>
                  <a:srgbClr val="000000"/>
                </a:solidFill>
                <a:latin typeface="Nirmala UI"/>
              </a:rPr>
              <a:t>•  </a:t>
            </a:r>
            <a:r>
              <a:rPr sz="1800" b="1" i="0">
                <a:solidFill>
                  <a:srgbClr val="000000"/>
                </a:solidFill>
                <a:latin typeface="Nirmala UI"/>
              </a:rPr>
              <a:t>Do:</a:t>
            </a:r>
            <a:r>
              <a:rPr sz="1800" b="0" i="0">
                <a:solidFill>
                  <a:srgbClr val="000000"/>
                </a:solidFill>
                <a:latin typeface="Nirmala UI"/>
              </a:rPr>
              <a:t> One sentence: when is this catalog projection covered, and how do you confirm?</a:t>
            </a:r>
          </a:p>
          <a:p>
            <a:pPr>
              <a:spcBef>
                <a:spcPts val="0"/>
              </a:spcBef>
              <a:spcAft>
                <a:spcPts val="692"/>
              </a:spcAft>
            </a:pPr>
            <a:r>
              <a:rPr sz="1800" b="0" i="0">
                <a:solidFill>
                  <a:srgbClr val="000000"/>
                </a:solidFill>
                <a:latin typeface="Nirmala UI"/>
              </a:rPr>
              <a:t>•  </a:t>
            </a:r>
            <a:r>
              <a:rPr sz="1800" b="1" i="0">
                <a:solidFill>
                  <a:srgbClr val="000000"/>
                </a:solidFill>
                <a:latin typeface="Nirmala UI"/>
              </a:rPr>
              <a:t>Expected:</a:t>
            </a:r>
            <a:r>
              <a:rPr sz="1800" b="0" i="0">
                <a:solidFill>
                  <a:srgbClr val="000000"/>
                </a:solidFill>
                <a:latin typeface="Nirmala UI"/>
              </a:rPr>
              <a:t> Covered when filter and output fields (including </a:t>
            </a:r>
            <a:r>
              <a:rPr sz="1800" b="0" i="0">
                <a:solidFill>
                  <a:srgbClr val="000000"/>
                </a:solidFill>
                <a:latin typeface="Consolas"/>
              </a:rPr>
              <a:t>_id</a:t>
            </a:r>
            <a:r>
              <a:rPr sz="1800" b="0" i="0">
                <a:solidFill>
                  <a:srgbClr val="000000"/>
                </a:solidFill>
                <a:latin typeface="Nirmala UI"/>
              </a:rPr>
              <a:t> handling) live in the index; confirm with explain, not by guessing.</a:t>
            </a:r>
          </a:p>
        </p:txBody>
      </p:sp>
      <p:sp>
        <p:nvSpPr>
          <p:cNvPr id="12" name="Rectangle 1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5"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149</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LAB 6.9 — TUNE AN AGGREGATION PIPELINE</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488458"/>
            <a:ext cx="237744" cy="237744"/>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8845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47017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872506"/>
            <a:ext cx="11247120" cy="1679916"/>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Time:</a:t>
            </a:r>
            <a:r>
              <a:rPr sz="2000" b="0" i="0">
                <a:solidFill>
                  <a:srgbClr val="000000"/>
                </a:solidFill>
                <a:latin typeface="Nirmala UI"/>
              </a:rPr>
              <a:t> 25 min</a:t>
            </a:r>
          </a:p>
          <a:p>
            <a:pPr>
              <a:spcBef>
                <a:spcPts val="0"/>
              </a:spcBef>
              <a:spcAft>
                <a:spcPts val="769"/>
              </a:spcAft>
            </a:pPr>
            <a:r>
              <a:rPr sz="2000" b="0" i="0">
                <a:solidFill>
                  <a:srgbClr val="000000"/>
                </a:solidFill>
                <a:latin typeface="Nirmala UI"/>
              </a:rPr>
              <a:t>•  </a:t>
            </a:r>
            <a:r>
              <a:rPr sz="2000" b="0" i="0">
                <a:solidFill>
                  <a:srgbClr val="000000"/>
                </a:solidFill>
                <a:latin typeface="Nirmala UI"/>
              </a:rPr>
              <a:t>Index paid-order $match/$sort; explain why $group still needs memory.</a:t>
            </a:r>
          </a:p>
          <a:p>
            <a:pPr>
              <a:spcBef>
                <a:spcPts val="0"/>
              </a:spcBef>
              <a:spcAft>
                <a:spcPts val="769"/>
              </a:spcAft>
            </a:pPr>
            <a:r>
              <a:rPr sz="2000" b="0" i="0">
                <a:solidFill>
                  <a:srgbClr val="000000"/>
                </a:solidFill>
                <a:latin typeface="Nirmala UI"/>
              </a:rPr>
              <a:t>•  </a:t>
            </a:r>
            <a:r>
              <a:rPr sz="2000" b="1" i="0">
                <a:solidFill>
                  <a:srgbClr val="000000"/>
                </a:solidFill>
                <a:latin typeface="Nirmala UI"/>
              </a:rPr>
              <a:t>Lab guide:</a:t>
            </a:r>
            <a:r>
              <a:rPr sz="2000" b="0" i="0">
                <a:solidFill>
                  <a:srgbClr val="000000"/>
                </a:solidFill>
                <a:latin typeface="Nirmala UI"/>
              </a:rPr>
              <a:t> </a:t>
            </a:r>
            <a:r>
              <a:rPr sz="2000" b="0" i="0">
                <a:solidFill>
                  <a:srgbClr val="000000"/>
                </a:solidFill>
                <a:latin typeface="Consolas"/>
              </a:rPr>
              <a:t>Lab 6.9</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150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LAB 6.9 — STEPS 1–2</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597739"/>
            <a:ext cx="237744" cy="237744"/>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97739"/>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579451"/>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Rounded Rectangle 6"/>
          <p:cNvSpPr/>
          <p:nvPr/>
        </p:nvSpPr>
        <p:spPr>
          <a:xfrm>
            <a:off x="457200" y="1981787"/>
            <a:ext cx="11247120" cy="554736"/>
          </a:xfrm>
          <a:prstGeom prst="roundRect">
            <a:avLst>
              <a:gd name="adj" fmla="val 6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981787"/>
            <a:ext cx="11027664" cy="554736"/>
          </a:xfrm>
          <a:prstGeom prst="rect">
            <a:avLst/>
          </a:prstGeom>
          <a:noFill/>
        </p:spPr>
        <p:txBody>
          <a:bodyPr wrap="square" anchor="ctr" lIns="0" rIns="0" tIns="0" bIns="0">
            <a:spAutoFit/>
          </a:bodyPr>
          <a:lstStyle/>
          <a:p>
            <a:r>
              <a:rPr sz="1200" b="1" i="0">
                <a:solidFill>
                  <a:srgbClr val="D1282E"/>
                </a:solidFill>
                <a:latin typeface="Nirmala UI"/>
              </a:rPr>
              <a:t>LAB GUIDE   </a:t>
            </a:r>
            <a:r>
              <a:rPr sz="2000" b="0" i="0">
                <a:solidFill>
                  <a:srgbClr val="000000"/>
                </a:solidFill>
                <a:latin typeface="Consolas"/>
              </a:rPr>
              <a:t>Lab 6.9</a:t>
            </a:r>
          </a:p>
        </p:txBody>
      </p:sp>
      <p:sp>
        <p:nvSpPr>
          <p:cNvPr id="9" name="TextBox 8"/>
          <p:cNvSpPr txBox="1"/>
          <p:nvPr/>
        </p:nvSpPr>
        <p:spPr>
          <a:xfrm>
            <a:off x="457200" y="2627963"/>
            <a:ext cx="11247120" cy="305503"/>
          </a:xfrm>
          <a:prstGeom prst="rect">
            <a:avLst/>
          </a:prstGeom>
          <a:noFill/>
        </p:spPr>
        <p:txBody>
          <a:bodyPr wrap="square" anchor="t" lIns="0" rIns="0" tIns="0" bIns="0">
            <a:spAutoFit/>
          </a:bodyPr>
          <a:lstStyle/>
          <a:p>
            <a:pPr>
              <a:spcBef>
                <a:spcPts val="0"/>
              </a:spcBef>
              <a:spcAft>
                <a:spcPts val="461"/>
              </a:spcAft>
            </a:pPr>
            <a:r>
              <a:rPr sz="1200" b="1" i="0">
                <a:solidFill>
                  <a:srgbClr val="000000"/>
                </a:solidFill>
                <a:latin typeface="Nirmala UI"/>
              </a:rPr>
              <a:t>Follow along (Windows) — key steps:</a:t>
            </a:r>
          </a:p>
        </p:txBody>
      </p:sp>
      <p:sp>
        <p:nvSpPr>
          <p:cNvPr id="10" name="TextBox 9"/>
          <p:cNvSpPr txBox="1"/>
          <p:nvPr/>
        </p:nvSpPr>
        <p:spPr>
          <a:xfrm>
            <a:off x="457200" y="3024906"/>
            <a:ext cx="11247120" cy="305503"/>
          </a:xfrm>
          <a:prstGeom prst="rect">
            <a:avLst/>
          </a:prstGeom>
          <a:noFill/>
        </p:spPr>
        <p:txBody>
          <a:bodyPr wrap="square" anchor="t" lIns="0" rIns="0" tIns="0" bIns="0">
            <a:spAutoFit/>
          </a:bodyPr>
          <a:lstStyle/>
          <a:p>
            <a:pPr>
              <a:spcBef>
                <a:spcPts val="0"/>
              </a:spcBef>
              <a:spcAft>
                <a:spcPts val="461"/>
              </a:spcAft>
            </a:pPr>
            <a:r>
              <a:rPr sz="1200" b="1" i="0">
                <a:solidFill>
                  <a:srgbClr val="000000"/>
                </a:solidFill>
                <a:latin typeface="Nirmala UI"/>
              </a:rPr>
              <a:t>Step 1 — Baseline pipeline explain</a:t>
            </a:r>
          </a:p>
        </p:txBody>
      </p:sp>
      <p:sp>
        <p:nvSpPr>
          <p:cNvPr id="11" name="TextBox 10"/>
          <p:cNvSpPr txBox="1"/>
          <p:nvPr/>
        </p:nvSpPr>
        <p:spPr>
          <a:xfrm>
            <a:off x="457200" y="3421849"/>
            <a:ext cx="11247120" cy="766454"/>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  </a:t>
            </a:r>
            <a:r>
              <a:rPr sz="1200" b="1" i="0">
                <a:solidFill>
                  <a:srgbClr val="000000"/>
                </a:solidFill>
                <a:latin typeface="Nirmala UI"/>
              </a:rPr>
              <a:t>Do:</a:t>
            </a:r>
            <a:r>
              <a:rPr sz="1200" b="0" i="0">
                <a:solidFill>
                  <a:srgbClr val="000000"/>
                </a:solidFill>
                <a:latin typeface="Nirmala UI"/>
              </a:rPr>
              <a:t> Run: ```javascript db.orders.explain("executionStats").aggregate([ { $match: { paymentStatus: "PAID" } }, { $sort: { createdAt: -1 } }, { $group: { _id: "$fulfillmentStatus", revenue: { $sum: "$total" }, orderCount: { $s</a:t>
            </a:r>
          </a:p>
          <a:p>
            <a:pPr>
              <a:spcBef>
                <a:spcPts val="0"/>
              </a:spcBef>
              <a:spcAft>
                <a:spcPts val="461"/>
              </a:spcAft>
            </a:pPr>
            <a:r>
              <a:rPr sz="1200" b="0" i="0">
                <a:solidFill>
                  <a:srgbClr val="000000"/>
                </a:solidFill>
                <a:latin typeface="Nirmala UI"/>
              </a:rPr>
              <a:t>•  </a:t>
            </a:r>
            <a:r>
              <a:rPr sz="1200" b="1" i="0">
                <a:solidFill>
                  <a:srgbClr val="000000"/>
                </a:solidFill>
                <a:latin typeface="Nirmala UI"/>
              </a:rPr>
              <a:t>Expected:</a:t>
            </a:r>
            <a:r>
              <a:rPr sz="1200" b="0" i="0">
                <a:solidFill>
                  <a:srgbClr val="000000"/>
                </a:solidFill>
                <a:latin typeface="Nirmala UI"/>
              </a:rPr>
              <a:t> Record whether $match/$sort used COLLSCAN and whether a sort stage appears. Do not expect $group to use an index.</a:t>
            </a:r>
          </a:p>
        </p:txBody>
      </p:sp>
      <p:sp>
        <p:nvSpPr>
          <p:cNvPr id="12" name="TextBox 11"/>
          <p:cNvSpPr txBox="1"/>
          <p:nvPr/>
        </p:nvSpPr>
        <p:spPr>
          <a:xfrm>
            <a:off x="457200" y="4279743"/>
            <a:ext cx="11247120" cy="305503"/>
          </a:xfrm>
          <a:prstGeom prst="rect">
            <a:avLst/>
          </a:prstGeom>
          <a:noFill/>
        </p:spPr>
        <p:txBody>
          <a:bodyPr wrap="square" anchor="t" lIns="0" rIns="0" tIns="0" bIns="0">
            <a:spAutoFit/>
          </a:bodyPr>
          <a:lstStyle/>
          <a:p>
            <a:pPr>
              <a:spcBef>
                <a:spcPts val="0"/>
              </a:spcBef>
              <a:spcAft>
                <a:spcPts val="461"/>
              </a:spcAft>
            </a:pPr>
            <a:r>
              <a:rPr sz="1200" b="1" i="0">
                <a:solidFill>
                  <a:srgbClr val="000000"/>
                </a:solidFill>
                <a:latin typeface="Nirmala UI"/>
              </a:rPr>
              <a:t>Step 2 — Create a supporting index</a:t>
            </a:r>
          </a:p>
        </p:txBody>
      </p:sp>
      <p:sp>
        <p:nvSpPr>
          <p:cNvPr id="13" name="TextBox 12"/>
          <p:cNvSpPr txBox="1"/>
          <p:nvPr/>
        </p:nvSpPr>
        <p:spPr>
          <a:xfrm>
            <a:off x="457200" y="4676686"/>
            <a:ext cx="11247120" cy="766454"/>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  </a:t>
            </a:r>
            <a:r>
              <a:rPr sz="1200" b="1" i="0">
                <a:solidFill>
                  <a:srgbClr val="000000"/>
                </a:solidFill>
                <a:latin typeface="Nirmala UI"/>
              </a:rPr>
              <a:t>Do:</a:t>
            </a:r>
            <a:r>
              <a:rPr sz="1200" b="0" i="0">
                <a:solidFill>
                  <a:srgbClr val="000000"/>
                </a:solidFill>
                <a:latin typeface="Nirmala UI"/>
              </a:rPr>
              <a:t> Run: ``</a:t>
            </a:r>
            <a:r>
              <a:rPr sz="1200" b="0" i="0">
                <a:solidFill>
                  <a:srgbClr val="000000"/>
                </a:solidFill>
                <a:latin typeface="Consolas"/>
              </a:rPr>
              <a:t>javascript db.orders.createIndex( { paymentStatus: 1, createdAt: -1 }, { name: "idx_orders_payment_created" } ) </a:t>
            </a:r>
            <a:r>
              <a:rPr sz="1200" b="0" i="0">
                <a:solidFill>
                  <a:srgbClr val="000000"/>
                </a:solidFill>
                <a:latin typeface="Nirmala UI"/>
              </a:rPr>
              <a:t>`` Re-explain the same pipeline.</a:t>
            </a:r>
          </a:p>
          <a:p>
            <a:pPr>
              <a:spcBef>
                <a:spcPts val="0"/>
              </a:spcBef>
              <a:spcAft>
                <a:spcPts val="461"/>
              </a:spcAft>
            </a:pPr>
            <a:r>
              <a:rPr sz="1200" b="0" i="0">
                <a:solidFill>
                  <a:srgbClr val="000000"/>
                </a:solidFill>
                <a:latin typeface="Nirmala UI"/>
              </a:rPr>
              <a:t>•  </a:t>
            </a:r>
            <a:r>
              <a:rPr sz="1200" b="1" i="0">
                <a:solidFill>
                  <a:srgbClr val="000000"/>
                </a:solidFill>
                <a:latin typeface="Nirmala UI"/>
              </a:rPr>
              <a:t>Expected:</a:t>
            </a:r>
            <a:r>
              <a:rPr sz="1200" b="0" i="0">
                <a:solidFill>
                  <a:srgbClr val="000000"/>
                </a:solidFill>
                <a:latin typeface="Nirmala UI"/>
              </a:rPr>
              <a:t> Winning plan for the cursor should show IXSCAN on idx</a:t>
            </a:r>
            <a:r>
              <a:rPr sz="1200" b="0" i="1">
                <a:solidFill>
                  <a:srgbClr val="000000"/>
                </a:solidFill>
                <a:latin typeface="Nirmala UI"/>
              </a:rPr>
              <a:t>orders</a:t>
            </a:r>
            <a:r>
              <a:rPr sz="1200" b="0" i="0">
                <a:solidFill>
                  <a:srgbClr val="000000"/>
                </a:solidFill>
                <a:latin typeface="Nirmala UI"/>
              </a:rPr>
              <a:t>payment_created for the match/sort prefix.</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151</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LAB 6.9 — STEPS 3–4</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416580"/>
            <a:ext cx="237744" cy="237744"/>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16580"/>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398292"/>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800628"/>
            <a:ext cx="11247120" cy="392097"/>
          </a:xfrm>
          <a:prstGeom prst="rect">
            <a:avLst/>
          </a:prstGeom>
          <a:noFill/>
        </p:spPr>
        <p:txBody>
          <a:bodyPr wrap="square" anchor="t" lIns="0" rIns="0" tIns="0" bIns="0">
            <a:spAutoFit/>
          </a:bodyPr>
          <a:lstStyle/>
          <a:p>
            <a:pPr>
              <a:spcBef>
                <a:spcPts val="0"/>
              </a:spcBef>
              <a:spcAft>
                <a:spcPts val="615"/>
              </a:spcAft>
            </a:pPr>
            <a:r>
              <a:rPr sz="1600" b="1" i="0">
                <a:solidFill>
                  <a:srgbClr val="000000"/>
                </a:solidFill>
                <a:latin typeface="Nirmala UI"/>
              </a:rPr>
              <a:t>Follow along (Windows) — key steps:</a:t>
            </a:r>
          </a:p>
        </p:txBody>
      </p:sp>
      <p:sp>
        <p:nvSpPr>
          <p:cNvPr id="8" name="TextBox 7"/>
          <p:cNvSpPr txBox="1"/>
          <p:nvPr/>
        </p:nvSpPr>
        <p:spPr>
          <a:xfrm>
            <a:off x="457200" y="2284165"/>
            <a:ext cx="11247120" cy="392097"/>
          </a:xfrm>
          <a:prstGeom prst="rect">
            <a:avLst/>
          </a:prstGeom>
          <a:noFill/>
        </p:spPr>
        <p:txBody>
          <a:bodyPr wrap="square" anchor="t" lIns="0" rIns="0" tIns="0" bIns="0">
            <a:spAutoFit/>
          </a:bodyPr>
          <a:lstStyle/>
          <a:p>
            <a:pPr>
              <a:spcBef>
                <a:spcPts val="0"/>
              </a:spcBef>
              <a:spcAft>
                <a:spcPts val="615"/>
              </a:spcAft>
            </a:pPr>
            <a:r>
              <a:rPr sz="1600" b="1" i="0">
                <a:solidFill>
                  <a:srgbClr val="000000"/>
                </a:solidFill>
                <a:latin typeface="Nirmala UI"/>
              </a:rPr>
              <a:t>Step 3 — Compare statistics</a:t>
            </a:r>
          </a:p>
        </p:txBody>
      </p:sp>
      <p:sp>
        <p:nvSpPr>
          <p:cNvPr id="9" name="TextBox 8"/>
          <p:cNvSpPr txBox="1"/>
          <p:nvPr/>
        </p:nvSpPr>
        <p:spPr>
          <a:xfrm>
            <a:off x="457200" y="2767702"/>
            <a:ext cx="11247120" cy="1274922"/>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  </a:t>
            </a:r>
            <a:r>
              <a:rPr sz="1600" b="1" i="0">
                <a:solidFill>
                  <a:srgbClr val="000000"/>
                </a:solidFill>
                <a:latin typeface="Nirmala UI"/>
              </a:rPr>
              <a:t>Do:</a:t>
            </a:r>
            <a:r>
              <a:rPr sz="1600" b="0" i="0">
                <a:solidFill>
                  <a:srgbClr val="000000"/>
                </a:solidFill>
                <a:latin typeface="Nirmala UI"/>
              </a:rPr>
              <a:t> Compare totalDocsExamined / keys examined before and after. Note nReturned from the group (number of fulfillment statuses).</a:t>
            </a:r>
          </a:p>
          <a:p>
            <a:pPr>
              <a:spcBef>
                <a:spcPts val="0"/>
              </a:spcBef>
              <a:spcAft>
                <a:spcPts val="615"/>
              </a:spcAft>
            </a:pPr>
            <a:r>
              <a:rPr sz="1600" b="0" i="0">
                <a:solidFill>
                  <a:srgbClr val="000000"/>
                </a:solidFill>
                <a:latin typeface="Nirmala UI"/>
              </a:rPr>
              <a:t>•  </a:t>
            </a:r>
            <a:r>
              <a:rPr sz="1600" b="1" i="0">
                <a:solidFill>
                  <a:srgbClr val="000000"/>
                </a:solidFill>
                <a:latin typeface="Nirmala UI"/>
              </a:rPr>
              <a:t>Expected:</a:t>
            </a:r>
            <a:r>
              <a:rPr sz="1600" b="0" i="0">
                <a:solidFill>
                  <a:srgbClr val="000000"/>
                </a:solidFill>
                <a:latin typeface="Nirmala UI"/>
              </a:rPr>
              <a:t> Examined counts should drop or the stage should switch from COLLSCAN to IXSCAN. Group output still has a few buckets (SHIPPED, DELIVERED, and similar).</a:t>
            </a:r>
          </a:p>
        </p:txBody>
      </p:sp>
      <p:sp>
        <p:nvSpPr>
          <p:cNvPr id="10" name="TextBox 9"/>
          <p:cNvSpPr txBox="1"/>
          <p:nvPr/>
        </p:nvSpPr>
        <p:spPr>
          <a:xfrm>
            <a:off x="457200" y="4134064"/>
            <a:ext cx="11247120" cy="392097"/>
          </a:xfrm>
          <a:prstGeom prst="rect">
            <a:avLst/>
          </a:prstGeom>
          <a:noFill/>
        </p:spPr>
        <p:txBody>
          <a:bodyPr wrap="square" anchor="t" lIns="0" rIns="0" tIns="0" bIns="0">
            <a:spAutoFit/>
          </a:bodyPr>
          <a:lstStyle/>
          <a:p>
            <a:pPr>
              <a:spcBef>
                <a:spcPts val="0"/>
              </a:spcBef>
              <a:spcAft>
                <a:spcPts val="615"/>
              </a:spcAft>
            </a:pPr>
            <a:r>
              <a:rPr sz="1600" b="1" i="0">
                <a:solidFill>
                  <a:srgbClr val="000000"/>
                </a:solidFill>
                <a:latin typeface="Nirmala UI"/>
              </a:rPr>
              <a:t>Step 4 — Explain remaining memory work</a:t>
            </a:r>
          </a:p>
        </p:txBody>
      </p:sp>
      <p:sp>
        <p:nvSpPr>
          <p:cNvPr id="11" name="TextBox 10"/>
          <p:cNvSpPr txBox="1"/>
          <p:nvPr/>
        </p:nvSpPr>
        <p:spPr>
          <a:xfrm>
            <a:off x="457200" y="4617601"/>
            <a:ext cx="11247120" cy="1006698"/>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  </a:t>
            </a:r>
            <a:r>
              <a:rPr sz="1600" b="1" i="0">
                <a:solidFill>
                  <a:srgbClr val="000000"/>
                </a:solidFill>
                <a:latin typeface="Nirmala UI"/>
              </a:rPr>
              <a:t>Do:</a:t>
            </a:r>
            <a:r>
              <a:rPr sz="1600" b="0" i="0">
                <a:solidFill>
                  <a:srgbClr val="000000"/>
                </a:solidFill>
                <a:latin typeface="Nirmala UI"/>
              </a:rPr>
              <a:t> Write which stages still cannot be served by this index.</a:t>
            </a:r>
          </a:p>
          <a:p>
            <a:pPr>
              <a:spcBef>
                <a:spcPts val="0"/>
              </a:spcBef>
              <a:spcAft>
                <a:spcPts val="615"/>
              </a:spcAft>
            </a:pPr>
            <a:r>
              <a:rPr sz="1600" b="0" i="0">
                <a:solidFill>
                  <a:srgbClr val="000000"/>
                </a:solidFill>
                <a:latin typeface="Nirmala UI"/>
              </a:rPr>
              <a:t>•  </a:t>
            </a:r>
            <a:r>
              <a:rPr sz="1600" b="1" i="0">
                <a:solidFill>
                  <a:srgbClr val="000000"/>
                </a:solidFill>
                <a:latin typeface="Nirmala UI"/>
              </a:rPr>
              <a:t>Expected:</a:t>
            </a:r>
            <a:r>
              <a:rPr sz="1600" b="0" i="0">
                <a:solidFill>
                  <a:srgbClr val="000000"/>
                </a:solidFill>
                <a:latin typeface="Nirmala UI"/>
              </a:rPr>
              <a:t> $group (and accumulators) still process documents in the pipeline after the indexed match/sort. Indexing does not remove grouping work.</a:t>
            </a:r>
          </a:p>
        </p:txBody>
      </p:sp>
      <p:sp>
        <p:nvSpPr>
          <p:cNvPr id="12" name="Rectangle 1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5"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152</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LAB 6.10 — AUDIT AND RATIONALIZE INDEXES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488458"/>
            <a:ext cx="237744" cy="237744"/>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8845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47017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872506"/>
            <a:ext cx="11247120" cy="1679916"/>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Time:</a:t>
            </a:r>
            <a:r>
              <a:rPr sz="2000" b="0" i="0">
                <a:solidFill>
                  <a:srgbClr val="000000"/>
                </a:solidFill>
                <a:latin typeface="Nirmala UI"/>
              </a:rPr>
              <a:t> 25 min</a:t>
            </a:r>
          </a:p>
          <a:p>
            <a:pPr>
              <a:spcBef>
                <a:spcPts val="0"/>
              </a:spcBef>
              <a:spcAft>
                <a:spcPts val="769"/>
              </a:spcAft>
            </a:pPr>
            <a:r>
              <a:rPr sz="2000" b="0" i="0">
                <a:solidFill>
                  <a:srgbClr val="000000"/>
                </a:solidFill>
                <a:latin typeface="Nirmala UI"/>
              </a:rPr>
              <a:t>•  </a:t>
            </a:r>
            <a:r>
              <a:rPr sz="2000" b="0" i="0">
                <a:solidFill>
                  <a:srgbClr val="000000"/>
                </a:solidFill>
                <a:latin typeface="Nirmala UI"/>
              </a:rPr>
              <a:t>Inventory indexes, hide one candidate, test, unhide, recommend — do not drop.</a:t>
            </a:r>
          </a:p>
          <a:p>
            <a:pPr>
              <a:spcBef>
                <a:spcPts val="0"/>
              </a:spcBef>
              <a:spcAft>
                <a:spcPts val="769"/>
              </a:spcAft>
            </a:pPr>
            <a:r>
              <a:rPr sz="2000" b="0" i="0">
                <a:solidFill>
                  <a:srgbClr val="000000"/>
                </a:solidFill>
                <a:latin typeface="Nirmala UI"/>
              </a:rPr>
              <a:t>•  </a:t>
            </a:r>
            <a:r>
              <a:rPr sz="2000" b="1" i="0">
                <a:solidFill>
                  <a:srgbClr val="000000"/>
                </a:solidFill>
                <a:latin typeface="Nirmala UI"/>
              </a:rPr>
              <a:t>Lab guide:</a:t>
            </a:r>
            <a:r>
              <a:rPr sz="2000" b="0" i="0">
                <a:solidFill>
                  <a:srgbClr val="000000"/>
                </a:solidFill>
                <a:latin typeface="Nirmala UI"/>
              </a:rPr>
              <a:t> </a:t>
            </a:r>
            <a:r>
              <a:rPr sz="2000" b="0" i="0">
                <a:solidFill>
                  <a:srgbClr val="000000"/>
                </a:solidFill>
                <a:latin typeface="Consolas"/>
              </a:rPr>
              <a:t>Lab 6.10</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153</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LAB 6.10 — STEPS 1–2</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497155"/>
            <a:ext cx="237744" cy="237744"/>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97155"/>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478867"/>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Rounded Rectangle 6"/>
          <p:cNvSpPr/>
          <p:nvPr/>
        </p:nvSpPr>
        <p:spPr>
          <a:xfrm>
            <a:off x="457200" y="1881203"/>
            <a:ext cx="11247120" cy="554736"/>
          </a:xfrm>
          <a:prstGeom prst="roundRect">
            <a:avLst>
              <a:gd name="adj" fmla="val 6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881203"/>
            <a:ext cx="11027664" cy="554736"/>
          </a:xfrm>
          <a:prstGeom prst="rect">
            <a:avLst/>
          </a:prstGeom>
          <a:noFill/>
        </p:spPr>
        <p:txBody>
          <a:bodyPr wrap="square" anchor="ctr" lIns="0" rIns="0" tIns="0" bIns="0">
            <a:spAutoFit/>
          </a:bodyPr>
          <a:lstStyle/>
          <a:p>
            <a:r>
              <a:rPr sz="1200" b="1" i="0">
                <a:solidFill>
                  <a:srgbClr val="D1282E"/>
                </a:solidFill>
                <a:latin typeface="Nirmala UI"/>
              </a:rPr>
              <a:t>LAB GUIDE   </a:t>
            </a:r>
            <a:r>
              <a:rPr sz="2000" b="0" i="0">
                <a:solidFill>
                  <a:srgbClr val="000000"/>
                </a:solidFill>
                <a:latin typeface="Consolas"/>
              </a:rPr>
              <a:t>Lab 6.10</a:t>
            </a:r>
          </a:p>
        </p:txBody>
      </p:sp>
      <p:sp>
        <p:nvSpPr>
          <p:cNvPr id="9" name="TextBox 8"/>
          <p:cNvSpPr txBox="1"/>
          <p:nvPr/>
        </p:nvSpPr>
        <p:spPr>
          <a:xfrm>
            <a:off x="457200" y="2527379"/>
            <a:ext cx="11247120" cy="305503"/>
          </a:xfrm>
          <a:prstGeom prst="rect">
            <a:avLst/>
          </a:prstGeom>
          <a:noFill/>
        </p:spPr>
        <p:txBody>
          <a:bodyPr wrap="square" anchor="t" lIns="0" rIns="0" tIns="0" bIns="0">
            <a:spAutoFit/>
          </a:bodyPr>
          <a:lstStyle/>
          <a:p>
            <a:pPr>
              <a:spcBef>
                <a:spcPts val="0"/>
              </a:spcBef>
              <a:spcAft>
                <a:spcPts val="461"/>
              </a:spcAft>
            </a:pPr>
            <a:r>
              <a:rPr sz="1200" b="1" i="0">
                <a:solidFill>
                  <a:srgbClr val="000000"/>
                </a:solidFill>
                <a:latin typeface="Nirmala UI"/>
              </a:rPr>
              <a:t>Follow along (Windows) — key steps:</a:t>
            </a:r>
          </a:p>
        </p:txBody>
      </p:sp>
      <p:sp>
        <p:nvSpPr>
          <p:cNvPr id="10" name="TextBox 9"/>
          <p:cNvSpPr txBox="1"/>
          <p:nvPr/>
        </p:nvSpPr>
        <p:spPr>
          <a:xfrm>
            <a:off x="457200" y="2924322"/>
            <a:ext cx="11247120" cy="305503"/>
          </a:xfrm>
          <a:prstGeom prst="rect">
            <a:avLst/>
          </a:prstGeom>
          <a:noFill/>
        </p:spPr>
        <p:txBody>
          <a:bodyPr wrap="square" anchor="t" lIns="0" rIns="0" tIns="0" bIns="0">
            <a:spAutoFit/>
          </a:bodyPr>
          <a:lstStyle/>
          <a:p>
            <a:pPr>
              <a:spcBef>
                <a:spcPts val="0"/>
              </a:spcBef>
              <a:spcAft>
                <a:spcPts val="461"/>
              </a:spcAft>
            </a:pPr>
            <a:r>
              <a:rPr sz="1200" b="1" i="0">
                <a:solidFill>
                  <a:srgbClr val="000000"/>
                </a:solidFill>
                <a:latin typeface="Nirmala UI"/>
              </a:rPr>
              <a:t>Step 1 — Inventory</a:t>
            </a:r>
          </a:p>
        </p:txBody>
      </p:sp>
      <p:sp>
        <p:nvSpPr>
          <p:cNvPr id="11" name="TextBox 10"/>
          <p:cNvSpPr txBox="1"/>
          <p:nvPr/>
        </p:nvSpPr>
        <p:spPr>
          <a:xfrm>
            <a:off x="457200" y="3321265"/>
            <a:ext cx="11247120" cy="967622"/>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  </a:t>
            </a:r>
            <a:r>
              <a:rPr sz="1200" b="1" i="0">
                <a:solidFill>
                  <a:srgbClr val="000000"/>
                </a:solidFill>
                <a:latin typeface="Nirmala UI"/>
              </a:rPr>
              <a:t>Do:</a:t>
            </a:r>
            <a:r>
              <a:rPr sz="1200" b="0" i="0">
                <a:solidFill>
                  <a:srgbClr val="000000"/>
                </a:solidFill>
                <a:latin typeface="Nirmala UI"/>
              </a:rPr>
              <a:t> Run for products, customers, orders, reviews, and sessions: ``</a:t>
            </a:r>
            <a:r>
              <a:rPr sz="1200" b="0" i="0">
                <a:solidFill>
                  <a:srgbClr val="000000"/>
                </a:solidFill>
                <a:latin typeface="Consolas"/>
              </a:rPr>
              <a:t>javascript db.getCollectionNames() db.products.getIndexes() db.orders.getIndexes() db.products.aggregate([{ $indexStats: {} }]) </a:t>
            </a:r>
            <a:r>
              <a:rPr sz="1200" b="0" i="0">
                <a:solidFill>
                  <a:srgbClr val="000000"/>
                </a:solidFill>
                <a:latin typeface="Nirmala UI"/>
              </a:rPr>
              <a:t>``</a:t>
            </a:r>
          </a:p>
          <a:p>
            <a:pPr>
              <a:spcBef>
                <a:spcPts val="0"/>
              </a:spcBef>
              <a:spcAft>
                <a:spcPts val="461"/>
              </a:spcAft>
            </a:pPr>
            <a:r>
              <a:rPr sz="1200" b="0" i="0">
                <a:solidFill>
                  <a:srgbClr val="000000"/>
                </a:solidFill>
                <a:latin typeface="Nirmala UI"/>
              </a:rPr>
              <a:t>•  </a:t>
            </a:r>
            <a:r>
              <a:rPr sz="1200" b="1" i="0">
                <a:solidFill>
                  <a:srgbClr val="000000"/>
                </a:solidFill>
                <a:latin typeface="Nirmala UI"/>
              </a:rPr>
              <a:t>Expected:</a:t>
            </a:r>
            <a:r>
              <a:rPr sz="1200" b="0" i="0">
                <a:solidFill>
                  <a:srgbClr val="000000"/>
                </a:solidFill>
                <a:latin typeface="Nirmala UI"/>
              </a:rPr>
              <a:t> A table of indexes by collection. Usage counts may be low or zero depending on process uptime — interpret with that caveat.</a:t>
            </a:r>
          </a:p>
        </p:txBody>
      </p:sp>
      <p:sp>
        <p:nvSpPr>
          <p:cNvPr id="12" name="TextBox 11"/>
          <p:cNvSpPr txBox="1"/>
          <p:nvPr/>
        </p:nvSpPr>
        <p:spPr>
          <a:xfrm>
            <a:off x="457200" y="4380327"/>
            <a:ext cx="11247120" cy="305503"/>
          </a:xfrm>
          <a:prstGeom prst="rect">
            <a:avLst/>
          </a:prstGeom>
          <a:noFill/>
        </p:spPr>
        <p:txBody>
          <a:bodyPr wrap="square" anchor="t" lIns="0" rIns="0" tIns="0" bIns="0">
            <a:spAutoFit/>
          </a:bodyPr>
          <a:lstStyle/>
          <a:p>
            <a:pPr>
              <a:spcBef>
                <a:spcPts val="0"/>
              </a:spcBef>
              <a:spcAft>
                <a:spcPts val="461"/>
              </a:spcAft>
            </a:pPr>
            <a:r>
              <a:rPr sz="1200" b="1" i="0">
                <a:solidFill>
                  <a:srgbClr val="000000"/>
                </a:solidFill>
                <a:latin typeface="Nirmala UI"/>
              </a:rPr>
              <a:t>Step 2 — Spot overlap</a:t>
            </a:r>
          </a:p>
        </p:txBody>
      </p:sp>
      <p:sp>
        <p:nvSpPr>
          <p:cNvPr id="13" name="TextBox 12"/>
          <p:cNvSpPr txBox="1"/>
          <p:nvPr/>
        </p:nvSpPr>
        <p:spPr>
          <a:xfrm>
            <a:off x="457200" y="4777270"/>
            <a:ext cx="11247120" cy="766454"/>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  </a:t>
            </a:r>
            <a:r>
              <a:rPr sz="1200" b="1" i="0">
                <a:solidFill>
                  <a:srgbClr val="000000"/>
                </a:solidFill>
                <a:latin typeface="Nirmala UI"/>
              </a:rPr>
              <a:t>Do:</a:t>
            </a:r>
            <a:r>
              <a:rPr sz="1200" b="0" i="0">
                <a:solidFill>
                  <a:srgbClr val="000000"/>
                </a:solidFill>
                <a:latin typeface="Nirmala UI"/>
              </a:rPr>
              <a:t> On products, compare category-leading indexes (single-field category, category+active+price, category+price+name, partial category+price). Note prefix overlap.</a:t>
            </a:r>
          </a:p>
          <a:p>
            <a:pPr>
              <a:spcBef>
                <a:spcPts val="0"/>
              </a:spcBef>
              <a:spcAft>
                <a:spcPts val="461"/>
              </a:spcAft>
            </a:pPr>
            <a:r>
              <a:rPr sz="1200" b="0" i="0">
                <a:solidFill>
                  <a:srgbClr val="000000"/>
                </a:solidFill>
                <a:latin typeface="Nirmala UI"/>
              </a:rPr>
              <a:t>•  </a:t>
            </a:r>
            <a:r>
              <a:rPr sz="1200" b="1" i="0">
                <a:solidFill>
                  <a:srgbClr val="000000"/>
                </a:solidFill>
                <a:latin typeface="Nirmala UI"/>
              </a:rPr>
              <a:t>Expected:</a:t>
            </a:r>
            <a:r>
              <a:rPr sz="1200" b="0" i="0">
                <a:solidFill>
                  <a:srgbClr val="000000"/>
                </a:solidFill>
                <a:latin typeface="Nirmala UI"/>
              </a:rPr>
              <a:t> At least one overlapping prefix pair is written down.</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154</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LAB 6.10 — STEPS 3–4</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618412"/>
            <a:ext cx="237744" cy="237744"/>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18412"/>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600124"/>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002460"/>
            <a:ext cx="11247120" cy="348800"/>
          </a:xfrm>
          <a:prstGeom prst="rect">
            <a:avLst/>
          </a:prstGeom>
          <a:noFill/>
        </p:spPr>
        <p:txBody>
          <a:bodyPr wrap="square" anchor="t" lIns="0" rIns="0" tIns="0" bIns="0">
            <a:spAutoFit/>
          </a:bodyPr>
          <a:lstStyle/>
          <a:p>
            <a:pPr>
              <a:spcBef>
                <a:spcPts val="0"/>
              </a:spcBef>
              <a:spcAft>
                <a:spcPts val="538"/>
              </a:spcAft>
            </a:pPr>
            <a:r>
              <a:rPr sz="1400" b="1" i="0">
                <a:solidFill>
                  <a:srgbClr val="000000"/>
                </a:solidFill>
                <a:latin typeface="Nirmala UI"/>
              </a:rPr>
              <a:t>Follow along (Windows) — key steps:</a:t>
            </a:r>
          </a:p>
        </p:txBody>
      </p:sp>
      <p:sp>
        <p:nvSpPr>
          <p:cNvPr id="8" name="TextBox 7"/>
          <p:cNvSpPr txBox="1"/>
          <p:nvPr/>
        </p:nvSpPr>
        <p:spPr>
          <a:xfrm>
            <a:off x="457200" y="2442700"/>
            <a:ext cx="11247120" cy="348800"/>
          </a:xfrm>
          <a:prstGeom prst="rect">
            <a:avLst/>
          </a:prstGeom>
          <a:noFill/>
        </p:spPr>
        <p:txBody>
          <a:bodyPr wrap="square" anchor="t" lIns="0" rIns="0" tIns="0" bIns="0">
            <a:spAutoFit/>
          </a:bodyPr>
          <a:lstStyle/>
          <a:p>
            <a:pPr>
              <a:spcBef>
                <a:spcPts val="0"/>
              </a:spcBef>
              <a:spcAft>
                <a:spcPts val="538"/>
              </a:spcAft>
            </a:pPr>
            <a:r>
              <a:rPr sz="1400" b="1" i="0">
                <a:solidFill>
                  <a:srgbClr val="000000"/>
                </a:solidFill>
                <a:latin typeface="Nirmala UI"/>
              </a:rPr>
              <a:t>Step 3 — Hide and test</a:t>
            </a:r>
          </a:p>
        </p:txBody>
      </p:sp>
      <p:sp>
        <p:nvSpPr>
          <p:cNvPr id="9" name="TextBox 8"/>
          <p:cNvSpPr txBox="1"/>
          <p:nvPr/>
        </p:nvSpPr>
        <p:spPr>
          <a:xfrm>
            <a:off x="457200" y="2882940"/>
            <a:ext cx="11247120" cy="1121272"/>
          </a:xfrm>
          <a:prstGeom prst="rect">
            <a:avLst/>
          </a:prstGeom>
          <a:noFill/>
        </p:spPr>
        <p:txBody>
          <a:bodyPr wrap="square" anchor="t" lIns="0" rIns="0" tIns="0" bIns="0">
            <a:spAutoFit/>
          </a:bodyPr>
          <a:lstStyle/>
          <a:p>
            <a:pPr>
              <a:spcBef>
                <a:spcPts val="0"/>
              </a:spcBef>
              <a:spcAft>
                <a:spcPts val="538"/>
              </a:spcAft>
            </a:pPr>
            <a:r>
              <a:rPr sz="1400" b="0" i="0">
                <a:solidFill>
                  <a:srgbClr val="000000"/>
                </a:solidFill>
                <a:latin typeface="Nirmala UI"/>
              </a:rPr>
              <a:t>•  </a:t>
            </a:r>
            <a:r>
              <a:rPr sz="1400" b="1" i="0">
                <a:solidFill>
                  <a:srgbClr val="000000"/>
                </a:solidFill>
                <a:latin typeface="Nirmala UI"/>
              </a:rPr>
              <a:t>Do:</a:t>
            </a:r>
            <a:r>
              <a:rPr sz="1400" b="0" i="0">
                <a:solidFill>
                  <a:srgbClr val="000000"/>
                </a:solidFill>
                <a:latin typeface="Nirmala UI"/>
              </a:rPr>
              <a:t> Hide a </a:t>
            </a:r>
            <a:r>
              <a:rPr sz="1400" b="1" i="0">
                <a:solidFill>
                  <a:srgbClr val="000000"/>
                </a:solidFill>
                <a:latin typeface="Nirmala UI"/>
              </a:rPr>
              <a:t>non-unique, non-TTL</a:t>
            </a:r>
            <a:r>
              <a:rPr sz="1400" b="0" i="0">
                <a:solidFill>
                  <a:srgbClr val="000000"/>
                </a:solidFill>
                <a:latin typeface="Nirmala UI"/>
              </a:rPr>
              <a:t> training index you suspect is redundant, for example </a:t>
            </a:r>
            <a:r>
              <a:rPr sz="1400" b="0" i="0">
                <a:solidFill>
                  <a:srgbClr val="000000"/>
                </a:solidFill>
                <a:latin typeface="Consolas"/>
              </a:rPr>
              <a:t>idx_products_category</a:t>
            </a:r>
            <a:r>
              <a:rPr sz="1400" b="0" i="0">
                <a:solidFill>
                  <a:srgbClr val="000000"/>
                </a:solidFill>
                <a:latin typeface="Nirmala UI"/>
              </a:rPr>
              <a:t> if it exists: ```javascript db.products.hideIndex("idx</a:t>
            </a:r>
            <a:r>
              <a:rPr sz="1400" b="0" i="1">
                <a:solidFill>
                  <a:srgbClr val="000000"/>
                </a:solidFill>
                <a:latin typeface="Nirmala UI"/>
              </a:rPr>
              <a:t>products</a:t>
            </a:r>
            <a:r>
              <a:rPr sz="1400" b="0" i="0">
                <a:solidFill>
                  <a:srgbClr val="000000"/>
                </a:solidFill>
                <a:latin typeface="Nirmala UI"/>
              </a:rPr>
              <a:t>category") db.products.find({ category: "ACCESSO</a:t>
            </a:r>
          </a:p>
          <a:p>
            <a:pPr>
              <a:spcBef>
                <a:spcPts val="0"/>
              </a:spcBef>
              <a:spcAft>
                <a:spcPts val="538"/>
              </a:spcAft>
            </a:pPr>
            <a:r>
              <a:rPr sz="1400" b="0" i="0">
                <a:solidFill>
                  <a:srgbClr val="000000"/>
                </a:solidFill>
                <a:latin typeface="Nirmala UI"/>
              </a:rPr>
              <a:t>•  </a:t>
            </a:r>
            <a:r>
              <a:rPr sz="1400" b="1" i="0">
                <a:solidFill>
                  <a:srgbClr val="000000"/>
                </a:solidFill>
                <a:latin typeface="Nirmala UI"/>
              </a:rPr>
              <a:t>Expected:</a:t>
            </a:r>
            <a:r>
              <a:rPr sz="1400" b="0" i="0">
                <a:solidFill>
                  <a:srgbClr val="000000"/>
                </a:solidFill>
                <a:latin typeface="Nirmala UI"/>
              </a:rPr>
              <a:t> While hidden, the planner should not select that index. After unhide, it is eligible again. If the name does not exist, hide another secondary index from your l</a:t>
            </a:r>
          </a:p>
        </p:txBody>
      </p:sp>
      <p:sp>
        <p:nvSpPr>
          <p:cNvPr id="10" name="TextBox 9"/>
          <p:cNvSpPr txBox="1"/>
          <p:nvPr/>
        </p:nvSpPr>
        <p:spPr>
          <a:xfrm>
            <a:off x="457200" y="4095652"/>
            <a:ext cx="11247120" cy="348800"/>
          </a:xfrm>
          <a:prstGeom prst="rect">
            <a:avLst/>
          </a:prstGeom>
          <a:noFill/>
        </p:spPr>
        <p:txBody>
          <a:bodyPr wrap="square" anchor="t" lIns="0" rIns="0" tIns="0" bIns="0">
            <a:spAutoFit/>
          </a:bodyPr>
          <a:lstStyle/>
          <a:p>
            <a:pPr>
              <a:spcBef>
                <a:spcPts val="0"/>
              </a:spcBef>
              <a:spcAft>
                <a:spcPts val="538"/>
              </a:spcAft>
            </a:pPr>
            <a:r>
              <a:rPr sz="1400" b="1" i="0">
                <a:solidFill>
                  <a:srgbClr val="000000"/>
                </a:solidFill>
                <a:latin typeface="Nirmala UI"/>
              </a:rPr>
              <a:t>Step 4 — Recommend</a:t>
            </a:r>
          </a:p>
        </p:txBody>
      </p:sp>
      <p:sp>
        <p:nvSpPr>
          <p:cNvPr id="11" name="TextBox 10"/>
          <p:cNvSpPr txBox="1"/>
          <p:nvPr/>
        </p:nvSpPr>
        <p:spPr>
          <a:xfrm>
            <a:off x="457200" y="4535892"/>
            <a:ext cx="11247120" cy="886576"/>
          </a:xfrm>
          <a:prstGeom prst="rect">
            <a:avLst/>
          </a:prstGeom>
          <a:noFill/>
        </p:spPr>
        <p:txBody>
          <a:bodyPr wrap="square" anchor="t" lIns="0" rIns="0" tIns="0" bIns="0">
            <a:spAutoFit/>
          </a:bodyPr>
          <a:lstStyle/>
          <a:p>
            <a:pPr>
              <a:spcBef>
                <a:spcPts val="0"/>
              </a:spcBef>
              <a:spcAft>
                <a:spcPts val="538"/>
              </a:spcAft>
            </a:pPr>
            <a:r>
              <a:rPr sz="1400" b="0" i="0">
                <a:solidFill>
                  <a:srgbClr val="000000"/>
                </a:solidFill>
                <a:latin typeface="Nirmala UI"/>
              </a:rPr>
              <a:t>•  </a:t>
            </a:r>
            <a:r>
              <a:rPr sz="1400" b="1" i="0">
                <a:solidFill>
                  <a:srgbClr val="000000"/>
                </a:solidFill>
                <a:latin typeface="Nirmala UI"/>
              </a:rPr>
              <a:t>Do:</a:t>
            </a:r>
            <a:r>
              <a:rPr sz="1400" b="0" i="0">
                <a:solidFill>
                  <a:srgbClr val="000000"/>
                </a:solidFill>
                <a:latin typeface="Nirmala UI"/>
              </a:rPr>
              <a:t> For the hidden candidate, write retain, redesign, or remove, with one evidence sentence. Do </a:t>
            </a:r>
            <a:r>
              <a:rPr sz="1400" b="1" i="0">
                <a:solidFill>
                  <a:srgbClr val="000000"/>
                </a:solidFill>
                <a:latin typeface="Nirmala UI"/>
              </a:rPr>
              <a:t>not</a:t>
            </a:r>
            <a:r>
              <a:rPr sz="1400" b="0" i="0">
                <a:solidFill>
                  <a:srgbClr val="000000"/>
                </a:solidFill>
                <a:latin typeface="Nirmala UI"/>
              </a:rPr>
              <a:t> drop it in this lab.</a:t>
            </a:r>
          </a:p>
          <a:p>
            <a:pPr>
              <a:spcBef>
                <a:spcPts val="0"/>
              </a:spcBef>
              <a:spcAft>
                <a:spcPts val="538"/>
              </a:spcAft>
            </a:pPr>
            <a:r>
              <a:rPr sz="1400" b="0" i="0">
                <a:solidFill>
                  <a:srgbClr val="000000"/>
                </a:solidFill>
                <a:latin typeface="Nirmala UI"/>
              </a:rPr>
              <a:t>•  </a:t>
            </a:r>
            <a:r>
              <a:rPr sz="1400" b="1" i="0">
                <a:solidFill>
                  <a:srgbClr val="000000"/>
                </a:solidFill>
                <a:latin typeface="Nirmala UI"/>
              </a:rPr>
              <a:t>Expected:</a:t>
            </a:r>
            <a:r>
              <a:rPr sz="1400" b="0" i="0">
                <a:solidFill>
                  <a:srgbClr val="000000"/>
                </a:solidFill>
                <a:latin typeface="Nirmala UI"/>
              </a:rPr>
              <a:t> A recommendation exists. No production-style drop was performed.</a:t>
            </a:r>
          </a:p>
        </p:txBody>
      </p:sp>
      <p:sp>
        <p:nvSpPr>
          <p:cNvPr id="12" name="Rectangle 1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5"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155</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LAB 6.11 — INTEGRATED QUERY-TUNING CHALLENGE</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320818"/>
            <a:ext cx="237744" cy="237744"/>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32081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30253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704866"/>
            <a:ext cx="11247120" cy="2015196"/>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Time:</a:t>
            </a:r>
            <a:r>
              <a:rPr sz="2000" b="0" i="0">
                <a:solidFill>
                  <a:srgbClr val="000000"/>
                </a:solidFill>
                <a:latin typeface="Nirmala UI"/>
              </a:rPr>
              <a:t> 40–45 min</a:t>
            </a:r>
          </a:p>
          <a:p>
            <a:pPr>
              <a:spcBef>
                <a:spcPts val="0"/>
              </a:spcBef>
              <a:spcAft>
                <a:spcPts val="769"/>
              </a:spcAft>
            </a:pPr>
            <a:r>
              <a:rPr sz="2000" b="0" i="0">
                <a:solidFill>
                  <a:srgbClr val="000000"/>
                </a:solidFill>
                <a:latin typeface="Nirmala UI"/>
              </a:rPr>
              <a:t>•  </a:t>
            </a:r>
            <a:r>
              <a:rPr sz="2000" b="0" i="0">
                <a:solidFill>
                  <a:srgbClr val="000000"/>
                </a:solidFill>
                <a:latin typeface="Nirmala UI"/>
              </a:rPr>
              <a:t>Tune catalog and order-history pages with baselines, ESR, explain, and a cost note.</a:t>
            </a:r>
          </a:p>
          <a:p>
            <a:pPr>
              <a:spcBef>
                <a:spcPts val="0"/>
              </a:spcBef>
              <a:spcAft>
                <a:spcPts val="769"/>
              </a:spcAft>
            </a:pPr>
            <a:r>
              <a:rPr sz="2000" b="0" i="0">
                <a:solidFill>
                  <a:srgbClr val="000000"/>
                </a:solidFill>
                <a:latin typeface="Nirmala UI"/>
              </a:rPr>
              <a:t>•  </a:t>
            </a:r>
            <a:r>
              <a:rPr sz="2000" b="1" i="0">
                <a:solidFill>
                  <a:srgbClr val="000000"/>
                </a:solidFill>
                <a:latin typeface="Nirmala UI"/>
              </a:rPr>
              <a:t>Lab guide:</a:t>
            </a:r>
            <a:r>
              <a:rPr sz="2000" b="0" i="0">
                <a:solidFill>
                  <a:srgbClr val="000000"/>
                </a:solidFill>
                <a:latin typeface="Nirmala UI"/>
              </a:rPr>
              <a:t> </a:t>
            </a:r>
            <a:r>
              <a:rPr sz="2000" b="0" i="0">
                <a:solidFill>
                  <a:srgbClr val="000000"/>
                </a:solidFill>
                <a:latin typeface="Consolas"/>
              </a:rPr>
              <a:t>Lab 6.11</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156</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LAB 6.11 — STEPS 1–2</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530020"/>
            <a:ext cx="237744" cy="237744"/>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30020"/>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511732"/>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Rounded Rectangle 6"/>
          <p:cNvSpPr/>
          <p:nvPr/>
        </p:nvSpPr>
        <p:spPr>
          <a:xfrm>
            <a:off x="457200" y="1914068"/>
            <a:ext cx="11247120" cy="554736"/>
          </a:xfrm>
          <a:prstGeom prst="roundRect">
            <a:avLst>
              <a:gd name="adj" fmla="val 6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914068"/>
            <a:ext cx="11027664" cy="554736"/>
          </a:xfrm>
          <a:prstGeom prst="rect">
            <a:avLst/>
          </a:prstGeom>
          <a:noFill/>
        </p:spPr>
        <p:txBody>
          <a:bodyPr wrap="square" anchor="ctr" lIns="0" rIns="0" tIns="0" bIns="0">
            <a:spAutoFit/>
          </a:bodyPr>
          <a:lstStyle/>
          <a:p>
            <a:r>
              <a:rPr sz="1200" b="1" i="0">
                <a:solidFill>
                  <a:srgbClr val="D1282E"/>
                </a:solidFill>
                <a:latin typeface="Nirmala UI"/>
              </a:rPr>
              <a:t>LAB GUIDE   </a:t>
            </a:r>
            <a:r>
              <a:rPr sz="2000" b="0" i="0">
                <a:solidFill>
                  <a:srgbClr val="000000"/>
                </a:solidFill>
                <a:latin typeface="Consolas"/>
              </a:rPr>
              <a:t>Lab 6.11</a:t>
            </a:r>
          </a:p>
        </p:txBody>
      </p:sp>
      <p:sp>
        <p:nvSpPr>
          <p:cNvPr id="9" name="TextBox 8"/>
          <p:cNvSpPr txBox="1"/>
          <p:nvPr/>
        </p:nvSpPr>
        <p:spPr>
          <a:xfrm>
            <a:off x="457200" y="2560244"/>
            <a:ext cx="11247120" cy="348800"/>
          </a:xfrm>
          <a:prstGeom prst="rect">
            <a:avLst/>
          </a:prstGeom>
          <a:noFill/>
        </p:spPr>
        <p:txBody>
          <a:bodyPr wrap="square" anchor="t" lIns="0" rIns="0" tIns="0" bIns="0">
            <a:spAutoFit/>
          </a:bodyPr>
          <a:lstStyle/>
          <a:p>
            <a:pPr>
              <a:spcBef>
                <a:spcPts val="0"/>
              </a:spcBef>
              <a:spcAft>
                <a:spcPts val="538"/>
              </a:spcAft>
            </a:pPr>
            <a:r>
              <a:rPr sz="1400" b="1" i="0">
                <a:solidFill>
                  <a:srgbClr val="000000"/>
                </a:solidFill>
                <a:latin typeface="Nirmala UI"/>
              </a:rPr>
              <a:t>Follow along (Windows) — key steps:</a:t>
            </a:r>
          </a:p>
        </p:txBody>
      </p:sp>
      <p:sp>
        <p:nvSpPr>
          <p:cNvPr id="10" name="TextBox 9"/>
          <p:cNvSpPr txBox="1"/>
          <p:nvPr/>
        </p:nvSpPr>
        <p:spPr>
          <a:xfrm>
            <a:off x="457200" y="3000484"/>
            <a:ext cx="11247120" cy="348800"/>
          </a:xfrm>
          <a:prstGeom prst="rect">
            <a:avLst/>
          </a:prstGeom>
          <a:noFill/>
        </p:spPr>
        <p:txBody>
          <a:bodyPr wrap="square" anchor="t" lIns="0" rIns="0" tIns="0" bIns="0">
            <a:spAutoFit/>
          </a:bodyPr>
          <a:lstStyle/>
          <a:p>
            <a:pPr>
              <a:spcBef>
                <a:spcPts val="0"/>
              </a:spcBef>
              <a:spcAft>
                <a:spcPts val="538"/>
              </a:spcAft>
            </a:pPr>
            <a:r>
              <a:rPr sz="1400" b="1" i="0">
                <a:solidFill>
                  <a:srgbClr val="000000"/>
                </a:solidFill>
                <a:latin typeface="Nirmala UI"/>
              </a:rPr>
              <a:t>Step 1 — Capture both shapes</a:t>
            </a:r>
          </a:p>
        </p:txBody>
      </p:sp>
      <p:sp>
        <p:nvSpPr>
          <p:cNvPr id="11" name="TextBox 10"/>
          <p:cNvSpPr txBox="1"/>
          <p:nvPr/>
        </p:nvSpPr>
        <p:spPr>
          <a:xfrm>
            <a:off x="457200" y="3440724"/>
            <a:ext cx="11247120" cy="886576"/>
          </a:xfrm>
          <a:prstGeom prst="rect">
            <a:avLst/>
          </a:prstGeom>
          <a:noFill/>
        </p:spPr>
        <p:txBody>
          <a:bodyPr wrap="square" anchor="t" lIns="0" rIns="0" tIns="0" bIns="0">
            <a:spAutoFit/>
          </a:bodyPr>
          <a:lstStyle/>
          <a:p>
            <a:pPr>
              <a:spcBef>
                <a:spcPts val="0"/>
              </a:spcBef>
              <a:spcAft>
                <a:spcPts val="538"/>
              </a:spcAft>
            </a:pPr>
            <a:r>
              <a:rPr sz="1400" b="0" i="0">
                <a:solidFill>
                  <a:srgbClr val="000000"/>
                </a:solidFill>
                <a:latin typeface="Nirmala UI"/>
              </a:rPr>
              <a:t>•  </a:t>
            </a:r>
            <a:r>
              <a:rPr sz="1400" b="1" i="0">
                <a:solidFill>
                  <a:srgbClr val="000000"/>
                </a:solidFill>
                <a:latin typeface="Nirmala UI"/>
              </a:rPr>
              <a:t>Do:</a:t>
            </a:r>
            <a:r>
              <a:rPr sz="1400" b="0" i="0">
                <a:solidFill>
                  <a:srgbClr val="000000"/>
                </a:solidFill>
                <a:latin typeface="Nirmala UI"/>
              </a:rPr>
              <a:t> Catalog: active products, category ACCESSORY, optional price ≤ 100, sort price, return name, price, category. History: C101, PAID, newest first, createdAt ≥ 2026-08-01, limit 20. Write both queries.</a:t>
            </a:r>
          </a:p>
          <a:p>
            <a:pPr>
              <a:spcBef>
                <a:spcPts val="0"/>
              </a:spcBef>
              <a:spcAft>
                <a:spcPts val="538"/>
              </a:spcAft>
            </a:pPr>
            <a:r>
              <a:rPr sz="1400" b="0" i="0">
                <a:solidFill>
                  <a:srgbClr val="000000"/>
                </a:solidFill>
                <a:latin typeface="Nirmala UI"/>
              </a:rPr>
              <a:t>•  </a:t>
            </a:r>
            <a:r>
              <a:rPr sz="1400" b="1" i="0">
                <a:solidFill>
                  <a:srgbClr val="000000"/>
                </a:solidFill>
                <a:latin typeface="Nirmala UI"/>
              </a:rPr>
              <a:t>Expected:</a:t>
            </a:r>
            <a:r>
              <a:rPr sz="1400" b="0" i="0">
                <a:solidFill>
                  <a:srgbClr val="000000"/>
                </a:solidFill>
                <a:latin typeface="Nirmala UI"/>
              </a:rPr>
              <a:t> Two complete mongosh queries including projection and limit.</a:t>
            </a:r>
          </a:p>
        </p:txBody>
      </p:sp>
      <p:sp>
        <p:nvSpPr>
          <p:cNvPr id="12" name="TextBox 11"/>
          <p:cNvSpPr txBox="1"/>
          <p:nvPr/>
        </p:nvSpPr>
        <p:spPr>
          <a:xfrm>
            <a:off x="457200" y="4418740"/>
            <a:ext cx="11247120" cy="348800"/>
          </a:xfrm>
          <a:prstGeom prst="rect">
            <a:avLst/>
          </a:prstGeom>
          <a:noFill/>
        </p:spPr>
        <p:txBody>
          <a:bodyPr wrap="square" anchor="t" lIns="0" rIns="0" tIns="0" bIns="0">
            <a:spAutoFit/>
          </a:bodyPr>
          <a:lstStyle/>
          <a:p>
            <a:pPr>
              <a:spcBef>
                <a:spcPts val="0"/>
              </a:spcBef>
              <a:spcAft>
                <a:spcPts val="538"/>
              </a:spcAft>
            </a:pPr>
            <a:r>
              <a:rPr sz="1400" b="1" i="0">
                <a:solidFill>
                  <a:srgbClr val="000000"/>
                </a:solidFill>
                <a:latin typeface="Nirmala UI"/>
              </a:rPr>
              <a:t>Step 2 — Baselines</a:t>
            </a:r>
          </a:p>
        </p:txBody>
      </p:sp>
      <p:sp>
        <p:nvSpPr>
          <p:cNvPr id="13" name="TextBox 12"/>
          <p:cNvSpPr txBox="1"/>
          <p:nvPr/>
        </p:nvSpPr>
        <p:spPr>
          <a:xfrm>
            <a:off x="457200" y="4858980"/>
            <a:ext cx="11247120" cy="651880"/>
          </a:xfrm>
          <a:prstGeom prst="rect">
            <a:avLst/>
          </a:prstGeom>
          <a:noFill/>
        </p:spPr>
        <p:txBody>
          <a:bodyPr wrap="square" anchor="t" lIns="0" rIns="0" tIns="0" bIns="0">
            <a:spAutoFit/>
          </a:bodyPr>
          <a:lstStyle/>
          <a:p>
            <a:pPr>
              <a:spcBef>
                <a:spcPts val="0"/>
              </a:spcBef>
              <a:spcAft>
                <a:spcPts val="538"/>
              </a:spcAft>
            </a:pPr>
            <a:r>
              <a:rPr sz="1400" b="0" i="0">
                <a:solidFill>
                  <a:srgbClr val="000000"/>
                </a:solidFill>
                <a:latin typeface="Nirmala UI"/>
              </a:rPr>
              <a:t>•  </a:t>
            </a:r>
            <a:r>
              <a:rPr sz="1400" b="1" i="0">
                <a:solidFill>
                  <a:srgbClr val="000000"/>
                </a:solidFill>
                <a:latin typeface="Nirmala UI"/>
              </a:rPr>
              <a:t>Do:</a:t>
            </a:r>
            <a:r>
              <a:rPr sz="1400" b="0" i="0">
                <a:solidFill>
                  <a:srgbClr val="000000"/>
                </a:solidFill>
                <a:latin typeface="Nirmala UI"/>
              </a:rPr>
              <a:t> explain("executionStats") both queries before changing indexes. Fill nReturned, keys, docs, SORT yes/no.</a:t>
            </a:r>
          </a:p>
          <a:p>
            <a:pPr>
              <a:spcBef>
                <a:spcPts val="0"/>
              </a:spcBef>
              <a:spcAft>
                <a:spcPts val="538"/>
              </a:spcAft>
            </a:pPr>
            <a:r>
              <a:rPr sz="1400" b="0" i="0">
                <a:solidFill>
                  <a:srgbClr val="000000"/>
                </a:solidFill>
                <a:latin typeface="Nirmala UI"/>
              </a:rPr>
              <a:t>•  </a:t>
            </a:r>
            <a:r>
              <a:rPr sz="1400" b="1" i="0">
                <a:solidFill>
                  <a:srgbClr val="000000"/>
                </a:solidFill>
                <a:latin typeface="Nirmala UI"/>
              </a:rPr>
              <a:t>Expected:</a:t>
            </a:r>
            <a:r>
              <a:rPr sz="1400" b="0" i="0">
                <a:solidFill>
                  <a:srgbClr val="000000"/>
                </a:solidFill>
                <a:latin typeface="Nirmala UI"/>
              </a:rPr>
              <a:t> Two baseline rows. Existing indexes from earlier labs are allowed; note them.</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157</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LAB 6.11 — STEPS 3–4</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618412"/>
            <a:ext cx="237744" cy="237744"/>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18412"/>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600124"/>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002460"/>
            <a:ext cx="11247120" cy="348800"/>
          </a:xfrm>
          <a:prstGeom prst="rect">
            <a:avLst/>
          </a:prstGeom>
          <a:noFill/>
        </p:spPr>
        <p:txBody>
          <a:bodyPr wrap="square" anchor="t" lIns="0" rIns="0" tIns="0" bIns="0">
            <a:spAutoFit/>
          </a:bodyPr>
          <a:lstStyle/>
          <a:p>
            <a:pPr>
              <a:spcBef>
                <a:spcPts val="0"/>
              </a:spcBef>
              <a:spcAft>
                <a:spcPts val="538"/>
              </a:spcAft>
            </a:pPr>
            <a:r>
              <a:rPr sz="1400" b="1" i="0">
                <a:solidFill>
                  <a:srgbClr val="000000"/>
                </a:solidFill>
                <a:latin typeface="Nirmala UI"/>
              </a:rPr>
              <a:t>Follow along (Windows) — key steps:</a:t>
            </a:r>
          </a:p>
        </p:txBody>
      </p:sp>
      <p:sp>
        <p:nvSpPr>
          <p:cNvPr id="8" name="TextBox 7"/>
          <p:cNvSpPr txBox="1"/>
          <p:nvPr/>
        </p:nvSpPr>
        <p:spPr>
          <a:xfrm>
            <a:off x="457200" y="2442700"/>
            <a:ext cx="11247120" cy="348800"/>
          </a:xfrm>
          <a:prstGeom prst="rect">
            <a:avLst/>
          </a:prstGeom>
          <a:noFill/>
        </p:spPr>
        <p:txBody>
          <a:bodyPr wrap="square" anchor="t" lIns="0" rIns="0" tIns="0" bIns="0">
            <a:spAutoFit/>
          </a:bodyPr>
          <a:lstStyle/>
          <a:p>
            <a:pPr>
              <a:spcBef>
                <a:spcPts val="0"/>
              </a:spcBef>
              <a:spcAft>
                <a:spcPts val="538"/>
              </a:spcAft>
            </a:pPr>
            <a:r>
              <a:rPr sz="1400" b="1" i="0">
                <a:solidFill>
                  <a:srgbClr val="000000"/>
                </a:solidFill>
                <a:latin typeface="Nirmala UI"/>
              </a:rPr>
              <a:t>Step 3 — Propose and create ESR indexes</a:t>
            </a:r>
          </a:p>
        </p:txBody>
      </p:sp>
      <p:sp>
        <p:nvSpPr>
          <p:cNvPr id="9" name="TextBox 8"/>
          <p:cNvSpPr txBox="1"/>
          <p:nvPr/>
        </p:nvSpPr>
        <p:spPr>
          <a:xfrm>
            <a:off x="457200" y="2882940"/>
            <a:ext cx="11247120" cy="886576"/>
          </a:xfrm>
          <a:prstGeom prst="rect">
            <a:avLst/>
          </a:prstGeom>
          <a:noFill/>
        </p:spPr>
        <p:txBody>
          <a:bodyPr wrap="square" anchor="t" lIns="0" rIns="0" tIns="0" bIns="0">
            <a:spAutoFit/>
          </a:bodyPr>
          <a:lstStyle/>
          <a:p>
            <a:pPr>
              <a:spcBef>
                <a:spcPts val="0"/>
              </a:spcBef>
              <a:spcAft>
                <a:spcPts val="538"/>
              </a:spcAft>
            </a:pPr>
            <a:r>
              <a:rPr sz="1400" b="0" i="0">
                <a:solidFill>
                  <a:srgbClr val="000000"/>
                </a:solidFill>
                <a:latin typeface="Nirmala UI"/>
              </a:rPr>
              <a:t>•  </a:t>
            </a:r>
            <a:r>
              <a:rPr sz="1400" b="1" i="0">
                <a:solidFill>
                  <a:srgbClr val="000000"/>
                </a:solidFill>
                <a:latin typeface="Nirmala UI"/>
              </a:rPr>
              <a:t>Do:</a:t>
            </a:r>
            <a:r>
              <a:rPr sz="1400" b="0" i="0">
                <a:solidFill>
                  <a:srgbClr val="000000"/>
                </a:solidFill>
                <a:latin typeface="Nirmala UI"/>
              </a:rPr>
              <a:t> Catalog candidate </a:t>
            </a:r>
            <a:r>
              <a:rPr sz="1400" b="0" i="0">
                <a:solidFill>
                  <a:srgbClr val="000000"/>
                </a:solidFill>
                <a:latin typeface="Consolas"/>
              </a:rPr>
              <a:t>{ category: 1, active: 1, price: 1 }</a:t>
            </a:r>
            <a:r>
              <a:rPr sz="1400" b="0" i="0">
                <a:solidFill>
                  <a:srgbClr val="000000"/>
                </a:solidFill>
                <a:latin typeface="Nirmala UI"/>
              </a:rPr>
              <a:t> (may already exist). History candidate </a:t>
            </a:r>
            <a:r>
              <a:rPr sz="1400" b="0" i="0">
                <a:solidFill>
                  <a:srgbClr val="000000"/>
                </a:solidFill>
                <a:latin typeface="Consolas"/>
              </a:rPr>
              <a:t>{ customerId: 1, paymentStatus: 1, createdAt: -1 }</a:t>
            </a:r>
            <a:r>
              <a:rPr sz="1400" b="0" i="0">
                <a:solidFill>
                  <a:srgbClr val="000000"/>
                </a:solidFill>
                <a:latin typeface="Nirmala UI"/>
              </a:rPr>
              <a:t> or </a:t>
            </a:r>
            <a:r>
              <a:rPr sz="1400" b="0" i="0">
                <a:solidFill>
                  <a:srgbClr val="000000"/>
                </a:solidFill>
                <a:latin typeface="Consolas"/>
              </a:rPr>
              <a:t>{ customerId: 1, createdAt: -1 }</a:t>
            </a:r>
            <a:r>
              <a:rPr sz="1400" b="0" i="0">
                <a:solidFill>
                  <a:srgbClr val="000000"/>
                </a:solidFill>
                <a:latin typeface="Nirmala UI"/>
              </a:rPr>
              <a:t> depending on whether PAID is alwa</a:t>
            </a:r>
          </a:p>
          <a:p>
            <a:pPr>
              <a:spcBef>
                <a:spcPts val="0"/>
              </a:spcBef>
              <a:spcAft>
                <a:spcPts val="538"/>
              </a:spcAft>
            </a:pPr>
            <a:r>
              <a:rPr sz="1400" b="0" i="0">
                <a:solidFill>
                  <a:srgbClr val="000000"/>
                </a:solidFill>
                <a:latin typeface="Nirmala UI"/>
              </a:rPr>
              <a:t>•  </a:t>
            </a:r>
            <a:r>
              <a:rPr sz="1400" b="1" i="0">
                <a:solidFill>
                  <a:srgbClr val="000000"/>
                </a:solidFill>
                <a:latin typeface="Nirmala UI"/>
              </a:rPr>
              <a:t>Expected:</a:t>
            </a:r>
            <a:r>
              <a:rPr sz="1400" b="0" i="0">
                <a:solidFill>
                  <a:srgbClr val="000000"/>
                </a:solidFill>
                <a:latin typeface="Nirmala UI"/>
              </a:rPr>
              <a:t> Indexes exist. Field order is written with equality, sort, and range labeled.</a:t>
            </a:r>
          </a:p>
        </p:txBody>
      </p:sp>
      <p:sp>
        <p:nvSpPr>
          <p:cNvPr id="10" name="TextBox 9"/>
          <p:cNvSpPr txBox="1"/>
          <p:nvPr/>
        </p:nvSpPr>
        <p:spPr>
          <a:xfrm>
            <a:off x="457200" y="3860956"/>
            <a:ext cx="11247120" cy="348800"/>
          </a:xfrm>
          <a:prstGeom prst="rect">
            <a:avLst/>
          </a:prstGeom>
          <a:noFill/>
        </p:spPr>
        <p:txBody>
          <a:bodyPr wrap="square" anchor="t" lIns="0" rIns="0" tIns="0" bIns="0">
            <a:spAutoFit/>
          </a:bodyPr>
          <a:lstStyle/>
          <a:p>
            <a:pPr>
              <a:spcBef>
                <a:spcPts val="0"/>
              </a:spcBef>
              <a:spcAft>
                <a:spcPts val="538"/>
              </a:spcAft>
            </a:pPr>
            <a:r>
              <a:rPr sz="1400" b="1" i="0">
                <a:solidFill>
                  <a:srgbClr val="000000"/>
                </a:solidFill>
                <a:latin typeface="Nirmala UI"/>
              </a:rPr>
              <a:t>Step 4 — Re-explain and compare</a:t>
            </a:r>
          </a:p>
        </p:txBody>
      </p:sp>
      <p:sp>
        <p:nvSpPr>
          <p:cNvPr id="11" name="TextBox 10"/>
          <p:cNvSpPr txBox="1"/>
          <p:nvPr/>
        </p:nvSpPr>
        <p:spPr>
          <a:xfrm>
            <a:off x="457200" y="4301196"/>
            <a:ext cx="11247120" cy="1121272"/>
          </a:xfrm>
          <a:prstGeom prst="rect">
            <a:avLst/>
          </a:prstGeom>
          <a:noFill/>
        </p:spPr>
        <p:txBody>
          <a:bodyPr wrap="square" anchor="t" lIns="0" rIns="0" tIns="0" bIns="0">
            <a:spAutoFit/>
          </a:bodyPr>
          <a:lstStyle/>
          <a:p>
            <a:pPr>
              <a:spcBef>
                <a:spcPts val="0"/>
              </a:spcBef>
              <a:spcAft>
                <a:spcPts val="538"/>
              </a:spcAft>
            </a:pPr>
            <a:r>
              <a:rPr sz="1400" b="0" i="0">
                <a:solidFill>
                  <a:srgbClr val="000000"/>
                </a:solidFill>
                <a:latin typeface="Nirmala UI"/>
              </a:rPr>
              <a:t>•  </a:t>
            </a:r>
            <a:r>
              <a:rPr sz="1400" b="1" i="0">
                <a:solidFill>
                  <a:srgbClr val="000000"/>
                </a:solidFill>
                <a:latin typeface="Nirmala UI"/>
              </a:rPr>
              <a:t>Do:</a:t>
            </a:r>
            <a:r>
              <a:rPr sz="1400" b="0" i="0">
                <a:solidFill>
                  <a:srgbClr val="000000"/>
                </a:solidFill>
                <a:latin typeface="Nirmala UI"/>
              </a:rPr>
              <a:t> Rerun both explains. Compare examined vs returned. For the catalog projection, optionally exclude </a:t>
            </a:r>
            <a:r>
              <a:rPr sz="1400" b="0" i="0">
                <a:solidFill>
                  <a:srgbClr val="000000"/>
                </a:solidFill>
                <a:latin typeface="Consolas"/>
              </a:rPr>
              <a:t>_id</a:t>
            </a:r>
            <a:r>
              <a:rPr sz="1400" b="0" i="0">
                <a:solidFill>
                  <a:srgbClr val="000000"/>
                </a:solidFill>
                <a:latin typeface="Nirmala UI"/>
              </a:rPr>
              <a:t> and extra fields and note coverage.</a:t>
            </a:r>
          </a:p>
          <a:p>
            <a:pPr>
              <a:spcBef>
                <a:spcPts val="0"/>
              </a:spcBef>
              <a:spcAft>
                <a:spcPts val="538"/>
              </a:spcAft>
            </a:pPr>
            <a:r>
              <a:rPr sz="1400" b="0" i="0">
                <a:solidFill>
                  <a:srgbClr val="000000"/>
                </a:solidFill>
                <a:latin typeface="Nirmala UI"/>
              </a:rPr>
              <a:t>•  </a:t>
            </a:r>
            <a:r>
              <a:rPr sz="1400" b="1" i="0">
                <a:solidFill>
                  <a:srgbClr val="000000"/>
                </a:solidFill>
                <a:latin typeface="Nirmala UI"/>
              </a:rPr>
              <a:t>Expected:</a:t>
            </a:r>
            <a:r>
              <a:rPr sz="1400" b="0" i="0">
                <a:solidFill>
                  <a:srgbClr val="000000"/>
                </a:solidFill>
                <a:latin typeface="Nirmala UI"/>
              </a:rPr>
              <a:t> IXSCAN on the intended indexes. Examined counts are closer to returned counts than the baseline, or SORT is gone.</a:t>
            </a:r>
          </a:p>
        </p:txBody>
      </p:sp>
      <p:sp>
        <p:nvSpPr>
          <p:cNvPr id="12" name="Rectangle 1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5"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158</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LAB 6.11 — STEPS 5–5</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967172"/>
            <a:ext cx="237744" cy="237744"/>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967172"/>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948884"/>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351220"/>
            <a:ext cx="11247120" cy="478692"/>
          </a:xfrm>
          <a:prstGeom prst="rect">
            <a:avLst/>
          </a:prstGeom>
          <a:noFill/>
        </p:spPr>
        <p:txBody>
          <a:bodyPr wrap="square" anchor="t" lIns="0" rIns="0" tIns="0" bIns="0">
            <a:spAutoFit/>
          </a:bodyPr>
          <a:lstStyle/>
          <a:p>
            <a:pPr>
              <a:spcBef>
                <a:spcPts val="0"/>
              </a:spcBef>
              <a:spcAft>
                <a:spcPts val="769"/>
              </a:spcAft>
            </a:pPr>
            <a:r>
              <a:rPr sz="2000" b="1" i="0">
                <a:solidFill>
                  <a:srgbClr val="000000"/>
                </a:solidFill>
                <a:latin typeface="Nirmala UI"/>
              </a:rPr>
              <a:t>Follow along (Windows) — key steps:</a:t>
            </a:r>
          </a:p>
        </p:txBody>
      </p:sp>
      <p:sp>
        <p:nvSpPr>
          <p:cNvPr id="8" name="TextBox 7"/>
          <p:cNvSpPr txBox="1"/>
          <p:nvPr/>
        </p:nvSpPr>
        <p:spPr>
          <a:xfrm>
            <a:off x="457200" y="2921352"/>
            <a:ext cx="11247120" cy="478692"/>
          </a:xfrm>
          <a:prstGeom prst="rect">
            <a:avLst/>
          </a:prstGeom>
          <a:noFill/>
        </p:spPr>
        <p:txBody>
          <a:bodyPr wrap="square" anchor="t" lIns="0" rIns="0" tIns="0" bIns="0">
            <a:spAutoFit/>
          </a:bodyPr>
          <a:lstStyle/>
          <a:p>
            <a:pPr>
              <a:spcBef>
                <a:spcPts val="0"/>
              </a:spcBef>
              <a:spcAft>
                <a:spcPts val="769"/>
              </a:spcAft>
            </a:pPr>
            <a:r>
              <a:rPr sz="2000" b="1" i="0">
                <a:solidFill>
                  <a:srgbClr val="000000"/>
                </a:solidFill>
                <a:latin typeface="Nirmala UI"/>
              </a:rPr>
              <a:t>Step 5 — Cost and recommendation</a:t>
            </a:r>
          </a:p>
        </p:txBody>
      </p:sp>
      <p:sp>
        <p:nvSpPr>
          <p:cNvPr id="9" name="TextBox 8"/>
          <p:cNvSpPr txBox="1"/>
          <p:nvPr/>
        </p:nvSpPr>
        <p:spPr>
          <a:xfrm>
            <a:off x="457200" y="3491484"/>
            <a:ext cx="11247120" cy="1582224"/>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Do:</a:t>
            </a:r>
            <a:r>
              <a:rPr sz="2000" b="0" i="0">
                <a:solidFill>
                  <a:srgbClr val="000000"/>
                </a:solidFill>
                <a:latin typeface="Nirmala UI"/>
              </a:rPr>
              <a:t> List the indexes you would keep for these two pages, their write/storage impact, and one index you would </a:t>
            </a:r>
            <a:r>
              <a:rPr sz="2000" b="1" i="0">
                <a:solidFill>
                  <a:srgbClr val="000000"/>
                </a:solidFill>
                <a:latin typeface="Nirmala UI"/>
              </a:rPr>
              <a:t>not</a:t>
            </a:r>
            <a:r>
              <a:rPr sz="2000" b="0" i="0">
                <a:solidFill>
                  <a:srgbClr val="000000"/>
                </a:solidFill>
                <a:latin typeface="Nirmala UI"/>
              </a:rPr>
              <a:t> add.</a:t>
            </a:r>
          </a:p>
          <a:p>
            <a:pPr>
              <a:spcBef>
                <a:spcPts val="0"/>
              </a:spcBef>
              <a:spcAft>
                <a:spcPts val="769"/>
              </a:spcAft>
            </a:pPr>
            <a:r>
              <a:rPr sz="2000" b="0" i="0">
                <a:solidFill>
                  <a:srgbClr val="000000"/>
                </a:solidFill>
                <a:latin typeface="Nirmala UI"/>
              </a:rPr>
              <a:t>•  </a:t>
            </a:r>
            <a:r>
              <a:rPr sz="2000" b="1" i="0">
                <a:solidFill>
                  <a:srgbClr val="000000"/>
                </a:solidFill>
                <a:latin typeface="Nirmala UI"/>
              </a:rPr>
              <a:t>Expected:</a:t>
            </a:r>
            <a:r>
              <a:rPr sz="2000" b="0" i="0">
                <a:solidFill>
                  <a:srgbClr val="000000"/>
                </a:solidFill>
                <a:latin typeface="Nirmala UI"/>
              </a:rPr>
              <a:t> A short recommendation: keep the two (or three) named indexes; do not index every catalog field; unique SKU remains a separate integrity index.</a:t>
            </a:r>
          </a:p>
        </p:txBody>
      </p:sp>
      <p:sp>
        <p:nvSpPr>
          <p:cNvPr id="10" name="Rectangle 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159</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6.13 — E-COMMERCE INDEX REVIEW</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2320818"/>
            <a:ext cx="237744" cy="237744"/>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32081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30253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704866"/>
            <a:ext cx="11247120" cy="2015196"/>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Time:</a:t>
            </a:r>
            <a:r>
              <a:rPr sz="2000" b="0" i="0">
                <a:solidFill>
                  <a:srgbClr val="000000"/>
                </a:solidFill>
                <a:latin typeface="Nirmala UI"/>
              </a:rPr>
              <a:t> 30–45 min</a:t>
            </a:r>
          </a:p>
          <a:p>
            <a:pPr>
              <a:spcBef>
                <a:spcPts val="0"/>
              </a:spcBef>
              <a:spcAft>
                <a:spcPts val="769"/>
              </a:spcAft>
            </a:pPr>
            <a:r>
              <a:rPr sz="2000" b="0" i="0">
                <a:solidFill>
                  <a:srgbClr val="000000"/>
                </a:solidFill>
                <a:latin typeface="Nirmala UI"/>
              </a:rPr>
              <a:t>•  </a:t>
            </a:r>
            <a:r>
              <a:rPr sz="2000" b="0" i="0">
                <a:solidFill>
                  <a:srgbClr val="000000"/>
                </a:solidFill>
                <a:latin typeface="Nirmala UI"/>
              </a:rPr>
              <a:t>Recommend indexes for ten application query patterns, including specialized types and overlap.</a:t>
            </a:r>
          </a:p>
          <a:p>
            <a:pPr>
              <a:spcBef>
                <a:spcPts val="0"/>
              </a:spcBef>
              <a:spcAft>
                <a:spcPts val="769"/>
              </a:spcAft>
            </a:pPr>
            <a:r>
              <a:rPr sz="2000" b="0" i="0">
                <a:solidFill>
                  <a:srgbClr val="000000"/>
                </a:solidFill>
                <a:latin typeface="Nirmala UI"/>
              </a:rPr>
              <a:t>•  </a:t>
            </a:r>
            <a:r>
              <a:rPr sz="2000" b="1" i="0">
                <a:solidFill>
                  <a:srgbClr val="000000"/>
                </a:solidFill>
                <a:latin typeface="Nirmala UI"/>
              </a:rPr>
              <a:t>Lab guide:</a:t>
            </a:r>
            <a:r>
              <a:rPr sz="2000" b="0" i="0">
                <a:solidFill>
                  <a:srgbClr val="000000"/>
                </a:solidFill>
                <a:latin typeface="Nirmala UI"/>
              </a:rPr>
              <a:t> </a:t>
            </a:r>
            <a:r>
              <a:rPr sz="2000" b="0" i="0">
                <a:solidFill>
                  <a:srgbClr val="000000"/>
                </a:solidFill>
                <a:latin typeface="Consolas"/>
              </a:rPr>
              <a:t>Exercise 6.13</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160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6.13 — STEPS 1–2</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355366"/>
            <a:ext cx="237744" cy="237744"/>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55366"/>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337078"/>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Rounded Rectangle 6"/>
          <p:cNvSpPr/>
          <p:nvPr/>
        </p:nvSpPr>
        <p:spPr>
          <a:xfrm>
            <a:off x="457200" y="1739414"/>
            <a:ext cx="11247120" cy="554736"/>
          </a:xfrm>
          <a:prstGeom prst="roundRect">
            <a:avLst>
              <a:gd name="adj" fmla="val 6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739414"/>
            <a:ext cx="11027664" cy="554736"/>
          </a:xfrm>
          <a:prstGeom prst="rect">
            <a:avLst/>
          </a:prstGeom>
          <a:noFill/>
        </p:spPr>
        <p:txBody>
          <a:bodyPr wrap="square" anchor="ctr" lIns="0" rIns="0" tIns="0" bIns="0">
            <a:spAutoFit/>
          </a:bodyPr>
          <a:lstStyle/>
          <a:p>
            <a:r>
              <a:rPr sz="1200" b="1" i="0">
                <a:solidFill>
                  <a:srgbClr val="D1282E"/>
                </a:solidFill>
                <a:latin typeface="Nirmala UI"/>
              </a:rPr>
              <a:t>LAB GUIDE   </a:t>
            </a:r>
            <a:r>
              <a:rPr sz="2000" b="0" i="0">
                <a:solidFill>
                  <a:srgbClr val="000000"/>
                </a:solidFill>
                <a:latin typeface="Consolas"/>
              </a:rPr>
              <a:t>Exercise 6.13</a:t>
            </a:r>
          </a:p>
        </p:txBody>
      </p:sp>
      <p:sp>
        <p:nvSpPr>
          <p:cNvPr id="9" name="TextBox 8"/>
          <p:cNvSpPr txBox="1"/>
          <p:nvPr/>
        </p:nvSpPr>
        <p:spPr>
          <a:xfrm>
            <a:off x="457200" y="2385590"/>
            <a:ext cx="11247120" cy="240557"/>
          </a:xfrm>
          <a:prstGeom prst="rect">
            <a:avLst/>
          </a:prstGeom>
          <a:noFill/>
        </p:spPr>
        <p:txBody>
          <a:bodyPr wrap="square" anchor="t" lIns="0" rIns="0" tIns="0" bIns="0">
            <a:spAutoFit/>
          </a:bodyPr>
          <a:lstStyle/>
          <a:p>
            <a:pPr>
              <a:spcBef>
                <a:spcPts val="0"/>
              </a:spcBef>
              <a:spcAft>
                <a:spcPts val="346"/>
              </a:spcAft>
            </a:pPr>
            <a:r>
              <a:rPr sz="900" b="1" i="0">
                <a:solidFill>
                  <a:srgbClr val="000000"/>
                </a:solidFill>
                <a:latin typeface="Nirmala UI"/>
              </a:rPr>
              <a:t>Follow along (Windows) — key steps:</a:t>
            </a:r>
          </a:p>
        </p:txBody>
      </p:sp>
      <p:sp>
        <p:nvSpPr>
          <p:cNvPr id="10" name="TextBox 9"/>
          <p:cNvSpPr txBox="1"/>
          <p:nvPr/>
        </p:nvSpPr>
        <p:spPr>
          <a:xfrm>
            <a:off x="457200" y="2717587"/>
            <a:ext cx="11247120" cy="240557"/>
          </a:xfrm>
          <a:prstGeom prst="rect">
            <a:avLst/>
          </a:prstGeom>
          <a:noFill/>
        </p:spPr>
        <p:txBody>
          <a:bodyPr wrap="square" anchor="t" lIns="0" rIns="0" tIns="0" bIns="0">
            <a:spAutoFit/>
          </a:bodyPr>
          <a:lstStyle/>
          <a:p>
            <a:pPr>
              <a:spcBef>
                <a:spcPts val="0"/>
              </a:spcBef>
              <a:spcAft>
                <a:spcPts val="346"/>
              </a:spcAft>
            </a:pPr>
            <a:r>
              <a:rPr sz="900" b="1" i="0">
                <a:solidFill>
                  <a:srgbClr val="000000"/>
                </a:solidFill>
                <a:latin typeface="Nirmala UI"/>
              </a:rPr>
              <a:t>Step 1 — Tabulate ten patterns</a:t>
            </a:r>
          </a:p>
        </p:txBody>
      </p:sp>
      <p:sp>
        <p:nvSpPr>
          <p:cNvPr id="11" name="TextBox 10"/>
          <p:cNvSpPr txBox="1"/>
          <p:nvPr/>
        </p:nvSpPr>
        <p:spPr>
          <a:xfrm>
            <a:off x="457200" y="3049584"/>
            <a:ext cx="11247120" cy="586270"/>
          </a:xfrm>
          <a:prstGeom prst="rect">
            <a:avLst/>
          </a:prstGeom>
          <a:noFill/>
        </p:spPr>
        <p:txBody>
          <a:bodyPr wrap="square" anchor="t" lIns="0" rIns="0" tIns="0" bIns="0">
            <a:spAutoFit/>
          </a:bodyPr>
          <a:lstStyle/>
          <a:p>
            <a:pPr>
              <a:spcBef>
                <a:spcPts val="0"/>
              </a:spcBef>
              <a:spcAft>
                <a:spcPts val="346"/>
              </a:spcAft>
            </a:pPr>
            <a:r>
              <a:rPr sz="900" b="0" i="0">
                <a:solidFill>
                  <a:srgbClr val="000000"/>
                </a:solidFill>
                <a:latin typeface="Nirmala UI"/>
              </a:rPr>
              <a:t>•  </a:t>
            </a:r>
            <a:r>
              <a:rPr sz="900" b="1" i="0">
                <a:solidFill>
                  <a:srgbClr val="000000"/>
                </a:solidFill>
                <a:latin typeface="Nirmala UI"/>
              </a:rPr>
              <a:t>Do:</a:t>
            </a:r>
            <a:r>
              <a:rPr sz="900" b="0" i="0">
                <a:solidFill>
                  <a:srgbClr val="000000"/>
                </a:solidFill>
                <a:latin typeface="Nirmala UI"/>
              </a:rPr>
              <a:t> For each workload item (SKU lookup, category browse, tags, email, order number, order history, paid reporting, reviews newest first, session expiration, dynamic attributes), write query shape and a proposed index.</a:t>
            </a:r>
          </a:p>
          <a:p>
            <a:pPr>
              <a:spcBef>
                <a:spcPts val="0"/>
              </a:spcBef>
              <a:spcAft>
                <a:spcPts val="346"/>
              </a:spcAft>
            </a:pPr>
            <a:r>
              <a:rPr sz="900" b="0" i="0">
                <a:solidFill>
                  <a:srgbClr val="000000"/>
                </a:solidFill>
                <a:latin typeface="Nirmala UI"/>
              </a:rPr>
              <a:t>•  </a:t>
            </a:r>
            <a:r>
              <a:rPr sz="900" b="1" i="0">
                <a:solidFill>
                  <a:srgbClr val="000000"/>
                </a:solidFill>
                <a:latin typeface="Nirmala UI"/>
              </a:rPr>
              <a:t>Expected:</a:t>
            </a:r>
            <a:r>
              <a:rPr sz="900" b="0" i="0">
                <a:solidFill>
                  <a:srgbClr val="000000"/>
                </a:solidFill>
                <a:latin typeface="Nirmala UI"/>
              </a:rPr>
              <a:t> A ten-row table exists. Unique, multikey, partial, TTL, and wildcard candidates are marked.</a:t>
            </a:r>
          </a:p>
        </p:txBody>
      </p:sp>
      <p:sp>
        <p:nvSpPr>
          <p:cNvPr id="12" name="TextBox 11"/>
          <p:cNvSpPr txBox="1"/>
          <p:nvPr/>
        </p:nvSpPr>
        <p:spPr>
          <a:xfrm>
            <a:off x="457200" y="3727294"/>
            <a:ext cx="11247120" cy="240557"/>
          </a:xfrm>
          <a:prstGeom prst="rect">
            <a:avLst/>
          </a:prstGeom>
          <a:noFill/>
        </p:spPr>
        <p:txBody>
          <a:bodyPr wrap="square" anchor="t" lIns="0" rIns="0" tIns="0" bIns="0">
            <a:spAutoFit/>
          </a:bodyPr>
          <a:lstStyle/>
          <a:p>
            <a:pPr>
              <a:spcBef>
                <a:spcPts val="0"/>
              </a:spcBef>
              <a:spcAft>
                <a:spcPts val="346"/>
              </a:spcAft>
            </a:pPr>
            <a:r>
              <a:rPr sz="900" b="1" i="0">
                <a:solidFill>
                  <a:srgbClr val="000000"/>
                </a:solidFill>
                <a:latin typeface="Nirmala UI"/>
              </a:rPr>
              <a:t>Step 2 — Justify field order and costs</a:t>
            </a:r>
          </a:p>
        </p:txBody>
      </p:sp>
      <p:sp>
        <p:nvSpPr>
          <p:cNvPr id="13" name="TextBox 12"/>
          <p:cNvSpPr txBox="1"/>
          <p:nvPr/>
        </p:nvSpPr>
        <p:spPr>
          <a:xfrm>
            <a:off x="457200" y="4059291"/>
            <a:ext cx="11247120" cy="435394"/>
          </a:xfrm>
          <a:prstGeom prst="rect">
            <a:avLst/>
          </a:prstGeom>
          <a:noFill/>
        </p:spPr>
        <p:txBody>
          <a:bodyPr wrap="square" anchor="t" lIns="0" rIns="0" tIns="0" bIns="0">
            <a:spAutoFit/>
          </a:bodyPr>
          <a:lstStyle/>
          <a:p>
            <a:pPr>
              <a:spcBef>
                <a:spcPts val="0"/>
              </a:spcBef>
              <a:spcAft>
                <a:spcPts val="346"/>
              </a:spcAft>
            </a:pPr>
            <a:r>
              <a:rPr sz="900" b="0" i="0">
                <a:solidFill>
                  <a:srgbClr val="000000"/>
                </a:solidFill>
                <a:latin typeface="Nirmala UI"/>
              </a:rPr>
              <a:t>•  </a:t>
            </a:r>
            <a:r>
              <a:rPr sz="900" b="1" i="0">
                <a:solidFill>
                  <a:srgbClr val="000000"/>
                </a:solidFill>
                <a:latin typeface="Nirmala UI"/>
              </a:rPr>
              <a:t>Do:</a:t>
            </a:r>
            <a:r>
              <a:rPr sz="900" b="0" i="0">
                <a:solidFill>
                  <a:srgbClr val="000000"/>
                </a:solidFill>
                <a:latin typeface="Nirmala UI"/>
              </a:rPr>
              <a:t> For every compound index, state ESR roles and one write/storage sentence. Flag any overlapping prefixes (for example category vs category+active+price).</a:t>
            </a:r>
          </a:p>
          <a:p>
            <a:pPr>
              <a:spcBef>
                <a:spcPts val="0"/>
              </a:spcBef>
              <a:spcAft>
                <a:spcPts val="346"/>
              </a:spcAft>
            </a:pPr>
            <a:r>
              <a:rPr sz="900" b="0" i="0">
                <a:solidFill>
                  <a:srgbClr val="000000"/>
                </a:solidFill>
                <a:latin typeface="Nirmala UI"/>
              </a:rPr>
              <a:t>•  </a:t>
            </a:r>
            <a:r>
              <a:rPr sz="900" b="1" i="0">
                <a:solidFill>
                  <a:srgbClr val="000000"/>
                </a:solidFill>
                <a:latin typeface="Nirmala UI"/>
              </a:rPr>
              <a:t>Expected:</a:t>
            </a:r>
            <a:r>
              <a:rPr sz="900" b="0" i="0">
                <a:solidFill>
                  <a:srgbClr val="000000"/>
                </a:solidFill>
                <a:latin typeface="Nirmala UI"/>
              </a:rPr>
              <a:t> Compound orders are justified. At least one overlap is called out with a retain/hide plan.</a:t>
            </a:r>
          </a:p>
        </p:txBody>
      </p:sp>
      <p:sp>
        <p:nvSpPr>
          <p:cNvPr id="14" name="TextBox 13"/>
          <p:cNvSpPr txBox="1"/>
          <p:nvPr/>
        </p:nvSpPr>
        <p:spPr>
          <a:xfrm>
            <a:off x="457200" y="4586125"/>
            <a:ext cx="11247120" cy="240557"/>
          </a:xfrm>
          <a:prstGeom prst="rect">
            <a:avLst/>
          </a:prstGeom>
          <a:noFill/>
        </p:spPr>
        <p:txBody>
          <a:bodyPr wrap="square" anchor="t" lIns="0" rIns="0" tIns="0" bIns="0">
            <a:spAutoFit/>
          </a:bodyPr>
          <a:lstStyle/>
          <a:p>
            <a:pPr>
              <a:spcBef>
                <a:spcPts val="0"/>
              </a:spcBef>
              <a:spcAft>
                <a:spcPts val="346"/>
              </a:spcAft>
            </a:pPr>
            <a:r>
              <a:rPr sz="900" b="1" i="0">
                <a:solidFill>
                  <a:srgbClr val="000000"/>
                </a:solidFill>
                <a:latin typeface="Nirmala UI"/>
              </a:rPr>
              <a:t>Step 3 — Validation plan</a:t>
            </a:r>
          </a:p>
        </p:txBody>
      </p:sp>
      <p:sp>
        <p:nvSpPr>
          <p:cNvPr id="15" name="TextBox 14"/>
          <p:cNvSpPr txBox="1"/>
          <p:nvPr/>
        </p:nvSpPr>
        <p:spPr>
          <a:xfrm>
            <a:off x="457200" y="4918122"/>
            <a:ext cx="11247120" cy="435394"/>
          </a:xfrm>
          <a:prstGeom prst="rect">
            <a:avLst/>
          </a:prstGeom>
          <a:noFill/>
        </p:spPr>
        <p:txBody>
          <a:bodyPr wrap="square" anchor="t" lIns="0" rIns="0" tIns="0" bIns="0">
            <a:spAutoFit/>
          </a:bodyPr>
          <a:lstStyle/>
          <a:p>
            <a:pPr>
              <a:spcBef>
                <a:spcPts val="0"/>
              </a:spcBef>
              <a:spcAft>
                <a:spcPts val="346"/>
              </a:spcAft>
            </a:pPr>
            <a:r>
              <a:rPr sz="900" b="0" i="0">
                <a:solidFill>
                  <a:srgbClr val="000000"/>
                </a:solidFill>
                <a:latin typeface="Nirmala UI"/>
              </a:rPr>
              <a:t>•  </a:t>
            </a:r>
            <a:r>
              <a:rPr sz="900" b="1" i="0">
                <a:solidFill>
                  <a:srgbClr val="000000"/>
                </a:solidFill>
                <a:latin typeface="Nirmala UI"/>
              </a:rPr>
              <a:t>Do:</a:t>
            </a:r>
            <a:r>
              <a:rPr sz="900" b="0" i="0">
                <a:solidFill>
                  <a:srgbClr val="000000"/>
                </a:solidFill>
                <a:latin typeface="Nirmala UI"/>
              </a:rPr>
              <a:t> Write how you would prove two high-traffic indexes with explain (catalog and order history) and how you would roll back.</a:t>
            </a:r>
          </a:p>
          <a:p>
            <a:pPr>
              <a:spcBef>
                <a:spcPts val="0"/>
              </a:spcBef>
              <a:spcAft>
                <a:spcPts val="346"/>
              </a:spcAft>
            </a:pPr>
            <a:r>
              <a:rPr sz="900" b="0" i="0">
                <a:solidFill>
                  <a:srgbClr val="000000"/>
                </a:solidFill>
                <a:latin typeface="Nirmala UI"/>
              </a:rPr>
              <a:t>•  </a:t>
            </a:r>
            <a:r>
              <a:rPr sz="900" b="1" i="0">
                <a:solidFill>
                  <a:srgbClr val="000000"/>
                </a:solidFill>
                <a:latin typeface="Nirmala UI"/>
              </a:rPr>
              <a:t>Expected:</a:t>
            </a:r>
            <a:r>
              <a:rPr sz="900" b="0" i="0">
                <a:solidFill>
                  <a:srgbClr val="000000"/>
                </a:solidFill>
                <a:latin typeface="Nirmala UI"/>
              </a:rPr>
              <a:t> Baseline → createIndex → executionStats comparison → dropIndex rollback with the original createIndex saved.</a:t>
            </a:r>
          </a:p>
        </p:txBody>
      </p:sp>
      <p:sp>
        <p:nvSpPr>
          <p:cNvPr id="16" name="TextBox 15"/>
          <p:cNvSpPr txBox="1"/>
          <p:nvPr/>
        </p:nvSpPr>
        <p:spPr>
          <a:xfrm>
            <a:off x="457200" y="5444956"/>
            <a:ext cx="11247120" cy="240557"/>
          </a:xfrm>
          <a:prstGeom prst="rect">
            <a:avLst/>
          </a:prstGeom>
          <a:noFill/>
        </p:spPr>
        <p:txBody>
          <a:bodyPr wrap="square" anchor="t" lIns="0" rIns="0" tIns="0" bIns="0">
            <a:spAutoFit/>
          </a:bodyPr>
          <a:lstStyle/>
          <a:p>
            <a:pPr>
              <a:spcBef>
                <a:spcPts val="0"/>
              </a:spcBef>
              <a:spcAft>
                <a:spcPts val="346"/>
              </a:spcAft>
            </a:pPr>
            <a:r>
              <a:rPr sz="900" b="1" i="0">
                <a:solidFill>
                  <a:srgbClr val="000000"/>
                </a:solidFill>
                <a:latin typeface="Nirmala UI"/>
              </a:rPr>
              <a:t>_Full lab guide with every command: </a:t>
            </a:r>
            <a:r>
              <a:rPr sz="900" b="0" i="0">
                <a:solidFill>
                  <a:srgbClr val="000000"/>
                </a:solidFill>
                <a:latin typeface="Nirmala UI"/>
              </a:rPr>
              <a:t>see </a:t>
            </a:r>
            <a:r>
              <a:rPr sz="900" b="1" i="0">
                <a:solidFill>
                  <a:srgbClr val="000000"/>
                </a:solidFill>
                <a:latin typeface="Nirmala UI"/>
              </a:rPr>
              <a:t>Lab guide</a:t>
            </a:r>
            <a:r>
              <a:rPr sz="900" b="0" i="0">
                <a:solidFill>
                  <a:srgbClr val="000000"/>
                </a:solidFill>
                <a:latin typeface="Nirmala UI"/>
              </a:rPr>
              <a:t> on the lesson divider slide._</a:t>
            </a:r>
          </a:p>
        </p:txBody>
      </p:sp>
      <p:sp>
        <p:nvSpPr>
          <p:cNvPr id="17" name="Rectangle 1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161</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6.13 — STEPS 3–3</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967172"/>
            <a:ext cx="237744" cy="237744"/>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967172"/>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948884"/>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351220"/>
            <a:ext cx="11247120" cy="478692"/>
          </a:xfrm>
          <a:prstGeom prst="rect">
            <a:avLst/>
          </a:prstGeom>
          <a:noFill/>
        </p:spPr>
        <p:txBody>
          <a:bodyPr wrap="square" anchor="t" lIns="0" rIns="0" tIns="0" bIns="0">
            <a:spAutoFit/>
          </a:bodyPr>
          <a:lstStyle/>
          <a:p>
            <a:pPr>
              <a:spcBef>
                <a:spcPts val="0"/>
              </a:spcBef>
              <a:spcAft>
                <a:spcPts val="769"/>
              </a:spcAft>
            </a:pPr>
            <a:r>
              <a:rPr sz="2000" b="1" i="0">
                <a:solidFill>
                  <a:srgbClr val="000000"/>
                </a:solidFill>
                <a:latin typeface="Nirmala UI"/>
              </a:rPr>
              <a:t>Follow along (Windows) — key steps:</a:t>
            </a:r>
          </a:p>
        </p:txBody>
      </p:sp>
      <p:sp>
        <p:nvSpPr>
          <p:cNvPr id="8" name="TextBox 7"/>
          <p:cNvSpPr txBox="1"/>
          <p:nvPr/>
        </p:nvSpPr>
        <p:spPr>
          <a:xfrm>
            <a:off x="457200" y="2921352"/>
            <a:ext cx="11247120" cy="478692"/>
          </a:xfrm>
          <a:prstGeom prst="rect">
            <a:avLst/>
          </a:prstGeom>
          <a:noFill/>
        </p:spPr>
        <p:txBody>
          <a:bodyPr wrap="square" anchor="t" lIns="0" rIns="0" tIns="0" bIns="0">
            <a:spAutoFit/>
          </a:bodyPr>
          <a:lstStyle/>
          <a:p>
            <a:pPr>
              <a:spcBef>
                <a:spcPts val="0"/>
              </a:spcBef>
              <a:spcAft>
                <a:spcPts val="769"/>
              </a:spcAft>
            </a:pPr>
            <a:r>
              <a:rPr sz="2000" b="1" i="0">
                <a:solidFill>
                  <a:srgbClr val="000000"/>
                </a:solidFill>
                <a:latin typeface="Nirmala UI"/>
              </a:rPr>
              <a:t>Step 3 — Validation plan</a:t>
            </a:r>
          </a:p>
        </p:txBody>
      </p:sp>
      <p:sp>
        <p:nvSpPr>
          <p:cNvPr id="9" name="TextBox 8"/>
          <p:cNvSpPr txBox="1"/>
          <p:nvPr/>
        </p:nvSpPr>
        <p:spPr>
          <a:xfrm>
            <a:off x="457200" y="3491484"/>
            <a:ext cx="11247120" cy="1582224"/>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Do:</a:t>
            </a:r>
            <a:r>
              <a:rPr sz="2000" b="0" i="0">
                <a:solidFill>
                  <a:srgbClr val="000000"/>
                </a:solidFill>
                <a:latin typeface="Nirmala UI"/>
              </a:rPr>
              <a:t> Write how you would prove two high-traffic indexes with explain (catalog and order history) and how you would roll back.</a:t>
            </a:r>
          </a:p>
          <a:p>
            <a:pPr>
              <a:spcBef>
                <a:spcPts val="0"/>
              </a:spcBef>
              <a:spcAft>
                <a:spcPts val="769"/>
              </a:spcAft>
            </a:pPr>
            <a:r>
              <a:rPr sz="2000" b="0" i="0">
                <a:solidFill>
                  <a:srgbClr val="000000"/>
                </a:solidFill>
                <a:latin typeface="Nirmala UI"/>
              </a:rPr>
              <a:t>•  </a:t>
            </a:r>
            <a:r>
              <a:rPr sz="2000" b="1" i="0">
                <a:solidFill>
                  <a:srgbClr val="000000"/>
                </a:solidFill>
                <a:latin typeface="Nirmala UI"/>
              </a:rPr>
              <a:t>Expected:</a:t>
            </a:r>
            <a:r>
              <a:rPr sz="2000" b="0" i="0">
                <a:solidFill>
                  <a:srgbClr val="000000"/>
                </a:solidFill>
                <a:latin typeface="Nirmala UI"/>
              </a:rPr>
              <a:t> Baseline → createIndex → executionStats comparison → dropIndex rollback with the original createIndex saved.</a:t>
            </a:r>
          </a:p>
        </p:txBody>
      </p:sp>
      <p:sp>
        <p:nvSpPr>
          <p:cNvPr id="10" name="Rectangle 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162</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MODULE 6 EXIT TICKET</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447338"/>
            <a:ext cx="237744" cy="237744"/>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4733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42905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831386"/>
            <a:ext cx="11247120" cy="218908"/>
          </a:xfrm>
          <a:prstGeom prst="rect">
            <a:avLst/>
          </a:prstGeom>
          <a:noFill/>
        </p:spPr>
        <p:txBody>
          <a:bodyPr wrap="square" anchor="t" lIns="0" rIns="0" tIns="0" bIns="0">
            <a:spAutoFit/>
          </a:bodyPr>
          <a:lstStyle/>
          <a:p>
            <a:pPr>
              <a:spcBef>
                <a:spcPts val="0"/>
              </a:spcBef>
              <a:spcAft>
                <a:spcPts val="307"/>
              </a:spcAft>
            </a:pPr>
            <a:r>
              <a:rPr sz="800" b="0" i="0">
                <a:solidFill>
                  <a:srgbClr val="000000"/>
                </a:solidFill>
                <a:latin typeface="Nirmala UI"/>
              </a:rPr>
              <a:t>Write a short answer for each:</a:t>
            </a:r>
          </a:p>
        </p:txBody>
      </p:sp>
      <p:sp>
        <p:nvSpPr>
          <p:cNvPr id="8" name="TextBox 7"/>
          <p:cNvSpPr txBox="1"/>
          <p:nvPr/>
        </p:nvSpPr>
        <p:spPr>
          <a:xfrm>
            <a:off x="457200" y="2141734"/>
            <a:ext cx="11247120" cy="2470352"/>
          </a:xfrm>
          <a:prstGeom prst="rect">
            <a:avLst/>
          </a:prstGeom>
          <a:noFill/>
        </p:spPr>
        <p:txBody>
          <a:bodyPr wrap="square" anchor="t" lIns="0" rIns="0" tIns="0" bIns="0">
            <a:spAutoFit/>
          </a:bodyPr>
          <a:lstStyle/>
          <a:p>
            <a:pPr>
              <a:spcBef>
                <a:spcPts val="0"/>
              </a:spcBef>
              <a:spcAft>
                <a:spcPts val="307"/>
              </a:spcAft>
            </a:pPr>
            <a:r>
              <a:rPr sz="800" b="1" i="0">
                <a:solidFill>
                  <a:srgbClr val="D1282E"/>
                </a:solidFill>
                <a:latin typeface="Nirmala UI"/>
              </a:rPr>
              <a:t>1. </a:t>
            </a:r>
            <a:r>
              <a:rPr sz="800" b="0" i="0">
                <a:solidFill>
                  <a:srgbClr val="000000"/>
                </a:solidFill>
                <a:latin typeface="Nirmala UI"/>
              </a:rPr>
              <a:t>COLLSCAN vs IXSCAN?</a:t>
            </a:r>
          </a:p>
          <a:p>
            <a:pPr>
              <a:spcBef>
                <a:spcPts val="0"/>
              </a:spcBef>
              <a:spcAft>
                <a:spcPts val="307"/>
              </a:spcAft>
            </a:pPr>
            <a:r>
              <a:rPr sz="800" b="1" i="0">
                <a:solidFill>
                  <a:srgbClr val="D1282E"/>
                </a:solidFill>
                <a:latin typeface="Nirmala UI"/>
              </a:rPr>
              <a:t>2. </a:t>
            </a:r>
            <a:r>
              <a:rPr sz="800" b="0" i="0">
                <a:solidFill>
                  <a:srgbClr val="000000"/>
                </a:solidFill>
                <a:latin typeface="Nirmala UI"/>
              </a:rPr>
              <a:t>Why compound field order matters</a:t>
            </a:r>
          </a:p>
          <a:p>
            <a:pPr>
              <a:spcBef>
                <a:spcPts val="0"/>
              </a:spcBef>
              <a:spcAft>
                <a:spcPts val="307"/>
              </a:spcAft>
            </a:pPr>
            <a:r>
              <a:rPr sz="800" b="1" i="0">
                <a:solidFill>
                  <a:srgbClr val="D1282E"/>
                </a:solidFill>
                <a:latin typeface="Nirmala UI"/>
              </a:rPr>
              <a:t>3. </a:t>
            </a:r>
            <a:r>
              <a:rPr sz="800" b="0" i="0">
                <a:solidFill>
                  <a:srgbClr val="000000"/>
                </a:solidFill>
                <a:latin typeface="Nirmala UI"/>
              </a:rPr>
              <a:t>What is an index prefix?</a:t>
            </a:r>
          </a:p>
          <a:p>
            <a:pPr>
              <a:spcBef>
                <a:spcPts val="0"/>
              </a:spcBef>
              <a:spcAft>
                <a:spcPts val="307"/>
              </a:spcAft>
            </a:pPr>
            <a:r>
              <a:rPr sz="800" b="1" i="0">
                <a:solidFill>
                  <a:srgbClr val="D1282E"/>
                </a:solidFill>
                <a:latin typeface="Nirmala UI"/>
              </a:rPr>
              <a:t>4. </a:t>
            </a:r>
            <a:r>
              <a:rPr sz="800" b="0" i="0">
                <a:solidFill>
                  <a:srgbClr val="000000"/>
                </a:solidFill>
                <a:latin typeface="Nirmala UI"/>
              </a:rPr>
              <a:t>What does ESR mean?</a:t>
            </a:r>
          </a:p>
          <a:p>
            <a:pPr>
              <a:spcBef>
                <a:spcPts val="0"/>
              </a:spcBef>
              <a:spcAft>
                <a:spcPts val="307"/>
              </a:spcAft>
            </a:pPr>
            <a:r>
              <a:rPr sz="800" b="1" i="0">
                <a:solidFill>
                  <a:srgbClr val="D1282E"/>
                </a:solidFill>
                <a:latin typeface="Nirmala UI"/>
              </a:rPr>
              <a:t>5. </a:t>
            </a:r>
            <a:r>
              <a:rPr sz="800" b="0" i="0">
                <a:solidFill>
                  <a:srgbClr val="000000"/>
                </a:solidFill>
                <a:latin typeface="Nirmala UI"/>
              </a:rPr>
              <a:t>When is an index multikey?</a:t>
            </a:r>
          </a:p>
          <a:p>
            <a:pPr>
              <a:spcBef>
                <a:spcPts val="0"/>
              </a:spcBef>
              <a:spcAft>
                <a:spcPts val="307"/>
              </a:spcAft>
            </a:pPr>
            <a:r>
              <a:rPr sz="800" b="1" i="0">
                <a:solidFill>
                  <a:srgbClr val="D1282E"/>
                </a:solidFill>
                <a:latin typeface="Nirmala UI"/>
              </a:rPr>
              <a:t>6. </a:t>
            </a:r>
            <a:r>
              <a:rPr sz="800" b="0" i="0">
                <a:solidFill>
                  <a:srgbClr val="000000"/>
                </a:solidFill>
                <a:latin typeface="Nirmala UI"/>
              </a:rPr>
              <a:t>What does a unique index provide?</a:t>
            </a:r>
          </a:p>
          <a:p>
            <a:pPr>
              <a:spcBef>
                <a:spcPts val="0"/>
              </a:spcBef>
              <a:spcAft>
                <a:spcPts val="307"/>
              </a:spcAft>
            </a:pPr>
            <a:r>
              <a:rPr sz="800" b="1" i="0">
                <a:solidFill>
                  <a:srgbClr val="D1282E"/>
                </a:solidFill>
                <a:latin typeface="Nirmala UI"/>
              </a:rPr>
              <a:t>7. </a:t>
            </a:r>
            <a:r>
              <a:rPr sz="800" b="0" i="0">
                <a:solidFill>
                  <a:srgbClr val="000000"/>
                </a:solidFill>
                <a:latin typeface="Nirmala UI"/>
              </a:rPr>
              <a:t>Partial vs sparse</a:t>
            </a:r>
          </a:p>
          <a:p>
            <a:pPr>
              <a:spcBef>
                <a:spcPts val="0"/>
              </a:spcBef>
              <a:spcAft>
                <a:spcPts val="307"/>
              </a:spcAft>
            </a:pPr>
            <a:r>
              <a:rPr sz="800" b="1" i="0">
                <a:solidFill>
                  <a:srgbClr val="D1282E"/>
                </a:solidFill>
                <a:latin typeface="Nirmala UI"/>
              </a:rPr>
              <a:t>8. </a:t>
            </a:r>
            <a:r>
              <a:rPr sz="800" b="0" i="0">
                <a:solidFill>
                  <a:srgbClr val="000000"/>
                </a:solidFill>
                <a:latin typeface="Nirmala UI"/>
              </a:rPr>
              <a:t>What is a TTL index for?</a:t>
            </a:r>
          </a:p>
          <a:p>
            <a:pPr>
              <a:spcBef>
                <a:spcPts val="0"/>
              </a:spcBef>
              <a:spcAft>
                <a:spcPts val="307"/>
              </a:spcAft>
            </a:pPr>
            <a:r>
              <a:rPr sz="800" b="1" i="0">
                <a:solidFill>
                  <a:srgbClr val="D1282E"/>
                </a:solidFill>
                <a:latin typeface="Nirmala UI"/>
              </a:rPr>
              <a:t>9. </a:t>
            </a:r>
            <a:r>
              <a:rPr sz="800" b="0" i="0">
                <a:solidFill>
                  <a:srgbClr val="000000"/>
                </a:solidFill>
                <a:latin typeface="Nirmala UI"/>
              </a:rPr>
              <a:t>What is a covered query?</a:t>
            </a:r>
          </a:p>
          <a:p>
            <a:pPr>
              <a:spcBef>
                <a:spcPts val="0"/>
              </a:spcBef>
              <a:spcAft>
                <a:spcPts val="307"/>
              </a:spcAft>
            </a:pPr>
            <a:r>
              <a:rPr sz="800" b="1" i="0">
                <a:solidFill>
                  <a:srgbClr val="D1282E"/>
                </a:solidFill>
                <a:latin typeface="Nirmala UI"/>
              </a:rPr>
              <a:t>10. </a:t>
            </a:r>
            <a:r>
              <a:rPr sz="800" b="0" i="0">
                <a:solidFill>
                  <a:srgbClr val="000000"/>
                </a:solidFill>
                <a:latin typeface="Nirmala UI"/>
              </a:rPr>
              <a:t>Which explain values compare work vs results?</a:t>
            </a:r>
          </a:p>
          <a:p>
            <a:pPr>
              <a:spcBef>
                <a:spcPts val="0"/>
              </a:spcBef>
              <a:spcAft>
                <a:spcPts val="307"/>
              </a:spcAft>
            </a:pPr>
            <a:r>
              <a:rPr sz="800" b="1" i="0">
                <a:solidFill>
                  <a:srgbClr val="D1282E"/>
                </a:solidFill>
                <a:latin typeface="Nirmala UI"/>
              </a:rPr>
              <a:t>11. </a:t>
            </a:r>
            <a:r>
              <a:rPr sz="800" b="0" i="0">
                <a:solidFill>
                  <a:srgbClr val="000000"/>
                </a:solidFill>
                <a:latin typeface="Nirmala UI"/>
              </a:rPr>
              <a:t>Why can an index slow writes?</a:t>
            </a:r>
          </a:p>
          <a:p>
            <a:pPr>
              <a:spcBef>
                <a:spcPts val="0"/>
              </a:spcBef>
              <a:spcAft>
                <a:spcPts val="307"/>
              </a:spcAft>
            </a:pPr>
            <a:r>
              <a:rPr sz="800" b="1" i="0">
                <a:solidFill>
                  <a:srgbClr val="D1282E"/>
                </a:solidFill>
                <a:latin typeface="Nirmala UI"/>
              </a:rPr>
              <a:t>12. </a:t>
            </a:r>
            <a:r>
              <a:rPr sz="800" b="0" i="0">
                <a:solidFill>
                  <a:srgbClr val="000000"/>
                </a:solidFill>
                <a:latin typeface="Nirmala UI"/>
              </a:rPr>
              <a:t>Why hide before drop?</a:t>
            </a:r>
          </a:p>
          <a:p>
            <a:pPr>
              <a:spcBef>
                <a:spcPts val="0"/>
              </a:spcBef>
              <a:spcAft>
                <a:spcPts val="307"/>
              </a:spcAft>
            </a:pPr>
            <a:r>
              <a:rPr sz="800" b="1" i="0">
                <a:solidFill>
                  <a:srgbClr val="D1282E"/>
                </a:solidFill>
                <a:latin typeface="Nirmala UI"/>
              </a:rPr>
              <a:t>13. </a:t>
            </a:r>
            <a:r>
              <a:rPr sz="800" b="0" i="0">
                <a:solidFill>
                  <a:srgbClr val="000000"/>
                </a:solidFill>
                <a:latin typeface="Nirmala UI"/>
              </a:rPr>
              <a:t>Does IXSCAN always mean efficient?</a:t>
            </a:r>
          </a:p>
          <a:p>
            <a:pPr>
              <a:spcBef>
                <a:spcPts val="0"/>
              </a:spcBef>
              <a:spcAft>
                <a:spcPts val="307"/>
              </a:spcAft>
            </a:pPr>
            <a:r>
              <a:rPr sz="800" b="1" i="0">
                <a:solidFill>
                  <a:srgbClr val="D1282E"/>
                </a:solidFill>
                <a:latin typeface="Nirmala UI"/>
              </a:rPr>
              <a:t>14. </a:t>
            </a:r>
            <a:r>
              <a:rPr sz="800" b="0" i="0">
                <a:solidFill>
                  <a:srgbClr val="000000"/>
                </a:solidFill>
                <a:latin typeface="Nirmala UI"/>
              </a:rPr>
              <a:t>Why design around query shapes?</a:t>
            </a:r>
          </a:p>
        </p:txBody>
      </p:sp>
      <p:sp>
        <p:nvSpPr>
          <p:cNvPr id="9" name="Rounded Rectangle 8"/>
          <p:cNvSpPr/>
          <p:nvPr/>
        </p:nvSpPr>
        <p:spPr>
          <a:xfrm>
            <a:off x="457200" y="4703526"/>
            <a:ext cx="11247120" cy="890016"/>
          </a:xfrm>
          <a:prstGeom prst="roundRect">
            <a:avLst>
              <a:gd name="adj" fmla="val 6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4703526"/>
            <a:ext cx="11027664" cy="890016"/>
          </a:xfrm>
          <a:prstGeom prst="rect">
            <a:avLst/>
          </a:prstGeom>
          <a:noFill/>
        </p:spPr>
        <p:txBody>
          <a:bodyPr wrap="square" anchor="ctr" lIns="0" rIns="0" tIns="0" bIns="0">
            <a:spAutoFit/>
          </a:bodyPr>
          <a:lstStyle/>
          <a:p>
            <a:r>
              <a:rPr sz="1200" b="1" i="0">
                <a:solidFill>
                  <a:srgbClr val="D1282E"/>
                </a:solidFill>
                <a:latin typeface="Nirmala UI"/>
              </a:rPr>
              <a:t>COMPLETION   </a:t>
            </a:r>
            <a:r>
              <a:rPr sz="2000" b="0" i="0">
                <a:solidFill>
                  <a:srgbClr val="000000"/>
                </a:solidFill>
                <a:latin typeface="Nirmala UI"/>
              </a:rPr>
              <a:t>explain cost; create/inspect indexes; design compound keys; use prefixes and ESR; apply specialized types; read explain; recommend with evidence.</a:t>
            </a:r>
          </a:p>
        </p:txBody>
      </p:sp>
      <p:sp>
        <p:nvSpPr>
          <p:cNvPr id="11" name="Rectangle 1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163</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MODULE COMPLETION CHECKLIST</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418496"/>
            <a:ext cx="237744" cy="237744"/>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18496"/>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400208"/>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802544"/>
            <a:ext cx="11247120" cy="348800"/>
          </a:xfrm>
          <a:prstGeom prst="rect">
            <a:avLst/>
          </a:prstGeom>
          <a:noFill/>
        </p:spPr>
        <p:txBody>
          <a:bodyPr wrap="square" anchor="t" lIns="0" rIns="0" tIns="0" bIns="0">
            <a:spAutoFit/>
          </a:bodyPr>
          <a:lstStyle/>
          <a:p>
            <a:pPr>
              <a:spcBef>
                <a:spcPts val="0"/>
              </a:spcBef>
              <a:spcAft>
                <a:spcPts val="538"/>
              </a:spcAft>
            </a:pPr>
            <a:r>
              <a:rPr sz="1400" b="0" i="0">
                <a:solidFill>
                  <a:srgbClr val="000000"/>
                </a:solidFill>
                <a:latin typeface="Nirmala UI"/>
              </a:rPr>
              <a:t>Participants can:</a:t>
            </a:r>
          </a:p>
        </p:txBody>
      </p:sp>
      <p:sp>
        <p:nvSpPr>
          <p:cNvPr id="8" name="TextBox 7"/>
          <p:cNvSpPr txBox="1"/>
          <p:nvPr/>
        </p:nvSpPr>
        <p:spPr>
          <a:xfrm>
            <a:off x="457200" y="2242784"/>
            <a:ext cx="11247120" cy="3379600"/>
          </a:xfrm>
          <a:prstGeom prst="rect">
            <a:avLst/>
          </a:prstGeom>
          <a:noFill/>
        </p:spPr>
        <p:txBody>
          <a:bodyPr wrap="square" anchor="t" lIns="0" rIns="0" tIns="0" bIns="0">
            <a:spAutoFit/>
          </a:bodyPr>
          <a:lstStyle/>
          <a:p>
            <a:pPr>
              <a:spcBef>
                <a:spcPts val="0"/>
              </a:spcBef>
              <a:spcAft>
                <a:spcPts val="538"/>
              </a:spcAft>
            </a:pPr>
            <a:r>
              <a:rPr sz="1400" b="0" i="0">
                <a:solidFill>
                  <a:srgbClr val="000000"/>
                </a:solidFill>
                <a:latin typeface="Nirmala UI"/>
              </a:rPr>
              <a:t>•  </a:t>
            </a:r>
            <a:r>
              <a:rPr sz="1400" b="0" i="0">
                <a:solidFill>
                  <a:srgbClr val="000000"/>
                </a:solidFill>
                <a:latin typeface="Nirmala UI"/>
              </a:rPr>
              <a:t>[ ] Explain the role and cost of indexes</a:t>
            </a:r>
          </a:p>
          <a:p>
            <a:pPr>
              <a:spcBef>
                <a:spcPts val="0"/>
              </a:spcBef>
              <a:spcAft>
                <a:spcPts val="538"/>
              </a:spcAft>
            </a:pPr>
            <a:r>
              <a:rPr sz="1400" b="0" i="0">
                <a:solidFill>
                  <a:srgbClr val="000000"/>
                </a:solidFill>
                <a:latin typeface="Nirmala UI"/>
              </a:rPr>
              <a:t>•  </a:t>
            </a:r>
            <a:r>
              <a:rPr sz="1400" b="0" i="0">
                <a:solidFill>
                  <a:srgbClr val="000000"/>
                </a:solidFill>
                <a:latin typeface="Nirmala UI"/>
              </a:rPr>
              <a:t>[ ] Create, list, hide, and drop indexes</a:t>
            </a:r>
          </a:p>
          <a:p>
            <a:pPr>
              <a:spcBef>
                <a:spcPts val="0"/>
              </a:spcBef>
              <a:spcAft>
                <a:spcPts val="538"/>
              </a:spcAft>
            </a:pPr>
            <a:r>
              <a:rPr sz="1400" b="0" i="0">
                <a:solidFill>
                  <a:srgbClr val="000000"/>
                </a:solidFill>
                <a:latin typeface="Nirmala UI"/>
              </a:rPr>
              <a:t>•  </a:t>
            </a:r>
            <a:r>
              <a:rPr sz="1400" b="0" i="0">
                <a:solidFill>
                  <a:srgbClr val="000000"/>
                </a:solidFill>
                <a:latin typeface="Nirmala UI"/>
              </a:rPr>
              <a:t>[ ] Design single-field and compound indexes</a:t>
            </a:r>
          </a:p>
          <a:p>
            <a:pPr>
              <a:spcBef>
                <a:spcPts val="0"/>
              </a:spcBef>
              <a:spcAft>
                <a:spcPts val="538"/>
              </a:spcAft>
            </a:pPr>
            <a:r>
              <a:rPr sz="1400" b="0" i="0">
                <a:solidFill>
                  <a:srgbClr val="000000"/>
                </a:solidFill>
                <a:latin typeface="Nirmala UI"/>
              </a:rPr>
              <a:t>•  </a:t>
            </a:r>
            <a:r>
              <a:rPr sz="1400" b="0" i="0">
                <a:solidFill>
                  <a:srgbClr val="000000"/>
                </a:solidFill>
                <a:latin typeface="Nirmala UI"/>
              </a:rPr>
              <a:t>[ ] Apply prefixes and Equality–Sort–Range</a:t>
            </a:r>
          </a:p>
          <a:p>
            <a:pPr>
              <a:spcBef>
                <a:spcPts val="0"/>
              </a:spcBef>
              <a:spcAft>
                <a:spcPts val="538"/>
              </a:spcAft>
            </a:pPr>
            <a:r>
              <a:rPr sz="1400" b="0" i="0">
                <a:solidFill>
                  <a:srgbClr val="000000"/>
                </a:solidFill>
                <a:latin typeface="Nirmala UI"/>
              </a:rPr>
              <a:t>•  </a:t>
            </a:r>
            <a:r>
              <a:rPr sz="1400" b="0" i="0">
                <a:solidFill>
                  <a:srgbClr val="000000"/>
                </a:solidFill>
                <a:latin typeface="Nirmala UI"/>
              </a:rPr>
              <a:t>[ ] Create multikey and unique indexes</a:t>
            </a:r>
          </a:p>
          <a:p>
            <a:pPr>
              <a:spcBef>
                <a:spcPts val="0"/>
              </a:spcBef>
              <a:spcAft>
                <a:spcPts val="538"/>
              </a:spcAft>
            </a:pPr>
            <a:r>
              <a:rPr sz="1400" b="0" i="0">
                <a:solidFill>
                  <a:srgbClr val="000000"/>
                </a:solidFill>
                <a:latin typeface="Nirmala UI"/>
              </a:rPr>
              <a:t>•  </a:t>
            </a:r>
            <a:r>
              <a:rPr sz="1400" b="0" i="0">
                <a:solidFill>
                  <a:srgbClr val="000000"/>
                </a:solidFill>
                <a:latin typeface="Nirmala UI"/>
              </a:rPr>
              <a:t>[ ] Explain partial, sparse, TTL, wildcard, text, geo, hashed</a:t>
            </a:r>
          </a:p>
          <a:p>
            <a:pPr>
              <a:spcBef>
                <a:spcPts val="0"/>
              </a:spcBef>
              <a:spcAft>
                <a:spcPts val="538"/>
              </a:spcAft>
            </a:pPr>
            <a:r>
              <a:rPr sz="1400" b="0" i="0">
                <a:solidFill>
                  <a:srgbClr val="000000"/>
                </a:solidFill>
                <a:latin typeface="Nirmala UI"/>
              </a:rPr>
              <a:t>•  </a:t>
            </a:r>
            <a:r>
              <a:rPr sz="1400" b="0" i="0">
                <a:solidFill>
                  <a:srgbClr val="000000"/>
                </a:solidFill>
                <a:latin typeface="Nirmala UI"/>
              </a:rPr>
              <a:t>[ ] Identify possible covered queries</a:t>
            </a:r>
          </a:p>
          <a:p>
            <a:pPr>
              <a:spcBef>
                <a:spcPts val="0"/>
              </a:spcBef>
              <a:spcAft>
                <a:spcPts val="538"/>
              </a:spcAft>
            </a:pPr>
            <a:r>
              <a:rPr sz="1400" b="0" i="0">
                <a:solidFill>
                  <a:srgbClr val="000000"/>
                </a:solidFill>
                <a:latin typeface="Nirmala UI"/>
              </a:rPr>
              <a:t>•  </a:t>
            </a:r>
            <a:r>
              <a:rPr sz="1400" b="0" i="0">
                <a:solidFill>
                  <a:srgbClr val="000000"/>
                </a:solidFill>
                <a:latin typeface="Nirmala UI"/>
              </a:rPr>
              <a:t>[ ] Read essential explain output</a:t>
            </a:r>
          </a:p>
          <a:p>
            <a:pPr>
              <a:spcBef>
                <a:spcPts val="0"/>
              </a:spcBef>
              <a:spcAft>
                <a:spcPts val="538"/>
              </a:spcAft>
            </a:pPr>
            <a:r>
              <a:rPr sz="1400" b="0" i="0">
                <a:solidFill>
                  <a:srgbClr val="000000"/>
                </a:solidFill>
                <a:latin typeface="Nirmala UI"/>
              </a:rPr>
              <a:t>•  </a:t>
            </a:r>
            <a:r>
              <a:rPr sz="1400" b="0" i="0">
                <a:solidFill>
                  <a:srgbClr val="000000"/>
                </a:solidFill>
                <a:latin typeface="Nirmala UI"/>
              </a:rPr>
              <a:t>[ ] Distinguish COLLSCAN from IXSCAN</a:t>
            </a:r>
          </a:p>
          <a:p>
            <a:pPr>
              <a:spcBef>
                <a:spcPts val="0"/>
              </a:spcBef>
              <a:spcAft>
                <a:spcPts val="538"/>
              </a:spcAft>
            </a:pPr>
            <a:r>
              <a:rPr sz="1400" b="0" i="0">
                <a:solidFill>
                  <a:srgbClr val="000000"/>
                </a:solidFill>
                <a:latin typeface="Nirmala UI"/>
              </a:rPr>
              <a:t>•  </a:t>
            </a:r>
            <a:r>
              <a:rPr sz="1400" b="0" i="0">
                <a:solidFill>
                  <a:srgbClr val="000000"/>
                </a:solidFill>
                <a:latin typeface="Nirmala UI"/>
              </a:rPr>
              <a:t>[ ] Detect redundant indexes</a:t>
            </a:r>
          </a:p>
          <a:p>
            <a:pPr>
              <a:spcBef>
                <a:spcPts val="0"/>
              </a:spcBef>
              <a:spcAft>
                <a:spcPts val="538"/>
              </a:spcAft>
            </a:pPr>
            <a:r>
              <a:rPr sz="1400" b="0" i="0">
                <a:solidFill>
                  <a:srgbClr val="000000"/>
                </a:solidFill>
                <a:latin typeface="Nirmala UI"/>
              </a:rPr>
              <a:t>•  </a:t>
            </a:r>
            <a:r>
              <a:rPr sz="1400" b="0" i="0">
                <a:solidFill>
                  <a:srgbClr val="000000"/>
                </a:solidFill>
                <a:latin typeface="Nirmala UI"/>
              </a:rPr>
              <a:t>[ ] Recommend indexes using measured evidence</a:t>
            </a:r>
          </a:p>
        </p:txBody>
      </p:sp>
      <p:sp>
        <p:nvSpPr>
          <p:cNvPr id="9" name="Rectangle 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164</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QUESTIONS AND ANSWERS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584414"/>
            <a:ext cx="237744" cy="237744"/>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84414"/>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566126"/>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968462"/>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Open floor.</a:t>
            </a:r>
          </a:p>
        </p:txBody>
      </p:sp>
      <p:sp>
        <p:nvSpPr>
          <p:cNvPr id="8" name="TextBox 7"/>
          <p:cNvSpPr txBox="1"/>
          <p:nvPr/>
        </p:nvSpPr>
        <p:spPr>
          <a:xfrm>
            <a:off x="457200" y="2538594"/>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Parking-lot prompts if the room is quiet:</a:t>
            </a:r>
          </a:p>
        </p:txBody>
      </p:sp>
      <p:sp>
        <p:nvSpPr>
          <p:cNvPr id="9" name="TextBox 8"/>
          <p:cNvSpPr txBox="1"/>
          <p:nvPr/>
        </p:nvSpPr>
        <p:spPr>
          <a:xfrm>
            <a:off x="457200" y="3108726"/>
            <a:ext cx="11247120" cy="1777608"/>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0" i="0">
                <a:solidFill>
                  <a:srgbClr val="000000"/>
                </a:solidFill>
                <a:latin typeface="Nirmala UI"/>
              </a:rPr>
              <a:t>Would you index </a:t>
            </a:r>
            <a:r>
              <a:rPr sz="2000" b="0" i="0">
                <a:solidFill>
                  <a:srgbClr val="000000"/>
                </a:solidFill>
                <a:latin typeface="Consolas"/>
              </a:rPr>
              <a:t>active</a:t>
            </a:r>
            <a:r>
              <a:rPr sz="2000" b="0" i="0">
                <a:solidFill>
                  <a:srgbClr val="000000"/>
                </a:solidFill>
                <a:latin typeface="Nirmala UI"/>
              </a:rPr>
              <a:t> by itself?</a:t>
            </a:r>
          </a:p>
          <a:p>
            <a:pPr>
              <a:spcBef>
                <a:spcPts val="0"/>
              </a:spcBef>
              <a:spcAft>
                <a:spcPts val="769"/>
              </a:spcAft>
            </a:pPr>
            <a:r>
              <a:rPr sz="2000" b="0" i="0">
                <a:solidFill>
                  <a:srgbClr val="000000"/>
                </a:solidFill>
                <a:latin typeface="Nirmala UI"/>
              </a:rPr>
              <a:t>•  </a:t>
            </a:r>
            <a:r>
              <a:rPr sz="2000" b="0" i="0">
                <a:solidFill>
                  <a:srgbClr val="000000"/>
                </a:solidFill>
                <a:latin typeface="Nirmala UI"/>
              </a:rPr>
              <a:t>How would you prove a hidden index is safe to drop?</a:t>
            </a:r>
          </a:p>
          <a:p>
            <a:pPr>
              <a:spcBef>
                <a:spcPts val="0"/>
              </a:spcBef>
              <a:spcAft>
                <a:spcPts val="769"/>
              </a:spcAft>
            </a:pPr>
            <a:r>
              <a:rPr sz="2000" b="0" i="0">
                <a:solidFill>
                  <a:srgbClr val="000000"/>
                </a:solidFill>
                <a:latin typeface="Nirmala UI"/>
              </a:rPr>
              <a:t>•  </a:t>
            </a:r>
            <a:r>
              <a:rPr sz="2000" b="0" i="0">
                <a:solidFill>
                  <a:srgbClr val="000000"/>
                </a:solidFill>
                <a:latin typeface="Nirmala UI"/>
              </a:rPr>
              <a:t>When is a wildcard index the wrong answer?</a:t>
            </a:r>
          </a:p>
          <a:p>
            <a:pPr>
              <a:spcBef>
                <a:spcPts val="0"/>
              </a:spcBef>
              <a:spcAft>
                <a:spcPts val="769"/>
              </a:spcAft>
            </a:pPr>
            <a:r>
              <a:rPr sz="2000" b="0" i="0">
                <a:solidFill>
                  <a:srgbClr val="000000"/>
                </a:solidFill>
                <a:latin typeface="Nirmala UI"/>
              </a:rPr>
              <a:t>•  </a:t>
            </a:r>
            <a:r>
              <a:rPr sz="2000" b="0" i="0">
                <a:solidFill>
                  <a:srgbClr val="000000"/>
                </a:solidFill>
                <a:latin typeface="Nirmala UI"/>
              </a:rPr>
              <a:t>Why might </a:t>
            </a:r>
            <a:r>
              <a:rPr sz="2000" b="0" i="0">
                <a:solidFill>
                  <a:srgbClr val="000000"/>
                </a:solidFill>
                <a:latin typeface="Consolas"/>
              </a:rPr>
              <a:t>$lookup</a:t>
            </a:r>
            <a:r>
              <a:rPr sz="2000" b="0" i="0">
                <a:solidFill>
                  <a:srgbClr val="000000"/>
                </a:solidFill>
                <a:latin typeface="Nirmala UI"/>
              </a:rPr>
              <a:t> still be slow with an index on </a:t>
            </a:r>
            <a:r>
              <a:rPr sz="2000" b="0" i="0">
                <a:solidFill>
                  <a:srgbClr val="000000"/>
                </a:solidFill>
                <a:latin typeface="Consolas"/>
              </a:rPr>
              <a:t>_id</a:t>
            </a:r>
            <a:r>
              <a:rPr sz="2000" b="0" i="0">
                <a:solidFill>
                  <a:srgbClr val="000000"/>
                </a:solidFill>
                <a:latin typeface="Nirmala UI"/>
              </a:rPr>
              <a:t>?</a:t>
            </a:r>
          </a:p>
        </p:txBody>
      </p:sp>
      <p:sp>
        <p:nvSpPr>
          <p:cNvPr id="10" name="TextBox 9"/>
          <p:cNvSpPr txBox="1"/>
          <p:nvPr/>
        </p:nvSpPr>
        <p:spPr>
          <a:xfrm>
            <a:off x="457200" y="4977774"/>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Park replica-set lag and shard-key design for Module 7.</a:t>
            </a:r>
          </a:p>
        </p:txBody>
      </p:sp>
      <p:sp>
        <p:nvSpPr>
          <p:cNvPr id="11" name="Rectangle 1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165</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DAY 3 PATH — FROM QUERY SHAPE TO SCALE</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936692"/>
            <a:ext cx="237744" cy="237744"/>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936692"/>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918404"/>
            <a:ext cx="351129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320740"/>
            <a:ext cx="3840480" cy="2783448"/>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0" i="0">
                <a:solidFill>
                  <a:srgbClr val="000000"/>
                </a:solidFill>
                <a:latin typeface="Nirmala UI"/>
              </a:rPr>
              <a:t>Index the recurring shape</a:t>
            </a:r>
          </a:p>
          <a:p>
            <a:pPr>
              <a:spcBef>
                <a:spcPts val="0"/>
              </a:spcBef>
              <a:spcAft>
                <a:spcPts val="769"/>
              </a:spcAft>
            </a:pPr>
            <a:r>
              <a:rPr sz="2000" b="0" i="0">
                <a:solidFill>
                  <a:srgbClr val="000000"/>
                </a:solidFill>
                <a:latin typeface="Nirmala UI"/>
              </a:rPr>
              <a:t>•  </a:t>
            </a:r>
            <a:r>
              <a:rPr sz="2000" b="0" i="0">
                <a:solidFill>
                  <a:srgbClr val="000000"/>
                </a:solidFill>
                <a:latin typeface="Nirmala UI"/>
              </a:rPr>
              <a:t>Prove it with explain</a:t>
            </a:r>
          </a:p>
          <a:p>
            <a:pPr>
              <a:spcBef>
                <a:spcPts val="0"/>
              </a:spcBef>
              <a:spcAft>
                <a:spcPts val="769"/>
              </a:spcAft>
            </a:pPr>
            <a:r>
              <a:rPr sz="2000" b="0" i="0">
                <a:solidFill>
                  <a:srgbClr val="000000"/>
                </a:solidFill>
                <a:latin typeface="Nirmala UI"/>
              </a:rPr>
              <a:t>•  </a:t>
            </a:r>
            <a:r>
              <a:rPr sz="2000" b="0" i="0">
                <a:solidFill>
                  <a:srgbClr val="000000"/>
                </a:solidFill>
                <a:latin typeface="Nirmala UI"/>
              </a:rPr>
              <a:t>Watch write and storage cost</a:t>
            </a:r>
          </a:p>
          <a:p>
            <a:pPr>
              <a:spcBef>
                <a:spcPts val="0"/>
              </a:spcBef>
              <a:spcAft>
                <a:spcPts val="769"/>
              </a:spcAft>
            </a:pPr>
            <a:r>
              <a:rPr sz="2000" b="0" i="0">
                <a:solidFill>
                  <a:srgbClr val="000000"/>
                </a:solidFill>
                <a:latin typeface="Nirmala UI"/>
              </a:rPr>
              <a:t>•  </a:t>
            </a:r>
            <a:r>
              <a:rPr sz="2000" b="1" i="0">
                <a:solidFill>
                  <a:srgbClr val="000000"/>
                </a:solidFill>
                <a:latin typeface="Nirmala UI"/>
              </a:rPr>
              <a:t>Next: </a:t>
            </a:r>
            <a:r>
              <a:rPr sz="2000" b="0" i="0">
                <a:solidFill>
                  <a:srgbClr val="000000"/>
                </a:solidFill>
                <a:latin typeface="Nirmala UI"/>
              </a:rPr>
              <a:t>replica sets and sharding</a:t>
            </a:r>
          </a:p>
        </p:txBody>
      </p:sp>
      <p:sp>
        <p:nvSpPr>
          <p:cNvPr id="8" name="Rectangle 7"/>
          <p:cNvSpPr/>
          <p:nvPr/>
        </p:nvSpPr>
        <p:spPr>
          <a:xfrm>
            <a:off x="4471035" y="2310576"/>
            <a:ext cx="7242810" cy="2492880"/>
          </a:xfrm>
          <a:prstGeom prst="rect">
            <a:avLst/>
          </a:prstGeom>
          <a:solidFill>
            <a:srgbClr val="FFFFFF"/>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2"/>
          <a:stretch>
            <a:fillRect/>
          </a:stretch>
        </p:blipFill>
        <p:spPr>
          <a:xfrm>
            <a:off x="4480560" y="2320101"/>
            <a:ext cx="7223760" cy="2473830"/>
          </a:xfrm>
          <a:prstGeom prst="rect">
            <a:avLst/>
          </a:prstGeom>
        </p:spPr>
      </p:pic>
      <p:sp>
        <p:nvSpPr>
          <p:cNvPr id="10" name="Rectangle 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166</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TRANSITION TO MODULE 7: REPLICATION AND SHARDING</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6</a:t>
            </a:r>
          </a:p>
        </p:txBody>
      </p:sp>
      <p:sp>
        <p:nvSpPr>
          <p:cNvPr id="4" name="Oval 3"/>
          <p:cNvSpPr/>
          <p:nvPr/>
        </p:nvSpPr>
        <p:spPr>
          <a:xfrm>
            <a:off x="457200" y="1501456"/>
            <a:ext cx="237744" cy="237744"/>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01456"/>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483168"/>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885504"/>
            <a:ext cx="11247120" cy="348800"/>
          </a:xfrm>
          <a:prstGeom prst="rect">
            <a:avLst/>
          </a:prstGeom>
          <a:noFill/>
        </p:spPr>
        <p:txBody>
          <a:bodyPr wrap="square" anchor="t" lIns="0" rIns="0" tIns="0" bIns="0">
            <a:spAutoFit/>
          </a:bodyPr>
          <a:lstStyle/>
          <a:p>
            <a:pPr>
              <a:spcBef>
                <a:spcPts val="0"/>
              </a:spcBef>
              <a:spcAft>
                <a:spcPts val="538"/>
              </a:spcAft>
            </a:pPr>
            <a:r>
              <a:rPr sz="1400" b="0" i="0">
                <a:solidFill>
                  <a:srgbClr val="000000"/>
                </a:solidFill>
                <a:latin typeface="Nirmala UI"/>
              </a:rPr>
              <a:t>Module 7 moves from individual query performance to distributed availability and scale:</a:t>
            </a:r>
          </a:p>
        </p:txBody>
      </p:sp>
      <p:sp>
        <p:nvSpPr>
          <p:cNvPr id="8" name="TextBox 7"/>
          <p:cNvSpPr txBox="1"/>
          <p:nvPr/>
        </p:nvSpPr>
        <p:spPr>
          <a:xfrm>
            <a:off x="457200" y="2325744"/>
            <a:ext cx="11247120" cy="2773440"/>
          </a:xfrm>
          <a:prstGeom prst="rect">
            <a:avLst/>
          </a:prstGeom>
          <a:noFill/>
        </p:spPr>
        <p:txBody>
          <a:bodyPr wrap="square" anchor="t" lIns="0" rIns="0" tIns="0" bIns="0">
            <a:spAutoFit/>
          </a:bodyPr>
          <a:lstStyle/>
          <a:p>
            <a:pPr>
              <a:spcBef>
                <a:spcPts val="0"/>
              </a:spcBef>
              <a:spcAft>
                <a:spcPts val="538"/>
              </a:spcAft>
            </a:pPr>
            <a:r>
              <a:rPr sz="1400" b="0" i="0">
                <a:solidFill>
                  <a:srgbClr val="000000"/>
                </a:solidFill>
                <a:latin typeface="Nirmala UI"/>
              </a:rPr>
              <a:t>•  </a:t>
            </a:r>
            <a:r>
              <a:rPr sz="1400" b="0" i="0">
                <a:solidFill>
                  <a:srgbClr val="000000"/>
                </a:solidFill>
                <a:latin typeface="Nirmala UI"/>
              </a:rPr>
              <a:t>Replica-set architecture</a:t>
            </a:r>
          </a:p>
          <a:p>
            <a:pPr>
              <a:spcBef>
                <a:spcPts val="0"/>
              </a:spcBef>
              <a:spcAft>
                <a:spcPts val="538"/>
              </a:spcAft>
            </a:pPr>
            <a:r>
              <a:rPr sz="1400" b="0" i="0">
                <a:solidFill>
                  <a:srgbClr val="000000"/>
                </a:solidFill>
                <a:latin typeface="Nirmala UI"/>
              </a:rPr>
              <a:t>•  </a:t>
            </a:r>
            <a:r>
              <a:rPr sz="1400" b="0" i="0">
                <a:solidFill>
                  <a:srgbClr val="000000"/>
                </a:solidFill>
                <a:latin typeface="Nirmala UI"/>
              </a:rPr>
              <a:t>Primary and secondary members</a:t>
            </a:r>
          </a:p>
          <a:p>
            <a:pPr>
              <a:spcBef>
                <a:spcPts val="0"/>
              </a:spcBef>
              <a:spcAft>
                <a:spcPts val="538"/>
              </a:spcAft>
            </a:pPr>
            <a:r>
              <a:rPr sz="1400" b="0" i="0">
                <a:solidFill>
                  <a:srgbClr val="000000"/>
                </a:solidFill>
                <a:latin typeface="Nirmala UI"/>
              </a:rPr>
              <a:t>•  </a:t>
            </a:r>
            <a:r>
              <a:rPr sz="1400" b="0" i="0">
                <a:solidFill>
                  <a:srgbClr val="000000"/>
                </a:solidFill>
                <a:latin typeface="Nirmala UI"/>
              </a:rPr>
              <a:t>Elections and automatic failover</a:t>
            </a:r>
          </a:p>
          <a:p>
            <a:pPr>
              <a:spcBef>
                <a:spcPts val="0"/>
              </a:spcBef>
              <a:spcAft>
                <a:spcPts val="538"/>
              </a:spcAft>
            </a:pPr>
            <a:r>
              <a:rPr sz="1400" b="0" i="0">
                <a:solidFill>
                  <a:srgbClr val="000000"/>
                </a:solidFill>
                <a:latin typeface="Nirmala UI"/>
              </a:rPr>
              <a:t>•  </a:t>
            </a:r>
            <a:r>
              <a:rPr sz="1400" b="0" i="0">
                <a:solidFill>
                  <a:srgbClr val="000000"/>
                </a:solidFill>
                <a:latin typeface="Nirmala UI"/>
              </a:rPr>
              <a:t>Read and write concerns</a:t>
            </a:r>
          </a:p>
          <a:p>
            <a:pPr>
              <a:spcBef>
                <a:spcPts val="0"/>
              </a:spcBef>
              <a:spcAft>
                <a:spcPts val="538"/>
              </a:spcAft>
            </a:pPr>
            <a:r>
              <a:rPr sz="1400" b="0" i="0">
                <a:solidFill>
                  <a:srgbClr val="000000"/>
                </a:solidFill>
                <a:latin typeface="Nirmala UI"/>
              </a:rPr>
              <a:t>•  </a:t>
            </a:r>
            <a:r>
              <a:rPr sz="1400" b="0" i="0">
                <a:solidFill>
                  <a:srgbClr val="000000"/>
                </a:solidFill>
                <a:latin typeface="Nirmala UI"/>
              </a:rPr>
              <a:t>Sharding architecture and shard keys</a:t>
            </a:r>
          </a:p>
          <a:p>
            <a:pPr>
              <a:spcBef>
                <a:spcPts val="0"/>
              </a:spcBef>
              <a:spcAft>
                <a:spcPts val="538"/>
              </a:spcAft>
            </a:pPr>
            <a:r>
              <a:rPr sz="1400" b="0" i="0">
                <a:solidFill>
                  <a:srgbClr val="000000"/>
                </a:solidFill>
                <a:latin typeface="Nirmala UI"/>
              </a:rPr>
              <a:t>•  </a:t>
            </a:r>
            <a:r>
              <a:rPr sz="1400" b="0" i="0">
                <a:solidFill>
                  <a:srgbClr val="000000"/>
                </a:solidFill>
                <a:latin typeface="Nirmala UI"/>
              </a:rPr>
              <a:t>Routers and configuration servers</a:t>
            </a:r>
          </a:p>
          <a:p>
            <a:pPr>
              <a:spcBef>
                <a:spcPts val="0"/>
              </a:spcBef>
              <a:spcAft>
                <a:spcPts val="538"/>
              </a:spcAft>
            </a:pPr>
            <a:r>
              <a:rPr sz="1400" b="0" i="0">
                <a:solidFill>
                  <a:srgbClr val="000000"/>
                </a:solidFill>
                <a:latin typeface="Nirmala UI"/>
              </a:rPr>
              <a:t>•  </a:t>
            </a:r>
            <a:r>
              <a:rPr sz="1400" b="0" i="0">
                <a:solidFill>
                  <a:srgbClr val="000000"/>
                </a:solidFill>
                <a:latin typeface="Nirmala UI"/>
              </a:rPr>
              <a:t>Balancing and data distribution</a:t>
            </a:r>
          </a:p>
          <a:p>
            <a:pPr>
              <a:spcBef>
                <a:spcPts val="0"/>
              </a:spcBef>
              <a:spcAft>
                <a:spcPts val="538"/>
              </a:spcAft>
            </a:pPr>
            <a:r>
              <a:rPr sz="1400" b="0" i="0">
                <a:solidFill>
                  <a:srgbClr val="000000"/>
                </a:solidFill>
                <a:latin typeface="Nirmala UI"/>
              </a:rPr>
              <a:t>•  </a:t>
            </a:r>
            <a:r>
              <a:rPr sz="1400" b="0" i="0">
                <a:solidFill>
                  <a:srgbClr val="000000"/>
                </a:solidFill>
                <a:latin typeface="Nirmala UI"/>
              </a:rPr>
              <a:t>Replication versus sharding</a:t>
            </a:r>
          </a:p>
          <a:p>
            <a:pPr>
              <a:spcBef>
                <a:spcPts val="0"/>
              </a:spcBef>
              <a:spcAft>
                <a:spcPts val="538"/>
              </a:spcAft>
            </a:pPr>
            <a:r>
              <a:rPr sz="1400" b="0" i="0">
                <a:solidFill>
                  <a:srgbClr val="000000"/>
                </a:solidFill>
                <a:latin typeface="Nirmala UI"/>
              </a:rPr>
              <a:t>•  </a:t>
            </a:r>
            <a:r>
              <a:rPr sz="1400" b="0" i="0">
                <a:solidFill>
                  <a:srgbClr val="000000"/>
                </a:solidFill>
                <a:latin typeface="Nirmala UI"/>
              </a:rPr>
              <a:t>High-availability and scaling decisions</a:t>
            </a:r>
          </a:p>
        </p:txBody>
      </p:sp>
      <p:sp>
        <p:nvSpPr>
          <p:cNvPr id="9" name="TextBox 8"/>
          <p:cNvSpPr txBox="1"/>
          <p:nvPr/>
        </p:nvSpPr>
        <p:spPr>
          <a:xfrm>
            <a:off x="457200" y="5190624"/>
            <a:ext cx="11247120" cy="348800"/>
          </a:xfrm>
          <a:prstGeom prst="rect">
            <a:avLst/>
          </a:prstGeom>
          <a:noFill/>
        </p:spPr>
        <p:txBody>
          <a:bodyPr wrap="square" anchor="t" lIns="0" rIns="0" tIns="0" bIns="0">
            <a:spAutoFit/>
          </a:bodyPr>
          <a:lstStyle/>
          <a:p>
            <a:pPr>
              <a:spcBef>
                <a:spcPts val="0"/>
              </a:spcBef>
              <a:spcAft>
                <a:spcPts val="538"/>
              </a:spcAft>
            </a:pPr>
            <a:r>
              <a:rPr sz="1400" b="0" i="0">
                <a:solidFill>
                  <a:srgbClr val="000000"/>
                </a:solidFill>
                <a:latin typeface="Nirmala UI"/>
              </a:rPr>
              <a:t>Hashed indexes you saw today reappear as hashed shard keys.</a:t>
            </a:r>
          </a:p>
        </p:txBody>
      </p:sp>
      <p:sp>
        <p:nvSpPr>
          <p:cNvPr id="10" name="Rectangle 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1700" b="1" i="0">
                <a:solidFill>
                  <a:srgbClr val="D1282E"/>
                </a:solidFill>
                <a:latin typeface="Nirmala UI"/>
              </a:rPr>
              <a:t>167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168</Slides>
  <Notes>168</Notes>
  <HiddenSlides>0</HiddenSlides>
  <MMClips>0</MMClips>
  <ScaleCrop>false</ScaleCrop>
  <HeadingPairs>
    <vt:vector size="4" baseType="variant">
      <vt:variant>
        <vt:lpstr>Theme</vt:lpstr>
      </vt:variant>
      <vt:variant>
        <vt:i4>1</vt:i4>
      </vt:variant>
      <vt:variant>
        <vt:lpstr>Slide Titles</vt:lpstr>
      </vt:variant>
      <vt:variant>
        <vt:i4>168</vt:i4>
      </vt:variant>
    </vt:vector>
  </HeadingPairs>
  <TitlesOfParts>
    <vt:vector size="16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