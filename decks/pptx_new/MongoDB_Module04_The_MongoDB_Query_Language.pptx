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What MQL is</a:t>
            </a:r>
          </a:p>
          <a:p/>
          <a:p>
            <a:r>
              <a:t>  The MongoDB Query Language, MQL, is how we read, filter, shape, insert, update and delete documents.</a:t>
            </a:r>
          </a:p>
          <a:p/>
          <a:p>
            <a:r>
              <a:t>  Its filters are themselves documents, shaped like the data they match.</a:t>
            </a:r>
          </a:p>
          <a:p/>
          <a:p>
            <a:r>
              <a:t>- What this module does</a:t>
            </a:r>
          </a:p>
          <a:p/>
          <a:p>
            <a:r>
              <a:t>  Five parts: reading documents, query operators, nested fields and arrays, inserts and updates, and finally deletes, bulk writes and safe practice.</a:t>
            </a:r>
          </a:p>
          <a:p/>
          <a:p>
            <a:r>
              <a:t>  Everything runs on training_store.</a:t>
            </a:r>
          </a:p>
          <a:p/>
          <a:p>
            <a:r>
              <a:t>- Where it sits</a:t>
            </a:r>
          </a:p>
          <a:p/>
          <a:p>
            <a:r>
              <a:t>  Module 4 opens Day 2, right after Module 3 designed the documents.</a:t>
            </a:r>
          </a:p>
          <a:p/>
          <a:p>
            <a:r>
              <a:t>  Module 5, aggregation, reuses today's filters and projections as pipeline stages.</a:t>
            </a:r>
          </a:p>
          <a:p/>
          <a:p/>
          <a:p>
            <a:r>
              <a:t>REAL-WORLD EXAMPLES</a:t>
            </a:r>
          </a:p>
          <a:p>
            <a:r>
              <a:t>-------------------</a:t>
            </a:r>
          </a:p>
          <a:p/>
          <a:p>
            <a:r>
              <a:t>- An online store's product page is a findOne by SKU, its category page is a filtered, sorted and paged find, and checkout is a guarded update of stock.</a:t>
            </a:r>
          </a:p>
          <a:p/>
          <a:p>
            <a:r>
              <a:t>  This module covers all three.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By the end of this module</a:t>
            </a:r>
          </a:p>
          <a:p/>
          <a:p>
            <a:r>
              <a:t>  Walk through the six objectives on the left.</a:t>
            </a:r>
          </a:p>
          <a:p/>
          <a:p>
            <a:r>
              <a:t>  Learners should be able to read documents with find() and findOne(), shape results with projection, sort, paging and counts, combine operators, query nested fields and arrays, insert, update, upsert and replace documents, and delete safely while reading every write result.</a:t>
            </a:r>
          </a:p>
          <a:p/>
          <a:p>
            <a:r>
              <a:t>- Six questions this module answers</a:t>
            </a:r>
          </a:p>
          <a:p/>
          <a:p>
            <a:r>
              <a:t>  Which documents does my filter match?</a:t>
            </a:r>
          </a:p>
          <a:p/>
          <a:p>
            <a:r>
              <a:t>  What fields should come back?</a:t>
            </a:r>
          </a:p>
          <a:p/>
          <a:p>
            <a:r>
              <a:t>  How do operators combine?</a:t>
            </a:r>
          </a:p>
          <a:p/>
          <a:p>
            <a:r>
              <a:t>  When is $elemMatch required?</a:t>
            </a:r>
          </a:p>
          <a:p/>
          <a:p>
            <a:r>
              <a:t>  How do I change only what I mean?</a:t>
            </a:r>
          </a:p>
          <a:p/>
          <a:p>
            <a:r>
              <a:t>  And how do I prove a write was right?</a:t>
            </a:r>
          </a:p>
          <a:p/>
          <a:p>
            <a:r>
              <a:t>- Set the expectation</a:t>
            </a:r>
          </a:p>
          <a:p/>
          <a:p>
            <a:r>
              <a:t>  Precision is the skill: the right field name, the right case, the right BSON type.</a:t>
            </a:r>
          </a:p>
          <a:p/>
          <a:p>
            <a:r>
              <a:t>  The roadmap at the bottom shows the path through the module.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Read each term once and give a quick example from the training_store sample database.</a:t>
            </a:r>
          </a:p>
          <a:p/>
          <a:p>
            <a:r>
              <a:t>- Query filter</a:t>
            </a:r>
          </a:p>
          <a:p/>
          <a:p>
            <a:r>
              <a:t>  A document that says which documents match, e.g. { category: "BOOK" }.</a:t>
            </a:r>
          </a:p>
          <a:p/>
          <a:p>
            <a:r>
              <a:t>  {} matches every document.</a:t>
            </a:r>
          </a:p>
          <a:p/>
          <a:p>
            <a:r>
              <a:t>- Projection</a:t>
            </a:r>
          </a:p>
          <a:p/>
          <a:p>
            <a:r>
              <a:t>  The second find() argument: it chooses which fields come back, e.g. { name: 1, _id: 0 }.</a:t>
            </a:r>
          </a:p>
          <a:p/>
          <a:p>
            <a:r>
              <a:t>- Cursor</a:t>
            </a:r>
          </a:p>
          <a:p/>
          <a:p>
            <a:r>
              <a:t>  What find() returns: a pointer that hands back matching documents in batches, not all at once.</a:t>
            </a:r>
          </a:p>
          <a:p/>
          <a:p>
            <a:r>
              <a:t>- Dot notation</a:t>
            </a:r>
          </a:p>
          <a:p/>
          <a:p>
            <a:r>
              <a:t>  A quoted path into nested fields and arrays, such as "attributes.sizes" or "items.sku".</a:t>
            </a:r>
          </a:p>
          <a:p/>
          <a:p>
            <a:r>
              <a:t>- $elemMatch</a:t>
            </a:r>
          </a:p>
          <a:p/>
          <a:p>
            <a:r>
              <a:t>  Requires one array element to meet every condition — not different elements for different conditions.</a:t>
            </a:r>
          </a:p>
          <a:p/>
          <a:p>
            <a:r>
              <a:t>- Update operator</a:t>
            </a:r>
          </a:p>
          <a:p/>
          <a:p>
            <a:r>
              <a:t>  $set, $inc, $push and friends: change named fields in place instead of replacing the document.</a:t>
            </a:r>
          </a:p>
          <a:p/>
          <a:p>
            <a:r>
              <a:t>- Upsert</a:t>
            </a:r>
          </a:p>
          <a:p/>
          <a:p>
            <a:r>
              <a:t>  { upsert: true }: update the match, or insert a new document when nothing matches the filter.</a:t>
            </a:r>
          </a:p>
          <a:p/>
          <a:p>
            <a:r>
              <a:t>- Write result</a:t>
            </a:r>
          </a:p>
          <a:p/>
          <a:p>
            <a:r>
              <a:t>  What every write returns: acknowledged, matchedCount, modifiedCount, insertedId, deletedCount.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this slide</a:t>
            </a:r>
          </a:p>
          <a:p/>
          <a:p>
            <a:r>
              <a:t>  Don't read every row.</a:t>
            </a:r>
          </a:p>
          <a:p/>
          <a:p>
            <a:r>
              <a:t>  Point out the few this module uses most, and say the full list is here for reference.</a:t>
            </a:r>
          </a:p>
          <a:p/>
          <a:p>
            <a:r>
              <a:t>- Reference</a:t>
            </a:r>
          </a:p>
          <a:p/>
          <a:p>
            <a:r>
              <a:t>  BSON is Binary JSON; CRUD is Create, Read, Update, Delete; ID is Identifier; ISO is International Organization for Standardization (ISODate uses the ISO 8601 date format); JSON is JavaScript Object Notation; MQL is MongoDB Query Language; SKU is Stock Keeping Unit; SQL is Structured Query Language; USB is Universal Serial Bus; UTC is Coordinated Universal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Where we are</a:t>
            </a:r>
          </a:p>
          <a:p/>
          <a:p>
            <a:r>
              <a:t>  Module 4 opens Day 2.</a:t>
            </a:r>
          </a:p>
          <a:p/>
          <a:p>
            <a:r>
              <a:t>  On Day 1, Module 3 designed the training_store documents: products with category attributes, orders that embed their items and reference their customer, and reviews in their own collection.</a:t>
            </a:r>
          </a:p>
          <a:p/>
          <a:p>
            <a:r>
              <a:t>- Why it matters now</a:t>
            </a:r>
          </a:p>
          <a:p/>
          <a:p>
            <a:r>
              <a:t>  Queries follow the document shape.</a:t>
            </a:r>
          </a:p>
          <a:p/>
          <a:p>
            <a:r>
              <a:t>  Because items are embedded, we query "items.sku" instead of joining.</a:t>
            </a:r>
          </a:p>
          <a:p/>
          <a:p>
            <a:r>
              <a:t>  Because prices are Decimal128, we compare with Decimal128 values.</a:t>
            </a:r>
          </a:p>
          <a:p/>
          <a:p>
            <a:r>
              <a:t>- The path</a:t>
            </a:r>
          </a:p>
          <a:p/>
          <a:p>
            <a:r>
              <a:t>  Five parts: reading and shaping results, operators, nested fields and arrays, inserts and updates, and finally deletes, bulk writes and verification.</a:t>
            </a:r>
          </a:p>
          <a:p/>
          <a:p>
            <a:r>
              <a:t>  Day 2 Lab 3 practises all of it.</a:t>
            </a:r>
          </a:p>
          <a:p/>
          <a:p>
            <a:r>
              <a:t>- Before class</a:t>
            </a:r>
          </a:p>
          <a:p/>
          <a:p>
            <a:r>
              <a:t>  Reload the dataset with mongosh and datasets/training_store/load.js so everyone sees the same counts.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counts</a:t>
            </a:r>
          </a:p>
          <a:p/>
          <a:p>
            <a:r>
              <a:t>  On a fresh load: 6 customers, 13 products, 17 orders and 6 reviews.</a:t>
            </a:r>
          </a:p>
          <a:p/>
          <a:p>
            <a:r>
              <a:t>  13 orders are PAID.</a:t>
            </a:r>
          </a:p>
          <a:p/>
          <a:p>
            <a:r>
              <a:t>  These numbers come back in every exercise.</a:t>
            </a:r>
          </a:p>
          <a:p/>
          <a:p>
            <a:r>
              <a:t>- Field names</a:t>
            </a:r>
          </a:p>
          <a:p/>
          <a:p>
            <a:r>
              <a:t>  Use the names exactly as stored: sku, category, price, tags, attributes; customerNumber and contact.email; orderNumber, items, paymentStatus and fulfillmentStatus.</a:t>
            </a:r>
          </a:p>
          <a:p/>
          <a:p>
            <a:r>
              <a:t>  Orders have no status field, and products have no stock field.</a:t>
            </a:r>
          </a:p>
          <a:p/>
          <a:p>
            <a:r>
              <a:t>- Planted fixtures</a:t>
            </a:r>
          </a:p>
          <a:p/>
          <a:p>
            <a:r>
              <a:t>  The loader plants traps on purpose.</a:t>
            </a:r>
          </a:p>
          <a:p/>
          <a:p>
            <a:r>
              <a:t>  XBAD, Legacy Cable Pack, stores its price as a string.</a:t>
            </a:r>
          </a:p>
          <a:p/>
          <a:p>
            <a:r>
              <a:t>  C204's phone is null and C515 has no phone field.</a:t>
            </a:r>
          </a:p>
          <a:p/>
          <a:p>
            <a:r>
              <a:t>  L190 is inactive and tagged discontinued.</a:t>
            </a:r>
          </a:p>
          <a:p/>
          <a:p>
            <a:r>
              <a:t>  O5001 has L100 quantity 1 and A410 quantity 2 — the $elemMatch trap.</a:t>
            </a:r>
          </a:p>
          <a:p/>
          <a:p>
            <a:r>
              <a:t>- About the guides</a:t>
            </a:r>
          </a:p>
          <a:p/>
          <a:p>
            <a:r>
              <a:t>  Some older examples say Electronics, ELEC-1001, stock or status Processing.</a:t>
            </a:r>
          </a:p>
          <a:p/>
          <a:p>
            <a:r>
              <a:t>  Those are generic; the lab guide and these slides use the real training_store fields.</a:t>
            </a:r>
          </a:p>
          <a:p/>
          <a:p>
            <a:r>
              <a:t>- Demo 4.1</a:t>
            </a:r>
          </a:p>
          <a:p/>
          <a:p>
            <a:r>
              <a:t>  Run show collections and one findOne() per collection.</a:t>
            </a:r>
          </a:p>
          <a:p/>
          <a:p>
            <a:r>
              <a:t>  Ask the class to point at a nested object, an array and a Decimal128 before writing any filter.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Where we start</a:t>
            </a:r>
          </a:p>
          <a:p/>
          <a:p>
            <a:r>
              <a:t>  Every operation in this module starts with a filter, so we begin with reading: which documents match, and what comes back.</a:t>
            </a:r>
          </a:p>
          <a:p/>
          <a:p>
            <a:r>
              <a:t>- What this part answers</a:t>
            </a:r>
          </a:p>
          <a:p/>
          <a:p>
            <a:r>
              <a:t>  How filters work, when to use findOne() or find(), how to shape results with projection, sort, skip and limit, and how to count.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 filter is a document</a:t>
            </a:r>
          </a:p>
          <a:p/>
          <a:p>
            <a:r>
              <a:t>  Each field-value pair in the filter is a condition, and a document matches only when every condition is true.</a:t>
            </a:r>
          </a:p>
          <a:p/>
          <a:p>
            <a:r>
              <a:t>  That is an implicit AND.</a:t>
            </a:r>
          </a:p>
          <a:p/>
          <a:p>
            <a:r>
              <a:t>- Exact and case-sensitive</a:t>
            </a:r>
          </a:p>
          <a:p/>
          <a:p>
            <a:r>
              <a:t>  Equality is exact.</a:t>
            </a:r>
          </a:p>
          <a:p/>
          <a:p>
            <a:r>
              <a:t>  category "LAPTOP" matches three products: L100, L110 and L190.</a:t>
            </a:r>
          </a:p>
          <a:p/>
          <a:p>
            <a:r>
              <a:t>  "Laptop" matches none, because the stored values are uppercase.</a:t>
            </a:r>
          </a:p>
          <a:p/>
          <a:p>
            <a:r>
              <a:t>  Field names are case-sensitive too.</a:t>
            </a:r>
          </a:p>
          <a:p/>
          <a:p>
            <a:r>
              <a:t>- On training_store</a:t>
            </a:r>
          </a:p>
          <a:p/>
          <a:p>
            <a:r>
              <a:t>  BOOK with price below Decimal128 50.00 returns only Query Cookbook at 39.99.</a:t>
            </a:r>
          </a:p>
          <a:p/>
          <a:p>
            <a:r>
              <a:t>  MongoDB Fundamentals at 59.99 fails the price condition.</a:t>
            </a:r>
          </a:p>
          <a:p/>
          <a:p>
            <a:r>
              <a:t>- Diagram data versus our data</a:t>
            </a:r>
          </a:p>
          <a:p/>
          <a:p>
            <a:r>
              <a:t>  The diagram uses simplified sample documents, not training_store.</a:t>
            </a:r>
          </a:p>
          <a:p/>
          <a:p>
            <a:r>
              <a:t>  Its categories, Training, Office and Books, are illustrations; ours are LAPTOP, SHOE, BOOK and ACCESSORY.</a:t>
            </a:r>
          </a:p>
          <a:p/>
          <a:p>
            <a:r>
              <a:t>- What it shows</a:t>
            </a:r>
          </a:p>
          <a:p/>
          <a:p>
            <a:r>
              <a:t>  mongosh or Compass sends a query to mongod, which reads the products collection.</a:t>
            </a:r>
          </a:p>
          <a:p/>
          <a:p>
            <a:r>
              <a:t>  Five sample documents, A to E, pass through the filter { category: "Training", price: { $lt: 50 } }.</a:t>
            </a:r>
          </a:p>
          <a:p/>
          <a:p>
            <a:r>
              <a:t>- How to read it</a:t>
            </a:r>
          </a:p>
          <a:p/>
          <a:p>
            <a:r>
              <a:t>  A green check means both conditions are true.</a:t>
            </a:r>
          </a:p>
          <a:p/>
          <a:p>
            <a:r>
              <a:t>  A (Training, 29) and D (Training, 39) match.</a:t>
            </a:r>
          </a:p>
          <a:p/>
          <a:p>
            <a:r>
              <a:t>  B is Office, C costs 65 and E is Books, so they get a red cross.</a:t>
            </a:r>
          </a:p>
          <a:p/>
          <a:p>
            <a:r>
              <a:t>  Matched documents: 2.</a:t>
            </a:r>
          </a:p>
          <a:p/>
          <a:p>
            <a:r>
              <a:t>- Key point</a:t>
            </a:r>
          </a:p>
          <a:p/>
          <a:p>
            <a:r>
              <a:t>  Every condition in one filter document must be true for a document to match.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findOne()</a:t>
            </a:r>
          </a:p>
          <a:p/>
          <a:p>
            <a:r>
              <a:t>  findOne() returns a single document, or null when nothing matches.</a:t>
            </a:r>
          </a:p>
          <a:p/>
          <a:p>
            <a:r>
              <a:t>  Use it with a unique field: findOne({ sku: "L100" }) returns the Business Laptop, and the sku_unique index guarantees there is only one.</a:t>
            </a:r>
          </a:p>
          <a:p/>
          <a:p>
            <a:r>
              <a:t>- find()</a:t>
            </a:r>
          </a:p>
          <a:p/>
          <a:p>
            <a:r>
              <a:t>  find() returns a cursor, not an array.</a:t>
            </a:r>
          </a:p>
          <a:p/>
          <a:p>
            <a:r>
              <a:t>  mongosh prints the first 20 documents and you type it to see more.</a:t>
            </a:r>
          </a:p>
          <a:p/>
          <a:p>
            <a:r>
              <a:t>  An application driver fetches the rest in batches as it iterates.</a:t>
            </a:r>
          </a:p>
          <a:p/>
          <a:p>
            <a:r>
              <a:t>- Look before you assume</a:t>
            </a:r>
          </a:p>
          <a:p/>
          <a:p>
            <a:r>
              <a:t>  findOne({ orderNumber: "O5001" }) does not return an embedded customer object.</a:t>
            </a:r>
          </a:p>
          <a:p/>
          <a:p>
            <a:r>
              <a:t>  In training_store, O5001 has a customerId reference, an embedded shippingAddress and an items array.</a:t>
            </a:r>
          </a:p>
          <a:p/>
          <a:p>
            <a:r>
              <a:t>- Diagram data versus our data</a:t>
            </a:r>
          </a:p>
          <a:p/>
          <a:p>
            <a:r>
              <a:t>  The diagram uses simplified sample documents, not training_store.</a:t>
            </a:r>
          </a:p>
          <a:p/>
          <a:p>
            <a:r>
              <a:t>  It uses category "Laptop" and products such as ProBook; in training_store the value is "LAPTOP".</a:t>
            </a:r>
          </a:p>
          <a:p/>
          <a:p>
            <a:r>
              <a:t>- What it shows</a:t>
            </a:r>
          </a:p>
          <a:p/>
          <a:p>
            <a:r>
              <a:t>  The same filter, { category: "Laptop" }, sent two ways.</a:t>
            </a:r>
          </a:p>
          <a:p/>
          <a:p>
            <a:r>
              <a:t>  findOne() returns the first match as a single document.</a:t>
            </a:r>
          </a:p>
          <a:p/>
          <a:p>
            <a:r>
              <a:t>  find() returns a cursor over all three matching documents.</a:t>
            </a:r>
          </a:p>
          <a:p/>
          <a:p>
            <a:r>
              <a:t>- How to read it</a:t>
            </a:r>
          </a:p>
          <a:p/>
          <a:p>
            <a:r>
              <a:t>  Follow the arrows: request, then first match on the left, and cursor or matches on the right.</a:t>
            </a:r>
          </a:p>
          <a:p/>
          <a:p>
            <a:r>
              <a:t>- Key point</a:t>
            </a:r>
          </a:p>
          <a:p/>
          <a:p>
            <a:r>
              <a:t>  Use findOne() for one document by a unique field; use find() when you expect a list.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Four questions</a:t>
            </a:r>
          </a:p>
          <a:p/>
          <a:p>
            <a:r>
              <a:t>  Every read answers four questions: which documents, which fields, in which order, and how many.</a:t>
            </a:r>
          </a:p>
          <a:p/>
          <a:p>
            <a:r>
              <a:t>  Filter, projection, sort and limit.</a:t>
            </a:r>
          </a:p>
          <a:p/>
          <a:p>
            <a:r>
              <a:t>- On training_store</a:t>
            </a:r>
          </a:p>
          <a:p/>
          <a:p>
            <a:r>
              <a:t>  find({ category: "BOOK" }, { _id: 0, name: 1, price: 1 }).sort({ price: 1 }).limit(10) returns Query Cookbook at 39.99, then MongoDB Fundamentals at 59.99.</a:t>
            </a:r>
          </a:p>
          <a:p/>
          <a:p>
            <a:r>
              <a:t>  There are only two books, so the limit is not reached.</a:t>
            </a:r>
          </a:p>
          <a:p/>
          <a:p>
            <a:r>
              <a:t>- The order MongoDB applies</a:t>
            </a:r>
          </a:p>
          <a:p/>
          <a:p>
            <a:r>
              <a:t>  However you chain them, the server sorts first, then skips, then limits.</a:t>
            </a:r>
          </a:p>
          <a:p/>
          <a:p>
            <a:r>
              <a:t>  Writing limit before sort does not change the result.</a:t>
            </a:r>
          </a:p>
          <a:p/>
          <a:p>
            <a:r>
              <a:t>- Diagram data versus our data</a:t>
            </a:r>
          </a:p>
          <a:p/>
          <a:p>
            <a:r>
              <a:t>  The diagram uses simplified sample documents, not training_store.</a:t>
            </a:r>
          </a:p>
          <a:p/>
          <a:p>
            <a:r>
              <a:t>  Its books, such as Clean Code, are not in our catalog.</a:t>
            </a:r>
          </a:p>
          <a:p/>
          <a:p>
            <a:r>
              <a:t>- What it shows</a:t>
            </a:r>
          </a:p>
          <a:p/>
          <a:p>
            <a:r>
              <a:t>  A query on products built from four parts: filter category Books, projection name and price, sort price ascending, limit 10.</a:t>
            </a:r>
          </a:p>
          <a:p/>
          <a:p>
            <a:r>
              <a:t>  mongod runs it and returns a small table of names and prices.</a:t>
            </a:r>
          </a:p>
          <a:p/>
          <a:p>
            <a:r>
              <a:t>- How to read it</a:t>
            </a:r>
          </a:p>
          <a:p/>
          <a:p>
            <a:r>
              <a:t>  Read the query card top to bottom.</a:t>
            </a:r>
          </a:p>
          <a:p/>
          <a:p>
            <a:r>
              <a:t>  Each part narrows or shapes what comes back from the products collection.</a:t>
            </a:r>
          </a:p>
          <a:p/>
          <a:p>
            <a:r>
              <a:t>- Key point</a:t>
            </a:r>
          </a:p>
          <a:p/>
          <a:p>
            <a:r>
              <a:t>  Think in this order: which documents, which fields, which order, how many.</a:t>
            </a:r>
          </a:p>
          <a:p/>
          <a:p/>
          <a:p>
            <a:r>
              <a:t>REAL-WORLD EXAMPLES</a:t>
            </a:r>
          </a:p>
          <a:p>
            <a:r>
              <a:t>-------------------</a:t>
            </a:r>
          </a:p>
          <a:p/>
          <a:p>
            <a:r>
              <a:t>- A category page on a shopping site is exactly this query: one category, the fields the card shows, sorted by price, twenty per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Inclusion</a:t>
            </a:r>
          </a:p>
          <a:p/>
          <a:p>
            <a:r>
              <a:t>  { name: 1, price: 1 } returns name, price and _id.</a:t>
            </a:r>
          </a:p>
          <a:p/>
          <a:p>
            <a:r>
              <a:t>  _id is always included unless you add _id: 0.</a:t>
            </a:r>
          </a:p>
          <a:p/>
          <a:p>
            <a:r>
              <a:t>- Exclusion</a:t>
            </a:r>
          </a:p>
          <a:p/>
          <a:p>
            <a:r>
              <a:t>  { attributes: 0, tags: 0 } returns every other field.</a:t>
            </a:r>
          </a:p>
          <a:p/>
          <a:p>
            <a:r>
              <a:t>  Try it on L100.</a:t>
            </a:r>
          </a:p>
          <a:p/>
          <a:p>
            <a:r>
              <a:t>- The mixing rule</a:t>
            </a:r>
          </a:p>
          <a:p/>
          <a:p>
            <a:r>
              <a:t>  { name: 1, tags: 0 } is an error.</a:t>
            </a:r>
          </a:p>
          <a:p/>
          <a:p>
            <a:r>
              <a:t>  You choose inclusion or exclusion; _id is the only field that may be excluded in an inclusion projection.</a:t>
            </a:r>
          </a:p>
          <a:p/>
          <a:p>
            <a:r>
              <a:t>- Nested paths</a:t>
            </a:r>
          </a:p>
          <a:p/>
          <a:p>
            <a:r>
              <a:t>  find({ customerNumber: "C101" }, { _id: 0, "name.first": 1 }) returns { name: { first: "Aisha" } }.</a:t>
            </a:r>
          </a:p>
          <a:p/>
          <a:p>
            <a:r>
              <a:t>  The nested shape is kept.</a:t>
            </a:r>
          </a:p>
          <a:p/>
          <a:p>
            <a:r>
              <a:t>- Also available</a:t>
            </a:r>
          </a:p>
          <a:p/>
          <a:p>
            <a:r>
              <a:t>  items: { $elemMatch: { sku: "L100" } } in a projection returns only the matching line item, and $slice returns part of an array.</a:t>
            </a:r>
          </a:p>
          <a:p/>
          <a:p>
            <a:r>
              <a:t>- Diagram data versus our data</a:t>
            </a:r>
          </a:p>
          <a:p/>
          <a:p>
            <a:r>
              <a:t>  The diagram uses simplified sample documents, not training_store.</a:t>
            </a:r>
          </a:p>
          <a:p/>
          <a:p>
            <a:r>
              <a:t>  Its Courses product with stock and internalCost is an illustration.</a:t>
            </a:r>
          </a:p>
          <a:p/>
          <a:p>
            <a:r>
              <a:t>- What it shows</a:t>
            </a:r>
          </a:p>
          <a:p/>
          <a:p>
            <a:r>
              <a:t>  A source product with _id, name, category, price, stock and internalCost.</a:t>
            </a:r>
          </a:p>
          <a:p/>
          <a:p>
            <a:r>
              <a:t>  The filter { category: "Courses" } and the projection { name: 1, price: 1, _id: 0 } return only name and price.</a:t>
            </a:r>
          </a:p>
          <a:p/>
          <a:p>
            <a:r>
              <a:t>- How to read it</a:t>
            </a:r>
          </a:p>
          <a:p/>
          <a:p>
            <a:r>
              <a:t>  The projection table marks name and price include and every other field, _id included, omit.</a:t>
            </a:r>
          </a:p>
          <a:p/>
          <a:p>
            <a:r>
              <a:t>- Key point</a:t>
            </a:r>
          </a:p>
          <a:p/>
          <a:p>
            <a:r>
              <a:t>  Projection changes what comes back, never what is stored.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sort()</a:t>
            </a:r>
          </a:p>
          <a:p/>
          <a:p>
            <a:r>
              <a:t>  1 is ascending and -1 descending.</a:t>
            </a:r>
          </a:p>
          <a:p/>
          <a:p>
            <a:r>
              <a:t>  Several keys sort in order.</a:t>
            </a:r>
          </a:p>
          <a:p/>
          <a:p>
            <a:r>
              <a:t>  Add _id as a last key so documents with the same price always come back in the same order.</a:t>
            </a:r>
          </a:p>
          <a:p/>
          <a:p>
            <a:r>
              <a:t>- Paging</a:t>
            </a:r>
          </a:p>
          <a:p/>
          <a:p>
            <a:r>
              <a:t>  skip is (page − 1) × pageSize and limit is the page size.</a:t>
            </a:r>
          </a:p>
          <a:p/>
          <a:p>
            <a:r>
              <a:t>  For page 2 of five active products sorted by price and _id, skip(5).limit(5) returns B300, S210, S200, A500 and L100.</a:t>
            </a:r>
          </a:p>
          <a:p/>
          <a:p>
            <a:r>
              <a:t>- Mixed types</a:t>
            </a:r>
          </a:p>
          <a:p/>
          <a:p>
            <a:r>
              <a:t>  Page 3 returns L110 and then XBAD.</a:t>
            </a:r>
          </a:p>
          <a:p/>
          <a:p>
            <a:r>
              <a:t>  MongoDB sorts by BSON type first, and numbers come before strings, so XBAD's string price sorts after every Decimal128.</a:t>
            </a:r>
          </a:p>
          <a:p/>
          <a:p>
            <a:r>
              <a:t>- At scale</a:t>
            </a:r>
          </a:p>
          <a:p/>
          <a:p>
            <a:r>
              <a:t>  skip() still walks past the skipped documents, so deep pages get slower.</a:t>
            </a:r>
          </a:p>
          <a:p/>
          <a:p>
            <a:r>
              <a:t>  A range filter on an indexed sort key scales better; Module 6 covers indexes.</a:t>
            </a:r>
          </a:p>
          <a:p/>
          <a:p>
            <a:r>
              <a:t>- Diagram data versus our data</a:t>
            </a:r>
          </a:p>
          <a:p/>
          <a:p>
            <a:r>
              <a:t>  The diagram uses simplified sample documents, not training_store.</a:t>
            </a:r>
          </a:p>
          <a:p/>
          <a:p>
            <a:r>
              <a:t>  Its eight Courses products are illustrations.</a:t>
            </a:r>
          </a:p>
          <a:p/>
          <a:p>
            <a:r>
              <a:t>- What it shows</a:t>
            </a:r>
          </a:p>
          <a:p/>
          <a:p>
            <a:r>
              <a:t>  Eight Courses products sorted by price, skip(4) removes the first four, limit(4) keeps the next four.</a:t>
            </a:r>
          </a:p>
          <a:p/>
          <a:p>
            <a:r>
              <a:t>  Page 2 of 3 returns four products.</a:t>
            </a:r>
          </a:p>
          <a:p/>
          <a:p>
            <a:r>
              <a:t>- How to read it</a:t>
            </a:r>
          </a:p>
          <a:p/>
          <a:p>
            <a:r>
              <a:t>  The skip panel shows the formula: skip = (page − 1) × pageSize, so page 2 with a page size of 4 skips 4.</a:t>
            </a:r>
          </a:p>
          <a:p/>
          <a:p>
            <a:r>
              <a:t>- Key point</a:t>
            </a:r>
          </a:p>
          <a:p/>
          <a:p>
            <a:r>
              <a:t>  Only the selected page travels back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countDocuments()</a:t>
            </a:r>
          </a:p>
          <a:p/>
          <a:p>
            <a:r>
              <a:t>  countDocuments({}) returns 13 and countDocuments({ active: true }) returns 12, because L190 is inactive.</a:t>
            </a:r>
          </a:p>
          <a:p/>
          <a:p>
            <a:r>
              <a:t>  It runs the filter, so the number is exact.</a:t>
            </a:r>
          </a:p>
          <a:p/>
          <a:p>
            <a:r>
              <a:t>- estimatedDocumentCount()</a:t>
            </a:r>
          </a:p>
          <a:p/>
          <a:p>
            <a:r>
              <a:t>  Reads the collection's metadata, so it is fast but takes no filter.</a:t>
            </a:r>
          </a:p>
          <a:p/>
          <a:p>
            <a:r>
              <a:t>  It returns 13 here.</a:t>
            </a:r>
          </a:p>
          <a:p/>
          <a:p>
            <a:r>
              <a:t>  The older find().count() still appears in old examples; new code should use one of these two methods.</a:t>
            </a:r>
          </a:p>
          <a:p/>
          <a:p>
            <a:r>
              <a:t>- distinct()</a:t>
            </a:r>
          </a:p>
          <a:p/>
          <a:p>
            <a:r>
              <a:t>  distinct("category") returns ACCESSORY, BOOK, LAPTOP and SHOE.</a:t>
            </a:r>
          </a:p>
          <a:p/>
          <a:p>
            <a:r>
              <a:t>  With a filter, distinct("attributes.connection", { category: "ACCESSORY" }) returns Bluetooth and USB-C.</a:t>
            </a:r>
          </a:p>
          <a:p/>
          <a:p>
            <a:r>
              <a:t>  On an array field, such as tags, each element counts as a separate value.</a:t>
            </a:r>
          </a:p>
          <a:p/>
          <a:p>
            <a:r>
              <a:t>- Link to the labs</a:t>
            </a:r>
          </a:p>
          <a:p/>
          <a:p>
            <a:r>
              <a:t>  Lab 3 changes documents from step 8 on.</a:t>
            </a:r>
          </a:p>
          <a:p/>
          <a:p>
            <a:r>
              <a:t>  countDocuments({}) and countDocuments({ active: true }) — 13 and 12 on a fresh load — are the quickest way to prove the reload worked before you start.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Two minutes to write a prediction, then run it on the instructor screen.</a:t>
            </a:r>
          </a:p>
          <a:p/>
          <a:p>
            <a:r>
              <a:t>  Most people predict A500 first.</a:t>
            </a:r>
          </a:p>
          <a:p/>
          <a:p>
            <a:r>
              <a:t>- Why XBAD is first</a:t>
            </a:r>
          </a:p>
          <a:p/>
          <a:p>
            <a:r>
              <a:t>  MongoDB compares different BSON types in a fixed order, and numbers come before strings.</a:t>
            </a:r>
          </a:p>
          <a:p/>
          <a:p>
            <a:r>
              <a:t>  In a descending sort the string "49.99" therefore lands above every Decimal128 price.</a:t>
            </a:r>
          </a:p>
          <a:p/>
          <a:p>
            <a:r>
              <a:t>- The rest of the answer</a:t>
            </a:r>
          </a:p>
          <a:p/>
          <a:p>
            <a:r>
              <a:t>  After XBAD come A500 at 249.99 and P1001 at 49.99.</a:t>
            </a:r>
          </a:p>
          <a:p/>
          <a:p>
            <a:r>
              <a:t>  The limit stops there, so A400 and A410 are not shown.</a:t>
            </a:r>
          </a:p>
          <a:p/>
          <a:p>
            <a:r>
              <a:t>- The fix</a:t>
            </a:r>
          </a:p>
          <a:p/>
          <a:p>
            <a:r>
              <a:t>  Adding price: { $type: "decimal" } to the filter returns A500, P1001 and A400.</a:t>
            </a:r>
          </a:p>
          <a:p/>
          <a:p>
            <a:r>
              <a:t>  The real fix is to correct XBAD's price in the data.</a:t>
            </a:r>
          </a:p>
          <a:p/>
          <a:p>
            <a:r>
              <a:t>  The course leaves it as a string on purpose, so the same trap tops any descending price sort — L110 is only first once XBAD is filtered out.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Connecting the parts</a:t>
            </a:r>
          </a:p>
          <a:p/>
          <a:p>
            <a:r>
              <a:t>  Part 1 used equality and one $lt.</a:t>
            </a:r>
          </a:p>
          <a:p/>
          <a:p>
            <a:r>
              <a:t>  Part 2 adds the operators that real business questions need.</a:t>
            </a:r>
          </a:p>
          <a:p/>
          <a:p>
            <a:r>
              <a:t>- Watch for</a:t>
            </a:r>
          </a:p>
          <a:p/>
          <a:p>
            <a:r>
              <a:t>  Two themes run through this part: the BSON type of the value you compare, and negative operators that also match missing fields.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Operator placement</a:t>
            </a:r>
          </a:p>
          <a:p/>
          <a:p>
            <a:r>
              <a:t>  Comparison operators sit inside the field they test: { price: { $gt: … } }.</a:t>
            </a:r>
          </a:p>
          <a:p/>
          <a:p>
            <a:r>
              <a:t>  { $gt: { price: … } } is an error — one of the classic mistakes gathered near the end of the module.</a:t>
            </a:r>
          </a:p>
          <a:p/>
          <a:p>
            <a:r>
              <a:t>- Decimal128</a:t>
            </a:r>
          </a:p>
          <a:p/>
          <a:p>
            <a:r>
              <a:t>  training_store stores money as Decimal128.</a:t>
            </a:r>
          </a:p>
          <a:p/>
          <a:p>
            <a:r>
              <a:t>  Compare with Decimal128("100.00") or NumberDecimal("100.00").</a:t>
            </a:r>
          </a:p>
          <a:p/>
          <a:p>
            <a:r>
              <a:t>  A string such as "100.00" never matches a number.</a:t>
            </a:r>
          </a:p>
          <a:p/>
          <a:p>
            <a:r>
              <a:t>- A range</a:t>
            </a:r>
          </a:p>
          <a:p/>
          <a:p>
            <a:r>
              <a:t>  $gte 50.00 and $lte 500.00 on price returns L190 at 499.99, S200 at 129.99, S210 at 89.99, B300 at 59.99 and A500 at 249.99.</a:t>
            </a:r>
          </a:p>
          <a:p/>
          <a:p>
            <a:r>
              <a:t>  Both ends are inclusive.</a:t>
            </a:r>
          </a:p>
          <a:p/>
          <a:p>
            <a:r>
              <a:t>- Dates compare too</a:t>
            </a:r>
          </a:p>
          <a:p/>
          <a:p>
            <a:r>
              <a:t>  The same operators work on Date fields such as createdAt, as a later slide shows.</a:t>
            </a:r>
          </a:p>
          <a:p/>
          <a:p>
            <a:r>
              <a:t>- Diagram data versus our data</a:t>
            </a:r>
          </a:p>
          <a:p/>
          <a:p>
            <a:r>
              <a:t>  The diagram uses simplified sample documents, not training_store.</a:t>
            </a:r>
          </a:p>
          <a:p/>
          <a:p>
            <a:r>
              <a:t>  Its prices, such as DataPad at 699, are illustrations.</a:t>
            </a:r>
          </a:p>
          <a:p/>
          <a:p>
            <a:r>
              <a:t>- What it shows</a:t>
            </a:r>
          </a:p>
          <a:p/>
          <a:p>
            <a:r>
              <a:t>  The query { price: { $gte: 500, $lte: 1500 } } on four sample products.</a:t>
            </a:r>
          </a:p>
          <a:p/>
          <a:p>
            <a:r>
              <a:t>  DataPad 699, AirLite 999 and ProBook 1299 match; DevStation 1799 is outside the range.</a:t>
            </a:r>
          </a:p>
          <a:p/>
          <a:p>
            <a:r>
              <a:t>- How to read it</a:t>
            </a:r>
          </a:p>
          <a:p/>
          <a:p>
            <a:r>
              <a:t>  The number line shows an inclusive range from 500 to 1500.</a:t>
            </a:r>
          </a:p>
          <a:p/>
          <a:p>
            <a:r>
              <a:t>  Both ends count.</a:t>
            </a:r>
          </a:p>
          <a:p/>
          <a:p>
            <a:r>
              <a:t>- Key point</a:t>
            </a:r>
          </a:p>
          <a:p/>
          <a:p>
            <a:r>
              <a:t>  Two operators on one field make a range.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Above 100</a:t>
            </a:r>
          </a:p>
          <a:p/>
          <a:p>
            <a:r>
              <a:t>  Five products cost more than 100: L100, L110, L190, S200 and the Docking Station A500.</a:t>
            </a:r>
          </a:p>
          <a:p/>
          <a:p>
            <a:r>
              <a:t>  Exercise 4.1, step 1, expects all five — A500 at 249.99 is the one people forget.</a:t>
            </a:r>
          </a:p>
          <a:p/>
          <a:p>
            <a:r>
              <a:t>- XBAD</a:t>
            </a:r>
          </a:p>
          <a:p/>
          <a:p>
            <a:r>
              <a:t>  Legacy Cable Pack stores price as the string "49.99".</a:t>
            </a:r>
          </a:p>
          <a:p/>
          <a:p>
            <a:r>
              <a:t>  Numeric comparisons only match values of a comparable type, so XBAD never appears in a Decimal128 range.</a:t>
            </a:r>
          </a:p>
          <a:p/>
          <a:p>
            <a:r>
              <a:t>- $in</a:t>
            </a:r>
          </a:p>
          <a:p/>
          <a:p>
            <a:r>
              <a:t>  category $in LAPTOP and BOOK counts 5: three laptops and two books.</a:t>
            </a:r>
          </a:p>
          <a:p/>
          <a:p>
            <a:r>
              <a:t>  It is an OR on one field.</a:t>
            </a:r>
          </a:p>
          <a:p/>
          <a:p>
            <a:r>
              <a:t>  The five reviews rated 4 or 5 match $gte: 4; the 3-star P1001 review does not.</a:t>
            </a:r>
          </a:p>
          <a:p/>
          <a:p>
            <a:r>
              <a:t>- $nin</a:t>
            </a:r>
          </a:p>
          <a:p/>
          <a:p>
            <a:r>
              <a:t>  Leaving out laptops and shoes keeps seven products: two books and five accessories, including XBAD.</a:t>
            </a:r>
          </a:p>
          <a:p/>
          <a:p>
            <a:r>
              <a:t>  $nin and $ne also match documents that do not have the field at all.</a:t>
            </a:r>
          </a:p>
          <a:p/>
          <a:p>
            <a:r>
              <a:t>  Add $exists: true when the field must be present.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Implicit AND</a:t>
            </a:r>
          </a:p>
          <a:p/>
          <a:p>
            <a:r>
              <a:t>  Commas already mean AND: { active: true, category: "BOOK" }.</a:t>
            </a:r>
          </a:p>
          <a:p/>
          <a:p>
            <a:r>
              <a:t>  Most filters need nothing more.</a:t>
            </a:r>
          </a:p>
          <a:p/>
          <a:p>
            <a:r>
              <a:t>- Explicit $and</a:t>
            </a:r>
          </a:p>
          <a:p/>
          <a:p>
            <a:r>
              <a:t>  Use $and when the same field or operator must appear twice, for example two separate $or clauses.</a:t>
            </a:r>
          </a:p>
          <a:p/>
          <a:p>
            <a:r>
              <a:t>  For a simple range, one field with $gte and $lte is shorter.</a:t>
            </a:r>
          </a:p>
          <a:p/>
          <a:p>
            <a:r>
              <a:t>- $or on training_store</a:t>
            </a:r>
          </a:p>
          <a:p/>
          <a:p>
            <a:r>
              <a:t>  PENDING payment or PROCESSING fulfilment returns five orders: O5001, O6202, O6302, O6401 and O6499.</a:t>
            </a:r>
          </a:p>
          <a:p/>
          <a:p>
            <a:r>
              <a:t>  O6401 matches both conditions and appears once.</a:t>
            </a:r>
          </a:p>
          <a:p/>
          <a:p>
            <a:r>
              <a:t>- Don't miss two orders</a:t>
            </a:r>
          </a:p>
          <a:p/>
          <a:p>
            <a:r>
              <a:t>  O6202 and O6302 are PAID but still PROCESSING, so the $or includes them alongside O5001, O6401 and O6499.</a:t>
            </a:r>
          </a:p>
          <a:p/>
          <a:p>
            <a:r>
              <a:t>  Active laptops or books returns L100, L110, B300 and B310.</a:t>
            </a:r>
          </a:p>
          <a:p/>
          <a:p>
            <a:r>
              <a:t>  When the alternatives share one field, $in is shorter than $or.</a:t>
            </a:r>
          </a:p>
          <a:p/>
          <a:p>
            <a:r>
              <a:t>- Diagram data versus our data</a:t>
            </a:r>
          </a:p>
          <a:p/>
          <a:p>
            <a:r>
              <a:t>  The diagram uses simplified sample documents, not training_store.</a:t>
            </a:r>
          </a:p>
          <a:p/>
          <a:p>
            <a:r>
              <a:t>  Its AirLite, ProBook and DataPad products are illustrations.</a:t>
            </a:r>
          </a:p>
          <a:p/>
          <a:p>
            <a:r>
              <a:t>- What it shows</a:t>
            </a:r>
          </a:p>
          <a:p/>
          <a:p>
            <a:r>
              <a:t>  Two queries with the same predicates: A is category Laptop, B is price below 1000.</a:t>
            </a:r>
          </a:p>
          <a:p/>
          <a:p>
            <a:r>
              <a:t>  $and returns 1 document, AirLite.</a:t>
            </a:r>
          </a:p>
          <a:p/>
          <a:p>
            <a:r>
              <a:t>  $or returns 3: AirLite, ProBook and DataPad.</a:t>
            </a:r>
          </a:p>
          <a:p/>
          <a:p>
            <a:r>
              <a:t>- How to read it</a:t>
            </a:r>
          </a:p>
          <a:p/>
          <a:p>
            <a:r>
              <a:t>  The Venn symbols show the difference: the overlap for $and, both circles for $or.</a:t>
            </a:r>
          </a:p>
          <a:p/>
          <a:p>
            <a:r>
              <a:t>- Key point</a:t>
            </a:r>
          </a:p>
          <a:p/>
          <a:p>
            <a:r>
              <a:t>  $or widens a result; $and narrows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Demo 4.2</a:t>
            </a:r>
          </a:p>
          <a:p/>
          <a:p>
            <a:r>
              <a:t>  Start with an empty filter and add one condition at a time.</a:t>
            </a:r>
          </a:p>
          <a:p/>
          <a:p>
            <a:r>
              <a:t>  Run countDocuments() after each step and explain the number before moving on.</a:t>
            </a:r>
          </a:p>
          <a:p/>
          <a:p>
            <a:r>
              <a:t>- The counts</a:t>
            </a:r>
          </a:p>
          <a:p/>
          <a:p>
            <a:r>
              <a:t>  {} counts 13.</a:t>
            </a:r>
          </a:p>
          <a:p/>
          <a:p>
            <a:r>
              <a:t>  category ACCESSORY leaves 5: P1001, A400, A410, A500 and XBAD.</a:t>
            </a:r>
          </a:p>
          <a:p/>
          <a:p>
            <a:r>
              <a:t>  Adding active: true keeps all 5, because every accessory is active.</a:t>
            </a:r>
          </a:p>
          <a:p/>
          <a:p>
            <a:r>
              <a:t>  Adding price $lte Decimal128 100.00 leaves 3: P1001, A400 and A410.</a:t>
            </a:r>
          </a:p>
          <a:p/>
          <a:p>
            <a:r>
              <a:t>- The two drops</a:t>
            </a:r>
          </a:p>
          <a:p/>
          <a:p>
            <a:r>
              <a:t>  A500, the Docking Station, costs 249.99, so the price rule removes it.</a:t>
            </a:r>
          </a:p>
          <a:p/>
          <a:p>
            <a:r>
              <a:t>  XBAD is removed for a different reason: its price is the string "49.99", and a Decimal128 comparison never matches a string.</a:t>
            </a:r>
          </a:p>
          <a:p/>
          <a:p>
            <a:r>
              <a:t>- Why it matters</a:t>
            </a:r>
          </a:p>
          <a:p/>
          <a:p>
            <a:r>
              <a:t>  If one step drops to zero or drops the wrong documents, you know exactly which condition to check.</a:t>
            </a:r>
          </a:p>
          <a:p/>
          <a:p>
            <a:r>
              <a:t>  Usually it's a field name, a case or a type.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$not</a:t>
            </a:r>
          </a:p>
          <a:p/>
          <a:p>
            <a:r>
              <a:t>  $not wraps another operator expression for one field.</a:t>
            </a:r>
          </a:p>
          <a:p/>
          <a:p>
            <a:r>
              <a:t>  { price: { $not: { $gt: Decimal128("100.00") } } } returns 8 products: the seven priced at 100 or less, plus XBAD, whose string price cannot be greater than a number.</a:t>
            </a:r>
          </a:p>
          <a:p/>
          <a:p>
            <a:r>
              <a:t>- $nor</a:t>
            </a:r>
          </a:p>
          <a:p/>
          <a:p>
            <a:r>
              <a:t>  $nor keeps documents that fail every listed condition.</a:t>
            </a:r>
          </a:p>
          <a:p/>
          <a:p>
            <a:r>
              <a:t>  $nor: [{ category: "BOOK" }, { active: false }] removes the two books and L190, leaving 10 of 13.</a:t>
            </a:r>
          </a:p>
          <a:p/>
          <a:p>
            <a:r>
              <a:t>- Missing fields</a:t>
            </a:r>
          </a:p>
          <a:p/>
          <a:p>
            <a:r>
              <a:t>  Negations also keep documents without the field.</a:t>
            </a:r>
          </a:p>
          <a:p/>
          <a:p>
            <a:r>
              <a:t>  Add $exists: true when the field must be present.</a:t>
            </a:r>
          </a:p>
          <a:p/>
          <a:p>
            <a:r>
              <a:t>- Prefer $ne</a:t>
            </a:r>
          </a:p>
          <a:p/>
          <a:p>
            <a:r>
              <a:t>  For a simple not-equal, { category: { $ne: "BOOK" } } is clearer than $not.</a:t>
            </a:r>
          </a:p>
          <a:p/>
          <a:p>
            <a:r>
              <a:t>- Diagram data versus our data</a:t>
            </a:r>
          </a:p>
          <a:p/>
          <a:p>
            <a:r>
              <a:t>  The diagram uses simplified sample documents, not training_store.</a:t>
            </a:r>
          </a:p>
          <a:p/>
          <a:p>
            <a:r>
              <a:t>  Its Books category and stock field are illustrations; our products have no stock field.</a:t>
            </a:r>
          </a:p>
          <a:p/>
          <a:p>
            <a:r>
              <a:t>- What it shows</a:t>
            </a:r>
          </a:p>
          <a:p/>
          <a:p>
            <a:r>
              <a:t>  $not wraps { $gte: 100 } on price, so documents with price below 100 or no price at all remain.</a:t>
            </a:r>
          </a:p>
          <a:p/>
          <a:p>
            <a:r>
              <a:t>  $nor lists category Books and stock 0, and keeps only documents that match neither.</a:t>
            </a:r>
          </a:p>
          <a:p/>
          <a:p>
            <a:r>
              <a:t>- How to read it</a:t>
            </a:r>
          </a:p>
          <a:p/>
          <a:p>
            <a:r>
              <a:t>  The red boxes show what each operator excludes; the green boxes show what remains.</a:t>
            </a:r>
          </a:p>
          <a:p/>
          <a:p>
            <a:r>
              <a:t>- Key point</a:t>
            </a:r>
          </a:p>
          <a:p/>
          <a:p>
            <a:r>
              <a:t>  Negation also keeps documents where the field is missing.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Null or missing</a:t>
            </a:r>
          </a:p>
          <a:p/>
          <a:p>
            <a:r>
              <a:t>  { "contact.phone": null } matches C204, whose phone is null, and C515, who has no phone field at all.</a:t>
            </a:r>
          </a:p>
          <a:p/>
          <a:p>
            <a:r>
              <a:t>- Only explicit null</a:t>
            </a:r>
          </a:p>
          <a:p/>
          <a:p>
            <a:r>
              <a:t>  { "contact.phone": { $type: "null" } } matches C204 only.</a:t>
            </a:r>
          </a:p>
          <a:p/>
          <a:p>
            <a:r>
              <a:t>- Only missing</a:t>
            </a:r>
          </a:p>
          <a:p/>
          <a:p>
            <a:r>
              <a:t>  { "contact.phone": { $exists: false } } matches C515 only.</a:t>
            </a:r>
          </a:p>
          <a:p/>
          <a:p>
            <a:r>
              <a:t>  Every other customer has a string phone.</a:t>
            </a:r>
          </a:p>
          <a:p/>
          <a:p>
            <a:r>
              <a:t>- Wrong type</a:t>
            </a:r>
          </a:p>
          <a:p/>
          <a:p>
            <a:r>
              <a:t>  { price: { $type: "string" } } finds XBAD, the planted type error.</a:t>
            </a:r>
          </a:p>
          <a:p/>
          <a:p>
            <a:r>
              <a:t>  $type: "decimal" matches the other 12 products.</a:t>
            </a:r>
          </a:p>
          <a:p/>
          <a:p>
            <a:r>
              <a:t>- Diagram data versus our data</a:t>
            </a:r>
          </a:p>
          <a:p/>
          <a:p>
            <a:r>
              <a:t>  The diagram uses simplified sample documents, not training_store.</a:t>
            </a:r>
          </a:p>
          <a:p/>
          <a:p>
            <a:r>
              <a:t>  Its BK-101 product with a discount and a supplier is an illustration.</a:t>
            </a:r>
          </a:p>
          <a:p/>
          <a:p>
            <a:r>
              <a:t>- What it shows</a:t>
            </a:r>
          </a:p>
          <a:p/>
          <a:p>
            <a:r>
              <a:t>  One product with sku as a string, discount set to null and no supplier field.</a:t>
            </a:r>
          </a:p>
          <a:p/>
          <a:p>
            <a:r>
              <a:t>  $exists: false finds the missing field, $type: "string" checks the type, and { discount: null } matches both explicit null and a missing field.</a:t>
            </a:r>
          </a:p>
          <a:p/>
          <a:p>
            <a:r>
              <a:t>- How to read it</a:t>
            </a:r>
          </a:p>
          <a:p/>
          <a:p>
            <a:r>
              <a:t>  Follow the two arrows out of the null box.</a:t>
            </a:r>
          </a:p>
          <a:p/>
          <a:p>
            <a:r>
              <a:t>  The red box, $type: 10, is BSON type 10, null, and matches explicit null only.</a:t>
            </a:r>
          </a:p>
          <a:p/>
          <a:p>
            <a:r>
              <a:t>- Key point</a:t>
            </a:r>
          </a:p>
          <a:p/>
          <a:p>
            <a:r>
              <a:t>  Ask exactly the question you mean: present, null, or of a given type.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Anchored pattern</a:t>
            </a:r>
          </a:p>
          <a:p/>
          <a:p>
            <a:r>
              <a:t>  ^MongoDB means the name starts with MongoDB.</a:t>
            </a:r>
          </a:p>
          <a:p/>
          <a:p>
            <a:r>
              <a:t>  Only MongoDB Fundamentals, B300, matches.</a:t>
            </a:r>
          </a:p>
          <a:p/>
          <a:p>
            <a:r>
              <a:t>  An anchored, case-sensitive prefix can use an index on the field.</a:t>
            </a:r>
          </a:p>
          <a:p/>
          <a:p>
            <a:r>
              <a:t>- Case-insensitive search</a:t>
            </a:r>
          </a:p>
          <a:p/>
          <a:p>
            <a:r>
              <a:t>  "wireless" with the i option matches Wireless Keyboard and Wireless Mouse.</a:t>
            </a:r>
          </a:p>
          <a:p/>
          <a:p>
            <a:r>
              <a:t>  It looks anywhere in every name, so on a large collection it can be expensive.</a:t>
            </a:r>
          </a:p>
          <a:p/>
          <a:p>
            <a:r>
              <a:t>  Module 6 covers index design.</a:t>
            </a:r>
          </a:p>
          <a:p/>
          <a:p>
            <a:r>
              <a:t>- Half-open date range</a:t>
            </a:r>
          </a:p>
          <a:p/>
          <a:p>
            <a:r>
              <a:t>  createdAt holds a Date with a time.</a:t>
            </a:r>
          </a:p>
          <a:p/>
          <a:p>
            <a:r>
              <a:t>  Start inclusive at midnight on 19 September and end exclusive at midnight on 20 September.</a:t>
            </a:r>
          </a:p>
          <a:p/>
          <a:p>
            <a:r>
              <a:t>  That returns O6402 at 09:15 and O6499 at 19:00.</a:t>
            </a:r>
          </a:p>
          <a:p/>
          <a:p>
            <a:r>
              <a:t>- The common mistake</a:t>
            </a:r>
          </a:p>
          <a:p/>
          <a:p>
            <a:r>
              <a:t>  Writing $lte: ISODate("2026-09-19") as the end means midnight at the start of the day, so both orders would be missed.</a:t>
            </a:r>
          </a:p>
          <a:p/>
          <a:p>
            <a:r>
              <a:t>  The guide's date example uses an orderedAt field; training_store's field is createdAt.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Pairs, five minutes.</a:t>
            </a:r>
          </a:p>
          <a:p/>
          <a:p>
            <a:r>
              <a:t>  Ask one pair to type their query on the instructor screen.</a:t>
            </a:r>
          </a:p>
          <a:p/>
          <a:p>
            <a:r>
              <a:t>- The answer</a:t>
            </a:r>
          </a:p>
          <a:p/>
          <a:p>
            <a:r>
              <a:t>  db.products.find({ active: true, tags: { $in: ["clearance", "premium"] } }, { _id: 0, sku: 1, name: 1 }).</a:t>
            </a:r>
          </a:p>
          <a:p/>
          <a:p>
            <a:r>
              <a:t>  An $or with two tag conditions is also correct; $in is shorter because both alternatives use the same field.</a:t>
            </a:r>
          </a:p>
          <a:p/>
          <a:p>
            <a:r>
              <a:t>- The result</a:t>
            </a:r>
          </a:p>
          <a:p/>
          <a:p>
            <a:r>
              <a:t>  L110 Ultrabook and A500 Docking Station are premium; S290 Clearance Shoe is clearance.</a:t>
            </a:r>
          </a:p>
          <a:p/>
          <a:p>
            <a:r>
              <a:t>  This is Day 2 Lab 3, step 2.</a:t>
            </a:r>
          </a:p>
          <a:p/>
          <a:p>
            <a:r>
              <a:t>- L190</a:t>
            </a:r>
          </a:p>
          <a:p/>
          <a:p>
            <a:r>
              <a:t>  The Refurbished Laptop is tagged clearance, but active is false, so the implicit AND removes it.</a:t>
            </a:r>
          </a:p>
          <a:p/>
          <a:p>
            <a:r>
              <a:t>  That is exactly what the business asked for.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Module 3 embedded attributes, addresses and order items.</a:t>
            </a:r>
          </a:p>
          <a:p/>
          <a:p>
            <a:r>
              <a:t>  Those are the fields business questions ask about most.</a:t>
            </a:r>
          </a:p>
          <a:p/>
          <a:p>
            <a:r>
              <a:t>- What to watch</a:t>
            </a:r>
          </a:p>
          <a:p/>
          <a:p>
            <a:r>
              <a:t>  The O5001 order is built to show the difference between dot notation on an array and $elemMatch.</a:t>
            </a:r>
          </a:p>
          <a:p/>
          <a:p>
            <a:r>
              <a:t>  That difference is the most common array bug in real code.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Quote the path</a:t>
            </a:r>
          </a:p>
          <a:p/>
          <a:p>
            <a:r>
              <a:t>  Dot notation must be quoted in mongosh: "attributes.memoryGB".</a:t>
            </a:r>
          </a:p>
          <a:p/>
          <a:p>
            <a:r>
              <a:t>  Without quotes it is a JavaScript syntax error, one of the classic query bugs.</a:t>
            </a:r>
          </a:p>
          <a:p/>
          <a:p>
            <a:r>
              <a:t>- Embedded documents</a:t>
            </a:r>
          </a:p>
          <a:p/>
          <a:p>
            <a:r>
              <a:t>  { "attributes.memoryGB": { $gte: 16 } } returns L100 with 16 GB and L110 with 32 GB.</a:t>
            </a:r>
          </a:p>
          <a:p/>
          <a:p>
            <a:r>
              <a:t>  L190 has 8 GB.</a:t>
            </a:r>
          </a:p>
          <a:p/>
          <a:p>
            <a:r>
              <a:t>- Arrays of documents</a:t>
            </a:r>
          </a:p>
          <a:p/>
          <a:p>
            <a:r>
              <a:t>  customers keep addresses as an array.</a:t>
            </a:r>
          </a:p>
          <a:p/>
          <a:p>
            <a:r>
              <a:t>  "addresses.city" checks every address in the array.</a:t>
            </a:r>
          </a:p>
          <a:p/>
          <a:p>
            <a:r>
              <a:t>  $in Toronto and Montreal returns C101, Aisha Khan, and C412, Jordan Lee.</a:t>
            </a:r>
          </a:p>
          <a:p/>
          <a:p>
            <a:r>
              <a:t>- Diagram data versus our data</a:t>
            </a:r>
          </a:p>
          <a:p/>
          <a:p>
            <a:r>
              <a:t>  The diagram uses simplified sample documents, not training_store.</a:t>
            </a:r>
          </a:p>
          <a:p/>
          <a:p>
            <a:r>
              <a:t>  It stores one address object; ours is an addresses array, and nobody in training_store lives in Brampton.</a:t>
            </a:r>
          </a:p>
          <a:p/>
          <a:p>
            <a:r>
              <a:t>- What it shows</a:t>
            </a:r>
          </a:p>
          <a:p/>
          <a:p>
            <a:r>
              <a:t>  db.customers.find({ "address.city": "Brampton" }).</a:t>
            </a:r>
          </a:p>
          <a:p/>
          <a:p>
            <a:r>
              <a:t>  Customers 201 and 202 live in Brampton and match; customer 203 lives in Toronto and doesn't.</a:t>
            </a:r>
          </a:p>
          <a:p/>
          <a:p>
            <a:r>
              <a:t>- How to read it</a:t>
            </a:r>
          </a:p>
          <a:p/>
          <a:p>
            <a:r>
              <a:t>  The highlighted city line in each customer is the field the dotted path reads: address, then city.</a:t>
            </a:r>
          </a:p>
          <a:p/>
          <a:p>
            <a:r>
              <a:t>- Key point</a:t>
            </a:r>
          </a:p>
          <a:p/>
          <a:p>
            <a:r>
              <a:t>  Quote the dotted path and match the nested value exactly.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Contains</a:t>
            </a:r>
          </a:p>
          <a:p/>
          <a:p>
            <a:r>
              <a:t>  { tags: "wireless" } matches any document whose tags array contains that value: P1001 and A410.</a:t>
            </a:r>
          </a:p>
          <a:p/>
          <a:p>
            <a:r>
              <a:t>- Exact array</a:t>
            </a:r>
          </a:p>
          <a:p/>
          <a:p>
            <a:r>
              <a:t>  { tags: ["database", "technology"] } matches B300.</a:t>
            </a:r>
          </a:p>
          <a:p/>
          <a:p>
            <a:r>
              <a:t>  The same two values in the other order match nothing.</a:t>
            </a:r>
          </a:p>
          <a:p/>
          <a:p>
            <a:r>
              <a:t>- $all</a:t>
            </a:r>
          </a:p>
          <a:p/>
          <a:p>
            <a:r>
              <a:t>  { tags: { $all: ["office", "premium"] } } returns A500 in any order.</a:t>
            </a:r>
          </a:p>
          <a:p/>
          <a:p>
            <a:r>
              <a:t>  $all with database and technology returns B300.</a:t>
            </a:r>
          </a:p>
          <a:p/>
          <a:p>
            <a:r>
              <a:t>- $size</a:t>
            </a:r>
          </a:p>
          <a:p/>
          <a:p>
            <a:r>
              <a:t>  $size matches an exact length.</a:t>
            </a:r>
          </a:p>
          <a:p/>
          <a:p>
            <a:r>
              <a:t>  $size: 3 returns L190; $size: 2 returns 11 of the 13 products.</a:t>
            </a:r>
          </a:p>
          <a:p/>
          <a:p>
            <a:r>
              <a:t>  There is no "at least" form.</a:t>
            </a:r>
          </a:p>
          <a:p/>
          <a:p>
            <a:r>
              <a:t>- Diagram data versus our data</a:t>
            </a:r>
          </a:p>
          <a:p/>
          <a:p>
            <a:r>
              <a:t>  The diagram uses simplified sample documents, not training_store.</a:t>
            </a:r>
          </a:p>
          <a:p/>
          <a:p>
            <a:r>
              <a:t>  Its MongoDB Masterclass product and tags are illustrations.</a:t>
            </a:r>
          </a:p>
          <a:p/>
          <a:p>
            <a:r>
              <a:t>- What it shows</a:t>
            </a:r>
          </a:p>
          <a:p/>
          <a:p>
            <a:r>
              <a:t>  One product with tags database, mongodb, backend.</a:t>
            </a:r>
          </a:p>
          <a:p/>
          <a:p>
            <a:r>
              <a:t>  The exact array matches; the same values in a different order don't.</a:t>
            </a:r>
          </a:p>
          <a:p/>
          <a:p>
            <a:r>
              <a:t>  $all with mongodb and database matches in any order.</a:t>
            </a:r>
          </a:p>
          <a:p/>
          <a:p>
            <a:r>
              <a:t>  $size: 3 matches; $size: 2 doesn't.</a:t>
            </a:r>
          </a:p>
          <a:p/>
          <a:p>
            <a:r>
              <a:t>- How to read it</a:t>
            </a:r>
          </a:p>
          <a:p/>
          <a:p>
            <a:r>
              <a:t>  Left panel: exact array.</a:t>
            </a:r>
          </a:p>
          <a:p/>
          <a:p>
            <a:r>
              <a:t>  Right panels: $all at the top, $size below.</a:t>
            </a:r>
          </a:p>
          <a:p/>
          <a:p>
            <a:r>
              <a:t>- Key point</a:t>
            </a:r>
          </a:p>
          <a:p/>
          <a:p>
            <a:r>
              <a:t>  Exact array match is rarely what you want; $all usually is.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trap</a:t>
            </a:r>
          </a:p>
          <a:p/>
          <a:p>
            <a:r>
              <a:t>  With dot notation, "items.sku": "L100" and "items.quantity": { $gte: 2 } can be satisfied by different items.</a:t>
            </a:r>
          </a:p>
          <a:p/>
          <a:p>
            <a:r>
              <a:t>  O5001 has L100 quantity 1 and A410 quantity 2, so it matches.</a:t>
            </a:r>
          </a:p>
          <a:p/>
          <a:p>
            <a:r>
              <a:t>- The fix</a:t>
            </a:r>
          </a:p>
          <a:p/>
          <a:p>
            <a:r>
              <a:t>  $elemMatch requires one element to pass both conditions.</a:t>
            </a:r>
          </a:p>
          <a:p/>
          <a:p>
            <a:r>
              <a:t>  It returns only O6401, Luis Romero's order for two laptops.</a:t>
            </a:r>
          </a:p>
          <a:p/>
          <a:p>
            <a:r>
              <a:t>- Lab 3, step 6</a:t>
            </a:r>
          </a:p>
          <a:p/>
          <a:p>
            <a:r>
              <a:t>  $elemMatch with quantity $gte 2 and unitPrice below 50 returns O5001, O6201 and O6305.</a:t>
            </a:r>
          </a:p>
          <a:p/>
          <a:p>
            <a:r>
              <a:t>  O6302 and O6401 have quantity 2, but of expensive items, so they don't match.</a:t>
            </a:r>
          </a:p>
          <a:p/>
          <a:p>
            <a:r>
              <a:t>- Diagram data versus our data</a:t>
            </a:r>
          </a:p>
          <a:p/>
          <a:p>
            <a:r>
              <a:t>  The diagram uses simplified sample documents, not training_store.</a:t>
            </a:r>
          </a:p>
          <a:p/>
          <a:p>
            <a:r>
              <a:t>  Its orderId, product and qty fields are illustrations; ours are orderNumber, sku and quantity.</a:t>
            </a:r>
          </a:p>
          <a:p/>
          <a:p>
            <a:r>
              <a:t>- What it shows</a:t>
            </a:r>
          </a:p>
          <a:p/>
          <a:p>
            <a:r>
              <a:t>  An order with three items and the filter items: { $elemMatch: { qty: { $gte: 2 }, price: { $lt: 100 } } }.</a:t>
            </a:r>
          </a:p>
          <a:p/>
          <a:p>
            <a:r>
              <a:t>  Only the Python Course item, qty 3 at 49, meets both conditions, so the whole order is returned.</a:t>
            </a:r>
          </a:p>
          <a:p/>
          <a:p>
            <a:r>
              <a:t>- How to read it</a:t>
            </a:r>
          </a:p>
          <a:p/>
          <a:p>
            <a:r>
              <a:t>  MongoDB Course fails qty and Cloud Lab fails price.</a:t>
            </a:r>
          </a:p>
          <a:p/>
          <a:p>
            <a:r>
              <a:t>  One item that passes both is enough to return the order.</a:t>
            </a:r>
          </a:p>
          <a:p/>
          <a:p>
            <a:r>
              <a:t>- Key point</a:t>
            </a:r>
          </a:p>
          <a:p/>
          <a:p>
            <a:r>
              <a:t>  The filter selects the order; the returned document still has every item.</a:t>
            </a:r>
          </a:p>
          <a:p/>
          <a:p/>
          <a:p>
            <a:r>
              <a:t>USE-CASE SCENARIO</a:t>
            </a:r>
          </a:p>
          <a:p>
            <a:r>
              <a:t>-----------------</a:t>
            </a:r>
          </a:p>
          <a:p/>
          <a:p>
            <a:r>
              <a:t>A support agent searches for orders where a customer bought at least two laptops.</a:t>
            </a:r>
          </a:p>
          <a:p/>
          <a:p>
            <a:r>
              <a:t>Without $elemMatch the search also returns O5001, one laptop and two mice, and the agent contacts the wrong customer.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How to run it</a:t>
            </a:r>
          </a:p>
          <a:p/>
          <a:p>
            <a:r>
              <a:t>  Individually for five minutes, then compare in pairs.</a:t>
            </a:r>
          </a:p>
          <a:p/>
          <a:p>
            <a:r>
              <a:t>  Run the four answers on the instructor screen.</a:t>
            </a:r>
          </a:p>
          <a:p/>
          <a:p>
            <a:r>
              <a:t>- A and C</a:t>
            </a:r>
          </a:p>
          <a:p/>
          <a:p>
            <a:r>
              <a:t>  Containment through a dotted path: { "attributes.sizes": 9 } returns the three shoes.</a:t>
            </a:r>
          </a:p>
          <a:p/>
          <a:p>
            <a:r>
              <a:t>  { "addresses.city": { $in: ["Toronto", "Montreal"] } } returns Aisha Khan, C101, and Jordan Lee, C412.</a:t>
            </a:r>
          </a:p>
          <a:p/>
          <a:p>
            <a:r>
              <a:t>- B</a:t>
            </a:r>
          </a:p>
          <a:p/>
          <a:p>
            <a:r>
              <a:t>  { items: { $elemMatch: { sku: "L100", quantity: { $gte: 2 } } } } returns only O6401, Luis Romero's order for two laptops.</a:t>
            </a:r>
          </a:p>
          <a:p/>
          <a:p>
            <a:r>
              <a:t>  The dot-notation version also returns O5001.</a:t>
            </a:r>
          </a:p>
          <a:p/>
          <a:p>
            <a:r>
              <a:t>- D</a:t>
            </a:r>
          </a:p>
          <a:p/>
          <a:p>
            <a:r>
              <a:t>  { tags: { $all: ["office", "premium"] } } returns only A500, the Docking Station.</a:t>
            </a:r>
          </a:p>
          <a:p/>
          <a:p>
            <a:r>
              <a:t>  { tags: ["office", "premium"] } would be an exact array match and depends on order.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link</a:t>
            </a:r>
          </a:p>
          <a:p/>
          <a:p>
            <a:r>
              <a:t>  Every update and delete starts with a filter.</a:t>
            </a:r>
          </a:p>
          <a:p/>
          <a:p>
            <a:r>
              <a:t>  Everything from Parts 1 to 3 now decides which documents a write touches.</a:t>
            </a:r>
          </a:p>
          <a:p/>
          <a:p>
            <a:r>
              <a:t>- Test data</a:t>
            </a:r>
          </a:p>
          <a:p/>
          <a:p>
            <a:r>
              <a:t>  Use the SKUs the labs reserve: DEMO-1, DEMO-REP, DEMO-BULK and TEMP-100 for demos; A600 to A900 are created by the labs.</a:t>
            </a:r>
          </a:p>
          <a:p/>
          <a:p>
            <a:r>
              <a:t>  Never replace or delete L100.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insertOne()</a:t>
            </a:r>
          </a:p>
          <a:p/>
          <a:p>
            <a:r>
              <a:t>  Demo 4.5 inserts DEMO-1 and returns acknowledged: true and an insertedId.</a:t>
            </a:r>
          </a:p>
          <a:p/>
          <a:p>
            <a:r>
              <a:t>  mongod adds an ObjectId _id because the document has none.</a:t>
            </a:r>
          </a:p>
          <a:p/>
          <a:p>
            <a:r>
              <a:t>- insertMany()</a:t>
            </a:r>
          </a:p>
          <a:p/>
          <a:p>
            <a:r>
              <a:t>  Takes an array and returns insertedIds, one ObjectId per document, keyed "0", "1" and so on.</a:t>
            </a:r>
          </a:p>
          <a:p/>
          <a:p>
            <a:r>
              <a:t>  Practise with free test SKUs such as A610, A611 and A612, which load.js does not create.</a:t>
            </a:r>
          </a:p>
          <a:p/>
          <a:p>
            <a:r>
              <a:t>- Unique index</a:t>
            </a:r>
          </a:p>
          <a:p/>
          <a:p>
            <a:r>
              <a:t>  sku has the sku_unique index, so inserting an existing SKU fails with an E11000 duplicate key error.</a:t>
            </a:r>
          </a:p>
          <a:p/>
          <a:p>
            <a:r>
              <a:t>  If an exercise hits it, the SKU is left from an earlier run: reload the dataset.</a:t>
            </a:r>
          </a:p>
          <a:p/>
          <a:p>
            <a:r>
              <a:t>- Types and verification</a:t>
            </a:r>
          </a:p>
          <a:p/>
          <a:p>
            <a:r>
              <a:t>  Write money as Decimal128 and times as Date.</a:t>
            </a:r>
          </a:p>
          <a:p/>
          <a:p>
            <a:r>
              <a:t>  Then read the document back with findOne({ sku: "DEMO-1" }) and delete the demo document afterwards.</a:t>
            </a:r>
          </a:p>
          <a:p/>
          <a:p>
            <a:r>
              <a:t>- Diagram data versus our data</a:t>
            </a:r>
          </a:p>
          <a:p/>
          <a:p>
            <a:r>
              <a:t>  The diagram uses simplified sample documents, not training_store.</a:t>
            </a:r>
          </a:p>
          <a:p/>
          <a:p>
            <a:r>
              <a:t>  Its Courses products are illustrations.</a:t>
            </a:r>
          </a:p>
          <a:p/>
          <a:p>
            <a:r>
              <a:t>- What it shows</a:t>
            </a:r>
          </a:p>
          <a:p/>
          <a:p>
            <a:r>
              <a:t>  One document, or an array of documents, goes to mongod, which validates it, generates _id if missing and writes it into products.</a:t>
            </a:r>
          </a:p>
          <a:p/>
          <a:p>
            <a:r>
              <a:t>  The client receives acknowledged: true and the insertedId.</a:t>
            </a:r>
          </a:p>
          <a:p/>
          <a:p>
            <a:r>
              <a:t>- How to read it</a:t>
            </a:r>
          </a:p>
          <a:p/>
          <a:p>
            <a:r>
              <a:t>  Follow the arrows left to right, then the insert result back to the client.</a:t>
            </a:r>
          </a:p>
          <a:p/>
          <a:p>
            <a:r>
              <a:t>- Key point</a:t>
            </a:r>
          </a:p>
          <a:p/>
          <a:p>
            <a:r>
              <a:t>  Check the acknowledgement and the new _id — then read the document back.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Three parts</a:t>
            </a:r>
          </a:p>
          <a:p/>
          <a:p>
            <a:r>
              <a:t>  updateOne(filter, update, options).</a:t>
            </a:r>
          </a:p>
          <a:p/>
          <a:p>
            <a:r>
              <a:t>  The filter picks the document, the update operators say what changes, and options add things like upsert.</a:t>
            </a:r>
          </a:p>
          <a:p/>
          <a:p>
            <a:r>
              <a:t>- updateOne() and updateMany()</a:t>
            </a:r>
          </a:p>
          <a:p/>
          <a:p>
            <a:r>
              <a:t>  updateOne() changes the first match; updateMany() changes every match.</a:t>
            </a:r>
          </a:p>
          <a:p/>
          <a:p>
            <a:r>
              <a:t>  Always preview an updateMany() filter with find() and countDocuments() first.</a:t>
            </a:r>
          </a:p>
          <a:p/>
          <a:p>
            <a:r>
              <a:t>- Matched but not modified</a:t>
            </a:r>
          </a:p>
          <a:p/>
          <a:p>
            <a:r>
              <a:t>  L100 is already active, so $set active: true returns matchedCount 1 and modifiedCount 0.</a:t>
            </a:r>
          </a:p>
          <a:p/>
          <a:p>
            <a:r>
              <a:t>  The document was found, and it already had that value.</a:t>
            </a:r>
          </a:p>
          <a:p/>
          <a:p>
            <a:r>
              <a:t>- Diagram data versus our data</a:t>
            </a:r>
          </a:p>
          <a:p/>
          <a:p>
            <a:r>
              <a:t>  The diagram uses simplified sample documents, not training_store.</a:t>
            </a:r>
          </a:p>
          <a:p/>
          <a:p>
            <a:r>
              <a:t>  Its MongoDB Basics product and inventory.stock field are illustrations.</a:t>
            </a:r>
          </a:p>
          <a:p/>
          <a:p>
            <a:r>
              <a:t>- What it shows</a:t>
            </a:r>
          </a:p>
          <a:p/>
          <a:p>
            <a:r>
              <a:t>  db.products.updateOne() with filter { name: "MongoDB Basics" }, $set price 44.99 and $inc inventory.stock 10.</a:t>
            </a:r>
          </a:p>
          <a:p/>
          <a:p>
            <a:r>
              <a:t>  Before, the price is 49.99 and stock 120; after, 44.99 and 130.</a:t>
            </a:r>
          </a:p>
          <a:p/>
          <a:p>
            <a:r>
              <a:t>  matchedCount 1, modifiedCount 1.</a:t>
            </a:r>
          </a:p>
          <a:p/>
          <a:p>
            <a:r>
              <a:t>- How to read it</a:t>
            </a:r>
          </a:p>
          <a:p/>
          <a:p>
            <a:r>
              <a:t>  mongod matches the document, applies the operators, then writes the change.</a:t>
            </a:r>
          </a:p>
          <a:p/>
          <a:p>
            <a:r>
              <a:t>- Key point</a:t>
            </a:r>
          </a:p>
          <a:p/>
          <a:p>
            <a:r>
              <a:t>  The yellow note matters: updateMany() applies the same change to every match.</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$set and $unset</a:t>
            </a:r>
          </a:p>
          <a:p/>
          <a:p>
            <a:r>
              <a:t>  $set adds a field or replaces its value.</a:t>
            </a:r>
          </a:p>
          <a:p/>
          <a:p>
            <a:r>
              <a:t>  $unset removes a field; the value you give it doesn't matter — for example, A410's temporaryNote.</a:t>
            </a:r>
          </a:p>
          <a:p/>
          <a:p>
            <a:r>
              <a:t>- $inc and $mul</a:t>
            </a:r>
          </a:p>
          <a:p/>
          <a:p>
            <a:r>
              <a:t>  $inc adds to a number and $mul multiplies it, both on the server in one step.</a:t>
            </a:r>
          </a:p>
          <a:p/>
          <a:p>
            <a:r>
              <a:t>  For prices, keep the Decimal128 type in mind.</a:t>
            </a:r>
          </a:p>
          <a:p/>
          <a:p>
            <a:r>
              <a:t>- $min and $max</a:t>
            </a:r>
          </a:p>
          <a:p/>
          <a:p>
            <a:r>
              <a:t>  $min changes the field only if the new value is lower; $max only if it is higher.</a:t>
            </a:r>
          </a:p>
          <a:p/>
          <a:p>
            <a:r>
              <a:t>  They are useful for lowest-price or high-water-mark fields.</a:t>
            </a:r>
          </a:p>
          <a:p/>
          <a:p>
            <a:r>
              <a:t>- $rename</a:t>
            </a:r>
          </a:p>
          <a:p/>
          <a:p>
            <a:r>
              <a:t>  Renaming legacyName to catalogName with updateMany on { legacyName: { $exists: true } } matches only L190.</a:t>
            </a:r>
          </a:p>
          <a:p/>
          <a:p>
            <a:r>
              <a:t>  Preview the filter first: a rename touches every match.</a:t>
            </a:r>
          </a:p>
          <a:p/>
          <a:p>
            <a:r>
              <a:t>- $currentDate</a:t>
            </a:r>
          </a:p>
          <a:p/>
          <a:p>
            <a:r>
              <a:t>  $currentDate: { updatedAt: true } stamps the server's current date.</a:t>
            </a:r>
          </a:p>
          <a:p/>
          <a:p>
            <a:r>
              <a:t>- Diagram data versus our data</a:t>
            </a:r>
          </a:p>
          <a:p/>
          <a:p>
            <a:r>
              <a:t>  The diagram uses simplified sample documents, not training_store.</a:t>
            </a:r>
          </a:p>
          <a:p/>
          <a:p>
            <a:r>
              <a:t>  Its MongoDB Basics product with oldSku is an illustration.</a:t>
            </a:r>
          </a:p>
          <a:p/>
          <a:p>
            <a:r>
              <a:t>- What it shows</a:t>
            </a:r>
          </a:p>
          <a:p/>
          <a:p>
            <a:r>
              <a:t>  One combined update on the MongoDB Basics product: $set price to 44.99, $unset discount, $inc inventory.stock by 10 and $rename oldSku to sku.</a:t>
            </a:r>
          </a:p>
          <a:p/>
          <a:p>
            <a:r>
              <a:t>- How to read it</a:t>
            </a:r>
          </a:p>
          <a:p/>
          <a:p>
            <a:r>
              <a:t>  Compare BEFORE and AFTER.</a:t>
            </a:r>
          </a:p>
          <a:p/>
          <a:p>
            <a:r>
              <a:t>  The price changes, discount disappears, stock goes from 120 to 130 and oldSku becomes sku with the same value.</a:t>
            </a:r>
          </a:p>
          <a:p/>
          <a:p>
            <a:r>
              <a:t>- Key point</a:t>
            </a:r>
          </a:p>
          <a:p/>
          <a:p>
            <a:r>
              <a:t>  Operators modify selected fields in place without replacing the whole document.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Nested $set</a:t>
            </a:r>
          </a:p>
          <a:p/>
          <a:p>
            <a:r>
              <a:t>  Setting "attributes.warrantyYears" adds one field inside attributes.</a:t>
            </a:r>
          </a:p>
          <a:p/>
          <a:p>
            <a:r>
              <a:t>  processor, memoryGB, storageGB and screenSizeInches stay.</a:t>
            </a:r>
          </a:p>
          <a:p/>
          <a:p>
            <a:r>
              <a:t>- The trap it avoids</a:t>
            </a:r>
          </a:p>
          <a:p/>
          <a:p>
            <a:r>
              <a:t>  $set: { attributes: { warrantyYears: 2 } } would replace the whole attributes object.</a:t>
            </a:r>
          </a:p>
          <a:p/>
          <a:p>
            <a:r>
              <a:t>  Exercise 4.4 shows the same mistake with contact: C101 would lose her phone.</a:t>
            </a:r>
          </a:p>
          <a:p/>
          <a:p>
            <a:r>
              <a:t>- Guarded $inc</a:t>
            </a:r>
          </a:p>
          <a:p/>
          <a:p>
            <a:r>
              <a:t>  Products have no stock field on a fresh load, so Lab 3 first sets stockQuantity to 18 on A410.</a:t>
            </a:r>
          </a:p>
          <a:p/>
          <a:p>
            <a:r>
              <a:t>  The update matches only while at least 2 remain, and $inc subtracts 2: 18 becomes 16.</a:t>
            </a:r>
          </a:p>
          <a:p/>
          <a:p>
            <a:r>
              <a:t>- Why it is safe</a:t>
            </a:r>
          </a:p>
          <a:p/>
          <a:p>
            <a:r>
              <a:t>  The condition and the change are one single-document write, which MongoDB applies atomically.</a:t>
            </a:r>
          </a:p>
          <a:p/>
          <a:p>
            <a:r>
              <a:t>  Two buyers cannot both take the last unit.</a:t>
            </a:r>
          </a:p>
          <a:p/>
          <a:p>
            <a:r>
              <a:t>  Reading the value into the application and writing it back would allow that race.</a:t>
            </a:r>
          </a:p>
          <a:p/>
          <a:p>
            <a:r>
              <a:t>- No stock field yet</a:t>
            </a:r>
          </a:p>
          <a:p/>
          <a:p>
            <a:r>
              <a:t>  On a fresh load L100 has no stockQuantity either.</a:t>
            </a:r>
          </a:p>
          <a:p/>
          <a:p>
            <a:r>
              <a:t>  $inc on a missing field creates it with the increment, so $inc: { stockQuantity: 5 } gives 5.</a:t>
            </a:r>
          </a:p>
          <a:p/>
          <a:p>
            <a:r>
              <a:t>  That is why Lab 3 sets A410's stockQuantity to 18 before the guarded decrement.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$push</a:t>
            </a:r>
          </a:p>
          <a:p/>
          <a:p>
            <a:r>
              <a:t>  $push appends a value.</a:t>
            </a:r>
          </a:p>
          <a:p/>
          <a:p>
            <a:r>
              <a:t>  Run it twice and the value appears twice.</a:t>
            </a:r>
          </a:p>
          <a:p/>
          <a:p>
            <a:r>
              <a:t>  $each pushes several values, and $slice with $each keeps an array bounded, for example the last ten status changes.</a:t>
            </a:r>
          </a:p>
          <a:p/>
          <a:p>
            <a:r>
              <a:t>- $addToSet</a:t>
            </a:r>
          </a:p>
          <a:p/>
          <a:p>
            <a:r>
              <a:t>  Lab 3 adds featured, office and wireless to A410 with $addToSet and $each.</a:t>
            </a:r>
          </a:p>
          <a:p/>
          <a:p>
            <a:r>
              <a:t>  wireless is already there, so it stays once.</a:t>
            </a:r>
          </a:p>
          <a:p/>
          <a:p>
            <a:r>
              <a:t>  The tags become wireless, accessories, featured, office.</a:t>
            </a:r>
          </a:p>
          <a:p/>
          <a:p>
            <a:r>
              <a:t>- $pull and $pop</a:t>
            </a:r>
          </a:p>
          <a:p/>
          <a:p>
            <a:r>
              <a:t>  $pull removes every element that matches a value or condition; Lab 3 pulls discontinued from L190.</a:t>
            </a:r>
          </a:p>
          <a:p/>
          <a:p>
            <a:r>
              <a:t>  $pop removes the first (-1) or last (1) element and does not look at values.</a:t>
            </a:r>
          </a:p>
          <a:p/>
          <a:p>
            <a:r>
              <a:t>- Diagram data versus our data</a:t>
            </a:r>
          </a:p>
          <a:p/>
          <a:p>
            <a:r>
              <a:t>  The diagram uses simplified sample documents, not training_store.</a:t>
            </a:r>
          </a:p>
          <a:p/>
          <a:p>
            <a:r>
              <a:t>  Its audio and clearance tags and its ratings array are illustrations.</a:t>
            </a:r>
          </a:p>
          <a:p/>
          <a:p>
            <a:r>
              <a:t>- What it shows</a:t>
            </a:r>
          </a:p>
          <a:p/>
          <a:p>
            <a:r>
              <a:t>  Tags start as audio and clearance, ratings as 5, 4, 3.</a:t>
            </a:r>
          </a:p>
          <a:p/>
          <a:p>
            <a:r>
              <a:t>  After the updates, tags are audio, wireless, sale, and ratings are 5, 4.</a:t>
            </a:r>
          </a:p>
          <a:p/>
          <a:p>
            <a:r>
              <a:t>- How to read it</a:t>
            </a:r>
          </a:p>
          <a:p/>
          <a:p>
            <a:r>
              <a:t>  $pull removed clearance, $push added wireless, $addToSet added sale once and $pop removed the last rating.</a:t>
            </a:r>
          </a:p>
          <a:p/>
          <a:p>
            <a:r>
              <a:t>- One caution</a:t>
            </a:r>
          </a:p>
          <a:p/>
          <a:p>
            <a:r>
              <a:t>  Run these as separate updates.</a:t>
            </a:r>
          </a:p>
          <a:p/>
          <a:p>
            <a:r>
              <a:t>  One update may not both $push to and $pull from the same array; MongoDB reports a conflict.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Positional $</a:t>
            </a:r>
          </a:p>
          <a:p/>
          <a:p>
            <a:r>
              <a:t>  The filter must include the array condition, here "items.sku": "L100".</a:t>
            </a:r>
          </a:p>
          <a:p/>
          <a:p>
            <a:r>
              <a:t>  Then "items.$.quantity" means the first element that matched.</a:t>
            </a:r>
          </a:p>
          <a:p/>
          <a:p>
            <a:r>
              <a:t>  On O5001 only the L100 line changes, from 1 to 2.</a:t>
            </a:r>
          </a:p>
          <a:p/>
          <a:p>
            <a:r>
              <a:t>- All elements</a:t>
            </a:r>
          </a:p>
          <a:p/>
          <a:p>
            <a:r>
              <a:t>  "items.$[].reviewed": false sets the field on every item of the order.</a:t>
            </a:r>
          </a:p>
          <a:p/>
          <a:p>
            <a:r>
              <a:t>  Try both on O5001, then reload.</a:t>
            </a:r>
          </a:p>
          <a:p/>
          <a:p>
            <a:r>
              <a:t>- Filtered elements</a:t>
            </a:r>
          </a:p>
          <a:p/>
          <a:p>
            <a:r>
              <a:t>  "items.$[item].requiresReview" with arrayFilters: [{ "item.quantity": { $gte: 2 } }] changes only the lines with quantity 2 or more.</a:t>
            </a:r>
          </a:p>
          <a:p/>
          <a:p>
            <a:r>
              <a:t>- Reload afterwards</a:t>
            </a:r>
          </a:p>
          <a:p/>
          <a:p>
            <a:r>
              <a:t>  These exercises change O5001.</a:t>
            </a:r>
          </a:p>
          <a:p/>
          <a:p>
            <a:r>
              <a:t>  Reload the dataset before labs that expect the original $elemMatch trap.</a:t>
            </a:r>
          </a:p>
          <a:p/>
          <a:p>
            <a:r>
              <a:t>- Diagram data versus our data</a:t>
            </a:r>
          </a:p>
          <a:p/>
          <a:p>
            <a:r>
              <a:t>  The diagram uses simplified sample documents, not training_store.</a:t>
            </a:r>
          </a:p>
          <a:p/>
          <a:p>
            <a:r>
              <a:t>  Its order 501 and SKUs such as KB-10 are illustrations.</a:t>
            </a:r>
          </a:p>
          <a:p/>
          <a:p>
            <a:r>
              <a:t>- What it shows</a:t>
            </a:r>
          </a:p>
          <a:p/>
          <a:p>
            <a:r>
              <a:t>  updateOne on order 501 with the filter "items.sku": "KB-10" and $set "items.$.qty": 2.</a:t>
            </a:r>
          </a:p>
          <a:p/>
          <a:p>
            <a:r>
              <a:t>  Only element 1, KB-10, changes from qty 1 to 2.</a:t>
            </a:r>
          </a:p>
          <a:p/>
          <a:p>
            <a:r>
              <a:t>- How to read it</a:t>
            </a:r>
          </a:p>
          <a:p/>
          <a:p>
            <a:r>
              <a:t>  The $ stands for the first matched element.</a:t>
            </a:r>
          </a:p>
          <a:p/>
          <a:p>
            <a:r>
              <a:t>  Elements 0 and 2 are untouched.</a:t>
            </a:r>
          </a:p>
          <a:p/>
          <a:p>
            <a:r>
              <a:t>- Key point</a:t>
            </a:r>
          </a:p>
          <a:p/>
          <a:p>
            <a:r>
              <a:t>  The array field must appear in the filter for $ to know which element.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replaceOne()</a:t>
            </a:r>
          </a:p>
          <a:p/>
          <a:p>
            <a:r>
              <a:t>  replaceOne() swaps the whole body of the document.</a:t>
            </a:r>
          </a:p>
          <a:p/>
          <a:p>
            <a:r>
              <a:t>  Only _id is kept, and any field you leave out disappears.</a:t>
            </a:r>
          </a:p>
          <a:p/>
          <a:p>
            <a:r>
              <a:t>- $set</a:t>
            </a:r>
          </a:p>
          <a:p/>
          <a:p>
            <a:r>
              <a:t>  $set changes only the named fields.</a:t>
            </a:r>
          </a:p>
          <a:p/>
          <a:p>
            <a:r>
              <a:t>  For almost every business change this is what you want.</a:t>
            </a:r>
          </a:p>
          <a:p/>
          <a:p>
            <a:r>
              <a:t>- Practise safely</a:t>
            </a:r>
          </a:p>
          <a:p/>
          <a:p>
            <a:r>
              <a:t>  Demo 4.8 uses a test document such as DEMO-REP or TEMP-200.</a:t>
            </a:r>
          </a:p>
          <a:p/>
          <a:p>
            <a:r>
              <a:t>  Never practise replaceOne() on L100; later labs depend on it.</a:t>
            </a:r>
          </a:p>
          <a:p/>
          <a:p>
            <a:r>
              <a:t>- Diagram data versus our data</a:t>
            </a:r>
          </a:p>
          <a:p/>
          <a:p>
            <a:r>
              <a:t>  The diagram uses simplified sample documents, not training_store.</a:t>
            </a:r>
          </a:p>
          <a:p/>
          <a:p>
            <a:r>
              <a:t>  Its Keyboard product with _id 101 is an illustration.</a:t>
            </a:r>
          </a:p>
          <a:p/>
          <a:p>
            <a:r>
              <a:t>- What it shows</a:t>
            </a:r>
          </a:p>
          <a:p/>
          <a:p>
            <a:r>
              <a:t>  Left: replaceOne keeps _id 101 but drops stock, because the replacement lists only name and price.</a:t>
            </a:r>
          </a:p>
          <a:p/>
          <a:p>
            <a:r>
              <a:t>  Right: updateOne with $set changes price to 69 and keeps stock 12.</a:t>
            </a:r>
          </a:p>
          <a:p/>
          <a:p>
            <a:r>
              <a:t>  Below, a preview of upsert: match, or insert.</a:t>
            </a:r>
          </a:p>
          <a:p/>
          <a:p>
            <a:r>
              <a:t>- How to read it</a:t>
            </a:r>
          </a:p>
          <a:p/>
          <a:p>
            <a:r>
              <a:t>  The red cross over stock: 12 is the whole lesson of replaceOne.</a:t>
            </a:r>
          </a:p>
          <a:p/>
          <a:p>
            <a:r>
              <a:t>- Key point</a:t>
            </a:r>
          </a:p>
          <a:p/>
          <a:p>
            <a:r>
              <a:t>  Use update operators when only some fields should change.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Upsert</a:t>
            </a:r>
          </a:p>
          <a:p/>
          <a:p>
            <a:r>
              <a:t>  { upsert: true } means: update the match, or insert when nothing matches.</a:t>
            </a:r>
          </a:p>
          <a:p/>
          <a:p>
            <a:r>
              <a:t>  The inserted document combines the filter's equality fields and the update's fields.</a:t>
            </a:r>
          </a:p>
          <a:p/>
          <a:p>
            <a:r>
              <a:t>- $setOnInsert</a:t>
            </a:r>
          </a:p>
          <a:p/>
          <a:p>
            <a:r>
              <a:t>  Fields in $setOnInsert are written only on the insert path, so createdAt is set once and never overwritten.</a:t>
            </a:r>
          </a:p>
          <a:p/>
          <a:p>
            <a:r>
              <a:t>- Exercise 4.3</a:t>
            </a:r>
          </a:p>
          <a:p/>
          <a:p>
            <a:r>
              <a:t>  The first run inserts A700, Portable Charger, and returns the new _id.</a:t>
            </a:r>
          </a:p>
          <a:p/>
          <a:p>
            <a:r>
              <a:t>  The second run matches it: updatedAt changes and createdAt stays.</a:t>
            </a:r>
          </a:p>
          <a:p/>
          <a:p>
            <a:r>
              <a:t>- Filter on a unique field</a:t>
            </a:r>
          </a:p>
          <a:p/>
          <a:p>
            <a:r>
              <a:t>  sku has a unique index.</a:t>
            </a:r>
          </a:p>
          <a:p/>
          <a:p>
            <a:r>
              <a:t>  An upsert on a non-unique field can update the wrong document or insert duplicates.</a:t>
            </a:r>
          </a:p>
          <a:p/>
          <a:p>
            <a:r>
              <a:t>- Diagram data versus our data</a:t>
            </a:r>
          </a:p>
          <a:p/>
          <a:p>
            <a:r>
              <a:t>  The diagram uses simplified sample documents, not training_store.</a:t>
            </a:r>
          </a:p>
          <a:p/>
          <a:p>
            <a:r>
              <a:t>  Its KB-NEW Keyboard Lite is an illustration.</a:t>
            </a:r>
          </a:p>
          <a:p/>
          <a:p>
            <a:r>
              <a:t>- What it shows</a:t>
            </a:r>
          </a:p>
          <a:p/>
          <a:p>
            <a:r>
              <a:t>  updateOne on sku KB-NEW with $set price and stock, $setOnInsert name and { upsert: true }.</a:t>
            </a:r>
          </a:p>
          <a:p/>
          <a:p>
            <a:r>
              <a:t>  If the SKU exists, price and stock change and $setOnInsert is not applied.</a:t>
            </a:r>
          </a:p>
          <a:p/>
          <a:p>
            <a:r>
              <a:t>  If not, a new document is inserted with the filter field plus every set field.</a:t>
            </a:r>
          </a:p>
          <a:p/>
          <a:p>
            <a:r>
              <a:t>- How to read it</a:t>
            </a:r>
          </a:p>
          <a:p/>
          <a:p>
            <a:r>
              <a:t>  Follow the diamond: YES goes to update, NO goes to insert.</a:t>
            </a:r>
          </a:p>
          <a:p/>
          <a:p>
            <a:r>
              <a:t>- Key point</a:t>
            </a:r>
          </a:p>
          <a:p/>
          <a:p>
            <a:r>
              <a:t>  $setOnInsert only acts on the insert path.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fields</a:t>
            </a:r>
          </a:p>
          <a:p/>
          <a:p>
            <a:r>
              <a:t>  acknowledged means the server accepted the write.</a:t>
            </a:r>
          </a:p>
          <a:p/>
          <a:p>
            <a:r>
              <a:t>  matchedCount is how many documents the filter found, modifiedCount how many really changed.</a:t>
            </a:r>
          </a:p>
          <a:p/>
          <a:p>
            <a:r>
              <a:t>  upsertedCount and the upserted _id appear when an upsert inserted.</a:t>
            </a:r>
          </a:p>
          <a:p/>
          <a:p>
            <a:r>
              <a:t>- mongosh naming</a:t>
            </a:r>
          </a:p>
          <a:p/>
          <a:p>
            <a:r>
              <a:t>  mongosh prints the upserted _id as insertedId; drivers call it upsertedId.</a:t>
            </a:r>
          </a:p>
          <a:p/>
          <a:p>
            <a:r>
              <a:t>  It is null when nothing was inserted.</a:t>
            </a:r>
          </a:p>
          <a:p/>
          <a:p>
            <a:r>
              <a:t>- Matched but not modified</a:t>
            </a:r>
          </a:p>
          <a:p/>
          <a:p>
            <a:r>
              <a:t>  updateMany({}, { $pull: { tags: "discontinued" } }) matches all 13 products but modifies only 1, L190.</a:t>
            </a:r>
          </a:p>
          <a:p/>
          <a:p>
            <a:r>
              <a:t>  The other 12 had nothing to pull.</a:t>
            </a:r>
          </a:p>
          <a:p/>
          <a:p>
            <a:r>
              <a:t>- Deletes and bulk writes</a:t>
            </a:r>
          </a:p>
          <a:p/>
          <a:p>
            <a:r>
              <a:t>  deleteOne and deleteMany return deletedCount.</a:t>
            </a:r>
          </a:p>
          <a:p/>
          <a:p>
            <a:r>
              <a:t>  bulkWrite returns all the counts together.</a:t>
            </a:r>
          </a:p>
          <a:p/>
          <a:p>
            <a:r>
              <a:t>- Diagram data versus our data</a:t>
            </a:r>
          </a:p>
          <a:p/>
          <a:p>
            <a:r>
              <a:t>  The diagram uses simplified sample documents, not training_store.</a:t>
            </a:r>
          </a:p>
          <a:p/>
          <a:p>
            <a:r>
              <a:t>  Its K100 Keyboard and stock field are illustrations.</a:t>
            </a:r>
          </a:p>
          <a:p/>
          <a:p>
            <a:r>
              <a:t>- What it shows</a:t>
            </a:r>
          </a:p>
          <a:p/>
          <a:p>
            <a:r>
              <a:t>  A $set of stock 24 on product K100 and the write result: acknowledged true, matchedCount 1, modifiedCount 1, upsertedCount 0, upsertedId null.</a:t>
            </a:r>
          </a:p>
          <a:p/>
          <a:p>
            <a:r>
              <a:t>- How to read it</a:t>
            </a:r>
          </a:p>
          <a:p/>
          <a:p>
            <a:r>
              <a:t>  Each row of the result answers one question: found, changed, inserted, new _id.</a:t>
            </a:r>
          </a:p>
          <a:p/>
          <a:p>
            <a:r>
              <a:t>- Key point</a:t>
            </a:r>
          </a:p>
          <a:p/>
          <a:p>
            <a:r>
              <a:t>  Read the whole result, not just "acknowledged".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part</a:t>
            </a:r>
          </a:p>
          <a:p/>
          <a:p>
            <a:r>
              <a:t>  A delete cannot be undone from the shell.</a:t>
            </a:r>
          </a:p>
          <a:p/>
          <a:p>
            <a:r>
              <a:t>  The habits in this part protect real data.</a:t>
            </a:r>
          </a:p>
          <a:p/>
          <a:p>
            <a:r>
              <a:t>- Outcome</a:t>
            </a:r>
          </a:p>
          <a:p/>
          <a:p>
            <a:r>
              <a:t>  By the end, learners follow one routine for every risky write: preview, count, write, verify.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The routine</a:t>
            </a:r>
          </a:p>
          <a:p/>
          <a:p>
            <a:r>
              <a:t>  Put the filter in a variable.</a:t>
            </a:r>
          </a:p>
          <a:p/>
          <a:p>
            <a:r>
              <a:t>  Preview with find(), count with countDocuments(), check the number, and only then delete with the same filter.</a:t>
            </a:r>
          </a:p>
          <a:p/>
          <a:p>
            <a:r>
              <a:t>- Demo 4.9</a:t>
            </a:r>
          </a:p>
          <a:p/>
          <a:p>
            <a:r>
              <a:t>  Insert TEMP-100 first if needed.</a:t>
            </a:r>
          </a:p>
          <a:p/>
          <a:p>
            <a:r>
              <a:t>  The count is 1, deleteOne returns deletedCount: 1, and a final find confirms TEMP-100 is gone while L100 remains.</a:t>
            </a:r>
          </a:p>
          <a:p/>
          <a:p>
            <a:r>
              <a:t>- deleteOne() and deleteMany()</a:t>
            </a:r>
          </a:p>
          <a:p/>
          <a:p>
            <a:r>
              <a:t>  deleteOne() removes the first match; deleteMany() removes every match.</a:t>
            </a:r>
          </a:p>
          <a:p/>
          <a:p>
            <a:r>
              <a:t>  deleteMany({}) empties the collection and is never the right answer in these labs.</a:t>
            </a:r>
          </a:p>
          <a:p/>
          <a:p>
            <a:r>
              <a:t>- Soft delete</a:t>
            </a:r>
          </a:p>
          <a:p/>
          <a:p>
            <a:r>
              <a:t>  When deleted data may need to come back, many teams set a deletedAt field instead and filter it out of normal reads.</a:t>
            </a:r>
          </a:p>
          <a:p/>
          <a:p>
            <a:r>
              <a:t>- Diagram data versus our data</a:t>
            </a:r>
          </a:p>
          <a:p/>
          <a:p>
            <a:r>
              <a:t>  The diagram uses simplified sample documents, not training_store.</a:t>
            </a:r>
          </a:p>
          <a:p/>
          <a:p>
            <a:r>
              <a:t>  Its cancelled and archived orders are illustrations; training_store orders use paymentStatus and fulfillmentStatus.</a:t>
            </a:r>
          </a:p>
          <a:p/>
          <a:p>
            <a:r>
              <a:t>- What it shows</a:t>
            </a:r>
          </a:p>
          <a:p/>
          <a:p>
            <a:r>
              <a:t>  The filter status cancelled, archived true and archivedAt before 2025 is counted, previewed with find() and limit(3), checked against the expected count, and only then used by deleteMany().</a:t>
            </a:r>
          </a:p>
          <a:p/>
          <a:p>
            <a:r>
              <a:t>  deletedCount: 3.</a:t>
            </a:r>
          </a:p>
          <a:p/>
          <a:p>
            <a:r>
              <a:t>- How to read it</a:t>
            </a:r>
          </a:p>
          <a:p/>
          <a:p>
            <a:r>
              <a:t>  The NO path loops back: stop and refine the filter.</a:t>
            </a:r>
          </a:p>
          <a:p/>
          <a:p>
            <a:r>
              <a:t>  Active orders are untouched.</a:t>
            </a:r>
          </a:p>
          <a:p/>
          <a:p>
            <a:r>
              <a:t>- Key point</a:t>
            </a:r>
          </a:p>
          <a:p/>
          <a:p>
            <a:r>
              <a:t>  The delete uses exactly the filter you counted and previewed.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One request</a:t>
            </a:r>
          </a:p>
          <a:p/>
          <a:p>
            <a:r>
              <a:t>  bulkWrite() sends several inserts, updates, replaces and deletes in one request and returns one combined result.</a:t>
            </a:r>
          </a:p>
          <a:p/>
          <a:p>
            <a:r>
              <a:t>- Demo 4.10</a:t>
            </a:r>
          </a:p>
          <a:p/>
          <a:p>
            <a:r>
              <a:t>  Insert DEMO-BULK, update it to active: false, and delete TEMP-100.</a:t>
            </a:r>
          </a:p>
          <a:p/>
          <a:p>
            <a:r>
              <a:t>  The result is insertedCount 1, matchedCount 1, modifiedCount 1 and deletedCount 0.</a:t>
            </a:r>
          </a:p>
          <a:p/>
          <a:p>
            <a:r>
              <a:t>  TEMP-100 was already deleted in Demo 4.9, so 0 is a normal outcome.</a:t>
            </a:r>
          </a:p>
          <a:p/>
          <a:p>
            <a:r>
              <a:t>- Ordered or not</a:t>
            </a:r>
          </a:p>
          <a:p/>
          <a:p>
            <a:r>
              <a:t>  By default operations run in order and stop at the first error.</a:t>
            </a:r>
          </a:p>
          <a:p/>
          <a:p>
            <a:r>
              <a:t>  With ordered: false, MongoDB attempts them all and reports every error.</a:t>
            </a:r>
          </a:p>
          <a:p/>
          <a:p>
            <a:r>
              <a:t>- Not a transaction</a:t>
            </a:r>
          </a:p>
          <a:p/>
          <a:p>
            <a:r>
              <a:t>  Each operation is atomic on its own document, but the batch is not all-or-nothing.</a:t>
            </a:r>
          </a:p>
          <a:p/>
          <a:p>
            <a:r>
              <a:t>  Multi-document transactions are a separate feature.</a:t>
            </a:r>
          </a:p>
          <a:p/>
          <a:p>
            <a:r>
              <a:t>- Diagram data versus our data</a:t>
            </a:r>
          </a:p>
          <a:p/>
          <a:p>
            <a:r>
              <a:t>  The diagram uses simplified sample documents, not training_store.</a:t>
            </a:r>
          </a:p>
          <a:p/>
          <a:p>
            <a:r>
              <a:t>  Its K100 and OLD9 products are illustrations.</a:t>
            </a:r>
          </a:p>
          <a:p/>
          <a:p>
            <a:r>
              <a:t>- What it shows</a:t>
            </a:r>
          </a:p>
          <a:p/>
          <a:p>
            <a:r>
              <a:t>  products.bulkWrite with three operations: insertOne a Keyboard, updateOne sku K100 to stock 24, deleteOne sku OLD9.</a:t>
            </a:r>
          </a:p>
          <a:p/>
          <a:p>
            <a:r>
              <a:t>  The single response shows insertedCount 1, modifiedCount 1, deletedCount 1.</a:t>
            </a:r>
          </a:p>
          <a:p/>
          <a:p>
            <a:r>
              <a:t>- How to read it</a:t>
            </a:r>
          </a:p>
          <a:p/>
          <a:p>
            <a:r>
              <a:t>  The numbered steps run in order, and the numbers match the documents on the right.</a:t>
            </a:r>
          </a:p>
          <a:p/>
          <a:p>
            <a:r>
              <a:t>- Key point</a:t>
            </a:r>
          </a:p>
          <a:p/>
          <a:p>
            <a:r>
              <a:t>  Fewer round trips, one combined result.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Reproduce</a:t>
            </a:r>
          </a:p>
          <a:p/>
          <a:p>
            <a:r>
              <a:t>  find({ price: "49.99" }) returns only XBAD, the one broken document, because the query compares a string.</a:t>
            </a:r>
          </a:p>
          <a:p/>
          <a:p>
            <a:r>
              <a:t>- Compare with a real document</a:t>
            </a:r>
          </a:p>
          <a:p/>
          <a:p>
            <a:r>
              <a:t>  findOne({ sku: "P1001" }) shows price: Decimal128("49.99").</a:t>
            </a:r>
          </a:p>
          <a:p/>
          <a:p>
            <a:r>
              <a:t>  The stored type is Decimal128, not a string.</a:t>
            </a:r>
          </a:p>
          <a:p/>
          <a:p>
            <a:r>
              <a:t>- Fix and test small</a:t>
            </a:r>
          </a:p>
          <a:p/>
          <a:p>
            <a:r>
              <a:t>  { price: Decimal128("49.99") } returns P1001, the Wireless Keyboard.</a:t>
            </a:r>
          </a:p>
          <a:p/>
          <a:p>
            <a:r>
              <a:t>  Test the smallest query first, sku alone, then add one condition at a time.</a:t>
            </a:r>
          </a:p>
          <a:p/>
          <a:p>
            <a:r>
              <a:t>- Common causes</a:t>
            </a:r>
          </a:p>
          <a:p/>
          <a:p>
            <a:r>
              <a:t>  A wrong field name, the wrong case, the wrong type or an unquoted path.</a:t>
            </a:r>
          </a:p>
          <a:p/>
          <a:p>
            <a:r>
              <a:t>  The next slide gathers seven of them.</a:t>
            </a:r>
          </a:p>
          <a:p/>
          <a:p>
            <a:r>
              <a:t>- Diagram data versus our data</a:t>
            </a:r>
          </a:p>
          <a:p/>
          <a:p>
            <a:r>
              <a:t>  The diagram uses simplified sample documents, not training_store.</a:t>
            </a:r>
          </a:p>
          <a:p/>
          <a:p>
            <a:r>
              <a:t>  Its K100 product priced 49.99 is an illustration.</a:t>
            </a:r>
          </a:p>
          <a:p/>
          <a:p>
            <a:r>
              <a:t>- What it shows</a:t>
            </a:r>
          </a:p>
          <a:p/>
          <a:p>
            <a:r>
              <a:t>  find({ sku: "K100", price: "49.99" }) returns 0 results.</a:t>
            </a:r>
          </a:p>
          <a:p/>
          <a:p>
            <a:r>
              <a:t>  A sample document shows price is a number, 49.99.</a:t>
            </a:r>
          </a:p>
          <a:p/>
          <a:p>
            <a:r>
              <a:t>  Changing the string to a number returns 1 document.</a:t>
            </a:r>
          </a:p>
          <a:p/>
          <a:p>
            <a:r>
              <a:t>- How to read it</a:t>
            </a:r>
          </a:p>
          <a:p/>
          <a:p>
            <a:r>
              <a:t>  Six steps left to right.</a:t>
            </a:r>
          </a:p>
          <a:p/>
          <a:p>
            <a:r>
              <a:t>  Step 5 tests the smallest query first, sku alone, then adds the price.</a:t>
            </a:r>
          </a:p>
          <a:p/>
          <a:p>
            <a:r>
              <a:t>- Key point</a:t>
            </a:r>
          </a:p>
          <a:p/>
          <a:p>
            <a:r>
              <a:t>  When a query returns nothing, compare it with a real document.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Why this slide</a:t>
            </a:r>
          </a:p>
          <a:p/>
          <a:p>
            <a:r>
              <a:t>  These are seven classic query errors and the write mistakes from Exercise 4.4, gathered in one place before the checks.</a:t>
            </a:r>
          </a:p>
          <a:p/>
          <a:p>
            <a:r>
              <a:t>- Query mistakes</a:t>
            </a:r>
          </a:p>
          <a:p/>
          <a:p>
            <a:r>
              <a:t>  Category with a capital C matches nothing.</a:t>
            </a:r>
          </a:p>
          <a:p/>
          <a:p>
            <a:r>
              <a:t>  A string "100.00" compares only against strings: on training_store it returns XBAD alone, because "49.99" sorts after "100.00" as text.</a:t>
            </a:r>
          </a:p>
          <a:p/>
          <a:p>
            <a:r>
              <a:t>  An unquoted dotted path is a JavaScript syntax error.</a:t>
            </a:r>
          </a:p>
          <a:p/>
          <a:p>
            <a:r>
              <a:t>  An operator must sit inside its field.</a:t>
            </a:r>
          </a:p>
          <a:p/>
          <a:p>
            <a:r>
              <a:t>- Update without an operator</a:t>
            </a:r>
          </a:p>
          <a:p/>
          <a:p>
            <a:r>
              <a:t>  updateOne(filter, { featured: true }) is rejected: the update document must use operators such as $set.</a:t>
            </a:r>
          </a:p>
          <a:p/>
          <a:p>
            <a:r>
              <a:t>  Replacing a document is what replaceOne() is for.</a:t>
            </a:r>
          </a:p>
          <a:p/>
          <a:p>
            <a:r>
              <a:t>  Mixing inclusion and exclusion in a projection is the seventh error.</a:t>
            </a:r>
          </a:p>
          <a:p/>
          <a:p>
            <a:r>
              <a:t>- Anti-patterns</a:t>
            </a:r>
          </a:p>
          <a:p/>
          <a:p>
            <a:r>
              <a:t>  An empty filter on updateMany or deleteMany touches every document.</a:t>
            </a:r>
          </a:p>
          <a:p/>
          <a:p>
            <a:r>
              <a:t>  $set on a parent object drops its other fields.</a:t>
            </a:r>
          </a:p>
          <a:p/>
          <a:p>
            <a:r>
              <a:t>  $push creates duplicates.</a:t>
            </a:r>
          </a:p>
          <a:p/>
          <a:p>
            <a:r>
              <a:t>  Paging without a sort gives unstable pages.</a:t>
            </a:r>
          </a:p>
          <a:p/>
          <a:p>
            <a:r>
              <a:t>  And a write you never check is a write you cannot trust.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Build a precise filter</a:t>
            </a:r>
          </a:p>
          <a:p/>
          <a:p>
            <a:r>
              <a:t>  find, updateOne, deleteOne and bulkWrite all start with a filter.</a:t>
            </a:r>
          </a:p>
          <a:p/>
          <a:p>
            <a:r>
              <a:t>  Parts 1 to 3 were about making it precise.</a:t>
            </a:r>
          </a:p>
          <a:p/>
          <a:p>
            <a:r>
              <a:t>- Execute and read the result</a:t>
            </a:r>
          </a:p>
          <a:p/>
          <a:p>
            <a:r>
              <a:t>  mongod runs the command on training_store and returns a result: documents for a read, counts for a write.</a:t>
            </a:r>
          </a:p>
          <a:p/>
          <a:p>
            <a:r>
              <a:t>- Verify, then refine</a:t>
            </a:r>
          </a:p>
          <a:p/>
          <a:p>
            <a:r>
              <a:t>  Check the result with findOne or countDocuments, and refine the filter when it doesn't match what you expected.</a:t>
            </a:r>
          </a:p>
          <a:p/>
          <a:p>
            <a:r>
              <a:t>- What it shows</a:t>
            </a:r>
          </a:p>
          <a:p/>
          <a:p>
            <a:r>
              <a:t>  The loop: build a precise filter with find, updateOne, deleteOne or bulkWrite; send it to mongod; execute on training_store; return acknowledged, matchedCount and modifiedCount; verify with findOne.</a:t>
            </a:r>
          </a:p>
          <a:p/>
          <a:p>
            <a:r>
              <a:t>- How to use it</a:t>
            </a:r>
          </a:p>
          <a:p/>
          <a:p>
            <a:r>
              <a:t>  Ask the class which part of the loop each Part of the module taught.</a:t>
            </a:r>
          </a:p>
          <a:p/>
          <a:p>
            <a:r>
              <a:t>- A detail to notice</a:t>
            </a:r>
          </a:p>
          <a:p/>
          <a:p>
            <a:r>
              <a:t>  The product card writes _id: "K100" as shorthand.</a:t>
            </a:r>
          </a:p>
          <a:p/>
          <a:p>
            <a:r>
              <a:t>  In training_store, _id is an ObjectId and K100-style codes live in sku, which is what the findOne verifies.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- 1. findOne() and find()</a:t>
            </a:r>
          </a:p>
          <a:p/>
          <a:p>
            <a:r>
              <a:t>  findOne() returns one document or null.</a:t>
            </a:r>
          </a:p>
          <a:p/>
          <a:p>
            <a:r>
              <a:t>  find() returns a cursor over every match.</a:t>
            </a:r>
          </a:p>
          <a:p/>
          <a:p>
            <a:r>
              <a:t>- 2. The empty filter</a:t>
            </a:r>
          </a:p>
          <a:p/>
          <a:p>
            <a:r>
              <a:t>  {} matches every document in the collection — 13 products.</a:t>
            </a:r>
          </a:p>
          <a:p/>
          <a:p>
            <a:r>
              <a:t>  That is why it is dangerous in updateMany and deleteMany.</a:t>
            </a:r>
          </a:p>
          <a:p/>
          <a:p>
            <a:r>
              <a:t>- 3. Nested fields</a:t>
            </a:r>
          </a:p>
          <a:p/>
          <a:p>
            <a:r>
              <a:t>  With a quoted dotted path, such as "attributes.memoryGB" or "contact.email".</a:t>
            </a:r>
          </a:p>
          <a:p/>
          <a:p>
            <a:r>
              <a:t>- 4. $elemMatch</a:t>
            </a:r>
          </a:p>
          <a:p/>
          <a:p>
            <a:r>
              <a:t>  When two or more conditions must be true for the same array element, as in the O5001 example.</a:t>
            </a:r>
          </a:p>
          <a:p/>
          <a:p>
            <a:r>
              <a:t>- 5. Projection</a:t>
            </a:r>
          </a:p>
          <a:p/>
          <a:p>
            <a:r>
              <a:t>  Use inclusion or exclusion, not both.</a:t>
            </a:r>
          </a:p>
          <a:p/>
          <a:p>
            <a:r>
              <a:t>  _id is the only field you may exclude in an inclusion projection.</a:t>
            </a:r>
          </a:p>
          <a:p/>
          <a:p>
            <a:r>
              <a:t>- 6. $push and $addToSet</a:t>
            </a:r>
          </a:p>
          <a:p/>
          <a:p>
            <a:r>
              <a:t>  $push always appends, so repeats are possible.</a:t>
            </a:r>
          </a:p>
          <a:p/>
          <a:p>
            <a:r>
              <a:t>  $addToSet adds a value only if it is not already there.</a:t>
            </a:r>
          </a:p>
          <a:p/>
          <a:p>
            <a:r>
              <a:t>- 7. $set or replaceOne()</a:t>
            </a:r>
          </a:p>
          <a:p/>
          <a:p>
            <a:r>
              <a:t>  $set changes the named fields and keeps the rest.</a:t>
            </a:r>
          </a:p>
          <a:p/>
          <a:p>
            <a:r>
              <a:t>  replaceOne() replaces everything except _id.</a:t>
            </a:r>
          </a:p>
          <a:p/>
          <a:p>
            <a:r>
              <a:t>- 8. Upsert</a:t>
            </a:r>
          </a:p>
          <a:p/>
          <a:p>
            <a:r>
              <a:t>  It updates the matching document, or inserts a new one built from the filter and the update when nothing matches.</a:t>
            </a:r>
          </a:p>
          <a:p/>
          <a:p>
            <a:r>
              <a:t>- 9. Matched but not modified</a:t>
            </a:r>
          </a:p>
          <a:p/>
          <a:p>
            <a:r>
              <a:t>  The document was found but already had the requested values, so nothing changed.</a:t>
            </a:r>
          </a:p>
          <a:p/>
          <a:p>
            <a:r>
              <a:t>- 10. XBAD</a:t>
            </a:r>
          </a:p>
          <a:p/>
          <a:p>
            <a:r>
              <a:t>  Its price is the string "49.99".</a:t>
            </a:r>
          </a:p>
          <a:p/>
          <a:p>
            <a:r>
              <a:t>  Numeric comparisons with Decimal128 only match numeric values, so it is skipped.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4.1, the first Module 4 checkpoint.</a:t>
            </a:r>
          </a:p>
          <a:p/>
          <a:p>
            <a:r>
              <a:t>  The worksheet is labs/day-02/exercises/exercise-4.1-build-comparison-filters.md; the answer key is in its solution folder.</a:t>
            </a:r>
          </a:p>
          <a:p/>
          <a:p>
            <a:r>
              <a:t>  Fifteen minutes in mongosh on a fresh load.</a:t>
            </a:r>
          </a:p>
          <a:p/>
          <a:p>
            <a:r>
              <a:t>- Solutions 1 and 2</a:t>
            </a:r>
          </a:p>
          <a:p/>
          <a:p>
            <a:r>
              <a:t>  Above 100: L100, L110, L190, S200 and A500 — people often stop at the laptops and S200, but A500 at 249.99 also matches.</a:t>
            </a:r>
          </a:p>
          <a:p/>
          <a:p>
            <a:r>
              <a:t>  Between 50 and 500: L190 499.99, S200 129.99, S210 89.99, B300 59.99 and A500 249.99.</a:t>
            </a:r>
          </a:p>
          <a:p/>
          <a:p>
            <a:r>
              <a:t>  A400, at 24.99, is below the range and must not appear.</a:t>
            </a:r>
          </a:p>
          <a:p/>
          <a:p>
            <a:r>
              <a:t>- Solutions 3 to 5</a:t>
            </a:r>
          </a:p>
          <a:p/>
          <a:p>
            <a:r>
              <a:t>  Orders over 1000: O5001, O6101, O6202, O6301, O6304 and O6401.</a:t>
            </a:r>
          </a:p>
          <a:p/>
          <a:p>
            <a:r>
              <a:t>  Five reviews have a rating of 4 or more.</a:t>
            </a:r>
          </a:p>
          <a:p/>
          <a:p>
            <a:r>
              <a:t>  $nin LAPTOP and SHOE leaves two books and five accessories, including XBAD.</a:t>
            </a:r>
          </a:p>
          <a:p/>
          <a:p>
            <a:r>
              <a:t>- What to listen for</a:t>
            </a:r>
          </a:p>
          <a:p/>
          <a:p>
            <a:r>
              <a:t>  Everyone should use Decimal128("100.00"), not 100 or "100", and explain that XBAD is skipped because its price is a string.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4.2, the second checkpoint.</a:t>
            </a:r>
          </a:p>
          <a:p/>
          <a:p>
            <a:r>
              <a:t>  The worksheet is labs/day-02/exercises/exercise-4.2-query-arrays-of-documents.md.</a:t>
            </a:r>
          </a:p>
          <a:p/>
          <a:p>
            <a:r>
              <a:t>- Steps 1 and 2</a:t>
            </a:r>
          </a:p>
          <a:p/>
          <a:p>
            <a:r>
              <a:t>  Four orders contain L100: O5001, O6101, O6301 and O6401.</a:t>
            </a:r>
          </a:p>
          <a:p/>
          <a:p>
            <a:r>
              <a:t>  O6301, a laptop and a USB Hub, is the one people miss.</a:t>
            </a:r>
          </a:p>
          <a:p/>
          <a:p>
            <a:r>
              <a:t>  Six orders have some item with quantity 2 or more: O5001, O6103, O6201, O6302, O6305 and O6401.</a:t>
            </a:r>
          </a:p>
          <a:p/>
          <a:p>
            <a:r>
              <a:t>- Steps 3 and 4</a:t>
            </a:r>
          </a:p>
          <a:p/>
          <a:p>
            <a:r>
              <a:t>  $elemMatch returns only O6401, two laptops.</a:t>
            </a:r>
          </a:p>
          <a:p/>
          <a:p>
            <a:r>
              <a:t>  Dot notation also returns O5001, because its L100 line has quantity 1 and its A410 line has quantity 2 — different elements.</a:t>
            </a:r>
          </a:p>
          <a:p/>
          <a:p>
            <a:r>
              <a:t>- Step 5</a:t>
            </a:r>
          </a:p>
          <a:p/>
          <a:p>
            <a:r>
              <a:t>  addresses with $elemMatch type SHIPPING and city Toronto returns C101, Aisha Khan.</a:t>
            </a:r>
          </a:p>
          <a:p/>
          <a:p>
            <a:r>
              <a:t>  Type values are uppercase in this dataset.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4.3, the third checkpoint.</a:t>
            </a:r>
          </a:p>
          <a:p/>
          <a:p>
            <a:r>
              <a:t>  The worksheet is labs/day-02/exercises/exercise-4.3-perform-an-upsert.md.</a:t>
            </a:r>
          </a:p>
          <a:p/>
          <a:p>
            <a:r>
              <a:t>  The full command sets name Portable Charger, category ACCESSORY, price Decimal128 39.99, active true and updatedAt.</a:t>
            </a:r>
          </a:p>
          <a:p/>
          <a:p>
            <a:r>
              <a:t>- First run</a:t>
            </a:r>
          </a:p>
          <a:p/>
          <a:p>
            <a:r>
              <a:t>  Nothing matches sku A700, so MongoDB inserts a document from the filter and both operators.</a:t>
            </a:r>
          </a:p>
          <a:p/>
          <a:p>
            <a:r>
              <a:t>  The result shows matchedCount 0, modifiedCount 0, upsertedCount 1 and the new _id.</a:t>
            </a:r>
          </a:p>
          <a:p/>
          <a:p>
            <a:r>
              <a:t>  mongosh prints that _id as insertedId; drivers call it upsertedId.</a:t>
            </a:r>
          </a:p>
          <a:p/>
          <a:p>
            <a:r>
              <a:t>- Second run</a:t>
            </a:r>
          </a:p>
          <a:p/>
          <a:p>
            <a:r>
              <a:t>  Now A700 matches.</a:t>
            </a:r>
          </a:p>
          <a:p/>
          <a:p>
            <a:r>
              <a:t>  matchedCount is 1, and modifiedCount is 1 because updatedAt gets a new date.</a:t>
            </a:r>
          </a:p>
          <a:p/>
          <a:p>
            <a:r>
              <a:t>  upsertedCount is 0.</a:t>
            </a:r>
          </a:p>
          <a:p/>
          <a:p>
            <a:r>
              <a:t>  createdAt and stockQuantity keep their first values.</a:t>
            </a:r>
          </a:p>
          <a:p/>
          <a:p>
            <a:r>
              <a:t>- Why the unique field</a:t>
            </a:r>
          </a:p>
          <a:p/>
          <a:p>
            <a:r>
              <a:t>  sku has a unique index.</a:t>
            </a:r>
          </a:p>
          <a:p/>
          <a:p>
            <a:r>
              <a:t>  Upserting on a field that isn't unique could match the wrong document or insert duplicates.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checkpoint</a:t>
            </a:r>
          </a:p>
          <a:p/>
          <a:p>
            <a:r>
              <a:t>  This is the official Exercise 4.4, the last checkpoint.</a:t>
            </a:r>
          </a:p>
          <a:p/>
          <a:p>
            <a:r>
              <a:t>  The worksheet is labs/day-02/exercises/exercise-4.4-correct-unsafe-operations.md.</a:t>
            </a:r>
          </a:p>
          <a:p/>
          <a:p>
            <a:r>
              <a:t>  Nobody runs the unsafe commands.</a:t>
            </a:r>
          </a:p>
          <a:p/>
          <a:p>
            <a:r>
              <a:t>- Command 1</a:t>
            </a:r>
          </a:p>
          <a:p/>
          <a:p>
            <a:r>
              <a:t>  The empty filter makes all 13 products inactive.</a:t>
            </a:r>
          </a:p>
          <a:p/>
          <a:p>
            <a:r>
              <a:t>  Safer: preview { tags: "discontinued" }, count it — 1, L190 — then run updateMany with that filter.</a:t>
            </a:r>
          </a:p>
          <a:p/>
          <a:p>
            <a:r>
              <a:t>- Command 2</a:t>
            </a:r>
          </a:p>
          <a:p/>
          <a:p>
            <a:r>
              <a:t>  deleteMany({}) removes all 17 orders.</a:t>
            </a:r>
          </a:p>
          <a:p/>
          <a:p>
            <a:r>
              <a:t>  Never use an empty delete filter.</a:t>
            </a:r>
          </a:p>
          <a:p/>
          <a:p>
            <a:r>
              <a:t>  Filter on the test orderNumber values, then find, countDocuments and deleteMany with the same filter.</a:t>
            </a:r>
          </a:p>
          <a:p/>
          <a:p>
            <a:r>
              <a:t>- Command 3</a:t>
            </a:r>
          </a:p>
          <a:p/>
          <a:p>
            <a:r>
              <a:t>  $set on contact replaces the whole object, so C101's phone, +1-555-0100, is lost.</a:t>
            </a:r>
          </a:p>
          <a:p/>
          <a:p>
            <a:r>
              <a:t>  $set: { "contact.email": "new@example.com" } changes only the email.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Official lab</a:t>
            </a:r>
          </a:p>
          <a:p/>
          <a:p>
            <a:r>
              <a:t>  This is Day 2 Lab 3, labs/day-02/lab3/LAB-3-GUIDE.md, about 60 to 75 minutes.</a:t>
            </a:r>
          </a:p>
          <a:p/>
          <a:p>
            <a:r>
              <a:t>  The expected output for every step is in labs/day-02/lab3/solution/LAB-3-SOLUTION.md, for instructors.</a:t>
            </a:r>
          </a:p>
          <a:p/>
          <a:p>
            <a:r>
              <a:t>- Before you start</a:t>
            </a:r>
          </a:p>
          <a:p/>
          <a:p>
            <a:r>
              <a:t>  Reload load.js from the repository root in PowerShell, not inside mongosh, then use training_store.</a:t>
            </a:r>
          </a:p>
          <a:p/>
          <a:p>
            <a:r>
              <a:t>  The four checkpoints changed data — A700 exists after Exercise 4.3 — so a fresh load keeps the counts at 13 products, 6 customers, 17 orders and 6 reviews.</a:t>
            </a:r>
          </a:p>
          <a:p/>
          <a:p>
            <a:r>
              <a:t>- Steps 1 to 7: reads</a:t>
            </a:r>
          </a:p>
          <a:p/>
          <a:p>
            <a:r>
              <a:t>  Step 1 returns A410, A400 and P1001; XBAD's string price keeps it out.</a:t>
            </a:r>
          </a:p>
          <a:p/>
          <a:p>
            <a:r>
              <a:t>  Step 2 returns L110, S290 and A500 but not the inactive L190.</a:t>
            </a:r>
          </a:p>
          <a:p/>
          <a:p>
            <a:r>
              <a:t>  Step 6's $elemMatch — quantity 2 or more and unitPrice below 50 on the same item — matches O5001, O6201 and O6305, not O6302 or O6401.</a:t>
            </a:r>
          </a:p>
          <a:p/>
          <a:p>
            <a:r>
              <a:t>  Step 7 uses fulfillmentStatus: O6401, O6302 and O6202.</a:t>
            </a:r>
          </a:p>
          <a:p/>
          <a:p>
            <a:r>
              <a:t>- Steps 8 to 12: writes</a:t>
            </a:r>
          </a:p>
          <a:p/>
          <a:p>
            <a:r>
              <a:t>  A410 has no stock field, so step 8 sets stockQuantity to 18 and the guarded $inc takes it to 16.</a:t>
            </a:r>
          </a:p>
          <a:p/>
          <a:p>
            <a:r>
              <a:t>  Step 9's $addToSet keeps wireless once.</a:t>
            </a:r>
          </a:p>
          <a:p/>
          <a:p>
            <a:r>
              <a:t>  Step 10 matches 13 products and modifies 1, L190.</a:t>
            </a:r>
          </a:p>
          <a:p/>
          <a:p>
            <a:r>
              <a:t>  Step 11 ships O6202; the rerun matches 0.</a:t>
            </a:r>
          </a:p>
          <a:p/>
          <a:p>
            <a:r>
              <a:t>  Step 12 renames reviewText to body on a throwaway review.</a:t>
            </a:r>
          </a:p>
          <a:p/>
          <a:p>
            <a:r>
              <a:t>- Step 13 and the debrief</a:t>
            </a:r>
          </a:p>
          <a:p/>
          <a:p>
            <a:r>
              <a:t>  The challenge returns A410, P1001, B310 and B300, sorted by category then price.</a:t>
            </a:r>
          </a:p>
          <a:p/>
          <a:p>
            <a:r>
              <a:t>  Ask who used $in versus $or, and who read matchedCount before trusting a write.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TALKING POINTS</a:t>
            </a:r>
          </a:p>
          <a:p>
            <a:r>
              <a:t>------------------</a:t>
            </a:r>
          </a:p>
          <a:p/>
          <a:p>
            <a:r>
              <a:t>- Recap</a:t>
            </a:r>
          </a:p>
          <a:p/>
          <a:p>
            <a:r>
              <a:t>  We read documents with filters, shaped results with projection, sort and limit, combined operators, queried nested fields and arrays, then inserted, updated, upserted, replaced and deleted — checking every write result.</a:t>
            </a:r>
          </a:p>
          <a:p/>
          <a:p>
            <a:r>
              <a:t>- Day 2 Lab 3</a:t>
            </a:r>
          </a:p>
          <a:p/>
          <a:p>
            <a:r>
              <a:t>  The lab, labs/day-02/lab3/LAB-3-GUIDE.md, practises all of it on training_store: 13 steps ending in a challenge query that returns four SKUs — A410, P1001, B310 and B300.</a:t>
            </a:r>
          </a:p>
          <a:p/>
          <a:p>
            <a:r>
              <a:t>- Next module</a:t>
            </a:r>
          </a:p>
          <a:p/>
          <a:p>
            <a:r>
              <a:t>  Module 5 builds aggregation pipelines.</a:t>
            </a:r>
          </a:p>
          <a:p/>
          <a:p>
            <a:r>
              <a:t>  $match uses the same filters we wrote today and $project uses the same projections; $group and accumulators are new.</a:t>
            </a:r>
          </a:p>
          <a:p/>
          <a:p>
            <a:r>
              <a:t>- Reload</a:t>
            </a:r>
          </a:p>
          <a:p/>
          <a:p>
            <a:r>
              <a:t>  Today's labs change the data.</a:t>
            </a:r>
          </a:p>
          <a:p/>
          <a:p>
            <a:r>
              <a:t>  Reload load.js before Module 5 so everyone's totals match.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443216" y="109728"/>
            <a:ext cx="3566160" cy="365760"/>
          </a:xfrm>
          <a:prstGeom prst="rect">
            <a:avLst/>
          </a:prstGeom>
          <a:noFill/>
        </p:spPr>
        <p:txBody>
          <a:bodyPr wrap="square" anchor="ctr" lIns="0" rIns="0" tIns="0" bIns="0">
            <a:spAutoFit/>
          </a:bodyPr>
          <a:lstStyle/>
          <a:p>
            <a:pPr algn="r"/>
            <a:r>
              <a:rPr sz="1400" b="0" i="1">
                <a:solidFill>
                  <a:srgbClr val="595959"/>
                </a:solidFill>
                <a:latin typeface="Nirmala UI"/>
              </a:rPr>
              <a:t>"Filters choose documents; projections choose fields."</a:t>
            </a:r>
          </a:p>
        </p:txBody>
      </p:sp>
      <p:sp>
        <p:nvSpPr>
          <p:cNvPr id="5" name="TextBox 4"/>
          <p:cNvSpPr txBox="1"/>
          <p:nvPr/>
        </p:nvSpPr>
        <p:spPr>
          <a:xfrm>
            <a:off x="457200" y="384048"/>
            <a:ext cx="10332720" cy="548640"/>
          </a:xfrm>
          <a:prstGeom prst="rect">
            <a:avLst/>
          </a:prstGeom>
          <a:noFill/>
        </p:spPr>
        <p:txBody>
          <a:bodyPr wrap="square" anchor="ctr" lIns="0" rIns="0" tIns="0" bIns="0">
            <a:spAutoFit/>
          </a:bodyPr>
          <a:lstStyle/>
          <a:p>
            <a:pPr algn="l"/>
            <a:r>
              <a:rPr sz="2300" b="0" i="0">
                <a:solidFill>
                  <a:srgbClr val="002060"/>
                </a:solidFill>
                <a:latin typeface="Leelawadee"/>
              </a:rPr>
              <a:t>MODULE 4</a:t>
            </a:r>
          </a:p>
        </p:txBody>
      </p:sp>
      <p:sp>
        <p:nvSpPr>
          <p:cNvPr id="6" name="TextBox 5"/>
          <p:cNvSpPr txBox="1"/>
          <p:nvPr/>
        </p:nvSpPr>
        <p:spPr>
          <a:xfrm>
            <a:off x="457200" y="1965960"/>
            <a:ext cx="11247120" cy="1737360"/>
          </a:xfrm>
          <a:prstGeom prst="rect">
            <a:avLst/>
          </a:prstGeom>
          <a:noFill/>
        </p:spPr>
        <p:txBody>
          <a:bodyPr wrap="square" anchor="t" lIns="0" rIns="0" tIns="0" bIns="0">
            <a:spAutoFit/>
          </a:bodyPr>
          <a:lstStyle/>
          <a:p>
            <a:pPr algn="l"/>
            <a:r>
              <a:rPr sz="4000" b="1" i="0">
                <a:solidFill>
                  <a:srgbClr val="D1282E"/>
                </a:solidFill>
                <a:latin typeface="Leelawadee"/>
              </a:rPr>
              <a:t>The MongoDB Query Language</a:t>
            </a:r>
          </a:p>
        </p:txBody>
      </p:sp>
      <p:sp>
        <p:nvSpPr>
          <p:cNvPr id="7" name="TextBox 6"/>
          <p:cNvSpPr txBox="1"/>
          <p:nvPr/>
        </p:nvSpPr>
        <p:spPr>
          <a:xfrm>
            <a:off x="457200" y="3886200"/>
            <a:ext cx="10058400" cy="777240"/>
          </a:xfrm>
          <a:prstGeom prst="rect">
            <a:avLst/>
          </a:prstGeom>
          <a:noFill/>
        </p:spPr>
        <p:txBody>
          <a:bodyPr wrap="square" anchor="t" lIns="0" rIns="0" tIns="0" bIns="0">
            <a:spAutoFit/>
          </a:bodyPr>
          <a:lstStyle/>
          <a:p>
            <a:pPr algn="l"/>
            <a:r>
              <a:rPr sz="1800" b="0" i="0">
                <a:solidFill>
                  <a:srgbClr val="002060"/>
                </a:solidFill>
                <a:latin typeface="Nirmala UI"/>
              </a:rPr>
              <a:t>Read, filter, shape, insert, update, upsert and delete training_store documents — and prove every write did what you meant.</a:t>
            </a:r>
          </a:p>
        </p:txBody>
      </p:sp>
      <p:sp>
        <p:nvSpPr>
          <p:cNvPr id="8" name="TextBox 7"/>
          <p:cNvSpPr txBox="1"/>
          <p:nvPr/>
        </p:nvSpPr>
        <p:spPr>
          <a:xfrm>
            <a:off x="457200" y="6172200"/>
            <a:ext cx="7525512" cy="365760"/>
          </a:xfrm>
          <a:prstGeom prst="rect">
            <a:avLst/>
          </a:prstGeom>
          <a:noFill/>
        </p:spPr>
        <p:txBody>
          <a:bodyPr wrap="square" anchor="ctr" lIns="0" rIns="0" tIns="0" bIns="0">
            <a:spAutoFit/>
          </a:bodyPr>
          <a:lstStyle/>
          <a:p>
            <a:pPr algn="l"/>
            <a:r>
              <a:rPr sz="1400" b="0" i="0">
                <a:solidFill>
                  <a:srgbClr val="595959"/>
                </a:solidFill>
                <a:latin typeface="Nirmala UI"/>
              </a:rPr>
              <a:t>MASTERING MONGODB  •  MODULE 4</a:t>
            </a:r>
          </a:p>
        </p:txBody>
      </p:sp>
      <p:sp>
        <p:nvSpPr>
          <p:cNvPr id="9" name="Rounded Rectangle 8"/>
          <p:cNvSpPr/>
          <p:nvPr/>
        </p:nvSpPr>
        <p:spPr>
          <a:xfrm>
            <a:off x="457200" y="4709160"/>
            <a:ext cx="2139696" cy="868680"/>
          </a:xfrm>
          <a:prstGeom prst="roundRect">
            <a:avLst>
              <a:gd name="adj" fmla="val 12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Read and filter</a:t>
            </a:r>
          </a:p>
        </p:txBody>
      </p:sp>
      <p:sp>
        <p:nvSpPr>
          <p:cNvPr id="10" name="Rounded Rectangle 9"/>
          <p:cNvSpPr/>
          <p:nvPr/>
        </p:nvSpPr>
        <p:spPr>
          <a:xfrm>
            <a:off x="2734056" y="4709160"/>
            <a:ext cx="2139696" cy="868680"/>
          </a:xfrm>
          <a:prstGeom prst="roundRect">
            <a:avLst>
              <a:gd name="adj" fmla="val 12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Query operators</a:t>
            </a:r>
          </a:p>
        </p:txBody>
      </p:sp>
      <p:sp>
        <p:nvSpPr>
          <p:cNvPr id="11" name="Rounded Rectangle 10"/>
          <p:cNvSpPr/>
          <p:nvPr/>
        </p:nvSpPr>
        <p:spPr>
          <a:xfrm>
            <a:off x="5010912" y="4709160"/>
            <a:ext cx="2139696" cy="868680"/>
          </a:xfrm>
          <a:prstGeom prst="roundRect">
            <a:avLst>
              <a:gd name="adj" fmla="val 12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Nested fields and arrays</a:t>
            </a:r>
          </a:p>
        </p:txBody>
      </p:sp>
      <p:sp>
        <p:nvSpPr>
          <p:cNvPr id="12" name="Rounded Rectangle 11"/>
          <p:cNvSpPr/>
          <p:nvPr/>
        </p:nvSpPr>
        <p:spPr>
          <a:xfrm>
            <a:off x="7287767" y="4709160"/>
            <a:ext cx="2139696" cy="868680"/>
          </a:xfrm>
          <a:prstGeom prst="roundRect">
            <a:avLst>
              <a:gd name="adj" fmla="val 12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Insert, update, upsert</a:t>
            </a:r>
          </a:p>
        </p:txBody>
      </p:sp>
      <p:sp>
        <p:nvSpPr>
          <p:cNvPr id="13" name="Rounded Rectangle 12"/>
          <p:cNvSpPr/>
          <p:nvPr/>
        </p:nvSpPr>
        <p:spPr>
          <a:xfrm>
            <a:off x="9564624" y="4709160"/>
            <a:ext cx="2139696" cy="868680"/>
          </a:xfrm>
          <a:prstGeom prst="roundRect">
            <a:avLst>
              <a:gd name="adj" fmla="val 12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ctr"/>
            <a:r>
              <a:rPr sz="1500" b="1" i="0">
                <a:solidFill>
                  <a:srgbClr val="FFFFFF"/>
                </a:solidFill>
                <a:latin typeface="Nirmala UI"/>
              </a:rPr>
              <a:t>Delete and verify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LEARNING OBJECTIVES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What you will be able to do by the end of this module.</a:t>
            </a:r>
          </a:p>
        </p:txBody>
      </p:sp>
      <p:sp>
        <p:nvSpPr>
          <p:cNvPr id="4" name="Oval 3"/>
          <p:cNvSpPr/>
          <p:nvPr/>
        </p:nvSpPr>
        <p:spPr>
          <a:xfrm>
            <a:off x="457200" y="1252728"/>
            <a:ext cx="382641" cy="382641"/>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52728"/>
            <a:ext cx="382641" cy="382641"/>
          </a:xfrm>
          <a:prstGeom prst="rect">
            <a:avLst/>
          </a:prstGeom>
          <a:noFill/>
        </p:spPr>
        <p:txBody>
          <a:bodyPr wrap="square" anchor="ctr" lIns="0" rIns="0" tIns="0" bIns="0">
            <a:spAutoFit/>
          </a:bodyPr>
          <a:lstStyle/>
          <a:p>
            <a:pPr algn="ctr"/>
            <a:r>
              <a:rPr sz="1476" b="1" i="0">
                <a:solidFill>
                  <a:srgbClr val="FFFFFF"/>
                </a:solidFill>
              </a:rPr>
              <a:t>🎯</a:t>
            </a:r>
          </a:p>
        </p:txBody>
      </p:sp>
      <p:sp>
        <p:nvSpPr>
          <p:cNvPr id="6" name="TextBox 5"/>
          <p:cNvSpPr txBox="1"/>
          <p:nvPr/>
        </p:nvSpPr>
        <p:spPr>
          <a:xfrm>
            <a:off x="912993" y="1252728"/>
            <a:ext cx="4939167" cy="382641"/>
          </a:xfrm>
          <a:prstGeom prst="rect">
            <a:avLst/>
          </a:prstGeom>
          <a:noFill/>
        </p:spPr>
        <p:txBody>
          <a:bodyPr wrap="square" anchor="t" lIns="0" rIns="0" tIns="0" bIns="0">
            <a:spAutoFit/>
          </a:bodyPr>
          <a:lstStyle/>
          <a:p>
            <a:pPr algn="l"/>
            <a:r>
              <a:rPr sz="1600" b="1" i="0">
                <a:solidFill>
                  <a:srgbClr val="D1282E"/>
                </a:solidFill>
                <a:latin typeface="Nirmala UI"/>
              </a:rPr>
              <a:t>BY THE END OF THIS MODULE, YOU CAN</a:t>
            </a:r>
          </a:p>
        </p:txBody>
      </p:sp>
      <p:sp>
        <p:nvSpPr>
          <p:cNvPr id="7" name="TextBox 6"/>
          <p:cNvSpPr txBox="1"/>
          <p:nvPr/>
        </p:nvSpPr>
        <p:spPr>
          <a:xfrm>
            <a:off x="457200" y="1759164"/>
            <a:ext cx="5394960" cy="1688118"/>
          </a:xfrm>
          <a:prstGeom prst="rect">
            <a:avLst/>
          </a:prstGeom>
          <a:noFill/>
        </p:spPr>
        <p:txBody>
          <a:bodyPr wrap="square" anchor="t" lIns="0" rIns="0" tIns="0" bIns="0">
            <a:spAutoFit/>
          </a:bodyPr>
          <a:lstStyle/>
          <a:p>
            <a:pPr>
              <a:spcBef>
                <a:spcPts val="0"/>
              </a:spcBef>
              <a:spcAft>
                <a:spcPts val="369"/>
              </a:spcAft>
            </a:pPr>
            <a:r>
              <a:rPr sz="1600" b="1" i="0">
                <a:solidFill>
                  <a:srgbClr val="D1282E"/>
                </a:solidFill>
                <a:latin typeface="Nirmala UI"/>
              </a:rPr>
              <a:t>1. </a:t>
            </a:r>
            <a:r>
              <a:rPr sz="1600" b="0" i="0">
                <a:solidFill>
                  <a:srgbClr val="000000"/>
                </a:solidFill>
                <a:latin typeface="Nirmala UI"/>
              </a:rPr>
              <a:t>Read documents with find() and findOne()</a:t>
            </a:r>
          </a:p>
          <a:p>
            <a:pPr>
              <a:spcBef>
                <a:spcPts val="0"/>
              </a:spcBef>
              <a:spcAft>
                <a:spcPts val="369"/>
              </a:spcAft>
            </a:pPr>
            <a:r>
              <a:rPr sz="1600" b="1" i="0">
                <a:solidFill>
                  <a:srgbClr val="D1282E"/>
                </a:solidFill>
                <a:latin typeface="Nirmala UI"/>
              </a:rPr>
              <a:t>2. </a:t>
            </a:r>
            <a:r>
              <a:rPr sz="1600" b="1" i="0">
                <a:solidFill>
                  <a:srgbClr val="000000"/>
                </a:solidFill>
                <a:latin typeface="Nirmala UI"/>
              </a:rPr>
              <a:t>Shape results: </a:t>
            </a:r>
            <a:r>
              <a:rPr sz="1600" b="0" i="0">
                <a:solidFill>
                  <a:srgbClr val="000000"/>
                </a:solidFill>
                <a:latin typeface="Nirmala UI"/>
              </a:rPr>
              <a:t>project, sort, page, count</a:t>
            </a:r>
          </a:p>
          <a:p>
            <a:pPr>
              <a:spcBef>
                <a:spcPts val="0"/>
              </a:spcBef>
              <a:spcAft>
                <a:spcPts val="369"/>
              </a:spcAft>
            </a:pPr>
            <a:r>
              <a:rPr sz="1600" b="1" i="0">
                <a:solidFill>
                  <a:srgbClr val="D1282E"/>
                </a:solidFill>
                <a:latin typeface="Nirmala UI"/>
              </a:rPr>
              <a:t>3. </a:t>
            </a:r>
            <a:r>
              <a:rPr sz="1600" b="0" i="0">
                <a:solidFill>
                  <a:srgbClr val="000000"/>
                </a:solidFill>
                <a:latin typeface="Nirmala UI"/>
              </a:rPr>
              <a:t>Combine comparison and logical operators</a:t>
            </a:r>
          </a:p>
          <a:p>
            <a:pPr>
              <a:spcBef>
                <a:spcPts val="0"/>
              </a:spcBef>
              <a:spcAft>
                <a:spcPts val="369"/>
              </a:spcAft>
            </a:pPr>
            <a:r>
              <a:rPr sz="1600" b="1" i="0">
                <a:solidFill>
                  <a:srgbClr val="D1282E"/>
                </a:solidFill>
                <a:latin typeface="Nirmala UI"/>
              </a:rPr>
              <a:t>4. </a:t>
            </a:r>
            <a:r>
              <a:rPr sz="1600" b="0" i="0">
                <a:solidFill>
                  <a:srgbClr val="000000"/>
                </a:solidFill>
                <a:latin typeface="Nirmala UI"/>
              </a:rPr>
              <a:t>Query nested fields and arrays</a:t>
            </a:r>
          </a:p>
          <a:p>
            <a:pPr>
              <a:spcBef>
                <a:spcPts val="0"/>
              </a:spcBef>
              <a:spcAft>
                <a:spcPts val="369"/>
              </a:spcAft>
            </a:pPr>
            <a:r>
              <a:rPr sz="1600" b="1" i="0">
                <a:solidFill>
                  <a:srgbClr val="D1282E"/>
                </a:solidFill>
                <a:latin typeface="Nirmala UI"/>
              </a:rPr>
              <a:t>5. </a:t>
            </a:r>
            <a:r>
              <a:rPr sz="1600" b="0" i="0">
                <a:solidFill>
                  <a:srgbClr val="000000"/>
                </a:solidFill>
                <a:latin typeface="Nirmala UI"/>
              </a:rPr>
              <a:t>Insert, update, upsert and replace</a:t>
            </a:r>
          </a:p>
          <a:p>
            <a:pPr>
              <a:spcBef>
                <a:spcPts val="0"/>
              </a:spcBef>
              <a:spcAft>
                <a:spcPts val="369"/>
              </a:spcAft>
            </a:pPr>
            <a:r>
              <a:rPr sz="1600" b="1" i="0">
                <a:solidFill>
                  <a:srgbClr val="D1282E"/>
                </a:solidFill>
                <a:latin typeface="Nirmala UI"/>
              </a:rPr>
              <a:t>6. </a:t>
            </a:r>
            <a:r>
              <a:rPr sz="1600" b="0" i="0">
                <a:solidFill>
                  <a:srgbClr val="000000"/>
                </a:solidFill>
                <a:latin typeface="Nirmala UI"/>
              </a:rPr>
              <a:t>Delete safely and read write results</a:t>
            </a:r>
          </a:p>
        </p:txBody>
      </p:sp>
      <p:sp>
        <p:nvSpPr>
          <p:cNvPr id="8" name="Oval 7"/>
          <p:cNvSpPr/>
          <p:nvPr/>
        </p:nvSpPr>
        <p:spPr>
          <a:xfrm>
            <a:off x="6172200" y="125272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25272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0" name="TextBox 9"/>
          <p:cNvSpPr txBox="1"/>
          <p:nvPr/>
        </p:nvSpPr>
        <p:spPr>
          <a:xfrm>
            <a:off x="6556248" y="1243584"/>
            <a:ext cx="5148072" cy="347472"/>
          </a:xfrm>
          <a:prstGeom prst="rect">
            <a:avLst/>
          </a:prstGeom>
          <a:noFill/>
        </p:spPr>
        <p:txBody>
          <a:bodyPr wrap="square" anchor="ctr" lIns="0" rIns="0" tIns="0" bIns="0">
            <a:spAutoFit/>
          </a:bodyPr>
          <a:lstStyle/>
          <a:p>
            <a:pPr algn="l"/>
            <a:r>
              <a:rPr sz="1400" b="1" i="0">
                <a:solidFill>
                  <a:srgbClr val="D1282E"/>
                </a:solidFill>
                <a:latin typeface="Nirmala UI"/>
              </a:rPr>
              <a:t>SIX QUESTIONS THIS MODULE ANSWERS</a:t>
            </a:r>
          </a:p>
        </p:txBody>
      </p:sp>
      <p:sp>
        <p:nvSpPr>
          <p:cNvPr id="11" name="Rounded Rectangle 10"/>
          <p:cNvSpPr/>
          <p:nvPr/>
        </p:nvSpPr>
        <p:spPr>
          <a:xfrm>
            <a:off x="6172200" y="1673352"/>
            <a:ext cx="1874519" cy="457200"/>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WHICH</a:t>
            </a:r>
          </a:p>
        </p:txBody>
      </p:sp>
      <p:sp>
        <p:nvSpPr>
          <p:cNvPr id="12" name="TextBox 11"/>
          <p:cNvSpPr txBox="1"/>
          <p:nvPr/>
        </p:nvSpPr>
        <p:spPr>
          <a:xfrm>
            <a:off x="8183879" y="1673352"/>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documents does my filter match?</a:t>
            </a:r>
          </a:p>
        </p:txBody>
      </p:sp>
      <p:sp>
        <p:nvSpPr>
          <p:cNvPr id="13" name="Rounded Rectangle 12"/>
          <p:cNvSpPr/>
          <p:nvPr/>
        </p:nvSpPr>
        <p:spPr>
          <a:xfrm>
            <a:off x="6172200" y="2212848"/>
            <a:ext cx="1874519" cy="457200"/>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WHAT</a:t>
            </a:r>
          </a:p>
        </p:txBody>
      </p:sp>
      <p:sp>
        <p:nvSpPr>
          <p:cNvPr id="14" name="TextBox 13"/>
          <p:cNvSpPr txBox="1"/>
          <p:nvPr/>
        </p:nvSpPr>
        <p:spPr>
          <a:xfrm>
            <a:off x="8183879" y="2212848"/>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fields should come back?</a:t>
            </a:r>
          </a:p>
        </p:txBody>
      </p:sp>
      <p:sp>
        <p:nvSpPr>
          <p:cNvPr id="15" name="Rounded Rectangle 14"/>
          <p:cNvSpPr/>
          <p:nvPr/>
        </p:nvSpPr>
        <p:spPr>
          <a:xfrm>
            <a:off x="6172200" y="2752344"/>
            <a:ext cx="1874519" cy="457200"/>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16" name="TextBox 15"/>
          <p:cNvSpPr txBox="1"/>
          <p:nvPr/>
        </p:nvSpPr>
        <p:spPr>
          <a:xfrm>
            <a:off x="8183879" y="2752344"/>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operators combine?</a:t>
            </a:r>
          </a:p>
        </p:txBody>
      </p:sp>
      <p:sp>
        <p:nvSpPr>
          <p:cNvPr id="17" name="Rounded Rectangle 16"/>
          <p:cNvSpPr/>
          <p:nvPr/>
        </p:nvSpPr>
        <p:spPr>
          <a:xfrm>
            <a:off x="6172200" y="3291840"/>
            <a:ext cx="1874519" cy="457200"/>
          </a:xfrm>
          <a:prstGeom prst="roundRect">
            <a:avLst>
              <a:gd name="adj" fmla="val 14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WHEN</a:t>
            </a:r>
          </a:p>
        </p:txBody>
      </p:sp>
      <p:sp>
        <p:nvSpPr>
          <p:cNvPr id="18" name="TextBox 17"/>
          <p:cNvSpPr txBox="1"/>
          <p:nvPr/>
        </p:nvSpPr>
        <p:spPr>
          <a:xfrm>
            <a:off x="8183879" y="3291840"/>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is $elemMatch required?</a:t>
            </a:r>
          </a:p>
        </p:txBody>
      </p:sp>
      <p:sp>
        <p:nvSpPr>
          <p:cNvPr id="19" name="Rounded Rectangle 18"/>
          <p:cNvSpPr/>
          <p:nvPr/>
        </p:nvSpPr>
        <p:spPr>
          <a:xfrm>
            <a:off x="6172200" y="3831335"/>
            <a:ext cx="1874519" cy="457200"/>
          </a:xfrm>
          <a:prstGeom prst="roundRect">
            <a:avLst>
              <a:gd name="adj" fmla="val 14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20" name="TextBox 19"/>
          <p:cNvSpPr txBox="1"/>
          <p:nvPr/>
        </p:nvSpPr>
        <p:spPr>
          <a:xfrm>
            <a:off x="8183879" y="3831335"/>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I change only what I mean?</a:t>
            </a:r>
          </a:p>
        </p:txBody>
      </p:sp>
      <p:sp>
        <p:nvSpPr>
          <p:cNvPr id="21" name="Rounded Rectangle 20"/>
          <p:cNvSpPr/>
          <p:nvPr/>
        </p:nvSpPr>
        <p:spPr>
          <a:xfrm>
            <a:off x="6172200" y="4370831"/>
            <a:ext cx="1874519" cy="457200"/>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HOW</a:t>
            </a:r>
          </a:p>
        </p:txBody>
      </p:sp>
      <p:sp>
        <p:nvSpPr>
          <p:cNvPr id="22" name="TextBox 21"/>
          <p:cNvSpPr txBox="1"/>
          <p:nvPr/>
        </p:nvSpPr>
        <p:spPr>
          <a:xfrm>
            <a:off x="8183879" y="4370831"/>
            <a:ext cx="3520440" cy="457200"/>
          </a:xfrm>
          <a:prstGeom prst="rect">
            <a:avLst/>
          </a:prstGeom>
          <a:noFill/>
        </p:spPr>
        <p:txBody>
          <a:bodyPr wrap="square" anchor="ctr" lIns="0" rIns="0" tIns="0" bIns="0">
            <a:spAutoFit/>
          </a:bodyPr>
          <a:lstStyle/>
          <a:p>
            <a:pPr algn="l"/>
            <a:r>
              <a:rPr sz="1400" b="0" i="0">
                <a:solidFill>
                  <a:srgbClr val="000000"/>
                </a:solidFill>
                <a:latin typeface="Nirmala UI"/>
              </a:rPr>
              <a:t>do I prove a write was right?</a:t>
            </a:r>
          </a:p>
        </p:txBody>
      </p:sp>
      <p:sp>
        <p:nvSpPr>
          <p:cNvPr id="23" name="Oval 22"/>
          <p:cNvSpPr/>
          <p:nvPr/>
        </p:nvSpPr>
        <p:spPr>
          <a:xfrm>
            <a:off x="457200" y="4590288"/>
            <a:ext cx="310896" cy="310896"/>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459028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25" name="TextBox 24"/>
          <p:cNvSpPr txBox="1"/>
          <p:nvPr/>
        </p:nvSpPr>
        <p:spPr>
          <a:xfrm>
            <a:off x="841248" y="4581144"/>
            <a:ext cx="10863072" cy="347472"/>
          </a:xfrm>
          <a:prstGeom prst="rect">
            <a:avLst/>
          </a:prstGeom>
          <a:noFill/>
        </p:spPr>
        <p:txBody>
          <a:bodyPr wrap="square" anchor="ctr" lIns="0" rIns="0" tIns="0" bIns="0">
            <a:spAutoFit/>
          </a:bodyPr>
          <a:lstStyle/>
          <a:p>
            <a:pPr algn="l"/>
            <a:r>
              <a:rPr sz="1400" b="1" i="0">
                <a:solidFill>
                  <a:srgbClr val="D1282E"/>
                </a:solidFill>
                <a:latin typeface="Nirmala UI"/>
              </a:rPr>
              <a:t>MODULE ROADMAP</a:t>
            </a:r>
          </a:p>
        </p:txBody>
      </p:sp>
      <p:sp>
        <p:nvSpPr>
          <p:cNvPr id="26" name="Pentagon 25"/>
          <p:cNvSpPr/>
          <p:nvPr/>
        </p:nvSpPr>
        <p:spPr>
          <a:xfrm>
            <a:off x="457200" y="5029200"/>
            <a:ext cx="1763485" cy="731520"/>
          </a:xfrm>
          <a:prstGeom prst="homePlate">
            <a:avLst>
              <a:gd name="adj" fmla="val 30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548640" y="5029200"/>
            <a:ext cx="1498309" cy="731520"/>
          </a:xfrm>
          <a:prstGeom prst="rect">
            <a:avLst/>
          </a:prstGeom>
          <a:noFill/>
        </p:spPr>
        <p:txBody>
          <a:bodyPr wrap="square" anchor="ctr" lIns="0" rIns="0" tIns="0" bIns="0">
            <a:spAutoFit/>
          </a:bodyPr>
          <a:lstStyle/>
          <a:p>
            <a:pPr algn="ctr"/>
            <a:r>
              <a:rPr sz="1300" b="1" i="0">
                <a:solidFill>
                  <a:srgbClr val="FFFFFF"/>
                </a:solidFill>
                <a:latin typeface="Nirmala UI"/>
              </a:rPr>
              <a:t>Filters</a:t>
            </a:r>
          </a:p>
        </p:txBody>
      </p:sp>
      <p:sp>
        <p:nvSpPr>
          <p:cNvPr id="28" name="Chevron 27"/>
          <p:cNvSpPr/>
          <p:nvPr/>
        </p:nvSpPr>
        <p:spPr>
          <a:xfrm>
            <a:off x="2037805" y="5029200"/>
            <a:ext cx="1763485" cy="731520"/>
          </a:xfrm>
          <a:prstGeom prst="chevron">
            <a:avLst>
              <a:gd name="adj" fmla="val 30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2257261"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Shape results</a:t>
            </a:r>
          </a:p>
        </p:txBody>
      </p:sp>
      <p:sp>
        <p:nvSpPr>
          <p:cNvPr id="30" name="Chevron 29"/>
          <p:cNvSpPr/>
          <p:nvPr/>
        </p:nvSpPr>
        <p:spPr>
          <a:xfrm>
            <a:off x="3618411" y="5029200"/>
            <a:ext cx="1763485" cy="731520"/>
          </a:xfrm>
          <a:prstGeom prst="chevron">
            <a:avLst>
              <a:gd name="adj" fmla="val 30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1" name="TextBox 30"/>
          <p:cNvSpPr txBox="1"/>
          <p:nvPr/>
        </p:nvSpPr>
        <p:spPr>
          <a:xfrm>
            <a:off x="3837867"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Operators</a:t>
            </a:r>
          </a:p>
        </p:txBody>
      </p:sp>
      <p:sp>
        <p:nvSpPr>
          <p:cNvPr id="32" name="Chevron 31"/>
          <p:cNvSpPr/>
          <p:nvPr/>
        </p:nvSpPr>
        <p:spPr>
          <a:xfrm>
            <a:off x="5199017" y="5029200"/>
            <a:ext cx="1763485" cy="731520"/>
          </a:xfrm>
          <a:prstGeom prst="chevron">
            <a:avLst>
              <a:gd name="adj" fmla="val 30000"/>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TextBox 32"/>
          <p:cNvSpPr txBox="1"/>
          <p:nvPr/>
        </p:nvSpPr>
        <p:spPr>
          <a:xfrm>
            <a:off x="5418473"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Arrays</a:t>
            </a:r>
          </a:p>
        </p:txBody>
      </p:sp>
      <p:sp>
        <p:nvSpPr>
          <p:cNvPr id="34" name="Chevron 33"/>
          <p:cNvSpPr/>
          <p:nvPr/>
        </p:nvSpPr>
        <p:spPr>
          <a:xfrm>
            <a:off x="6779622" y="5029200"/>
            <a:ext cx="1763485" cy="731520"/>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5" name="TextBox 34"/>
          <p:cNvSpPr txBox="1"/>
          <p:nvPr/>
        </p:nvSpPr>
        <p:spPr>
          <a:xfrm>
            <a:off x="6999078"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Insert, update</a:t>
            </a:r>
          </a:p>
        </p:txBody>
      </p:sp>
      <p:sp>
        <p:nvSpPr>
          <p:cNvPr id="36" name="Chevron 35"/>
          <p:cNvSpPr/>
          <p:nvPr/>
        </p:nvSpPr>
        <p:spPr>
          <a:xfrm>
            <a:off x="8360228" y="5029200"/>
            <a:ext cx="1763485" cy="731520"/>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7" name="TextBox 36"/>
          <p:cNvSpPr txBox="1"/>
          <p:nvPr/>
        </p:nvSpPr>
        <p:spPr>
          <a:xfrm>
            <a:off x="8579684"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Upsert, replace</a:t>
            </a:r>
          </a:p>
        </p:txBody>
      </p:sp>
      <p:sp>
        <p:nvSpPr>
          <p:cNvPr id="38" name="Chevron 37"/>
          <p:cNvSpPr/>
          <p:nvPr/>
        </p:nvSpPr>
        <p:spPr>
          <a:xfrm>
            <a:off x="9940834" y="5029200"/>
            <a:ext cx="1763485" cy="731520"/>
          </a:xfrm>
          <a:prstGeom prst="chevron">
            <a:avLst>
              <a:gd name="adj" fmla="val 30000"/>
            </a:avLst>
          </a:prstGeom>
          <a:solidFill>
            <a:srgbClr val="3A3A3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9" name="TextBox 38"/>
          <p:cNvSpPr txBox="1"/>
          <p:nvPr/>
        </p:nvSpPr>
        <p:spPr>
          <a:xfrm>
            <a:off x="10160290" y="5029200"/>
            <a:ext cx="1370293" cy="731520"/>
          </a:xfrm>
          <a:prstGeom prst="rect">
            <a:avLst/>
          </a:prstGeom>
          <a:noFill/>
        </p:spPr>
        <p:txBody>
          <a:bodyPr wrap="square" anchor="ctr" lIns="0" rIns="0" tIns="0" bIns="0">
            <a:spAutoFit/>
          </a:bodyPr>
          <a:lstStyle/>
          <a:p>
            <a:pPr algn="ctr"/>
            <a:r>
              <a:rPr sz="1300" b="1" i="0">
                <a:solidFill>
                  <a:srgbClr val="FFFFFF"/>
                </a:solidFill>
                <a:latin typeface="Nirmala UI"/>
              </a:rPr>
              <a:t>Delete, verify</a:t>
            </a:r>
          </a:p>
        </p:txBody>
      </p:sp>
      <p:sp>
        <p:nvSpPr>
          <p:cNvPr id="40" name="Rounded Rectangle 3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good query starts from the real field names, values and BSON types in the documents.</a:t>
            </a:r>
          </a:p>
        </p:txBody>
      </p:sp>
      <p:sp>
        <p:nvSpPr>
          <p:cNvPr id="42" name="Rectangle 4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KEY TERMS FOR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Plain definitions for the words we'll use most.</a:t>
            </a:r>
          </a:p>
        </p:txBody>
      </p:sp>
      <p:sp>
        <p:nvSpPr>
          <p:cNvPr id="4" name="Rounded Rectangle 3"/>
          <p:cNvSpPr/>
          <p:nvPr/>
        </p:nvSpPr>
        <p:spPr>
          <a:xfrm>
            <a:off x="45720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408176"/>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6" name="TextBox 5"/>
          <p:cNvSpPr txBox="1"/>
          <p:nvPr/>
        </p:nvSpPr>
        <p:spPr>
          <a:xfrm>
            <a:off x="1097280" y="1371600"/>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Query filter</a:t>
            </a:r>
          </a:p>
        </p:txBody>
      </p:sp>
      <p:sp>
        <p:nvSpPr>
          <p:cNvPr id="7" name="TextBox 6"/>
          <p:cNvSpPr txBox="1"/>
          <p:nvPr/>
        </p:nvSpPr>
        <p:spPr>
          <a:xfrm>
            <a:off x="109728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A document that says which documents match, e.g. { category: "BOOK" }. {} matches every document.</a:t>
            </a:r>
          </a:p>
        </p:txBody>
      </p:sp>
      <p:sp>
        <p:nvSpPr>
          <p:cNvPr id="8" name="Rounded Rectangle 7"/>
          <p:cNvSpPr/>
          <p:nvPr/>
        </p:nvSpPr>
        <p:spPr>
          <a:xfrm>
            <a:off x="6217920" y="1298448"/>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Oval 8"/>
          <p:cNvSpPr/>
          <p:nvPr/>
        </p:nvSpPr>
        <p:spPr>
          <a:xfrm>
            <a:off x="6364224" y="1408176"/>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10" name="TextBox 9"/>
          <p:cNvSpPr txBox="1"/>
          <p:nvPr/>
        </p:nvSpPr>
        <p:spPr>
          <a:xfrm>
            <a:off x="6858000" y="1371600"/>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Projection</a:t>
            </a:r>
          </a:p>
        </p:txBody>
      </p:sp>
      <p:sp>
        <p:nvSpPr>
          <p:cNvPr id="11" name="TextBox 10"/>
          <p:cNvSpPr txBox="1"/>
          <p:nvPr/>
        </p:nvSpPr>
        <p:spPr>
          <a:xfrm>
            <a:off x="6858000" y="1773936"/>
            <a:ext cx="4709160" cy="493776"/>
          </a:xfrm>
          <a:prstGeom prst="rect">
            <a:avLst/>
          </a:prstGeom>
          <a:noFill/>
        </p:spPr>
        <p:txBody>
          <a:bodyPr wrap="square" anchor="t" lIns="0" rIns="0" tIns="0" bIns="0">
            <a:spAutoFit/>
          </a:bodyPr>
          <a:lstStyle/>
          <a:p>
            <a:pPr algn="l"/>
            <a:r>
              <a:rPr sz="1300" b="0" i="0">
                <a:solidFill>
                  <a:srgbClr val="000000"/>
                </a:solidFill>
                <a:latin typeface="Nirmala UI"/>
              </a:rPr>
              <a:t>The second find() argument: it chooses which fields come back, e.g. { name: 1, _id: 0 }.</a:t>
            </a:r>
          </a:p>
        </p:txBody>
      </p:sp>
      <p:sp>
        <p:nvSpPr>
          <p:cNvPr id="12" name="Rounded Rectangle 11"/>
          <p:cNvSpPr/>
          <p:nvPr/>
        </p:nvSpPr>
        <p:spPr>
          <a:xfrm>
            <a:off x="45720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Oval 12"/>
          <p:cNvSpPr/>
          <p:nvPr/>
        </p:nvSpPr>
        <p:spPr>
          <a:xfrm>
            <a:off x="603504" y="2578608"/>
            <a:ext cx="365760" cy="365760"/>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14" name="TextBox 13"/>
          <p:cNvSpPr txBox="1"/>
          <p:nvPr/>
        </p:nvSpPr>
        <p:spPr>
          <a:xfrm>
            <a:off x="1097280" y="2542032"/>
            <a:ext cx="4709160" cy="420624"/>
          </a:xfrm>
          <a:prstGeom prst="rect">
            <a:avLst/>
          </a:prstGeom>
          <a:noFill/>
        </p:spPr>
        <p:txBody>
          <a:bodyPr wrap="square" anchor="ctr" lIns="0" rIns="0" tIns="0" bIns="0">
            <a:spAutoFit/>
          </a:bodyPr>
          <a:lstStyle/>
          <a:p>
            <a:pPr algn="l"/>
            <a:r>
              <a:rPr sz="1500" b="1" i="0">
                <a:solidFill>
                  <a:srgbClr val="0E7C7B"/>
                </a:solidFill>
                <a:latin typeface="Nirmala UI"/>
              </a:rPr>
              <a:t>Cursor</a:t>
            </a:r>
          </a:p>
        </p:txBody>
      </p:sp>
      <p:sp>
        <p:nvSpPr>
          <p:cNvPr id="15" name="TextBox 14"/>
          <p:cNvSpPr txBox="1"/>
          <p:nvPr/>
        </p:nvSpPr>
        <p:spPr>
          <a:xfrm>
            <a:off x="109728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What find() returns: a pointer that hands back matching documents in batches, not all at once.</a:t>
            </a:r>
          </a:p>
        </p:txBody>
      </p:sp>
      <p:sp>
        <p:nvSpPr>
          <p:cNvPr id="16" name="Rounded Rectangle 15"/>
          <p:cNvSpPr/>
          <p:nvPr/>
        </p:nvSpPr>
        <p:spPr>
          <a:xfrm>
            <a:off x="6217920" y="2468880"/>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364224" y="2578608"/>
            <a:ext cx="365760" cy="365760"/>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18" name="TextBox 17"/>
          <p:cNvSpPr txBox="1"/>
          <p:nvPr/>
        </p:nvSpPr>
        <p:spPr>
          <a:xfrm>
            <a:off x="6858000" y="2542032"/>
            <a:ext cx="4709160" cy="420624"/>
          </a:xfrm>
          <a:prstGeom prst="rect">
            <a:avLst/>
          </a:prstGeom>
          <a:noFill/>
        </p:spPr>
        <p:txBody>
          <a:bodyPr wrap="square" anchor="ctr" lIns="0" rIns="0" tIns="0" bIns="0">
            <a:spAutoFit/>
          </a:bodyPr>
          <a:lstStyle/>
          <a:p>
            <a:pPr algn="l"/>
            <a:r>
              <a:rPr sz="1500" b="1" i="0">
                <a:solidFill>
                  <a:srgbClr val="2E7D32"/>
                </a:solidFill>
                <a:latin typeface="Nirmala UI"/>
              </a:rPr>
              <a:t>Dot notation</a:t>
            </a:r>
          </a:p>
        </p:txBody>
      </p:sp>
      <p:sp>
        <p:nvSpPr>
          <p:cNvPr id="19" name="TextBox 18"/>
          <p:cNvSpPr txBox="1"/>
          <p:nvPr/>
        </p:nvSpPr>
        <p:spPr>
          <a:xfrm>
            <a:off x="6858000" y="2944368"/>
            <a:ext cx="4709160" cy="493776"/>
          </a:xfrm>
          <a:prstGeom prst="rect">
            <a:avLst/>
          </a:prstGeom>
          <a:noFill/>
        </p:spPr>
        <p:txBody>
          <a:bodyPr wrap="square" anchor="t" lIns="0" rIns="0" tIns="0" bIns="0">
            <a:spAutoFit/>
          </a:bodyPr>
          <a:lstStyle/>
          <a:p>
            <a:pPr algn="l"/>
            <a:r>
              <a:rPr sz="1300" b="0" i="0">
                <a:solidFill>
                  <a:srgbClr val="000000"/>
                </a:solidFill>
                <a:latin typeface="Nirmala UI"/>
              </a:rPr>
              <a:t>A quoted path into nested fields and arrays, such as "attributes.sizes" or "items.sku".</a:t>
            </a:r>
          </a:p>
        </p:txBody>
      </p:sp>
      <p:sp>
        <p:nvSpPr>
          <p:cNvPr id="20" name="Rounded Rectangle 19"/>
          <p:cNvSpPr/>
          <p:nvPr/>
        </p:nvSpPr>
        <p:spPr>
          <a:xfrm>
            <a:off x="45720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Oval 20"/>
          <p:cNvSpPr/>
          <p:nvPr/>
        </p:nvSpPr>
        <p:spPr>
          <a:xfrm>
            <a:off x="603504" y="3749040"/>
            <a:ext cx="365760" cy="365760"/>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22" name="TextBox 21"/>
          <p:cNvSpPr txBox="1"/>
          <p:nvPr/>
        </p:nvSpPr>
        <p:spPr>
          <a:xfrm>
            <a:off x="1097280" y="3712464"/>
            <a:ext cx="4709160" cy="420624"/>
          </a:xfrm>
          <a:prstGeom prst="rect">
            <a:avLst/>
          </a:prstGeom>
          <a:noFill/>
        </p:spPr>
        <p:txBody>
          <a:bodyPr wrap="square" anchor="ctr" lIns="0" rIns="0" tIns="0" bIns="0">
            <a:spAutoFit/>
          </a:bodyPr>
          <a:lstStyle/>
          <a:p>
            <a:pPr algn="l"/>
            <a:r>
              <a:rPr sz="1500" b="1" i="0">
                <a:solidFill>
                  <a:srgbClr val="C9690C"/>
                </a:solidFill>
                <a:latin typeface="Nirmala UI"/>
              </a:rPr>
              <a:t>$elemMatch</a:t>
            </a:r>
          </a:p>
        </p:txBody>
      </p:sp>
      <p:sp>
        <p:nvSpPr>
          <p:cNvPr id="23" name="TextBox 22"/>
          <p:cNvSpPr txBox="1"/>
          <p:nvPr/>
        </p:nvSpPr>
        <p:spPr>
          <a:xfrm>
            <a:off x="109728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Requires one array element to meet every condition — not different elements for different conditions.</a:t>
            </a:r>
          </a:p>
        </p:txBody>
      </p:sp>
      <p:sp>
        <p:nvSpPr>
          <p:cNvPr id="24" name="Rounded Rectangle 23"/>
          <p:cNvSpPr/>
          <p:nvPr/>
        </p:nvSpPr>
        <p:spPr>
          <a:xfrm>
            <a:off x="6217920" y="3639312"/>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Oval 24"/>
          <p:cNvSpPr/>
          <p:nvPr/>
        </p:nvSpPr>
        <p:spPr>
          <a:xfrm>
            <a:off x="6364224" y="3749040"/>
            <a:ext cx="365760" cy="365760"/>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6</a:t>
            </a:r>
          </a:p>
        </p:txBody>
      </p:sp>
      <p:sp>
        <p:nvSpPr>
          <p:cNvPr id="26" name="TextBox 25"/>
          <p:cNvSpPr txBox="1"/>
          <p:nvPr/>
        </p:nvSpPr>
        <p:spPr>
          <a:xfrm>
            <a:off x="6858000" y="3712464"/>
            <a:ext cx="4709160" cy="420624"/>
          </a:xfrm>
          <a:prstGeom prst="rect">
            <a:avLst/>
          </a:prstGeom>
          <a:noFill/>
        </p:spPr>
        <p:txBody>
          <a:bodyPr wrap="square" anchor="ctr" lIns="0" rIns="0" tIns="0" bIns="0">
            <a:spAutoFit/>
          </a:bodyPr>
          <a:lstStyle/>
          <a:p>
            <a:pPr algn="l"/>
            <a:r>
              <a:rPr sz="1500" b="1" i="0">
                <a:solidFill>
                  <a:srgbClr val="D1282E"/>
                </a:solidFill>
                <a:latin typeface="Nirmala UI"/>
              </a:rPr>
              <a:t>Update operator</a:t>
            </a:r>
          </a:p>
        </p:txBody>
      </p:sp>
      <p:sp>
        <p:nvSpPr>
          <p:cNvPr id="27" name="TextBox 26"/>
          <p:cNvSpPr txBox="1"/>
          <p:nvPr/>
        </p:nvSpPr>
        <p:spPr>
          <a:xfrm>
            <a:off x="6858000" y="4114800"/>
            <a:ext cx="4709160" cy="493776"/>
          </a:xfrm>
          <a:prstGeom prst="rect">
            <a:avLst/>
          </a:prstGeom>
          <a:noFill/>
        </p:spPr>
        <p:txBody>
          <a:bodyPr wrap="square" anchor="t" lIns="0" rIns="0" tIns="0" bIns="0">
            <a:spAutoFit/>
          </a:bodyPr>
          <a:lstStyle/>
          <a:p>
            <a:pPr algn="l"/>
            <a:r>
              <a:rPr sz="1300" b="0" i="0">
                <a:solidFill>
                  <a:srgbClr val="000000"/>
                </a:solidFill>
                <a:latin typeface="Nirmala UI"/>
              </a:rPr>
              <a:t>$set, $inc, $push and friends: change named fields in place instead of replacing the document.</a:t>
            </a:r>
          </a:p>
        </p:txBody>
      </p:sp>
      <p:sp>
        <p:nvSpPr>
          <p:cNvPr id="28" name="Rounded Rectangle 27"/>
          <p:cNvSpPr/>
          <p:nvPr/>
        </p:nvSpPr>
        <p:spPr>
          <a:xfrm>
            <a:off x="45720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03504" y="4919472"/>
            <a:ext cx="365760" cy="36576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7</a:t>
            </a:r>
          </a:p>
        </p:txBody>
      </p:sp>
      <p:sp>
        <p:nvSpPr>
          <p:cNvPr id="30" name="TextBox 29"/>
          <p:cNvSpPr txBox="1"/>
          <p:nvPr/>
        </p:nvSpPr>
        <p:spPr>
          <a:xfrm>
            <a:off x="1097280" y="4882896"/>
            <a:ext cx="4709160" cy="420624"/>
          </a:xfrm>
          <a:prstGeom prst="rect">
            <a:avLst/>
          </a:prstGeom>
          <a:noFill/>
        </p:spPr>
        <p:txBody>
          <a:bodyPr wrap="square" anchor="ctr" lIns="0" rIns="0" tIns="0" bIns="0">
            <a:spAutoFit/>
          </a:bodyPr>
          <a:lstStyle/>
          <a:p>
            <a:pPr algn="l"/>
            <a:r>
              <a:rPr sz="1500" b="1" i="0">
                <a:solidFill>
                  <a:srgbClr val="002060"/>
                </a:solidFill>
                <a:latin typeface="Nirmala UI"/>
              </a:rPr>
              <a:t>Upsert</a:t>
            </a:r>
          </a:p>
        </p:txBody>
      </p:sp>
      <p:sp>
        <p:nvSpPr>
          <p:cNvPr id="31" name="TextBox 30"/>
          <p:cNvSpPr txBox="1"/>
          <p:nvPr/>
        </p:nvSpPr>
        <p:spPr>
          <a:xfrm>
            <a:off x="109728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 upsert: true }: update the match, or insert a new document when nothing matches the filter.</a:t>
            </a:r>
          </a:p>
        </p:txBody>
      </p:sp>
      <p:sp>
        <p:nvSpPr>
          <p:cNvPr id="32" name="Rounded Rectangle 31"/>
          <p:cNvSpPr/>
          <p:nvPr/>
        </p:nvSpPr>
        <p:spPr>
          <a:xfrm>
            <a:off x="6217920" y="4809744"/>
            <a:ext cx="5486400" cy="10241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Oval 32"/>
          <p:cNvSpPr/>
          <p:nvPr/>
        </p:nvSpPr>
        <p:spPr>
          <a:xfrm>
            <a:off x="6364224" y="4919472"/>
            <a:ext cx="365760" cy="365760"/>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8</a:t>
            </a:r>
          </a:p>
        </p:txBody>
      </p:sp>
      <p:sp>
        <p:nvSpPr>
          <p:cNvPr id="34" name="TextBox 33"/>
          <p:cNvSpPr txBox="1"/>
          <p:nvPr/>
        </p:nvSpPr>
        <p:spPr>
          <a:xfrm>
            <a:off x="6858000" y="4882896"/>
            <a:ext cx="4709160" cy="420624"/>
          </a:xfrm>
          <a:prstGeom prst="rect">
            <a:avLst/>
          </a:prstGeom>
          <a:noFill/>
        </p:spPr>
        <p:txBody>
          <a:bodyPr wrap="square" anchor="ctr" lIns="0" rIns="0" tIns="0" bIns="0">
            <a:spAutoFit/>
          </a:bodyPr>
          <a:lstStyle/>
          <a:p>
            <a:pPr algn="l"/>
            <a:r>
              <a:rPr sz="1500" b="1" i="0">
                <a:solidFill>
                  <a:srgbClr val="5B3A9E"/>
                </a:solidFill>
                <a:latin typeface="Nirmala UI"/>
              </a:rPr>
              <a:t>Write result</a:t>
            </a:r>
          </a:p>
        </p:txBody>
      </p:sp>
      <p:sp>
        <p:nvSpPr>
          <p:cNvPr id="35" name="TextBox 34"/>
          <p:cNvSpPr txBox="1"/>
          <p:nvPr/>
        </p:nvSpPr>
        <p:spPr>
          <a:xfrm>
            <a:off x="6858000" y="5285231"/>
            <a:ext cx="4709160" cy="493776"/>
          </a:xfrm>
          <a:prstGeom prst="rect">
            <a:avLst/>
          </a:prstGeom>
          <a:noFill/>
        </p:spPr>
        <p:txBody>
          <a:bodyPr wrap="square" anchor="t" lIns="0" rIns="0" tIns="0" bIns="0">
            <a:spAutoFit/>
          </a:bodyPr>
          <a:lstStyle/>
          <a:p>
            <a:pPr algn="l"/>
            <a:r>
              <a:rPr sz="1300" b="0" i="0">
                <a:solidFill>
                  <a:srgbClr val="000000"/>
                </a:solidFill>
                <a:latin typeface="Nirmala UI"/>
              </a:rPr>
              <a:t>What every write returns: acknowledged, matchedCount, modifiedCount, insertedId, deletedCount.</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Agree on the words first — every later slide builds on them.</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FULL FORMS USED IN THIS MODULE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abbreviation on these slides, spelled out.</a:t>
            </a:r>
          </a:p>
        </p:txBody>
      </p:sp>
      <p:sp>
        <p:nvSpPr>
          <p:cNvPr id="4" name="Rounded Rectangle 3"/>
          <p:cNvSpPr/>
          <p:nvPr/>
        </p:nvSpPr>
        <p:spPr>
          <a:xfrm>
            <a:off x="457200" y="1344168"/>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BSON</a:t>
            </a:r>
          </a:p>
        </p:txBody>
      </p:sp>
      <p:sp>
        <p:nvSpPr>
          <p:cNvPr id="5" name="TextBox 4"/>
          <p:cNvSpPr txBox="1"/>
          <p:nvPr/>
        </p:nvSpPr>
        <p:spPr>
          <a:xfrm>
            <a:off x="157276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Binary JSON</a:t>
            </a:r>
          </a:p>
        </p:txBody>
      </p:sp>
      <p:sp>
        <p:nvSpPr>
          <p:cNvPr id="6" name="Rounded Rectangle 5"/>
          <p:cNvSpPr/>
          <p:nvPr/>
        </p:nvSpPr>
        <p:spPr>
          <a:xfrm>
            <a:off x="457200" y="1911095"/>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CRUD</a:t>
            </a:r>
          </a:p>
        </p:txBody>
      </p:sp>
      <p:sp>
        <p:nvSpPr>
          <p:cNvPr id="7" name="TextBox 6"/>
          <p:cNvSpPr txBox="1"/>
          <p:nvPr/>
        </p:nvSpPr>
        <p:spPr>
          <a:xfrm>
            <a:off x="157276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Create, Read, Update, Delete</a:t>
            </a:r>
          </a:p>
        </p:txBody>
      </p:sp>
      <p:sp>
        <p:nvSpPr>
          <p:cNvPr id="8" name="Rounded Rectangle 7"/>
          <p:cNvSpPr/>
          <p:nvPr/>
        </p:nvSpPr>
        <p:spPr>
          <a:xfrm>
            <a:off x="457200" y="2478024"/>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ID</a:t>
            </a:r>
          </a:p>
        </p:txBody>
      </p:sp>
      <p:sp>
        <p:nvSpPr>
          <p:cNvPr id="9" name="TextBox 8"/>
          <p:cNvSpPr txBox="1"/>
          <p:nvPr/>
        </p:nvSpPr>
        <p:spPr>
          <a:xfrm>
            <a:off x="157276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Identifier</a:t>
            </a:r>
          </a:p>
        </p:txBody>
      </p:sp>
      <p:sp>
        <p:nvSpPr>
          <p:cNvPr id="10" name="Rounded Rectangle 9"/>
          <p:cNvSpPr/>
          <p:nvPr/>
        </p:nvSpPr>
        <p:spPr>
          <a:xfrm>
            <a:off x="457200" y="3044952"/>
            <a:ext cx="1005840" cy="475488"/>
          </a:xfrm>
          <a:prstGeom prst="roundRect">
            <a:avLst>
              <a:gd name="adj" fmla="val 10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02060"/>
                </a:solidFill>
                <a:latin typeface="Nirmala UI"/>
              </a:rPr>
              <a:t>ISO</a:t>
            </a:r>
          </a:p>
        </p:txBody>
      </p:sp>
      <p:sp>
        <p:nvSpPr>
          <p:cNvPr id="11" name="TextBox 10"/>
          <p:cNvSpPr txBox="1"/>
          <p:nvPr/>
        </p:nvSpPr>
        <p:spPr>
          <a:xfrm>
            <a:off x="1572768" y="2999232"/>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International Organization for Standardization (ISODate uses the ISO 8601 date format)</a:t>
            </a:r>
          </a:p>
        </p:txBody>
      </p:sp>
      <p:sp>
        <p:nvSpPr>
          <p:cNvPr id="12" name="Rounded Rectangle 11"/>
          <p:cNvSpPr/>
          <p:nvPr/>
        </p:nvSpPr>
        <p:spPr>
          <a:xfrm>
            <a:off x="4282440" y="1344168"/>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JSON</a:t>
            </a:r>
          </a:p>
        </p:txBody>
      </p:sp>
      <p:sp>
        <p:nvSpPr>
          <p:cNvPr id="13" name="TextBox 12"/>
          <p:cNvSpPr txBox="1"/>
          <p:nvPr/>
        </p:nvSpPr>
        <p:spPr>
          <a:xfrm>
            <a:off x="539800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JavaScript Object Notation</a:t>
            </a:r>
          </a:p>
        </p:txBody>
      </p:sp>
      <p:sp>
        <p:nvSpPr>
          <p:cNvPr id="14" name="Rounded Rectangle 13"/>
          <p:cNvSpPr/>
          <p:nvPr/>
        </p:nvSpPr>
        <p:spPr>
          <a:xfrm>
            <a:off x="4282440" y="1911095"/>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MQL</a:t>
            </a:r>
          </a:p>
        </p:txBody>
      </p:sp>
      <p:sp>
        <p:nvSpPr>
          <p:cNvPr id="15" name="TextBox 14"/>
          <p:cNvSpPr txBox="1"/>
          <p:nvPr/>
        </p:nvSpPr>
        <p:spPr>
          <a:xfrm>
            <a:off x="539800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MongoDB Query Language</a:t>
            </a:r>
          </a:p>
        </p:txBody>
      </p:sp>
      <p:sp>
        <p:nvSpPr>
          <p:cNvPr id="16" name="Rounded Rectangle 15"/>
          <p:cNvSpPr/>
          <p:nvPr/>
        </p:nvSpPr>
        <p:spPr>
          <a:xfrm>
            <a:off x="4282440" y="2478024"/>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SKU</a:t>
            </a:r>
          </a:p>
        </p:txBody>
      </p:sp>
      <p:sp>
        <p:nvSpPr>
          <p:cNvPr id="17" name="TextBox 16"/>
          <p:cNvSpPr txBox="1"/>
          <p:nvPr/>
        </p:nvSpPr>
        <p:spPr>
          <a:xfrm>
            <a:off x="5398008" y="2432304"/>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Stock Keeping Unit</a:t>
            </a:r>
          </a:p>
        </p:txBody>
      </p:sp>
      <p:sp>
        <p:nvSpPr>
          <p:cNvPr id="18" name="Rounded Rectangle 17"/>
          <p:cNvSpPr/>
          <p:nvPr/>
        </p:nvSpPr>
        <p:spPr>
          <a:xfrm>
            <a:off x="4282440" y="3044952"/>
            <a:ext cx="1005840" cy="475488"/>
          </a:xfrm>
          <a:prstGeom prst="roundRect">
            <a:avLst>
              <a:gd name="adj" fmla="val 10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5B3A9E"/>
                </a:solidFill>
                <a:latin typeface="Nirmala UI"/>
              </a:rPr>
              <a:t>SQL</a:t>
            </a:r>
          </a:p>
        </p:txBody>
      </p:sp>
      <p:sp>
        <p:nvSpPr>
          <p:cNvPr id="19" name="TextBox 18"/>
          <p:cNvSpPr txBox="1"/>
          <p:nvPr/>
        </p:nvSpPr>
        <p:spPr>
          <a:xfrm>
            <a:off x="5398008" y="2999232"/>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Structured Query Language</a:t>
            </a:r>
          </a:p>
        </p:txBody>
      </p:sp>
      <p:sp>
        <p:nvSpPr>
          <p:cNvPr id="20" name="Rounded Rectangle 19"/>
          <p:cNvSpPr/>
          <p:nvPr/>
        </p:nvSpPr>
        <p:spPr>
          <a:xfrm>
            <a:off x="8107680" y="1344168"/>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USB</a:t>
            </a:r>
          </a:p>
        </p:txBody>
      </p:sp>
      <p:sp>
        <p:nvSpPr>
          <p:cNvPr id="21" name="TextBox 20"/>
          <p:cNvSpPr txBox="1"/>
          <p:nvPr/>
        </p:nvSpPr>
        <p:spPr>
          <a:xfrm>
            <a:off x="9223248" y="1298448"/>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Universal Serial Bus</a:t>
            </a:r>
          </a:p>
        </p:txBody>
      </p:sp>
      <p:sp>
        <p:nvSpPr>
          <p:cNvPr id="22" name="Rounded Rectangle 21"/>
          <p:cNvSpPr/>
          <p:nvPr/>
        </p:nvSpPr>
        <p:spPr>
          <a:xfrm>
            <a:off x="8107680" y="1911095"/>
            <a:ext cx="1005840" cy="475488"/>
          </a:xfrm>
          <a:prstGeom prst="roundRect">
            <a:avLst>
              <a:gd name="adj" fmla="val 10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200" b="1" i="0">
                <a:solidFill>
                  <a:srgbClr val="0E7C7B"/>
                </a:solidFill>
                <a:latin typeface="Nirmala UI"/>
              </a:rPr>
              <a:t>UTC</a:t>
            </a:r>
          </a:p>
        </p:txBody>
      </p:sp>
      <p:sp>
        <p:nvSpPr>
          <p:cNvPr id="23" name="TextBox 22"/>
          <p:cNvSpPr txBox="1"/>
          <p:nvPr/>
        </p:nvSpPr>
        <p:spPr>
          <a:xfrm>
            <a:off x="9223248" y="1865376"/>
            <a:ext cx="2462784" cy="566928"/>
          </a:xfrm>
          <a:prstGeom prst="rect">
            <a:avLst/>
          </a:prstGeom>
          <a:noFill/>
        </p:spPr>
        <p:txBody>
          <a:bodyPr wrap="square" anchor="ctr" lIns="0" rIns="0" tIns="0" bIns="0">
            <a:spAutoFit/>
          </a:bodyPr>
          <a:lstStyle/>
          <a:p>
            <a:pPr algn="l"/>
            <a:r>
              <a:rPr sz="1200" b="0" i="0">
                <a:solidFill>
                  <a:srgbClr val="000000"/>
                </a:solidFill>
                <a:latin typeface="Nirmala UI"/>
              </a:rPr>
              <a:t>Coordinated Universal Time</a:t>
            </a:r>
          </a:p>
        </p:txBody>
      </p:sp>
      <p:sp>
        <p:nvSpPr>
          <p:cNvPr id="24" name="Rounded Rectangle 2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When an abbreviation isn't clear, the full form is on this slide.</a:t>
            </a:r>
          </a:p>
        </p:txBody>
      </p:sp>
      <p:sp>
        <p:nvSpPr>
          <p:cNvPr id="26" name="Rectangle 2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FROM MODULE 3 TO MODULE 4</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3 designed the documents. Now we read and change them.</a:t>
            </a:r>
          </a:p>
        </p:txBody>
      </p:sp>
      <p:sp>
        <p:nvSpPr>
          <p:cNvPr id="4" name="Rounded Rectangle 3"/>
          <p:cNvSpPr/>
          <p:nvPr/>
        </p:nvSpPr>
        <p:spPr>
          <a:xfrm>
            <a:off x="457200" y="1298448"/>
            <a:ext cx="46634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46634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4389120" cy="420624"/>
          </a:xfrm>
          <a:prstGeom prst="rect">
            <a:avLst/>
          </a:prstGeom>
          <a:noFill/>
        </p:spPr>
        <p:txBody>
          <a:bodyPr wrap="square" anchor="ctr" lIns="0" rIns="0" tIns="0" bIns="0">
            <a:spAutoFit/>
          </a:bodyPr>
          <a:lstStyle/>
          <a:p>
            <a:pPr algn="l"/>
            <a:r>
              <a:rPr sz="1400" b="1" i="0">
                <a:solidFill>
                  <a:srgbClr val="FFFFFF"/>
                </a:solidFill>
                <a:latin typeface="Nirmala UI"/>
              </a:rPr>
              <a:t>MODULE 3 GAVE US</a:t>
            </a:r>
          </a:p>
        </p:txBody>
      </p:sp>
      <p:sp>
        <p:nvSpPr>
          <p:cNvPr id="7" name="Oval 6"/>
          <p:cNvSpPr/>
          <p:nvPr/>
        </p:nvSpPr>
        <p:spPr>
          <a:xfrm>
            <a:off x="640080" y="196596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Documents shaped by access patterns</a:t>
            </a:r>
          </a:p>
        </p:txBody>
      </p:sp>
      <p:sp>
        <p:nvSpPr>
          <p:cNvPr id="9" name="Oval 8"/>
          <p:cNvSpPr/>
          <p:nvPr/>
        </p:nvSpPr>
        <p:spPr>
          <a:xfrm>
            <a:off x="640080" y="25328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41448"/>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Items embedded, customers referenced</a:t>
            </a:r>
          </a:p>
        </p:txBody>
      </p:sp>
      <p:sp>
        <p:nvSpPr>
          <p:cNvPr id="11" name="Oval 10"/>
          <p:cNvSpPr/>
          <p:nvPr/>
        </p:nvSpPr>
        <p:spPr>
          <a:xfrm>
            <a:off x="640080" y="309981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08376"/>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Decimal128 money, Date timestamps</a:t>
            </a:r>
          </a:p>
        </p:txBody>
      </p:sp>
      <p:sp>
        <p:nvSpPr>
          <p:cNvPr id="13" name="Oval 12"/>
          <p:cNvSpPr/>
          <p:nvPr/>
        </p:nvSpPr>
        <p:spPr>
          <a:xfrm>
            <a:off x="640080" y="3666744"/>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575303"/>
            <a:ext cx="3886200" cy="502920"/>
          </a:xfrm>
          <a:prstGeom prst="rect">
            <a:avLst/>
          </a:prstGeom>
          <a:noFill/>
        </p:spPr>
        <p:txBody>
          <a:bodyPr wrap="square" anchor="ctr" lIns="0" rIns="0" tIns="0" bIns="0">
            <a:spAutoFit/>
          </a:bodyPr>
          <a:lstStyle/>
          <a:p>
            <a:pPr algn="l"/>
            <a:r>
              <a:rPr sz="1500" b="0" i="0">
                <a:solidFill>
                  <a:srgbClr val="000000"/>
                </a:solidFill>
                <a:latin typeface="Nirmala UI"/>
              </a:rPr>
              <a:t>Four collections in training_store</a:t>
            </a:r>
          </a:p>
        </p:txBody>
      </p:sp>
      <p:sp>
        <p:nvSpPr>
          <p:cNvPr id="15" name="Rounded Rectangle 14"/>
          <p:cNvSpPr/>
          <p:nvPr/>
        </p:nvSpPr>
        <p:spPr>
          <a:xfrm>
            <a:off x="594360" y="4690872"/>
            <a:ext cx="4389120" cy="96012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777240" y="4690872"/>
            <a:ext cx="4023359" cy="960120"/>
          </a:xfrm>
          <a:prstGeom prst="rect">
            <a:avLst/>
          </a:prstGeom>
          <a:noFill/>
        </p:spPr>
        <p:txBody>
          <a:bodyPr wrap="square" anchor="ctr" lIns="0" rIns="0" tIns="0" bIns="0">
            <a:spAutoFit/>
          </a:bodyPr>
          <a:lstStyle/>
          <a:p>
            <a:pPr algn="l"/>
            <a:r>
              <a:rPr sz="1400" b="1" i="0">
                <a:solidFill>
                  <a:srgbClr val="D1282E"/>
                </a:solidFill>
                <a:latin typeface="Nirmala UI"/>
              </a:rPr>
              <a:t>NOW   </a:t>
            </a:r>
            <a:r>
              <a:rPr sz="1400" b="0" i="0">
                <a:solidFill>
                  <a:srgbClr val="000000"/>
                </a:solidFill>
                <a:latin typeface="Nirmala UI"/>
              </a:rPr>
              <a:t>Query and change that model with filters shaped like the documents.</a:t>
            </a:r>
          </a:p>
        </p:txBody>
      </p:sp>
      <p:sp>
        <p:nvSpPr>
          <p:cNvPr id="17" name="Oval 16"/>
          <p:cNvSpPr/>
          <p:nvPr/>
        </p:nvSpPr>
        <p:spPr>
          <a:xfrm>
            <a:off x="5486400" y="129844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0" y="1298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9" name="TextBox 18"/>
          <p:cNvSpPr txBox="1"/>
          <p:nvPr/>
        </p:nvSpPr>
        <p:spPr>
          <a:xfrm>
            <a:off x="5870448" y="1289304"/>
            <a:ext cx="5833872" cy="347472"/>
          </a:xfrm>
          <a:prstGeom prst="rect">
            <a:avLst/>
          </a:prstGeom>
          <a:noFill/>
        </p:spPr>
        <p:txBody>
          <a:bodyPr wrap="square" anchor="ctr" lIns="0" rIns="0" tIns="0" bIns="0">
            <a:spAutoFit/>
          </a:bodyPr>
          <a:lstStyle/>
          <a:p>
            <a:pPr algn="l"/>
            <a:r>
              <a:rPr sz="1400" b="1" i="0">
                <a:solidFill>
                  <a:srgbClr val="D1282E"/>
                </a:solidFill>
                <a:latin typeface="Nirmala UI"/>
              </a:rPr>
              <a:t>THE PATH THROUGH MODULE 4</a:t>
            </a:r>
          </a:p>
        </p:txBody>
      </p:sp>
      <p:sp>
        <p:nvSpPr>
          <p:cNvPr id="20" name="Oval 19"/>
          <p:cNvSpPr/>
          <p:nvPr/>
        </p:nvSpPr>
        <p:spPr>
          <a:xfrm>
            <a:off x="5486400" y="1956816"/>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1</a:t>
            </a:r>
          </a:p>
        </p:txBody>
      </p:sp>
      <p:sp>
        <p:nvSpPr>
          <p:cNvPr id="21" name="TextBox 20"/>
          <p:cNvSpPr txBox="1"/>
          <p:nvPr/>
        </p:nvSpPr>
        <p:spPr>
          <a:xfrm>
            <a:off x="5943600" y="1719072"/>
            <a:ext cx="4297680" cy="822960"/>
          </a:xfrm>
          <a:prstGeom prst="rect">
            <a:avLst/>
          </a:prstGeom>
          <a:noFill/>
        </p:spPr>
        <p:txBody>
          <a:bodyPr wrap="square" anchor="ctr" lIns="0" rIns="0" tIns="0" bIns="0">
            <a:spAutoFit/>
          </a:bodyPr>
          <a:lstStyle/>
          <a:p>
            <a:pPr algn="l"/>
            <a:r>
              <a:rPr sz="1500" b="0" i="0">
                <a:solidFill>
                  <a:srgbClr val="000000"/>
                </a:solidFill>
                <a:latin typeface="Nirmala UI"/>
              </a:rPr>
              <a:t>Read: find, filters, projection, sort</a:t>
            </a:r>
          </a:p>
        </p:txBody>
      </p:sp>
      <p:sp>
        <p:nvSpPr>
          <p:cNvPr id="22" name="Rounded Rectangle 21"/>
          <p:cNvSpPr/>
          <p:nvPr/>
        </p:nvSpPr>
        <p:spPr>
          <a:xfrm>
            <a:off x="10332720" y="1947672"/>
            <a:ext cx="1371600" cy="365760"/>
          </a:xfrm>
          <a:prstGeom prst="roundRect">
            <a:avLst>
              <a:gd name="adj" fmla="val 14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02060"/>
                </a:solidFill>
                <a:latin typeface="Nirmala UI"/>
              </a:rPr>
              <a:t>Part 1</a:t>
            </a:r>
          </a:p>
        </p:txBody>
      </p:sp>
      <p:sp>
        <p:nvSpPr>
          <p:cNvPr id="23" name="Oval 22"/>
          <p:cNvSpPr/>
          <p:nvPr/>
        </p:nvSpPr>
        <p:spPr>
          <a:xfrm>
            <a:off x="5486400" y="2779776"/>
            <a:ext cx="347472" cy="347472"/>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2</a:t>
            </a:r>
          </a:p>
        </p:txBody>
      </p:sp>
      <p:sp>
        <p:nvSpPr>
          <p:cNvPr id="24" name="TextBox 23"/>
          <p:cNvSpPr txBox="1"/>
          <p:nvPr/>
        </p:nvSpPr>
        <p:spPr>
          <a:xfrm>
            <a:off x="5943600" y="2542032"/>
            <a:ext cx="4297680" cy="822960"/>
          </a:xfrm>
          <a:prstGeom prst="rect">
            <a:avLst/>
          </a:prstGeom>
          <a:noFill/>
        </p:spPr>
        <p:txBody>
          <a:bodyPr wrap="square" anchor="ctr" lIns="0" rIns="0" tIns="0" bIns="0">
            <a:spAutoFit/>
          </a:bodyPr>
          <a:lstStyle/>
          <a:p>
            <a:pPr algn="l"/>
            <a:r>
              <a:rPr sz="1500" b="0" i="0">
                <a:solidFill>
                  <a:srgbClr val="000000"/>
                </a:solidFill>
                <a:latin typeface="Nirmala UI"/>
              </a:rPr>
              <a:t>Comparison, logical and element operators</a:t>
            </a:r>
          </a:p>
        </p:txBody>
      </p:sp>
      <p:sp>
        <p:nvSpPr>
          <p:cNvPr id="25" name="Rounded Rectangle 24"/>
          <p:cNvSpPr/>
          <p:nvPr/>
        </p:nvSpPr>
        <p:spPr>
          <a:xfrm>
            <a:off x="10332720" y="2770632"/>
            <a:ext cx="1371600" cy="365760"/>
          </a:xfrm>
          <a:prstGeom prst="roundRect">
            <a:avLst>
              <a:gd name="adj" fmla="val 14000"/>
            </a:avLst>
          </a:prstGeom>
          <a:solidFill>
            <a:srgbClr val="EFEA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5B3A9E"/>
                </a:solidFill>
                <a:latin typeface="Nirmala UI"/>
              </a:rPr>
              <a:t>Part 2</a:t>
            </a:r>
          </a:p>
        </p:txBody>
      </p:sp>
      <p:sp>
        <p:nvSpPr>
          <p:cNvPr id="26" name="Oval 25"/>
          <p:cNvSpPr/>
          <p:nvPr/>
        </p:nvSpPr>
        <p:spPr>
          <a:xfrm>
            <a:off x="5486400" y="3602736"/>
            <a:ext cx="347472" cy="347472"/>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3</a:t>
            </a:r>
          </a:p>
        </p:txBody>
      </p:sp>
      <p:sp>
        <p:nvSpPr>
          <p:cNvPr id="27" name="TextBox 26"/>
          <p:cNvSpPr txBox="1"/>
          <p:nvPr/>
        </p:nvSpPr>
        <p:spPr>
          <a:xfrm>
            <a:off x="5943600" y="3364992"/>
            <a:ext cx="4297680" cy="822960"/>
          </a:xfrm>
          <a:prstGeom prst="rect">
            <a:avLst/>
          </a:prstGeom>
          <a:noFill/>
        </p:spPr>
        <p:txBody>
          <a:bodyPr wrap="square" anchor="ctr" lIns="0" rIns="0" tIns="0" bIns="0">
            <a:spAutoFit/>
          </a:bodyPr>
          <a:lstStyle/>
          <a:p>
            <a:pPr algn="l"/>
            <a:r>
              <a:rPr sz="1500" b="0" i="0">
                <a:solidFill>
                  <a:srgbClr val="000000"/>
                </a:solidFill>
                <a:latin typeface="Nirmala UI"/>
              </a:rPr>
              <a:t>Nested fields and arrays</a:t>
            </a:r>
          </a:p>
        </p:txBody>
      </p:sp>
      <p:sp>
        <p:nvSpPr>
          <p:cNvPr id="28" name="Rounded Rectangle 27"/>
          <p:cNvSpPr/>
          <p:nvPr/>
        </p:nvSpPr>
        <p:spPr>
          <a:xfrm>
            <a:off x="10332720" y="3593592"/>
            <a:ext cx="1371600" cy="365760"/>
          </a:xfrm>
          <a:prstGeom prst="roundRect">
            <a:avLst>
              <a:gd name="adj" fmla="val 14000"/>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E7C7B"/>
                </a:solidFill>
                <a:latin typeface="Nirmala UI"/>
              </a:rPr>
              <a:t>Part 3</a:t>
            </a:r>
          </a:p>
        </p:txBody>
      </p:sp>
      <p:sp>
        <p:nvSpPr>
          <p:cNvPr id="29" name="Oval 28"/>
          <p:cNvSpPr/>
          <p:nvPr/>
        </p:nvSpPr>
        <p:spPr>
          <a:xfrm>
            <a:off x="5486400" y="4425696"/>
            <a:ext cx="347472" cy="34747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4</a:t>
            </a:r>
          </a:p>
        </p:txBody>
      </p:sp>
      <p:sp>
        <p:nvSpPr>
          <p:cNvPr id="30" name="TextBox 29"/>
          <p:cNvSpPr txBox="1"/>
          <p:nvPr/>
        </p:nvSpPr>
        <p:spPr>
          <a:xfrm>
            <a:off x="5943600" y="4187952"/>
            <a:ext cx="4297680" cy="822960"/>
          </a:xfrm>
          <a:prstGeom prst="rect">
            <a:avLst/>
          </a:prstGeom>
          <a:noFill/>
        </p:spPr>
        <p:txBody>
          <a:bodyPr wrap="square" anchor="ctr" lIns="0" rIns="0" tIns="0" bIns="0">
            <a:spAutoFit/>
          </a:bodyPr>
          <a:lstStyle/>
          <a:p>
            <a:pPr algn="l"/>
            <a:r>
              <a:rPr sz="1500" b="0" i="0">
                <a:solidFill>
                  <a:srgbClr val="000000"/>
                </a:solidFill>
                <a:latin typeface="Nirmala UI"/>
              </a:rPr>
              <a:t>Insert, update, upsert and replace</a:t>
            </a:r>
          </a:p>
        </p:txBody>
      </p:sp>
      <p:sp>
        <p:nvSpPr>
          <p:cNvPr id="31" name="Rounded Rectangle 30"/>
          <p:cNvSpPr/>
          <p:nvPr/>
        </p:nvSpPr>
        <p:spPr>
          <a:xfrm>
            <a:off x="10332720" y="4416552"/>
            <a:ext cx="1371600" cy="365760"/>
          </a:xfrm>
          <a:prstGeom prst="roundRect">
            <a:avLst>
              <a:gd name="adj" fmla="val 14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2E7D32"/>
                </a:solidFill>
                <a:latin typeface="Nirmala UI"/>
              </a:rPr>
              <a:t>Part 4</a:t>
            </a:r>
          </a:p>
        </p:txBody>
      </p:sp>
      <p:sp>
        <p:nvSpPr>
          <p:cNvPr id="32" name="Oval 31"/>
          <p:cNvSpPr/>
          <p:nvPr/>
        </p:nvSpPr>
        <p:spPr>
          <a:xfrm>
            <a:off x="5486400" y="5248656"/>
            <a:ext cx="347472" cy="347472"/>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i="0">
                <a:solidFill>
                  <a:srgbClr val="FFFFFF"/>
                </a:solidFill>
                <a:latin typeface="Nirmala UI"/>
              </a:rPr>
              <a:t>5</a:t>
            </a:r>
          </a:p>
        </p:txBody>
      </p:sp>
      <p:sp>
        <p:nvSpPr>
          <p:cNvPr id="33" name="TextBox 32"/>
          <p:cNvSpPr txBox="1"/>
          <p:nvPr/>
        </p:nvSpPr>
        <p:spPr>
          <a:xfrm>
            <a:off x="5943600" y="5010912"/>
            <a:ext cx="4297680" cy="822960"/>
          </a:xfrm>
          <a:prstGeom prst="rect">
            <a:avLst/>
          </a:prstGeom>
          <a:noFill/>
        </p:spPr>
        <p:txBody>
          <a:bodyPr wrap="square" anchor="ctr" lIns="0" rIns="0" tIns="0" bIns="0">
            <a:spAutoFit/>
          </a:bodyPr>
          <a:lstStyle/>
          <a:p>
            <a:pPr algn="l"/>
            <a:r>
              <a:rPr sz="1500" b="0" i="0">
                <a:solidFill>
                  <a:srgbClr val="000000"/>
                </a:solidFill>
                <a:latin typeface="Nirmala UI"/>
              </a:rPr>
              <a:t>Delete, bulk write and verify</a:t>
            </a:r>
          </a:p>
        </p:txBody>
      </p:sp>
      <p:sp>
        <p:nvSpPr>
          <p:cNvPr id="34" name="Rounded Rectangle 33"/>
          <p:cNvSpPr/>
          <p:nvPr/>
        </p:nvSpPr>
        <p:spPr>
          <a:xfrm>
            <a:off x="10332720" y="5239512"/>
            <a:ext cx="1371600" cy="365760"/>
          </a:xfrm>
          <a:prstGeom prst="roundRect">
            <a:avLst>
              <a:gd name="adj" fmla="val 14000"/>
            </a:avLst>
          </a:prstGeom>
          <a:solidFill>
            <a:srgbClr val="FDF0E3"/>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C9690C"/>
                </a:solidFill>
                <a:latin typeface="Nirmala UI"/>
              </a:rPr>
              <a:t>Part 5</a:t>
            </a:r>
          </a:p>
        </p:txBody>
      </p:sp>
      <p:sp>
        <p:nvSpPr>
          <p:cNvPr id="35" name="Rounded Rectangle 34"/>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The document design from Module 3 decides how every query in Module 4 is written.</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TRAINING_STORE DATA WE QUERY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Counts, field names and the traps planted for this module.</a:t>
            </a:r>
          </a:p>
        </p:txBody>
      </p:sp>
      <p:sp>
        <p:nvSpPr>
          <p:cNvPr id="4" name="Oval 3"/>
          <p:cNvSpPr/>
          <p:nvPr/>
        </p:nvSpPr>
        <p:spPr>
          <a:xfrm>
            <a:off x="457200" y="1298448"/>
            <a:ext cx="310896" cy="310896"/>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98448"/>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6" name="TextBox 5"/>
          <p:cNvSpPr txBox="1"/>
          <p:nvPr/>
        </p:nvSpPr>
        <p:spPr>
          <a:xfrm>
            <a:off x="841248" y="1289304"/>
            <a:ext cx="6656832" cy="347472"/>
          </a:xfrm>
          <a:prstGeom prst="rect">
            <a:avLst/>
          </a:prstGeom>
          <a:noFill/>
        </p:spPr>
        <p:txBody>
          <a:bodyPr wrap="square" anchor="ctr" lIns="0" rIns="0" tIns="0" bIns="0">
            <a:spAutoFit/>
          </a:bodyPr>
          <a:lstStyle/>
          <a:p>
            <a:pPr algn="l"/>
            <a:r>
              <a:rPr sz="1400" b="1" i="0">
                <a:solidFill>
                  <a:srgbClr val="D1282E"/>
                </a:solidFill>
                <a:latin typeface="Nirmala UI"/>
              </a:rPr>
              <a:t>FOUR COLLECTIONS ON A FRESH LOAD</a:t>
            </a:r>
          </a:p>
        </p:txBody>
      </p:sp>
      <p:sp>
        <p:nvSpPr>
          <p:cNvPr id="7" name="Rounded Rectangle 6"/>
          <p:cNvSpPr/>
          <p:nvPr/>
        </p:nvSpPr>
        <p:spPr>
          <a:xfrm>
            <a:off x="457200" y="1737360"/>
            <a:ext cx="1664208" cy="658368"/>
          </a:xfrm>
          <a:prstGeom prst="roundRect">
            <a:avLst>
              <a:gd name="adj" fmla="val 1400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customers</a:t>
            </a:r>
          </a:p>
          <a:p>
            <a:pPr algn="ctr"/>
            <a:r>
              <a:rPr sz="1200" b="0" i="0">
                <a:solidFill>
                  <a:srgbClr val="FFFFFF"/>
                </a:solidFill>
                <a:latin typeface="Nirmala UI"/>
              </a:rPr>
              <a:t>6 documents</a:t>
            </a:r>
          </a:p>
        </p:txBody>
      </p:sp>
      <p:sp>
        <p:nvSpPr>
          <p:cNvPr id="8" name="Rounded Rectangle 7"/>
          <p:cNvSpPr/>
          <p:nvPr/>
        </p:nvSpPr>
        <p:spPr>
          <a:xfrm>
            <a:off x="2249424" y="1737360"/>
            <a:ext cx="1664208" cy="658368"/>
          </a:xfrm>
          <a:prstGeom prst="roundRect">
            <a:avLst>
              <a:gd name="adj" fmla="val 14000"/>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products</a:t>
            </a:r>
          </a:p>
          <a:p>
            <a:pPr algn="ctr"/>
            <a:r>
              <a:rPr sz="1200" b="0" i="0">
                <a:solidFill>
                  <a:srgbClr val="FFFFFF"/>
                </a:solidFill>
                <a:latin typeface="Nirmala UI"/>
              </a:rPr>
              <a:t>13 documents</a:t>
            </a:r>
          </a:p>
        </p:txBody>
      </p:sp>
      <p:sp>
        <p:nvSpPr>
          <p:cNvPr id="9" name="Rounded Rectangle 8"/>
          <p:cNvSpPr/>
          <p:nvPr/>
        </p:nvSpPr>
        <p:spPr>
          <a:xfrm>
            <a:off x="4041648" y="1737360"/>
            <a:ext cx="1664208" cy="65836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orders</a:t>
            </a:r>
          </a:p>
          <a:p>
            <a:pPr algn="ctr"/>
            <a:r>
              <a:rPr sz="1200" b="0" i="0">
                <a:solidFill>
                  <a:srgbClr val="FFFFFF"/>
                </a:solidFill>
                <a:latin typeface="Nirmala UI"/>
              </a:rPr>
              <a:t>17 documents</a:t>
            </a:r>
          </a:p>
        </p:txBody>
      </p:sp>
      <p:sp>
        <p:nvSpPr>
          <p:cNvPr id="10" name="Rounded Rectangle 9"/>
          <p:cNvSpPr/>
          <p:nvPr/>
        </p:nvSpPr>
        <p:spPr>
          <a:xfrm>
            <a:off x="5833872" y="1737360"/>
            <a:ext cx="1664208" cy="658368"/>
          </a:xfrm>
          <a:prstGeom prst="roundRect">
            <a:avLst>
              <a:gd name="adj" fmla="val 14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500" b="1" i="0">
                <a:solidFill>
                  <a:srgbClr val="FFFFFF"/>
                </a:solidFill>
                <a:latin typeface="Nirmala UI"/>
              </a:rPr>
              <a:t>reviews</a:t>
            </a:r>
          </a:p>
          <a:p>
            <a:pPr algn="ctr"/>
            <a:r>
              <a:rPr sz="1200" b="0" i="0">
                <a:solidFill>
                  <a:srgbClr val="FFFFFF"/>
                </a:solidFill>
                <a:latin typeface="Nirmala UI"/>
              </a:rPr>
              <a:t>6 documents</a:t>
            </a:r>
          </a:p>
        </p:txBody>
      </p:sp>
      <p:sp>
        <p:nvSpPr>
          <p:cNvPr id="11" name="Oval 10"/>
          <p:cNvSpPr/>
          <p:nvPr/>
        </p:nvSpPr>
        <p:spPr>
          <a:xfrm>
            <a:off x="457200" y="2651760"/>
            <a:ext cx="310896" cy="310896"/>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2651760"/>
            <a:ext cx="310896" cy="310896"/>
          </a:xfrm>
          <a:prstGeom prst="rect">
            <a:avLst/>
          </a:prstGeom>
          <a:noFill/>
        </p:spPr>
        <p:txBody>
          <a:bodyPr wrap="square" anchor="ctr" lIns="0" rIns="0" tIns="0" bIns="0">
            <a:spAutoFit/>
          </a:bodyPr>
          <a:lstStyle/>
          <a:p>
            <a:pPr algn="ctr"/>
            <a:r>
              <a:rPr sz="1200" b="1" i="0">
                <a:solidFill>
                  <a:srgbClr val="FFFFFF"/>
                </a:solidFill>
              </a:rPr>
              <a:t>🔑</a:t>
            </a:r>
          </a:p>
        </p:txBody>
      </p:sp>
      <p:sp>
        <p:nvSpPr>
          <p:cNvPr id="13" name="TextBox 12"/>
          <p:cNvSpPr txBox="1"/>
          <p:nvPr/>
        </p:nvSpPr>
        <p:spPr>
          <a:xfrm>
            <a:off x="841248" y="2642616"/>
            <a:ext cx="6656832" cy="347472"/>
          </a:xfrm>
          <a:prstGeom prst="rect">
            <a:avLst/>
          </a:prstGeom>
          <a:noFill/>
        </p:spPr>
        <p:txBody>
          <a:bodyPr wrap="square" anchor="ctr" lIns="0" rIns="0" tIns="0" bIns="0">
            <a:spAutoFit/>
          </a:bodyPr>
          <a:lstStyle/>
          <a:p>
            <a:pPr algn="l"/>
            <a:r>
              <a:rPr sz="1400" b="1" i="0">
                <a:solidFill>
                  <a:srgbClr val="D1282E"/>
                </a:solidFill>
                <a:latin typeface="Nirmala UI"/>
              </a:rPr>
              <a:t>FIELD NAMES TO QUERY — EXACTLY AS STORED</a:t>
            </a:r>
          </a:p>
        </p:txBody>
      </p:sp>
      <p:sp>
        <p:nvSpPr>
          <p:cNvPr id="14" name="Rounded Rectangle 13"/>
          <p:cNvSpPr/>
          <p:nvPr/>
        </p:nvSpPr>
        <p:spPr>
          <a:xfrm>
            <a:off x="457200" y="3090672"/>
            <a:ext cx="7040880" cy="148132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products   sku, name, category, price, tags, attributes, active</a:t>
            </a:r>
          </a:p>
          <a:p>
            <a:pPr algn="l"/>
            <a:r>
              <a:rPr sz="1200" b="0" i="0">
                <a:solidFill>
                  <a:srgbClr val="000000"/>
                </a:solidFill>
                <a:latin typeface="Consolas"/>
              </a:rPr>
              <a:t>customers  customerNumber, name.first, contact.email, addresses</a:t>
            </a:r>
          </a:p>
          <a:p>
            <a:pPr algn="l"/>
            <a:r>
              <a:rPr sz="1200" b="0" i="0">
                <a:solidFill>
                  <a:srgbClr val="000000"/>
                </a:solidFill>
                <a:latin typeface="Consolas"/>
              </a:rPr>
              <a:t>orders     orderNumber, customerId, items, paymentStatus,</a:t>
            </a:r>
          </a:p>
          <a:p>
            <a:pPr algn="l"/>
            <a:r>
              <a:rPr sz="1200" b="0" i="0">
                <a:solidFill>
                  <a:srgbClr val="000000"/>
                </a:solidFill>
                <a:latin typeface="Consolas"/>
              </a:rPr>
              <a:t>           fulfillmentStatus, total, createdAt</a:t>
            </a:r>
          </a:p>
          <a:p>
            <a:pPr algn="l"/>
            <a:r>
              <a:rPr sz="1200" b="0" i="0">
                <a:solidFill>
                  <a:srgbClr val="000000"/>
                </a:solidFill>
                <a:latin typeface="Consolas"/>
              </a:rPr>
              <a:t>reviews    sku, productId, customerId, rating, title, body</a:t>
            </a:r>
          </a:p>
        </p:txBody>
      </p:sp>
      <p:sp>
        <p:nvSpPr>
          <p:cNvPr id="15" name="Rounded Rectangle 14"/>
          <p:cNvSpPr/>
          <p:nvPr/>
        </p:nvSpPr>
        <p:spPr>
          <a:xfrm>
            <a:off x="457200" y="4736592"/>
            <a:ext cx="7040880" cy="1097279"/>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640080" y="4736592"/>
            <a:ext cx="6675120" cy="1097279"/>
          </a:xfrm>
          <a:prstGeom prst="rect">
            <a:avLst/>
          </a:prstGeom>
          <a:noFill/>
        </p:spPr>
        <p:txBody>
          <a:bodyPr wrap="square" anchor="ctr" lIns="0" rIns="0" tIns="0" bIns="0">
            <a:spAutoFit/>
          </a:bodyPr>
          <a:lstStyle/>
          <a:p>
            <a:pPr algn="l"/>
            <a:r>
              <a:rPr sz="1400" b="1" i="0">
                <a:solidFill>
                  <a:srgbClr val="D1282E"/>
                </a:solidFill>
                <a:latin typeface="Nirmala UI"/>
              </a:rPr>
              <a:t>VALUES ARE UPPERCASE   </a:t>
            </a:r>
            <a:r>
              <a:rPr sz="1400" b="0" i="0">
                <a:solidFill>
                  <a:srgbClr val="000000"/>
                </a:solidFill>
                <a:latin typeface="Nirmala UI"/>
              </a:rPr>
              <a:t>category "LAPTOP", status "ACTIVE", paymentStatus "PAID" — and there is no order field called status.</a:t>
            </a:r>
          </a:p>
        </p:txBody>
      </p:sp>
      <p:sp>
        <p:nvSpPr>
          <p:cNvPr id="17" name="TextBox 16"/>
          <p:cNvSpPr txBox="1"/>
          <p:nvPr/>
        </p:nvSpPr>
        <p:spPr>
          <a:xfrm>
            <a:off x="7863840" y="1298448"/>
            <a:ext cx="3840480" cy="310896"/>
          </a:xfrm>
          <a:prstGeom prst="rect">
            <a:avLst/>
          </a:prstGeom>
          <a:noFill/>
        </p:spPr>
        <p:txBody>
          <a:bodyPr wrap="square" anchor="t" lIns="0" rIns="0" tIns="0" bIns="0">
            <a:spAutoFit/>
          </a:bodyPr>
          <a:lstStyle/>
          <a:p>
            <a:pPr algn="l"/>
            <a:r>
              <a:rPr sz="1300" b="1" i="0">
                <a:solidFill>
                  <a:srgbClr val="D1282E"/>
                </a:solidFill>
                <a:latin typeface="Nirmala UI"/>
              </a:rPr>
              <a:t>PLANTED ON PURPOSE</a:t>
            </a:r>
          </a:p>
        </p:txBody>
      </p:sp>
      <p:sp>
        <p:nvSpPr>
          <p:cNvPr id="18" name="Oval 17"/>
          <p:cNvSpPr/>
          <p:nvPr/>
        </p:nvSpPr>
        <p:spPr>
          <a:xfrm>
            <a:off x="7863840" y="1673352"/>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19" name="TextBox 18"/>
          <p:cNvSpPr txBox="1"/>
          <p:nvPr/>
        </p:nvSpPr>
        <p:spPr>
          <a:xfrm>
            <a:off x="8229600" y="1645920"/>
            <a:ext cx="3474720" cy="310896"/>
          </a:xfrm>
          <a:prstGeom prst="rect">
            <a:avLst/>
          </a:prstGeom>
          <a:noFill/>
        </p:spPr>
        <p:txBody>
          <a:bodyPr wrap="square" anchor="ctr" lIns="0" rIns="0" tIns="0" bIns="0">
            <a:spAutoFit/>
          </a:bodyPr>
          <a:lstStyle/>
          <a:p>
            <a:pPr algn="l"/>
            <a:r>
              <a:rPr sz="1300" b="0" i="0">
                <a:solidFill>
                  <a:srgbClr val="000000"/>
                </a:solidFill>
                <a:latin typeface="Nirmala UI"/>
              </a:rPr>
              <a:t>XBAD: price is the string "49.99"</a:t>
            </a:r>
          </a:p>
        </p:txBody>
      </p:sp>
      <p:sp>
        <p:nvSpPr>
          <p:cNvPr id="20" name="Oval 19"/>
          <p:cNvSpPr/>
          <p:nvPr/>
        </p:nvSpPr>
        <p:spPr>
          <a:xfrm>
            <a:off x="7863840" y="1984248"/>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1" name="TextBox 20"/>
          <p:cNvSpPr txBox="1"/>
          <p:nvPr/>
        </p:nvSpPr>
        <p:spPr>
          <a:xfrm>
            <a:off x="8229600" y="1956816"/>
            <a:ext cx="3474720" cy="310896"/>
          </a:xfrm>
          <a:prstGeom prst="rect">
            <a:avLst/>
          </a:prstGeom>
          <a:noFill/>
        </p:spPr>
        <p:txBody>
          <a:bodyPr wrap="square" anchor="ctr" lIns="0" rIns="0" tIns="0" bIns="0">
            <a:spAutoFit/>
          </a:bodyPr>
          <a:lstStyle/>
          <a:p>
            <a:pPr algn="l"/>
            <a:r>
              <a:rPr sz="1300" b="0" i="0">
                <a:solidFill>
                  <a:srgbClr val="000000"/>
                </a:solidFill>
                <a:latin typeface="Nirmala UI"/>
              </a:rPr>
              <a:t>C204: phone is null; C515 has none</a:t>
            </a:r>
          </a:p>
        </p:txBody>
      </p:sp>
      <p:sp>
        <p:nvSpPr>
          <p:cNvPr id="22" name="Oval 21"/>
          <p:cNvSpPr/>
          <p:nvPr/>
        </p:nvSpPr>
        <p:spPr>
          <a:xfrm>
            <a:off x="7863840" y="2295144"/>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3" name="TextBox 22"/>
          <p:cNvSpPr txBox="1"/>
          <p:nvPr/>
        </p:nvSpPr>
        <p:spPr>
          <a:xfrm>
            <a:off x="8229600" y="2267712"/>
            <a:ext cx="3474720" cy="310896"/>
          </a:xfrm>
          <a:prstGeom prst="rect">
            <a:avLst/>
          </a:prstGeom>
          <a:noFill/>
        </p:spPr>
        <p:txBody>
          <a:bodyPr wrap="square" anchor="ctr" lIns="0" rIns="0" tIns="0" bIns="0">
            <a:spAutoFit/>
          </a:bodyPr>
          <a:lstStyle/>
          <a:p>
            <a:pPr algn="l"/>
            <a:r>
              <a:rPr sz="1300" b="0" i="0">
                <a:solidFill>
                  <a:srgbClr val="000000"/>
                </a:solidFill>
                <a:latin typeface="Nirmala UI"/>
              </a:rPr>
              <a:t>L190: inactive, tagged discontinued</a:t>
            </a:r>
          </a:p>
        </p:txBody>
      </p:sp>
      <p:sp>
        <p:nvSpPr>
          <p:cNvPr id="24" name="Oval 23"/>
          <p:cNvSpPr/>
          <p:nvPr/>
        </p:nvSpPr>
        <p:spPr>
          <a:xfrm>
            <a:off x="7863840" y="2606039"/>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5" name="TextBox 24"/>
          <p:cNvSpPr txBox="1"/>
          <p:nvPr/>
        </p:nvSpPr>
        <p:spPr>
          <a:xfrm>
            <a:off x="8229600" y="2578608"/>
            <a:ext cx="3474720" cy="310896"/>
          </a:xfrm>
          <a:prstGeom prst="rect">
            <a:avLst/>
          </a:prstGeom>
          <a:noFill/>
        </p:spPr>
        <p:txBody>
          <a:bodyPr wrap="square" anchor="ctr" lIns="0" rIns="0" tIns="0" bIns="0">
            <a:spAutoFit/>
          </a:bodyPr>
          <a:lstStyle/>
          <a:p>
            <a:pPr algn="l"/>
            <a:r>
              <a:rPr sz="1300" b="0" i="0">
                <a:solidFill>
                  <a:srgbClr val="000000"/>
                </a:solidFill>
                <a:latin typeface="Nirmala UI"/>
              </a:rPr>
              <a:t>O5001: L100 × 1 and A410 × 2</a:t>
            </a:r>
          </a:p>
        </p:txBody>
      </p:sp>
      <p:sp>
        <p:nvSpPr>
          <p:cNvPr id="26" name="Oval 25"/>
          <p:cNvSpPr/>
          <p:nvPr/>
        </p:nvSpPr>
        <p:spPr>
          <a:xfrm>
            <a:off x="7863840" y="2916935"/>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8229600" y="2889503"/>
            <a:ext cx="3474720" cy="310896"/>
          </a:xfrm>
          <a:prstGeom prst="rect">
            <a:avLst/>
          </a:prstGeom>
          <a:noFill/>
        </p:spPr>
        <p:txBody>
          <a:bodyPr wrap="square" anchor="ctr" lIns="0" rIns="0" tIns="0" bIns="0">
            <a:spAutoFit/>
          </a:bodyPr>
          <a:lstStyle/>
          <a:p>
            <a:pPr algn="l"/>
            <a:r>
              <a:rPr sz="1300" b="0" i="0">
                <a:solidFill>
                  <a:srgbClr val="000000"/>
                </a:solidFill>
                <a:latin typeface="Nirmala UI"/>
              </a:rPr>
              <a:t>No stock field on any product</a:t>
            </a:r>
          </a:p>
        </p:txBody>
      </p:sp>
      <p:sp>
        <p:nvSpPr>
          <p:cNvPr id="28" name="Rounded Rectangle 27"/>
          <p:cNvSpPr/>
          <p:nvPr/>
        </p:nvSpPr>
        <p:spPr>
          <a:xfrm>
            <a:off x="7863840" y="3328416"/>
            <a:ext cx="384048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8046719" y="3328416"/>
            <a:ext cx="3474720" cy="1075944"/>
          </a:xfrm>
          <a:prstGeom prst="rect">
            <a:avLst/>
          </a:prstGeom>
          <a:noFill/>
        </p:spPr>
        <p:txBody>
          <a:bodyPr wrap="square" anchor="ctr" lIns="0" rIns="0" tIns="0" bIns="0">
            <a:spAutoFit/>
          </a:bodyPr>
          <a:lstStyle/>
          <a:p>
            <a:pPr algn="l"/>
            <a:r>
              <a:rPr sz="1200" b="1" i="0">
                <a:solidFill>
                  <a:srgbClr val="D1282E"/>
                </a:solidFill>
                <a:latin typeface="Nirmala UI"/>
              </a:rPr>
              <a:t>RELOAD   </a:t>
            </a:r>
            <a:r>
              <a:rPr sz="1200" b="0" i="0">
                <a:solidFill>
                  <a:srgbClr val="000000"/>
                </a:solidFill>
                <a:latin typeface="Nirmala UI"/>
              </a:rPr>
              <a:t>Run load.js again before each lab so counts start fresh.</a:t>
            </a:r>
          </a:p>
        </p:txBody>
      </p:sp>
      <p:sp>
        <p:nvSpPr>
          <p:cNvPr id="30" name="Rounded Rectangle 2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Look at the real field names, values and types before writing a filter — MongoDB matches exactly what is stored.</a:t>
            </a:r>
          </a:p>
        </p:txBody>
      </p:sp>
      <p:sp>
        <p:nvSpPr>
          <p:cNvPr id="32" name="Rectangle 3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1: READING DOCUMENTS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find(), findOne() and the shape of a read query.</a:t>
            </a:r>
          </a:p>
        </p:txBody>
      </p:sp>
      <p:sp>
        <p:nvSpPr>
          <p:cNvPr id="4" name="Pentagon 3"/>
          <p:cNvSpPr/>
          <p:nvPr/>
        </p:nvSpPr>
        <p:spPr>
          <a:xfrm>
            <a:off x="457200" y="1298448"/>
            <a:ext cx="2391338" cy="713232"/>
          </a:xfrm>
          <a:prstGeom prst="homePlate">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Part 1</a:t>
            </a:r>
          </a:p>
          <a:p>
            <a:pPr algn="ctr"/>
            <a:r>
              <a:rPr sz="1300" b="1" i="0">
                <a:solidFill>
                  <a:srgbClr val="FFFFFF"/>
                </a:solidFill>
                <a:latin typeface="Nirmala UI"/>
              </a:rPr>
              <a:t>Read documents</a:t>
            </a:r>
          </a:p>
        </p:txBody>
      </p:sp>
      <p:sp>
        <p:nvSpPr>
          <p:cNvPr id="6" name="Chevron 5"/>
          <p:cNvSpPr/>
          <p:nvPr/>
        </p:nvSpPr>
        <p:spPr>
          <a:xfrm>
            <a:off x="267114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Query operators</a:t>
            </a:r>
          </a:p>
        </p:txBody>
      </p:sp>
      <p:sp>
        <p:nvSpPr>
          <p:cNvPr id="8" name="Chevron 7"/>
          <p:cNvSpPr/>
          <p:nvPr/>
        </p:nvSpPr>
        <p:spPr>
          <a:xfrm>
            <a:off x="4885090"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Nested and arrays</a:t>
            </a:r>
          </a:p>
        </p:txBody>
      </p:sp>
      <p:sp>
        <p:nvSpPr>
          <p:cNvPr id="10" name="Chevron 9"/>
          <p:cNvSpPr/>
          <p:nvPr/>
        </p:nvSpPr>
        <p:spPr>
          <a:xfrm>
            <a:off x="709903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Insert and update</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Delete and verify</a:t>
            </a:r>
          </a:p>
        </p:txBody>
      </p:sp>
      <p:sp>
        <p:nvSpPr>
          <p:cNvPr id="14" name="Rounded Rectangle 13"/>
          <p:cNvSpPr/>
          <p:nvPr/>
        </p:nvSpPr>
        <p:spPr>
          <a:xfrm>
            <a:off x="457200" y="2304288"/>
            <a:ext cx="4937760" cy="21031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You know the module goals and key terms</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You know the fields and planted traps</a:t>
            </a:r>
          </a:p>
        </p:txBody>
      </p:sp>
      <p:sp>
        <p:nvSpPr>
          <p:cNvPr id="21" name="Rounded Rectangle 20"/>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2" name="TextBox 21"/>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3" name="TextBox 22"/>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ask for exactly the documents — and fields — we need?</a:t>
            </a:r>
          </a:p>
        </p:txBody>
      </p:sp>
      <p:sp>
        <p:nvSpPr>
          <p:cNvPr id="24" name="TextBox 23"/>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5" name="Oval 24"/>
          <p:cNvSpPr/>
          <p:nvPr/>
        </p:nvSpPr>
        <p:spPr>
          <a:xfrm>
            <a:off x="5760720" y="399626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6" name="TextBox 25"/>
          <p:cNvSpPr txBox="1"/>
          <p:nvPr/>
        </p:nvSpPr>
        <p:spPr>
          <a:xfrm>
            <a:off x="6144768" y="3933952"/>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Query filters</a:t>
            </a:r>
          </a:p>
        </p:txBody>
      </p:sp>
      <p:sp>
        <p:nvSpPr>
          <p:cNvPr id="27" name="Oval 26"/>
          <p:cNvSpPr/>
          <p:nvPr/>
        </p:nvSpPr>
        <p:spPr>
          <a:xfrm>
            <a:off x="5760720" y="439521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28" name="TextBox 27"/>
          <p:cNvSpPr txBox="1"/>
          <p:nvPr/>
        </p:nvSpPr>
        <p:spPr>
          <a:xfrm>
            <a:off x="6144768" y="4332901"/>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findOne() versus find()</a:t>
            </a:r>
          </a:p>
        </p:txBody>
      </p:sp>
      <p:sp>
        <p:nvSpPr>
          <p:cNvPr id="29" name="Oval 28"/>
          <p:cNvSpPr/>
          <p:nvPr/>
        </p:nvSpPr>
        <p:spPr>
          <a:xfrm>
            <a:off x="5760720" y="4794165"/>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0" name="TextBox 29"/>
          <p:cNvSpPr txBox="1"/>
          <p:nvPr/>
        </p:nvSpPr>
        <p:spPr>
          <a:xfrm>
            <a:off x="6144768" y="473185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Filter, projection, sort, limit</a:t>
            </a:r>
          </a:p>
        </p:txBody>
      </p:sp>
      <p:sp>
        <p:nvSpPr>
          <p:cNvPr id="31" name="Oval 30"/>
          <p:cNvSpPr/>
          <p:nvPr/>
        </p:nvSpPr>
        <p:spPr>
          <a:xfrm>
            <a:off x="5760720" y="519311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2" name="TextBox 31"/>
          <p:cNvSpPr txBox="1"/>
          <p:nvPr/>
        </p:nvSpPr>
        <p:spPr>
          <a:xfrm>
            <a:off x="6144768" y="513080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Projection rules</a:t>
            </a:r>
          </a:p>
        </p:txBody>
      </p:sp>
      <p:sp>
        <p:nvSpPr>
          <p:cNvPr id="33" name="Oval 32"/>
          <p:cNvSpPr/>
          <p:nvPr/>
        </p:nvSpPr>
        <p:spPr>
          <a:xfrm>
            <a:off x="5760720" y="559206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4" name="TextBox 33"/>
          <p:cNvSpPr txBox="1"/>
          <p:nvPr/>
        </p:nvSpPr>
        <p:spPr>
          <a:xfrm>
            <a:off x="6144768" y="5529749"/>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Sort, skip and limit for pages</a:t>
            </a:r>
          </a:p>
        </p:txBody>
      </p:sp>
      <p:sp>
        <p:nvSpPr>
          <p:cNvPr id="35" name="Oval 34"/>
          <p:cNvSpPr/>
          <p:nvPr/>
        </p:nvSpPr>
        <p:spPr>
          <a:xfrm>
            <a:off x="5760720" y="599101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36" name="TextBox 35"/>
          <p:cNvSpPr txBox="1"/>
          <p:nvPr/>
        </p:nvSpPr>
        <p:spPr>
          <a:xfrm>
            <a:off x="6144768" y="5928698"/>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Counting and distinct values</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UNDERSTANDING QUERY FILTERS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The filter is a document; each document either matches or doesn't.</a:t>
            </a:r>
          </a:p>
        </p:txBody>
      </p:sp>
      <p:sp>
        <p:nvSpPr>
          <p:cNvPr id="4" name="Rounded Rectangle 3"/>
          <p:cNvSpPr/>
          <p:nvPr/>
        </p:nvSpPr>
        <p:spPr>
          <a:xfrm>
            <a:off x="475488" y="1497642"/>
            <a:ext cx="7415783" cy="4137035"/>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7" descr="image.jpg"/>
          <p:cNvPicPr>
            <a:picLocks noChangeAspect="1"/>
          </p:cNvPicPr>
          <p:nvPr/>
        </p:nvPicPr>
        <p:blipFill>
          <a:blip r:embed="rId2"/>
          <a:stretch>
            <a:fillRect/>
          </a:stretch>
        </p:blipFill>
        <p:spPr>
          <a:xfrm>
            <a:off x="548640" y="1570794"/>
            <a:ext cx="7269480" cy="3990731"/>
          </a:xfrm>
          <a:prstGeom prst="rect">
            <a:avLst/>
          </a:prstGeom>
        </p:spPr>
      </p:pic>
      <p:sp>
        <p:nvSpPr>
          <p:cNvPr id="6" name="Rounded Rectangle 5"/>
          <p:cNvSpPr/>
          <p:nvPr/>
        </p:nvSpPr>
        <p:spPr>
          <a:xfrm>
            <a:off x="8183880" y="1298448"/>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 document of conditions</a:t>
            </a:r>
          </a:p>
        </p:txBody>
      </p:sp>
      <p:sp>
        <p:nvSpPr>
          <p:cNvPr id="8" name="TextBox 7"/>
          <p:cNvSpPr txBox="1"/>
          <p:nvPr/>
        </p:nvSpPr>
        <p:spPr>
          <a:xfrm>
            <a:off x="8321040" y="1664208"/>
            <a:ext cx="3246120" cy="854201"/>
          </a:xfrm>
          <a:prstGeom prst="rect">
            <a:avLst/>
          </a:prstGeom>
          <a:noFill/>
        </p:spPr>
        <p:txBody>
          <a:bodyPr wrap="square" anchor="t" lIns="0" rIns="0" tIns="0" bIns="0">
            <a:spAutoFit/>
          </a:bodyPr>
          <a:lstStyle/>
          <a:p>
            <a:pPr algn="l"/>
            <a:r>
              <a:rPr sz="1200" b="0" i="0">
                <a:solidFill>
                  <a:srgbClr val="000000"/>
                </a:solidFill>
                <a:latin typeface="Nirmala UI"/>
              </a:rPr>
              <a:t>{ field: value } pairs — every pair must be true.</a:t>
            </a:r>
          </a:p>
        </p:txBody>
      </p:sp>
      <p:sp>
        <p:nvSpPr>
          <p:cNvPr id="9" name="Rounded Rectangle 8"/>
          <p:cNvSpPr/>
          <p:nvPr/>
        </p:nvSpPr>
        <p:spPr>
          <a:xfrm>
            <a:off x="8183880" y="2701290"/>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7561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Exact and case-sensitive</a:t>
            </a:r>
          </a:p>
        </p:txBody>
      </p:sp>
      <p:sp>
        <p:nvSpPr>
          <p:cNvPr id="11" name="TextBox 10"/>
          <p:cNvSpPr txBox="1"/>
          <p:nvPr/>
        </p:nvSpPr>
        <p:spPr>
          <a:xfrm>
            <a:off x="8321040" y="3067050"/>
            <a:ext cx="3246120" cy="854201"/>
          </a:xfrm>
          <a:prstGeom prst="rect">
            <a:avLst/>
          </a:prstGeom>
          <a:noFill/>
        </p:spPr>
        <p:txBody>
          <a:bodyPr wrap="square" anchor="t" lIns="0" rIns="0" tIns="0" bIns="0">
            <a:spAutoFit/>
          </a:bodyPr>
          <a:lstStyle/>
          <a:p>
            <a:pPr algn="l"/>
            <a:r>
              <a:rPr sz="1200" b="0" i="0">
                <a:solidFill>
                  <a:srgbClr val="000000"/>
                </a:solidFill>
                <a:latin typeface="Nirmala UI"/>
              </a:rPr>
              <a:t>"LAPTOP" matches 3 products; "Laptop" matches none.</a:t>
            </a:r>
          </a:p>
        </p:txBody>
      </p:sp>
      <p:sp>
        <p:nvSpPr>
          <p:cNvPr id="12" name="TextBox 11"/>
          <p:cNvSpPr txBox="1"/>
          <p:nvPr/>
        </p:nvSpPr>
        <p:spPr>
          <a:xfrm>
            <a:off x="8183880" y="4104132"/>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On training_store</a:t>
            </a:r>
          </a:p>
        </p:txBody>
      </p:sp>
      <p:sp>
        <p:nvSpPr>
          <p:cNvPr id="13" name="Rounded Rectangle 12"/>
          <p:cNvSpPr/>
          <p:nvPr/>
        </p:nvSpPr>
        <p:spPr>
          <a:xfrm>
            <a:off x="8183880" y="4433316"/>
            <a:ext cx="3520440" cy="140055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db.products.find({</a:t>
            </a:r>
          </a:p>
          <a:p>
            <a:pPr algn="l"/>
            <a:r>
              <a:rPr sz="1100" b="0" i="0">
                <a:solidFill>
                  <a:srgbClr val="000000"/>
                </a:solidFill>
                <a:latin typeface="Consolas"/>
              </a:rPr>
              <a:t>  category: "BOOK",</a:t>
            </a:r>
          </a:p>
          <a:p>
            <a:pPr algn="l"/>
            <a:r>
              <a:rPr sz="1100" b="0" i="0">
                <a:solidFill>
                  <a:srgbClr val="000000"/>
                </a:solidFill>
                <a:latin typeface="Consolas"/>
              </a:rPr>
              <a:t>  price: { $lt:</a:t>
            </a:r>
          </a:p>
          <a:p>
            <a:pPr algn="l"/>
            <a:r>
              <a:rPr sz="1100" b="0" i="0">
                <a:solidFill>
                  <a:srgbClr val="000000"/>
                </a:solidFill>
                <a:latin typeface="Consolas"/>
              </a:rPr>
              <a:t>    Decimal128("50.00") }</a:t>
            </a:r>
          </a:p>
          <a:p>
            <a:pPr algn="l"/>
            <a:r>
              <a:rPr sz="1100" b="0" i="0">
                <a:solidFill>
                  <a:srgbClr val="000000"/>
                </a:solidFill>
                <a:latin typeface="Consolas"/>
              </a:rPr>
              <a:t>})</a:t>
            </a:r>
          </a:p>
          <a:p>
            <a:pPr algn="l"/>
            <a:r>
              <a:rPr sz="1100" b="0" i="0">
                <a:solidFill>
                  <a:srgbClr val="000000"/>
                </a:solidFill>
                <a:latin typeface="Consolas"/>
              </a:rPr>
              <a:t>// Query Cookbook (39.99)</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 filter is a document of conditions — a document matches only when every condition is true.</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FINDONE() VS FIND()</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One document or null — or a cursor over every match.</a:t>
            </a:r>
          </a:p>
        </p:txBody>
      </p:sp>
      <p:sp>
        <p:nvSpPr>
          <p:cNvPr id="4" name="Rounded Rectangle 3"/>
          <p:cNvSpPr/>
          <p:nvPr/>
        </p:nvSpPr>
        <p:spPr>
          <a:xfrm>
            <a:off x="475488" y="1404918"/>
            <a:ext cx="7415783" cy="4322482"/>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08" descr="image.jpg"/>
          <p:cNvPicPr>
            <a:picLocks noChangeAspect="1"/>
          </p:cNvPicPr>
          <p:nvPr/>
        </p:nvPicPr>
        <p:blipFill>
          <a:blip r:embed="rId2"/>
          <a:stretch>
            <a:fillRect/>
          </a:stretch>
        </p:blipFill>
        <p:spPr>
          <a:xfrm>
            <a:off x="548640" y="1478070"/>
            <a:ext cx="7269480" cy="4176178"/>
          </a:xfrm>
          <a:prstGeom prst="rect">
            <a:avLst/>
          </a:prstGeom>
        </p:spPr>
      </p:pic>
      <p:sp>
        <p:nvSpPr>
          <p:cNvPr id="6" name="Rounded Rectangle 5"/>
          <p:cNvSpPr/>
          <p:nvPr/>
        </p:nvSpPr>
        <p:spPr>
          <a:xfrm>
            <a:off x="8183880" y="1298448"/>
            <a:ext cx="3520440" cy="106197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findOne()</a:t>
            </a:r>
          </a:p>
        </p:txBody>
      </p:sp>
      <p:sp>
        <p:nvSpPr>
          <p:cNvPr id="8" name="TextBox 7"/>
          <p:cNvSpPr txBox="1"/>
          <p:nvPr/>
        </p:nvSpPr>
        <p:spPr>
          <a:xfrm>
            <a:off x="8321040" y="1664208"/>
            <a:ext cx="3246120" cy="641350"/>
          </a:xfrm>
          <a:prstGeom prst="rect">
            <a:avLst/>
          </a:prstGeom>
          <a:noFill/>
        </p:spPr>
        <p:txBody>
          <a:bodyPr wrap="square" anchor="t" lIns="0" rIns="0" tIns="0" bIns="0">
            <a:spAutoFit/>
          </a:bodyPr>
          <a:lstStyle/>
          <a:p>
            <a:pPr algn="l"/>
            <a:r>
              <a:rPr sz="1200" b="0" i="0">
                <a:solidFill>
                  <a:srgbClr val="000000"/>
                </a:solidFill>
                <a:latin typeface="Nirmala UI"/>
              </a:rPr>
              <a:t>Returns one document, or null when nothing matches.</a:t>
            </a:r>
          </a:p>
        </p:txBody>
      </p:sp>
      <p:sp>
        <p:nvSpPr>
          <p:cNvPr id="9" name="Rounded Rectangle 8"/>
          <p:cNvSpPr/>
          <p:nvPr/>
        </p:nvSpPr>
        <p:spPr>
          <a:xfrm>
            <a:off x="8183880" y="2488438"/>
            <a:ext cx="3520440" cy="106197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4330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find()</a:t>
            </a:r>
          </a:p>
        </p:txBody>
      </p:sp>
      <p:sp>
        <p:nvSpPr>
          <p:cNvPr id="11" name="TextBox 10"/>
          <p:cNvSpPr txBox="1"/>
          <p:nvPr/>
        </p:nvSpPr>
        <p:spPr>
          <a:xfrm>
            <a:off x="8321040" y="2854198"/>
            <a:ext cx="3246120" cy="641350"/>
          </a:xfrm>
          <a:prstGeom prst="rect">
            <a:avLst/>
          </a:prstGeom>
          <a:noFill/>
        </p:spPr>
        <p:txBody>
          <a:bodyPr wrap="square" anchor="t" lIns="0" rIns="0" tIns="0" bIns="0">
            <a:spAutoFit/>
          </a:bodyPr>
          <a:lstStyle/>
          <a:p>
            <a:pPr algn="l"/>
            <a:r>
              <a:rPr sz="1200" b="0" i="0">
                <a:solidFill>
                  <a:srgbClr val="000000"/>
                </a:solidFill>
                <a:latin typeface="Nirmala UI"/>
              </a:rPr>
              <a:t>Returns a cursor; mongosh prints 20 at a time — type it for more.</a:t>
            </a:r>
          </a:p>
        </p:txBody>
      </p:sp>
      <p:sp>
        <p:nvSpPr>
          <p:cNvPr id="12" name="TextBox 11"/>
          <p:cNvSpPr txBox="1"/>
          <p:nvPr/>
        </p:nvSpPr>
        <p:spPr>
          <a:xfrm>
            <a:off x="8183880" y="367842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By a unique field</a:t>
            </a:r>
          </a:p>
        </p:txBody>
      </p:sp>
      <p:sp>
        <p:nvSpPr>
          <p:cNvPr id="13" name="Rounded Rectangle 12"/>
          <p:cNvSpPr/>
          <p:nvPr/>
        </p:nvSpPr>
        <p:spPr>
          <a:xfrm>
            <a:off x="8183880" y="4007612"/>
            <a:ext cx="3520440" cy="85572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db.products.findOne(</a:t>
            </a:r>
          </a:p>
          <a:p>
            <a:pPr algn="l"/>
            <a:r>
              <a:rPr sz="1100" b="0" i="0">
                <a:solidFill>
                  <a:srgbClr val="000000"/>
                </a:solidFill>
                <a:latin typeface="Consolas"/>
              </a:rPr>
              <a:t>  { sku: "L100" })</a:t>
            </a:r>
          </a:p>
          <a:p>
            <a:pPr algn="l"/>
            <a:r>
              <a:rPr sz="1100" b="0" i="0">
                <a:solidFill>
                  <a:srgbClr val="000000"/>
                </a:solidFill>
                <a:latin typeface="Consolas"/>
              </a:rPr>
              <a:t>// Business Laptop</a:t>
            </a:r>
          </a:p>
        </p:txBody>
      </p:sp>
      <p:sp>
        <p:nvSpPr>
          <p:cNvPr id="14" name="Rounded Rectangle 13"/>
          <p:cNvSpPr/>
          <p:nvPr/>
        </p:nvSpPr>
        <p:spPr>
          <a:xfrm>
            <a:off x="8183880" y="4991354"/>
            <a:ext cx="3520440" cy="842517"/>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4991354"/>
            <a:ext cx="3154680" cy="842517"/>
          </a:xfrm>
          <a:prstGeom prst="rect">
            <a:avLst/>
          </a:prstGeom>
          <a:noFill/>
        </p:spPr>
        <p:txBody>
          <a:bodyPr wrap="square" anchor="ctr" lIns="0" rIns="0" tIns="0" bIns="0">
            <a:spAutoFit/>
          </a:bodyPr>
          <a:lstStyle/>
          <a:p>
            <a:pPr algn="l"/>
            <a:r>
              <a:rPr sz="1200" b="1" i="0">
                <a:solidFill>
                  <a:srgbClr val="D1282E"/>
                </a:solidFill>
                <a:latin typeface="Nirmala UI"/>
              </a:rPr>
              <a:t>TIP   </a:t>
            </a:r>
            <a:r>
              <a:rPr sz="1200" b="0" i="0">
                <a:solidFill>
                  <a:srgbClr val="000000"/>
                </a:solidFill>
                <a:latin typeface="Nirmala UI"/>
              </a:rPr>
              <a:t>sku has a unique index, so one match is guaranteed.</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Use findOne() when you expect one document and find() when you expect a list.</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ANATOMY OF A READ QUERY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Filter, projection, sort and limit — the four questions of a read.</a:t>
            </a:r>
          </a:p>
        </p:txBody>
      </p:sp>
      <p:sp>
        <p:nvSpPr>
          <p:cNvPr id="4" name="Rounded Rectangle 3"/>
          <p:cNvSpPr/>
          <p:nvPr/>
        </p:nvSpPr>
        <p:spPr>
          <a:xfrm>
            <a:off x="475488" y="1928384"/>
            <a:ext cx="7415783" cy="327555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8" descr="image.jpg"/>
          <p:cNvPicPr>
            <a:picLocks noChangeAspect="1"/>
          </p:cNvPicPr>
          <p:nvPr/>
        </p:nvPicPr>
        <p:blipFill>
          <a:blip r:embed="rId2"/>
          <a:stretch>
            <a:fillRect/>
          </a:stretch>
        </p:blipFill>
        <p:spPr>
          <a:xfrm>
            <a:off x="548640" y="2001536"/>
            <a:ext cx="7269480" cy="3129246"/>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The same shape on training_store</a:t>
            </a:r>
          </a:p>
        </p:txBody>
      </p:sp>
      <p:sp>
        <p:nvSpPr>
          <p:cNvPr id="7" name="Rounded Rectangle 6"/>
          <p:cNvSpPr/>
          <p:nvPr/>
        </p:nvSpPr>
        <p:spPr>
          <a:xfrm>
            <a:off x="8183880" y="1627632"/>
            <a:ext cx="3520440"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db.products.find(</a:t>
            </a:r>
          </a:p>
          <a:p>
            <a:pPr algn="l"/>
            <a:r>
              <a:rPr sz="1100" b="0" i="0">
                <a:solidFill>
                  <a:srgbClr val="000000"/>
                </a:solidFill>
                <a:latin typeface="Consolas"/>
              </a:rPr>
              <a:t>  { category: "BOOK" },</a:t>
            </a:r>
          </a:p>
          <a:p>
            <a:pPr algn="l"/>
            <a:r>
              <a:rPr sz="1100" b="0" i="0">
                <a:solidFill>
                  <a:srgbClr val="000000"/>
                </a:solidFill>
                <a:latin typeface="Consolas"/>
              </a:rPr>
              <a:t>  { _id: 0, name: 1,</a:t>
            </a:r>
          </a:p>
          <a:p>
            <a:pPr algn="l"/>
            <a:r>
              <a:rPr sz="1100" b="0" i="0">
                <a:solidFill>
                  <a:srgbClr val="000000"/>
                </a:solidFill>
                <a:latin typeface="Consolas"/>
              </a:rPr>
              <a:t>    price: 1 }</a:t>
            </a:r>
          </a:p>
          <a:p>
            <a:pPr algn="l"/>
            <a:r>
              <a:rPr sz="1100" b="0" i="0">
                <a:solidFill>
                  <a:srgbClr val="000000"/>
                </a:solidFill>
                <a:latin typeface="Consolas"/>
              </a:rPr>
              <a:t>).sort({ price: 1 })</a:t>
            </a:r>
          </a:p>
          <a:p>
            <a:pPr algn="l"/>
            <a:r>
              <a:rPr sz="1100" b="0" i="0">
                <a:solidFill>
                  <a:srgbClr val="000000"/>
                </a:solidFill>
                <a:latin typeface="Consolas"/>
              </a:rPr>
              <a:t> .limit(10)</a:t>
            </a:r>
          </a:p>
        </p:txBody>
      </p:sp>
      <p:sp>
        <p:nvSpPr>
          <p:cNvPr id="8" name="Rounded Rectangle 7"/>
          <p:cNvSpPr/>
          <p:nvPr/>
        </p:nvSpPr>
        <p:spPr>
          <a:xfrm>
            <a:off x="8183880" y="3156204"/>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21106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521964"/>
            <a:ext cx="3246120" cy="854201"/>
          </a:xfrm>
          <a:prstGeom prst="rect">
            <a:avLst/>
          </a:prstGeom>
          <a:noFill/>
        </p:spPr>
        <p:txBody>
          <a:bodyPr wrap="square" anchor="t" lIns="0" rIns="0" tIns="0" bIns="0">
            <a:spAutoFit/>
          </a:bodyPr>
          <a:lstStyle/>
          <a:p>
            <a:pPr algn="l"/>
            <a:r>
              <a:rPr sz="1200" b="0" i="0">
                <a:solidFill>
                  <a:srgbClr val="000000"/>
                </a:solidFill>
                <a:latin typeface="Nirmala UI"/>
              </a:rPr>
              <a:t>Query Cookbook 39.99, then MongoDB Fundamentals 59.99.</a:t>
            </a:r>
          </a:p>
        </p:txBody>
      </p:sp>
      <p:sp>
        <p:nvSpPr>
          <p:cNvPr id="11" name="Rounded Rectangle 10"/>
          <p:cNvSpPr/>
          <p:nvPr/>
        </p:nvSpPr>
        <p:spPr>
          <a:xfrm>
            <a:off x="8183880" y="4559046"/>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61391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Order of thought</a:t>
            </a:r>
          </a:p>
        </p:txBody>
      </p:sp>
      <p:sp>
        <p:nvSpPr>
          <p:cNvPr id="13" name="TextBox 12"/>
          <p:cNvSpPr txBox="1"/>
          <p:nvPr/>
        </p:nvSpPr>
        <p:spPr>
          <a:xfrm>
            <a:off x="8321040" y="4924806"/>
            <a:ext cx="3246120" cy="854201"/>
          </a:xfrm>
          <a:prstGeom prst="rect">
            <a:avLst/>
          </a:prstGeom>
          <a:noFill/>
        </p:spPr>
        <p:txBody>
          <a:bodyPr wrap="square" anchor="t" lIns="0" rIns="0" tIns="0" bIns="0">
            <a:spAutoFit/>
          </a:bodyPr>
          <a:lstStyle/>
          <a:p>
            <a:pPr algn="l"/>
            <a:r>
              <a:rPr sz="1200" b="0" i="0">
                <a:solidFill>
                  <a:srgbClr val="000000"/>
                </a:solidFill>
                <a:latin typeface="Nirmala UI"/>
              </a:rPr>
              <a:t>Which documents, which fields, which order, how many?</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Build a read in four steps: filter the documents, project the fields, sort them, limit the count.</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PROJECTION FUNDAMENTALS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The second argument of find() chooses the fields that come back.</a:t>
            </a:r>
          </a:p>
        </p:txBody>
      </p:sp>
      <p:sp>
        <p:nvSpPr>
          <p:cNvPr id="4" name="Rounded Rectangle 3"/>
          <p:cNvSpPr/>
          <p:nvPr/>
        </p:nvSpPr>
        <p:spPr>
          <a:xfrm>
            <a:off x="475488" y="2119111"/>
            <a:ext cx="7415783" cy="289409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3" descr="image.jpg"/>
          <p:cNvPicPr>
            <a:picLocks noChangeAspect="1"/>
          </p:cNvPicPr>
          <p:nvPr/>
        </p:nvPicPr>
        <p:blipFill>
          <a:blip r:embed="rId2"/>
          <a:stretch>
            <a:fillRect/>
          </a:stretch>
        </p:blipFill>
        <p:spPr>
          <a:xfrm>
            <a:off x="548640" y="2192263"/>
            <a:ext cx="7269480" cy="2747793"/>
          </a:xfrm>
          <a:prstGeom prst="rect">
            <a:avLst/>
          </a:prstGeom>
        </p:spPr>
      </p:pic>
      <p:sp>
        <p:nvSpPr>
          <p:cNvPr id="6" name="Rounded Rectangle 5"/>
          <p:cNvSpPr/>
          <p:nvPr/>
        </p:nvSpPr>
        <p:spPr>
          <a:xfrm>
            <a:off x="8183880" y="1298448"/>
            <a:ext cx="3520440" cy="92828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Include</a:t>
            </a:r>
          </a:p>
        </p:txBody>
      </p:sp>
      <p:sp>
        <p:nvSpPr>
          <p:cNvPr id="8" name="TextBox 7"/>
          <p:cNvSpPr txBox="1"/>
          <p:nvPr/>
        </p:nvSpPr>
        <p:spPr>
          <a:xfrm>
            <a:off x="8321040" y="1664208"/>
            <a:ext cx="3246120" cy="507661"/>
          </a:xfrm>
          <a:prstGeom prst="rect">
            <a:avLst/>
          </a:prstGeom>
          <a:noFill/>
        </p:spPr>
        <p:txBody>
          <a:bodyPr wrap="square" anchor="t" lIns="0" rIns="0" tIns="0" bIns="0">
            <a:spAutoFit/>
          </a:bodyPr>
          <a:lstStyle/>
          <a:p>
            <a:pPr algn="l"/>
            <a:r>
              <a:rPr sz="1200" b="0" i="0">
                <a:solidFill>
                  <a:srgbClr val="000000"/>
                </a:solidFill>
                <a:latin typeface="Nirmala UI"/>
              </a:rPr>
              <a:t>{ name: 1, price: 1 } — _id comes too unless you add _id: 0.</a:t>
            </a:r>
          </a:p>
        </p:txBody>
      </p:sp>
      <p:sp>
        <p:nvSpPr>
          <p:cNvPr id="9" name="Rounded Rectangle 8"/>
          <p:cNvSpPr/>
          <p:nvPr/>
        </p:nvSpPr>
        <p:spPr>
          <a:xfrm>
            <a:off x="8183880" y="2354749"/>
            <a:ext cx="3520440" cy="92828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09613"/>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Exclude</a:t>
            </a:r>
          </a:p>
        </p:txBody>
      </p:sp>
      <p:sp>
        <p:nvSpPr>
          <p:cNvPr id="11" name="TextBox 10"/>
          <p:cNvSpPr txBox="1"/>
          <p:nvPr/>
        </p:nvSpPr>
        <p:spPr>
          <a:xfrm>
            <a:off x="8321040" y="2720509"/>
            <a:ext cx="3246120" cy="507661"/>
          </a:xfrm>
          <a:prstGeom prst="rect">
            <a:avLst/>
          </a:prstGeom>
          <a:noFill/>
        </p:spPr>
        <p:txBody>
          <a:bodyPr wrap="square" anchor="t" lIns="0" rIns="0" tIns="0" bIns="0">
            <a:spAutoFit/>
          </a:bodyPr>
          <a:lstStyle/>
          <a:p>
            <a:pPr algn="l"/>
            <a:r>
              <a:rPr sz="1200" b="0" i="0">
                <a:solidFill>
                  <a:srgbClr val="000000"/>
                </a:solidFill>
                <a:latin typeface="Nirmala UI"/>
              </a:rPr>
              <a:t>{ attributes: 0, tags: 0 } — every other field comes back.</a:t>
            </a:r>
          </a:p>
        </p:txBody>
      </p:sp>
      <p:sp>
        <p:nvSpPr>
          <p:cNvPr id="12" name="Rounded Rectangle 11"/>
          <p:cNvSpPr/>
          <p:nvPr/>
        </p:nvSpPr>
        <p:spPr>
          <a:xfrm>
            <a:off x="8183880" y="3411050"/>
            <a:ext cx="3520440" cy="92828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46591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Don't mix</a:t>
            </a:r>
          </a:p>
        </p:txBody>
      </p:sp>
      <p:sp>
        <p:nvSpPr>
          <p:cNvPr id="14" name="TextBox 13"/>
          <p:cNvSpPr txBox="1"/>
          <p:nvPr/>
        </p:nvSpPr>
        <p:spPr>
          <a:xfrm>
            <a:off x="8321040" y="3776810"/>
            <a:ext cx="3246120" cy="507661"/>
          </a:xfrm>
          <a:prstGeom prst="rect">
            <a:avLst/>
          </a:prstGeom>
          <a:noFill/>
        </p:spPr>
        <p:txBody>
          <a:bodyPr wrap="square" anchor="t" lIns="0" rIns="0" tIns="0" bIns="0">
            <a:spAutoFit/>
          </a:bodyPr>
          <a:lstStyle/>
          <a:p>
            <a:pPr algn="l"/>
            <a:r>
              <a:rPr sz="1200" b="0" i="0">
                <a:solidFill>
                  <a:srgbClr val="000000"/>
                </a:solidFill>
                <a:latin typeface="Nirmala UI"/>
              </a:rPr>
              <a:t>{ name: 1, tags: 0 } is an error; only _id may be mixed.</a:t>
            </a:r>
          </a:p>
        </p:txBody>
      </p:sp>
      <p:sp>
        <p:nvSpPr>
          <p:cNvPr id="15" name="TextBox 14"/>
          <p:cNvSpPr txBox="1"/>
          <p:nvPr/>
        </p:nvSpPr>
        <p:spPr>
          <a:xfrm>
            <a:off x="8183880" y="4467351"/>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Nested paths work too</a:t>
            </a:r>
          </a:p>
        </p:txBody>
      </p:sp>
      <p:sp>
        <p:nvSpPr>
          <p:cNvPr id="16" name="Rounded Rectangle 15"/>
          <p:cNvSpPr/>
          <p:nvPr/>
        </p:nvSpPr>
        <p:spPr>
          <a:xfrm>
            <a:off x="8183880" y="4796535"/>
            <a:ext cx="3520440" cy="103733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db.customers.find(</a:t>
            </a:r>
          </a:p>
          <a:p>
            <a:pPr algn="l"/>
            <a:r>
              <a:rPr sz="1100" b="0" i="0">
                <a:solidFill>
                  <a:srgbClr val="000000"/>
                </a:solidFill>
                <a:latin typeface="Consolas"/>
              </a:rPr>
              <a:t>  { customerNumber: "C101" },</a:t>
            </a:r>
          </a:p>
          <a:p>
            <a:pPr algn="l"/>
            <a:r>
              <a:rPr sz="1100" b="0" i="0">
                <a:solidFill>
                  <a:srgbClr val="000000"/>
                </a:solidFill>
                <a:latin typeface="Consolas"/>
              </a:rPr>
              <a:t>  { _id: 0, "name.first": 1 })</a:t>
            </a:r>
          </a:p>
          <a:p>
            <a:pPr algn="l"/>
            <a:r>
              <a:rPr sz="1100" b="0" i="0">
                <a:solidFill>
                  <a:srgbClr val="000000"/>
                </a:solidFill>
                <a:latin typeface="Consolas"/>
              </a:rPr>
              <a:t>// { name: { first: "Aisha" } }</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Return only the fields the caller needs — projection shapes the result, never the stored document.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SORTING, SKIPPING AND LIMITING</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sort() orders, skip() jumps, limit() caps — together they make a page.</a:t>
            </a:r>
          </a:p>
        </p:txBody>
      </p:sp>
      <p:sp>
        <p:nvSpPr>
          <p:cNvPr id="4" name="Rounded Rectangle 3"/>
          <p:cNvSpPr/>
          <p:nvPr/>
        </p:nvSpPr>
        <p:spPr>
          <a:xfrm>
            <a:off x="475488" y="1616943"/>
            <a:ext cx="7415783" cy="389843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6" descr="image.jpg"/>
          <p:cNvPicPr>
            <a:picLocks noChangeAspect="1"/>
          </p:cNvPicPr>
          <p:nvPr/>
        </p:nvPicPr>
        <p:blipFill>
          <a:blip r:embed="rId2"/>
          <a:stretch>
            <a:fillRect/>
          </a:stretch>
        </p:blipFill>
        <p:spPr>
          <a:xfrm>
            <a:off x="548640" y="1690095"/>
            <a:ext cx="7269480" cy="3752129"/>
          </a:xfrm>
          <a:prstGeom prst="rect">
            <a:avLst/>
          </a:prstGeom>
        </p:spPr>
      </p:pic>
      <p:sp>
        <p:nvSpPr>
          <p:cNvPr id="6" name="Rounded Rectangle 5"/>
          <p:cNvSpPr/>
          <p:nvPr/>
        </p:nvSpPr>
        <p:spPr>
          <a:xfrm>
            <a:off x="8183880" y="1298448"/>
            <a:ext cx="3520440" cy="106341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sort()</a:t>
            </a:r>
          </a:p>
        </p:txBody>
      </p:sp>
      <p:sp>
        <p:nvSpPr>
          <p:cNvPr id="8" name="TextBox 7"/>
          <p:cNvSpPr txBox="1"/>
          <p:nvPr/>
        </p:nvSpPr>
        <p:spPr>
          <a:xfrm>
            <a:off x="8321040" y="1664208"/>
            <a:ext cx="3246120" cy="642789"/>
          </a:xfrm>
          <a:prstGeom prst="rect">
            <a:avLst/>
          </a:prstGeom>
          <a:noFill/>
        </p:spPr>
        <p:txBody>
          <a:bodyPr wrap="square" anchor="t" lIns="0" rIns="0" tIns="0" bIns="0">
            <a:spAutoFit/>
          </a:bodyPr>
          <a:lstStyle/>
          <a:p>
            <a:pPr algn="l"/>
            <a:r>
              <a:rPr sz="1200" b="0" i="0">
                <a:solidFill>
                  <a:srgbClr val="000000"/>
                </a:solidFill>
                <a:latin typeface="Nirmala UI"/>
              </a:rPr>
              <a:t>1 ascending, -1 descending; add _id as a tie-breaker.</a:t>
            </a:r>
          </a:p>
        </p:txBody>
      </p:sp>
      <p:sp>
        <p:nvSpPr>
          <p:cNvPr id="9" name="Rounded Rectangle 8"/>
          <p:cNvSpPr/>
          <p:nvPr/>
        </p:nvSpPr>
        <p:spPr>
          <a:xfrm>
            <a:off x="8183880" y="2489877"/>
            <a:ext cx="3520440" cy="106341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44741"/>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skip() and limit()</a:t>
            </a:r>
          </a:p>
        </p:txBody>
      </p:sp>
      <p:sp>
        <p:nvSpPr>
          <p:cNvPr id="11" name="TextBox 10"/>
          <p:cNvSpPr txBox="1"/>
          <p:nvPr/>
        </p:nvSpPr>
        <p:spPr>
          <a:xfrm>
            <a:off x="8321040" y="2855637"/>
            <a:ext cx="3246120" cy="642789"/>
          </a:xfrm>
          <a:prstGeom prst="rect">
            <a:avLst/>
          </a:prstGeom>
          <a:noFill/>
        </p:spPr>
        <p:txBody>
          <a:bodyPr wrap="square" anchor="t" lIns="0" rIns="0" tIns="0" bIns="0">
            <a:spAutoFit/>
          </a:bodyPr>
          <a:lstStyle/>
          <a:p>
            <a:pPr algn="l"/>
            <a:r>
              <a:rPr sz="1200" b="0" i="0">
                <a:solidFill>
                  <a:srgbClr val="000000"/>
                </a:solidFill>
                <a:latin typeface="Nirmala UI"/>
              </a:rPr>
              <a:t>skip = (page − 1) × pageSize; limit = pageSize.</a:t>
            </a:r>
          </a:p>
        </p:txBody>
      </p:sp>
      <p:sp>
        <p:nvSpPr>
          <p:cNvPr id="12" name="TextBox 11"/>
          <p:cNvSpPr txBox="1"/>
          <p:nvPr/>
        </p:nvSpPr>
        <p:spPr>
          <a:xfrm>
            <a:off x="8183880" y="3681306"/>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Page 2 of active products</a:t>
            </a:r>
          </a:p>
        </p:txBody>
      </p:sp>
      <p:sp>
        <p:nvSpPr>
          <p:cNvPr id="13" name="Rounded Rectangle 12"/>
          <p:cNvSpPr/>
          <p:nvPr/>
        </p:nvSpPr>
        <p:spPr>
          <a:xfrm>
            <a:off x="8183880" y="4010490"/>
            <a:ext cx="3520440" cy="103733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a:t>
            </a:r>
          </a:p>
          <a:p>
            <a:pPr algn="l"/>
            <a:r>
              <a:rPr sz="1100" b="0" i="0">
                <a:solidFill>
                  <a:srgbClr val="000000"/>
                </a:solidFill>
                <a:latin typeface="Consolas"/>
              </a:rPr>
              <a:t>  .find({ active: true })</a:t>
            </a:r>
          </a:p>
          <a:p>
            <a:pPr algn="l"/>
            <a:r>
              <a:rPr sz="1100" b="0" i="0">
                <a:solidFill>
                  <a:srgbClr val="000000"/>
                </a:solidFill>
                <a:latin typeface="Consolas"/>
              </a:rPr>
              <a:t>  .sort({ price: 1, _id: 1 })</a:t>
            </a:r>
          </a:p>
          <a:p>
            <a:pPr algn="l"/>
            <a:r>
              <a:rPr sz="1100" b="0" i="0">
                <a:solidFill>
                  <a:srgbClr val="000000"/>
                </a:solidFill>
                <a:latin typeface="Consolas"/>
              </a:rPr>
              <a:t>  .skip(5).limit(5)</a:t>
            </a:r>
          </a:p>
        </p:txBody>
      </p:sp>
      <p:sp>
        <p:nvSpPr>
          <p:cNvPr id="14" name="Rounded Rectangle 13"/>
          <p:cNvSpPr/>
          <p:nvPr/>
        </p:nvSpPr>
        <p:spPr>
          <a:xfrm>
            <a:off x="8183880" y="5175842"/>
            <a:ext cx="3520440" cy="658029"/>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175842"/>
            <a:ext cx="3154680" cy="658029"/>
          </a:xfrm>
          <a:prstGeom prst="rect">
            <a:avLst/>
          </a:prstGeom>
          <a:noFill/>
        </p:spPr>
        <p:txBody>
          <a:bodyPr wrap="square" anchor="ctr" lIns="0" rIns="0" tIns="0" bIns="0">
            <a:spAutoFit/>
          </a:bodyPr>
          <a:lstStyle/>
          <a:p>
            <a:pPr algn="l"/>
            <a:r>
              <a:rPr sz="1200" b="1" i="0">
                <a:solidFill>
                  <a:srgbClr val="D1282E"/>
                </a:solidFill>
                <a:latin typeface="Nirmala UI"/>
              </a:rPr>
              <a:t>RESULT   </a:t>
            </a:r>
            <a:r>
              <a:rPr sz="1200" b="0" i="0">
                <a:solidFill>
                  <a:srgbClr val="000000"/>
                </a:solidFill>
                <a:latin typeface="Nirmala UI"/>
              </a:rPr>
              <a:t>B300, S210, S200, A500, L100.</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Always sort before you page — without a stable order, pages can repeat or skip documents.</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COUNTING AND DISTINCT VALUES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How many documents match — and which values a field holds.</a:t>
            </a:r>
          </a:p>
        </p:txBody>
      </p:sp>
      <p:sp>
        <p:nvSpPr>
          <p:cNvPr id="4" name="TextBox 3"/>
          <p:cNvSpPr txBox="1"/>
          <p:nvPr/>
        </p:nvSpPr>
        <p:spPr>
          <a:xfrm>
            <a:off x="45720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Count accurately</a:t>
            </a:r>
          </a:p>
        </p:txBody>
      </p:sp>
      <p:sp>
        <p:nvSpPr>
          <p:cNvPr id="5" name="Rounded Rectangle 4"/>
          <p:cNvSpPr/>
          <p:nvPr/>
        </p:nvSpPr>
        <p:spPr>
          <a:xfrm>
            <a:off x="457200" y="1627632"/>
            <a:ext cx="3596640" cy="251510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a:t>
            </a:r>
          </a:p>
          <a:p>
            <a:pPr algn="l"/>
            <a:r>
              <a:rPr sz="1300" b="0" i="0">
                <a:solidFill>
                  <a:srgbClr val="000000"/>
                </a:solidFill>
                <a:latin typeface="Consolas"/>
              </a:rPr>
              <a:t>  .countDocuments({})</a:t>
            </a:r>
          </a:p>
          <a:p>
            <a:pPr algn="l"/>
            <a:r>
              <a:rPr sz="1300" b="0" i="0">
                <a:solidFill>
                  <a:srgbClr val="000000"/>
                </a:solidFill>
                <a:latin typeface="Consolas"/>
              </a:rPr>
              <a:t>// 13</a:t>
            </a:r>
          </a:p>
          <a:p>
            <a:pPr algn="l"/>
            <a:r>
              <a:rPr sz="1300" b="0" i="0">
                <a:solidFill>
                  <a:srgbClr val="000000"/>
                </a:solidFill>
                <a:latin typeface="Consolas"/>
              </a:rPr>
              <a:t>db.products.countDocuments(</a:t>
            </a:r>
          </a:p>
          <a:p>
            <a:pPr algn="l"/>
            <a:r>
              <a:rPr sz="1300" b="0" i="0">
                <a:solidFill>
                  <a:srgbClr val="000000"/>
                </a:solidFill>
                <a:latin typeface="Consolas"/>
              </a:rPr>
              <a:t>  { active: true })</a:t>
            </a:r>
          </a:p>
          <a:p>
            <a:pPr algn="l"/>
            <a:r>
              <a:rPr sz="1300" b="0" i="0">
                <a:solidFill>
                  <a:srgbClr val="000000"/>
                </a:solidFill>
                <a:latin typeface="Consolas"/>
              </a:rPr>
              <a:t>// 12 — L190 is inactive</a:t>
            </a:r>
          </a:p>
        </p:txBody>
      </p:sp>
      <p:sp>
        <p:nvSpPr>
          <p:cNvPr id="6" name="TextBox 5"/>
          <p:cNvSpPr txBox="1"/>
          <p:nvPr/>
        </p:nvSpPr>
        <p:spPr>
          <a:xfrm>
            <a:off x="428244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Estimate from metadata</a:t>
            </a:r>
          </a:p>
        </p:txBody>
      </p:sp>
      <p:sp>
        <p:nvSpPr>
          <p:cNvPr id="7" name="Rounded Rectangle 6"/>
          <p:cNvSpPr/>
          <p:nvPr/>
        </p:nvSpPr>
        <p:spPr>
          <a:xfrm>
            <a:off x="4282440" y="1627632"/>
            <a:ext cx="3596640" cy="251510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a:t>
            </a:r>
          </a:p>
          <a:p>
            <a:pPr algn="l"/>
            <a:r>
              <a:rPr sz="1300" b="0" i="0">
                <a:solidFill>
                  <a:srgbClr val="000000"/>
                </a:solidFill>
                <a:latin typeface="Consolas"/>
              </a:rPr>
              <a:t>  .estimatedDocumentCount()</a:t>
            </a:r>
          </a:p>
          <a:p>
            <a:pPr algn="l"/>
            <a:r>
              <a:rPr sz="1300" b="0" i="0">
                <a:solidFill>
                  <a:srgbClr val="000000"/>
                </a:solidFill>
                <a:latin typeface="Consolas"/>
              </a:rPr>
              <a:t>// 13 — takes no filter</a:t>
            </a:r>
          </a:p>
          <a:p>
            <a:pPr algn="l"/>
            <a:r>
              <a:rPr sz="1300" b="0" i="0">
                <a:solidFill>
                  <a:srgbClr val="000000"/>
                </a:solidFill>
                <a:latin typeface="Consolas"/>
              </a:rPr>
              <a:t/>
            </a:r>
          </a:p>
          <a:p>
            <a:pPr algn="l"/>
            <a:r>
              <a:rPr sz="1300" b="0" i="0">
                <a:solidFill>
                  <a:srgbClr val="000000"/>
                </a:solidFill>
                <a:latin typeface="Consolas"/>
              </a:rPr>
              <a:t>// legacy, avoid:</a:t>
            </a:r>
          </a:p>
          <a:p>
            <a:pPr algn="l"/>
            <a:r>
              <a:rPr sz="1300" b="0" i="0">
                <a:solidFill>
                  <a:srgbClr val="000000"/>
                </a:solidFill>
                <a:latin typeface="Consolas"/>
              </a:rPr>
              <a:t>db.products.find().count()</a:t>
            </a:r>
          </a:p>
        </p:txBody>
      </p:sp>
      <p:sp>
        <p:nvSpPr>
          <p:cNvPr id="8" name="TextBox 7"/>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Unique values</a:t>
            </a:r>
          </a:p>
        </p:txBody>
      </p:sp>
      <p:sp>
        <p:nvSpPr>
          <p:cNvPr id="9" name="Rounded Rectangle 8"/>
          <p:cNvSpPr/>
          <p:nvPr/>
        </p:nvSpPr>
        <p:spPr>
          <a:xfrm>
            <a:off x="8107680" y="1627632"/>
            <a:ext cx="3596640" cy="251510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db.products.distinct(</a:t>
            </a:r>
          </a:p>
          <a:p>
            <a:pPr algn="l"/>
            <a:r>
              <a:rPr sz="1300" b="0" i="0">
                <a:solidFill>
                  <a:srgbClr val="000000"/>
                </a:solidFill>
                <a:latin typeface="Consolas"/>
              </a:rPr>
              <a:t>  "category")</a:t>
            </a:r>
          </a:p>
          <a:p>
            <a:pPr algn="l"/>
            <a:r>
              <a:rPr sz="1300" b="0" i="0">
                <a:solidFill>
                  <a:srgbClr val="000000"/>
                </a:solidFill>
                <a:latin typeface="Consolas"/>
              </a:rPr>
              <a:t>// [ "ACCESSORY", "BOOK",</a:t>
            </a:r>
          </a:p>
          <a:p>
            <a:pPr algn="l"/>
            <a:r>
              <a:rPr sz="1300" b="0" i="0">
                <a:solidFill>
                  <a:srgbClr val="000000"/>
                </a:solidFill>
                <a:latin typeface="Consolas"/>
              </a:rPr>
              <a:t>//   "LAPTOP", "SHOE" ]</a:t>
            </a:r>
          </a:p>
          <a:p>
            <a:pPr algn="l"/>
            <a:r>
              <a:rPr sz="1300" b="0" i="0">
                <a:solidFill>
                  <a:srgbClr val="000000"/>
                </a:solidFill>
                <a:latin typeface="Consolas"/>
              </a:rPr>
              <a:t>db.products.distinct(</a:t>
            </a:r>
          </a:p>
          <a:p>
            <a:pPr algn="l"/>
            <a:r>
              <a:rPr sz="1300" b="0" i="0">
                <a:solidFill>
                  <a:srgbClr val="000000"/>
                </a:solidFill>
                <a:latin typeface="Consolas"/>
              </a:rPr>
              <a:t>  "attributes.connection",</a:t>
            </a:r>
          </a:p>
          <a:p>
            <a:pPr algn="l"/>
            <a:r>
              <a:rPr sz="1300" b="0" i="0">
                <a:solidFill>
                  <a:srgbClr val="000000"/>
                </a:solidFill>
                <a:latin typeface="Consolas"/>
              </a:rPr>
              <a:t>  { category: "ACCESSORY" })</a:t>
            </a:r>
          </a:p>
          <a:p>
            <a:pPr algn="l"/>
            <a:r>
              <a:rPr sz="1300" b="0" i="0">
                <a:solidFill>
                  <a:srgbClr val="000000"/>
                </a:solidFill>
                <a:latin typeface="Consolas"/>
              </a:rPr>
              <a:t>// [ "Bluetooth", "USB-C" ]</a:t>
            </a:r>
          </a:p>
        </p:txBody>
      </p:sp>
      <p:sp>
        <p:nvSpPr>
          <p:cNvPr id="10" name="Rounded Rectangle 9"/>
          <p:cNvSpPr/>
          <p:nvPr/>
        </p:nvSpPr>
        <p:spPr>
          <a:xfrm>
            <a:off x="457200" y="437134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426204"/>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countDocuments()</a:t>
            </a:r>
          </a:p>
        </p:txBody>
      </p:sp>
      <p:sp>
        <p:nvSpPr>
          <p:cNvPr id="12" name="TextBox 11"/>
          <p:cNvSpPr txBox="1"/>
          <p:nvPr/>
        </p:nvSpPr>
        <p:spPr>
          <a:xfrm>
            <a:off x="594360" y="4737100"/>
            <a:ext cx="3352800" cy="737615"/>
          </a:xfrm>
          <a:prstGeom prst="rect">
            <a:avLst/>
          </a:prstGeom>
          <a:noFill/>
        </p:spPr>
        <p:txBody>
          <a:bodyPr wrap="square" anchor="t" lIns="0" rIns="0" tIns="0" bIns="0">
            <a:spAutoFit/>
          </a:bodyPr>
          <a:lstStyle/>
          <a:p>
            <a:pPr algn="l"/>
            <a:r>
              <a:rPr sz="1200" b="0" i="0">
                <a:solidFill>
                  <a:srgbClr val="000000"/>
                </a:solidFill>
                <a:latin typeface="Nirmala UI"/>
              </a:rPr>
              <a:t>Exact count for a filter — your safety check.</a:t>
            </a:r>
          </a:p>
        </p:txBody>
      </p:sp>
      <p:sp>
        <p:nvSpPr>
          <p:cNvPr id="13" name="Rounded Rectangle 12"/>
          <p:cNvSpPr/>
          <p:nvPr/>
        </p:nvSpPr>
        <p:spPr>
          <a:xfrm>
            <a:off x="4267200" y="437134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426204"/>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estimatedDocumentCount()</a:t>
            </a:r>
          </a:p>
        </p:txBody>
      </p:sp>
      <p:sp>
        <p:nvSpPr>
          <p:cNvPr id="15" name="TextBox 14"/>
          <p:cNvSpPr txBox="1"/>
          <p:nvPr/>
        </p:nvSpPr>
        <p:spPr>
          <a:xfrm>
            <a:off x="4404360" y="4737100"/>
            <a:ext cx="3352800" cy="737615"/>
          </a:xfrm>
          <a:prstGeom prst="rect">
            <a:avLst/>
          </a:prstGeom>
          <a:noFill/>
        </p:spPr>
        <p:txBody>
          <a:bodyPr wrap="square" anchor="t" lIns="0" rIns="0" tIns="0" bIns="0">
            <a:spAutoFit/>
          </a:bodyPr>
          <a:lstStyle/>
          <a:p>
            <a:pPr algn="l"/>
            <a:r>
              <a:rPr sz="1200" b="0" i="0">
                <a:solidFill>
                  <a:srgbClr val="000000"/>
                </a:solidFill>
                <a:latin typeface="Nirmala UI"/>
              </a:rPr>
              <a:t>Fast total from metadata, no filter.</a:t>
            </a:r>
          </a:p>
        </p:txBody>
      </p:sp>
      <p:sp>
        <p:nvSpPr>
          <p:cNvPr id="16" name="Rounded Rectangle 15"/>
          <p:cNvSpPr/>
          <p:nvPr/>
        </p:nvSpPr>
        <p:spPr>
          <a:xfrm>
            <a:off x="8077200" y="4371340"/>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14360" y="4426204"/>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distinct()</a:t>
            </a:r>
          </a:p>
        </p:txBody>
      </p:sp>
      <p:sp>
        <p:nvSpPr>
          <p:cNvPr id="18" name="TextBox 17"/>
          <p:cNvSpPr txBox="1"/>
          <p:nvPr/>
        </p:nvSpPr>
        <p:spPr>
          <a:xfrm>
            <a:off x="8214360" y="4737100"/>
            <a:ext cx="3352800" cy="737615"/>
          </a:xfrm>
          <a:prstGeom prst="rect">
            <a:avLst/>
          </a:prstGeom>
          <a:noFill/>
        </p:spPr>
        <p:txBody>
          <a:bodyPr wrap="square" anchor="t" lIns="0" rIns="0" tIns="0" bIns="0">
            <a:spAutoFit/>
          </a:bodyPr>
          <a:lstStyle/>
          <a:p>
            <a:pPr algn="l"/>
            <a:r>
              <a:rPr sz="1200" b="0" i="0">
                <a:solidFill>
                  <a:srgbClr val="000000"/>
                </a:solidFill>
                <a:latin typeface="Nirmala UI"/>
              </a:rPr>
              <a:t>Unique values; an optional filter narrows them.</a:t>
            </a:r>
          </a:p>
        </p:txBody>
      </p:sp>
      <p:sp>
        <p:nvSpPr>
          <p:cNvPr id="19" name="Rounded Rectangle 18"/>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Count with countDocuments() before and after every change — it is the cheapest check you have.</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PREDICT THE SORTED RESULT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Read the query, write your answer, then run it.</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The five accessories cost 19.99, 24.99, 49.99 and 249.99 — and XBAD, whose price is stored as the string "49.99".</a:t>
            </a:r>
          </a:p>
        </p:txBody>
      </p:sp>
      <p:sp>
        <p:nvSpPr>
          <p:cNvPr id="10" name="Rounded Rectangle 9"/>
          <p:cNvSpPr/>
          <p:nvPr/>
        </p:nvSpPr>
        <p:spPr>
          <a:xfrm>
            <a:off x="566928" y="3229356"/>
            <a:ext cx="3621024"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db.products.find(</a:t>
            </a:r>
          </a:p>
          <a:p>
            <a:pPr algn="l"/>
            <a:r>
              <a:rPr sz="1100" b="0" i="0">
                <a:solidFill>
                  <a:srgbClr val="000000"/>
                </a:solidFill>
                <a:latin typeface="Consolas"/>
              </a:rPr>
              <a:t>  { category: "ACCESSORY" },</a:t>
            </a:r>
          </a:p>
          <a:p>
            <a:pPr algn="l"/>
            <a:r>
              <a:rPr sz="1100" b="0" i="0">
                <a:solidFill>
                  <a:srgbClr val="000000"/>
                </a:solidFill>
                <a:latin typeface="Consolas"/>
              </a:rPr>
              <a:t>  { _id: 0, sku: 1, price: 1 }</a:t>
            </a:r>
          </a:p>
          <a:p>
            <a:pPr algn="l"/>
            <a:r>
              <a:rPr sz="1100" b="0" i="0">
                <a:solidFill>
                  <a:srgbClr val="000000"/>
                </a:solidFill>
                <a:latin typeface="Consolas"/>
              </a:rPr>
              <a:t>).sort({ price: -1 })</a:t>
            </a:r>
          </a:p>
          <a:p>
            <a:pPr algn="l"/>
            <a:r>
              <a:rPr sz="1100" b="0" i="0">
                <a:solidFill>
                  <a:srgbClr val="000000"/>
                </a:solidFill>
                <a:latin typeface="Consolas"/>
              </a:rPr>
              <a:t> .limit(3)</a:t>
            </a:r>
          </a:p>
        </p:txBody>
      </p:sp>
      <p:sp>
        <p:nvSpPr>
          <p:cNvPr id="11" name="Rounded Rectangle 10"/>
          <p:cNvSpPr/>
          <p:nvPr/>
        </p:nvSpPr>
        <p:spPr>
          <a:xfrm>
            <a:off x="4526280" y="1865376"/>
            <a:ext cx="388620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Write the three SKUs you expect, in order</a:t>
            </a:r>
          </a:p>
        </p:txBody>
      </p:sp>
      <p:sp>
        <p:nvSpPr>
          <p:cNvPr id="16" name="Oval 15"/>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9941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Say where XBAD lands, and why</a:t>
            </a:r>
          </a:p>
        </p:txBody>
      </p:sp>
      <p:sp>
        <p:nvSpPr>
          <p:cNvPr id="18" name="Oval 17"/>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Run it on the instructor's screen</a:t>
            </a:r>
          </a:p>
        </p:txBody>
      </p:sp>
      <p:sp>
        <p:nvSpPr>
          <p:cNvPr id="20" name="Oval 19"/>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Change the filter so only Decimal128 prices sort</a:t>
            </a:r>
          </a:p>
        </p:txBody>
      </p:sp>
      <p:sp>
        <p:nvSpPr>
          <p:cNvPr id="22" name="Rounded Rectangle 21"/>
          <p:cNvSpPr/>
          <p:nvPr/>
        </p:nvSpPr>
        <p:spPr>
          <a:xfrm>
            <a:off x="8641080" y="1865376"/>
            <a:ext cx="306324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XBAD first: strings sort after numbers</a:t>
            </a:r>
          </a:p>
        </p:txBody>
      </p:sp>
      <p:sp>
        <p:nvSpPr>
          <p:cNvPr id="27" name="Oval 26"/>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Then A500 (249.99) and P1001 (49.99)</a:t>
            </a:r>
          </a:p>
        </p:txBody>
      </p:sp>
      <p:sp>
        <p:nvSpPr>
          <p:cNvPr id="29" name="Oval 28"/>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Add price: { $type: "decimal" }</a:t>
            </a:r>
          </a:p>
        </p:txBody>
      </p:sp>
      <p:sp>
        <p:nvSpPr>
          <p:cNvPr id="31" name="Oval 30"/>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4043171"/>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Then A500, P1001, A400</a:t>
            </a:r>
          </a:p>
        </p:txBody>
      </p:sp>
      <p:sp>
        <p:nvSpPr>
          <p:cNvPr id="33" name="Rounded Rectangle 3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Mixed BSON types sort by type first, then value — one bad document can top a price list.</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2: QUERY OPERATORS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Comparison, logical and element operators.</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Read documents</a:t>
            </a:r>
          </a:p>
        </p:txBody>
      </p:sp>
      <p:sp>
        <p:nvSpPr>
          <p:cNvPr id="6" name="Chevron 5"/>
          <p:cNvSpPr/>
          <p:nvPr/>
        </p:nvSpPr>
        <p:spPr>
          <a:xfrm>
            <a:off x="2671145"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2</a:t>
            </a:r>
          </a:p>
          <a:p>
            <a:pPr algn="ctr"/>
            <a:r>
              <a:rPr sz="1300" b="1" i="0">
                <a:solidFill>
                  <a:srgbClr val="FFFFFF"/>
                </a:solidFill>
                <a:latin typeface="Nirmala UI"/>
              </a:rPr>
              <a:t>Query operators</a:t>
            </a:r>
          </a:p>
        </p:txBody>
      </p:sp>
      <p:sp>
        <p:nvSpPr>
          <p:cNvPr id="8" name="Chevron 7"/>
          <p:cNvSpPr/>
          <p:nvPr/>
        </p:nvSpPr>
        <p:spPr>
          <a:xfrm>
            <a:off x="4885090"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Nested and arrays</a:t>
            </a:r>
          </a:p>
        </p:txBody>
      </p:sp>
      <p:sp>
        <p:nvSpPr>
          <p:cNvPr id="10" name="Chevron 9"/>
          <p:cNvSpPr/>
          <p:nvPr/>
        </p:nvSpPr>
        <p:spPr>
          <a:xfrm>
            <a:off x="709903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Insert and update</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Delete and verify</a:t>
            </a:r>
          </a:p>
        </p:txBody>
      </p:sp>
      <p:sp>
        <p:nvSpPr>
          <p:cNvPr id="14" name="Rounded Rectangle 13"/>
          <p:cNvSpPr/>
          <p:nvPr/>
        </p:nvSpPr>
        <p:spPr>
          <a:xfrm>
            <a:off x="457200" y="2304288"/>
            <a:ext cx="4937760" cy="2403348"/>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Filters are documents of conditions</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592836"/>
          </a:xfrm>
          <a:prstGeom prst="rect">
            <a:avLst/>
          </a:prstGeom>
          <a:noFill/>
        </p:spPr>
        <p:txBody>
          <a:bodyPr wrap="square" anchor="ctr" lIns="0" rIns="0" tIns="0" bIns="0">
            <a:spAutoFit/>
          </a:bodyPr>
          <a:lstStyle/>
          <a:p>
            <a:pPr algn="l"/>
            <a:r>
              <a:rPr sz="1500" b="0" i="0">
                <a:solidFill>
                  <a:srgbClr val="000000"/>
                </a:solidFill>
                <a:latin typeface="Nirmala UI"/>
              </a:rPr>
              <a:t>Projection, sort and limit shape the result</a:t>
            </a:r>
          </a:p>
        </p:txBody>
      </p:sp>
      <p:sp>
        <p:nvSpPr>
          <p:cNvPr id="21" name="Oval 20"/>
          <p:cNvSpPr/>
          <p:nvPr/>
        </p:nvSpPr>
        <p:spPr>
          <a:xfrm>
            <a:off x="640080" y="40767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40035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countDocuments() checks every step</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express ranges, lists, either-or and missing values?</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Comparison operators and ranges</a:t>
            </a:r>
          </a:p>
        </p:txBody>
      </p:sp>
      <p:sp>
        <p:nvSpPr>
          <p:cNvPr id="29" name="Oval 28"/>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$in and $nin</a:t>
            </a:r>
          </a:p>
        </p:txBody>
      </p:sp>
      <p:sp>
        <p:nvSpPr>
          <p:cNvPr id="31" name="Oval 30"/>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$and and $or</a:t>
            </a:r>
          </a:p>
        </p:txBody>
      </p:sp>
      <p:sp>
        <p:nvSpPr>
          <p:cNvPr id="33" name="Oval 32"/>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Building a filter step by step</a:t>
            </a:r>
          </a:p>
        </p:txBody>
      </p:sp>
      <p:sp>
        <p:nvSpPr>
          <p:cNvPr id="35" name="Oval 34"/>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6" name="TextBox 35"/>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$not and $nor</a:t>
            </a:r>
          </a:p>
        </p:txBody>
      </p:sp>
      <p:sp>
        <p:nvSpPr>
          <p:cNvPr id="37" name="Oval 36"/>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38" name="TextBox 37"/>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Missing, null and BSON type</a:t>
            </a:r>
          </a:p>
        </p:txBody>
      </p:sp>
      <p:sp>
        <p:nvSpPr>
          <p:cNvPr id="39" name="Oval 38"/>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0" name="TextBox 39"/>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Regular expressions and dates</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COMPARISON OPERATORS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$gt, $gte, $lt and $lte — inside the field they test.</a:t>
            </a:r>
          </a:p>
        </p:txBody>
      </p:sp>
      <p:sp>
        <p:nvSpPr>
          <p:cNvPr id="4" name="Rounded Rectangle 3"/>
          <p:cNvSpPr/>
          <p:nvPr/>
        </p:nvSpPr>
        <p:spPr>
          <a:xfrm>
            <a:off x="475488" y="1971286"/>
            <a:ext cx="7415783" cy="3189746"/>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2" descr="image.jpg"/>
          <p:cNvPicPr>
            <a:picLocks noChangeAspect="1"/>
          </p:cNvPicPr>
          <p:nvPr/>
        </p:nvPicPr>
        <p:blipFill>
          <a:blip r:embed="rId2"/>
          <a:stretch>
            <a:fillRect/>
          </a:stretch>
        </p:blipFill>
        <p:spPr>
          <a:xfrm>
            <a:off x="548640" y="2044438"/>
            <a:ext cx="7269480" cy="3043442"/>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Inside the field</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 price: { $gt: … } } — never { $gt: { price: … } }.</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Money is Decimal128</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Compare with Decimal128("100.00"); a string never matches a number.</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 range</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Two operators on one field; $gte and $lte include both ends.</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ON TRAINING_STORE   </a:t>
            </a:r>
            <a:r>
              <a:rPr sz="1200" b="0" i="0">
                <a:solidFill>
                  <a:srgbClr val="000000"/>
                </a:solidFill>
                <a:latin typeface="Nirmala UI"/>
              </a:rPr>
              <a:t>50.00 to 500.00 returns L190, S200, S210, B300 and A500.</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Put comparison operators inside the field, and compare with the same BSON type that is stored.</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COMPARISONS, $IN AND $NIN ON TRAINING_STORE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Real results — and the product that never shows up.</a:t>
            </a:r>
          </a:p>
        </p:txBody>
      </p:sp>
      <p:sp>
        <p:nvSpPr>
          <p:cNvPr id="4" name="TextBox 3"/>
          <p:cNvSpPr txBox="1"/>
          <p:nvPr/>
        </p:nvSpPr>
        <p:spPr>
          <a:xfrm>
            <a:off x="45720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Above 100</a:t>
            </a:r>
          </a:p>
        </p:txBody>
      </p:sp>
      <p:sp>
        <p:nvSpPr>
          <p:cNvPr id="5" name="Rounded Rectangle 4"/>
          <p:cNvSpPr/>
          <p:nvPr/>
        </p:nvSpPr>
        <p:spPr>
          <a:xfrm>
            <a:off x="457200" y="1627632"/>
            <a:ext cx="3596640" cy="240779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db.products.find(</a:t>
            </a:r>
          </a:p>
          <a:p>
            <a:pPr algn="l"/>
            <a:r>
              <a:rPr sz="1300" b="0" i="0">
                <a:solidFill>
                  <a:srgbClr val="000000"/>
                </a:solidFill>
                <a:latin typeface="Consolas"/>
              </a:rPr>
              <a:t>  { price: { $gt:</a:t>
            </a:r>
          </a:p>
          <a:p>
            <a:pPr algn="l"/>
            <a:r>
              <a:rPr sz="1300" b="0" i="0">
                <a:solidFill>
                  <a:srgbClr val="000000"/>
                </a:solidFill>
                <a:latin typeface="Consolas"/>
              </a:rPr>
              <a:t>    Decimal128("100.00") } },</a:t>
            </a:r>
          </a:p>
          <a:p>
            <a:pPr algn="l"/>
            <a:r>
              <a:rPr sz="1300" b="0" i="0">
                <a:solidFill>
                  <a:srgbClr val="000000"/>
                </a:solidFill>
                <a:latin typeface="Consolas"/>
              </a:rPr>
              <a:t>  { _id: 0, sku: 1 })</a:t>
            </a:r>
          </a:p>
          <a:p>
            <a:pPr algn="l"/>
            <a:r>
              <a:rPr sz="1300" b="0" i="0">
                <a:solidFill>
                  <a:srgbClr val="000000"/>
                </a:solidFill>
                <a:latin typeface="Consolas"/>
              </a:rPr>
              <a:t>// L100 L110 L190</a:t>
            </a:r>
          </a:p>
          <a:p>
            <a:pPr algn="l"/>
            <a:r>
              <a:rPr sz="1300" b="0" i="0">
                <a:solidFill>
                  <a:srgbClr val="000000"/>
                </a:solidFill>
                <a:latin typeface="Consolas"/>
              </a:rPr>
              <a:t>// S200 A500</a:t>
            </a:r>
          </a:p>
        </p:txBody>
      </p:sp>
      <p:sp>
        <p:nvSpPr>
          <p:cNvPr id="6" name="TextBox 5"/>
          <p:cNvSpPr txBox="1"/>
          <p:nvPr/>
        </p:nvSpPr>
        <p:spPr>
          <a:xfrm>
            <a:off x="428244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Any value in a list</a:t>
            </a:r>
          </a:p>
        </p:txBody>
      </p:sp>
      <p:sp>
        <p:nvSpPr>
          <p:cNvPr id="7" name="Rounded Rectangle 6"/>
          <p:cNvSpPr/>
          <p:nvPr/>
        </p:nvSpPr>
        <p:spPr>
          <a:xfrm>
            <a:off x="4282440" y="1627632"/>
            <a:ext cx="3596640" cy="240779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db.products.countDocuments({</a:t>
            </a:r>
          </a:p>
          <a:p>
            <a:pPr algn="l"/>
            <a:r>
              <a:rPr sz="1300" b="0" i="0">
                <a:solidFill>
                  <a:srgbClr val="000000"/>
                </a:solidFill>
                <a:latin typeface="Consolas"/>
              </a:rPr>
              <a:t>  category: { $in:</a:t>
            </a:r>
          </a:p>
          <a:p>
            <a:pPr algn="l"/>
            <a:r>
              <a:rPr sz="1300" b="0" i="0">
                <a:solidFill>
                  <a:srgbClr val="000000"/>
                </a:solidFill>
                <a:latin typeface="Consolas"/>
              </a:rPr>
              <a:t>    ["LAPTOP", "BOOK"] } })</a:t>
            </a:r>
          </a:p>
          <a:p>
            <a:pPr algn="l"/>
            <a:r>
              <a:rPr sz="1300" b="0" i="0">
                <a:solidFill>
                  <a:srgbClr val="000000"/>
                </a:solidFill>
                <a:latin typeface="Consolas"/>
              </a:rPr>
              <a:t>// 5</a:t>
            </a:r>
          </a:p>
          <a:p>
            <a:pPr algn="l"/>
            <a:r>
              <a:rPr sz="1300" b="0" i="0">
                <a:solidFill>
                  <a:srgbClr val="000000"/>
                </a:solidFill>
                <a:latin typeface="Consolas"/>
              </a:rPr>
              <a:t>db.reviews.countDocuments(</a:t>
            </a:r>
          </a:p>
          <a:p>
            <a:pPr algn="l"/>
            <a:r>
              <a:rPr sz="1300" b="0" i="0">
                <a:solidFill>
                  <a:srgbClr val="000000"/>
                </a:solidFill>
                <a:latin typeface="Consolas"/>
              </a:rPr>
              <a:t>  { rating: { $gte: 4 } })</a:t>
            </a:r>
          </a:p>
          <a:p>
            <a:pPr algn="l"/>
            <a:r>
              <a:rPr sz="1300" b="0" i="0">
                <a:solidFill>
                  <a:srgbClr val="000000"/>
                </a:solidFill>
                <a:latin typeface="Consolas"/>
              </a:rPr>
              <a:t>// 5 of 6 reviews</a:t>
            </a:r>
          </a:p>
        </p:txBody>
      </p:sp>
      <p:sp>
        <p:nvSpPr>
          <p:cNvPr id="8" name="TextBox 7"/>
          <p:cNvSpPr txBox="1"/>
          <p:nvPr/>
        </p:nvSpPr>
        <p:spPr>
          <a:xfrm>
            <a:off x="8107680" y="1298448"/>
            <a:ext cx="3596640" cy="310896"/>
          </a:xfrm>
          <a:prstGeom prst="rect">
            <a:avLst/>
          </a:prstGeom>
          <a:noFill/>
        </p:spPr>
        <p:txBody>
          <a:bodyPr wrap="square" anchor="ctr" lIns="0" rIns="0" tIns="0" bIns="0">
            <a:spAutoFit/>
          </a:bodyPr>
          <a:lstStyle/>
          <a:p>
            <a:pPr algn="l"/>
            <a:r>
              <a:rPr sz="1300" b="1" i="0">
                <a:solidFill>
                  <a:srgbClr val="002060"/>
                </a:solidFill>
                <a:latin typeface="Nirmala UI"/>
              </a:rPr>
              <a:t>None of a list</a:t>
            </a:r>
          </a:p>
        </p:txBody>
      </p:sp>
      <p:sp>
        <p:nvSpPr>
          <p:cNvPr id="9" name="Rounded Rectangle 8"/>
          <p:cNvSpPr/>
          <p:nvPr/>
        </p:nvSpPr>
        <p:spPr>
          <a:xfrm>
            <a:off x="8107680" y="1627632"/>
            <a:ext cx="3596640" cy="240779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db.products.find(</a:t>
            </a:r>
          </a:p>
          <a:p>
            <a:pPr algn="l"/>
            <a:r>
              <a:rPr sz="1300" b="0" i="0">
                <a:solidFill>
                  <a:srgbClr val="000000"/>
                </a:solidFill>
                <a:latin typeface="Consolas"/>
              </a:rPr>
              <a:t>  { category: { $nin:</a:t>
            </a:r>
          </a:p>
          <a:p>
            <a:pPr algn="l"/>
            <a:r>
              <a:rPr sz="1300" b="0" i="0">
                <a:solidFill>
                  <a:srgbClr val="000000"/>
                </a:solidFill>
                <a:latin typeface="Consolas"/>
              </a:rPr>
              <a:t>    ["LAPTOP", "SHOE"] } },</a:t>
            </a:r>
          </a:p>
          <a:p>
            <a:pPr algn="l"/>
            <a:r>
              <a:rPr sz="1300" b="0" i="0">
                <a:solidFill>
                  <a:srgbClr val="000000"/>
                </a:solidFill>
                <a:latin typeface="Consolas"/>
              </a:rPr>
              <a:t>  { _id: 0, sku: 1 })</a:t>
            </a:r>
          </a:p>
          <a:p>
            <a:pPr algn="l"/>
            <a:r>
              <a:rPr sz="1300" b="0" i="0">
                <a:solidFill>
                  <a:srgbClr val="000000"/>
                </a:solidFill>
                <a:latin typeface="Consolas"/>
              </a:rPr>
              <a:t>// B300 B310 P1001 A400</a:t>
            </a:r>
          </a:p>
          <a:p>
            <a:pPr algn="l"/>
            <a:r>
              <a:rPr sz="1300" b="0" i="0">
                <a:solidFill>
                  <a:srgbClr val="000000"/>
                </a:solidFill>
                <a:latin typeface="Consolas"/>
              </a:rPr>
              <a:t>// A410 A500 XBAD</a:t>
            </a:r>
          </a:p>
        </p:txBody>
      </p:sp>
      <p:sp>
        <p:nvSpPr>
          <p:cNvPr id="10" name="Rounded Rectangle 9"/>
          <p:cNvSpPr/>
          <p:nvPr/>
        </p:nvSpPr>
        <p:spPr>
          <a:xfrm>
            <a:off x="457200" y="426402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31888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XBAD is missing above</a:t>
            </a:r>
          </a:p>
        </p:txBody>
      </p:sp>
      <p:sp>
        <p:nvSpPr>
          <p:cNvPr id="12" name="TextBox 11"/>
          <p:cNvSpPr txBox="1"/>
          <p:nvPr/>
        </p:nvSpPr>
        <p:spPr>
          <a:xfrm>
            <a:off x="594360" y="4629785"/>
            <a:ext cx="3352800" cy="737615"/>
          </a:xfrm>
          <a:prstGeom prst="rect">
            <a:avLst/>
          </a:prstGeom>
          <a:noFill/>
        </p:spPr>
        <p:txBody>
          <a:bodyPr wrap="square" anchor="t" lIns="0" rIns="0" tIns="0" bIns="0">
            <a:spAutoFit/>
          </a:bodyPr>
          <a:lstStyle/>
          <a:p>
            <a:pPr algn="l"/>
            <a:r>
              <a:rPr sz="1200" b="0" i="0">
                <a:solidFill>
                  <a:srgbClr val="000000"/>
                </a:solidFill>
                <a:latin typeface="Nirmala UI"/>
              </a:rPr>
              <a:t>Its price is a string, so no numeric range sees it.</a:t>
            </a:r>
          </a:p>
        </p:txBody>
      </p:sp>
      <p:sp>
        <p:nvSpPr>
          <p:cNvPr id="13" name="Rounded Rectangle 12"/>
          <p:cNvSpPr/>
          <p:nvPr/>
        </p:nvSpPr>
        <p:spPr>
          <a:xfrm>
            <a:off x="4267200" y="426402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31888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$in</a:t>
            </a:r>
          </a:p>
        </p:txBody>
      </p:sp>
      <p:sp>
        <p:nvSpPr>
          <p:cNvPr id="15" name="TextBox 14"/>
          <p:cNvSpPr txBox="1"/>
          <p:nvPr/>
        </p:nvSpPr>
        <p:spPr>
          <a:xfrm>
            <a:off x="4404360" y="4629785"/>
            <a:ext cx="3352800" cy="737615"/>
          </a:xfrm>
          <a:prstGeom prst="rect">
            <a:avLst/>
          </a:prstGeom>
          <a:noFill/>
        </p:spPr>
        <p:txBody>
          <a:bodyPr wrap="square" anchor="t" lIns="0" rIns="0" tIns="0" bIns="0">
            <a:spAutoFit/>
          </a:bodyPr>
          <a:lstStyle/>
          <a:p>
            <a:pPr algn="l"/>
            <a:r>
              <a:rPr sz="1200" b="0" i="0">
                <a:solidFill>
                  <a:srgbClr val="000000"/>
                </a:solidFill>
                <a:latin typeface="Nirmala UI"/>
              </a:rPr>
              <a:t>An OR on one field — shorter than $or.</a:t>
            </a:r>
          </a:p>
        </p:txBody>
      </p:sp>
      <p:sp>
        <p:nvSpPr>
          <p:cNvPr id="16" name="Rounded Rectangle 15"/>
          <p:cNvSpPr/>
          <p:nvPr/>
        </p:nvSpPr>
        <p:spPr>
          <a:xfrm>
            <a:off x="8077200" y="426402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14360" y="431888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$nin and $ne</a:t>
            </a:r>
          </a:p>
        </p:txBody>
      </p:sp>
      <p:sp>
        <p:nvSpPr>
          <p:cNvPr id="18" name="TextBox 17"/>
          <p:cNvSpPr txBox="1"/>
          <p:nvPr/>
        </p:nvSpPr>
        <p:spPr>
          <a:xfrm>
            <a:off x="8214360" y="4629785"/>
            <a:ext cx="3352800" cy="737615"/>
          </a:xfrm>
          <a:prstGeom prst="rect">
            <a:avLst/>
          </a:prstGeom>
          <a:noFill/>
        </p:spPr>
        <p:txBody>
          <a:bodyPr wrap="square" anchor="t" lIns="0" rIns="0" tIns="0" bIns="0">
            <a:spAutoFit/>
          </a:bodyPr>
          <a:lstStyle/>
          <a:p>
            <a:pPr algn="l"/>
            <a:r>
              <a:rPr sz="1200" b="0" i="0">
                <a:solidFill>
                  <a:srgbClr val="000000"/>
                </a:solidFill>
                <a:latin typeface="Nirmala UI"/>
              </a:rPr>
              <a:t>Also match documents where the field is missing.</a:t>
            </a:r>
          </a:p>
        </p:txBody>
      </p:sp>
      <p:sp>
        <p:nvSpPr>
          <p:cNvPr id="19" name="Rounded Rectangle 18"/>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Use $in and $nin for lists on one field — and remember that negative operators also match missing fields.</a:t>
            </a:r>
          </a:p>
        </p:txBody>
      </p:sp>
      <p:sp>
        <p:nvSpPr>
          <p:cNvPr id="21" name="Rectangle 2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LOGICAL OPERATORS: $AND AND $OR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Both conditions true — or at least one.</a:t>
            </a:r>
          </a:p>
        </p:txBody>
      </p:sp>
      <p:sp>
        <p:nvSpPr>
          <p:cNvPr id="4" name="Rounded Rectangle 3"/>
          <p:cNvSpPr/>
          <p:nvPr/>
        </p:nvSpPr>
        <p:spPr>
          <a:xfrm>
            <a:off x="475488" y="1806071"/>
            <a:ext cx="7415783" cy="352017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4" descr="image.jpg"/>
          <p:cNvPicPr>
            <a:picLocks noChangeAspect="1"/>
          </p:cNvPicPr>
          <p:nvPr/>
        </p:nvPicPr>
        <p:blipFill>
          <a:blip r:embed="rId2"/>
          <a:stretch>
            <a:fillRect/>
          </a:stretch>
        </p:blipFill>
        <p:spPr>
          <a:xfrm>
            <a:off x="548640" y="1879223"/>
            <a:ext cx="7269480" cy="3373873"/>
          </a:xfrm>
          <a:prstGeom prst="rect">
            <a:avLst/>
          </a:prstGeom>
        </p:spPr>
      </p:pic>
      <p:sp>
        <p:nvSpPr>
          <p:cNvPr id="6" name="Rounded Rectangle 5"/>
          <p:cNvSpPr/>
          <p:nvPr/>
        </p:nvSpPr>
        <p:spPr>
          <a:xfrm>
            <a:off x="8183880" y="1298448"/>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AND</a:t>
            </a:r>
          </a:p>
        </p:txBody>
      </p:sp>
      <p:sp>
        <p:nvSpPr>
          <p:cNvPr id="8" name="TextBox 7"/>
          <p:cNvSpPr txBox="1"/>
          <p:nvPr/>
        </p:nvSpPr>
        <p:spPr>
          <a:xfrm>
            <a:off x="8321040" y="1664208"/>
            <a:ext cx="3246120" cy="874775"/>
          </a:xfrm>
          <a:prstGeom prst="rect">
            <a:avLst/>
          </a:prstGeom>
          <a:noFill/>
        </p:spPr>
        <p:txBody>
          <a:bodyPr wrap="square" anchor="t" lIns="0" rIns="0" tIns="0" bIns="0">
            <a:spAutoFit/>
          </a:bodyPr>
          <a:lstStyle/>
          <a:p>
            <a:pPr algn="l"/>
            <a:r>
              <a:rPr sz="1200" b="0" i="0">
                <a:solidFill>
                  <a:srgbClr val="000000"/>
                </a:solidFill>
                <a:latin typeface="Nirmala UI"/>
              </a:rPr>
              <a:t>Commas mean AND; write $and only when a field or operator repeats.</a:t>
            </a:r>
          </a:p>
        </p:txBody>
      </p:sp>
      <p:sp>
        <p:nvSpPr>
          <p:cNvPr id="9" name="Rounded Rectangle 8"/>
          <p:cNvSpPr/>
          <p:nvPr/>
        </p:nvSpPr>
        <p:spPr>
          <a:xfrm>
            <a:off x="8183880" y="2721864"/>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77672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$or</a:t>
            </a:r>
          </a:p>
        </p:txBody>
      </p:sp>
      <p:sp>
        <p:nvSpPr>
          <p:cNvPr id="11" name="TextBox 10"/>
          <p:cNvSpPr txBox="1"/>
          <p:nvPr/>
        </p:nvSpPr>
        <p:spPr>
          <a:xfrm>
            <a:off x="8321040" y="3087624"/>
            <a:ext cx="3246120" cy="874776"/>
          </a:xfrm>
          <a:prstGeom prst="rect">
            <a:avLst/>
          </a:prstGeom>
          <a:noFill/>
        </p:spPr>
        <p:txBody>
          <a:bodyPr wrap="square" anchor="t" lIns="0" rIns="0" tIns="0" bIns="0">
            <a:spAutoFit/>
          </a:bodyPr>
          <a:lstStyle/>
          <a:p>
            <a:pPr algn="l"/>
            <a:r>
              <a:rPr sz="1200" b="0" i="0">
                <a:solidFill>
                  <a:srgbClr val="000000"/>
                </a:solidFill>
                <a:latin typeface="Nirmala UI"/>
              </a:rPr>
              <a:t>Any condition true. Same field? Use $in instead.</a:t>
            </a:r>
          </a:p>
        </p:txBody>
      </p:sp>
      <p:sp>
        <p:nvSpPr>
          <p:cNvPr id="12" name="TextBox 11"/>
          <p:cNvSpPr txBox="1"/>
          <p:nvPr/>
        </p:nvSpPr>
        <p:spPr>
          <a:xfrm>
            <a:off x="8183880" y="4145280"/>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Two different fields: $or</a:t>
            </a:r>
          </a:p>
        </p:txBody>
      </p:sp>
      <p:sp>
        <p:nvSpPr>
          <p:cNvPr id="13" name="Rounded Rectangle 12"/>
          <p:cNvSpPr/>
          <p:nvPr/>
        </p:nvSpPr>
        <p:spPr>
          <a:xfrm>
            <a:off x="8183880" y="4474464"/>
            <a:ext cx="3520440" cy="121894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db.orders.find({ $or: [</a:t>
            </a:r>
          </a:p>
          <a:p>
            <a:pPr algn="l"/>
            <a:r>
              <a:rPr sz="1100" b="0" i="0">
                <a:solidFill>
                  <a:srgbClr val="000000"/>
                </a:solidFill>
                <a:latin typeface="Consolas"/>
              </a:rPr>
              <a:t>  { paymentStatus: "PENDING" },</a:t>
            </a:r>
          </a:p>
          <a:p>
            <a:pPr algn="l"/>
            <a:r>
              <a:rPr sz="1100" b="0" i="0">
                <a:solidFill>
                  <a:srgbClr val="000000"/>
                </a:solidFill>
                <a:latin typeface="Consolas"/>
              </a:rPr>
              <a:t>  { fulfillmentStatus:</a:t>
            </a:r>
          </a:p>
          <a:p>
            <a:pPr algn="l"/>
            <a:r>
              <a:rPr sz="1100" b="0" i="0">
                <a:solidFill>
                  <a:srgbClr val="000000"/>
                </a:solidFill>
                <a:latin typeface="Consolas"/>
              </a:rPr>
              <a:t>      "PROCESSING" } ] })</a:t>
            </a:r>
          </a:p>
          <a:p>
            <a:pPr algn="l"/>
            <a:r>
              <a:rPr sz="1100" b="0" i="0">
                <a:solidFill>
                  <a:srgbClr val="000000"/>
                </a:solidFill>
                <a:latin typeface="Consolas"/>
              </a:rPr>
              <a:t>// O5001 O6202 O6302 O6401 O6499</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Write AND with commas, OR with $or across fields, and $in when the alternatives share one field.</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BUILD A FILTER ONE CONDITION AT A TIME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Demo 4.2 on products: add one condition, count, and explain the number.</a:t>
            </a:r>
          </a:p>
        </p:txBody>
      </p:sp>
      <p:sp>
        <p:nvSpPr>
          <p:cNvPr id="4" name="TextBox 3"/>
          <p:cNvSpPr txBox="1"/>
          <p:nvPr/>
        </p:nvSpPr>
        <p:spPr>
          <a:xfrm>
            <a:off x="457200" y="1298448"/>
            <a:ext cx="4389120" cy="310896"/>
          </a:xfrm>
          <a:prstGeom prst="rect">
            <a:avLst/>
          </a:prstGeom>
          <a:noFill/>
        </p:spPr>
        <p:txBody>
          <a:bodyPr wrap="square" anchor="t" lIns="0" rIns="0" tIns="0" bIns="0">
            <a:spAutoFit/>
          </a:bodyPr>
          <a:lstStyle/>
          <a:p>
            <a:pPr algn="l"/>
            <a:r>
              <a:rPr sz="1300" b="1" i="0">
                <a:solidFill>
                  <a:srgbClr val="002060"/>
                </a:solidFill>
                <a:latin typeface="Nirmala UI"/>
              </a:rPr>
              <a:t>FILTER SO FAR</a:t>
            </a:r>
          </a:p>
        </p:txBody>
      </p:sp>
      <p:sp>
        <p:nvSpPr>
          <p:cNvPr id="5" name="TextBox 4"/>
          <p:cNvSpPr txBox="1"/>
          <p:nvPr/>
        </p:nvSpPr>
        <p:spPr>
          <a:xfrm>
            <a:off x="4983480" y="1298448"/>
            <a:ext cx="2834640" cy="310896"/>
          </a:xfrm>
          <a:prstGeom prst="rect">
            <a:avLst/>
          </a:prstGeom>
          <a:noFill/>
        </p:spPr>
        <p:txBody>
          <a:bodyPr wrap="square" anchor="t" lIns="0" rIns="0" tIns="0" bIns="0">
            <a:spAutoFit/>
          </a:bodyPr>
          <a:lstStyle/>
          <a:p>
            <a:pPr algn="l"/>
            <a:r>
              <a:rPr sz="1300" b="1" i="0">
                <a:solidFill>
                  <a:srgbClr val="002060"/>
                </a:solidFill>
                <a:latin typeface="Nirmala UI"/>
              </a:rPr>
              <a:t>COUNT  ·  WHO IS LEFT</a:t>
            </a:r>
          </a:p>
        </p:txBody>
      </p:sp>
      <p:sp>
        <p:nvSpPr>
          <p:cNvPr id="6" name="Rounded Rectangle 5"/>
          <p:cNvSpPr/>
          <p:nvPr/>
        </p:nvSpPr>
        <p:spPr>
          <a:xfrm>
            <a:off x="457200" y="1709928"/>
            <a:ext cx="4206240" cy="50292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a:t>
            </a:r>
          </a:p>
        </p:txBody>
      </p:sp>
      <p:cxnSp>
        <p:nvCxnSpPr>
          <p:cNvPr id="7" name="Connector 6"/>
          <p:cNvCxnSpPr/>
          <p:nvPr/>
        </p:nvCxnSpPr>
        <p:spPr>
          <a:xfrm>
            <a:off x="4709160" y="1961388"/>
            <a:ext cx="246888"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0" y="1696212"/>
            <a:ext cx="530352" cy="53035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FFFFFF"/>
                </a:solidFill>
                <a:latin typeface="Nirmala UI"/>
              </a:rPr>
              <a:t>13</a:t>
            </a:r>
          </a:p>
        </p:txBody>
      </p:sp>
      <p:sp>
        <p:nvSpPr>
          <p:cNvPr id="9" name="TextBox 8"/>
          <p:cNvSpPr txBox="1"/>
          <p:nvPr/>
        </p:nvSpPr>
        <p:spPr>
          <a:xfrm>
            <a:off x="5650992" y="1709928"/>
            <a:ext cx="2167128" cy="502920"/>
          </a:xfrm>
          <a:prstGeom prst="rect">
            <a:avLst/>
          </a:prstGeom>
          <a:noFill/>
        </p:spPr>
        <p:txBody>
          <a:bodyPr wrap="square" anchor="ctr" lIns="0" rIns="0" tIns="0" bIns="0">
            <a:spAutoFit/>
          </a:bodyPr>
          <a:lstStyle/>
          <a:p>
            <a:pPr algn="l"/>
            <a:r>
              <a:rPr sz="1300" b="0" i="0">
                <a:solidFill>
                  <a:srgbClr val="000000"/>
                </a:solidFill>
                <a:latin typeface="Nirmala UI"/>
              </a:rPr>
              <a:t>Every product</a:t>
            </a:r>
          </a:p>
        </p:txBody>
      </p:sp>
      <p:sp>
        <p:nvSpPr>
          <p:cNvPr id="10" name="Rounded Rectangle 9"/>
          <p:cNvSpPr/>
          <p:nvPr/>
        </p:nvSpPr>
        <p:spPr>
          <a:xfrm>
            <a:off x="457200" y="2612136"/>
            <a:ext cx="4206240" cy="50292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category: "ACCESSORY" }</a:t>
            </a:r>
          </a:p>
        </p:txBody>
      </p:sp>
      <p:cxnSp>
        <p:nvCxnSpPr>
          <p:cNvPr id="11" name="Connector 10"/>
          <p:cNvCxnSpPr/>
          <p:nvPr/>
        </p:nvCxnSpPr>
        <p:spPr>
          <a:xfrm>
            <a:off x="4709160" y="2863595"/>
            <a:ext cx="246888"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4983480" y="2598419"/>
            <a:ext cx="530352" cy="530352"/>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FFFFFF"/>
                </a:solidFill>
                <a:latin typeface="Nirmala UI"/>
              </a:rPr>
              <a:t>5</a:t>
            </a:r>
          </a:p>
        </p:txBody>
      </p:sp>
      <p:sp>
        <p:nvSpPr>
          <p:cNvPr id="13" name="TextBox 12"/>
          <p:cNvSpPr txBox="1"/>
          <p:nvPr/>
        </p:nvSpPr>
        <p:spPr>
          <a:xfrm>
            <a:off x="5650992" y="2612136"/>
            <a:ext cx="2167128" cy="502920"/>
          </a:xfrm>
          <a:prstGeom prst="rect">
            <a:avLst/>
          </a:prstGeom>
          <a:noFill/>
        </p:spPr>
        <p:txBody>
          <a:bodyPr wrap="square" anchor="ctr" lIns="0" rIns="0" tIns="0" bIns="0">
            <a:spAutoFit/>
          </a:bodyPr>
          <a:lstStyle/>
          <a:p>
            <a:pPr algn="l"/>
            <a:r>
              <a:rPr sz="1300" b="0" i="0">
                <a:solidFill>
                  <a:srgbClr val="000000"/>
                </a:solidFill>
                <a:latin typeface="Nirmala UI"/>
              </a:rPr>
              <a:t>P1001, A400, A410, A500, XBAD</a:t>
            </a:r>
          </a:p>
        </p:txBody>
      </p:sp>
      <p:sp>
        <p:nvSpPr>
          <p:cNvPr id="14" name="Rounded Rectangle 13"/>
          <p:cNvSpPr/>
          <p:nvPr/>
        </p:nvSpPr>
        <p:spPr>
          <a:xfrm>
            <a:off x="457200" y="3514343"/>
            <a:ext cx="4206240" cy="73152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category: "ACCESSORY",</a:t>
            </a:r>
          </a:p>
          <a:p>
            <a:pPr algn="l"/>
            <a:r>
              <a:rPr sz="1200" b="0" i="0">
                <a:solidFill>
                  <a:srgbClr val="000000"/>
                </a:solidFill>
                <a:latin typeface="Consolas"/>
              </a:rPr>
              <a:t>  active: true }</a:t>
            </a:r>
          </a:p>
        </p:txBody>
      </p:sp>
      <p:cxnSp>
        <p:nvCxnSpPr>
          <p:cNvPr id="15" name="Connector 14"/>
          <p:cNvCxnSpPr/>
          <p:nvPr/>
        </p:nvCxnSpPr>
        <p:spPr>
          <a:xfrm>
            <a:off x="4709160" y="3880104"/>
            <a:ext cx="246888"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983480" y="3614928"/>
            <a:ext cx="530352" cy="530352"/>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FFFFFF"/>
                </a:solidFill>
                <a:latin typeface="Nirmala UI"/>
              </a:rPr>
              <a:t>5</a:t>
            </a:r>
          </a:p>
        </p:txBody>
      </p:sp>
      <p:sp>
        <p:nvSpPr>
          <p:cNvPr id="17" name="TextBox 16"/>
          <p:cNvSpPr txBox="1"/>
          <p:nvPr/>
        </p:nvSpPr>
        <p:spPr>
          <a:xfrm>
            <a:off x="5650992" y="3514343"/>
            <a:ext cx="2167128" cy="731520"/>
          </a:xfrm>
          <a:prstGeom prst="rect">
            <a:avLst/>
          </a:prstGeom>
          <a:noFill/>
        </p:spPr>
        <p:txBody>
          <a:bodyPr wrap="square" anchor="ctr" lIns="0" rIns="0" tIns="0" bIns="0">
            <a:spAutoFit/>
          </a:bodyPr>
          <a:lstStyle/>
          <a:p>
            <a:pPr algn="l"/>
            <a:r>
              <a:rPr sz="1300" b="0" i="0">
                <a:solidFill>
                  <a:srgbClr val="000000"/>
                </a:solidFill>
                <a:latin typeface="Nirmala UI"/>
              </a:rPr>
              <a:t>All five accessories are active</a:t>
            </a:r>
          </a:p>
        </p:txBody>
      </p:sp>
      <p:sp>
        <p:nvSpPr>
          <p:cNvPr id="18" name="Rounded Rectangle 17"/>
          <p:cNvSpPr/>
          <p:nvPr/>
        </p:nvSpPr>
        <p:spPr>
          <a:xfrm>
            <a:off x="457200" y="4645151"/>
            <a:ext cx="4206240" cy="118872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200" b="0" i="0">
                <a:solidFill>
                  <a:srgbClr val="000000"/>
                </a:solidFill>
                <a:latin typeface="Consolas"/>
              </a:rPr>
              <a:t>{ category: "ACCESSORY",</a:t>
            </a:r>
          </a:p>
          <a:p>
            <a:pPr algn="l"/>
            <a:r>
              <a:rPr sz="1200" b="0" i="0">
                <a:solidFill>
                  <a:srgbClr val="000000"/>
                </a:solidFill>
                <a:latin typeface="Consolas"/>
              </a:rPr>
              <a:t>  active: true,</a:t>
            </a:r>
          </a:p>
          <a:p>
            <a:pPr algn="l"/>
            <a:r>
              <a:rPr sz="1200" b="0" i="0">
                <a:solidFill>
                  <a:srgbClr val="000000"/>
                </a:solidFill>
                <a:latin typeface="Consolas"/>
              </a:rPr>
              <a:t>  price: { $lte:</a:t>
            </a:r>
          </a:p>
          <a:p>
            <a:pPr algn="l"/>
            <a:r>
              <a:rPr sz="1200" b="0" i="0">
                <a:solidFill>
                  <a:srgbClr val="000000"/>
                </a:solidFill>
                <a:latin typeface="Consolas"/>
              </a:rPr>
              <a:t>    Decimal128("100.00") } }</a:t>
            </a:r>
          </a:p>
        </p:txBody>
      </p:sp>
      <p:cxnSp>
        <p:nvCxnSpPr>
          <p:cNvPr id="19" name="Connector 18"/>
          <p:cNvCxnSpPr/>
          <p:nvPr/>
        </p:nvCxnSpPr>
        <p:spPr>
          <a:xfrm>
            <a:off x="4709160" y="5239512"/>
            <a:ext cx="246888"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983480" y="4974336"/>
            <a:ext cx="530352" cy="53035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600" b="1" i="0">
                <a:solidFill>
                  <a:srgbClr val="FFFFFF"/>
                </a:solidFill>
                <a:latin typeface="Nirmala UI"/>
              </a:rPr>
              <a:t>3</a:t>
            </a:r>
          </a:p>
        </p:txBody>
      </p:sp>
      <p:sp>
        <p:nvSpPr>
          <p:cNvPr id="21" name="TextBox 20"/>
          <p:cNvSpPr txBox="1"/>
          <p:nvPr/>
        </p:nvSpPr>
        <p:spPr>
          <a:xfrm>
            <a:off x="5650992" y="4645151"/>
            <a:ext cx="2167128" cy="1188720"/>
          </a:xfrm>
          <a:prstGeom prst="rect">
            <a:avLst/>
          </a:prstGeom>
          <a:noFill/>
        </p:spPr>
        <p:txBody>
          <a:bodyPr wrap="square" anchor="ctr" lIns="0" rIns="0" tIns="0" bIns="0">
            <a:spAutoFit/>
          </a:bodyPr>
          <a:lstStyle/>
          <a:p>
            <a:pPr algn="l"/>
            <a:r>
              <a:rPr sz="1300" b="0" i="0">
                <a:solidFill>
                  <a:srgbClr val="000000"/>
                </a:solidFill>
                <a:latin typeface="Nirmala UI"/>
              </a:rPr>
              <a:t>P1001, A400, A410</a:t>
            </a:r>
          </a:p>
        </p:txBody>
      </p:sp>
      <p:sp>
        <p:nvSpPr>
          <p:cNvPr id="22" name="Rounded Rectangle 21"/>
          <p:cNvSpPr/>
          <p:nvPr/>
        </p:nvSpPr>
        <p:spPr>
          <a:xfrm>
            <a:off x="8138160" y="1298448"/>
            <a:ext cx="3566160" cy="106053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TextBox 22"/>
          <p:cNvSpPr txBox="1"/>
          <p:nvPr/>
        </p:nvSpPr>
        <p:spPr>
          <a:xfrm>
            <a:off x="8275320" y="1353312"/>
            <a:ext cx="3291840" cy="292608"/>
          </a:xfrm>
          <a:prstGeom prst="rect">
            <a:avLst/>
          </a:prstGeom>
          <a:noFill/>
        </p:spPr>
        <p:txBody>
          <a:bodyPr wrap="square" anchor="ctr" lIns="0" rIns="0" tIns="0" bIns="0">
            <a:spAutoFit/>
          </a:bodyPr>
          <a:lstStyle/>
          <a:p>
            <a:pPr algn="l"/>
            <a:r>
              <a:rPr sz="1300" b="1" i="0">
                <a:solidFill>
                  <a:srgbClr val="002060"/>
                </a:solidFill>
                <a:latin typeface="Nirmala UI"/>
              </a:rPr>
              <a:t>Why one at a time</a:t>
            </a:r>
          </a:p>
        </p:txBody>
      </p:sp>
      <p:sp>
        <p:nvSpPr>
          <p:cNvPr id="24" name="TextBox 23"/>
          <p:cNvSpPr txBox="1"/>
          <p:nvPr/>
        </p:nvSpPr>
        <p:spPr>
          <a:xfrm>
            <a:off x="8275320" y="1664208"/>
            <a:ext cx="3291840" cy="639910"/>
          </a:xfrm>
          <a:prstGeom prst="rect">
            <a:avLst/>
          </a:prstGeom>
          <a:noFill/>
        </p:spPr>
        <p:txBody>
          <a:bodyPr wrap="square" anchor="t" lIns="0" rIns="0" tIns="0" bIns="0">
            <a:spAutoFit/>
          </a:bodyPr>
          <a:lstStyle/>
          <a:p>
            <a:pPr algn="l"/>
            <a:r>
              <a:rPr sz="1200" b="0" i="0">
                <a:solidFill>
                  <a:srgbClr val="000000"/>
                </a:solidFill>
                <a:latin typeface="Nirmala UI"/>
              </a:rPr>
              <a:t>When the result is wrong, you know which condition caused it.</a:t>
            </a:r>
          </a:p>
        </p:txBody>
      </p:sp>
      <p:sp>
        <p:nvSpPr>
          <p:cNvPr id="25" name="TextBox 24"/>
          <p:cNvSpPr txBox="1"/>
          <p:nvPr/>
        </p:nvSpPr>
        <p:spPr>
          <a:xfrm>
            <a:off x="8138160" y="2486998"/>
            <a:ext cx="3566160" cy="310896"/>
          </a:xfrm>
          <a:prstGeom prst="rect">
            <a:avLst/>
          </a:prstGeom>
          <a:noFill/>
        </p:spPr>
        <p:txBody>
          <a:bodyPr wrap="square" anchor="ctr" lIns="0" rIns="0" tIns="0" bIns="0">
            <a:spAutoFit/>
          </a:bodyPr>
          <a:lstStyle/>
          <a:p>
            <a:pPr algn="l"/>
            <a:r>
              <a:rPr sz="1300" b="1" i="0">
                <a:solidFill>
                  <a:srgbClr val="002060"/>
                </a:solidFill>
                <a:latin typeface="Nirmala UI"/>
              </a:rPr>
              <a:t>Count after each step</a:t>
            </a:r>
          </a:p>
        </p:txBody>
      </p:sp>
      <p:sp>
        <p:nvSpPr>
          <p:cNvPr id="26" name="Rounded Rectangle 25"/>
          <p:cNvSpPr/>
          <p:nvPr/>
        </p:nvSpPr>
        <p:spPr>
          <a:xfrm>
            <a:off x="8138160" y="2816182"/>
            <a:ext cx="3566160" cy="67411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db.products.countDocuments({</a:t>
            </a:r>
          </a:p>
          <a:p>
            <a:pPr algn="l"/>
            <a:r>
              <a:rPr sz="1100" b="0" i="0">
                <a:solidFill>
                  <a:srgbClr val="000000"/>
                </a:solidFill>
                <a:latin typeface="Consolas"/>
              </a:rPr>
              <a:t>  category: "ACCESSORY" })  // 5</a:t>
            </a:r>
          </a:p>
        </p:txBody>
      </p:sp>
      <p:sp>
        <p:nvSpPr>
          <p:cNvPr id="27" name="Rounded Rectangle 26"/>
          <p:cNvSpPr/>
          <p:nvPr/>
        </p:nvSpPr>
        <p:spPr>
          <a:xfrm>
            <a:off x="8138160" y="3618314"/>
            <a:ext cx="3566160" cy="124646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8" name="TextBox 27"/>
          <p:cNvSpPr txBox="1"/>
          <p:nvPr/>
        </p:nvSpPr>
        <p:spPr>
          <a:xfrm>
            <a:off x="8275320" y="3673178"/>
            <a:ext cx="3291840" cy="292608"/>
          </a:xfrm>
          <a:prstGeom prst="rect">
            <a:avLst/>
          </a:prstGeom>
          <a:noFill/>
        </p:spPr>
        <p:txBody>
          <a:bodyPr wrap="square" anchor="ctr" lIns="0" rIns="0" tIns="0" bIns="0">
            <a:spAutoFit/>
          </a:bodyPr>
          <a:lstStyle/>
          <a:p>
            <a:pPr algn="l"/>
            <a:r>
              <a:rPr sz="1300" b="1" i="0">
                <a:solidFill>
                  <a:srgbClr val="002060"/>
                </a:solidFill>
                <a:latin typeface="Nirmala UI"/>
              </a:rPr>
              <a:t>Two drops explained</a:t>
            </a:r>
          </a:p>
        </p:txBody>
      </p:sp>
      <p:sp>
        <p:nvSpPr>
          <p:cNvPr id="29" name="TextBox 28"/>
          <p:cNvSpPr txBox="1"/>
          <p:nvPr/>
        </p:nvSpPr>
        <p:spPr>
          <a:xfrm>
            <a:off x="8275320" y="3984074"/>
            <a:ext cx="3291840" cy="825838"/>
          </a:xfrm>
          <a:prstGeom prst="rect">
            <a:avLst/>
          </a:prstGeom>
          <a:noFill/>
        </p:spPr>
        <p:txBody>
          <a:bodyPr wrap="square" anchor="t" lIns="0" rIns="0" tIns="0" bIns="0">
            <a:spAutoFit/>
          </a:bodyPr>
          <a:lstStyle/>
          <a:p>
            <a:pPr algn="l"/>
            <a:r>
              <a:rPr sz="1200" b="0" i="0">
                <a:solidFill>
                  <a:srgbClr val="000000"/>
                </a:solidFill>
                <a:latin typeface="Nirmala UI"/>
              </a:rPr>
              <a:t>A500 costs 249.99. XBAD's price is the string "49.99", so a Decimal128 range skips it.</a:t>
            </a:r>
          </a:p>
        </p:txBody>
      </p:sp>
      <p:sp>
        <p:nvSpPr>
          <p:cNvPr id="30" name="Rounded Rectangle 29"/>
          <p:cNvSpPr/>
          <p:nvPr/>
        </p:nvSpPr>
        <p:spPr>
          <a:xfrm>
            <a:off x="8138160" y="4992793"/>
            <a:ext cx="3566160" cy="84107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1" name="TextBox 30"/>
          <p:cNvSpPr txBox="1"/>
          <p:nvPr/>
        </p:nvSpPr>
        <p:spPr>
          <a:xfrm>
            <a:off x="8321040" y="4992793"/>
            <a:ext cx="3200400" cy="841078"/>
          </a:xfrm>
          <a:prstGeom prst="rect">
            <a:avLst/>
          </a:prstGeom>
          <a:noFill/>
        </p:spPr>
        <p:txBody>
          <a:bodyPr wrap="square" anchor="ctr" lIns="0" rIns="0" tIns="0" bIns="0">
            <a:spAutoFit/>
          </a:bodyPr>
          <a:lstStyle/>
          <a:p>
            <a:pPr algn="l"/>
            <a:r>
              <a:rPr sz="1200" b="1" i="0">
                <a:solidFill>
                  <a:srgbClr val="D1282E"/>
                </a:solidFill>
                <a:latin typeface="Nirmala UI"/>
              </a:rPr>
              <a:t>SURPRISED?   </a:t>
            </a:r>
            <a:r>
              <a:rPr sz="1200" b="0" i="0">
                <a:solidFill>
                  <a:srgbClr val="000000"/>
                </a:solidFill>
                <a:latin typeface="Nirmala UI"/>
              </a:rPr>
              <a:t>Check the field name, case and BSON type first.</a:t>
            </a:r>
          </a:p>
        </p:txBody>
      </p:sp>
      <p:sp>
        <p:nvSpPr>
          <p:cNvPr id="32" name="Rounded Rectangle 31"/>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Grow a filter one condition at a time and count after each step — every drop should have a reason.</a:t>
            </a:r>
          </a:p>
        </p:txBody>
      </p:sp>
      <p:sp>
        <p:nvSpPr>
          <p:cNvPr id="34" name="Rectangle 3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$NOT AND $NOR OPERATORS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Negate one expression — or reject every listed condition.</a:t>
            </a:r>
          </a:p>
        </p:txBody>
      </p:sp>
      <p:sp>
        <p:nvSpPr>
          <p:cNvPr id="4" name="Rounded Rectangle 3"/>
          <p:cNvSpPr/>
          <p:nvPr/>
        </p:nvSpPr>
        <p:spPr>
          <a:xfrm>
            <a:off x="475488" y="2236500"/>
            <a:ext cx="7415783" cy="265931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6" descr="image.jpg"/>
          <p:cNvPicPr>
            <a:picLocks noChangeAspect="1"/>
          </p:cNvPicPr>
          <p:nvPr/>
        </p:nvPicPr>
        <p:blipFill>
          <a:blip r:embed="rId2"/>
          <a:stretch>
            <a:fillRect/>
          </a:stretch>
        </p:blipFill>
        <p:spPr>
          <a:xfrm>
            <a:off x="548640" y="2309652"/>
            <a:ext cx="7269480" cy="2513014"/>
          </a:xfrm>
          <a:prstGeom prst="rect">
            <a:avLst/>
          </a:prstGeom>
        </p:spPr>
      </p:pic>
      <p:sp>
        <p:nvSpPr>
          <p:cNvPr id="6" name="Rounded Rectangle 5"/>
          <p:cNvSpPr/>
          <p:nvPr/>
        </p:nvSpPr>
        <p:spPr>
          <a:xfrm>
            <a:off x="8183880" y="1298448"/>
            <a:ext cx="3520440" cy="118567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$not</a:t>
            </a:r>
          </a:p>
        </p:txBody>
      </p:sp>
      <p:sp>
        <p:nvSpPr>
          <p:cNvPr id="8" name="TextBox 7"/>
          <p:cNvSpPr txBox="1"/>
          <p:nvPr/>
        </p:nvSpPr>
        <p:spPr>
          <a:xfrm>
            <a:off x="8321040" y="1664208"/>
            <a:ext cx="3246120" cy="765047"/>
          </a:xfrm>
          <a:prstGeom prst="rect">
            <a:avLst/>
          </a:prstGeom>
          <a:noFill/>
        </p:spPr>
        <p:txBody>
          <a:bodyPr wrap="square" anchor="t" lIns="0" rIns="0" tIns="0" bIns="0">
            <a:spAutoFit/>
          </a:bodyPr>
          <a:lstStyle/>
          <a:p>
            <a:pPr algn="l"/>
            <a:r>
              <a:rPr sz="1200" b="0" i="0">
                <a:solidFill>
                  <a:srgbClr val="000000"/>
                </a:solidFill>
                <a:latin typeface="Nirmala UI"/>
              </a:rPr>
              <a:t>Wraps an operator: { price: { $not: { $gt: … } } }. Missing or non-numeric prices pass too.</a:t>
            </a:r>
          </a:p>
        </p:txBody>
      </p:sp>
      <p:sp>
        <p:nvSpPr>
          <p:cNvPr id="9" name="Rounded Rectangle 8"/>
          <p:cNvSpPr/>
          <p:nvPr/>
        </p:nvSpPr>
        <p:spPr>
          <a:xfrm>
            <a:off x="8183880" y="2612136"/>
            <a:ext cx="3520440" cy="99974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66700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$nor</a:t>
            </a:r>
          </a:p>
        </p:txBody>
      </p:sp>
      <p:sp>
        <p:nvSpPr>
          <p:cNvPr id="11" name="TextBox 10"/>
          <p:cNvSpPr txBox="1"/>
          <p:nvPr/>
        </p:nvSpPr>
        <p:spPr>
          <a:xfrm>
            <a:off x="8321040" y="2977895"/>
            <a:ext cx="3246120" cy="579120"/>
          </a:xfrm>
          <a:prstGeom prst="rect">
            <a:avLst/>
          </a:prstGeom>
          <a:noFill/>
        </p:spPr>
        <p:txBody>
          <a:bodyPr wrap="square" anchor="t" lIns="0" rIns="0" tIns="0" bIns="0">
            <a:spAutoFit/>
          </a:bodyPr>
          <a:lstStyle/>
          <a:p>
            <a:pPr algn="l"/>
            <a:r>
              <a:rPr sz="1200" b="0" i="0">
                <a:solidFill>
                  <a:srgbClr val="000000"/>
                </a:solidFill>
                <a:latin typeface="Nirmala UI"/>
              </a:rPr>
              <a:t>Keeps documents that fail every listed condition.</a:t>
            </a:r>
          </a:p>
        </p:txBody>
      </p:sp>
      <p:sp>
        <p:nvSpPr>
          <p:cNvPr id="12" name="Rounded Rectangle 11"/>
          <p:cNvSpPr/>
          <p:nvPr/>
        </p:nvSpPr>
        <p:spPr>
          <a:xfrm>
            <a:off x="8183880" y="3739896"/>
            <a:ext cx="3520440" cy="99974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Prefer $ne</a:t>
            </a:r>
          </a:p>
        </p:txBody>
      </p:sp>
      <p:sp>
        <p:nvSpPr>
          <p:cNvPr id="14" name="TextBox 13"/>
          <p:cNvSpPr txBox="1"/>
          <p:nvPr/>
        </p:nvSpPr>
        <p:spPr>
          <a:xfrm>
            <a:off x="8321040" y="4105656"/>
            <a:ext cx="3246120" cy="579120"/>
          </a:xfrm>
          <a:prstGeom prst="rect">
            <a:avLst/>
          </a:prstGeom>
          <a:noFill/>
        </p:spPr>
        <p:txBody>
          <a:bodyPr wrap="square" anchor="t" lIns="0" rIns="0" tIns="0" bIns="0">
            <a:spAutoFit/>
          </a:bodyPr>
          <a:lstStyle/>
          <a:p>
            <a:pPr algn="l"/>
            <a:r>
              <a:rPr sz="1200" b="0" i="0">
                <a:solidFill>
                  <a:srgbClr val="000000"/>
                </a:solidFill>
                <a:latin typeface="Nirmala UI"/>
              </a:rPr>
              <a:t>For a simple not-equal, $ne reads better than $not.</a:t>
            </a:r>
          </a:p>
        </p:txBody>
      </p:sp>
      <p:sp>
        <p:nvSpPr>
          <p:cNvPr id="15" name="Rounded Rectangle 14"/>
          <p:cNvSpPr/>
          <p:nvPr/>
        </p:nvSpPr>
        <p:spPr>
          <a:xfrm>
            <a:off x="8183880" y="4867656"/>
            <a:ext cx="3520440" cy="966216"/>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867656"/>
            <a:ext cx="3154680" cy="966216"/>
          </a:xfrm>
          <a:prstGeom prst="rect">
            <a:avLst/>
          </a:prstGeom>
          <a:noFill/>
        </p:spPr>
        <p:txBody>
          <a:bodyPr wrap="square" anchor="ctr" lIns="0" rIns="0" tIns="0" bIns="0">
            <a:spAutoFit/>
          </a:bodyPr>
          <a:lstStyle/>
          <a:p>
            <a:pPr algn="l"/>
            <a:r>
              <a:rPr sz="1200" b="1" i="0">
                <a:solidFill>
                  <a:srgbClr val="D1282E"/>
                </a:solidFill>
                <a:latin typeface="Nirmala UI"/>
              </a:rPr>
              <a:t>ON TRAINING_STORE   </a:t>
            </a:r>
            <a:r>
              <a:rPr sz="1200" b="0" i="0">
                <a:solidFill>
                  <a:srgbClr val="000000"/>
                </a:solidFill>
                <a:latin typeface="Nirmala UI"/>
              </a:rPr>
              <a:t>$nor: [{ category: "BOOK" }, { active: false }] keeps 10 of 13 products.</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Negations over-match easily: $not, $nor, $ne and $nin all keep documents where the field is missing.</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FIELD EXISTENCE, BSON TYPE AND NULL</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Missing, explicit null and the wrong type are three different questions.</a:t>
            </a:r>
          </a:p>
        </p:txBody>
      </p:sp>
      <p:sp>
        <p:nvSpPr>
          <p:cNvPr id="4" name="Rounded Rectangle 3"/>
          <p:cNvSpPr/>
          <p:nvPr/>
        </p:nvSpPr>
        <p:spPr>
          <a:xfrm>
            <a:off x="475488" y="1966938"/>
            <a:ext cx="7415783" cy="3198442"/>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7" descr="image.jpg"/>
          <p:cNvPicPr>
            <a:picLocks noChangeAspect="1"/>
          </p:cNvPicPr>
          <p:nvPr/>
        </p:nvPicPr>
        <p:blipFill>
          <a:blip r:embed="rId2"/>
          <a:stretch>
            <a:fillRect/>
          </a:stretch>
        </p:blipFill>
        <p:spPr>
          <a:xfrm>
            <a:off x="548640" y="2040090"/>
            <a:ext cx="7269480" cy="3052138"/>
          </a:xfrm>
          <a:prstGeom prst="rect">
            <a:avLst/>
          </a:prstGeom>
        </p:spPr>
      </p:pic>
      <p:sp>
        <p:nvSpPr>
          <p:cNvPr id="6" name="Rounded Rectangle 5"/>
          <p:cNvSpPr/>
          <p:nvPr/>
        </p:nvSpPr>
        <p:spPr>
          <a:xfrm>
            <a:off x="8183880" y="1298448"/>
            <a:ext cx="3520440" cy="8677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 field: null }</a:t>
            </a:r>
          </a:p>
        </p:txBody>
      </p:sp>
      <p:sp>
        <p:nvSpPr>
          <p:cNvPr id="8" name="TextBox 7"/>
          <p:cNvSpPr txBox="1"/>
          <p:nvPr/>
        </p:nvSpPr>
        <p:spPr>
          <a:xfrm>
            <a:off x="8321040" y="1664208"/>
            <a:ext cx="3246120" cy="447124"/>
          </a:xfrm>
          <a:prstGeom prst="rect">
            <a:avLst/>
          </a:prstGeom>
          <a:noFill/>
        </p:spPr>
        <p:txBody>
          <a:bodyPr wrap="square" anchor="t" lIns="0" rIns="0" tIns="0" bIns="0">
            <a:spAutoFit/>
          </a:bodyPr>
          <a:lstStyle/>
          <a:p>
            <a:pPr algn="l"/>
            <a:r>
              <a:rPr sz="1200" b="0" i="0">
                <a:solidFill>
                  <a:srgbClr val="000000"/>
                </a:solidFill>
                <a:latin typeface="Nirmala UI"/>
              </a:rPr>
              <a:t>Explicit null or missing: C204 and C515.</a:t>
            </a:r>
          </a:p>
        </p:txBody>
      </p:sp>
      <p:sp>
        <p:nvSpPr>
          <p:cNvPr id="9" name="Rounded Rectangle 8"/>
          <p:cNvSpPr/>
          <p:nvPr/>
        </p:nvSpPr>
        <p:spPr>
          <a:xfrm>
            <a:off x="8183880" y="2294212"/>
            <a:ext cx="3520440" cy="8677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34907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$type: "null"</a:t>
            </a:r>
          </a:p>
        </p:txBody>
      </p:sp>
      <p:sp>
        <p:nvSpPr>
          <p:cNvPr id="11" name="TextBox 10"/>
          <p:cNvSpPr txBox="1"/>
          <p:nvPr/>
        </p:nvSpPr>
        <p:spPr>
          <a:xfrm>
            <a:off x="8321040" y="2659972"/>
            <a:ext cx="3246120" cy="447124"/>
          </a:xfrm>
          <a:prstGeom prst="rect">
            <a:avLst/>
          </a:prstGeom>
          <a:noFill/>
        </p:spPr>
        <p:txBody>
          <a:bodyPr wrap="square" anchor="t" lIns="0" rIns="0" tIns="0" bIns="0">
            <a:spAutoFit/>
          </a:bodyPr>
          <a:lstStyle/>
          <a:p>
            <a:pPr algn="l"/>
            <a:r>
              <a:rPr sz="1200" b="0" i="0">
                <a:solidFill>
                  <a:srgbClr val="000000"/>
                </a:solidFill>
                <a:latin typeface="Nirmala UI"/>
              </a:rPr>
              <a:t>Explicit null only: C204's phone.</a:t>
            </a:r>
          </a:p>
        </p:txBody>
      </p:sp>
      <p:sp>
        <p:nvSpPr>
          <p:cNvPr id="12" name="Rounded Rectangle 11"/>
          <p:cNvSpPr/>
          <p:nvPr/>
        </p:nvSpPr>
        <p:spPr>
          <a:xfrm>
            <a:off x="8183880" y="3289977"/>
            <a:ext cx="3520440" cy="8677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344841"/>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$exists: false</a:t>
            </a:r>
          </a:p>
        </p:txBody>
      </p:sp>
      <p:sp>
        <p:nvSpPr>
          <p:cNvPr id="14" name="TextBox 13"/>
          <p:cNvSpPr txBox="1"/>
          <p:nvPr/>
        </p:nvSpPr>
        <p:spPr>
          <a:xfrm>
            <a:off x="8321040" y="3655737"/>
            <a:ext cx="3246120" cy="447124"/>
          </a:xfrm>
          <a:prstGeom prst="rect">
            <a:avLst/>
          </a:prstGeom>
          <a:noFill/>
        </p:spPr>
        <p:txBody>
          <a:bodyPr wrap="square" anchor="t" lIns="0" rIns="0" tIns="0" bIns="0">
            <a:spAutoFit/>
          </a:bodyPr>
          <a:lstStyle/>
          <a:p>
            <a:pPr algn="l"/>
            <a:r>
              <a:rPr sz="1200" b="0" i="0">
                <a:solidFill>
                  <a:srgbClr val="000000"/>
                </a:solidFill>
                <a:latin typeface="Nirmala UI"/>
              </a:rPr>
              <a:t>Missing only: C515 has no phone field.</a:t>
            </a:r>
          </a:p>
        </p:txBody>
      </p:sp>
      <p:sp>
        <p:nvSpPr>
          <p:cNvPr id="15" name="TextBox 14"/>
          <p:cNvSpPr txBox="1"/>
          <p:nvPr/>
        </p:nvSpPr>
        <p:spPr>
          <a:xfrm>
            <a:off x="8183880" y="4285742"/>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Find the planted type error</a:t>
            </a:r>
          </a:p>
        </p:txBody>
      </p:sp>
      <p:sp>
        <p:nvSpPr>
          <p:cNvPr id="16" name="Rounded Rectangle 15"/>
          <p:cNvSpPr/>
          <p:nvPr/>
        </p:nvSpPr>
        <p:spPr>
          <a:xfrm>
            <a:off x="8183880" y="4614926"/>
            <a:ext cx="3520440" cy="121894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db.products.find(</a:t>
            </a:r>
          </a:p>
          <a:p>
            <a:pPr algn="l"/>
            <a:r>
              <a:rPr sz="1100" b="0" i="0">
                <a:solidFill>
                  <a:srgbClr val="000000"/>
                </a:solidFill>
                <a:latin typeface="Consolas"/>
              </a:rPr>
              <a:t>  { price: { $type:</a:t>
            </a:r>
          </a:p>
          <a:p>
            <a:pPr algn="l"/>
            <a:r>
              <a:rPr sz="1100" b="0" i="0">
                <a:solidFill>
                  <a:srgbClr val="000000"/>
                </a:solidFill>
                <a:latin typeface="Consolas"/>
              </a:rPr>
              <a:t>    "string" } },</a:t>
            </a:r>
          </a:p>
          <a:p>
            <a:pPr algn="l"/>
            <a:r>
              <a:rPr sz="1100" b="0" i="0">
                <a:solidFill>
                  <a:srgbClr val="000000"/>
                </a:solidFill>
                <a:latin typeface="Consolas"/>
              </a:rPr>
              <a:t>  { _id: 0, sku: 1 })</a:t>
            </a:r>
          </a:p>
          <a:p>
            <a:pPr algn="l"/>
            <a:r>
              <a:rPr sz="1100" b="0" i="0">
                <a:solidFill>
                  <a:srgbClr val="000000"/>
                </a:solidFill>
                <a:latin typeface="Consolas"/>
              </a:rPr>
              <a:t>// { sku: "XBAD" }</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Ask exactly what you mean: $exists for presence, $type for the BSON type, null for null-or-missing.</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REGULAR EXPRESSIONS AND DATE RANGES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Match text by pattern; match time with a start and an end.</a:t>
            </a:r>
          </a:p>
        </p:txBody>
      </p:sp>
      <p:sp>
        <p:nvSpPr>
          <p:cNvPr id="4" name="TextBox 3"/>
          <p:cNvSpPr txBox="1"/>
          <p:nvPr/>
        </p:nvSpPr>
        <p:spPr>
          <a:xfrm>
            <a:off x="457200" y="1298448"/>
            <a:ext cx="5509260" cy="310896"/>
          </a:xfrm>
          <a:prstGeom prst="rect">
            <a:avLst/>
          </a:prstGeom>
          <a:noFill/>
        </p:spPr>
        <p:txBody>
          <a:bodyPr wrap="square" anchor="ctr" lIns="0" rIns="0" tIns="0" bIns="0">
            <a:spAutoFit/>
          </a:bodyPr>
          <a:lstStyle/>
          <a:p>
            <a:pPr algn="l"/>
            <a:r>
              <a:rPr sz="1300" b="1" i="0">
                <a:solidFill>
                  <a:srgbClr val="002060"/>
                </a:solidFill>
                <a:latin typeface="Nirmala UI"/>
              </a:rPr>
              <a:t>Pattern match on a string</a:t>
            </a:r>
          </a:p>
        </p:txBody>
      </p:sp>
      <p:sp>
        <p:nvSpPr>
          <p:cNvPr id="5" name="Rounded Rectangle 4"/>
          <p:cNvSpPr/>
          <p:nvPr/>
        </p:nvSpPr>
        <p:spPr>
          <a:xfrm>
            <a:off x="457200" y="1627632"/>
            <a:ext cx="5509260" cy="262242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db.products.find(</a:t>
            </a:r>
          </a:p>
          <a:p>
            <a:pPr algn="l"/>
            <a:r>
              <a:rPr sz="1300" b="0" i="0">
                <a:solidFill>
                  <a:srgbClr val="000000"/>
                </a:solidFill>
                <a:latin typeface="Consolas"/>
              </a:rPr>
              <a:t>  { name: { $regex: "^MongoDB" } },</a:t>
            </a:r>
          </a:p>
          <a:p>
            <a:pPr algn="l"/>
            <a:r>
              <a:rPr sz="1300" b="0" i="0">
                <a:solidFill>
                  <a:srgbClr val="000000"/>
                </a:solidFill>
                <a:latin typeface="Consolas"/>
              </a:rPr>
              <a:t>  { _id: 0, name: 1 })</a:t>
            </a:r>
          </a:p>
          <a:p>
            <a:pPr algn="l"/>
            <a:r>
              <a:rPr sz="1300" b="0" i="0">
                <a:solidFill>
                  <a:srgbClr val="000000"/>
                </a:solidFill>
                <a:latin typeface="Consolas"/>
              </a:rPr>
              <a:t>// MongoDB Fundamentals</a:t>
            </a:r>
          </a:p>
          <a:p>
            <a:pPr algn="l"/>
            <a:r>
              <a:rPr sz="1300" b="0" i="0">
                <a:solidFill>
                  <a:srgbClr val="000000"/>
                </a:solidFill>
                <a:latin typeface="Consolas"/>
              </a:rPr>
              <a:t/>
            </a:r>
          </a:p>
          <a:p>
            <a:pPr algn="l"/>
            <a:r>
              <a:rPr sz="1300" b="0" i="0">
                <a:solidFill>
                  <a:srgbClr val="000000"/>
                </a:solidFill>
                <a:latin typeface="Consolas"/>
              </a:rPr>
              <a:t>db.products.countDocuments({</a:t>
            </a:r>
          </a:p>
          <a:p>
            <a:pPr algn="l"/>
            <a:r>
              <a:rPr sz="1300" b="0" i="0">
                <a:solidFill>
                  <a:srgbClr val="000000"/>
                </a:solidFill>
                <a:latin typeface="Consolas"/>
              </a:rPr>
              <a:t>  name: { $regex: "wireless",</a:t>
            </a:r>
          </a:p>
          <a:p>
            <a:pPr algn="l"/>
            <a:r>
              <a:rPr sz="1300" b="0" i="0">
                <a:solidFill>
                  <a:srgbClr val="000000"/>
                </a:solidFill>
                <a:latin typeface="Consolas"/>
              </a:rPr>
              <a:t>          $options: "i" } })</a:t>
            </a:r>
          </a:p>
          <a:p>
            <a:pPr algn="l"/>
            <a:r>
              <a:rPr sz="1300" b="0" i="0">
                <a:solidFill>
                  <a:srgbClr val="000000"/>
                </a:solidFill>
                <a:latin typeface="Consolas"/>
              </a:rPr>
              <a:t>// 2 — Keyboard and Mouse</a:t>
            </a:r>
          </a:p>
        </p:txBody>
      </p:sp>
      <p:sp>
        <p:nvSpPr>
          <p:cNvPr id="6" name="Oval 5"/>
          <p:cNvSpPr/>
          <p:nvPr/>
        </p:nvSpPr>
        <p:spPr>
          <a:xfrm>
            <a:off x="619506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7" name="TextBox 6"/>
          <p:cNvSpPr txBox="1"/>
          <p:nvPr/>
        </p:nvSpPr>
        <p:spPr>
          <a:xfrm>
            <a:off x="6524244" y="1298448"/>
            <a:ext cx="5180076" cy="310896"/>
          </a:xfrm>
          <a:prstGeom prst="rect">
            <a:avLst/>
          </a:prstGeom>
          <a:noFill/>
        </p:spPr>
        <p:txBody>
          <a:bodyPr wrap="square" anchor="ctr" lIns="0" rIns="0" tIns="0" bIns="0">
            <a:spAutoFit/>
          </a:bodyPr>
          <a:lstStyle/>
          <a:p>
            <a:pPr algn="l"/>
            <a:r>
              <a:rPr sz="1300" b="1" i="0">
                <a:solidFill>
                  <a:srgbClr val="2E7D32"/>
                </a:solidFill>
                <a:latin typeface="Nirmala UI"/>
              </a:rPr>
              <a:t>Half-open date range</a:t>
            </a:r>
          </a:p>
        </p:txBody>
      </p:sp>
      <p:sp>
        <p:nvSpPr>
          <p:cNvPr id="8" name="Rounded Rectangle 7"/>
          <p:cNvSpPr/>
          <p:nvPr/>
        </p:nvSpPr>
        <p:spPr>
          <a:xfrm>
            <a:off x="6195060" y="1627632"/>
            <a:ext cx="5509260" cy="2622422"/>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db.orders.find(</a:t>
            </a:r>
          </a:p>
          <a:p>
            <a:pPr algn="l"/>
            <a:r>
              <a:rPr sz="1300" b="0" i="0">
                <a:solidFill>
                  <a:srgbClr val="000000"/>
                </a:solidFill>
                <a:latin typeface="Consolas"/>
              </a:rPr>
              <a:t>  { createdAt: {</a:t>
            </a:r>
          </a:p>
          <a:p>
            <a:pPr algn="l"/>
            <a:r>
              <a:rPr sz="1300" b="0" i="0">
                <a:solidFill>
                  <a:srgbClr val="000000"/>
                </a:solidFill>
                <a:latin typeface="Consolas"/>
              </a:rPr>
              <a:t>    $gte: ISODate("2026-09-19T00:00:00Z"),</a:t>
            </a:r>
          </a:p>
          <a:p>
            <a:pPr algn="l"/>
            <a:r>
              <a:rPr sz="1300" b="0" i="0">
                <a:solidFill>
                  <a:srgbClr val="000000"/>
                </a:solidFill>
                <a:latin typeface="Consolas"/>
              </a:rPr>
              <a:t>    $lt:  ISODate("2026-09-20T00:00:00Z")</a:t>
            </a:r>
          </a:p>
          <a:p>
            <a:pPr algn="l"/>
            <a:r>
              <a:rPr sz="1300" b="0" i="0">
                <a:solidFill>
                  <a:srgbClr val="000000"/>
                </a:solidFill>
                <a:latin typeface="Consolas"/>
              </a:rPr>
              <a:t>  } },</a:t>
            </a:r>
          </a:p>
          <a:p>
            <a:pPr algn="l"/>
            <a:r>
              <a:rPr sz="1300" b="0" i="0">
                <a:solidFill>
                  <a:srgbClr val="000000"/>
                </a:solidFill>
                <a:latin typeface="Consolas"/>
              </a:rPr>
              <a:t>  { _id: 0, orderNumber: 1 })</a:t>
            </a:r>
          </a:p>
          <a:p>
            <a:pPr algn="l"/>
            <a:r>
              <a:rPr sz="1300" b="0" i="0">
                <a:solidFill>
                  <a:srgbClr val="000000"/>
                </a:solidFill>
                <a:latin typeface="Consolas"/>
              </a:rPr>
              <a:t>// O6402, O6499: every order</a:t>
            </a:r>
          </a:p>
          <a:p>
            <a:pPr algn="l"/>
            <a:r>
              <a:rPr sz="1300" b="0" i="0">
                <a:solidFill>
                  <a:srgbClr val="000000"/>
                </a:solidFill>
                <a:latin typeface="Consolas"/>
              </a:rPr>
              <a:t>// placed on 19 September (UTC)</a:t>
            </a:r>
          </a:p>
        </p:txBody>
      </p:sp>
      <p:sp>
        <p:nvSpPr>
          <p:cNvPr id="9" name="Rounded Rectangle 8"/>
          <p:cNvSpPr/>
          <p:nvPr/>
        </p:nvSpPr>
        <p:spPr>
          <a:xfrm>
            <a:off x="45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59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 anchors</a:t>
            </a:r>
          </a:p>
        </p:txBody>
      </p:sp>
      <p:sp>
        <p:nvSpPr>
          <p:cNvPr id="11" name="TextBox 10"/>
          <p:cNvSpPr txBox="1"/>
          <p:nvPr/>
        </p:nvSpPr>
        <p:spPr>
          <a:xfrm>
            <a:off x="59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Starts with: precise, and can use an index.</a:t>
            </a:r>
          </a:p>
        </p:txBody>
      </p:sp>
      <p:sp>
        <p:nvSpPr>
          <p:cNvPr id="12" name="Rounded Rectangle 11"/>
          <p:cNvSpPr/>
          <p:nvPr/>
        </p:nvSpPr>
        <p:spPr>
          <a:xfrm>
            <a:off x="426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40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The i option</a:t>
            </a:r>
          </a:p>
        </p:txBody>
      </p:sp>
      <p:sp>
        <p:nvSpPr>
          <p:cNvPr id="14" name="TextBox 13"/>
          <p:cNvSpPr txBox="1"/>
          <p:nvPr/>
        </p:nvSpPr>
        <p:spPr>
          <a:xfrm>
            <a:off x="440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Case-insensitive; unanchored patterns scan every value.</a:t>
            </a:r>
          </a:p>
        </p:txBody>
      </p:sp>
      <p:sp>
        <p:nvSpPr>
          <p:cNvPr id="15" name="Rounded Rectangle 14"/>
          <p:cNvSpPr/>
          <p:nvPr/>
        </p:nvSpPr>
        <p:spPr>
          <a:xfrm>
            <a:off x="8077200" y="447865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214360" y="4533518"/>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Half-open range</a:t>
            </a:r>
          </a:p>
        </p:txBody>
      </p:sp>
      <p:sp>
        <p:nvSpPr>
          <p:cNvPr id="17" name="TextBox 16"/>
          <p:cNvSpPr txBox="1"/>
          <p:nvPr/>
        </p:nvSpPr>
        <p:spPr>
          <a:xfrm>
            <a:off x="8214360" y="4844415"/>
            <a:ext cx="3352800" cy="737615"/>
          </a:xfrm>
          <a:prstGeom prst="rect">
            <a:avLst/>
          </a:prstGeom>
          <a:noFill/>
        </p:spPr>
        <p:txBody>
          <a:bodyPr wrap="square" anchor="t" lIns="0" rIns="0" tIns="0" bIns="0">
            <a:spAutoFit/>
          </a:bodyPr>
          <a:lstStyle/>
          <a:p>
            <a:pPr algn="l"/>
            <a:r>
              <a:rPr sz="1200" b="0" i="0">
                <a:solidFill>
                  <a:srgbClr val="000000"/>
                </a:solidFill>
                <a:latin typeface="Nirmala UI"/>
              </a:rPr>
              <a:t>$gte the start, $lt the next day: no time-of-day gaps.</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Anchor regular expressions when you can, and query dates from an inclusive start to an exclusive end.</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TURN A BUSINESS QUESTION INTO A FILTER</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From a merchandising request to a working query.</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Merchandising asks: which active products are on clearance or premium? They want the SKU and name only.</a:t>
            </a:r>
          </a:p>
        </p:txBody>
      </p:sp>
      <p:sp>
        <p:nvSpPr>
          <p:cNvPr id="10" name="Rounded Rectangle 9"/>
          <p:cNvSpPr/>
          <p:nvPr/>
        </p:nvSpPr>
        <p:spPr>
          <a:xfrm>
            <a:off x="566928" y="3229356"/>
            <a:ext cx="3621024" cy="103733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db.products.find(</a:t>
            </a:r>
          </a:p>
          <a:p>
            <a:pPr algn="l"/>
            <a:r>
              <a:rPr sz="1100" b="0" i="0">
                <a:solidFill>
                  <a:srgbClr val="000000"/>
                </a:solidFill>
                <a:latin typeface="Consolas"/>
              </a:rPr>
              <a:t>  { /* your filter */ },</a:t>
            </a:r>
          </a:p>
          <a:p>
            <a:pPr algn="l"/>
            <a:r>
              <a:rPr sz="1100" b="0" i="0">
                <a:solidFill>
                  <a:srgbClr val="000000"/>
                </a:solidFill>
                <a:latin typeface="Consolas"/>
              </a:rPr>
              <a:t>  { /* your projection */ }</a:t>
            </a:r>
          </a:p>
          <a:p>
            <a:pPr algn="l"/>
            <a:r>
              <a:rPr sz="1100" b="0" i="0">
                <a:solidFill>
                  <a:srgbClr val="000000"/>
                </a:solidFill>
                <a:latin typeface="Consolas"/>
              </a:rPr>
              <a:t>)</a:t>
            </a:r>
          </a:p>
        </p:txBody>
      </p:sp>
      <p:sp>
        <p:nvSpPr>
          <p:cNvPr id="11" name="Rounded Rectangle 10"/>
          <p:cNvSpPr/>
          <p:nvPr/>
        </p:nvSpPr>
        <p:spPr>
          <a:xfrm>
            <a:off x="4526280" y="1865376"/>
            <a:ext cx="388620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Choose the fields and operators</a:t>
            </a:r>
          </a:p>
        </p:txBody>
      </p:sp>
      <p:sp>
        <p:nvSpPr>
          <p:cNvPr id="16" name="Oval 15"/>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8529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Write the filter and the projection</a:t>
            </a:r>
          </a:p>
        </p:txBody>
      </p:sp>
      <p:sp>
        <p:nvSpPr>
          <p:cNvPr id="18" name="Oval 17"/>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Predict the SKUs before you run it</a:t>
            </a:r>
          </a:p>
        </p:txBody>
      </p:sp>
      <p:sp>
        <p:nvSpPr>
          <p:cNvPr id="20" name="Oval 19"/>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Explain why L190 is not in the result</a:t>
            </a:r>
          </a:p>
        </p:txBody>
      </p:sp>
      <p:sp>
        <p:nvSpPr>
          <p:cNvPr id="22" name="Rounded Rectangle 21"/>
          <p:cNvSpPr/>
          <p:nvPr/>
        </p:nvSpPr>
        <p:spPr>
          <a:xfrm>
            <a:off x="8641080" y="1865376"/>
            <a:ext cx="3063240" cy="2915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active: true plus tags: { $in: [ … ] }</a:t>
            </a:r>
          </a:p>
        </p:txBody>
      </p:sp>
      <p:sp>
        <p:nvSpPr>
          <p:cNvPr id="27" name="Oval 26"/>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9448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 _id: 0, sku: 1, name: 1 }</a:t>
            </a:r>
          </a:p>
        </p:txBody>
      </p:sp>
      <p:sp>
        <p:nvSpPr>
          <p:cNvPr id="29" name="Oval 28"/>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3655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L110, S290 and A500</a:t>
            </a:r>
          </a:p>
        </p:txBody>
      </p:sp>
      <p:sp>
        <p:nvSpPr>
          <p:cNvPr id="31" name="Oval 30"/>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3786124"/>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L190 is clearance but inactive</a:t>
            </a:r>
          </a:p>
        </p:txBody>
      </p:sp>
      <p:sp>
        <p:nvSpPr>
          <p:cNvPr id="33" name="Rounded Rectangle 3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Translate each phrase of the request into one condition — then check the result against the data.</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3: NESTED FIELDS AND ARRAYS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Query inside embedded documents and arrays.</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Read documents</a:t>
            </a:r>
          </a:p>
        </p:txBody>
      </p:sp>
      <p:sp>
        <p:nvSpPr>
          <p:cNvPr id="6" name="Chevron 5"/>
          <p:cNvSpPr/>
          <p:nvPr/>
        </p:nvSpPr>
        <p:spPr>
          <a:xfrm>
            <a:off x="267114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Query operators</a:t>
            </a:r>
          </a:p>
        </p:txBody>
      </p:sp>
      <p:sp>
        <p:nvSpPr>
          <p:cNvPr id="8" name="Chevron 7"/>
          <p:cNvSpPr/>
          <p:nvPr/>
        </p:nvSpPr>
        <p:spPr>
          <a:xfrm>
            <a:off x="4885090"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3</a:t>
            </a:r>
          </a:p>
          <a:p>
            <a:pPr algn="ctr"/>
            <a:r>
              <a:rPr sz="1300" b="1" i="0">
                <a:solidFill>
                  <a:srgbClr val="FFFFFF"/>
                </a:solidFill>
                <a:latin typeface="Nirmala UI"/>
              </a:rPr>
              <a:t>Nested and arrays</a:t>
            </a:r>
          </a:p>
        </p:txBody>
      </p:sp>
      <p:sp>
        <p:nvSpPr>
          <p:cNvPr id="10" name="Chevron 9"/>
          <p:cNvSpPr/>
          <p:nvPr/>
        </p:nvSpPr>
        <p:spPr>
          <a:xfrm>
            <a:off x="7099035"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Insert and update</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Delete and verify</a:t>
            </a:r>
          </a:p>
        </p:txBody>
      </p:sp>
      <p:sp>
        <p:nvSpPr>
          <p:cNvPr id="14" name="Rounded Rectangle 13"/>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Comparison and logical operators</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Missing, null and type are different</a:t>
            </a:r>
          </a:p>
        </p:txBody>
      </p:sp>
      <p:sp>
        <p:nvSpPr>
          <p:cNvPr id="21" name="Oval 20"/>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Negations also match missing fields</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reach inside embedded documents and arrays — and match the right element?</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9796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Dot notation for embedded fields</a:t>
            </a:r>
          </a:p>
        </p:txBody>
      </p:sp>
      <p:sp>
        <p:nvSpPr>
          <p:cNvPr id="29" name="Oval 28"/>
          <p:cNvSpPr/>
          <p:nvPr/>
        </p:nvSpPr>
        <p:spPr>
          <a:xfrm>
            <a:off x="5760720" y="44002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336288"/>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Contains, exact match, $all and $size</a:t>
            </a:r>
          </a:p>
        </p:txBody>
      </p:sp>
      <p:sp>
        <p:nvSpPr>
          <p:cNvPr id="31" name="Oval 30"/>
          <p:cNvSpPr/>
          <p:nvPr/>
        </p:nvSpPr>
        <p:spPr>
          <a:xfrm>
            <a:off x="5760720" y="4802632"/>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738624"/>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$elemMatch on arrays of documents</a:t>
            </a:r>
          </a:p>
        </p:txBody>
      </p:sp>
      <p:sp>
        <p:nvSpPr>
          <p:cNvPr id="33" name="Oval 32"/>
          <p:cNvSpPr/>
          <p:nvPr/>
        </p:nvSpPr>
        <p:spPr>
          <a:xfrm>
            <a:off x="5760720" y="5204968"/>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5140960"/>
            <a:ext cx="5559552" cy="402336"/>
          </a:xfrm>
          <a:prstGeom prst="rect">
            <a:avLst/>
          </a:prstGeom>
          <a:noFill/>
        </p:spPr>
        <p:txBody>
          <a:bodyPr wrap="square" anchor="ctr" lIns="0" rIns="0" tIns="0" bIns="0">
            <a:spAutoFit/>
          </a:bodyPr>
          <a:lstStyle/>
          <a:p>
            <a:pPr algn="l"/>
            <a:r>
              <a:rPr sz="1400" b="0" i="0">
                <a:solidFill>
                  <a:srgbClr val="000000"/>
                </a:solidFill>
                <a:latin typeface="Nirmala UI"/>
              </a:rPr>
              <a:t>Practice: choose the array query</a:t>
            </a:r>
          </a:p>
        </p:txBody>
      </p:sp>
      <p:sp>
        <p:nvSpPr>
          <p:cNvPr id="35" name="Rectangle 3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QUERYING NESTED FIELDS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Dot notation reaches inside embedded documents.</a:t>
            </a:r>
          </a:p>
        </p:txBody>
      </p:sp>
      <p:sp>
        <p:nvSpPr>
          <p:cNvPr id="4" name="Rounded Rectangle 3"/>
          <p:cNvSpPr/>
          <p:nvPr/>
        </p:nvSpPr>
        <p:spPr>
          <a:xfrm>
            <a:off x="475488" y="1812592"/>
            <a:ext cx="7415783" cy="350713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11" descr="image.jpg"/>
          <p:cNvPicPr>
            <a:picLocks noChangeAspect="1"/>
          </p:cNvPicPr>
          <p:nvPr/>
        </p:nvPicPr>
        <p:blipFill>
          <a:blip r:embed="rId2"/>
          <a:stretch>
            <a:fillRect/>
          </a:stretch>
        </p:blipFill>
        <p:spPr>
          <a:xfrm>
            <a:off x="548640" y="1885744"/>
            <a:ext cx="7269480" cy="3360830"/>
          </a:xfrm>
          <a:prstGeom prst="rect">
            <a:avLst/>
          </a:prstGeom>
        </p:spPr>
      </p:pic>
      <p:sp>
        <p:nvSpPr>
          <p:cNvPr id="6" name="Rounded Rectangle 5"/>
          <p:cNvSpPr/>
          <p:nvPr/>
        </p:nvSpPr>
        <p:spPr>
          <a:xfrm>
            <a:off x="8183880" y="1298448"/>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Quote the path</a:t>
            </a:r>
          </a:p>
        </p:txBody>
      </p:sp>
      <p:sp>
        <p:nvSpPr>
          <p:cNvPr id="8" name="TextBox 7"/>
          <p:cNvSpPr txBox="1"/>
          <p:nvPr/>
        </p:nvSpPr>
        <p:spPr>
          <a:xfrm>
            <a:off x="8321040" y="1664208"/>
            <a:ext cx="3246120" cy="874775"/>
          </a:xfrm>
          <a:prstGeom prst="rect">
            <a:avLst/>
          </a:prstGeom>
          <a:noFill/>
        </p:spPr>
        <p:txBody>
          <a:bodyPr wrap="square" anchor="t" lIns="0" rIns="0" tIns="0" bIns="0">
            <a:spAutoFit/>
          </a:bodyPr>
          <a:lstStyle/>
          <a:p>
            <a:pPr algn="l"/>
            <a:r>
              <a:rPr sz="1200" b="0" i="0">
                <a:solidFill>
                  <a:srgbClr val="000000"/>
                </a:solidFill>
                <a:latin typeface="Nirmala UI"/>
              </a:rPr>
              <a:t>"attributes.memoryGB" — unquoted dots are a syntax error.</a:t>
            </a:r>
          </a:p>
        </p:txBody>
      </p:sp>
      <p:sp>
        <p:nvSpPr>
          <p:cNvPr id="9" name="Rounded Rectangle 8"/>
          <p:cNvSpPr/>
          <p:nvPr/>
        </p:nvSpPr>
        <p:spPr>
          <a:xfrm>
            <a:off x="8183880" y="2721864"/>
            <a:ext cx="3520440" cy="12954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77672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Through arrays too</a:t>
            </a:r>
          </a:p>
        </p:txBody>
      </p:sp>
      <p:sp>
        <p:nvSpPr>
          <p:cNvPr id="11" name="TextBox 10"/>
          <p:cNvSpPr txBox="1"/>
          <p:nvPr/>
        </p:nvSpPr>
        <p:spPr>
          <a:xfrm>
            <a:off x="8321040" y="3087624"/>
            <a:ext cx="3246120" cy="874776"/>
          </a:xfrm>
          <a:prstGeom prst="rect">
            <a:avLst/>
          </a:prstGeom>
          <a:noFill/>
        </p:spPr>
        <p:txBody>
          <a:bodyPr wrap="square" anchor="t" lIns="0" rIns="0" tIns="0" bIns="0">
            <a:spAutoFit/>
          </a:bodyPr>
          <a:lstStyle/>
          <a:p>
            <a:pPr algn="l"/>
            <a:r>
              <a:rPr sz="1200" b="0" i="0">
                <a:solidFill>
                  <a:srgbClr val="000000"/>
                </a:solidFill>
                <a:latin typeface="Nirmala UI"/>
              </a:rPr>
              <a:t>"addresses.city" looks at every address in the array.</a:t>
            </a:r>
          </a:p>
        </p:txBody>
      </p:sp>
      <p:sp>
        <p:nvSpPr>
          <p:cNvPr id="12" name="TextBox 11"/>
          <p:cNvSpPr txBox="1"/>
          <p:nvPr/>
        </p:nvSpPr>
        <p:spPr>
          <a:xfrm>
            <a:off x="8183880" y="4145280"/>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On training_store</a:t>
            </a:r>
          </a:p>
        </p:txBody>
      </p:sp>
      <p:sp>
        <p:nvSpPr>
          <p:cNvPr id="13" name="Rounded Rectangle 12"/>
          <p:cNvSpPr/>
          <p:nvPr/>
        </p:nvSpPr>
        <p:spPr>
          <a:xfrm>
            <a:off x="8183880" y="4474464"/>
            <a:ext cx="3520440" cy="121894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db.customers.find(</a:t>
            </a:r>
          </a:p>
          <a:p>
            <a:pPr algn="l"/>
            <a:r>
              <a:rPr sz="1100" b="0" i="0">
                <a:solidFill>
                  <a:srgbClr val="000000"/>
                </a:solidFill>
                <a:latin typeface="Consolas"/>
              </a:rPr>
              <a:t>  { "addresses.city": { $in:</a:t>
            </a:r>
          </a:p>
          <a:p>
            <a:pPr algn="l"/>
            <a:r>
              <a:rPr sz="1100" b="0" i="0">
                <a:solidFill>
                  <a:srgbClr val="000000"/>
                </a:solidFill>
                <a:latin typeface="Consolas"/>
              </a:rPr>
              <a:t>    ["Toronto", "Montreal"] } },</a:t>
            </a:r>
          </a:p>
          <a:p>
            <a:pPr algn="l"/>
            <a:r>
              <a:rPr sz="1100" b="0" i="0">
                <a:solidFill>
                  <a:srgbClr val="000000"/>
                </a:solidFill>
                <a:latin typeface="Consolas"/>
              </a:rPr>
              <a:t>  { _id: 0, customerNumber: 1 })</a:t>
            </a:r>
          </a:p>
          <a:p>
            <a:pPr algn="l"/>
            <a:r>
              <a:rPr sz="1100" b="0" i="0">
                <a:solidFill>
                  <a:srgbClr val="000000"/>
                </a:solidFill>
                <a:latin typeface="Consolas"/>
              </a:rPr>
              <a:t>// C101, C412</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Dot notation reaches into embedded documents and arrays — quote the path and match the stored value exactly.</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EXACT ARRAY MATCH VS $ALL VS $SIZE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Contains a value, equals the array, contains all, or has N elements.</a:t>
            </a:r>
          </a:p>
        </p:txBody>
      </p:sp>
      <p:sp>
        <p:nvSpPr>
          <p:cNvPr id="4" name="Rounded Rectangle 3"/>
          <p:cNvSpPr/>
          <p:nvPr/>
        </p:nvSpPr>
        <p:spPr>
          <a:xfrm>
            <a:off x="475488" y="1436394"/>
            <a:ext cx="7415783" cy="425953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0" descr="image.jpg"/>
          <p:cNvPicPr>
            <a:picLocks noChangeAspect="1"/>
          </p:cNvPicPr>
          <p:nvPr/>
        </p:nvPicPr>
        <p:blipFill>
          <a:blip r:embed="rId2"/>
          <a:stretch>
            <a:fillRect/>
          </a:stretch>
        </p:blipFill>
        <p:spPr>
          <a:xfrm>
            <a:off x="548640" y="1509546"/>
            <a:ext cx="7269480" cy="4113226"/>
          </a:xfrm>
          <a:prstGeom prst="rect">
            <a:avLst/>
          </a:prstGeom>
        </p:spPr>
      </p:pic>
      <p:sp>
        <p:nvSpPr>
          <p:cNvPr id="6" name="Rounded Rectangle 5"/>
          <p:cNvSpPr/>
          <p:nvPr/>
        </p:nvSpPr>
        <p:spPr>
          <a:xfrm>
            <a:off x="8183880" y="129844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Contains</a:t>
            </a:r>
          </a:p>
        </p:txBody>
      </p:sp>
      <p:sp>
        <p:nvSpPr>
          <p:cNvPr id="8" name="TextBox 7"/>
          <p:cNvSpPr txBox="1"/>
          <p:nvPr/>
        </p:nvSpPr>
        <p:spPr>
          <a:xfrm>
            <a:off x="8321040" y="1664208"/>
            <a:ext cx="3246120" cy="617219"/>
          </a:xfrm>
          <a:prstGeom prst="rect">
            <a:avLst/>
          </a:prstGeom>
          <a:noFill/>
        </p:spPr>
        <p:txBody>
          <a:bodyPr wrap="square" anchor="t" lIns="0" rIns="0" tIns="0" bIns="0">
            <a:spAutoFit/>
          </a:bodyPr>
          <a:lstStyle/>
          <a:p>
            <a:pPr algn="l"/>
            <a:r>
              <a:rPr sz="1200" b="0" i="0">
                <a:solidFill>
                  <a:srgbClr val="000000"/>
                </a:solidFill>
                <a:latin typeface="Nirmala UI"/>
              </a:rPr>
              <a:t>{ tags: "wireless" } — any element: P1001, A410.</a:t>
            </a:r>
          </a:p>
        </p:txBody>
      </p:sp>
      <p:sp>
        <p:nvSpPr>
          <p:cNvPr id="9" name="Rounded Rectangle 8"/>
          <p:cNvSpPr/>
          <p:nvPr/>
        </p:nvSpPr>
        <p:spPr>
          <a:xfrm>
            <a:off x="8183880" y="246430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1917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Exact array</a:t>
            </a:r>
          </a:p>
        </p:txBody>
      </p:sp>
      <p:sp>
        <p:nvSpPr>
          <p:cNvPr id="11" name="TextBox 10"/>
          <p:cNvSpPr txBox="1"/>
          <p:nvPr/>
        </p:nvSpPr>
        <p:spPr>
          <a:xfrm>
            <a:off x="8321040" y="2830068"/>
            <a:ext cx="3246120" cy="617219"/>
          </a:xfrm>
          <a:prstGeom prst="rect">
            <a:avLst/>
          </a:prstGeom>
          <a:noFill/>
        </p:spPr>
        <p:txBody>
          <a:bodyPr wrap="square" anchor="t" lIns="0" rIns="0" tIns="0" bIns="0">
            <a:spAutoFit/>
          </a:bodyPr>
          <a:lstStyle/>
          <a:p>
            <a:pPr algn="l"/>
            <a:r>
              <a:rPr sz="1200" b="0" i="0">
                <a:solidFill>
                  <a:srgbClr val="000000"/>
                </a:solidFill>
                <a:latin typeface="Nirmala UI"/>
              </a:rPr>
              <a:t>["database", "technology"] → B300; reversed order finds nothing.</a:t>
            </a:r>
          </a:p>
        </p:txBody>
      </p:sp>
      <p:sp>
        <p:nvSpPr>
          <p:cNvPr id="12" name="Rounded Rectangle 11"/>
          <p:cNvSpPr/>
          <p:nvPr/>
        </p:nvSpPr>
        <p:spPr>
          <a:xfrm>
            <a:off x="8183880" y="363016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850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$all</a:t>
            </a:r>
          </a:p>
        </p:txBody>
      </p:sp>
      <p:sp>
        <p:nvSpPr>
          <p:cNvPr id="14" name="TextBox 13"/>
          <p:cNvSpPr txBox="1"/>
          <p:nvPr/>
        </p:nvSpPr>
        <p:spPr>
          <a:xfrm>
            <a:off x="8321040" y="3995928"/>
            <a:ext cx="3246120" cy="617220"/>
          </a:xfrm>
          <a:prstGeom prst="rect">
            <a:avLst/>
          </a:prstGeom>
          <a:noFill/>
        </p:spPr>
        <p:txBody>
          <a:bodyPr wrap="square" anchor="t" lIns="0" rIns="0" tIns="0" bIns="0">
            <a:spAutoFit/>
          </a:bodyPr>
          <a:lstStyle/>
          <a:p>
            <a:pPr algn="l"/>
            <a:r>
              <a:rPr sz="1200" b="0" i="0">
                <a:solidFill>
                  <a:srgbClr val="000000"/>
                </a:solidFill>
                <a:latin typeface="Nirmala UI"/>
              </a:rPr>
              <a:t>All listed values, any order: ["office", "premium"] → A500.</a:t>
            </a:r>
          </a:p>
        </p:txBody>
      </p:sp>
      <p:sp>
        <p:nvSpPr>
          <p:cNvPr id="15" name="Rounded Rectangle 14"/>
          <p:cNvSpPr/>
          <p:nvPr/>
        </p:nvSpPr>
        <p:spPr>
          <a:xfrm>
            <a:off x="8183880" y="4796028"/>
            <a:ext cx="3520440" cy="103784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85089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$size</a:t>
            </a:r>
          </a:p>
        </p:txBody>
      </p:sp>
      <p:sp>
        <p:nvSpPr>
          <p:cNvPr id="17" name="TextBox 16"/>
          <p:cNvSpPr txBox="1"/>
          <p:nvPr/>
        </p:nvSpPr>
        <p:spPr>
          <a:xfrm>
            <a:off x="8321040" y="5161788"/>
            <a:ext cx="3246120" cy="617219"/>
          </a:xfrm>
          <a:prstGeom prst="rect">
            <a:avLst/>
          </a:prstGeom>
          <a:noFill/>
        </p:spPr>
        <p:txBody>
          <a:bodyPr wrap="square" anchor="t" lIns="0" rIns="0" tIns="0" bIns="0">
            <a:spAutoFit/>
          </a:bodyPr>
          <a:lstStyle/>
          <a:p>
            <a:pPr algn="l"/>
            <a:r>
              <a:rPr sz="1200" b="0" i="0">
                <a:solidFill>
                  <a:srgbClr val="000000"/>
                </a:solidFill>
                <a:latin typeface="Nirmala UI"/>
              </a:rPr>
              <a:t>Exact length only: $size: 3 → L190. No "at least".</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Match one element by value and several with $all; use exact arrays or $size only when order or length matters.</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QUERYING ARRAYS OF DOCUMENTS WITH $ELEMMATCH</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Every condition must be met by the same array element.</a:t>
            </a:r>
          </a:p>
        </p:txBody>
      </p:sp>
      <p:sp>
        <p:nvSpPr>
          <p:cNvPr id="4" name="Rounded Rectangle 3"/>
          <p:cNvSpPr/>
          <p:nvPr/>
        </p:nvSpPr>
        <p:spPr>
          <a:xfrm>
            <a:off x="475488" y="1847375"/>
            <a:ext cx="7415783" cy="3437569"/>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2" descr="image.jpg"/>
          <p:cNvPicPr>
            <a:picLocks noChangeAspect="1"/>
          </p:cNvPicPr>
          <p:nvPr/>
        </p:nvPicPr>
        <p:blipFill>
          <a:blip r:embed="rId2"/>
          <a:stretch>
            <a:fillRect/>
          </a:stretch>
        </p:blipFill>
        <p:spPr>
          <a:xfrm>
            <a:off x="548640" y="1920527"/>
            <a:ext cx="7269480" cy="3291265"/>
          </a:xfrm>
          <a:prstGeom prst="rect">
            <a:avLst/>
          </a:prstGeom>
        </p:spPr>
      </p:pic>
      <p:sp>
        <p:nvSpPr>
          <p:cNvPr id="6" name="Rounded Rectangle 5"/>
          <p:cNvSpPr/>
          <p:nvPr/>
        </p:nvSpPr>
        <p:spPr>
          <a:xfrm>
            <a:off x="8183880" y="1298448"/>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Without $elemMatch</a:t>
            </a:r>
          </a:p>
        </p:txBody>
      </p:sp>
      <p:sp>
        <p:nvSpPr>
          <p:cNvPr id="8" name="TextBox 7"/>
          <p:cNvSpPr txBox="1"/>
          <p:nvPr/>
        </p:nvSpPr>
        <p:spPr>
          <a:xfrm>
            <a:off x="8321040" y="1664208"/>
            <a:ext cx="3246120" cy="854201"/>
          </a:xfrm>
          <a:prstGeom prst="rect">
            <a:avLst/>
          </a:prstGeom>
          <a:noFill/>
        </p:spPr>
        <p:txBody>
          <a:bodyPr wrap="square" anchor="t" lIns="0" rIns="0" tIns="0" bIns="0">
            <a:spAutoFit/>
          </a:bodyPr>
          <a:lstStyle/>
          <a:p>
            <a:pPr algn="l"/>
            <a:r>
              <a:rPr sz="1200" b="0" i="0">
                <a:solidFill>
                  <a:srgbClr val="000000"/>
                </a:solidFill>
                <a:latin typeface="Nirmala UI"/>
              </a:rPr>
              <a:t>"items.sku" and "items.quantity" can be met by different items.</a:t>
            </a:r>
          </a:p>
        </p:txBody>
      </p:sp>
      <p:sp>
        <p:nvSpPr>
          <p:cNvPr id="9" name="Rounded Rectangle 8"/>
          <p:cNvSpPr/>
          <p:nvPr/>
        </p:nvSpPr>
        <p:spPr>
          <a:xfrm>
            <a:off x="8183880" y="2701290"/>
            <a:ext cx="3520440" cy="12748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7561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The O5001 trap</a:t>
            </a:r>
          </a:p>
        </p:txBody>
      </p:sp>
      <p:sp>
        <p:nvSpPr>
          <p:cNvPr id="11" name="TextBox 10"/>
          <p:cNvSpPr txBox="1"/>
          <p:nvPr/>
        </p:nvSpPr>
        <p:spPr>
          <a:xfrm>
            <a:off x="8321040" y="3067050"/>
            <a:ext cx="3246120" cy="854201"/>
          </a:xfrm>
          <a:prstGeom prst="rect">
            <a:avLst/>
          </a:prstGeom>
          <a:noFill/>
        </p:spPr>
        <p:txBody>
          <a:bodyPr wrap="square" anchor="t" lIns="0" rIns="0" tIns="0" bIns="0">
            <a:spAutoFit/>
          </a:bodyPr>
          <a:lstStyle/>
          <a:p>
            <a:pPr algn="l"/>
            <a:r>
              <a:rPr sz="1200" b="0" i="0">
                <a:solidFill>
                  <a:srgbClr val="000000"/>
                </a:solidFill>
                <a:latin typeface="Nirmala UI"/>
              </a:rPr>
              <a:t>L100 × 1 plus A410 × 2 — dot notation matches it; $elemMatch doesn't.</a:t>
            </a:r>
          </a:p>
        </p:txBody>
      </p:sp>
      <p:sp>
        <p:nvSpPr>
          <p:cNvPr id="12" name="TextBox 11"/>
          <p:cNvSpPr txBox="1"/>
          <p:nvPr/>
        </p:nvSpPr>
        <p:spPr>
          <a:xfrm>
            <a:off x="8183880" y="4104132"/>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Same item, both conditions</a:t>
            </a:r>
          </a:p>
        </p:txBody>
      </p:sp>
      <p:sp>
        <p:nvSpPr>
          <p:cNvPr id="13" name="Rounded Rectangle 12"/>
          <p:cNvSpPr/>
          <p:nvPr/>
        </p:nvSpPr>
        <p:spPr>
          <a:xfrm>
            <a:off x="8183880" y="4433316"/>
            <a:ext cx="3520440" cy="140055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db.orders.find({ items: {</a:t>
            </a:r>
          </a:p>
          <a:p>
            <a:pPr algn="l"/>
            <a:r>
              <a:rPr sz="1100" b="0" i="0">
                <a:solidFill>
                  <a:srgbClr val="000000"/>
                </a:solidFill>
                <a:latin typeface="Consolas"/>
              </a:rPr>
              <a:t>  $elemMatch: {</a:t>
            </a:r>
          </a:p>
          <a:p>
            <a:pPr algn="l"/>
            <a:r>
              <a:rPr sz="1100" b="0" i="0">
                <a:solidFill>
                  <a:srgbClr val="000000"/>
                </a:solidFill>
                <a:latin typeface="Consolas"/>
              </a:rPr>
              <a:t>    sku: "L100",</a:t>
            </a:r>
          </a:p>
          <a:p>
            <a:pPr algn="l"/>
            <a:r>
              <a:rPr sz="1100" b="0" i="0">
                <a:solidFill>
                  <a:srgbClr val="000000"/>
                </a:solidFill>
                <a:latin typeface="Consolas"/>
              </a:rPr>
              <a:t>    quantity: { $gte: 2 }</a:t>
            </a:r>
          </a:p>
          <a:p>
            <a:pPr algn="l"/>
            <a:r>
              <a:rPr sz="1100" b="0" i="0">
                <a:solidFill>
                  <a:srgbClr val="000000"/>
                </a:solidFill>
                <a:latin typeface="Consolas"/>
              </a:rPr>
              <a:t>  } } })</a:t>
            </a:r>
          </a:p>
          <a:p>
            <a:pPr algn="l"/>
            <a:r>
              <a:rPr sz="1100" b="0" i="0">
                <a:solidFill>
                  <a:srgbClr val="000000"/>
                </a:solidFill>
                <a:latin typeface="Consolas"/>
              </a:rPr>
              <a:t>// only O6401 (L100 × 2)</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When several conditions must hold for the same array element, wrap them in $elemMatch.</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CHOOSE THE RIGHT ARRAY QUERY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Four requests, four different array tools.</a:t>
            </a:r>
          </a:p>
        </p:txBody>
      </p:sp>
      <p:sp>
        <p:nvSpPr>
          <p:cNvPr id="4" name="Rounded Rectangle 3"/>
          <p:cNvSpPr/>
          <p:nvPr/>
        </p:nvSpPr>
        <p:spPr>
          <a:xfrm>
            <a:off x="457200" y="1298448"/>
            <a:ext cx="2016252" cy="384048"/>
          </a:xfrm>
          <a:prstGeom prst="roundRect">
            <a:avLst>
              <a:gd name="adj" fmla="val 1400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PRACTICE EXERCISE</a:t>
            </a:r>
          </a:p>
        </p:txBody>
      </p:sp>
      <p:sp>
        <p:nvSpPr>
          <p:cNvPr id="5" name="Rounded Rectangle 4"/>
          <p:cNvSpPr/>
          <p:nvPr/>
        </p:nvSpPr>
        <p:spPr>
          <a:xfrm>
            <a:off x="2610612"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457200" y="1865376"/>
            <a:ext cx="3840480" cy="3164839"/>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Round Same Side Corner Rectangle 6"/>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TextBox 7"/>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9" name="TextBox 8"/>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The store team sends four requests. Pick containment, dot notation, $all or $elemMatch for each.</a:t>
            </a:r>
          </a:p>
        </p:txBody>
      </p:sp>
      <p:sp>
        <p:nvSpPr>
          <p:cNvPr id="10" name="Rounded Rectangle 9"/>
          <p:cNvSpPr/>
          <p:nvPr/>
        </p:nvSpPr>
        <p:spPr>
          <a:xfrm>
            <a:off x="566928" y="3229356"/>
            <a:ext cx="3621024" cy="103733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A  Shoes available in size 9</a:t>
            </a:r>
          </a:p>
          <a:p>
            <a:pPr algn="l"/>
            <a:r>
              <a:rPr sz="1100" b="0" i="0">
                <a:solidFill>
                  <a:srgbClr val="000000"/>
                </a:solidFill>
                <a:latin typeface="Consolas"/>
              </a:rPr>
              <a:t>B  Orders with L100 × 2 or more</a:t>
            </a:r>
          </a:p>
          <a:p>
            <a:pPr algn="l"/>
            <a:r>
              <a:rPr sz="1100" b="0" i="0">
                <a:solidFill>
                  <a:srgbClr val="000000"/>
                </a:solidFill>
                <a:latin typeface="Consolas"/>
              </a:rPr>
              <a:t>C  Customers in Toronto or Montreal</a:t>
            </a:r>
          </a:p>
          <a:p>
            <a:pPr algn="l"/>
            <a:r>
              <a:rPr sz="1100" b="0" i="0">
                <a:solidFill>
                  <a:srgbClr val="000000"/>
                </a:solidFill>
                <a:latin typeface="Consolas"/>
              </a:rPr>
              <a:t>D  Products tagged office AND premium</a:t>
            </a:r>
          </a:p>
        </p:txBody>
      </p:sp>
      <p:sp>
        <p:nvSpPr>
          <p:cNvPr id="11" name="Rounded Rectangle 10"/>
          <p:cNvSpPr/>
          <p:nvPr/>
        </p:nvSpPr>
        <p:spPr>
          <a:xfrm>
            <a:off x="4526280" y="1865376"/>
            <a:ext cx="3886200" cy="3164839"/>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Round Same Side Corner Rectangle 11"/>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4" name="Oval 13"/>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5" name="TextBox 14"/>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Choose the operator for each request</a:t>
            </a:r>
          </a:p>
        </p:txBody>
      </p:sp>
      <p:sp>
        <p:nvSpPr>
          <p:cNvPr id="16" name="Oval 15"/>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7" name="TextBox 16"/>
          <p:cNvSpPr txBox="1"/>
          <p:nvPr/>
        </p:nvSpPr>
        <p:spPr>
          <a:xfrm>
            <a:off x="5056632" y="29941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Write each filter</a:t>
            </a:r>
          </a:p>
        </p:txBody>
      </p:sp>
      <p:sp>
        <p:nvSpPr>
          <p:cNvPr id="18" name="Oval 17"/>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19" name="TextBox 18"/>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Predict the matching documents</a:t>
            </a:r>
          </a:p>
        </p:txBody>
      </p:sp>
      <p:sp>
        <p:nvSpPr>
          <p:cNvPr id="20" name="Oval 19"/>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1" name="TextBox 20"/>
          <p:cNvSpPr txBox="1"/>
          <p:nvPr/>
        </p:nvSpPr>
        <p:spPr>
          <a:xfrm>
            <a:off x="5056632" y="39085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Say which one dot notation gets wrong</a:t>
            </a:r>
          </a:p>
        </p:txBody>
      </p:sp>
      <p:sp>
        <p:nvSpPr>
          <p:cNvPr id="22" name="Rounded Rectangle 21"/>
          <p:cNvSpPr/>
          <p:nvPr/>
        </p:nvSpPr>
        <p:spPr>
          <a:xfrm>
            <a:off x="8641080" y="1865376"/>
            <a:ext cx="3063240" cy="3164839"/>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Round Same Side Corner Rectangle 22"/>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OUTCOME</a:t>
            </a:r>
          </a:p>
        </p:txBody>
      </p:sp>
      <p:sp>
        <p:nvSpPr>
          <p:cNvPr id="25" name="Oval 24"/>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6" name="TextBox 25"/>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A  "attributes.sizes": 9 → S200, S210, S290</a:t>
            </a:r>
          </a:p>
        </p:txBody>
      </p:sp>
      <p:sp>
        <p:nvSpPr>
          <p:cNvPr id="27" name="Oval 26"/>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8" name="TextBox 27"/>
          <p:cNvSpPr txBox="1"/>
          <p:nvPr/>
        </p:nvSpPr>
        <p:spPr>
          <a:xfrm>
            <a:off x="9116567" y="29448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B  items $elemMatch → O6401</a:t>
            </a:r>
          </a:p>
        </p:txBody>
      </p:sp>
      <p:sp>
        <p:nvSpPr>
          <p:cNvPr id="29" name="Oval 28"/>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0" name="TextBox 29"/>
          <p:cNvSpPr txBox="1"/>
          <p:nvPr/>
        </p:nvSpPr>
        <p:spPr>
          <a:xfrm>
            <a:off x="9116567" y="3365500"/>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C  "addresses.city" $in → C101, C412</a:t>
            </a:r>
          </a:p>
        </p:txBody>
      </p:sp>
      <p:sp>
        <p:nvSpPr>
          <p:cNvPr id="31" name="Oval 30"/>
          <p:cNvSpPr/>
          <p:nvPr/>
        </p:nvSpPr>
        <p:spPr>
          <a:xfrm>
            <a:off x="8778240" y="3969511"/>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2" name="TextBox 31"/>
          <p:cNvSpPr txBox="1"/>
          <p:nvPr/>
        </p:nvSpPr>
        <p:spPr>
          <a:xfrm>
            <a:off x="9116567" y="3914647"/>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D  tags $all → A500</a:t>
            </a:r>
          </a:p>
        </p:txBody>
      </p:sp>
      <p:sp>
        <p:nvSpPr>
          <p:cNvPr id="33" name="Oval 32"/>
          <p:cNvSpPr/>
          <p:nvPr/>
        </p:nvSpPr>
        <p:spPr>
          <a:xfrm>
            <a:off x="8778240" y="43901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4" name="TextBox 33"/>
          <p:cNvSpPr txBox="1"/>
          <p:nvPr/>
        </p:nvSpPr>
        <p:spPr>
          <a:xfrm>
            <a:off x="9116567" y="433527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B: dot notation adds O5001</a:t>
            </a:r>
          </a:p>
        </p:txBody>
      </p:sp>
      <p:sp>
        <p:nvSpPr>
          <p:cNvPr id="35" name="Rounded Rectangle 34"/>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Choose the array tool from the question: one value, all values, a nested path, or one element meeting several conditions.</a:t>
            </a:r>
          </a:p>
        </p:txBody>
      </p:sp>
      <p:sp>
        <p:nvSpPr>
          <p:cNvPr id="37" name="Rectangle 36"/>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0"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4: INSERTS, UPDATES, UPSERTS AND REPLACE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Change documents — and only the fields you mean.</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Read documents</a:t>
            </a:r>
          </a:p>
        </p:txBody>
      </p:sp>
      <p:sp>
        <p:nvSpPr>
          <p:cNvPr id="6" name="Chevron 5"/>
          <p:cNvSpPr/>
          <p:nvPr/>
        </p:nvSpPr>
        <p:spPr>
          <a:xfrm>
            <a:off x="267114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Query operators</a:t>
            </a:r>
          </a:p>
        </p:txBody>
      </p:sp>
      <p:sp>
        <p:nvSpPr>
          <p:cNvPr id="8" name="Chevron 7"/>
          <p:cNvSpPr/>
          <p:nvPr/>
        </p:nvSpPr>
        <p:spPr>
          <a:xfrm>
            <a:off x="4885090"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Nested and arrays</a:t>
            </a:r>
          </a:p>
        </p:txBody>
      </p:sp>
      <p:sp>
        <p:nvSpPr>
          <p:cNvPr id="10" name="Chevron 9"/>
          <p:cNvSpPr/>
          <p:nvPr/>
        </p:nvSpPr>
        <p:spPr>
          <a:xfrm>
            <a:off x="7099035"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4</a:t>
            </a:r>
          </a:p>
          <a:p>
            <a:pPr algn="ctr"/>
            <a:r>
              <a:rPr sz="1300" b="1" i="0">
                <a:solidFill>
                  <a:srgbClr val="FFFFFF"/>
                </a:solidFill>
                <a:latin typeface="Nirmala UI"/>
              </a:rPr>
              <a:t>Insert and update</a:t>
            </a:r>
          </a:p>
        </p:txBody>
      </p:sp>
      <p:sp>
        <p:nvSpPr>
          <p:cNvPr id="12" name="Chevron 11"/>
          <p:cNvSpPr/>
          <p:nvPr/>
        </p:nvSpPr>
        <p:spPr>
          <a:xfrm>
            <a:off x="9312981" y="1298448"/>
            <a:ext cx="2391338" cy="713232"/>
          </a:xfrm>
          <a:prstGeom prst="chevron">
            <a:avLst>
              <a:gd name="adj" fmla="val 30000"/>
            </a:avLst>
          </a:prstGeom>
          <a:solidFill>
            <a:srgbClr val="424242"/>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Delete and verify</a:t>
            </a:r>
          </a:p>
        </p:txBody>
      </p:sp>
      <p:sp>
        <p:nvSpPr>
          <p:cNvPr id="14" name="Rounded Rectangle 13"/>
          <p:cNvSpPr/>
          <p:nvPr/>
        </p:nvSpPr>
        <p:spPr>
          <a:xfrm>
            <a:off x="457200" y="2304288"/>
            <a:ext cx="4937760" cy="223113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Filters find exactly the right documents</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Dot notation and $elemMatch reach inside</a:t>
            </a:r>
          </a:p>
        </p:txBody>
      </p:sp>
      <p:sp>
        <p:nvSpPr>
          <p:cNvPr id="21" name="Oval 20"/>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Every read can be counted first</a:t>
            </a:r>
          </a:p>
        </p:txBody>
      </p:sp>
      <p:sp>
        <p:nvSpPr>
          <p:cNvPr id="23" name="Rounded Rectangle 22"/>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TextBox 23"/>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5" name="TextBox 24"/>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add and change documents without losing data we meant to keep?</a:t>
            </a:r>
          </a:p>
        </p:txBody>
      </p:sp>
      <p:sp>
        <p:nvSpPr>
          <p:cNvPr id="26" name="TextBox 25"/>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7" name="Oval 26"/>
          <p:cNvSpPr/>
          <p:nvPr/>
        </p:nvSpPr>
        <p:spPr>
          <a:xfrm>
            <a:off x="5760720" y="396777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28" name="TextBox 27"/>
          <p:cNvSpPr txBox="1"/>
          <p:nvPr/>
        </p:nvSpPr>
        <p:spPr>
          <a:xfrm>
            <a:off x="6144768" y="3933952"/>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insertOne() and insertMany()</a:t>
            </a:r>
          </a:p>
        </p:txBody>
      </p:sp>
      <p:sp>
        <p:nvSpPr>
          <p:cNvPr id="29" name="Oval 28"/>
          <p:cNvSpPr/>
          <p:nvPr/>
        </p:nvSpPr>
        <p:spPr>
          <a:xfrm>
            <a:off x="5760720" y="430972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0" name="TextBox 29"/>
          <p:cNvSpPr txBox="1"/>
          <p:nvPr/>
        </p:nvSpPr>
        <p:spPr>
          <a:xfrm>
            <a:off x="6144768" y="427590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updateOne() and updateMany()</a:t>
            </a:r>
          </a:p>
        </p:txBody>
      </p:sp>
      <p:sp>
        <p:nvSpPr>
          <p:cNvPr id="31" name="Oval 30"/>
          <p:cNvSpPr/>
          <p:nvPr/>
        </p:nvSpPr>
        <p:spPr>
          <a:xfrm>
            <a:off x="5760720" y="465168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2" name="TextBox 31"/>
          <p:cNvSpPr txBox="1"/>
          <p:nvPr/>
        </p:nvSpPr>
        <p:spPr>
          <a:xfrm>
            <a:off x="6144768" y="4617865"/>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$set, $unset, $inc and $rename</a:t>
            </a:r>
          </a:p>
        </p:txBody>
      </p:sp>
      <p:sp>
        <p:nvSpPr>
          <p:cNvPr id="33" name="Oval 32"/>
          <p:cNvSpPr/>
          <p:nvPr/>
        </p:nvSpPr>
        <p:spPr>
          <a:xfrm>
            <a:off x="5760720" y="4993640"/>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4" name="TextBox 33"/>
          <p:cNvSpPr txBox="1"/>
          <p:nvPr/>
        </p:nvSpPr>
        <p:spPr>
          <a:xfrm>
            <a:off x="6144768" y="495982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Array updates and positional $</a:t>
            </a:r>
          </a:p>
        </p:txBody>
      </p:sp>
      <p:sp>
        <p:nvSpPr>
          <p:cNvPr id="35" name="Oval 34"/>
          <p:cNvSpPr/>
          <p:nvPr/>
        </p:nvSpPr>
        <p:spPr>
          <a:xfrm>
            <a:off x="5760720" y="533559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6" name="TextBox 35"/>
          <p:cNvSpPr txBox="1"/>
          <p:nvPr/>
        </p:nvSpPr>
        <p:spPr>
          <a:xfrm>
            <a:off x="6144768" y="5301778"/>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replaceOne() versus $set</a:t>
            </a:r>
          </a:p>
        </p:txBody>
      </p:sp>
      <p:sp>
        <p:nvSpPr>
          <p:cNvPr id="37" name="Oval 36"/>
          <p:cNvSpPr/>
          <p:nvPr/>
        </p:nvSpPr>
        <p:spPr>
          <a:xfrm>
            <a:off x="5760720" y="567755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38" name="TextBox 37"/>
          <p:cNvSpPr txBox="1"/>
          <p:nvPr/>
        </p:nvSpPr>
        <p:spPr>
          <a:xfrm>
            <a:off x="6144768" y="5643734"/>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Upserts with $setOnInsert</a:t>
            </a:r>
          </a:p>
        </p:txBody>
      </p:sp>
      <p:sp>
        <p:nvSpPr>
          <p:cNvPr id="39" name="Oval 38"/>
          <p:cNvSpPr/>
          <p:nvPr/>
        </p:nvSpPr>
        <p:spPr>
          <a:xfrm>
            <a:off x="5760720" y="6019509"/>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7</a:t>
            </a:r>
          </a:p>
        </p:txBody>
      </p:sp>
      <p:sp>
        <p:nvSpPr>
          <p:cNvPr id="40" name="TextBox 39"/>
          <p:cNvSpPr txBox="1"/>
          <p:nvPr/>
        </p:nvSpPr>
        <p:spPr>
          <a:xfrm>
            <a:off x="6144768" y="5985691"/>
            <a:ext cx="5559552" cy="341956"/>
          </a:xfrm>
          <a:prstGeom prst="rect">
            <a:avLst/>
          </a:prstGeom>
          <a:noFill/>
        </p:spPr>
        <p:txBody>
          <a:bodyPr wrap="square" anchor="ctr" lIns="0" rIns="0" tIns="0" bIns="0">
            <a:spAutoFit/>
          </a:bodyPr>
          <a:lstStyle/>
          <a:p>
            <a:pPr algn="l"/>
            <a:r>
              <a:rPr sz="1400" b="0" i="0">
                <a:solidFill>
                  <a:srgbClr val="000000"/>
                </a:solidFill>
                <a:latin typeface="Nirmala UI"/>
              </a:rPr>
              <a:t>Reading write results</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INSERTING DOCUMENTS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insertOne() or insertMany(); mongod adds _id when it is missing.</a:t>
            </a:r>
          </a:p>
        </p:txBody>
      </p:sp>
      <p:sp>
        <p:nvSpPr>
          <p:cNvPr id="4" name="Rounded Rectangle 3"/>
          <p:cNvSpPr/>
          <p:nvPr/>
        </p:nvSpPr>
        <p:spPr>
          <a:xfrm>
            <a:off x="475488" y="2056119"/>
            <a:ext cx="7415783" cy="302008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28" descr="image.jpg"/>
          <p:cNvPicPr>
            <a:picLocks noChangeAspect="1"/>
          </p:cNvPicPr>
          <p:nvPr/>
        </p:nvPicPr>
        <p:blipFill>
          <a:blip r:embed="rId2"/>
          <a:stretch>
            <a:fillRect/>
          </a:stretch>
        </p:blipFill>
        <p:spPr>
          <a:xfrm>
            <a:off x="548640" y="2129271"/>
            <a:ext cx="7269480" cy="2873777"/>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Demo 4.5</a:t>
            </a:r>
          </a:p>
        </p:txBody>
      </p:sp>
      <p:sp>
        <p:nvSpPr>
          <p:cNvPr id="7" name="Rounded Rectangle 6"/>
          <p:cNvSpPr/>
          <p:nvPr/>
        </p:nvSpPr>
        <p:spPr>
          <a:xfrm>
            <a:off x="8183880" y="1627632"/>
            <a:ext cx="3520440" cy="158216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db.products.insertOne({</a:t>
            </a:r>
          </a:p>
          <a:p>
            <a:pPr algn="l"/>
            <a:r>
              <a:rPr sz="1100" b="0" i="0">
                <a:solidFill>
                  <a:srgbClr val="000000"/>
                </a:solidFill>
                <a:latin typeface="Consolas"/>
              </a:rPr>
              <a:t>  sku: "DEMO-1", name: "Demo Cable",</a:t>
            </a:r>
          </a:p>
          <a:p>
            <a:pPr algn="l"/>
            <a:r>
              <a:rPr sz="1100" b="0" i="0">
                <a:solidFill>
                  <a:srgbClr val="000000"/>
                </a:solidFill>
                <a:latin typeface="Consolas"/>
              </a:rPr>
              <a:t>  category: "ACCESSORY",</a:t>
            </a:r>
          </a:p>
          <a:p>
            <a:pPr algn="l"/>
            <a:r>
              <a:rPr sz="1100" b="0" i="0">
                <a:solidFill>
                  <a:srgbClr val="000000"/>
                </a:solidFill>
                <a:latin typeface="Consolas"/>
              </a:rPr>
              <a:t>  price: Decimal128("9.99"),</a:t>
            </a:r>
          </a:p>
          <a:p>
            <a:pPr algn="l"/>
            <a:r>
              <a:rPr sz="1100" b="0" i="0">
                <a:solidFill>
                  <a:srgbClr val="000000"/>
                </a:solidFill>
                <a:latin typeface="Consolas"/>
              </a:rPr>
              <a:t>  active: true })</a:t>
            </a:r>
          </a:p>
          <a:p>
            <a:pPr algn="l"/>
            <a:r>
              <a:rPr sz="1100" b="0" i="0">
                <a:solidFill>
                  <a:srgbClr val="000000"/>
                </a:solidFill>
                <a:latin typeface="Consolas"/>
              </a:rPr>
              <a:t>// acknowledged: true,</a:t>
            </a:r>
          </a:p>
          <a:p>
            <a:pPr algn="l"/>
            <a:r>
              <a:rPr sz="1100" b="0" i="0">
                <a:solidFill>
                  <a:srgbClr val="000000"/>
                </a:solidFill>
                <a:latin typeface="Consolas"/>
              </a:rPr>
              <a:t>// insertedId: ObjectId(…)</a:t>
            </a:r>
          </a:p>
        </p:txBody>
      </p:sp>
      <p:sp>
        <p:nvSpPr>
          <p:cNvPr id="8" name="Rounded Rectangle 7"/>
          <p:cNvSpPr/>
          <p:nvPr/>
        </p:nvSpPr>
        <p:spPr>
          <a:xfrm>
            <a:off x="8183880" y="3337814"/>
            <a:ext cx="3520440" cy="69799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39267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insertMany()</a:t>
            </a:r>
          </a:p>
        </p:txBody>
      </p:sp>
      <p:sp>
        <p:nvSpPr>
          <p:cNvPr id="10" name="TextBox 9"/>
          <p:cNvSpPr txBox="1"/>
          <p:nvPr/>
        </p:nvSpPr>
        <p:spPr>
          <a:xfrm>
            <a:off x="8321040" y="3703574"/>
            <a:ext cx="3246120" cy="277367"/>
          </a:xfrm>
          <a:prstGeom prst="rect">
            <a:avLst/>
          </a:prstGeom>
          <a:noFill/>
        </p:spPr>
        <p:txBody>
          <a:bodyPr wrap="square" anchor="t" lIns="0" rIns="0" tIns="0" bIns="0">
            <a:spAutoFit/>
          </a:bodyPr>
          <a:lstStyle/>
          <a:p>
            <a:pPr algn="l"/>
            <a:r>
              <a:rPr sz="1200" b="0" i="0">
                <a:solidFill>
                  <a:srgbClr val="000000"/>
                </a:solidFill>
                <a:latin typeface="Nirmala UI"/>
              </a:rPr>
              <a:t>Returns insertedIds, one per document.</a:t>
            </a:r>
          </a:p>
        </p:txBody>
      </p:sp>
      <p:sp>
        <p:nvSpPr>
          <p:cNvPr id="11" name="Rounded Rectangle 10"/>
          <p:cNvSpPr/>
          <p:nvPr/>
        </p:nvSpPr>
        <p:spPr>
          <a:xfrm>
            <a:off x="8183880" y="4163822"/>
            <a:ext cx="3520440" cy="88392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21868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Unique sku</a:t>
            </a:r>
          </a:p>
        </p:txBody>
      </p:sp>
      <p:sp>
        <p:nvSpPr>
          <p:cNvPr id="13" name="TextBox 12"/>
          <p:cNvSpPr txBox="1"/>
          <p:nvPr/>
        </p:nvSpPr>
        <p:spPr>
          <a:xfrm>
            <a:off x="8321040" y="4529582"/>
            <a:ext cx="3246120" cy="463295"/>
          </a:xfrm>
          <a:prstGeom prst="rect">
            <a:avLst/>
          </a:prstGeom>
          <a:noFill/>
        </p:spPr>
        <p:txBody>
          <a:bodyPr wrap="square" anchor="t" lIns="0" rIns="0" tIns="0" bIns="0">
            <a:spAutoFit/>
          </a:bodyPr>
          <a:lstStyle/>
          <a:p>
            <a:pPr algn="l"/>
            <a:r>
              <a:rPr sz="1200" b="0" i="0">
                <a:solidFill>
                  <a:srgbClr val="000000"/>
                </a:solidFill>
                <a:latin typeface="Nirmala UI"/>
              </a:rPr>
              <a:t>A second DEMO-1 fails with E11000 duplicate key.</a:t>
            </a:r>
          </a:p>
        </p:txBody>
      </p:sp>
      <p:sp>
        <p:nvSpPr>
          <p:cNvPr id="14" name="Rounded Rectangle 13"/>
          <p:cNvSpPr/>
          <p:nvPr/>
        </p:nvSpPr>
        <p:spPr>
          <a:xfrm>
            <a:off x="8183880" y="5175758"/>
            <a:ext cx="3520440" cy="66446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175758"/>
            <a:ext cx="3154680" cy="664464"/>
          </a:xfrm>
          <a:prstGeom prst="rect">
            <a:avLst/>
          </a:prstGeom>
          <a:noFill/>
        </p:spPr>
        <p:txBody>
          <a:bodyPr wrap="square" anchor="ctr" lIns="0" rIns="0" tIns="0" bIns="0">
            <a:spAutoFit/>
          </a:bodyPr>
          <a:lstStyle/>
          <a:p>
            <a:pPr algn="l"/>
            <a:r>
              <a:rPr sz="1200" b="1" i="0">
                <a:solidFill>
                  <a:srgbClr val="D1282E"/>
                </a:solidFill>
                <a:latin typeface="Nirmala UI"/>
              </a:rPr>
              <a:t>VERIFY   </a:t>
            </a:r>
            <a:r>
              <a:rPr sz="1200" b="0" i="0">
                <a:solidFill>
                  <a:srgbClr val="000000"/>
                </a:solidFill>
                <a:latin typeface="Nirmala UI"/>
              </a:rPr>
              <a:t>findOne({ sku: "DEMO-1" }), then delete it.</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Insert with real BSON types — Decimal128 for money, Date for time — and read the document back to verify.</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UPDATING DOCUMENTS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 filter, update operators and a write result.</a:t>
            </a:r>
          </a:p>
        </p:txBody>
      </p:sp>
      <p:sp>
        <p:nvSpPr>
          <p:cNvPr id="4" name="Rounded Rectangle 3"/>
          <p:cNvSpPr/>
          <p:nvPr/>
        </p:nvSpPr>
        <p:spPr>
          <a:xfrm>
            <a:off x="475488" y="1989052"/>
            <a:ext cx="7415783" cy="3154214"/>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0" descr="image.jpg"/>
          <p:cNvPicPr>
            <a:picLocks noChangeAspect="1"/>
          </p:cNvPicPr>
          <p:nvPr/>
        </p:nvPicPr>
        <p:blipFill>
          <a:blip r:embed="rId2"/>
          <a:stretch>
            <a:fillRect/>
          </a:stretch>
        </p:blipFill>
        <p:spPr>
          <a:xfrm>
            <a:off x="548640" y="2062204"/>
            <a:ext cx="7269480" cy="3007910"/>
          </a:xfrm>
          <a:prstGeom prst="rect">
            <a:avLst/>
          </a:prstGeom>
        </p:spPr>
      </p:pic>
      <p:sp>
        <p:nvSpPr>
          <p:cNvPr id="6" name="Rounded Rectangle 5"/>
          <p:cNvSpPr/>
          <p:nvPr/>
        </p:nvSpPr>
        <p:spPr>
          <a:xfrm>
            <a:off x="8183880" y="1298448"/>
            <a:ext cx="3520440" cy="9409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Three parts</a:t>
            </a:r>
          </a:p>
        </p:txBody>
      </p:sp>
      <p:sp>
        <p:nvSpPr>
          <p:cNvPr id="8" name="TextBox 7"/>
          <p:cNvSpPr txBox="1"/>
          <p:nvPr/>
        </p:nvSpPr>
        <p:spPr>
          <a:xfrm>
            <a:off x="8321040" y="1664208"/>
            <a:ext cx="3246120" cy="520276"/>
          </a:xfrm>
          <a:prstGeom prst="rect">
            <a:avLst/>
          </a:prstGeom>
          <a:noFill/>
        </p:spPr>
        <p:txBody>
          <a:bodyPr wrap="square" anchor="t" lIns="0" rIns="0" tIns="0" bIns="0">
            <a:spAutoFit/>
          </a:bodyPr>
          <a:lstStyle/>
          <a:p>
            <a:pPr algn="l"/>
            <a:r>
              <a:rPr sz="1200" b="0" i="0">
                <a:solidFill>
                  <a:srgbClr val="000000"/>
                </a:solidFill>
                <a:latin typeface="Nirmala UI"/>
              </a:rPr>
              <a:t>updateOne(filter, update, options): the filter picks, the operators change.</a:t>
            </a:r>
          </a:p>
        </p:txBody>
      </p:sp>
      <p:sp>
        <p:nvSpPr>
          <p:cNvPr id="9" name="Rounded Rectangle 8"/>
          <p:cNvSpPr/>
          <p:nvPr/>
        </p:nvSpPr>
        <p:spPr>
          <a:xfrm>
            <a:off x="8183880" y="2367364"/>
            <a:ext cx="3520440" cy="94090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2222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One or many</a:t>
            </a:r>
          </a:p>
        </p:txBody>
      </p:sp>
      <p:sp>
        <p:nvSpPr>
          <p:cNvPr id="11" name="TextBox 10"/>
          <p:cNvSpPr txBox="1"/>
          <p:nvPr/>
        </p:nvSpPr>
        <p:spPr>
          <a:xfrm>
            <a:off x="8321040" y="2733124"/>
            <a:ext cx="3246120" cy="520276"/>
          </a:xfrm>
          <a:prstGeom prst="rect">
            <a:avLst/>
          </a:prstGeom>
          <a:noFill/>
        </p:spPr>
        <p:txBody>
          <a:bodyPr wrap="square" anchor="t" lIns="0" rIns="0" tIns="0" bIns="0">
            <a:spAutoFit/>
          </a:bodyPr>
          <a:lstStyle/>
          <a:p>
            <a:pPr algn="l"/>
            <a:r>
              <a:rPr sz="1200" b="0" i="0">
                <a:solidFill>
                  <a:srgbClr val="000000"/>
                </a:solidFill>
                <a:latin typeface="Nirmala UI"/>
              </a:rPr>
              <a:t>updateMany() changes every match — preview it with find() first.</a:t>
            </a:r>
          </a:p>
        </p:txBody>
      </p:sp>
      <p:sp>
        <p:nvSpPr>
          <p:cNvPr id="12" name="TextBox 11"/>
          <p:cNvSpPr txBox="1"/>
          <p:nvPr/>
        </p:nvSpPr>
        <p:spPr>
          <a:xfrm>
            <a:off x="8183880" y="3436281"/>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Already true?</a:t>
            </a:r>
          </a:p>
        </p:txBody>
      </p:sp>
      <p:sp>
        <p:nvSpPr>
          <p:cNvPr id="13" name="Rounded Rectangle 12"/>
          <p:cNvSpPr/>
          <p:nvPr/>
        </p:nvSpPr>
        <p:spPr>
          <a:xfrm>
            <a:off x="8183880" y="3765465"/>
            <a:ext cx="3520440"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db.products.updateOne(</a:t>
            </a:r>
          </a:p>
          <a:p>
            <a:pPr algn="l"/>
            <a:r>
              <a:rPr sz="1100" b="0" i="0">
                <a:solidFill>
                  <a:srgbClr val="000000"/>
                </a:solidFill>
                <a:latin typeface="Consolas"/>
              </a:rPr>
              <a:t>  { sku: "L100" },</a:t>
            </a:r>
          </a:p>
          <a:p>
            <a:pPr algn="l"/>
            <a:r>
              <a:rPr sz="1100" b="0" i="0">
                <a:solidFill>
                  <a:srgbClr val="000000"/>
                </a:solidFill>
                <a:latin typeface="Consolas"/>
              </a:rPr>
              <a:t>  { $set: { active: true } })</a:t>
            </a:r>
          </a:p>
          <a:p>
            <a:pPr algn="l"/>
            <a:r>
              <a:rPr sz="1100" b="0" i="0">
                <a:solidFill>
                  <a:srgbClr val="000000"/>
                </a:solidFill>
                <a:latin typeface="Consolas"/>
              </a:rPr>
              <a:t>// matchedCount: 1,</a:t>
            </a:r>
          </a:p>
          <a:p>
            <a:pPr algn="l"/>
            <a:r>
              <a:rPr sz="1100" b="0" i="0">
                <a:solidFill>
                  <a:srgbClr val="000000"/>
                </a:solidFill>
                <a:latin typeface="Consolas"/>
              </a:rPr>
              <a:t>// modifiedCount: 0</a:t>
            </a:r>
          </a:p>
        </p:txBody>
      </p:sp>
      <p:sp>
        <p:nvSpPr>
          <p:cNvPr id="14" name="Rounded Rectangle 13"/>
          <p:cNvSpPr/>
          <p:nvPr/>
        </p:nvSpPr>
        <p:spPr>
          <a:xfrm>
            <a:off x="8183880" y="5112427"/>
            <a:ext cx="3520440" cy="7214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TextBox 14"/>
          <p:cNvSpPr txBox="1"/>
          <p:nvPr/>
        </p:nvSpPr>
        <p:spPr>
          <a:xfrm>
            <a:off x="8366760" y="5112427"/>
            <a:ext cx="3154680" cy="721444"/>
          </a:xfrm>
          <a:prstGeom prst="rect">
            <a:avLst/>
          </a:prstGeom>
          <a:noFill/>
        </p:spPr>
        <p:txBody>
          <a:bodyPr wrap="square" anchor="ctr" lIns="0" rIns="0" tIns="0" bIns="0">
            <a:spAutoFit/>
          </a:bodyPr>
          <a:lstStyle/>
          <a:p>
            <a:pPr algn="l"/>
            <a:r>
              <a:rPr sz="1200" b="1" i="0">
                <a:solidFill>
                  <a:srgbClr val="D1282E"/>
                </a:solidFill>
                <a:latin typeface="Nirmala UI"/>
              </a:rPr>
              <a:t>WHY 0   </a:t>
            </a:r>
            <a:r>
              <a:rPr sz="1200" b="0" i="0">
                <a:solidFill>
                  <a:srgbClr val="000000"/>
                </a:solidFill>
                <a:latin typeface="Nirmala UI"/>
              </a:rPr>
              <a:t>L100 is already active: found, nothing to change.</a:t>
            </a:r>
          </a:p>
        </p:txBody>
      </p:sp>
      <p:sp>
        <p:nvSpPr>
          <p:cNvPr id="16" name="Rounded Rectangle 1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 update is a filter plus operators — the result says what was found and what actually changed.</a:t>
            </a:r>
          </a:p>
        </p:txBody>
      </p:sp>
      <p:sp>
        <p:nvSpPr>
          <p:cNvPr id="18" name="Rectangle 1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$SET, $UNSET, NUMERIC OPERATORS AND $RENAME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Four kinds of operator, one document, changed in place.</a:t>
            </a:r>
          </a:p>
        </p:txBody>
      </p:sp>
      <p:sp>
        <p:nvSpPr>
          <p:cNvPr id="4" name="Rounded Rectangle 3"/>
          <p:cNvSpPr/>
          <p:nvPr/>
        </p:nvSpPr>
        <p:spPr>
          <a:xfrm>
            <a:off x="475488" y="2119111"/>
            <a:ext cx="7415783" cy="289409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1" descr="image.jpg"/>
          <p:cNvPicPr>
            <a:picLocks noChangeAspect="1"/>
          </p:cNvPicPr>
          <p:nvPr/>
        </p:nvPicPr>
        <p:blipFill>
          <a:blip r:embed="rId2"/>
          <a:stretch>
            <a:fillRect/>
          </a:stretch>
        </p:blipFill>
        <p:spPr>
          <a:xfrm>
            <a:off x="548640" y="2192263"/>
            <a:ext cx="7269480" cy="2747793"/>
          </a:xfrm>
          <a:prstGeom prst="rect">
            <a:avLst/>
          </a:prstGeom>
        </p:spPr>
      </p:pic>
      <p:sp>
        <p:nvSpPr>
          <p:cNvPr id="6" name="Rounded Rectangle 5"/>
          <p:cNvSpPr/>
          <p:nvPr/>
        </p:nvSpPr>
        <p:spPr>
          <a:xfrm>
            <a:off x="8183880" y="1298448"/>
            <a:ext cx="3520440" cy="10843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$set / $unset</a:t>
            </a:r>
          </a:p>
        </p:txBody>
      </p:sp>
      <p:sp>
        <p:nvSpPr>
          <p:cNvPr id="8" name="TextBox 7"/>
          <p:cNvSpPr txBox="1"/>
          <p:nvPr/>
        </p:nvSpPr>
        <p:spPr>
          <a:xfrm>
            <a:off x="8321040" y="1664208"/>
            <a:ext cx="3246120" cy="663701"/>
          </a:xfrm>
          <a:prstGeom prst="rect">
            <a:avLst/>
          </a:prstGeom>
          <a:noFill/>
        </p:spPr>
        <p:txBody>
          <a:bodyPr wrap="square" anchor="t" lIns="0" rIns="0" tIns="0" bIns="0">
            <a:spAutoFit/>
          </a:bodyPr>
          <a:lstStyle/>
          <a:p>
            <a:pPr algn="l"/>
            <a:r>
              <a:rPr sz="1200" b="0" i="0">
                <a:solidFill>
                  <a:srgbClr val="000000"/>
                </a:solidFill>
                <a:latin typeface="Nirmala UI"/>
              </a:rPr>
              <a:t>Add or replace a field; remove one — A410's temporaryNote.</a:t>
            </a:r>
          </a:p>
        </p:txBody>
      </p:sp>
      <p:sp>
        <p:nvSpPr>
          <p:cNvPr id="9" name="Rounded Rectangle 8"/>
          <p:cNvSpPr/>
          <p:nvPr/>
        </p:nvSpPr>
        <p:spPr>
          <a:xfrm>
            <a:off x="8183880" y="2510790"/>
            <a:ext cx="3520440" cy="89839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6565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$inc / $mul</a:t>
            </a:r>
          </a:p>
        </p:txBody>
      </p:sp>
      <p:sp>
        <p:nvSpPr>
          <p:cNvPr id="11" name="TextBox 10"/>
          <p:cNvSpPr txBox="1"/>
          <p:nvPr/>
        </p:nvSpPr>
        <p:spPr>
          <a:xfrm>
            <a:off x="8321040" y="2876550"/>
            <a:ext cx="3246120" cy="477773"/>
          </a:xfrm>
          <a:prstGeom prst="rect">
            <a:avLst/>
          </a:prstGeom>
          <a:noFill/>
        </p:spPr>
        <p:txBody>
          <a:bodyPr wrap="square" anchor="t" lIns="0" rIns="0" tIns="0" bIns="0">
            <a:spAutoFit/>
          </a:bodyPr>
          <a:lstStyle/>
          <a:p>
            <a:pPr algn="l"/>
            <a:r>
              <a:rPr sz="1200" b="0" i="0">
                <a:solidFill>
                  <a:srgbClr val="000000"/>
                </a:solidFill>
                <a:latin typeface="Nirmala UI"/>
              </a:rPr>
              <a:t>Change a number in place, atomically.</a:t>
            </a:r>
          </a:p>
        </p:txBody>
      </p:sp>
      <p:sp>
        <p:nvSpPr>
          <p:cNvPr id="12" name="Rounded Rectangle 11"/>
          <p:cNvSpPr/>
          <p:nvPr/>
        </p:nvSpPr>
        <p:spPr>
          <a:xfrm>
            <a:off x="8183880" y="3537204"/>
            <a:ext cx="3520440" cy="10843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59206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$min / $max</a:t>
            </a:r>
          </a:p>
        </p:txBody>
      </p:sp>
      <p:sp>
        <p:nvSpPr>
          <p:cNvPr id="14" name="TextBox 13"/>
          <p:cNvSpPr txBox="1"/>
          <p:nvPr/>
        </p:nvSpPr>
        <p:spPr>
          <a:xfrm>
            <a:off x="8321040" y="3902964"/>
            <a:ext cx="3246120" cy="663702"/>
          </a:xfrm>
          <a:prstGeom prst="rect">
            <a:avLst/>
          </a:prstGeom>
          <a:noFill/>
        </p:spPr>
        <p:txBody>
          <a:bodyPr wrap="square" anchor="t" lIns="0" rIns="0" tIns="0" bIns="0">
            <a:spAutoFit/>
          </a:bodyPr>
          <a:lstStyle/>
          <a:p>
            <a:pPr algn="l"/>
            <a:r>
              <a:rPr sz="1200" b="0" i="0">
                <a:solidFill>
                  <a:srgbClr val="000000"/>
                </a:solidFill>
                <a:latin typeface="Nirmala UI"/>
              </a:rPr>
              <a:t>Change only if the new value is lower, or higher.</a:t>
            </a:r>
          </a:p>
        </p:txBody>
      </p:sp>
      <p:sp>
        <p:nvSpPr>
          <p:cNvPr id="15" name="Rounded Rectangle 14"/>
          <p:cNvSpPr/>
          <p:nvPr/>
        </p:nvSpPr>
        <p:spPr>
          <a:xfrm>
            <a:off x="8183880" y="4749546"/>
            <a:ext cx="3520440" cy="10843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21040" y="480441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$rename</a:t>
            </a:r>
          </a:p>
        </p:txBody>
      </p:sp>
      <p:sp>
        <p:nvSpPr>
          <p:cNvPr id="17" name="TextBox 16"/>
          <p:cNvSpPr txBox="1"/>
          <p:nvPr/>
        </p:nvSpPr>
        <p:spPr>
          <a:xfrm>
            <a:off x="8321040" y="5115306"/>
            <a:ext cx="3246120" cy="663701"/>
          </a:xfrm>
          <a:prstGeom prst="rect">
            <a:avLst/>
          </a:prstGeom>
          <a:noFill/>
        </p:spPr>
        <p:txBody>
          <a:bodyPr wrap="square" anchor="t" lIns="0" rIns="0" tIns="0" bIns="0">
            <a:spAutoFit/>
          </a:bodyPr>
          <a:lstStyle/>
          <a:p>
            <a:pPr algn="l"/>
            <a:r>
              <a:rPr sz="1200" b="0" i="0">
                <a:solidFill>
                  <a:srgbClr val="000000"/>
                </a:solidFill>
                <a:latin typeface="Nirmala UI"/>
              </a:rPr>
              <a:t>legacyName → catalogName on L190. Preview the filter first.</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Update operators change only the fields you name — the rest of the document stays as it was.</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NESTED $SET AND A GUARDED $INC</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Change one embedded field; decrement stock only when there is enough.</a:t>
            </a:r>
          </a:p>
        </p:txBody>
      </p:sp>
      <p:sp>
        <p:nvSpPr>
          <p:cNvPr id="4" name="Oval 3"/>
          <p:cNvSpPr/>
          <p:nvPr/>
        </p:nvSpPr>
        <p:spPr>
          <a:xfrm>
            <a:off x="45720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5" name="TextBox 4"/>
          <p:cNvSpPr txBox="1"/>
          <p:nvPr/>
        </p:nvSpPr>
        <p:spPr>
          <a:xfrm>
            <a:off x="786384" y="1298448"/>
            <a:ext cx="5180076" cy="310896"/>
          </a:xfrm>
          <a:prstGeom prst="rect">
            <a:avLst/>
          </a:prstGeom>
          <a:noFill/>
        </p:spPr>
        <p:txBody>
          <a:bodyPr wrap="square" anchor="ctr" lIns="0" rIns="0" tIns="0" bIns="0">
            <a:spAutoFit/>
          </a:bodyPr>
          <a:lstStyle/>
          <a:p>
            <a:pPr algn="l"/>
            <a:r>
              <a:rPr sz="1300" b="1" i="0">
                <a:solidFill>
                  <a:srgbClr val="2E7D32"/>
                </a:solidFill>
                <a:latin typeface="Nirmala UI"/>
              </a:rPr>
              <a:t>Set one nested field</a:t>
            </a:r>
          </a:p>
        </p:txBody>
      </p:sp>
      <p:sp>
        <p:nvSpPr>
          <p:cNvPr id="6" name="Rounded Rectangle 5"/>
          <p:cNvSpPr/>
          <p:nvPr/>
        </p:nvSpPr>
        <p:spPr>
          <a:xfrm>
            <a:off x="457200" y="1627632"/>
            <a:ext cx="5509260" cy="2407793"/>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db.products.updateOne(</a:t>
            </a:r>
          </a:p>
          <a:p>
            <a:pPr algn="l"/>
            <a:r>
              <a:rPr sz="1300" b="0" i="0">
                <a:solidFill>
                  <a:srgbClr val="000000"/>
                </a:solidFill>
                <a:latin typeface="Consolas"/>
              </a:rPr>
              <a:t>  { sku: "L100" },</a:t>
            </a:r>
          </a:p>
          <a:p>
            <a:pPr algn="l"/>
            <a:r>
              <a:rPr sz="1300" b="0" i="0">
                <a:solidFill>
                  <a:srgbClr val="000000"/>
                </a:solidFill>
                <a:latin typeface="Consolas"/>
              </a:rPr>
              <a:t>  { $set: {</a:t>
            </a:r>
          </a:p>
          <a:p>
            <a:pPr algn="l"/>
            <a:r>
              <a:rPr sz="1300" b="0" i="0">
                <a:solidFill>
                  <a:srgbClr val="000000"/>
                </a:solidFill>
                <a:latin typeface="Consolas"/>
              </a:rPr>
              <a:t>    "attributes.warrantyYears": 2</a:t>
            </a:r>
          </a:p>
          <a:p>
            <a:pPr algn="l"/>
            <a:r>
              <a:rPr sz="1300" b="0" i="0">
                <a:solidFill>
                  <a:srgbClr val="000000"/>
                </a:solidFill>
                <a:latin typeface="Consolas"/>
              </a:rPr>
              <a:t>  } })</a:t>
            </a:r>
          </a:p>
          <a:p>
            <a:pPr algn="l"/>
            <a:r>
              <a:rPr sz="1300" b="0" i="0">
                <a:solidFill>
                  <a:srgbClr val="000000"/>
                </a:solidFill>
                <a:latin typeface="Consolas"/>
              </a:rPr>
              <a:t>// memoryGB, processor … kept</a:t>
            </a:r>
          </a:p>
        </p:txBody>
      </p:sp>
      <p:sp>
        <p:nvSpPr>
          <p:cNvPr id="7" name="Oval 6"/>
          <p:cNvSpPr/>
          <p:nvPr/>
        </p:nvSpPr>
        <p:spPr>
          <a:xfrm>
            <a:off x="6195060" y="132588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8" name="TextBox 7"/>
          <p:cNvSpPr txBox="1"/>
          <p:nvPr/>
        </p:nvSpPr>
        <p:spPr>
          <a:xfrm>
            <a:off x="6524244" y="1298448"/>
            <a:ext cx="5180076" cy="310896"/>
          </a:xfrm>
          <a:prstGeom prst="rect">
            <a:avLst/>
          </a:prstGeom>
          <a:noFill/>
        </p:spPr>
        <p:txBody>
          <a:bodyPr wrap="square" anchor="ctr" lIns="0" rIns="0" tIns="0" bIns="0">
            <a:spAutoFit/>
          </a:bodyPr>
          <a:lstStyle/>
          <a:p>
            <a:pPr algn="l"/>
            <a:r>
              <a:rPr sz="1300" b="1" i="0">
                <a:solidFill>
                  <a:srgbClr val="2E7D32"/>
                </a:solidFill>
                <a:latin typeface="Nirmala UI"/>
              </a:rPr>
              <a:t>Decrement only if stock allows</a:t>
            </a:r>
          </a:p>
        </p:txBody>
      </p:sp>
      <p:sp>
        <p:nvSpPr>
          <p:cNvPr id="9" name="Rounded Rectangle 8"/>
          <p:cNvSpPr/>
          <p:nvPr/>
        </p:nvSpPr>
        <p:spPr>
          <a:xfrm>
            <a:off x="6195060" y="1627632"/>
            <a:ext cx="5509260" cy="2407793"/>
          </a:xfrm>
          <a:prstGeom prst="roundRect">
            <a:avLst>
              <a:gd name="adj" fmla="val 6000"/>
            </a:avLst>
          </a:prstGeom>
          <a:solidFill>
            <a:srgbClr val="E8F5E9"/>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300" b="0" i="0">
                <a:solidFill>
                  <a:srgbClr val="000000"/>
                </a:solidFill>
                <a:latin typeface="Consolas"/>
              </a:rPr>
              <a:t>// Lab 3 first sets stockQuantity: 18</a:t>
            </a:r>
          </a:p>
          <a:p>
            <a:pPr algn="l"/>
            <a:r>
              <a:rPr sz="1300" b="0" i="0">
                <a:solidFill>
                  <a:srgbClr val="000000"/>
                </a:solidFill>
                <a:latin typeface="Consolas"/>
              </a:rPr>
              <a:t>db.products.updateOne(</a:t>
            </a:r>
          </a:p>
          <a:p>
            <a:pPr algn="l"/>
            <a:r>
              <a:rPr sz="1300" b="0" i="0">
                <a:solidFill>
                  <a:srgbClr val="000000"/>
                </a:solidFill>
                <a:latin typeface="Consolas"/>
              </a:rPr>
              <a:t>  { sku: "A410",</a:t>
            </a:r>
          </a:p>
          <a:p>
            <a:pPr algn="l"/>
            <a:r>
              <a:rPr sz="1300" b="0" i="0">
                <a:solidFill>
                  <a:srgbClr val="000000"/>
                </a:solidFill>
                <a:latin typeface="Consolas"/>
              </a:rPr>
              <a:t>    stockQuantity: { $gte: 2 } },</a:t>
            </a:r>
          </a:p>
          <a:p>
            <a:pPr algn="l"/>
            <a:r>
              <a:rPr sz="1300" b="0" i="0">
                <a:solidFill>
                  <a:srgbClr val="000000"/>
                </a:solidFill>
                <a:latin typeface="Consolas"/>
              </a:rPr>
              <a:t>  { $inc: { stockQuantity: -2 },</a:t>
            </a:r>
          </a:p>
          <a:p>
            <a:pPr algn="l"/>
            <a:r>
              <a:rPr sz="1300" b="0" i="0">
                <a:solidFill>
                  <a:srgbClr val="000000"/>
                </a:solidFill>
                <a:latin typeface="Consolas"/>
              </a:rPr>
              <a:t>    $currentDate: { updatedAt: true } })</a:t>
            </a:r>
          </a:p>
          <a:p>
            <a:pPr algn="l"/>
            <a:r>
              <a:rPr sz="1300" b="0" i="0">
                <a:solidFill>
                  <a:srgbClr val="000000"/>
                </a:solidFill>
                <a:latin typeface="Consolas"/>
              </a:rPr>
              <a:t>// 18 → 16</a:t>
            </a:r>
          </a:p>
        </p:txBody>
      </p:sp>
      <p:sp>
        <p:nvSpPr>
          <p:cNvPr id="10" name="Rounded Rectangle 9"/>
          <p:cNvSpPr/>
          <p:nvPr/>
        </p:nvSpPr>
        <p:spPr>
          <a:xfrm>
            <a:off x="457200" y="426402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594360" y="431888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Dotted path</a:t>
            </a:r>
          </a:p>
        </p:txBody>
      </p:sp>
      <p:sp>
        <p:nvSpPr>
          <p:cNvPr id="12" name="TextBox 11"/>
          <p:cNvSpPr txBox="1"/>
          <p:nvPr/>
        </p:nvSpPr>
        <p:spPr>
          <a:xfrm>
            <a:off x="594360" y="4629785"/>
            <a:ext cx="3352800" cy="737615"/>
          </a:xfrm>
          <a:prstGeom prst="rect">
            <a:avLst/>
          </a:prstGeom>
          <a:noFill/>
        </p:spPr>
        <p:txBody>
          <a:bodyPr wrap="square" anchor="t" lIns="0" rIns="0" tIns="0" bIns="0">
            <a:spAutoFit/>
          </a:bodyPr>
          <a:lstStyle/>
          <a:p>
            <a:pPr algn="l"/>
            <a:r>
              <a:rPr sz="1200" b="0" i="0">
                <a:solidFill>
                  <a:srgbClr val="000000"/>
                </a:solidFill>
                <a:latin typeface="Nirmala UI"/>
              </a:rPr>
              <a:t>$set: { contact: { … } } would replace the object and lose phone.</a:t>
            </a:r>
          </a:p>
        </p:txBody>
      </p:sp>
      <p:sp>
        <p:nvSpPr>
          <p:cNvPr id="13" name="Rounded Rectangle 12"/>
          <p:cNvSpPr/>
          <p:nvPr/>
        </p:nvSpPr>
        <p:spPr>
          <a:xfrm>
            <a:off x="4267200" y="4264025"/>
            <a:ext cx="3627120" cy="115824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404360" y="4318889"/>
            <a:ext cx="3352800" cy="292608"/>
          </a:xfrm>
          <a:prstGeom prst="rect">
            <a:avLst/>
          </a:prstGeom>
          <a:noFill/>
        </p:spPr>
        <p:txBody>
          <a:bodyPr wrap="square" anchor="ctr" lIns="0" rIns="0" tIns="0" bIns="0">
            <a:spAutoFit/>
          </a:bodyPr>
          <a:lstStyle/>
          <a:p>
            <a:pPr algn="l"/>
            <a:r>
              <a:rPr sz="1300" b="1" i="0">
                <a:solidFill>
                  <a:srgbClr val="002060"/>
                </a:solidFill>
                <a:latin typeface="Nirmala UI"/>
              </a:rPr>
              <a:t>Atomic</a:t>
            </a:r>
          </a:p>
        </p:txBody>
      </p:sp>
      <p:sp>
        <p:nvSpPr>
          <p:cNvPr id="15" name="TextBox 14"/>
          <p:cNvSpPr txBox="1"/>
          <p:nvPr/>
        </p:nvSpPr>
        <p:spPr>
          <a:xfrm>
            <a:off x="4404360" y="4629785"/>
            <a:ext cx="3352800" cy="737615"/>
          </a:xfrm>
          <a:prstGeom prst="rect">
            <a:avLst/>
          </a:prstGeom>
          <a:noFill/>
        </p:spPr>
        <p:txBody>
          <a:bodyPr wrap="square" anchor="t" lIns="0" rIns="0" tIns="0" bIns="0">
            <a:spAutoFit/>
          </a:bodyPr>
          <a:lstStyle/>
          <a:p>
            <a:pPr algn="l"/>
            <a:r>
              <a:rPr sz="1200" b="0" i="0">
                <a:solidFill>
                  <a:srgbClr val="000000"/>
                </a:solidFill>
                <a:latin typeface="Nirmala UI"/>
              </a:rPr>
              <a:t>Check and change happen in one single-document write.</a:t>
            </a:r>
          </a:p>
        </p:txBody>
      </p:sp>
      <p:sp>
        <p:nvSpPr>
          <p:cNvPr id="16" name="Rounded Rectangle 15"/>
          <p:cNvSpPr/>
          <p:nvPr/>
        </p:nvSpPr>
        <p:spPr>
          <a:xfrm>
            <a:off x="8077200" y="4264025"/>
            <a:ext cx="3627120" cy="115824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TextBox 16"/>
          <p:cNvSpPr txBox="1"/>
          <p:nvPr/>
        </p:nvSpPr>
        <p:spPr>
          <a:xfrm>
            <a:off x="8260080" y="4264025"/>
            <a:ext cx="3261360" cy="1158240"/>
          </a:xfrm>
          <a:prstGeom prst="rect">
            <a:avLst/>
          </a:prstGeom>
          <a:noFill/>
        </p:spPr>
        <p:txBody>
          <a:bodyPr wrap="square" anchor="ctr" lIns="0" rIns="0" tIns="0" bIns="0">
            <a:spAutoFit/>
          </a:bodyPr>
          <a:lstStyle/>
          <a:p>
            <a:pPr algn="l"/>
            <a:r>
              <a:rPr sz="1200" b="1" i="0">
                <a:solidFill>
                  <a:srgbClr val="D1282E"/>
                </a:solidFill>
                <a:latin typeface="Nirmala UI"/>
              </a:rPr>
              <a:t>MATCHEDCOUNT: 0   </a:t>
            </a:r>
            <a:r>
              <a:rPr sz="1200" b="0" i="0">
                <a:solidFill>
                  <a:srgbClr val="000000"/>
                </a:solidFill>
                <a:latin typeface="Nirmala UI"/>
              </a:rPr>
              <a:t>Not enough stock — or no such SKU.</a:t>
            </a:r>
          </a:p>
        </p:txBody>
      </p:sp>
      <p:sp>
        <p:nvSpPr>
          <p:cNvPr id="18" name="Rounded Rectangle 17"/>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Set nested fields by their dotted path, and put the business rule in the filter so check and change are one write.</a:t>
            </a:r>
          </a:p>
        </p:txBody>
      </p:sp>
      <p:sp>
        <p:nvSpPr>
          <p:cNvPr id="20" name="Rectangle 1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ARRAY UPDATE OPERATORS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$push, $addToSet, $pull and $pop change arrays without rewriting them.</a:t>
            </a:r>
          </a:p>
        </p:txBody>
      </p:sp>
      <p:sp>
        <p:nvSpPr>
          <p:cNvPr id="4" name="Rounded Rectangle 3"/>
          <p:cNvSpPr/>
          <p:nvPr/>
        </p:nvSpPr>
        <p:spPr>
          <a:xfrm>
            <a:off x="475488" y="2019523"/>
            <a:ext cx="7415783" cy="3093272"/>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3" descr="image.jpg"/>
          <p:cNvPicPr>
            <a:picLocks noChangeAspect="1"/>
          </p:cNvPicPr>
          <p:nvPr/>
        </p:nvPicPr>
        <p:blipFill>
          <a:blip r:embed="rId2"/>
          <a:stretch>
            <a:fillRect/>
          </a:stretch>
        </p:blipFill>
        <p:spPr>
          <a:xfrm>
            <a:off x="548640" y="2092675"/>
            <a:ext cx="7269480" cy="2946968"/>
          </a:xfrm>
          <a:prstGeom prst="rect">
            <a:avLst/>
          </a:prstGeom>
        </p:spPr>
      </p:pic>
      <p:sp>
        <p:nvSpPr>
          <p:cNvPr id="6" name="Rounded Rectangle 5"/>
          <p:cNvSpPr/>
          <p:nvPr/>
        </p:nvSpPr>
        <p:spPr>
          <a:xfrm>
            <a:off x="8183880" y="1298448"/>
            <a:ext cx="3520440" cy="92972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$push</a:t>
            </a:r>
          </a:p>
        </p:txBody>
      </p:sp>
      <p:sp>
        <p:nvSpPr>
          <p:cNvPr id="8" name="TextBox 7"/>
          <p:cNvSpPr txBox="1"/>
          <p:nvPr/>
        </p:nvSpPr>
        <p:spPr>
          <a:xfrm>
            <a:off x="8321040" y="1664208"/>
            <a:ext cx="3246120" cy="509100"/>
          </a:xfrm>
          <a:prstGeom prst="rect">
            <a:avLst/>
          </a:prstGeom>
          <a:noFill/>
        </p:spPr>
        <p:txBody>
          <a:bodyPr wrap="square" anchor="t" lIns="0" rIns="0" tIns="0" bIns="0">
            <a:spAutoFit/>
          </a:bodyPr>
          <a:lstStyle/>
          <a:p>
            <a:pPr algn="l"/>
            <a:r>
              <a:rPr sz="1200" b="0" i="0">
                <a:solidFill>
                  <a:srgbClr val="000000"/>
                </a:solidFill>
                <a:latin typeface="Nirmala UI"/>
              </a:rPr>
              <a:t>Appends — run it twice and the value is there twice.</a:t>
            </a:r>
          </a:p>
        </p:txBody>
      </p:sp>
      <p:sp>
        <p:nvSpPr>
          <p:cNvPr id="9" name="Rounded Rectangle 8"/>
          <p:cNvSpPr/>
          <p:nvPr/>
        </p:nvSpPr>
        <p:spPr>
          <a:xfrm>
            <a:off x="8183880" y="2356188"/>
            <a:ext cx="3520440" cy="7437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1105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$addToSet</a:t>
            </a:r>
          </a:p>
        </p:txBody>
      </p:sp>
      <p:sp>
        <p:nvSpPr>
          <p:cNvPr id="11" name="TextBox 10"/>
          <p:cNvSpPr txBox="1"/>
          <p:nvPr/>
        </p:nvSpPr>
        <p:spPr>
          <a:xfrm>
            <a:off x="8321040" y="2721948"/>
            <a:ext cx="3246120" cy="323172"/>
          </a:xfrm>
          <a:prstGeom prst="rect">
            <a:avLst/>
          </a:prstGeom>
          <a:noFill/>
        </p:spPr>
        <p:txBody>
          <a:bodyPr wrap="square" anchor="t" lIns="0" rIns="0" tIns="0" bIns="0">
            <a:spAutoFit/>
          </a:bodyPr>
          <a:lstStyle/>
          <a:p>
            <a:pPr algn="l"/>
            <a:r>
              <a:rPr sz="1200" b="0" i="0">
                <a:solidFill>
                  <a:srgbClr val="000000"/>
                </a:solidFill>
                <a:latin typeface="Nirmala UI"/>
              </a:rPr>
              <a:t>Adds only if absent; $each adds several.</a:t>
            </a:r>
          </a:p>
        </p:txBody>
      </p:sp>
      <p:sp>
        <p:nvSpPr>
          <p:cNvPr id="12" name="Rounded Rectangle 11"/>
          <p:cNvSpPr/>
          <p:nvPr/>
        </p:nvSpPr>
        <p:spPr>
          <a:xfrm>
            <a:off x="8183880" y="3228001"/>
            <a:ext cx="3520440" cy="929724"/>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282865"/>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$pull / $pop</a:t>
            </a:r>
          </a:p>
        </p:txBody>
      </p:sp>
      <p:sp>
        <p:nvSpPr>
          <p:cNvPr id="14" name="TextBox 13"/>
          <p:cNvSpPr txBox="1"/>
          <p:nvPr/>
        </p:nvSpPr>
        <p:spPr>
          <a:xfrm>
            <a:off x="8321040" y="3593761"/>
            <a:ext cx="3246120" cy="509100"/>
          </a:xfrm>
          <a:prstGeom prst="rect">
            <a:avLst/>
          </a:prstGeom>
          <a:noFill/>
        </p:spPr>
        <p:txBody>
          <a:bodyPr wrap="square" anchor="t" lIns="0" rIns="0" tIns="0" bIns="0">
            <a:spAutoFit/>
          </a:bodyPr>
          <a:lstStyle/>
          <a:p>
            <a:pPr algn="l"/>
            <a:r>
              <a:rPr sz="1200" b="0" i="0">
                <a:solidFill>
                  <a:srgbClr val="000000"/>
                </a:solidFill>
                <a:latin typeface="Nirmala UI"/>
              </a:rPr>
              <a:t>Remove by value or condition / from one end.</a:t>
            </a:r>
          </a:p>
        </p:txBody>
      </p:sp>
      <p:sp>
        <p:nvSpPr>
          <p:cNvPr id="15" name="TextBox 14"/>
          <p:cNvSpPr txBox="1"/>
          <p:nvPr/>
        </p:nvSpPr>
        <p:spPr>
          <a:xfrm>
            <a:off x="8183880" y="4285742"/>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Lab 3: wireless stays once</a:t>
            </a:r>
          </a:p>
        </p:txBody>
      </p:sp>
      <p:sp>
        <p:nvSpPr>
          <p:cNvPr id="16" name="Rounded Rectangle 15"/>
          <p:cNvSpPr/>
          <p:nvPr/>
        </p:nvSpPr>
        <p:spPr>
          <a:xfrm>
            <a:off x="8183880" y="4614926"/>
            <a:ext cx="3520440" cy="121894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db.products.updateOne(</a:t>
            </a:r>
          </a:p>
          <a:p>
            <a:pPr algn="l"/>
            <a:r>
              <a:rPr sz="1100" b="0" i="0">
                <a:solidFill>
                  <a:srgbClr val="000000"/>
                </a:solidFill>
                <a:latin typeface="Consolas"/>
              </a:rPr>
              <a:t>  { sku: "A410" },</a:t>
            </a:r>
          </a:p>
          <a:p>
            <a:pPr algn="l"/>
            <a:r>
              <a:rPr sz="1100" b="0" i="0">
                <a:solidFill>
                  <a:srgbClr val="000000"/>
                </a:solidFill>
                <a:latin typeface="Consolas"/>
              </a:rPr>
              <a:t>  { $addToSet: { tags: { $each:</a:t>
            </a:r>
          </a:p>
          <a:p>
            <a:pPr algn="l"/>
            <a:r>
              <a:rPr sz="1100" b="0" i="0">
                <a:solidFill>
                  <a:srgbClr val="000000"/>
                </a:solidFill>
                <a:latin typeface="Consolas"/>
              </a:rPr>
              <a:t>    ["featured", "office", "wireless"]</a:t>
            </a:r>
          </a:p>
          <a:p>
            <a:pPr algn="l"/>
            <a:r>
              <a:rPr sz="1100" b="0" i="0">
                <a:solidFill>
                  <a:srgbClr val="000000"/>
                </a:solidFill>
                <a:latin typeface="Consolas"/>
              </a:rPr>
              <a:t>  } } })</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Use $addToSet when duplicates are wrong, $push when repeats and order matter, and $pull to remove by value.</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POSITIONAL ARRAY UPDATES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 updates the element the filter matched.</a:t>
            </a:r>
          </a:p>
        </p:txBody>
      </p:sp>
      <p:sp>
        <p:nvSpPr>
          <p:cNvPr id="4" name="Rounded Rectangle 3"/>
          <p:cNvSpPr/>
          <p:nvPr/>
        </p:nvSpPr>
        <p:spPr>
          <a:xfrm>
            <a:off x="475488" y="1845201"/>
            <a:ext cx="7415783" cy="344191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5" descr="image.jpg"/>
          <p:cNvPicPr>
            <a:picLocks noChangeAspect="1"/>
          </p:cNvPicPr>
          <p:nvPr/>
        </p:nvPicPr>
        <p:blipFill>
          <a:blip r:embed="rId2"/>
          <a:stretch>
            <a:fillRect/>
          </a:stretch>
        </p:blipFill>
        <p:spPr>
          <a:xfrm>
            <a:off x="548640" y="1918353"/>
            <a:ext cx="7269480" cy="3295613"/>
          </a:xfrm>
          <a:prstGeom prst="rect">
            <a:avLst/>
          </a:prstGeom>
        </p:spPr>
      </p:pic>
      <p:sp>
        <p:nvSpPr>
          <p:cNvPr id="6" name="Rounded Rectangle 5"/>
          <p:cNvSpPr/>
          <p:nvPr/>
        </p:nvSpPr>
        <p:spPr>
          <a:xfrm>
            <a:off x="8183880" y="1298448"/>
            <a:ext cx="3520440" cy="931163"/>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t>
            </a:r>
          </a:p>
        </p:txBody>
      </p:sp>
      <p:sp>
        <p:nvSpPr>
          <p:cNvPr id="8" name="TextBox 7"/>
          <p:cNvSpPr txBox="1"/>
          <p:nvPr/>
        </p:nvSpPr>
        <p:spPr>
          <a:xfrm>
            <a:off x="8321040" y="1664208"/>
            <a:ext cx="3246120" cy="510539"/>
          </a:xfrm>
          <a:prstGeom prst="rect">
            <a:avLst/>
          </a:prstGeom>
          <a:noFill/>
        </p:spPr>
        <p:txBody>
          <a:bodyPr wrap="square" anchor="t" lIns="0" rIns="0" tIns="0" bIns="0">
            <a:spAutoFit/>
          </a:bodyPr>
          <a:lstStyle/>
          <a:p>
            <a:pPr algn="l"/>
            <a:r>
              <a:rPr sz="1200" b="0" i="0">
                <a:solidFill>
                  <a:srgbClr val="000000"/>
                </a:solidFill>
                <a:latin typeface="Nirmala UI"/>
              </a:rPr>
              <a:t>The first element the filter matched: items.$.quantity.</a:t>
            </a:r>
          </a:p>
        </p:txBody>
      </p:sp>
      <p:sp>
        <p:nvSpPr>
          <p:cNvPr id="9" name="Rounded Rectangle 8"/>
          <p:cNvSpPr/>
          <p:nvPr/>
        </p:nvSpPr>
        <p:spPr>
          <a:xfrm>
            <a:off x="8183880" y="2357628"/>
            <a:ext cx="3520440" cy="74523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41249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t>
            </a:r>
          </a:p>
        </p:txBody>
      </p:sp>
      <p:sp>
        <p:nvSpPr>
          <p:cNvPr id="11" name="TextBox 10"/>
          <p:cNvSpPr txBox="1"/>
          <p:nvPr/>
        </p:nvSpPr>
        <p:spPr>
          <a:xfrm>
            <a:off x="8321040" y="2723387"/>
            <a:ext cx="3246120" cy="324612"/>
          </a:xfrm>
          <a:prstGeom prst="rect">
            <a:avLst/>
          </a:prstGeom>
          <a:noFill/>
        </p:spPr>
        <p:txBody>
          <a:bodyPr wrap="square" anchor="t" lIns="0" rIns="0" tIns="0" bIns="0">
            <a:spAutoFit/>
          </a:bodyPr>
          <a:lstStyle/>
          <a:p>
            <a:pPr algn="l"/>
            <a:r>
              <a:rPr sz="1200" b="0" i="0">
                <a:solidFill>
                  <a:srgbClr val="000000"/>
                </a:solidFill>
                <a:latin typeface="Nirmala UI"/>
              </a:rPr>
              <a:t>Every element: items.$[].reviewed.</a:t>
            </a:r>
          </a:p>
        </p:txBody>
      </p:sp>
      <p:sp>
        <p:nvSpPr>
          <p:cNvPr id="12" name="Rounded Rectangle 11"/>
          <p:cNvSpPr/>
          <p:nvPr/>
        </p:nvSpPr>
        <p:spPr>
          <a:xfrm>
            <a:off x="8183880" y="3230880"/>
            <a:ext cx="3520440" cy="74523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285744"/>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$[name] + arrayFilters</a:t>
            </a:r>
          </a:p>
        </p:txBody>
      </p:sp>
      <p:sp>
        <p:nvSpPr>
          <p:cNvPr id="14" name="TextBox 13"/>
          <p:cNvSpPr txBox="1"/>
          <p:nvPr/>
        </p:nvSpPr>
        <p:spPr>
          <a:xfrm>
            <a:off x="8321040" y="3596640"/>
            <a:ext cx="3246120" cy="324611"/>
          </a:xfrm>
          <a:prstGeom prst="rect">
            <a:avLst/>
          </a:prstGeom>
          <a:noFill/>
        </p:spPr>
        <p:txBody>
          <a:bodyPr wrap="square" anchor="t" lIns="0" rIns="0" tIns="0" bIns="0">
            <a:spAutoFit/>
          </a:bodyPr>
          <a:lstStyle/>
          <a:p>
            <a:pPr algn="l"/>
            <a:r>
              <a:rPr sz="1200" b="0" i="0">
                <a:solidFill>
                  <a:srgbClr val="000000"/>
                </a:solidFill>
                <a:latin typeface="Nirmala UI"/>
              </a:rPr>
              <a:t>Only the elements that pass a condition.</a:t>
            </a:r>
          </a:p>
        </p:txBody>
      </p:sp>
      <p:sp>
        <p:nvSpPr>
          <p:cNvPr id="15" name="TextBox 14"/>
          <p:cNvSpPr txBox="1"/>
          <p:nvPr/>
        </p:nvSpPr>
        <p:spPr>
          <a:xfrm>
            <a:off x="8183880" y="4104132"/>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On O5001</a:t>
            </a:r>
          </a:p>
        </p:txBody>
      </p:sp>
      <p:sp>
        <p:nvSpPr>
          <p:cNvPr id="16" name="Rounded Rectangle 15"/>
          <p:cNvSpPr/>
          <p:nvPr/>
        </p:nvSpPr>
        <p:spPr>
          <a:xfrm>
            <a:off x="8183880" y="4433316"/>
            <a:ext cx="3520440" cy="140055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db.orders.updateOne(</a:t>
            </a:r>
          </a:p>
          <a:p>
            <a:pPr algn="l"/>
            <a:r>
              <a:rPr sz="1100" b="0" i="0">
                <a:solidFill>
                  <a:srgbClr val="000000"/>
                </a:solidFill>
                <a:latin typeface="Consolas"/>
              </a:rPr>
              <a:t>  { orderNumber: "O5001",</a:t>
            </a:r>
          </a:p>
          <a:p>
            <a:pPr algn="l"/>
            <a:r>
              <a:rPr sz="1100" b="0" i="0">
                <a:solidFill>
                  <a:srgbClr val="000000"/>
                </a:solidFill>
                <a:latin typeface="Consolas"/>
              </a:rPr>
              <a:t>    "items.sku": "L100" },</a:t>
            </a:r>
          </a:p>
          <a:p>
            <a:pPr algn="l"/>
            <a:r>
              <a:rPr sz="1100" b="0" i="0">
                <a:solidFill>
                  <a:srgbClr val="000000"/>
                </a:solidFill>
                <a:latin typeface="Consolas"/>
              </a:rPr>
              <a:t>  { $set: {</a:t>
            </a:r>
          </a:p>
          <a:p>
            <a:pPr algn="l"/>
            <a:r>
              <a:rPr sz="1100" b="0" i="0">
                <a:solidFill>
                  <a:srgbClr val="000000"/>
                </a:solidFill>
                <a:latin typeface="Consolas"/>
              </a:rPr>
              <a:t>    "items.$.quantity": 2 } })</a:t>
            </a:r>
          </a:p>
          <a:p>
            <a:pPr algn="l"/>
            <a:r>
              <a:rPr sz="1100" b="0" i="0">
                <a:solidFill>
                  <a:srgbClr val="000000"/>
                </a:solidFill>
                <a:latin typeface="Consolas"/>
              </a:rPr>
              <a:t>// only the L100 line</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Put the array condition in the filter and use $ for the matched element — or $[] and arrayFilters for many.</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REPLACE VS $SET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replaceOne() rewrites the document; $set changes named fields.</a:t>
            </a:r>
          </a:p>
        </p:txBody>
      </p:sp>
      <p:sp>
        <p:nvSpPr>
          <p:cNvPr id="4" name="Rounded Rectangle 3"/>
          <p:cNvSpPr/>
          <p:nvPr/>
        </p:nvSpPr>
        <p:spPr>
          <a:xfrm>
            <a:off x="475488" y="1438779"/>
            <a:ext cx="7415783" cy="425476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6" descr="image.jpg"/>
          <p:cNvPicPr>
            <a:picLocks noChangeAspect="1"/>
          </p:cNvPicPr>
          <p:nvPr/>
        </p:nvPicPr>
        <p:blipFill>
          <a:blip r:embed="rId2"/>
          <a:stretch>
            <a:fillRect/>
          </a:stretch>
        </p:blipFill>
        <p:spPr>
          <a:xfrm>
            <a:off x="548640" y="1511931"/>
            <a:ext cx="7269480" cy="4108456"/>
          </a:xfrm>
          <a:prstGeom prst="rect">
            <a:avLst/>
          </a:prstGeom>
        </p:spPr>
      </p:pic>
      <p:sp>
        <p:nvSpPr>
          <p:cNvPr id="6" name="Rounded Rectangle 5"/>
          <p:cNvSpPr/>
          <p:nvPr/>
        </p:nvSpPr>
        <p:spPr>
          <a:xfrm>
            <a:off x="8183880" y="129844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replaceOne()</a:t>
            </a:r>
          </a:p>
        </p:txBody>
      </p:sp>
      <p:sp>
        <p:nvSpPr>
          <p:cNvPr id="8" name="TextBox 7"/>
          <p:cNvSpPr txBox="1"/>
          <p:nvPr/>
        </p:nvSpPr>
        <p:spPr>
          <a:xfrm>
            <a:off x="8321040" y="1664208"/>
            <a:ext cx="3246120" cy="672083"/>
          </a:xfrm>
          <a:prstGeom prst="rect">
            <a:avLst/>
          </a:prstGeom>
          <a:noFill/>
        </p:spPr>
        <p:txBody>
          <a:bodyPr wrap="square" anchor="t" lIns="0" rIns="0" tIns="0" bIns="0">
            <a:spAutoFit/>
          </a:bodyPr>
          <a:lstStyle/>
          <a:p>
            <a:pPr algn="l"/>
            <a:r>
              <a:rPr sz="1200" b="0" i="0">
                <a:solidFill>
                  <a:srgbClr val="000000"/>
                </a:solidFill>
                <a:latin typeface="Nirmala UI"/>
              </a:rPr>
              <a:t>A new body for the whole document; only _id survives.</a:t>
            </a:r>
          </a:p>
        </p:txBody>
      </p:sp>
      <p:sp>
        <p:nvSpPr>
          <p:cNvPr id="9" name="Rounded Rectangle 8"/>
          <p:cNvSpPr/>
          <p:nvPr/>
        </p:nvSpPr>
        <p:spPr>
          <a:xfrm>
            <a:off x="8183880" y="2519172"/>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574036"/>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$set</a:t>
            </a:r>
          </a:p>
        </p:txBody>
      </p:sp>
      <p:sp>
        <p:nvSpPr>
          <p:cNvPr id="11" name="TextBox 10"/>
          <p:cNvSpPr txBox="1"/>
          <p:nvPr/>
        </p:nvSpPr>
        <p:spPr>
          <a:xfrm>
            <a:off x="8321040" y="2884932"/>
            <a:ext cx="3246120" cy="672083"/>
          </a:xfrm>
          <a:prstGeom prst="rect">
            <a:avLst/>
          </a:prstGeom>
          <a:noFill/>
        </p:spPr>
        <p:txBody>
          <a:bodyPr wrap="square" anchor="t" lIns="0" rIns="0" tIns="0" bIns="0">
            <a:spAutoFit/>
          </a:bodyPr>
          <a:lstStyle/>
          <a:p>
            <a:pPr algn="l"/>
            <a:r>
              <a:rPr sz="1200" b="0" i="0">
                <a:solidFill>
                  <a:srgbClr val="000000"/>
                </a:solidFill>
                <a:latin typeface="Nirmala UI"/>
              </a:rPr>
              <a:t>Changes the named fields; the rest stays.</a:t>
            </a:r>
          </a:p>
        </p:txBody>
      </p:sp>
      <p:sp>
        <p:nvSpPr>
          <p:cNvPr id="12" name="Rounded Rectangle 11"/>
          <p:cNvSpPr/>
          <p:nvPr/>
        </p:nvSpPr>
        <p:spPr>
          <a:xfrm>
            <a:off x="8183880" y="3739896"/>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79475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Practise on a copy</a:t>
            </a:r>
          </a:p>
        </p:txBody>
      </p:sp>
      <p:sp>
        <p:nvSpPr>
          <p:cNvPr id="14" name="TextBox 13"/>
          <p:cNvSpPr txBox="1"/>
          <p:nvPr/>
        </p:nvSpPr>
        <p:spPr>
          <a:xfrm>
            <a:off x="8321040" y="4105656"/>
            <a:ext cx="3246120" cy="672083"/>
          </a:xfrm>
          <a:prstGeom prst="rect">
            <a:avLst/>
          </a:prstGeom>
          <a:noFill/>
        </p:spPr>
        <p:txBody>
          <a:bodyPr wrap="square" anchor="t" lIns="0" rIns="0" tIns="0" bIns="0">
            <a:spAutoFit/>
          </a:bodyPr>
          <a:lstStyle/>
          <a:p>
            <a:pPr algn="l"/>
            <a:r>
              <a:rPr sz="1200" b="0" i="0">
                <a:solidFill>
                  <a:srgbClr val="000000"/>
                </a:solidFill>
                <a:latin typeface="Nirmala UI"/>
              </a:rPr>
              <a:t>Use a test SKU such as DEMO-REP — never L100.</a:t>
            </a:r>
          </a:p>
        </p:txBody>
      </p:sp>
      <p:sp>
        <p:nvSpPr>
          <p:cNvPr id="15" name="Rounded Rectangle 14"/>
          <p:cNvSpPr/>
          <p:nvPr/>
        </p:nvSpPr>
        <p:spPr>
          <a:xfrm>
            <a:off x="8183880" y="4960620"/>
            <a:ext cx="3520440" cy="873252"/>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960620"/>
            <a:ext cx="3154680" cy="873252"/>
          </a:xfrm>
          <a:prstGeom prst="rect">
            <a:avLst/>
          </a:prstGeom>
          <a:noFill/>
        </p:spPr>
        <p:txBody>
          <a:bodyPr wrap="square" anchor="ctr" lIns="0" rIns="0" tIns="0" bIns="0">
            <a:spAutoFit/>
          </a:bodyPr>
          <a:lstStyle/>
          <a:p>
            <a:pPr algn="l"/>
            <a:r>
              <a:rPr sz="1200" b="1" i="0">
                <a:solidFill>
                  <a:srgbClr val="D1282E"/>
                </a:solidFill>
                <a:latin typeface="Nirmala UI"/>
              </a:rPr>
              <a:t>RULE   </a:t>
            </a:r>
            <a:r>
              <a:rPr sz="1200" b="0" i="0">
                <a:solidFill>
                  <a:srgbClr val="000000"/>
                </a:solidFill>
                <a:latin typeface="Nirmala UI"/>
              </a:rPr>
              <a:t>Replace only when you mean to rewrite every field.</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replaceOne() rewrites the whole document; when only some fields should change, use update operators.</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THE UPSERT PATTERN</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One command: update if found, insert if not.</a:t>
            </a:r>
          </a:p>
        </p:txBody>
      </p:sp>
      <p:sp>
        <p:nvSpPr>
          <p:cNvPr id="4" name="Rounded Rectangle 3"/>
          <p:cNvSpPr/>
          <p:nvPr/>
        </p:nvSpPr>
        <p:spPr>
          <a:xfrm>
            <a:off x="475488" y="1538683"/>
            <a:ext cx="7415783" cy="405495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7" descr="image.jpg"/>
          <p:cNvPicPr>
            <a:picLocks noChangeAspect="1"/>
          </p:cNvPicPr>
          <p:nvPr/>
        </p:nvPicPr>
        <p:blipFill>
          <a:blip r:embed="rId2"/>
          <a:stretch>
            <a:fillRect/>
          </a:stretch>
        </p:blipFill>
        <p:spPr>
          <a:xfrm>
            <a:off x="548640" y="1611835"/>
            <a:ext cx="7269480" cy="3908649"/>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Exercise 4.3 (trimmed)</a:t>
            </a:r>
          </a:p>
        </p:txBody>
      </p:sp>
      <p:sp>
        <p:nvSpPr>
          <p:cNvPr id="7" name="Rounded Rectangle 6"/>
          <p:cNvSpPr/>
          <p:nvPr/>
        </p:nvSpPr>
        <p:spPr>
          <a:xfrm>
            <a:off x="8183880" y="1627632"/>
            <a:ext cx="3520440" cy="163169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000" b="0" i="0">
                <a:solidFill>
                  <a:srgbClr val="000000"/>
                </a:solidFill>
                <a:latin typeface="Consolas"/>
              </a:rPr>
              <a:t>db.products.updateOne(</a:t>
            </a:r>
          </a:p>
          <a:p>
            <a:pPr algn="l"/>
            <a:r>
              <a:rPr sz="1000" b="0" i="0">
                <a:solidFill>
                  <a:srgbClr val="000000"/>
                </a:solidFill>
                <a:latin typeface="Consolas"/>
              </a:rPr>
              <a:t>  { sku: "A700" },</a:t>
            </a:r>
          </a:p>
          <a:p>
            <a:pPr algn="l"/>
            <a:r>
              <a:rPr sz="1000" b="0" i="0">
                <a:solidFill>
                  <a:srgbClr val="000000"/>
                </a:solidFill>
                <a:latin typeface="Consolas"/>
              </a:rPr>
              <a:t>  { $set: {</a:t>
            </a:r>
          </a:p>
          <a:p>
            <a:pPr algn="l"/>
            <a:r>
              <a:rPr sz="1000" b="0" i="0">
                <a:solidFill>
                  <a:srgbClr val="000000"/>
                </a:solidFill>
                <a:latin typeface="Consolas"/>
              </a:rPr>
              <a:t>      name: "Portable Charger",</a:t>
            </a:r>
          </a:p>
          <a:p>
            <a:pPr algn="l"/>
            <a:r>
              <a:rPr sz="1000" b="0" i="0">
                <a:solidFill>
                  <a:srgbClr val="000000"/>
                </a:solidFill>
                <a:latin typeface="Consolas"/>
              </a:rPr>
              <a:t>      updatedAt: new Date() },</a:t>
            </a:r>
          </a:p>
          <a:p>
            <a:pPr algn="l"/>
            <a:r>
              <a:rPr sz="1000" b="0" i="0">
                <a:solidFill>
                  <a:srgbClr val="000000"/>
                </a:solidFill>
                <a:latin typeface="Consolas"/>
              </a:rPr>
              <a:t>    $setOnInsert: {</a:t>
            </a:r>
          </a:p>
          <a:p>
            <a:pPr algn="l"/>
            <a:r>
              <a:rPr sz="1000" b="0" i="0">
                <a:solidFill>
                  <a:srgbClr val="000000"/>
                </a:solidFill>
                <a:latin typeface="Consolas"/>
              </a:rPr>
              <a:t>      createdAt: new Date() } },</a:t>
            </a:r>
          </a:p>
          <a:p>
            <a:pPr algn="l"/>
            <a:r>
              <a:rPr sz="1000" b="0" i="0">
                <a:solidFill>
                  <a:srgbClr val="000000"/>
                </a:solidFill>
                <a:latin typeface="Consolas"/>
              </a:rPr>
              <a:t>  { upsert: true })</a:t>
            </a:r>
          </a:p>
        </p:txBody>
      </p:sp>
      <p:sp>
        <p:nvSpPr>
          <p:cNvPr id="8" name="Rounded Rectangle 7"/>
          <p:cNvSpPr/>
          <p:nvPr/>
        </p:nvSpPr>
        <p:spPr>
          <a:xfrm>
            <a:off x="8183880" y="3387344"/>
            <a:ext cx="3520440" cy="11592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4422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First run</a:t>
            </a:r>
          </a:p>
        </p:txBody>
      </p:sp>
      <p:sp>
        <p:nvSpPr>
          <p:cNvPr id="10" name="TextBox 9"/>
          <p:cNvSpPr txBox="1"/>
          <p:nvPr/>
        </p:nvSpPr>
        <p:spPr>
          <a:xfrm>
            <a:off x="8321040" y="3753104"/>
            <a:ext cx="3246120" cy="738631"/>
          </a:xfrm>
          <a:prstGeom prst="rect">
            <a:avLst/>
          </a:prstGeom>
          <a:noFill/>
        </p:spPr>
        <p:txBody>
          <a:bodyPr wrap="square" anchor="t" lIns="0" rIns="0" tIns="0" bIns="0">
            <a:spAutoFit/>
          </a:bodyPr>
          <a:lstStyle/>
          <a:p>
            <a:pPr algn="l"/>
            <a:r>
              <a:rPr sz="1200" b="0" i="0">
                <a:solidFill>
                  <a:srgbClr val="000000"/>
                </a:solidFill>
                <a:latin typeface="Nirmala UI"/>
              </a:rPr>
              <a:t>No match: inserts A700; upsertedCount 1 and the new _id.</a:t>
            </a:r>
          </a:p>
        </p:txBody>
      </p:sp>
      <p:sp>
        <p:nvSpPr>
          <p:cNvPr id="11" name="Rounded Rectangle 10"/>
          <p:cNvSpPr/>
          <p:nvPr/>
        </p:nvSpPr>
        <p:spPr>
          <a:xfrm>
            <a:off x="8183880" y="4674616"/>
            <a:ext cx="3520440" cy="11592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729479"/>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Second run</a:t>
            </a:r>
          </a:p>
        </p:txBody>
      </p:sp>
      <p:sp>
        <p:nvSpPr>
          <p:cNvPr id="13" name="TextBox 12"/>
          <p:cNvSpPr txBox="1"/>
          <p:nvPr/>
        </p:nvSpPr>
        <p:spPr>
          <a:xfrm>
            <a:off x="8321040" y="5040376"/>
            <a:ext cx="3246120" cy="738631"/>
          </a:xfrm>
          <a:prstGeom prst="rect">
            <a:avLst/>
          </a:prstGeom>
          <a:noFill/>
        </p:spPr>
        <p:txBody>
          <a:bodyPr wrap="square" anchor="t" lIns="0" rIns="0" tIns="0" bIns="0">
            <a:spAutoFit/>
          </a:bodyPr>
          <a:lstStyle/>
          <a:p>
            <a:pPr algn="l"/>
            <a:r>
              <a:rPr sz="1200" b="0" i="0">
                <a:solidFill>
                  <a:srgbClr val="000000"/>
                </a:solidFill>
                <a:latin typeface="Nirmala UI"/>
              </a:rPr>
              <a:t>Matches: updatedAt changes, createdAt stays.</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An upsert updates when the filter matches and inserts when it doesn't — $setOnInsert applies only to the insert.</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UNDERSTANDING WRITE RESULTS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Matched is not the same as modified.</a:t>
            </a:r>
          </a:p>
        </p:txBody>
      </p:sp>
      <p:sp>
        <p:nvSpPr>
          <p:cNvPr id="4" name="Rounded Rectangle 3"/>
          <p:cNvSpPr/>
          <p:nvPr/>
        </p:nvSpPr>
        <p:spPr>
          <a:xfrm>
            <a:off x="475488" y="1919113"/>
            <a:ext cx="7415783" cy="3294093"/>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2" descr="image.jpg"/>
          <p:cNvPicPr>
            <a:picLocks noChangeAspect="1"/>
          </p:cNvPicPr>
          <p:nvPr/>
        </p:nvPicPr>
        <p:blipFill>
          <a:blip r:embed="rId2"/>
          <a:stretch>
            <a:fillRect/>
          </a:stretch>
        </p:blipFill>
        <p:spPr>
          <a:xfrm>
            <a:off x="548640" y="1992265"/>
            <a:ext cx="7269480" cy="3147789"/>
          </a:xfrm>
          <a:prstGeom prst="rect">
            <a:avLst/>
          </a:prstGeom>
        </p:spPr>
      </p:pic>
      <p:sp>
        <p:nvSpPr>
          <p:cNvPr id="6" name="Rounded Rectangle 5"/>
          <p:cNvSpPr/>
          <p:nvPr/>
        </p:nvSpPr>
        <p:spPr>
          <a:xfrm>
            <a:off x="8183880" y="1298448"/>
            <a:ext cx="3520440" cy="906780"/>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8321040" y="135331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acknowledged</a:t>
            </a:r>
          </a:p>
        </p:txBody>
      </p:sp>
      <p:sp>
        <p:nvSpPr>
          <p:cNvPr id="8" name="TextBox 7"/>
          <p:cNvSpPr txBox="1"/>
          <p:nvPr/>
        </p:nvSpPr>
        <p:spPr>
          <a:xfrm>
            <a:off x="8321040" y="1664208"/>
            <a:ext cx="3246120" cy="486156"/>
          </a:xfrm>
          <a:prstGeom prst="rect">
            <a:avLst/>
          </a:prstGeom>
          <a:noFill/>
        </p:spPr>
        <p:txBody>
          <a:bodyPr wrap="square" anchor="t" lIns="0" rIns="0" tIns="0" bIns="0">
            <a:spAutoFit/>
          </a:bodyPr>
          <a:lstStyle/>
          <a:p>
            <a:pPr algn="l"/>
            <a:r>
              <a:rPr sz="1200" b="0" i="0">
                <a:solidFill>
                  <a:srgbClr val="000000"/>
                </a:solidFill>
                <a:latin typeface="Nirmala UI"/>
              </a:rPr>
              <a:t>The server accepted the write.</a:t>
            </a:r>
          </a:p>
        </p:txBody>
      </p:sp>
      <p:sp>
        <p:nvSpPr>
          <p:cNvPr id="9" name="Rounded Rectangle 8"/>
          <p:cNvSpPr/>
          <p:nvPr/>
        </p:nvSpPr>
        <p:spPr>
          <a:xfrm>
            <a:off x="8183880" y="2333244"/>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8321040" y="23881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matchedCount / modifiedCount</a:t>
            </a:r>
          </a:p>
        </p:txBody>
      </p:sp>
      <p:sp>
        <p:nvSpPr>
          <p:cNvPr id="11" name="TextBox 10"/>
          <p:cNvSpPr txBox="1"/>
          <p:nvPr/>
        </p:nvSpPr>
        <p:spPr>
          <a:xfrm>
            <a:off x="8321040" y="2699004"/>
            <a:ext cx="3246120" cy="672083"/>
          </a:xfrm>
          <a:prstGeom prst="rect">
            <a:avLst/>
          </a:prstGeom>
          <a:noFill/>
        </p:spPr>
        <p:txBody>
          <a:bodyPr wrap="square" anchor="t" lIns="0" rIns="0" tIns="0" bIns="0">
            <a:spAutoFit/>
          </a:bodyPr>
          <a:lstStyle/>
          <a:p>
            <a:pPr algn="l"/>
            <a:r>
              <a:rPr sz="1200" b="0" i="0">
                <a:solidFill>
                  <a:srgbClr val="000000"/>
                </a:solidFill>
                <a:latin typeface="Nirmala UI"/>
              </a:rPr>
              <a:t>Found / really changed; 1 and 0 means already right.</a:t>
            </a:r>
          </a:p>
        </p:txBody>
      </p:sp>
      <p:sp>
        <p:nvSpPr>
          <p:cNvPr id="12" name="Rounded Rectangle 11"/>
          <p:cNvSpPr/>
          <p:nvPr/>
        </p:nvSpPr>
        <p:spPr>
          <a:xfrm>
            <a:off x="8183880" y="3553968"/>
            <a:ext cx="3520440" cy="1092707"/>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8321040" y="3608832"/>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upsertedId / deletedCount</a:t>
            </a:r>
          </a:p>
        </p:txBody>
      </p:sp>
      <p:sp>
        <p:nvSpPr>
          <p:cNvPr id="14" name="TextBox 13"/>
          <p:cNvSpPr txBox="1"/>
          <p:nvPr/>
        </p:nvSpPr>
        <p:spPr>
          <a:xfrm>
            <a:off x="8321040" y="3919728"/>
            <a:ext cx="3246120" cy="672083"/>
          </a:xfrm>
          <a:prstGeom prst="rect">
            <a:avLst/>
          </a:prstGeom>
          <a:noFill/>
        </p:spPr>
        <p:txBody>
          <a:bodyPr wrap="square" anchor="t" lIns="0" rIns="0" tIns="0" bIns="0">
            <a:spAutoFit/>
          </a:bodyPr>
          <a:lstStyle/>
          <a:p>
            <a:pPr algn="l"/>
            <a:r>
              <a:rPr sz="1200" b="0" i="0">
                <a:solidFill>
                  <a:srgbClr val="000000"/>
                </a:solidFill>
                <a:latin typeface="Nirmala UI"/>
              </a:rPr>
              <a:t>The new _id of an upsert; documents removed.</a:t>
            </a:r>
          </a:p>
        </p:txBody>
      </p:sp>
      <p:sp>
        <p:nvSpPr>
          <p:cNvPr id="15" name="Rounded Rectangle 14"/>
          <p:cNvSpPr/>
          <p:nvPr/>
        </p:nvSpPr>
        <p:spPr>
          <a:xfrm>
            <a:off x="8183880" y="4774692"/>
            <a:ext cx="3520440" cy="10591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8366760" y="4774692"/>
            <a:ext cx="3154680" cy="1059180"/>
          </a:xfrm>
          <a:prstGeom prst="rect">
            <a:avLst/>
          </a:prstGeom>
          <a:noFill/>
        </p:spPr>
        <p:txBody>
          <a:bodyPr wrap="square" anchor="ctr" lIns="0" rIns="0" tIns="0" bIns="0">
            <a:spAutoFit/>
          </a:bodyPr>
          <a:lstStyle/>
          <a:p>
            <a:pPr algn="l"/>
            <a:r>
              <a:rPr sz="1200" b="1" i="0">
                <a:solidFill>
                  <a:srgbClr val="D1282E"/>
                </a:solidFill>
                <a:latin typeface="Nirmala UI"/>
              </a:rPr>
              <a:t>ON TRAINING_STORE   </a:t>
            </a:r>
            <a:r>
              <a:rPr sz="1200" b="0" i="0">
                <a:solidFill>
                  <a:srgbClr val="000000"/>
                </a:solidFill>
                <a:latin typeface="Nirmala UI"/>
              </a:rPr>
              <a:t>updateMany({}, { $pull: { tags: "discontinued" } }) matches 13, modifies 1.</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Read every field of the write result — matched, modified, upserted and deleted each answer a different question.</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PART 5: DELETES, BULK WRITES AND SAFE PRACTICE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Remove data safely, batch writes, and fix queries that go wrong.</a:t>
            </a:r>
          </a:p>
        </p:txBody>
      </p:sp>
      <p:sp>
        <p:nvSpPr>
          <p:cNvPr id="4" name="Pentagon 3"/>
          <p:cNvSpPr/>
          <p:nvPr/>
        </p:nvSpPr>
        <p:spPr>
          <a:xfrm>
            <a:off x="457200" y="1298448"/>
            <a:ext cx="2391338" cy="713232"/>
          </a:xfrm>
          <a:prstGeom prst="homePlate">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TextBox 4"/>
          <p:cNvSpPr txBox="1"/>
          <p:nvPr/>
        </p:nvSpPr>
        <p:spPr>
          <a:xfrm>
            <a:off x="548640" y="1298448"/>
            <a:ext cx="2131649" cy="713232"/>
          </a:xfrm>
          <a:prstGeom prst="rect">
            <a:avLst/>
          </a:prstGeom>
          <a:noFill/>
        </p:spPr>
        <p:txBody>
          <a:bodyPr wrap="square" anchor="ctr" lIns="0" rIns="0" tIns="0" bIns="0">
            <a:spAutoFit/>
          </a:bodyPr>
          <a:lstStyle/>
          <a:p>
            <a:pPr algn="ctr"/>
            <a:r>
              <a:rPr sz="1300" b="1" i="0">
                <a:solidFill>
                  <a:srgbClr val="FFFFFF"/>
                </a:solidFill>
                <a:latin typeface="Nirmala UI"/>
              </a:rPr>
              <a:t>✓ Part 1</a:t>
            </a:r>
          </a:p>
          <a:p>
            <a:pPr algn="ctr"/>
            <a:r>
              <a:rPr sz="1300" b="1" i="0">
                <a:solidFill>
                  <a:srgbClr val="FFFFFF"/>
                </a:solidFill>
                <a:latin typeface="Nirmala UI"/>
              </a:rPr>
              <a:t>Read documents</a:t>
            </a:r>
          </a:p>
        </p:txBody>
      </p:sp>
      <p:sp>
        <p:nvSpPr>
          <p:cNvPr id="6" name="Chevron 5"/>
          <p:cNvSpPr/>
          <p:nvPr/>
        </p:nvSpPr>
        <p:spPr>
          <a:xfrm>
            <a:off x="267114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2885114"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2</a:t>
            </a:r>
          </a:p>
          <a:p>
            <a:pPr algn="ctr"/>
            <a:r>
              <a:rPr sz="1300" b="1" i="0">
                <a:solidFill>
                  <a:srgbClr val="FFFFFF"/>
                </a:solidFill>
                <a:latin typeface="Nirmala UI"/>
              </a:rPr>
              <a:t>Query operators</a:t>
            </a:r>
          </a:p>
        </p:txBody>
      </p:sp>
      <p:sp>
        <p:nvSpPr>
          <p:cNvPr id="8" name="Chevron 7"/>
          <p:cNvSpPr/>
          <p:nvPr/>
        </p:nvSpPr>
        <p:spPr>
          <a:xfrm>
            <a:off x="4885090"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09906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3</a:t>
            </a:r>
          </a:p>
          <a:p>
            <a:pPr algn="ctr"/>
            <a:r>
              <a:rPr sz="1300" b="1" i="0">
                <a:solidFill>
                  <a:srgbClr val="FFFFFF"/>
                </a:solidFill>
                <a:latin typeface="Nirmala UI"/>
              </a:rPr>
              <a:t>Nested and arrays</a:t>
            </a:r>
          </a:p>
        </p:txBody>
      </p:sp>
      <p:sp>
        <p:nvSpPr>
          <p:cNvPr id="10" name="Chevron 9"/>
          <p:cNvSpPr/>
          <p:nvPr/>
        </p:nvSpPr>
        <p:spPr>
          <a:xfrm>
            <a:off x="7099035" y="1298448"/>
            <a:ext cx="2391338" cy="713232"/>
          </a:xfrm>
          <a:prstGeom prst="chevron">
            <a:avLst>
              <a:gd name="adj" fmla="val 3000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TextBox 10"/>
          <p:cNvSpPr txBox="1"/>
          <p:nvPr/>
        </p:nvSpPr>
        <p:spPr>
          <a:xfrm>
            <a:off x="7313005"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 Part 4</a:t>
            </a:r>
          </a:p>
          <a:p>
            <a:pPr algn="ctr"/>
            <a:r>
              <a:rPr sz="1300" b="1" i="0">
                <a:solidFill>
                  <a:srgbClr val="FFFFFF"/>
                </a:solidFill>
                <a:latin typeface="Nirmala UI"/>
              </a:rPr>
              <a:t>Insert and update</a:t>
            </a:r>
          </a:p>
        </p:txBody>
      </p:sp>
      <p:sp>
        <p:nvSpPr>
          <p:cNvPr id="12" name="Chevron 11"/>
          <p:cNvSpPr/>
          <p:nvPr/>
        </p:nvSpPr>
        <p:spPr>
          <a:xfrm>
            <a:off x="9312981" y="1298448"/>
            <a:ext cx="2391338" cy="713232"/>
          </a:xfrm>
          <a:prstGeom prst="chevron">
            <a:avLst>
              <a:gd name="adj" fmla="val 30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9526950" y="1298448"/>
            <a:ext cx="2009119" cy="713232"/>
          </a:xfrm>
          <a:prstGeom prst="rect">
            <a:avLst/>
          </a:prstGeom>
          <a:noFill/>
        </p:spPr>
        <p:txBody>
          <a:bodyPr wrap="square" anchor="ctr" lIns="0" rIns="0" tIns="0" bIns="0">
            <a:spAutoFit/>
          </a:bodyPr>
          <a:lstStyle/>
          <a:p>
            <a:pPr algn="ctr"/>
            <a:r>
              <a:rPr sz="1300" b="1" i="0">
                <a:solidFill>
                  <a:srgbClr val="FFFFFF"/>
                </a:solidFill>
                <a:latin typeface="Nirmala UI"/>
              </a:rPr>
              <a:t>Part 5</a:t>
            </a:r>
          </a:p>
          <a:p>
            <a:pPr algn="ctr"/>
            <a:r>
              <a:rPr sz="1300" b="1" i="0">
                <a:solidFill>
                  <a:srgbClr val="FFFFFF"/>
                </a:solidFill>
                <a:latin typeface="Nirmala UI"/>
              </a:rPr>
              <a:t>Delete and verify</a:t>
            </a:r>
          </a:p>
        </p:txBody>
      </p:sp>
      <p:sp>
        <p:nvSpPr>
          <p:cNvPr id="14" name="Rounded Rectangle 13"/>
          <p:cNvSpPr/>
          <p:nvPr/>
        </p:nvSpPr>
        <p:spPr>
          <a:xfrm>
            <a:off x="457200" y="2304288"/>
            <a:ext cx="4937760" cy="27066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5" name="Round Same Side Corner Rectangle 14"/>
          <p:cNvSpPr/>
          <p:nvPr/>
        </p:nvSpPr>
        <p:spPr>
          <a:xfrm>
            <a:off x="457200" y="2304288"/>
            <a:ext cx="493776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594360" y="2304288"/>
            <a:ext cx="4663440" cy="420624"/>
          </a:xfrm>
          <a:prstGeom prst="rect">
            <a:avLst/>
          </a:prstGeom>
          <a:noFill/>
        </p:spPr>
        <p:txBody>
          <a:bodyPr wrap="square" anchor="ctr" lIns="0" rIns="0" tIns="0" bIns="0">
            <a:spAutoFit/>
          </a:bodyPr>
          <a:lstStyle/>
          <a:p>
            <a:pPr algn="l"/>
            <a:r>
              <a:rPr sz="1400" b="1" i="0">
                <a:solidFill>
                  <a:srgbClr val="FFFFFF"/>
                </a:solidFill>
                <a:latin typeface="Nirmala UI"/>
              </a:rPr>
              <a:t>SO FAR</a:t>
            </a:r>
          </a:p>
        </p:txBody>
      </p:sp>
      <p:sp>
        <p:nvSpPr>
          <p:cNvPr id="17" name="Oval 16"/>
          <p:cNvSpPr/>
          <p:nvPr/>
        </p:nvSpPr>
        <p:spPr>
          <a:xfrm>
            <a:off x="640080" y="295351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2880360"/>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Insert with real BSON types</a:t>
            </a:r>
          </a:p>
        </p:txBody>
      </p:sp>
      <p:sp>
        <p:nvSpPr>
          <p:cNvPr id="19" name="Oval 18"/>
          <p:cNvSpPr/>
          <p:nvPr/>
        </p:nvSpPr>
        <p:spPr>
          <a:xfrm>
            <a:off x="640080" y="3429000"/>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0" name="TextBox 19"/>
          <p:cNvSpPr txBox="1"/>
          <p:nvPr/>
        </p:nvSpPr>
        <p:spPr>
          <a:xfrm>
            <a:off x="1051560" y="3355848"/>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Update operators change only named fields</a:t>
            </a:r>
          </a:p>
        </p:txBody>
      </p:sp>
      <p:sp>
        <p:nvSpPr>
          <p:cNvPr id="21" name="Oval 20"/>
          <p:cNvSpPr/>
          <p:nvPr/>
        </p:nvSpPr>
        <p:spPr>
          <a:xfrm>
            <a:off x="640080" y="3904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2" name="TextBox 21"/>
          <p:cNvSpPr txBox="1"/>
          <p:nvPr/>
        </p:nvSpPr>
        <p:spPr>
          <a:xfrm>
            <a:off x="1051560" y="3831336"/>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Upserts insert when nothing matches</a:t>
            </a:r>
          </a:p>
        </p:txBody>
      </p:sp>
      <p:sp>
        <p:nvSpPr>
          <p:cNvPr id="23" name="Oval 22"/>
          <p:cNvSpPr/>
          <p:nvPr/>
        </p:nvSpPr>
        <p:spPr>
          <a:xfrm>
            <a:off x="640080" y="437997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24" name="TextBox 23"/>
          <p:cNvSpPr txBox="1"/>
          <p:nvPr/>
        </p:nvSpPr>
        <p:spPr>
          <a:xfrm>
            <a:off x="1051560" y="4306824"/>
            <a:ext cx="4160520" cy="420624"/>
          </a:xfrm>
          <a:prstGeom prst="rect">
            <a:avLst/>
          </a:prstGeom>
          <a:noFill/>
        </p:spPr>
        <p:txBody>
          <a:bodyPr wrap="square" anchor="ctr" lIns="0" rIns="0" tIns="0" bIns="0">
            <a:spAutoFit/>
          </a:bodyPr>
          <a:lstStyle/>
          <a:p>
            <a:pPr algn="l"/>
            <a:r>
              <a:rPr sz="1500" b="0" i="0">
                <a:solidFill>
                  <a:srgbClr val="000000"/>
                </a:solidFill>
                <a:latin typeface="Nirmala UI"/>
              </a:rPr>
              <a:t>Write results show what really changed</a:t>
            </a:r>
          </a:p>
        </p:txBody>
      </p:sp>
      <p:sp>
        <p:nvSpPr>
          <p:cNvPr id="25" name="Rounded Rectangle 24"/>
          <p:cNvSpPr/>
          <p:nvPr/>
        </p:nvSpPr>
        <p:spPr>
          <a:xfrm>
            <a:off x="5760720" y="2304288"/>
            <a:ext cx="5943600" cy="1062736"/>
          </a:xfrm>
          <a:prstGeom prst="roundRect">
            <a:avLst>
              <a:gd name="adj" fmla="val 8000"/>
            </a:avLst>
          </a:prstGeom>
          <a:solidFill>
            <a:srgbClr val="E8EEF7"/>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TextBox 25"/>
          <p:cNvSpPr txBox="1"/>
          <p:nvPr/>
        </p:nvSpPr>
        <p:spPr>
          <a:xfrm>
            <a:off x="5989320" y="2395728"/>
            <a:ext cx="5486400" cy="292608"/>
          </a:xfrm>
          <a:prstGeom prst="rect">
            <a:avLst/>
          </a:prstGeom>
          <a:noFill/>
        </p:spPr>
        <p:txBody>
          <a:bodyPr wrap="square" anchor="t" lIns="0" rIns="0" tIns="0" bIns="0">
            <a:spAutoFit/>
          </a:bodyPr>
          <a:lstStyle/>
          <a:p>
            <a:pPr algn="l"/>
            <a:r>
              <a:rPr sz="1300" b="1" i="0">
                <a:solidFill>
                  <a:srgbClr val="D1282E"/>
                </a:solidFill>
                <a:latin typeface="Nirmala UI"/>
              </a:rPr>
              <a:t>NEXT QUESTION</a:t>
            </a:r>
          </a:p>
        </p:txBody>
      </p:sp>
      <p:sp>
        <p:nvSpPr>
          <p:cNvPr id="27" name="TextBox 26"/>
          <p:cNvSpPr txBox="1"/>
          <p:nvPr/>
        </p:nvSpPr>
        <p:spPr>
          <a:xfrm>
            <a:off x="5989320" y="2688336"/>
            <a:ext cx="5486400" cy="605536"/>
          </a:xfrm>
          <a:prstGeom prst="rect">
            <a:avLst/>
          </a:prstGeom>
          <a:noFill/>
        </p:spPr>
        <p:txBody>
          <a:bodyPr wrap="square" anchor="t" lIns="0" rIns="0" tIns="0" bIns="0">
            <a:spAutoFit/>
          </a:bodyPr>
          <a:lstStyle/>
          <a:p>
            <a:pPr algn="l"/>
            <a:r>
              <a:rPr sz="1600" b="1" i="0">
                <a:solidFill>
                  <a:srgbClr val="002060"/>
                </a:solidFill>
                <a:latin typeface="Nirmala UI"/>
              </a:rPr>
              <a:t>How do we delete and batch writes safely — and debug a query that returns the wrong thing?</a:t>
            </a:r>
          </a:p>
        </p:txBody>
      </p:sp>
      <p:sp>
        <p:nvSpPr>
          <p:cNvPr id="28" name="TextBox 27"/>
          <p:cNvSpPr txBox="1"/>
          <p:nvPr/>
        </p:nvSpPr>
        <p:spPr>
          <a:xfrm>
            <a:off x="5760720" y="3568192"/>
            <a:ext cx="5943600" cy="310896"/>
          </a:xfrm>
          <a:prstGeom prst="rect">
            <a:avLst/>
          </a:prstGeom>
          <a:noFill/>
        </p:spPr>
        <p:txBody>
          <a:bodyPr wrap="square" anchor="t" lIns="0" rIns="0" tIns="0" bIns="0">
            <a:spAutoFit/>
          </a:bodyPr>
          <a:lstStyle/>
          <a:p>
            <a:pPr algn="l"/>
            <a:r>
              <a:rPr sz="1300" b="1" i="0">
                <a:solidFill>
                  <a:srgbClr val="002060"/>
                </a:solidFill>
                <a:latin typeface="Nirmala UI"/>
              </a:rPr>
              <a:t>IN THIS PART</a:t>
            </a:r>
          </a:p>
        </p:txBody>
      </p:sp>
      <p:sp>
        <p:nvSpPr>
          <p:cNvPr id="29" name="Oval 28"/>
          <p:cNvSpPr/>
          <p:nvPr/>
        </p:nvSpPr>
        <p:spPr>
          <a:xfrm>
            <a:off x="5760720" y="399626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30" name="TextBox 29"/>
          <p:cNvSpPr txBox="1"/>
          <p:nvPr/>
        </p:nvSpPr>
        <p:spPr>
          <a:xfrm>
            <a:off x="6144768" y="3933952"/>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deleteOne() and deleteMany()</a:t>
            </a:r>
          </a:p>
        </p:txBody>
      </p:sp>
      <p:sp>
        <p:nvSpPr>
          <p:cNvPr id="31" name="Oval 30"/>
          <p:cNvSpPr/>
          <p:nvPr/>
        </p:nvSpPr>
        <p:spPr>
          <a:xfrm>
            <a:off x="5760720" y="4395216"/>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32" name="TextBox 31"/>
          <p:cNvSpPr txBox="1"/>
          <p:nvPr/>
        </p:nvSpPr>
        <p:spPr>
          <a:xfrm>
            <a:off x="6144768" y="4332901"/>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Preview, count, then delete</a:t>
            </a:r>
          </a:p>
        </p:txBody>
      </p:sp>
      <p:sp>
        <p:nvSpPr>
          <p:cNvPr id="33" name="Oval 32"/>
          <p:cNvSpPr/>
          <p:nvPr/>
        </p:nvSpPr>
        <p:spPr>
          <a:xfrm>
            <a:off x="5760720" y="4794165"/>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34" name="TextBox 33"/>
          <p:cNvSpPr txBox="1"/>
          <p:nvPr/>
        </p:nvSpPr>
        <p:spPr>
          <a:xfrm>
            <a:off x="6144768" y="473185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bulkWrite(): many writes, one result</a:t>
            </a:r>
          </a:p>
        </p:txBody>
      </p:sp>
      <p:sp>
        <p:nvSpPr>
          <p:cNvPr id="35" name="Oval 34"/>
          <p:cNvSpPr/>
          <p:nvPr/>
        </p:nvSpPr>
        <p:spPr>
          <a:xfrm>
            <a:off x="5760720" y="519311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36" name="TextBox 35"/>
          <p:cNvSpPr txBox="1"/>
          <p:nvPr/>
        </p:nvSpPr>
        <p:spPr>
          <a:xfrm>
            <a:off x="6144768" y="5130800"/>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Troubleshooting an empty result</a:t>
            </a:r>
          </a:p>
        </p:txBody>
      </p:sp>
      <p:sp>
        <p:nvSpPr>
          <p:cNvPr id="37" name="Oval 36"/>
          <p:cNvSpPr/>
          <p:nvPr/>
        </p:nvSpPr>
        <p:spPr>
          <a:xfrm>
            <a:off x="5760720" y="5592064"/>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38" name="TextBox 37"/>
          <p:cNvSpPr txBox="1"/>
          <p:nvPr/>
        </p:nvSpPr>
        <p:spPr>
          <a:xfrm>
            <a:off x="6144768" y="5529749"/>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Common mistakes and safe habits</a:t>
            </a:r>
          </a:p>
        </p:txBody>
      </p:sp>
      <p:sp>
        <p:nvSpPr>
          <p:cNvPr id="39" name="Oval 38"/>
          <p:cNvSpPr/>
          <p:nvPr/>
        </p:nvSpPr>
        <p:spPr>
          <a:xfrm>
            <a:off x="5760720" y="5991013"/>
            <a:ext cx="274320" cy="274320"/>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6</a:t>
            </a:r>
          </a:p>
        </p:txBody>
      </p:sp>
      <p:sp>
        <p:nvSpPr>
          <p:cNvPr id="40" name="TextBox 39"/>
          <p:cNvSpPr txBox="1"/>
          <p:nvPr/>
        </p:nvSpPr>
        <p:spPr>
          <a:xfrm>
            <a:off x="6144768" y="5928698"/>
            <a:ext cx="5559552" cy="398949"/>
          </a:xfrm>
          <a:prstGeom prst="rect">
            <a:avLst/>
          </a:prstGeom>
          <a:noFill/>
        </p:spPr>
        <p:txBody>
          <a:bodyPr wrap="square" anchor="ctr" lIns="0" rIns="0" tIns="0" bIns="0">
            <a:spAutoFit/>
          </a:bodyPr>
          <a:lstStyle/>
          <a:p>
            <a:pPr algn="l"/>
            <a:r>
              <a:rPr sz="1400" b="0" i="0">
                <a:solidFill>
                  <a:srgbClr val="000000"/>
                </a:solidFill>
                <a:latin typeface="Nirmala UI"/>
              </a:rPr>
              <a:t>Module 4 at a glance</a:t>
            </a:r>
          </a:p>
        </p:txBody>
      </p:sp>
      <p:sp>
        <p:nvSpPr>
          <p:cNvPr id="41" name="Rectangle 40"/>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4"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DELETING DOCUMENTS SAFELY</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Count, preview, check — then delete the verified set.</a:t>
            </a:r>
          </a:p>
        </p:txBody>
      </p:sp>
      <p:sp>
        <p:nvSpPr>
          <p:cNvPr id="4" name="Rounded Rectangle 3"/>
          <p:cNvSpPr/>
          <p:nvPr/>
        </p:nvSpPr>
        <p:spPr>
          <a:xfrm>
            <a:off x="475488" y="2112589"/>
            <a:ext cx="7415783" cy="2907141"/>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38" descr="image.jpg"/>
          <p:cNvPicPr>
            <a:picLocks noChangeAspect="1"/>
          </p:cNvPicPr>
          <p:nvPr/>
        </p:nvPicPr>
        <p:blipFill>
          <a:blip r:embed="rId2"/>
          <a:stretch>
            <a:fillRect/>
          </a:stretch>
        </p:blipFill>
        <p:spPr>
          <a:xfrm>
            <a:off x="548640" y="2185741"/>
            <a:ext cx="7269480" cy="2760837"/>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Demo 4.9</a:t>
            </a:r>
          </a:p>
        </p:txBody>
      </p:sp>
      <p:sp>
        <p:nvSpPr>
          <p:cNvPr id="7" name="Rounded Rectangle 6"/>
          <p:cNvSpPr/>
          <p:nvPr/>
        </p:nvSpPr>
        <p:spPr>
          <a:xfrm>
            <a:off x="8183880" y="1627632"/>
            <a:ext cx="3520440" cy="176377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const filter =</a:t>
            </a:r>
          </a:p>
          <a:p>
            <a:pPr algn="l"/>
            <a:r>
              <a:rPr sz="1100" b="0" i="0">
                <a:solidFill>
                  <a:srgbClr val="000000"/>
                </a:solidFill>
                <a:latin typeface="Consolas"/>
              </a:rPr>
              <a:t>  { sku: "TEMP-100" }</a:t>
            </a:r>
          </a:p>
          <a:p>
            <a:pPr algn="l"/>
            <a:r>
              <a:rPr sz="1100" b="0" i="0">
                <a:solidFill>
                  <a:srgbClr val="000000"/>
                </a:solidFill>
                <a:latin typeface="Consolas"/>
              </a:rPr>
              <a:t>db.products.find(filter)</a:t>
            </a:r>
          </a:p>
          <a:p>
            <a:pPr algn="l"/>
            <a:r>
              <a:rPr sz="1100" b="0" i="0">
                <a:solidFill>
                  <a:srgbClr val="000000"/>
                </a:solidFill>
                <a:latin typeface="Consolas"/>
              </a:rPr>
              <a:t>db.products</a:t>
            </a:r>
          </a:p>
          <a:p>
            <a:pPr algn="l"/>
            <a:r>
              <a:rPr sz="1100" b="0" i="0">
                <a:solidFill>
                  <a:srgbClr val="000000"/>
                </a:solidFill>
                <a:latin typeface="Consolas"/>
              </a:rPr>
              <a:t>  .countDocuments(filter)</a:t>
            </a:r>
          </a:p>
          <a:p>
            <a:pPr algn="l"/>
            <a:r>
              <a:rPr sz="1100" b="0" i="0">
                <a:solidFill>
                  <a:srgbClr val="000000"/>
                </a:solidFill>
                <a:latin typeface="Consolas"/>
              </a:rPr>
              <a:t>// 1</a:t>
            </a:r>
          </a:p>
          <a:p>
            <a:pPr algn="l"/>
            <a:r>
              <a:rPr sz="1100" b="0" i="0">
                <a:solidFill>
                  <a:srgbClr val="000000"/>
                </a:solidFill>
                <a:latin typeface="Consolas"/>
              </a:rPr>
              <a:t>db.products.deleteOne(filter)</a:t>
            </a:r>
          </a:p>
          <a:p>
            <a:pPr algn="l"/>
            <a:r>
              <a:rPr sz="1100" b="0" i="0">
                <a:solidFill>
                  <a:srgbClr val="000000"/>
                </a:solidFill>
                <a:latin typeface="Consolas"/>
              </a:rPr>
              <a:t>// deletedCount: 1</a:t>
            </a:r>
          </a:p>
        </p:txBody>
      </p:sp>
      <p:sp>
        <p:nvSpPr>
          <p:cNvPr id="8" name="Rounded Rectangle 7"/>
          <p:cNvSpPr/>
          <p:nvPr/>
        </p:nvSpPr>
        <p:spPr>
          <a:xfrm>
            <a:off x="8183880" y="3519424"/>
            <a:ext cx="3520440" cy="1109472"/>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57428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deleteOne / deleteMany</a:t>
            </a:r>
          </a:p>
        </p:txBody>
      </p:sp>
      <p:sp>
        <p:nvSpPr>
          <p:cNvPr id="10" name="TextBox 9"/>
          <p:cNvSpPr txBox="1"/>
          <p:nvPr/>
        </p:nvSpPr>
        <p:spPr>
          <a:xfrm>
            <a:off x="8321040" y="3885184"/>
            <a:ext cx="3246120" cy="688848"/>
          </a:xfrm>
          <a:prstGeom prst="rect">
            <a:avLst/>
          </a:prstGeom>
          <a:noFill/>
        </p:spPr>
        <p:txBody>
          <a:bodyPr wrap="square" anchor="t" lIns="0" rIns="0" tIns="0" bIns="0">
            <a:spAutoFit/>
          </a:bodyPr>
          <a:lstStyle/>
          <a:p>
            <a:pPr algn="l"/>
            <a:r>
              <a:rPr sz="1200" b="0" i="0">
                <a:solidFill>
                  <a:srgbClr val="000000"/>
                </a:solidFill>
                <a:latin typeface="Nirmala UI"/>
              </a:rPr>
              <a:t>The first match, or every match.</a:t>
            </a:r>
          </a:p>
        </p:txBody>
      </p:sp>
      <p:sp>
        <p:nvSpPr>
          <p:cNvPr id="11" name="Rounded Rectangle 10"/>
          <p:cNvSpPr/>
          <p:nvPr/>
        </p:nvSpPr>
        <p:spPr>
          <a:xfrm>
            <a:off x="8183880" y="4756912"/>
            <a:ext cx="352044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66760" y="4756912"/>
            <a:ext cx="3154680" cy="1075944"/>
          </a:xfrm>
          <a:prstGeom prst="rect">
            <a:avLst/>
          </a:prstGeom>
          <a:noFill/>
        </p:spPr>
        <p:txBody>
          <a:bodyPr wrap="square" anchor="ctr" lIns="0" rIns="0" tIns="0" bIns="0">
            <a:spAutoFit/>
          </a:bodyPr>
          <a:lstStyle/>
          <a:p>
            <a:pPr algn="l"/>
            <a:r>
              <a:rPr sz="1200" b="1" i="0">
                <a:solidFill>
                  <a:srgbClr val="D1282E"/>
                </a:solidFill>
                <a:latin typeface="Nirmala UI"/>
              </a:rPr>
              <a:t>NEVER   </a:t>
            </a:r>
            <a:r>
              <a:rPr sz="1200" b="0" i="0">
                <a:solidFill>
                  <a:srgbClr val="000000"/>
                </a:solidFill>
                <a:latin typeface="Nirmala UI"/>
              </a:rPr>
              <a:t>deleteMany({}) removes every document.</a:t>
            </a:r>
          </a:p>
        </p:txBody>
      </p:sp>
      <p:sp>
        <p:nvSpPr>
          <p:cNvPr id="13" name="Rounded Rectangle 12"/>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Delete with exactly the filter you previewed and counted — then compare deletedCount with that count.</a:t>
            </a:r>
          </a:p>
        </p:txBody>
      </p:sp>
      <p:sp>
        <p:nvSpPr>
          <p:cNvPr id="15" name="Rectangle 14"/>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8"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BULK WRITE OPERATIONS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Several writes in one request, one combined result.</a:t>
            </a:r>
          </a:p>
        </p:txBody>
      </p:sp>
      <p:sp>
        <p:nvSpPr>
          <p:cNvPr id="4" name="Rounded Rectangle 3"/>
          <p:cNvSpPr/>
          <p:nvPr/>
        </p:nvSpPr>
        <p:spPr>
          <a:xfrm>
            <a:off x="475488" y="1688681"/>
            <a:ext cx="7415783" cy="3754957"/>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1" descr="image.jpg"/>
          <p:cNvPicPr>
            <a:picLocks noChangeAspect="1"/>
          </p:cNvPicPr>
          <p:nvPr/>
        </p:nvPicPr>
        <p:blipFill>
          <a:blip r:embed="rId2"/>
          <a:stretch>
            <a:fillRect/>
          </a:stretch>
        </p:blipFill>
        <p:spPr>
          <a:xfrm>
            <a:off x="548640" y="1761833"/>
            <a:ext cx="7269480" cy="3608653"/>
          </a:xfrm>
          <a:prstGeom prst="rect">
            <a:avLst/>
          </a:prstGeom>
        </p:spPr>
      </p:pic>
      <p:sp>
        <p:nvSpPr>
          <p:cNvPr id="6" name="TextBox 5"/>
          <p:cNvSpPr txBox="1"/>
          <p:nvPr/>
        </p:nvSpPr>
        <p:spPr>
          <a:xfrm>
            <a:off x="8183880" y="1298448"/>
            <a:ext cx="3520440" cy="310896"/>
          </a:xfrm>
          <a:prstGeom prst="rect">
            <a:avLst/>
          </a:prstGeom>
          <a:noFill/>
        </p:spPr>
        <p:txBody>
          <a:bodyPr wrap="square" anchor="ctr" lIns="0" rIns="0" tIns="0" bIns="0">
            <a:spAutoFit/>
          </a:bodyPr>
          <a:lstStyle/>
          <a:p>
            <a:pPr algn="l"/>
            <a:r>
              <a:rPr sz="1300" b="1" i="0">
                <a:solidFill>
                  <a:srgbClr val="002060"/>
                </a:solidFill>
                <a:latin typeface="Nirmala UI"/>
              </a:rPr>
              <a:t>Demo 4.10 (trimmed)</a:t>
            </a:r>
          </a:p>
        </p:txBody>
      </p:sp>
      <p:sp>
        <p:nvSpPr>
          <p:cNvPr id="7" name="Rounded Rectangle 6"/>
          <p:cNvSpPr/>
          <p:nvPr/>
        </p:nvSpPr>
        <p:spPr>
          <a:xfrm>
            <a:off x="8183880" y="1627632"/>
            <a:ext cx="3520440" cy="1796795"/>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000" b="0" i="0">
                <a:solidFill>
                  <a:srgbClr val="000000"/>
                </a:solidFill>
                <a:latin typeface="Consolas"/>
              </a:rPr>
              <a:t>db.products.bulkWrite([</a:t>
            </a:r>
          </a:p>
          <a:p>
            <a:pPr algn="l"/>
            <a:r>
              <a:rPr sz="1000" b="0" i="0">
                <a:solidFill>
                  <a:srgbClr val="000000"/>
                </a:solidFill>
                <a:latin typeface="Consolas"/>
              </a:rPr>
              <a:t>  { insertOne: { document:</a:t>
            </a:r>
          </a:p>
          <a:p>
            <a:pPr algn="l"/>
            <a:r>
              <a:rPr sz="1000" b="0" i="0">
                <a:solidFill>
                  <a:srgbClr val="000000"/>
                </a:solidFill>
                <a:latin typeface="Consolas"/>
              </a:rPr>
              <a:t>    { sku: "DEMO-BULK" } } },</a:t>
            </a:r>
          </a:p>
          <a:p>
            <a:pPr algn="l"/>
            <a:r>
              <a:rPr sz="1000" b="0" i="0">
                <a:solidFill>
                  <a:srgbClr val="000000"/>
                </a:solidFill>
                <a:latin typeface="Consolas"/>
              </a:rPr>
              <a:t>  { updateOne: {</a:t>
            </a:r>
          </a:p>
          <a:p>
            <a:pPr algn="l"/>
            <a:r>
              <a:rPr sz="1000" b="0" i="0">
                <a:solidFill>
                  <a:srgbClr val="000000"/>
                </a:solidFill>
                <a:latin typeface="Consolas"/>
              </a:rPr>
              <a:t>    filter: { sku: "DEMO-BULK" },</a:t>
            </a:r>
          </a:p>
          <a:p>
            <a:pPr algn="l"/>
            <a:r>
              <a:rPr sz="1000" b="0" i="0">
                <a:solidFill>
                  <a:srgbClr val="000000"/>
                </a:solidFill>
                <a:latin typeface="Consolas"/>
              </a:rPr>
              <a:t>    update: { $set:</a:t>
            </a:r>
          </a:p>
          <a:p>
            <a:pPr algn="l"/>
            <a:r>
              <a:rPr sz="1000" b="0" i="0">
                <a:solidFill>
                  <a:srgbClr val="000000"/>
                </a:solidFill>
                <a:latin typeface="Consolas"/>
              </a:rPr>
              <a:t>      { active: false } } } },</a:t>
            </a:r>
          </a:p>
          <a:p>
            <a:pPr algn="l"/>
            <a:r>
              <a:rPr sz="1000" b="0" i="0">
                <a:solidFill>
                  <a:srgbClr val="000000"/>
                </a:solidFill>
                <a:latin typeface="Consolas"/>
              </a:rPr>
              <a:t>  { deleteOne: { filter:</a:t>
            </a:r>
          </a:p>
          <a:p>
            <a:pPr algn="l"/>
            <a:r>
              <a:rPr sz="1000" b="0" i="0">
                <a:solidFill>
                  <a:srgbClr val="000000"/>
                </a:solidFill>
                <a:latin typeface="Consolas"/>
              </a:rPr>
              <a:t>    { sku: "TEMP-100" } } } ])</a:t>
            </a:r>
          </a:p>
        </p:txBody>
      </p:sp>
      <p:sp>
        <p:nvSpPr>
          <p:cNvPr id="8" name="Rounded Rectangle 7"/>
          <p:cNvSpPr/>
          <p:nvPr/>
        </p:nvSpPr>
        <p:spPr>
          <a:xfrm>
            <a:off x="8183880" y="3552444"/>
            <a:ext cx="3520440" cy="107670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8321040" y="3607308"/>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Result</a:t>
            </a:r>
          </a:p>
        </p:txBody>
      </p:sp>
      <p:sp>
        <p:nvSpPr>
          <p:cNvPr id="10" name="TextBox 9"/>
          <p:cNvSpPr txBox="1"/>
          <p:nvPr/>
        </p:nvSpPr>
        <p:spPr>
          <a:xfrm>
            <a:off x="8321040" y="3918204"/>
            <a:ext cx="3246120" cy="656081"/>
          </a:xfrm>
          <a:prstGeom prst="rect">
            <a:avLst/>
          </a:prstGeom>
          <a:noFill/>
        </p:spPr>
        <p:txBody>
          <a:bodyPr wrap="square" anchor="t" lIns="0" rIns="0" tIns="0" bIns="0">
            <a:spAutoFit/>
          </a:bodyPr>
          <a:lstStyle/>
          <a:p>
            <a:pPr algn="l"/>
            <a:r>
              <a:rPr sz="1200" b="0" i="0">
                <a:solidFill>
                  <a:srgbClr val="000000"/>
                </a:solidFill>
                <a:latin typeface="Nirmala UI"/>
              </a:rPr>
              <a:t>insertedCount 1, matchedCount 1, modifiedCount 1, deletedCount 0.</a:t>
            </a:r>
          </a:p>
        </p:txBody>
      </p:sp>
      <p:sp>
        <p:nvSpPr>
          <p:cNvPr id="11" name="Rounded Rectangle 10"/>
          <p:cNvSpPr/>
          <p:nvPr/>
        </p:nvSpPr>
        <p:spPr>
          <a:xfrm>
            <a:off x="8183880" y="4757166"/>
            <a:ext cx="3520440" cy="107670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2" name="TextBox 11"/>
          <p:cNvSpPr txBox="1"/>
          <p:nvPr/>
        </p:nvSpPr>
        <p:spPr>
          <a:xfrm>
            <a:off x="8321040" y="4812030"/>
            <a:ext cx="3246120" cy="292608"/>
          </a:xfrm>
          <a:prstGeom prst="rect">
            <a:avLst/>
          </a:prstGeom>
          <a:noFill/>
        </p:spPr>
        <p:txBody>
          <a:bodyPr wrap="square" anchor="ctr" lIns="0" rIns="0" tIns="0" bIns="0">
            <a:spAutoFit/>
          </a:bodyPr>
          <a:lstStyle/>
          <a:p>
            <a:pPr algn="l"/>
            <a:r>
              <a:rPr sz="1300" b="1" i="0">
                <a:solidFill>
                  <a:srgbClr val="002060"/>
                </a:solidFill>
                <a:latin typeface="Nirmala UI"/>
              </a:rPr>
              <a:t>Ordered by default</a:t>
            </a:r>
          </a:p>
        </p:txBody>
      </p:sp>
      <p:sp>
        <p:nvSpPr>
          <p:cNvPr id="13" name="TextBox 12"/>
          <p:cNvSpPr txBox="1"/>
          <p:nvPr/>
        </p:nvSpPr>
        <p:spPr>
          <a:xfrm>
            <a:off x="8321040" y="5122926"/>
            <a:ext cx="3246120" cy="656081"/>
          </a:xfrm>
          <a:prstGeom prst="rect">
            <a:avLst/>
          </a:prstGeom>
          <a:noFill/>
        </p:spPr>
        <p:txBody>
          <a:bodyPr wrap="square" anchor="t" lIns="0" rIns="0" tIns="0" bIns="0">
            <a:spAutoFit/>
          </a:bodyPr>
          <a:lstStyle/>
          <a:p>
            <a:pPr algn="l"/>
            <a:r>
              <a:rPr sz="1200" b="0" i="0">
                <a:solidFill>
                  <a:srgbClr val="000000"/>
                </a:solidFill>
                <a:latin typeface="Nirmala UI"/>
              </a:rPr>
              <a:t>Stops at the first error; ordered: false carries on.</a:t>
            </a:r>
          </a:p>
        </p:txBody>
      </p:sp>
      <p:sp>
        <p:nvSpPr>
          <p:cNvPr id="14" name="Rounded Rectangle 1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bulkWrite() sends many writes in one round trip — then read each count in the combined result.</a:t>
            </a:r>
          </a:p>
        </p:txBody>
      </p:sp>
      <p:sp>
        <p:nvSpPr>
          <p:cNvPr id="16" name="Rectangle 1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QUERY TROUBLESHOOTING WORKFLOW</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Reproduce, confirm, sample, fix, test small, confirm.</a:t>
            </a:r>
          </a:p>
        </p:txBody>
      </p:sp>
      <p:sp>
        <p:nvSpPr>
          <p:cNvPr id="4" name="Rounded Rectangle 3"/>
          <p:cNvSpPr/>
          <p:nvPr/>
        </p:nvSpPr>
        <p:spPr>
          <a:xfrm>
            <a:off x="871269" y="1316736"/>
            <a:ext cx="10418981" cy="2880360"/>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6" descr="image.jpg"/>
          <p:cNvPicPr>
            <a:picLocks noChangeAspect="1"/>
          </p:cNvPicPr>
          <p:nvPr/>
        </p:nvPicPr>
        <p:blipFill>
          <a:blip r:embed="rId2"/>
          <a:stretch>
            <a:fillRect/>
          </a:stretch>
        </p:blipFill>
        <p:spPr>
          <a:xfrm>
            <a:off x="944421" y="1389888"/>
            <a:ext cx="10272677" cy="2734056"/>
          </a:xfrm>
          <a:prstGeom prst="rect">
            <a:avLst/>
          </a:prstGeom>
        </p:spPr>
      </p:pic>
      <p:sp>
        <p:nvSpPr>
          <p:cNvPr id="6" name="Rounded Rectangle 5"/>
          <p:cNvSpPr/>
          <p:nvPr/>
        </p:nvSpPr>
        <p:spPr>
          <a:xfrm>
            <a:off x="457200" y="4489704"/>
            <a:ext cx="2674620" cy="134416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7" name="TextBox 6"/>
          <p:cNvSpPr txBox="1"/>
          <p:nvPr/>
        </p:nvSpPr>
        <p:spPr>
          <a:xfrm>
            <a:off x="594360" y="4544568"/>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Reproduce</a:t>
            </a:r>
          </a:p>
        </p:txBody>
      </p:sp>
      <p:sp>
        <p:nvSpPr>
          <p:cNvPr id="8" name="TextBox 7"/>
          <p:cNvSpPr txBox="1"/>
          <p:nvPr/>
        </p:nvSpPr>
        <p:spPr>
          <a:xfrm>
            <a:off x="594360" y="4855464"/>
            <a:ext cx="2400300" cy="923543"/>
          </a:xfrm>
          <a:prstGeom prst="rect">
            <a:avLst/>
          </a:prstGeom>
          <a:noFill/>
        </p:spPr>
        <p:txBody>
          <a:bodyPr wrap="square" anchor="t" lIns="0" rIns="0" tIns="0" bIns="0">
            <a:spAutoFit/>
          </a:bodyPr>
          <a:lstStyle/>
          <a:p>
            <a:pPr algn="l"/>
            <a:r>
              <a:rPr sz="1200" b="0" i="0">
                <a:solidFill>
                  <a:srgbClr val="000000"/>
                </a:solidFill>
                <a:latin typeface="Nirmala UI"/>
              </a:rPr>
              <a:t>find({ price: "49.99" }) returns only XBAD — the broken one.</a:t>
            </a:r>
          </a:p>
        </p:txBody>
      </p:sp>
      <p:sp>
        <p:nvSpPr>
          <p:cNvPr id="9" name="Rounded Rectangle 8"/>
          <p:cNvSpPr/>
          <p:nvPr/>
        </p:nvSpPr>
        <p:spPr>
          <a:xfrm>
            <a:off x="3314700" y="4489704"/>
            <a:ext cx="2674620" cy="134416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0" name="TextBox 9"/>
          <p:cNvSpPr txBox="1"/>
          <p:nvPr/>
        </p:nvSpPr>
        <p:spPr>
          <a:xfrm>
            <a:off x="3451860" y="4544568"/>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Compare</a:t>
            </a:r>
          </a:p>
        </p:txBody>
      </p:sp>
      <p:sp>
        <p:nvSpPr>
          <p:cNvPr id="11" name="TextBox 10"/>
          <p:cNvSpPr txBox="1"/>
          <p:nvPr/>
        </p:nvSpPr>
        <p:spPr>
          <a:xfrm>
            <a:off x="3451860" y="4855464"/>
            <a:ext cx="2400300" cy="923543"/>
          </a:xfrm>
          <a:prstGeom prst="rect">
            <a:avLst/>
          </a:prstGeom>
          <a:noFill/>
        </p:spPr>
        <p:txBody>
          <a:bodyPr wrap="square" anchor="t" lIns="0" rIns="0" tIns="0" bIns="0">
            <a:spAutoFit/>
          </a:bodyPr>
          <a:lstStyle/>
          <a:p>
            <a:pPr algn="l"/>
            <a:r>
              <a:rPr sz="1200" b="0" i="0">
                <a:solidFill>
                  <a:srgbClr val="000000"/>
                </a:solidFill>
                <a:latin typeface="Nirmala UI"/>
              </a:rPr>
              <a:t>findOne({ sku: "P1001" }) shows a Decimal128 price.</a:t>
            </a:r>
          </a:p>
        </p:txBody>
      </p:sp>
      <p:sp>
        <p:nvSpPr>
          <p:cNvPr id="12" name="Rounded Rectangle 11"/>
          <p:cNvSpPr/>
          <p:nvPr/>
        </p:nvSpPr>
        <p:spPr>
          <a:xfrm>
            <a:off x="6172200" y="4489704"/>
            <a:ext cx="2674620" cy="134416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TextBox 12"/>
          <p:cNvSpPr txBox="1"/>
          <p:nvPr/>
        </p:nvSpPr>
        <p:spPr>
          <a:xfrm>
            <a:off x="6309360" y="4544568"/>
            <a:ext cx="2400300" cy="292608"/>
          </a:xfrm>
          <a:prstGeom prst="rect">
            <a:avLst/>
          </a:prstGeom>
          <a:noFill/>
        </p:spPr>
        <p:txBody>
          <a:bodyPr wrap="square" anchor="ctr" lIns="0" rIns="0" tIns="0" bIns="0">
            <a:spAutoFit/>
          </a:bodyPr>
          <a:lstStyle/>
          <a:p>
            <a:pPr algn="l"/>
            <a:r>
              <a:rPr sz="1300" b="1" i="0">
                <a:solidFill>
                  <a:srgbClr val="002060"/>
                </a:solidFill>
                <a:latin typeface="Nirmala UI"/>
              </a:rPr>
              <a:t>Fix the type</a:t>
            </a:r>
          </a:p>
        </p:txBody>
      </p:sp>
      <p:sp>
        <p:nvSpPr>
          <p:cNvPr id="14" name="TextBox 13"/>
          <p:cNvSpPr txBox="1"/>
          <p:nvPr/>
        </p:nvSpPr>
        <p:spPr>
          <a:xfrm>
            <a:off x="6309360" y="4855464"/>
            <a:ext cx="2400300" cy="923543"/>
          </a:xfrm>
          <a:prstGeom prst="rect">
            <a:avLst/>
          </a:prstGeom>
          <a:noFill/>
        </p:spPr>
        <p:txBody>
          <a:bodyPr wrap="square" anchor="t" lIns="0" rIns="0" tIns="0" bIns="0">
            <a:spAutoFit/>
          </a:bodyPr>
          <a:lstStyle/>
          <a:p>
            <a:pPr algn="l"/>
            <a:r>
              <a:rPr sz="1200" b="0" i="0">
                <a:solidFill>
                  <a:srgbClr val="000000"/>
                </a:solidFill>
                <a:latin typeface="Nirmala UI"/>
              </a:rPr>
              <a:t>{ price: Decimal128("49.99") } → P1001 only.</a:t>
            </a:r>
          </a:p>
        </p:txBody>
      </p:sp>
      <p:sp>
        <p:nvSpPr>
          <p:cNvPr id="15" name="Rounded Rectangle 14"/>
          <p:cNvSpPr/>
          <p:nvPr/>
        </p:nvSpPr>
        <p:spPr>
          <a:xfrm>
            <a:off x="9029700" y="4489704"/>
            <a:ext cx="2674620" cy="134416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6" name="TextBox 15"/>
          <p:cNvSpPr txBox="1"/>
          <p:nvPr/>
        </p:nvSpPr>
        <p:spPr>
          <a:xfrm>
            <a:off x="9212580" y="4489704"/>
            <a:ext cx="2308860" cy="1344168"/>
          </a:xfrm>
          <a:prstGeom prst="rect">
            <a:avLst/>
          </a:prstGeom>
          <a:noFill/>
        </p:spPr>
        <p:txBody>
          <a:bodyPr wrap="square" anchor="ctr" lIns="0" rIns="0" tIns="0" bIns="0">
            <a:spAutoFit/>
          </a:bodyPr>
          <a:lstStyle/>
          <a:p>
            <a:pPr algn="l"/>
            <a:r>
              <a:rPr sz="1200" b="1" i="0">
                <a:solidFill>
                  <a:srgbClr val="D1282E"/>
                </a:solidFill>
                <a:latin typeface="Nirmala UI"/>
              </a:rPr>
              <a:t>RULE   </a:t>
            </a:r>
            <a:r>
              <a:rPr sz="1200" b="0" i="0">
                <a:solidFill>
                  <a:srgbClr val="000000"/>
                </a:solidFill>
                <a:latin typeface="Nirmala UI"/>
              </a:rPr>
              <a:t>Test the smallest query first, then add one condition.</a:t>
            </a:r>
          </a:p>
        </p:txBody>
      </p:sp>
      <p:sp>
        <p:nvSpPr>
          <p:cNvPr id="17" name="Rounded Rectangle 16"/>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When a query returns nothing — or the wrong thing — compare it field by field with a real document.</a:t>
            </a:r>
          </a:p>
        </p:txBody>
      </p:sp>
      <p:sp>
        <p:nvSpPr>
          <p:cNvPr id="19" name="Rectangle 18"/>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22"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COMMON QUERY MISTAKES AND SAFE-WRITE HABITS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Seven classic query errors — and the habits that prevent write disasters.</a:t>
            </a:r>
          </a:p>
        </p:txBody>
      </p:sp>
      <p:sp>
        <p:nvSpPr>
          <p:cNvPr id="4" name="TextBox 3"/>
          <p:cNvSpPr txBox="1"/>
          <p:nvPr/>
        </p:nvSpPr>
        <p:spPr>
          <a:xfrm>
            <a:off x="457200" y="1298448"/>
            <a:ext cx="3291840" cy="310896"/>
          </a:xfrm>
          <a:prstGeom prst="rect">
            <a:avLst/>
          </a:prstGeom>
          <a:noFill/>
        </p:spPr>
        <p:txBody>
          <a:bodyPr wrap="square" anchor="t" lIns="0" rIns="0" tIns="0" bIns="0">
            <a:spAutoFit/>
          </a:bodyPr>
          <a:lstStyle/>
          <a:p>
            <a:pPr algn="l"/>
            <a:r>
              <a:rPr sz="1300" b="1" i="0">
                <a:solidFill>
                  <a:srgbClr val="D1282E"/>
                </a:solidFill>
                <a:latin typeface="Nirmala UI"/>
              </a:rPr>
              <a:t>MISCONCEPTION</a:t>
            </a:r>
          </a:p>
        </p:txBody>
      </p:sp>
      <p:sp>
        <p:nvSpPr>
          <p:cNvPr id="5" name="TextBox 4"/>
          <p:cNvSpPr txBox="1"/>
          <p:nvPr/>
        </p:nvSpPr>
        <p:spPr>
          <a:xfrm>
            <a:off x="4069080" y="1298448"/>
            <a:ext cx="3291840" cy="310896"/>
          </a:xfrm>
          <a:prstGeom prst="rect">
            <a:avLst/>
          </a:prstGeom>
          <a:noFill/>
        </p:spPr>
        <p:txBody>
          <a:bodyPr wrap="square" anchor="t" lIns="0" rIns="0" tIns="0" bIns="0">
            <a:spAutoFit/>
          </a:bodyPr>
          <a:lstStyle/>
          <a:p>
            <a:pPr algn="l"/>
            <a:r>
              <a:rPr sz="1300" b="1" i="0">
                <a:solidFill>
                  <a:srgbClr val="2E7D32"/>
                </a:solidFill>
                <a:latin typeface="Nirmala UI"/>
              </a:rPr>
              <a:t>REALITY</a:t>
            </a:r>
          </a:p>
        </p:txBody>
      </p:sp>
      <p:sp>
        <p:nvSpPr>
          <p:cNvPr id="6" name="Rounded Rectangle 5"/>
          <p:cNvSpPr/>
          <p:nvPr/>
        </p:nvSpPr>
        <p:spPr>
          <a:xfrm>
            <a:off x="457200" y="1709928"/>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 Category: "LAPTOP" }</a:t>
            </a:r>
          </a:p>
        </p:txBody>
      </p:sp>
      <p:cxnSp>
        <p:nvCxnSpPr>
          <p:cNvPr id="7" name="Connector 6"/>
          <p:cNvCxnSpPr/>
          <p:nvPr/>
        </p:nvCxnSpPr>
        <p:spPr>
          <a:xfrm>
            <a:off x="3730752" y="2078431"/>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069080" y="1709928"/>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Field names are case-sensitive: category</a:t>
            </a:r>
          </a:p>
        </p:txBody>
      </p:sp>
      <p:sp>
        <p:nvSpPr>
          <p:cNvPr id="9" name="Rounded Rectangle 8"/>
          <p:cNvSpPr/>
          <p:nvPr/>
        </p:nvSpPr>
        <p:spPr>
          <a:xfrm>
            <a:off x="457200" y="2556662"/>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 price: { $gt: "100.00" } }</a:t>
            </a:r>
          </a:p>
        </p:txBody>
      </p:sp>
      <p:cxnSp>
        <p:nvCxnSpPr>
          <p:cNvPr id="10" name="Connector 9"/>
          <p:cNvCxnSpPr/>
          <p:nvPr/>
        </p:nvCxnSpPr>
        <p:spPr>
          <a:xfrm>
            <a:off x="3730752" y="2925165"/>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069080" y="2556662"/>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Compare money as Decimal128("100.00")</a:t>
            </a:r>
          </a:p>
        </p:txBody>
      </p:sp>
      <p:sp>
        <p:nvSpPr>
          <p:cNvPr id="12" name="Rounded Rectangle 11"/>
          <p:cNvSpPr/>
          <p:nvPr/>
        </p:nvSpPr>
        <p:spPr>
          <a:xfrm>
            <a:off x="457200" y="3403396"/>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 attributes.memoryGB: 16 }</a:t>
            </a:r>
          </a:p>
        </p:txBody>
      </p:sp>
      <p:cxnSp>
        <p:nvCxnSpPr>
          <p:cNvPr id="13" name="Connector 12"/>
          <p:cNvCxnSpPr/>
          <p:nvPr/>
        </p:nvCxnSpPr>
        <p:spPr>
          <a:xfrm>
            <a:off x="3730752" y="3771899"/>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069080" y="3403396"/>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Quote dotted paths: "attributes.memoryGB"</a:t>
            </a:r>
          </a:p>
        </p:txBody>
      </p:sp>
      <p:sp>
        <p:nvSpPr>
          <p:cNvPr id="15" name="Rounded Rectangle 14"/>
          <p:cNvSpPr/>
          <p:nvPr/>
        </p:nvSpPr>
        <p:spPr>
          <a:xfrm>
            <a:off x="457200" y="4250131"/>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 $gt: { price: … } }</a:t>
            </a:r>
          </a:p>
        </p:txBody>
      </p:sp>
      <p:cxnSp>
        <p:nvCxnSpPr>
          <p:cNvPr id="16" name="Connector 15"/>
          <p:cNvCxnSpPr/>
          <p:nvPr/>
        </p:nvCxnSpPr>
        <p:spPr>
          <a:xfrm>
            <a:off x="3730752" y="4618634"/>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4069080" y="4250131"/>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Operator inside the field: { price: { $gt: … } }</a:t>
            </a:r>
          </a:p>
        </p:txBody>
      </p:sp>
      <p:sp>
        <p:nvSpPr>
          <p:cNvPr id="18" name="Rounded Rectangle 17"/>
          <p:cNvSpPr/>
          <p:nvPr/>
        </p:nvSpPr>
        <p:spPr>
          <a:xfrm>
            <a:off x="457200" y="5096865"/>
            <a:ext cx="3246120" cy="737006"/>
          </a:xfrm>
          <a:prstGeom prst="roundRect">
            <a:avLst>
              <a:gd name="adj" fmla="val 8000"/>
            </a:avLst>
          </a:prstGeom>
          <a:solidFill>
            <a:srgbClr val="FDECEA"/>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D1282E"/>
                </a:solidFill>
                <a:latin typeface="Nirmala UI"/>
              </a:rPr>
              <a:t>updateOne(f, { featured: true })</a:t>
            </a:r>
          </a:p>
        </p:txBody>
      </p:sp>
      <p:cxnSp>
        <p:nvCxnSpPr>
          <p:cNvPr id="19" name="Connector 18"/>
          <p:cNvCxnSpPr/>
          <p:nvPr/>
        </p:nvCxnSpPr>
        <p:spPr>
          <a:xfrm>
            <a:off x="3730752" y="5465368"/>
            <a:ext cx="310896" cy="0"/>
          </a:xfrm>
          <a:prstGeom prst="line">
            <a:avLst/>
          </a:prstGeom>
          <a:ln w="22225">
            <a:solidFill>
              <a:srgbClr val="595959"/>
            </a:solidFill>
            <a:tailEnd type="triangle" w="med" h="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069080" y="5096865"/>
            <a:ext cx="3337559" cy="737006"/>
          </a:xfrm>
          <a:prstGeom prst="roundRect">
            <a:avLst>
              <a:gd name="adj" fmla="val 8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2E7D32"/>
                </a:solidFill>
                <a:latin typeface="Nirmala UI"/>
              </a:rPr>
              <a:t>Use an operator: { $set: { featured: true } }</a:t>
            </a:r>
          </a:p>
        </p:txBody>
      </p:sp>
      <p:sp>
        <p:nvSpPr>
          <p:cNvPr id="21" name="TextBox 20"/>
          <p:cNvSpPr txBox="1"/>
          <p:nvPr/>
        </p:nvSpPr>
        <p:spPr>
          <a:xfrm>
            <a:off x="7772400" y="1298448"/>
            <a:ext cx="3931920" cy="310896"/>
          </a:xfrm>
          <a:prstGeom prst="rect">
            <a:avLst/>
          </a:prstGeom>
          <a:noFill/>
        </p:spPr>
        <p:txBody>
          <a:bodyPr wrap="square" anchor="t" lIns="0" rIns="0" tIns="0" bIns="0">
            <a:spAutoFit/>
          </a:bodyPr>
          <a:lstStyle/>
          <a:p>
            <a:pPr algn="l"/>
            <a:r>
              <a:rPr sz="1300" b="1" i="0">
                <a:solidFill>
                  <a:srgbClr val="D1282E"/>
                </a:solidFill>
                <a:latin typeface="Nirmala UI"/>
              </a:rPr>
              <a:t>ANTI-PATTERNS TO AVOID</a:t>
            </a:r>
          </a:p>
        </p:txBody>
      </p:sp>
      <p:sp>
        <p:nvSpPr>
          <p:cNvPr id="22" name="Oval 21"/>
          <p:cNvSpPr/>
          <p:nvPr/>
        </p:nvSpPr>
        <p:spPr>
          <a:xfrm>
            <a:off x="7772400" y="1673352"/>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3" name="TextBox 22"/>
          <p:cNvSpPr txBox="1"/>
          <p:nvPr/>
        </p:nvSpPr>
        <p:spPr>
          <a:xfrm>
            <a:off x="8138160" y="1645920"/>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updateMany({}) or deleteMany({})</a:t>
            </a:r>
          </a:p>
        </p:txBody>
      </p:sp>
      <p:sp>
        <p:nvSpPr>
          <p:cNvPr id="24" name="Oval 23"/>
          <p:cNvSpPr/>
          <p:nvPr/>
        </p:nvSpPr>
        <p:spPr>
          <a:xfrm>
            <a:off x="7772400" y="1984248"/>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5" name="TextBox 24"/>
          <p:cNvSpPr txBox="1"/>
          <p:nvPr/>
        </p:nvSpPr>
        <p:spPr>
          <a:xfrm>
            <a:off x="8138160" y="1956816"/>
            <a:ext cx="3566160" cy="475996"/>
          </a:xfrm>
          <a:prstGeom prst="rect">
            <a:avLst/>
          </a:prstGeom>
          <a:noFill/>
        </p:spPr>
        <p:txBody>
          <a:bodyPr wrap="square" anchor="ctr" lIns="0" rIns="0" tIns="0" bIns="0">
            <a:spAutoFit/>
          </a:bodyPr>
          <a:lstStyle/>
          <a:p>
            <a:pPr algn="l"/>
            <a:r>
              <a:rPr sz="1300" b="0" i="0">
                <a:solidFill>
                  <a:srgbClr val="000000"/>
                </a:solidFill>
                <a:latin typeface="Nirmala UI"/>
              </a:rPr>
              <a:t>$set on a parent object instead of one path</a:t>
            </a:r>
          </a:p>
        </p:txBody>
      </p:sp>
      <p:sp>
        <p:nvSpPr>
          <p:cNvPr id="26" name="Oval 25"/>
          <p:cNvSpPr/>
          <p:nvPr/>
        </p:nvSpPr>
        <p:spPr>
          <a:xfrm>
            <a:off x="7772400" y="2460244"/>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8138160" y="2432812"/>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$push where values must be unique</a:t>
            </a:r>
          </a:p>
        </p:txBody>
      </p:sp>
      <p:sp>
        <p:nvSpPr>
          <p:cNvPr id="28" name="Oval 27"/>
          <p:cNvSpPr/>
          <p:nvPr/>
        </p:nvSpPr>
        <p:spPr>
          <a:xfrm>
            <a:off x="7772400" y="2771140"/>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8138160" y="2743708"/>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skip() and limit() without sort()</a:t>
            </a:r>
          </a:p>
        </p:txBody>
      </p:sp>
      <p:sp>
        <p:nvSpPr>
          <p:cNvPr id="30" name="Oval 29"/>
          <p:cNvSpPr/>
          <p:nvPr/>
        </p:nvSpPr>
        <p:spPr>
          <a:xfrm>
            <a:off x="7772400" y="3082036"/>
            <a:ext cx="256032" cy="256032"/>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8138160" y="3054604"/>
            <a:ext cx="3566160" cy="310896"/>
          </a:xfrm>
          <a:prstGeom prst="rect">
            <a:avLst/>
          </a:prstGeom>
          <a:noFill/>
        </p:spPr>
        <p:txBody>
          <a:bodyPr wrap="square" anchor="ctr" lIns="0" rIns="0" tIns="0" bIns="0">
            <a:spAutoFit/>
          </a:bodyPr>
          <a:lstStyle/>
          <a:p>
            <a:pPr algn="l"/>
            <a:r>
              <a:rPr sz="1300" b="0" i="0">
                <a:solidFill>
                  <a:srgbClr val="000000"/>
                </a:solidFill>
                <a:latin typeface="Nirmala UI"/>
              </a:rPr>
              <a:t>Writing without reading the result</a:t>
            </a:r>
          </a:p>
        </p:txBody>
      </p:sp>
      <p:sp>
        <p:nvSpPr>
          <p:cNvPr id="32" name="Rounded Rectangle 31"/>
          <p:cNvSpPr/>
          <p:nvPr/>
        </p:nvSpPr>
        <p:spPr>
          <a:xfrm>
            <a:off x="7772400" y="3493516"/>
            <a:ext cx="3931920" cy="107594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3" name="TextBox 32"/>
          <p:cNvSpPr txBox="1"/>
          <p:nvPr/>
        </p:nvSpPr>
        <p:spPr>
          <a:xfrm>
            <a:off x="7955279" y="3493516"/>
            <a:ext cx="3566160" cy="1075944"/>
          </a:xfrm>
          <a:prstGeom prst="rect">
            <a:avLst/>
          </a:prstGeom>
          <a:noFill/>
        </p:spPr>
        <p:txBody>
          <a:bodyPr wrap="square" anchor="ctr" lIns="0" rIns="0" tIns="0" bIns="0">
            <a:spAutoFit/>
          </a:bodyPr>
          <a:lstStyle/>
          <a:p>
            <a:pPr algn="l"/>
            <a:r>
              <a:rPr sz="1200" b="1" i="0">
                <a:solidFill>
                  <a:srgbClr val="D1282E"/>
                </a:solidFill>
                <a:latin typeface="Nirmala UI"/>
              </a:rPr>
              <a:t>REMEMBER   </a:t>
            </a:r>
            <a:r>
              <a:rPr sz="1200" b="0" i="0">
                <a:solidFill>
                  <a:srgbClr val="000000"/>
                </a:solidFill>
                <a:latin typeface="Nirmala UI"/>
              </a:rPr>
              <a:t>Preview, count, write, then verify.</a:t>
            </a:r>
          </a:p>
        </p:txBody>
      </p:sp>
      <p:sp>
        <p:nvSpPr>
          <p:cNvPr id="34" name="Rounded Rectangle 3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Most query bugs are a wrong name, case, type or path — most write disasters are an unchecked filter.</a:t>
            </a:r>
          </a:p>
        </p:txBody>
      </p:sp>
      <p:sp>
        <p:nvSpPr>
          <p:cNvPr id="36" name="Rectangle 3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MODULE 4 AT A GLANCE</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Build a precise filter, send it, execute, read the result, verify.</a:t>
            </a:r>
          </a:p>
        </p:txBody>
      </p:sp>
      <p:sp>
        <p:nvSpPr>
          <p:cNvPr id="4" name="Rounded Rectangle 3"/>
          <p:cNvSpPr/>
          <p:nvPr/>
        </p:nvSpPr>
        <p:spPr>
          <a:xfrm>
            <a:off x="2076583" y="1316736"/>
            <a:ext cx="8008353" cy="4498848"/>
          </a:xfrm>
          <a:prstGeom prst="roundRect">
            <a:avLst>
              <a:gd name="adj" fmla="val 3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pic>
        <p:nvPicPr>
          <p:cNvPr id="5" name="Diagram 47" descr="image.jpg"/>
          <p:cNvPicPr>
            <a:picLocks noChangeAspect="1"/>
          </p:cNvPicPr>
          <p:nvPr/>
        </p:nvPicPr>
        <p:blipFill>
          <a:blip r:embed="rId2"/>
          <a:stretch>
            <a:fillRect/>
          </a:stretch>
        </p:blipFill>
        <p:spPr>
          <a:xfrm>
            <a:off x="2149735" y="1389888"/>
            <a:ext cx="7862049" cy="4352544"/>
          </a:xfrm>
          <a:prstGeom prst="rect">
            <a:avLst/>
          </a:prstGeom>
        </p:spPr>
      </p:pic>
      <p:sp>
        <p:nvSpPr>
          <p:cNvPr id="6" name="Rounded Rectangle 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Every query and every write follows one loop: precise filter, execute, read the result, verify.</a:t>
            </a:r>
          </a:p>
        </p:txBody>
      </p:sp>
      <p:sp>
        <p:nvSpPr>
          <p:cNvPr id="8" name="Rectangle 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1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KNOWLEDGE CHECK</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Answer in your own words — then compare with a partner.</a:t>
            </a:r>
          </a:p>
        </p:txBody>
      </p:sp>
      <p:sp>
        <p:nvSpPr>
          <p:cNvPr id="4" name="Rounded Rectangle 3"/>
          <p:cNvSpPr/>
          <p:nvPr/>
        </p:nvSpPr>
        <p:spPr>
          <a:xfrm>
            <a:off x="45720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Oval 4"/>
          <p:cNvSpPr/>
          <p:nvPr/>
        </p:nvSpPr>
        <p:spPr>
          <a:xfrm>
            <a:off x="603504" y="1565452"/>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6" name="TextBox 5"/>
          <p:cNvSpPr txBox="1"/>
          <p:nvPr/>
        </p:nvSpPr>
        <p:spPr>
          <a:xfrm>
            <a:off x="114300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findOne() or find() — what does each return?</a:t>
            </a:r>
          </a:p>
        </p:txBody>
      </p:sp>
      <p:sp>
        <p:nvSpPr>
          <p:cNvPr id="7" name="Rounded Rectangle 6"/>
          <p:cNvSpPr/>
          <p:nvPr/>
        </p:nvSpPr>
        <p:spPr>
          <a:xfrm>
            <a:off x="45720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Oval 7"/>
          <p:cNvSpPr/>
          <p:nvPr/>
        </p:nvSpPr>
        <p:spPr>
          <a:xfrm>
            <a:off x="603504" y="2593238"/>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9" name="TextBox 8"/>
          <p:cNvSpPr txBox="1"/>
          <p:nvPr/>
        </p:nvSpPr>
        <p:spPr>
          <a:xfrm>
            <a:off x="114300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the filter {} match?</a:t>
            </a:r>
          </a:p>
        </p:txBody>
      </p:sp>
      <p:sp>
        <p:nvSpPr>
          <p:cNvPr id="10" name="Rounded Rectangle 9"/>
          <p:cNvSpPr/>
          <p:nvPr/>
        </p:nvSpPr>
        <p:spPr>
          <a:xfrm>
            <a:off x="45720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1" name="Oval 10"/>
          <p:cNvSpPr/>
          <p:nvPr/>
        </p:nvSpPr>
        <p:spPr>
          <a:xfrm>
            <a:off x="603504" y="3621024"/>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12" name="TextBox 11"/>
          <p:cNvSpPr txBox="1"/>
          <p:nvPr/>
        </p:nvSpPr>
        <p:spPr>
          <a:xfrm>
            <a:off x="114300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How do you query a nested field?</a:t>
            </a:r>
          </a:p>
        </p:txBody>
      </p:sp>
      <p:sp>
        <p:nvSpPr>
          <p:cNvPr id="13" name="Rounded Rectangle 12"/>
          <p:cNvSpPr/>
          <p:nvPr/>
        </p:nvSpPr>
        <p:spPr>
          <a:xfrm>
            <a:off x="45720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Oval 13"/>
          <p:cNvSpPr/>
          <p:nvPr/>
        </p:nvSpPr>
        <p:spPr>
          <a:xfrm>
            <a:off x="603504" y="4648809"/>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4</a:t>
            </a:r>
          </a:p>
        </p:txBody>
      </p:sp>
      <p:sp>
        <p:nvSpPr>
          <p:cNvPr id="15" name="TextBox 14"/>
          <p:cNvSpPr txBox="1"/>
          <p:nvPr/>
        </p:nvSpPr>
        <p:spPr>
          <a:xfrm>
            <a:off x="114300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When is $elemMatch required?</a:t>
            </a:r>
          </a:p>
        </p:txBody>
      </p:sp>
      <p:sp>
        <p:nvSpPr>
          <p:cNvPr id="16" name="Rounded Rectangle 15"/>
          <p:cNvSpPr/>
          <p:nvPr/>
        </p:nvSpPr>
        <p:spPr>
          <a:xfrm>
            <a:off x="45720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7" name="Oval 16"/>
          <p:cNvSpPr/>
          <p:nvPr/>
        </p:nvSpPr>
        <p:spPr>
          <a:xfrm>
            <a:off x="603504" y="5676595"/>
            <a:ext cx="384048" cy="384048"/>
          </a:xfrm>
          <a:prstGeom prst="ellipse">
            <a:avLst/>
          </a:prstGeom>
          <a:solidFill>
            <a:srgbClr val="A86D33"/>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5</a:t>
            </a:r>
          </a:p>
        </p:txBody>
      </p:sp>
      <p:sp>
        <p:nvSpPr>
          <p:cNvPr id="18" name="TextBox 17"/>
          <p:cNvSpPr txBox="1"/>
          <p:nvPr/>
        </p:nvSpPr>
        <p:spPr>
          <a:xfrm>
            <a:off x="114300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is the projection mixing rule?</a:t>
            </a:r>
          </a:p>
        </p:txBody>
      </p:sp>
      <p:sp>
        <p:nvSpPr>
          <p:cNvPr id="19" name="Rounded Rectangle 18"/>
          <p:cNvSpPr/>
          <p:nvPr/>
        </p:nvSpPr>
        <p:spPr>
          <a:xfrm>
            <a:off x="6263640" y="1298448"/>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Oval 19"/>
          <p:cNvSpPr/>
          <p:nvPr/>
        </p:nvSpPr>
        <p:spPr>
          <a:xfrm>
            <a:off x="6409944" y="1565452"/>
            <a:ext cx="384048" cy="384048"/>
          </a:xfrm>
          <a:prstGeom prst="ellipse">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6</a:t>
            </a:r>
          </a:p>
        </p:txBody>
      </p:sp>
      <p:sp>
        <p:nvSpPr>
          <p:cNvPr id="21" name="TextBox 20"/>
          <p:cNvSpPr txBox="1"/>
          <p:nvPr/>
        </p:nvSpPr>
        <p:spPr>
          <a:xfrm>
            <a:off x="6949440" y="1298448"/>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$push or $addToSet — what is the difference?</a:t>
            </a:r>
          </a:p>
        </p:txBody>
      </p:sp>
      <p:sp>
        <p:nvSpPr>
          <p:cNvPr id="22" name="Rounded Rectangle 21"/>
          <p:cNvSpPr/>
          <p:nvPr/>
        </p:nvSpPr>
        <p:spPr>
          <a:xfrm>
            <a:off x="6263640" y="2326233"/>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3" name="Oval 22"/>
          <p:cNvSpPr/>
          <p:nvPr/>
        </p:nvSpPr>
        <p:spPr>
          <a:xfrm>
            <a:off x="6409944" y="2593238"/>
            <a:ext cx="384048" cy="384048"/>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7</a:t>
            </a:r>
          </a:p>
        </p:txBody>
      </p:sp>
      <p:sp>
        <p:nvSpPr>
          <p:cNvPr id="24" name="TextBox 23"/>
          <p:cNvSpPr txBox="1"/>
          <p:nvPr/>
        </p:nvSpPr>
        <p:spPr>
          <a:xfrm>
            <a:off x="6949440" y="2326233"/>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updateOne() with $set, or replaceOne()?</a:t>
            </a:r>
          </a:p>
        </p:txBody>
      </p:sp>
      <p:sp>
        <p:nvSpPr>
          <p:cNvPr id="25" name="Rounded Rectangle 24"/>
          <p:cNvSpPr/>
          <p:nvPr/>
        </p:nvSpPr>
        <p:spPr>
          <a:xfrm>
            <a:off x="6263640" y="3354019"/>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Oval 25"/>
          <p:cNvSpPr/>
          <p:nvPr/>
        </p:nvSpPr>
        <p:spPr>
          <a:xfrm>
            <a:off x="6409944" y="3621024"/>
            <a:ext cx="384048" cy="38404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8</a:t>
            </a:r>
          </a:p>
        </p:txBody>
      </p:sp>
      <p:sp>
        <p:nvSpPr>
          <p:cNvPr id="27" name="TextBox 26"/>
          <p:cNvSpPr txBox="1"/>
          <p:nvPr/>
        </p:nvSpPr>
        <p:spPr>
          <a:xfrm>
            <a:off x="6949440" y="3354019"/>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What does upsert: true do?</a:t>
            </a:r>
          </a:p>
        </p:txBody>
      </p:sp>
      <p:sp>
        <p:nvSpPr>
          <p:cNvPr id="28" name="Rounded Rectangle 27"/>
          <p:cNvSpPr/>
          <p:nvPr/>
        </p:nvSpPr>
        <p:spPr>
          <a:xfrm>
            <a:off x="6263640" y="4381804"/>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Oval 28"/>
          <p:cNvSpPr/>
          <p:nvPr/>
        </p:nvSpPr>
        <p:spPr>
          <a:xfrm>
            <a:off x="6409944" y="4648809"/>
            <a:ext cx="384048" cy="384048"/>
          </a:xfrm>
          <a:prstGeom prst="ellipse">
            <a:avLst/>
          </a:prstGeom>
          <a:solidFill>
            <a:srgbClr val="287271"/>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9</a:t>
            </a:r>
          </a:p>
        </p:txBody>
      </p:sp>
      <p:sp>
        <p:nvSpPr>
          <p:cNvPr id="30" name="TextBox 29"/>
          <p:cNvSpPr txBox="1"/>
          <p:nvPr/>
        </p:nvSpPr>
        <p:spPr>
          <a:xfrm>
            <a:off x="6949440" y="4381804"/>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matchedCount 1, modifiedCount 0 — meaning?</a:t>
            </a:r>
          </a:p>
        </p:txBody>
      </p:sp>
      <p:sp>
        <p:nvSpPr>
          <p:cNvPr id="31" name="Rounded Rectangle 30"/>
          <p:cNvSpPr/>
          <p:nvPr/>
        </p:nvSpPr>
        <p:spPr>
          <a:xfrm>
            <a:off x="6263640" y="5409590"/>
            <a:ext cx="5440680" cy="918057"/>
          </a:xfrm>
          <a:prstGeom prst="roundRect">
            <a:avLst>
              <a:gd name="adj" fmla="val 8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32" name="Oval 31"/>
          <p:cNvSpPr/>
          <p:nvPr/>
        </p:nvSpPr>
        <p:spPr>
          <a:xfrm>
            <a:off x="6409944" y="5676595"/>
            <a:ext cx="384048" cy="38404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10</a:t>
            </a:r>
          </a:p>
        </p:txBody>
      </p:sp>
      <p:sp>
        <p:nvSpPr>
          <p:cNvPr id="33" name="TextBox 32"/>
          <p:cNvSpPr txBox="1"/>
          <p:nvPr/>
        </p:nvSpPr>
        <p:spPr>
          <a:xfrm>
            <a:off x="6949440" y="5409590"/>
            <a:ext cx="4617720" cy="918057"/>
          </a:xfrm>
          <a:prstGeom prst="rect">
            <a:avLst/>
          </a:prstGeom>
          <a:noFill/>
        </p:spPr>
        <p:txBody>
          <a:bodyPr wrap="square" anchor="ctr" lIns="0" rIns="0" tIns="0" bIns="0">
            <a:spAutoFit/>
          </a:bodyPr>
          <a:lstStyle/>
          <a:p>
            <a:pPr algn="l"/>
            <a:r>
              <a:rPr sz="1500" b="0" i="0">
                <a:solidFill>
                  <a:srgbClr val="000000"/>
                </a:solidFill>
                <a:latin typeface="Nirmala UI"/>
              </a:rPr>
              <a:t>Why does XBAD miss every price range?</a:t>
            </a:r>
          </a:p>
        </p:txBody>
      </p:sp>
      <p:sp>
        <p:nvSpPr>
          <p:cNvPr id="34" name="Rectangle 33"/>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7"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4.1 — BUILD COMPARISON FILTERS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4 checkpoint A: ranges and lists with Decimal128.</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A</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15 MIN</a:t>
            </a:r>
          </a:p>
        </p:txBody>
      </p:sp>
      <p:sp>
        <p:nvSpPr>
          <p:cNvPr id="6" name="Rounded Rectangle 5"/>
          <p:cNvSpPr/>
          <p:nvPr/>
        </p:nvSpPr>
        <p:spPr>
          <a:xfrm>
            <a:off x="6473952" y="1298448"/>
            <a:ext cx="5230368"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labs/day-02/exercises/exercise-4.1-build-comparison-filters.md</a:t>
            </a:r>
          </a:p>
        </p:txBody>
      </p:sp>
      <p:sp>
        <p:nvSpPr>
          <p:cNvPr id="7" name="Rounded Rectangle 6"/>
          <p:cNvSpPr/>
          <p:nvPr/>
        </p:nvSpPr>
        <p:spPr>
          <a:xfrm>
            <a:off x="457200" y="1865376"/>
            <a:ext cx="384048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Money in training_store is Decimal128 — except XBAD, planted with a string price.</a:t>
            </a:r>
          </a:p>
        </p:txBody>
      </p:sp>
      <p:sp>
        <p:nvSpPr>
          <p:cNvPr id="11" name="Rounded Rectangle 10"/>
          <p:cNvSpPr/>
          <p:nvPr/>
        </p:nvSpPr>
        <p:spPr>
          <a:xfrm>
            <a:off x="566928" y="3229356"/>
            <a:ext cx="3621024" cy="121894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1  products: price &gt; 100</a:t>
            </a:r>
          </a:p>
          <a:p>
            <a:pPr algn="l"/>
            <a:r>
              <a:rPr sz="1100" b="0" i="0">
                <a:solidFill>
                  <a:srgbClr val="000000"/>
                </a:solidFill>
                <a:latin typeface="Consolas"/>
              </a:rPr>
              <a:t>2  products: 50 ≤ price ≤ 500</a:t>
            </a:r>
          </a:p>
          <a:p>
            <a:pPr algn="l"/>
            <a:r>
              <a:rPr sz="1100" b="0" i="0">
                <a:solidFill>
                  <a:srgbClr val="000000"/>
                </a:solidFill>
                <a:latin typeface="Consolas"/>
              </a:rPr>
              <a:t>3  orders:   total &gt; 1000</a:t>
            </a:r>
          </a:p>
          <a:p>
            <a:pPr algn="l"/>
            <a:r>
              <a:rPr sz="1100" b="0" i="0">
                <a:solidFill>
                  <a:srgbClr val="000000"/>
                </a:solidFill>
                <a:latin typeface="Consolas"/>
              </a:rPr>
              <a:t>4  reviews:  rating ≥ 4</a:t>
            </a:r>
          </a:p>
          <a:p>
            <a:pPr algn="l"/>
            <a:r>
              <a:rPr sz="1100" b="0" i="0">
                <a:solidFill>
                  <a:srgbClr val="000000"/>
                </a:solidFill>
                <a:latin typeface="Consolas"/>
              </a:rPr>
              <a:t>5  products: not LAPTOP or SHOE</a:t>
            </a:r>
          </a:p>
        </p:txBody>
      </p:sp>
      <p:sp>
        <p:nvSpPr>
          <p:cNvPr id="12" name="Rounded Rectangle 11"/>
          <p:cNvSpPr/>
          <p:nvPr/>
        </p:nvSpPr>
        <p:spPr>
          <a:xfrm>
            <a:off x="4526280" y="1865376"/>
            <a:ext cx="388620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Write 1 and 2 with Decimal128 values</a:t>
            </a:r>
          </a:p>
        </p:txBody>
      </p:sp>
      <p:sp>
        <p:nvSpPr>
          <p:cNvPr id="17" name="Oval 16"/>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994152"/>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Write 3 and 4 on orders and reviews</a:t>
            </a:r>
          </a:p>
        </p:txBody>
      </p:sp>
      <p:sp>
        <p:nvSpPr>
          <p:cNvPr id="19" name="Oval 18"/>
          <p:cNvSpPr/>
          <p:nvPr/>
        </p:nvSpPr>
        <p:spPr>
          <a:xfrm>
            <a:off x="4663440" y="3647440"/>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592576"/>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Write 5 with $nin</a:t>
            </a:r>
          </a:p>
        </p:txBody>
      </p:sp>
      <p:sp>
        <p:nvSpPr>
          <p:cNvPr id="21" name="Oval 20"/>
          <p:cNvSpPr/>
          <p:nvPr/>
        </p:nvSpPr>
        <p:spPr>
          <a:xfrm>
            <a:off x="4663440" y="4104640"/>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4049776"/>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Explain why XBAD never appears in 1–2</a:t>
            </a:r>
          </a:p>
        </p:txBody>
      </p:sp>
      <p:sp>
        <p:nvSpPr>
          <p:cNvPr id="23" name="Rounded Rectangle 22"/>
          <p:cNvSpPr/>
          <p:nvPr/>
        </p:nvSpPr>
        <p:spPr>
          <a:xfrm>
            <a:off x="8641080" y="1865376"/>
            <a:ext cx="3063240" cy="3421887"/>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1  L100, L110, L190, S200, A500</a:t>
            </a:r>
          </a:p>
        </p:txBody>
      </p:sp>
      <p:sp>
        <p:nvSpPr>
          <p:cNvPr id="28" name="Oval 27"/>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2  L190, S200, S210, B300, A500</a:t>
            </a:r>
          </a:p>
        </p:txBody>
      </p:sp>
      <p:sp>
        <p:nvSpPr>
          <p:cNvPr id="30" name="Oval 29"/>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3  Six orders, O5001 to O6401</a:t>
            </a:r>
          </a:p>
        </p:txBody>
      </p:sp>
      <p:sp>
        <p:nvSpPr>
          <p:cNvPr id="32" name="Oval 31"/>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4043171"/>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4  Five of the six reviews</a:t>
            </a:r>
          </a:p>
        </p:txBody>
      </p:sp>
      <p:sp>
        <p:nvSpPr>
          <p:cNvPr id="34" name="Oval 33"/>
          <p:cNvSpPr/>
          <p:nvPr/>
        </p:nvSpPr>
        <p:spPr>
          <a:xfrm>
            <a:off x="8778240" y="4518659"/>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463795"/>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5  Seven products, XBAD included</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Compare values of the stored BSON type — Decimal128 for money — and check every result against the data.</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4.2 — QUERY ARRAYS OF DOCUMENTS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4 checkpoint B: prove the O5001 $elemMatch trap.</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B</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15 MIN</a:t>
            </a:r>
          </a:p>
        </p:txBody>
      </p:sp>
      <p:sp>
        <p:nvSpPr>
          <p:cNvPr id="6" name="Rounded Rectangle 5"/>
          <p:cNvSpPr/>
          <p:nvPr/>
        </p:nvSpPr>
        <p:spPr>
          <a:xfrm>
            <a:off x="6396228" y="1298448"/>
            <a:ext cx="5308092"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labs/day-02/exercises/exercise-4.2-query-arrays-of-documents.md</a:t>
            </a:r>
          </a:p>
        </p:txBody>
      </p:sp>
      <p:sp>
        <p:nvSpPr>
          <p:cNvPr id="7" name="Rounded Rectangle 6"/>
          <p:cNvSpPr/>
          <p:nvPr/>
        </p:nvSpPr>
        <p:spPr>
          <a:xfrm>
            <a:off x="457200" y="1865376"/>
            <a:ext cx="384048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O5001 holds L100 × 1 and A410 × 2. Show why dot notation is not enough.</a:t>
            </a:r>
          </a:p>
        </p:txBody>
      </p:sp>
      <p:sp>
        <p:nvSpPr>
          <p:cNvPr id="11" name="Rounded Rectangle 10"/>
          <p:cNvSpPr/>
          <p:nvPr/>
        </p:nvSpPr>
        <p:spPr>
          <a:xfrm>
            <a:off x="566928" y="3012440"/>
            <a:ext cx="3621024" cy="140055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1  "items.sku": "L100"</a:t>
            </a:r>
          </a:p>
          <a:p>
            <a:pPr algn="l"/>
            <a:r>
              <a:rPr sz="1100" b="0" i="0">
                <a:solidFill>
                  <a:srgbClr val="000000"/>
                </a:solidFill>
                <a:latin typeface="Consolas"/>
              </a:rPr>
              <a:t>2  "items.quantity": { $gte: 2 }</a:t>
            </a:r>
          </a:p>
          <a:p>
            <a:pPr algn="l"/>
            <a:r>
              <a:rPr sz="1100" b="0" i="0">
                <a:solidFill>
                  <a:srgbClr val="000000"/>
                </a:solidFill>
                <a:latin typeface="Consolas"/>
              </a:rPr>
              <a:t>3  $elemMatch: L100 and qty ≥ 2</a:t>
            </a:r>
          </a:p>
          <a:p>
            <a:pPr algn="l"/>
            <a:r>
              <a:rPr sz="1100" b="0" i="0">
                <a:solidFill>
                  <a:srgbClr val="000000"/>
                </a:solidFill>
                <a:latin typeface="Consolas"/>
              </a:rPr>
              <a:t>4  1 and 2 with dot notation</a:t>
            </a:r>
          </a:p>
          <a:p>
            <a:pPr algn="l"/>
            <a:r>
              <a:rPr sz="1100" b="0" i="0">
                <a:solidFill>
                  <a:srgbClr val="000000"/>
                </a:solidFill>
                <a:latin typeface="Consolas"/>
              </a:rPr>
              <a:t>5  addresses $elemMatch:</a:t>
            </a:r>
          </a:p>
          <a:p>
            <a:pPr algn="l"/>
            <a:r>
              <a:rPr sz="1100" b="0" i="0">
                <a:solidFill>
                  <a:srgbClr val="000000"/>
                </a:solidFill>
                <a:latin typeface="Consolas"/>
              </a:rPr>
              <a:t>   SHIPPING in Toronto</a:t>
            </a:r>
          </a:p>
        </p:txBody>
      </p:sp>
      <p:sp>
        <p:nvSpPr>
          <p:cNvPr id="12" name="Rounded Rectangle 11"/>
          <p:cNvSpPr/>
          <p:nvPr/>
        </p:nvSpPr>
        <p:spPr>
          <a:xfrm>
            <a:off x="4526280" y="1865376"/>
            <a:ext cx="388620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Run steps 1 and 2; list the orders</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Run steps 3 and 4 side by side</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Name the false positive and why</a:t>
            </a:r>
          </a:p>
        </p:txBody>
      </p:sp>
      <p:sp>
        <p:nvSpPr>
          <p:cNvPr id="21" name="Oval 20"/>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7673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Query addresses with $elemMatch</a:t>
            </a:r>
          </a:p>
        </p:txBody>
      </p:sp>
      <p:sp>
        <p:nvSpPr>
          <p:cNvPr id="23" name="Rounded Rectangle 22"/>
          <p:cNvSpPr/>
          <p:nvPr/>
        </p:nvSpPr>
        <p:spPr>
          <a:xfrm>
            <a:off x="8641080" y="1865376"/>
            <a:ext cx="3063240" cy="3036315"/>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1  O5001, O6101, O6301, O6401</a:t>
            </a:r>
          </a:p>
        </p:txBody>
      </p:sp>
      <p:sp>
        <p:nvSpPr>
          <p:cNvPr id="28" name="Oval 27"/>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9448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2  Six orders</a:t>
            </a:r>
          </a:p>
        </p:txBody>
      </p:sp>
      <p:sp>
        <p:nvSpPr>
          <p:cNvPr id="30" name="Oval 29"/>
          <p:cNvSpPr/>
          <p:nvPr/>
        </p:nvSpPr>
        <p:spPr>
          <a:xfrm>
            <a:off x="8778240" y="3420364"/>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3655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3  O6401 only</a:t>
            </a:r>
          </a:p>
        </p:txBody>
      </p:sp>
      <p:sp>
        <p:nvSpPr>
          <p:cNvPr id="32" name="Oval 31"/>
          <p:cNvSpPr/>
          <p:nvPr/>
        </p:nvSpPr>
        <p:spPr>
          <a:xfrm>
            <a:off x="8778240" y="38409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786124"/>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4  O5001 and O6401</a:t>
            </a:r>
          </a:p>
        </p:txBody>
      </p:sp>
      <p:sp>
        <p:nvSpPr>
          <p:cNvPr id="34" name="Oval 33"/>
          <p:cNvSpPr/>
          <p:nvPr/>
        </p:nvSpPr>
        <p:spPr>
          <a:xfrm>
            <a:off x="8778240" y="4261611"/>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20674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5  C101</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Dot notation lets different elements satisfy different conditions; $elemMatch makes one element satisfy them all.</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4.3 — PERFORM AN UPSERT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4 checkpoint C: the same upsert, run twice.</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C</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7018020" y="1298448"/>
            <a:ext cx="4686300"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labs/day-02/exercises/exercise-4.3-perform-an-upsert.md</a:t>
            </a:r>
          </a:p>
        </p:txBody>
      </p:sp>
      <p:sp>
        <p:nvSpPr>
          <p:cNvPr id="7" name="Rounded Rectangle 6"/>
          <p:cNvSpPr/>
          <p:nvPr/>
        </p:nvSpPr>
        <p:spPr>
          <a:xfrm>
            <a:off x="457200" y="1865376"/>
            <a:ext cx="3840480" cy="322046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A700 is not in the fresh dataset. Run one upsert twice and compare the write results.</a:t>
            </a:r>
          </a:p>
        </p:txBody>
      </p:sp>
      <p:sp>
        <p:nvSpPr>
          <p:cNvPr id="11" name="Rounded Rectangle 10"/>
          <p:cNvSpPr/>
          <p:nvPr/>
        </p:nvSpPr>
        <p:spPr>
          <a:xfrm>
            <a:off x="566928" y="3229356"/>
            <a:ext cx="3621024" cy="158216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db.products.updateOne(</a:t>
            </a:r>
          </a:p>
          <a:p>
            <a:pPr algn="l"/>
            <a:r>
              <a:rPr sz="1100" b="0" i="0">
                <a:solidFill>
                  <a:srgbClr val="000000"/>
                </a:solidFill>
                <a:latin typeface="Consolas"/>
              </a:rPr>
              <a:t>  { sku: "A700" },</a:t>
            </a:r>
          </a:p>
          <a:p>
            <a:pPr algn="l"/>
            <a:r>
              <a:rPr sz="1100" b="0" i="0">
                <a:solidFill>
                  <a:srgbClr val="000000"/>
                </a:solidFill>
                <a:latin typeface="Consolas"/>
              </a:rPr>
              <a:t>  { $set: { name, category,</a:t>
            </a:r>
          </a:p>
          <a:p>
            <a:pPr algn="l"/>
            <a:r>
              <a:rPr sz="1100" b="0" i="0">
                <a:solidFill>
                  <a:srgbClr val="000000"/>
                </a:solidFill>
                <a:latin typeface="Consolas"/>
              </a:rPr>
              <a:t>      price, active, updatedAt },</a:t>
            </a:r>
          </a:p>
          <a:p>
            <a:pPr algn="l"/>
            <a:r>
              <a:rPr sz="1100" b="0" i="0">
                <a:solidFill>
                  <a:srgbClr val="000000"/>
                </a:solidFill>
                <a:latin typeface="Consolas"/>
              </a:rPr>
              <a:t>    $setOnInsert: { createdAt,</a:t>
            </a:r>
          </a:p>
          <a:p>
            <a:pPr algn="l"/>
            <a:r>
              <a:rPr sz="1100" b="0" i="0">
                <a:solidFill>
                  <a:srgbClr val="000000"/>
                </a:solidFill>
                <a:latin typeface="Consolas"/>
              </a:rPr>
              <a:t>      stockQuantity: 25 } },</a:t>
            </a:r>
          </a:p>
          <a:p>
            <a:pPr algn="l"/>
            <a:r>
              <a:rPr sz="1100" b="0" i="0">
                <a:solidFill>
                  <a:srgbClr val="000000"/>
                </a:solidFill>
                <a:latin typeface="Consolas"/>
              </a:rPr>
              <a:t>  { upsert: true })</a:t>
            </a:r>
          </a:p>
        </p:txBody>
      </p:sp>
      <p:sp>
        <p:nvSpPr>
          <p:cNvPr id="12" name="Rounded Rectangle 11"/>
          <p:cNvSpPr/>
          <p:nvPr/>
        </p:nvSpPr>
        <p:spPr>
          <a:xfrm>
            <a:off x="4526280" y="1865376"/>
            <a:ext cx="3886200" cy="322046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Run the upsert; read the result</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findOne A700; note createdAt</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Run the same upsert again</a:t>
            </a:r>
          </a:p>
        </p:txBody>
      </p:sp>
      <p:sp>
        <p:nvSpPr>
          <p:cNvPr id="21" name="Oval 20"/>
          <p:cNvSpPr/>
          <p:nvPr/>
        </p:nvSpPr>
        <p:spPr>
          <a:xfrm>
            <a:off x="4663440" y="3822191"/>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7673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Compare both results in two bullets</a:t>
            </a:r>
          </a:p>
        </p:txBody>
      </p:sp>
      <p:sp>
        <p:nvSpPr>
          <p:cNvPr id="23" name="Rounded Rectangle 22"/>
          <p:cNvSpPr/>
          <p:nvPr/>
        </p:nvSpPr>
        <p:spPr>
          <a:xfrm>
            <a:off x="8641080" y="1865376"/>
            <a:ext cx="3063240" cy="322046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Run 1: matched 0, upsertedCount 1</a:t>
            </a:r>
          </a:p>
        </p:txBody>
      </p:sp>
      <p:sp>
        <p:nvSpPr>
          <p:cNvPr id="28" name="Oval 27"/>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Run 2: matched 1, modified 1</a:t>
            </a:r>
          </a:p>
        </p:txBody>
      </p:sp>
      <p:sp>
        <p:nvSpPr>
          <p:cNvPr id="30" name="Oval 29"/>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createdAt unchanged after run 2</a:t>
            </a:r>
          </a:p>
        </p:txBody>
      </p:sp>
      <p:sp>
        <p:nvSpPr>
          <p:cNvPr id="32" name="Oval 31"/>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4043171"/>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The filter uses the unique sku</a:t>
            </a:r>
          </a:p>
        </p:txBody>
      </p:sp>
      <p:sp>
        <p:nvSpPr>
          <p:cNvPr id="34" name="Rounded Rectangle 33"/>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Upsert on a unique field and put creation-only fields in $setOnInsert, so a rerun updates instead of duplicating.</a:t>
            </a:r>
          </a:p>
        </p:txBody>
      </p:sp>
      <p:sp>
        <p:nvSpPr>
          <p:cNvPr id="36" name="Rectangle 35"/>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9"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EXERCISE 4.4 — CORRECT UNSAFE OPERATIONS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Module 4 checkpoint D: rewrite three dangerous writes. Don't run them.</a:t>
            </a:r>
          </a:p>
        </p:txBody>
      </p:sp>
      <p:sp>
        <p:nvSpPr>
          <p:cNvPr id="4" name="Rounded Rectangle 3"/>
          <p:cNvSpPr/>
          <p:nvPr/>
        </p:nvSpPr>
        <p:spPr>
          <a:xfrm>
            <a:off x="457200" y="1298448"/>
            <a:ext cx="2436876"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CHECKPOINT D</a:t>
            </a:r>
          </a:p>
        </p:txBody>
      </p:sp>
      <p:sp>
        <p:nvSpPr>
          <p:cNvPr id="5" name="Rounded Rectangle 4"/>
          <p:cNvSpPr/>
          <p:nvPr/>
        </p:nvSpPr>
        <p:spPr>
          <a:xfrm>
            <a:off x="3031236"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10 MIN</a:t>
            </a:r>
          </a:p>
        </p:txBody>
      </p:sp>
      <p:sp>
        <p:nvSpPr>
          <p:cNvPr id="6" name="Rounded Rectangle 5"/>
          <p:cNvSpPr/>
          <p:nvPr/>
        </p:nvSpPr>
        <p:spPr>
          <a:xfrm>
            <a:off x="6396228" y="1298448"/>
            <a:ext cx="5308092"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labs/day-02/exercises/exercise-4.4-correct-unsafe-operations.md</a:t>
            </a:r>
          </a:p>
        </p:txBody>
      </p:sp>
      <p:sp>
        <p:nvSpPr>
          <p:cNvPr id="7" name="Rounded Rectangle 6"/>
          <p:cNvSpPr/>
          <p:nvPr/>
        </p:nvSpPr>
        <p:spPr>
          <a:xfrm>
            <a:off x="457200" y="1865376"/>
            <a:ext cx="384048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543559"/>
          </a:xfrm>
          <a:prstGeom prst="rect">
            <a:avLst/>
          </a:prstGeom>
          <a:noFill/>
        </p:spPr>
        <p:txBody>
          <a:bodyPr wrap="square" anchor="t" lIns="0" rIns="0" tIns="0" bIns="0">
            <a:spAutoFit/>
          </a:bodyPr>
          <a:lstStyle/>
          <a:p>
            <a:pPr algn="l"/>
            <a:r>
              <a:rPr sz="1400" b="0" i="0">
                <a:solidFill>
                  <a:srgbClr val="000000"/>
                </a:solidFill>
                <a:latin typeface="Nirmala UI"/>
              </a:rPr>
              <a:t>A teammate wants to run these. Rewrite each one instead.</a:t>
            </a:r>
          </a:p>
        </p:txBody>
      </p:sp>
      <p:sp>
        <p:nvSpPr>
          <p:cNvPr id="11" name="Rounded Rectangle 10"/>
          <p:cNvSpPr/>
          <p:nvPr/>
        </p:nvSpPr>
        <p:spPr>
          <a:xfrm>
            <a:off x="566928" y="3012440"/>
            <a:ext cx="3621024" cy="158216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db.products.updateMany({},</a:t>
            </a:r>
          </a:p>
          <a:p>
            <a:pPr algn="l"/>
            <a:r>
              <a:rPr sz="1100" b="0" i="0">
                <a:solidFill>
                  <a:srgbClr val="000000"/>
                </a:solidFill>
                <a:latin typeface="Consolas"/>
              </a:rPr>
              <a:t>  { $set: { active: false } })</a:t>
            </a:r>
          </a:p>
          <a:p>
            <a:pPr algn="l"/>
            <a:r>
              <a:rPr sz="1100" b="0" i="0">
                <a:solidFill>
                  <a:srgbClr val="000000"/>
                </a:solidFill>
                <a:latin typeface="Consolas"/>
              </a:rPr>
              <a:t>db.orders.deleteMany({})</a:t>
            </a:r>
          </a:p>
          <a:p>
            <a:pPr algn="l"/>
            <a:r>
              <a:rPr sz="1100" b="0" i="0">
                <a:solidFill>
                  <a:srgbClr val="000000"/>
                </a:solidFill>
                <a:latin typeface="Consolas"/>
              </a:rPr>
              <a:t>db.customers.updateOne(</a:t>
            </a:r>
          </a:p>
          <a:p>
            <a:pPr algn="l"/>
            <a:r>
              <a:rPr sz="1100" b="0" i="0">
                <a:solidFill>
                  <a:srgbClr val="000000"/>
                </a:solidFill>
                <a:latin typeface="Consolas"/>
              </a:rPr>
              <a:t>  { customerNumber: "C101" },</a:t>
            </a:r>
          </a:p>
          <a:p>
            <a:pPr algn="l"/>
            <a:r>
              <a:rPr sz="1100" b="0" i="0">
                <a:solidFill>
                  <a:srgbClr val="000000"/>
                </a:solidFill>
                <a:latin typeface="Consolas"/>
              </a:rPr>
              <a:t>  { $set: { contact:</a:t>
            </a:r>
          </a:p>
          <a:p>
            <a:pPr algn="l"/>
            <a:r>
              <a:rPr sz="1100" b="0" i="0">
                <a:solidFill>
                  <a:srgbClr val="000000"/>
                </a:solidFill>
                <a:latin typeface="Consolas"/>
              </a:rPr>
              <a:t>    { email: "new@example.com" } } })</a:t>
            </a:r>
          </a:p>
        </p:txBody>
      </p:sp>
      <p:sp>
        <p:nvSpPr>
          <p:cNvPr id="12" name="Rounded Rectangle 11"/>
          <p:cNvSpPr/>
          <p:nvPr/>
        </p:nvSpPr>
        <p:spPr>
          <a:xfrm>
            <a:off x="4526280" y="1865376"/>
            <a:ext cx="388620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Name what each command would damage</a:t>
            </a:r>
          </a:p>
        </p:txBody>
      </p:sp>
      <p:sp>
        <p:nvSpPr>
          <p:cNvPr id="17" name="Oval 16"/>
          <p:cNvSpPr/>
          <p:nvPr/>
        </p:nvSpPr>
        <p:spPr>
          <a:xfrm>
            <a:off x="4663440" y="30490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9941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Rewrite 1 with a precise filter</a:t>
            </a:r>
          </a:p>
        </p:txBody>
      </p:sp>
      <p:sp>
        <p:nvSpPr>
          <p:cNvPr id="19" name="Oval 18"/>
          <p:cNvSpPr/>
          <p:nvPr/>
        </p:nvSpPr>
        <p:spPr>
          <a:xfrm>
            <a:off x="4663440" y="35062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4513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Rewrite 2 as find → count → delete</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Rewrite 3 with a dotted path</a:t>
            </a:r>
          </a:p>
        </p:txBody>
      </p:sp>
      <p:sp>
        <p:nvSpPr>
          <p:cNvPr id="23" name="Rounded Rectangle 22"/>
          <p:cNvSpPr/>
          <p:nvPr/>
        </p:nvSpPr>
        <p:spPr>
          <a:xfrm>
            <a:off x="8641080" y="1865376"/>
            <a:ext cx="3063240" cy="329336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4" name="Round Same Side Corner Rectangle 23"/>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5" name="TextBox 24"/>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SOLUTION (AFTER DEBRIEF)</a:t>
            </a:r>
          </a:p>
        </p:txBody>
      </p:sp>
      <p:sp>
        <p:nvSpPr>
          <p:cNvPr id="26" name="Oval 25"/>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7" name="TextBox 26"/>
          <p:cNvSpPr txBox="1"/>
          <p:nvPr/>
        </p:nvSpPr>
        <p:spPr>
          <a:xfrm>
            <a:off x="9116567" y="2395728"/>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1  All 13 products go inactive</a:t>
            </a:r>
          </a:p>
        </p:txBody>
      </p:sp>
      <p:sp>
        <p:nvSpPr>
          <p:cNvPr id="28" name="Oval 27"/>
          <p:cNvSpPr/>
          <p:nvPr/>
        </p:nvSpPr>
        <p:spPr>
          <a:xfrm>
            <a:off x="8778240" y="29997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944876"/>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Safer: { tags: "discontinued" }: 1</a:t>
            </a:r>
          </a:p>
        </p:txBody>
      </p:sp>
      <p:sp>
        <p:nvSpPr>
          <p:cNvPr id="30" name="Oval 29"/>
          <p:cNvSpPr/>
          <p:nvPr/>
        </p:nvSpPr>
        <p:spPr>
          <a:xfrm>
            <a:off x="8778240" y="35488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3494023"/>
            <a:ext cx="2450592" cy="512571"/>
          </a:xfrm>
          <a:prstGeom prst="rect">
            <a:avLst/>
          </a:prstGeom>
          <a:noFill/>
        </p:spPr>
        <p:txBody>
          <a:bodyPr wrap="square" anchor="ctr" lIns="0" rIns="0" tIns="0" bIns="0">
            <a:spAutoFit/>
          </a:bodyPr>
          <a:lstStyle/>
          <a:p>
            <a:pPr algn="l"/>
            <a:r>
              <a:rPr sz="1300" b="0" i="0">
                <a:solidFill>
                  <a:srgbClr val="000000"/>
                </a:solidFill>
                <a:latin typeface="Nirmala UI"/>
              </a:rPr>
              <a:t>2  All 17 orders are deleted</a:t>
            </a:r>
          </a:p>
        </p:txBody>
      </p:sp>
      <p:sp>
        <p:nvSpPr>
          <p:cNvPr id="32" name="Oval 31"/>
          <p:cNvSpPr/>
          <p:nvPr/>
        </p:nvSpPr>
        <p:spPr>
          <a:xfrm>
            <a:off x="8778240" y="4098035"/>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4043171"/>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3  C101 loses her phone</a:t>
            </a:r>
          </a:p>
        </p:txBody>
      </p:sp>
      <p:sp>
        <p:nvSpPr>
          <p:cNvPr id="34" name="Oval 33"/>
          <p:cNvSpPr/>
          <p:nvPr/>
        </p:nvSpPr>
        <p:spPr>
          <a:xfrm>
            <a:off x="8778240" y="4518659"/>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4463795"/>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Use "contact.email" instead</a:t>
            </a:r>
          </a:p>
        </p:txBody>
      </p:sp>
      <p:sp>
        <p:nvSpPr>
          <p:cNvPr id="36" name="Rounded Rectangle 35"/>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Name the blast radius before every write — an empty filter or a replaced parent object is rarely what you mean.</a:t>
            </a:r>
          </a:p>
        </p:txBody>
      </p:sp>
      <p:sp>
        <p:nvSpPr>
          <p:cNvPr id="38" name="Rectangle 37"/>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1"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LAB 3 — COMPLEX QUERIES AND UPDATES</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Day 2 hands-on: filters, arrays and guarded writes on training_store.</a:t>
            </a:r>
          </a:p>
        </p:txBody>
      </p:sp>
      <p:sp>
        <p:nvSpPr>
          <p:cNvPr id="4" name="Rounded Rectangle 3"/>
          <p:cNvSpPr/>
          <p:nvPr/>
        </p:nvSpPr>
        <p:spPr>
          <a:xfrm>
            <a:off x="457200" y="1298448"/>
            <a:ext cx="1490472" cy="384048"/>
          </a:xfrm>
          <a:prstGeom prst="roundRect">
            <a:avLst>
              <a:gd name="adj" fmla="val 14000"/>
            </a:avLst>
          </a:prstGeom>
          <a:solidFill>
            <a:srgbClr val="B04A4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Nirmala UI"/>
              </a:rPr>
              <a:t>OFFICIAL LAB</a:t>
            </a:r>
          </a:p>
        </p:txBody>
      </p:sp>
      <p:sp>
        <p:nvSpPr>
          <p:cNvPr id="5" name="Rounded Rectangle 4"/>
          <p:cNvSpPr/>
          <p:nvPr/>
        </p:nvSpPr>
        <p:spPr>
          <a:xfrm>
            <a:off x="2084831" y="1298448"/>
            <a:ext cx="1143000" cy="384048"/>
          </a:xfrm>
          <a:prstGeom prst="roundRect">
            <a:avLst>
              <a:gd name="adj" fmla="val 14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424242"/>
                </a:solidFill>
                <a:latin typeface="Nirmala UI"/>
              </a:rPr>
              <a:t>75 MIN</a:t>
            </a:r>
          </a:p>
        </p:txBody>
      </p:sp>
      <p:sp>
        <p:nvSpPr>
          <p:cNvPr id="6" name="Rounded Rectangle 5"/>
          <p:cNvSpPr/>
          <p:nvPr/>
        </p:nvSpPr>
        <p:spPr>
          <a:xfrm>
            <a:off x="8883396" y="1298448"/>
            <a:ext cx="2820924" cy="384048"/>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ctr"/>
            <a:r>
              <a:rPr sz="1100" b="0" i="0">
                <a:solidFill>
                  <a:srgbClr val="000000"/>
                </a:solidFill>
                <a:latin typeface="Consolas"/>
              </a:rPr>
              <a:t>labs/day-02/lab3/LAB-3-GUIDE.md</a:t>
            </a:r>
          </a:p>
        </p:txBody>
      </p:sp>
      <p:sp>
        <p:nvSpPr>
          <p:cNvPr id="7" name="Rounded Rectangle 6"/>
          <p:cNvSpPr/>
          <p:nvPr/>
        </p:nvSpPr>
        <p:spPr>
          <a:xfrm>
            <a:off x="457200" y="1865376"/>
            <a:ext cx="3840480" cy="323189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8" name="Round Same Side Corner Rectangle 7"/>
          <p:cNvSpPr/>
          <p:nvPr/>
        </p:nvSpPr>
        <p:spPr>
          <a:xfrm>
            <a:off x="457200" y="1865376"/>
            <a:ext cx="384048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9" name="TextBox 8"/>
          <p:cNvSpPr txBox="1"/>
          <p:nvPr/>
        </p:nvSpPr>
        <p:spPr>
          <a:xfrm>
            <a:off x="594360" y="1865376"/>
            <a:ext cx="3566160" cy="420624"/>
          </a:xfrm>
          <a:prstGeom prst="rect">
            <a:avLst/>
          </a:prstGeom>
          <a:noFill/>
        </p:spPr>
        <p:txBody>
          <a:bodyPr wrap="square" anchor="ctr" lIns="0" rIns="0" tIns="0" bIns="0">
            <a:spAutoFit/>
          </a:bodyPr>
          <a:lstStyle/>
          <a:p>
            <a:pPr algn="l"/>
            <a:r>
              <a:rPr sz="1400" b="1" i="0">
                <a:solidFill>
                  <a:srgbClr val="FFFFFF"/>
                </a:solidFill>
                <a:latin typeface="Nirmala UI"/>
              </a:rPr>
              <a:t>SCENARIO</a:t>
            </a:r>
          </a:p>
        </p:txBody>
      </p:sp>
      <p:sp>
        <p:nvSpPr>
          <p:cNvPr id="10" name="TextBox 9"/>
          <p:cNvSpPr txBox="1"/>
          <p:nvPr/>
        </p:nvSpPr>
        <p:spPr>
          <a:xfrm>
            <a:off x="594360" y="2395728"/>
            <a:ext cx="3566160" cy="760476"/>
          </a:xfrm>
          <a:prstGeom prst="rect">
            <a:avLst/>
          </a:prstGeom>
          <a:noFill/>
        </p:spPr>
        <p:txBody>
          <a:bodyPr wrap="square" anchor="t" lIns="0" rIns="0" tIns="0" bIns="0">
            <a:spAutoFit/>
          </a:bodyPr>
          <a:lstStyle/>
          <a:p>
            <a:pPr algn="l"/>
            <a:r>
              <a:rPr sz="1400" b="0" i="0">
                <a:solidFill>
                  <a:srgbClr val="000000"/>
                </a:solidFill>
                <a:latin typeface="Nirmala UI"/>
              </a:rPr>
              <a:t>Reload first. Steps 1–7 read, steps 8–12 write and verify, step 13 is the challenge.</a:t>
            </a:r>
          </a:p>
        </p:txBody>
      </p:sp>
      <p:sp>
        <p:nvSpPr>
          <p:cNvPr id="11" name="Rounded Rectangle 10"/>
          <p:cNvSpPr/>
          <p:nvPr/>
        </p:nvSpPr>
        <p:spPr>
          <a:xfrm>
            <a:off x="566928" y="3229356"/>
            <a:ext cx="3621024" cy="855726"/>
          </a:xfrm>
          <a:prstGeom prst="roundRect">
            <a:avLst>
              <a:gd name="adj" fmla="val 6000"/>
            </a:avLst>
          </a:prstGeom>
          <a:solidFill>
            <a:srgbClr val="F5F5F5"/>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27432" bIns="27432"/>
          <a:lstStyle/>
          <a:p>
            <a:pPr algn="l"/>
            <a:r>
              <a:rPr sz="1100" b="0" i="0">
                <a:solidFill>
                  <a:srgbClr val="000000"/>
                </a:solidFill>
                <a:latin typeface="Consolas"/>
              </a:rPr>
              <a:t># In PowerShell, from the repo root</a:t>
            </a:r>
          </a:p>
          <a:p>
            <a:pPr algn="l"/>
            <a:r>
              <a:rPr sz="1100" b="0" i="0">
                <a:solidFill>
                  <a:srgbClr val="000000"/>
                </a:solidFill>
                <a:latin typeface="Consolas"/>
              </a:rPr>
              <a:t>mongosh "mongodb://localhost:27017" `</a:t>
            </a:r>
          </a:p>
          <a:p>
            <a:pPr algn="l"/>
            <a:r>
              <a:rPr sz="1100" b="0" i="0">
                <a:solidFill>
                  <a:srgbClr val="000000"/>
                </a:solidFill>
                <a:latin typeface="Consolas"/>
              </a:rPr>
              <a:t>  .\datasets\training_store\load.js</a:t>
            </a:r>
          </a:p>
        </p:txBody>
      </p:sp>
      <p:sp>
        <p:nvSpPr>
          <p:cNvPr id="12" name="Rounded Rectangle 11"/>
          <p:cNvSpPr/>
          <p:nvPr/>
        </p:nvSpPr>
        <p:spPr>
          <a:xfrm>
            <a:off x="4526280" y="1865376"/>
            <a:ext cx="3886200" cy="323189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3" name="Round Same Side Corner Rectangle 12"/>
          <p:cNvSpPr/>
          <p:nvPr/>
        </p:nvSpPr>
        <p:spPr>
          <a:xfrm>
            <a:off x="4526280" y="1865376"/>
            <a:ext cx="3886200" cy="420624"/>
          </a:xfrm>
          <a:prstGeom prst="round2SameRect">
            <a:avLst>
              <a:gd name="adj1" fmla="val 22000"/>
              <a:gd name="adj2" fmla="val 0"/>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14" name="TextBox 13"/>
          <p:cNvSpPr txBox="1"/>
          <p:nvPr/>
        </p:nvSpPr>
        <p:spPr>
          <a:xfrm>
            <a:off x="4663440" y="1865376"/>
            <a:ext cx="3611880" cy="420624"/>
          </a:xfrm>
          <a:prstGeom prst="rect">
            <a:avLst/>
          </a:prstGeom>
          <a:noFill/>
        </p:spPr>
        <p:txBody>
          <a:bodyPr wrap="square" anchor="ctr" lIns="0" rIns="0" tIns="0" bIns="0">
            <a:spAutoFit/>
          </a:bodyPr>
          <a:lstStyle/>
          <a:p>
            <a:pPr algn="l"/>
            <a:r>
              <a:rPr sz="1400" b="1" i="0">
                <a:solidFill>
                  <a:srgbClr val="FFFFFF"/>
                </a:solidFill>
                <a:latin typeface="Nirmala UI"/>
              </a:rPr>
              <a:t>YOUR TASKS</a:t>
            </a:r>
          </a:p>
        </p:txBody>
      </p:sp>
      <p:sp>
        <p:nvSpPr>
          <p:cNvPr id="15" name="Oval 14"/>
          <p:cNvSpPr/>
          <p:nvPr/>
        </p:nvSpPr>
        <p:spPr>
          <a:xfrm>
            <a:off x="4663440" y="24505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1</a:t>
            </a:r>
          </a:p>
        </p:txBody>
      </p:sp>
      <p:sp>
        <p:nvSpPr>
          <p:cNvPr id="16" name="TextBox 15"/>
          <p:cNvSpPr txBox="1"/>
          <p:nvPr/>
        </p:nvSpPr>
        <p:spPr>
          <a:xfrm>
            <a:off x="5056632" y="23957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1–4 Filters, ranges and $nin</a:t>
            </a:r>
          </a:p>
        </p:txBody>
      </p:sp>
      <p:sp>
        <p:nvSpPr>
          <p:cNvPr id="17" name="Oval 16"/>
          <p:cNvSpPr/>
          <p:nvPr/>
        </p:nvSpPr>
        <p:spPr>
          <a:xfrm>
            <a:off x="4663440" y="29077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2</a:t>
            </a:r>
          </a:p>
        </p:txBody>
      </p:sp>
      <p:sp>
        <p:nvSpPr>
          <p:cNvPr id="18" name="TextBox 17"/>
          <p:cNvSpPr txBox="1"/>
          <p:nvPr/>
        </p:nvSpPr>
        <p:spPr>
          <a:xfrm>
            <a:off x="5056632" y="2852928"/>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5–7 Cities, $elemMatch, PROCESSING</a:t>
            </a:r>
          </a:p>
        </p:txBody>
      </p:sp>
      <p:sp>
        <p:nvSpPr>
          <p:cNvPr id="19" name="Oval 18"/>
          <p:cNvSpPr/>
          <p:nvPr/>
        </p:nvSpPr>
        <p:spPr>
          <a:xfrm>
            <a:off x="4663440" y="3364992"/>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3</a:t>
            </a:r>
          </a:p>
        </p:txBody>
      </p:sp>
      <p:sp>
        <p:nvSpPr>
          <p:cNvPr id="20" name="TextBox 19"/>
          <p:cNvSpPr txBox="1"/>
          <p:nvPr/>
        </p:nvSpPr>
        <p:spPr>
          <a:xfrm>
            <a:off x="5056632" y="3310128"/>
            <a:ext cx="3218688" cy="543559"/>
          </a:xfrm>
          <a:prstGeom prst="rect">
            <a:avLst/>
          </a:prstGeom>
          <a:noFill/>
        </p:spPr>
        <p:txBody>
          <a:bodyPr wrap="square" anchor="ctr" lIns="0" rIns="0" tIns="0" bIns="0">
            <a:spAutoFit/>
          </a:bodyPr>
          <a:lstStyle/>
          <a:p>
            <a:pPr algn="l"/>
            <a:r>
              <a:rPr sz="1400" b="0" i="0">
                <a:solidFill>
                  <a:srgbClr val="000000"/>
                </a:solidFill>
                <a:latin typeface="Nirmala UI"/>
              </a:rPr>
              <a:t>8–9 Guarded $inc, $addToSet on A410</a:t>
            </a:r>
          </a:p>
        </p:txBody>
      </p:sp>
      <p:sp>
        <p:nvSpPr>
          <p:cNvPr id="21" name="Oval 20"/>
          <p:cNvSpPr/>
          <p:nvPr/>
        </p:nvSpPr>
        <p:spPr>
          <a:xfrm>
            <a:off x="4663440" y="39634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4</a:t>
            </a:r>
          </a:p>
        </p:txBody>
      </p:sp>
      <p:sp>
        <p:nvSpPr>
          <p:cNvPr id="22" name="TextBox 21"/>
          <p:cNvSpPr txBox="1"/>
          <p:nvPr/>
        </p:nvSpPr>
        <p:spPr>
          <a:xfrm>
            <a:off x="5056632" y="39085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10–12 $pull, ship O6202, $rename</a:t>
            </a:r>
          </a:p>
        </p:txBody>
      </p:sp>
      <p:sp>
        <p:nvSpPr>
          <p:cNvPr id="23" name="Oval 22"/>
          <p:cNvSpPr/>
          <p:nvPr/>
        </p:nvSpPr>
        <p:spPr>
          <a:xfrm>
            <a:off x="4663440" y="4420616"/>
            <a:ext cx="292608" cy="292608"/>
          </a:xfrm>
          <a:prstGeom prst="ellipse">
            <a:avLst/>
          </a:prstGeom>
          <a:solidFill>
            <a:srgbClr val="64508D"/>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5</a:t>
            </a:r>
          </a:p>
        </p:txBody>
      </p:sp>
      <p:sp>
        <p:nvSpPr>
          <p:cNvPr id="24" name="TextBox 23"/>
          <p:cNvSpPr txBox="1"/>
          <p:nvPr/>
        </p:nvSpPr>
        <p:spPr>
          <a:xfrm>
            <a:off x="5056632" y="4365752"/>
            <a:ext cx="3218688" cy="402336"/>
          </a:xfrm>
          <a:prstGeom prst="rect">
            <a:avLst/>
          </a:prstGeom>
          <a:noFill/>
        </p:spPr>
        <p:txBody>
          <a:bodyPr wrap="square" anchor="ctr" lIns="0" rIns="0" tIns="0" bIns="0">
            <a:spAutoFit/>
          </a:bodyPr>
          <a:lstStyle/>
          <a:p>
            <a:pPr algn="l"/>
            <a:r>
              <a:rPr sz="1400" b="0" i="0">
                <a:solidFill>
                  <a:srgbClr val="000000"/>
                </a:solidFill>
                <a:latin typeface="Nirmala UI"/>
              </a:rPr>
              <a:t>13 Challenge: one precise filter</a:t>
            </a:r>
          </a:p>
        </p:txBody>
      </p:sp>
      <p:sp>
        <p:nvSpPr>
          <p:cNvPr id="25" name="Rounded Rectangle 24"/>
          <p:cNvSpPr/>
          <p:nvPr/>
        </p:nvSpPr>
        <p:spPr>
          <a:xfrm>
            <a:off x="8641080" y="1865376"/>
            <a:ext cx="3063240" cy="3231896"/>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6" name="Round Same Side Corner Rectangle 25"/>
          <p:cNvSpPr/>
          <p:nvPr/>
        </p:nvSpPr>
        <p:spPr>
          <a:xfrm>
            <a:off x="8641080" y="1865376"/>
            <a:ext cx="30632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7" name="TextBox 26"/>
          <p:cNvSpPr txBox="1"/>
          <p:nvPr/>
        </p:nvSpPr>
        <p:spPr>
          <a:xfrm>
            <a:off x="8778240" y="1865376"/>
            <a:ext cx="2788920" cy="420624"/>
          </a:xfrm>
          <a:prstGeom prst="rect">
            <a:avLst/>
          </a:prstGeom>
          <a:noFill/>
        </p:spPr>
        <p:txBody>
          <a:bodyPr wrap="square" anchor="ctr" lIns="0" rIns="0" tIns="0" bIns="0">
            <a:spAutoFit/>
          </a:bodyPr>
          <a:lstStyle/>
          <a:p>
            <a:pPr algn="l"/>
            <a:r>
              <a:rPr sz="1400" b="1" i="0">
                <a:solidFill>
                  <a:srgbClr val="FFFFFF"/>
                </a:solidFill>
                <a:latin typeface="Nirmala UI"/>
              </a:rPr>
              <a:t>EXPECTED RESULTS</a:t>
            </a:r>
          </a:p>
        </p:txBody>
      </p:sp>
      <p:sp>
        <p:nvSpPr>
          <p:cNvPr id="28" name="Oval 27"/>
          <p:cNvSpPr/>
          <p:nvPr/>
        </p:nvSpPr>
        <p:spPr>
          <a:xfrm>
            <a:off x="8778240" y="2450592"/>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29" name="TextBox 28"/>
          <p:cNvSpPr txBox="1"/>
          <p:nvPr/>
        </p:nvSpPr>
        <p:spPr>
          <a:xfrm>
            <a:off x="9116567" y="2395728"/>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  A410, A400, P1001</a:t>
            </a:r>
          </a:p>
        </p:txBody>
      </p:sp>
      <p:sp>
        <p:nvSpPr>
          <p:cNvPr id="30" name="Oval 29"/>
          <p:cNvSpPr/>
          <p:nvPr/>
        </p:nvSpPr>
        <p:spPr>
          <a:xfrm>
            <a:off x="8778240" y="2871216"/>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1" name="TextBox 30"/>
          <p:cNvSpPr txBox="1"/>
          <p:nvPr/>
        </p:nvSpPr>
        <p:spPr>
          <a:xfrm>
            <a:off x="9116567" y="2816352"/>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6  O5001, O6201, O6305</a:t>
            </a:r>
          </a:p>
        </p:txBody>
      </p:sp>
      <p:sp>
        <p:nvSpPr>
          <p:cNvPr id="32" name="Oval 31"/>
          <p:cNvSpPr/>
          <p:nvPr/>
        </p:nvSpPr>
        <p:spPr>
          <a:xfrm>
            <a:off x="8778240" y="3291840"/>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3" name="TextBox 32"/>
          <p:cNvSpPr txBox="1"/>
          <p:nvPr/>
        </p:nvSpPr>
        <p:spPr>
          <a:xfrm>
            <a:off x="9116567" y="3236976"/>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8  A410 stock 18 → 16</a:t>
            </a:r>
          </a:p>
        </p:txBody>
      </p:sp>
      <p:sp>
        <p:nvSpPr>
          <p:cNvPr id="34" name="Oval 33"/>
          <p:cNvSpPr/>
          <p:nvPr/>
        </p:nvSpPr>
        <p:spPr>
          <a:xfrm>
            <a:off x="8778240" y="3712463"/>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5" name="TextBox 34"/>
          <p:cNvSpPr txBox="1"/>
          <p:nvPr/>
        </p:nvSpPr>
        <p:spPr>
          <a:xfrm>
            <a:off x="9116567" y="3657600"/>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11 Second ship matches 0</a:t>
            </a:r>
          </a:p>
        </p:txBody>
      </p:sp>
      <p:sp>
        <p:nvSpPr>
          <p:cNvPr id="36" name="Oval 35"/>
          <p:cNvSpPr/>
          <p:nvPr/>
        </p:nvSpPr>
        <p:spPr>
          <a:xfrm>
            <a:off x="8778240" y="4133087"/>
            <a:ext cx="256032" cy="256032"/>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00" b="1" i="0">
                <a:solidFill>
                  <a:srgbClr val="FFFFFF"/>
                </a:solidFill>
                <a:latin typeface="Nirmala UI"/>
              </a:rPr>
              <a:t>✓</a:t>
            </a:r>
          </a:p>
        </p:txBody>
      </p:sp>
      <p:sp>
        <p:nvSpPr>
          <p:cNvPr id="37" name="TextBox 36"/>
          <p:cNvSpPr txBox="1"/>
          <p:nvPr/>
        </p:nvSpPr>
        <p:spPr>
          <a:xfrm>
            <a:off x="9116567" y="4078224"/>
            <a:ext cx="2450592" cy="384048"/>
          </a:xfrm>
          <a:prstGeom prst="rect">
            <a:avLst/>
          </a:prstGeom>
          <a:noFill/>
        </p:spPr>
        <p:txBody>
          <a:bodyPr wrap="square" anchor="ctr" lIns="0" rIns="0" tIns="0" bIns="0">
            <a:spAutoFit/>
          </a:bodyPr>
          <a:lstStyle/>
          <a:p>
            <a:pPr algn="l"/>
            <a:r>
              <a:rPr sz="1300" b="0" i="0">
                <a:solidFill>
                  <a:srgbClr val="000000"/>
                </a:solidFill>
                <a:latin typeface="Nirmala UI"/>
              </a:rPr>
              <a:t>13 A410, P1001, B310, B300</a:t>
            </a:r>
          </a:p>
        </p:txBody>
      </p:sp>
      <p:sp>
        <p:nvSpPr>
          <p:cNvPr id="38" name="Rounded Rectangle 37"/>
          <p:cNvSpPr/>
          <p:nvPr/>
        </p:nvSpPr>
        <p:spPr>
          <a:xfrm>
            <a:off x="457200" y="5870448"/>
            <a:ext cx="10972800" cy="640080"/>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870448"/>
            <a:ext cx="10607040" cy="640080"/>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Lab 3 puts the whole module together: precise filters first, then writes guarded by the filter and verified by the result.</a:t>
            </a:r>
          </a:p>
        </p:txBody>
      </p:sp>
      <p:sp>
        <p:nvSpPr>
          <p:cNvPr id="40" name="Rectangle 39"/>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43"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28016"/>
            <a:ext cx="10972800" cy="640080"/>
          </a:xfrm>
          <a:prstGeom prst="rect">
            <a:avLst/>
          </a:prstGeom>
          <a:noFill/>
        </p:spPr>
        <p:txBody>
          <a:bodyPr wrap="square" anchor="t" lIns="0" rIns="0" tIns="0" bIns="0">
            <a:spAutoFit/>
          </a:bodyPr>
          <a:lstStyle/>
          <a:p>
            <a:pPr algn="l"/>
            <a:r>
              <a:rPr sz="2800" b="0" i="0">
                <a:solidFill>
                  <a:srgbClr val="D1282E"/>
                </a:solidFill>
                <a:latin typeface="Leelawadee"/>
              </a:rPr>
              <a:t>MODULE 4 SUMMARY AND WHAT'S NEXT</a:t>
            </a:r>
          </a:p>
        </p:txBody>
      </p:sp>
      <p:sp>
        <p:nvSpPr>
          <p:cNvPr id="3" name="TextBox 2"/>
          <p:cNvSpPr txBox="1"/>
          <p:nvPr/>
        </p:nvSpPr>
        <p:spPr>
          <a:xfrm>
            <a:off x="548640" y="749808"/>
            <a:ext cx="11247120" cy="384048"/>
          </a:xfrm>
          <a:prstGeom prst="rect">
            <a:avLst/>
          </a:prstGeom>
          <a:noFill/>
        </p:spPr>
        <p:txBody>
          <a:bodyPr wrap="square" anchor="t" lIns="0" rIns="0" tIns="0" bIns="0">
            <a:spAutoFit/>
          </a:bodyPr>
          <a:lstStyle/>
          <a:p>
            <a:pPr algn="l"/>
            <a:r>
              <a:rPr sz="1700" b="0" i="1">
                <a:solidFill>
                  <a:srgbClr val="595959"/>
                </a:solidFill>
                <a:latin typeface="Nirmala UI"/>
              </a:rPr>
              <a:t>From precise filters to safe, verified writes.</a:t>
            </a:r>
          </a:p>
        </p:txBody>
      </p:sp>
      <p:sp>
        <p:nvSpPr>
          <p:cNvPr id="4" name="Rounded Rectangle 3"/>
          <p:cNvSpPr/>
          <p:nvPr/>
        </p:nvSpPr>
        <p:spPr>
          <a:xfrm>
            <a:off x="457200" y="1298448"/>
            <a:ext cx="5577840" cy="4535424"/>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5" name="Round Same Side Corner Rectangle 4"/>
          <p:cNvSpPr/>
          <p:nvPr/>
        </p:nvSpPr>
        <p:spPr>
          <a:xfrm>
            <a:off x="457200" y="1298448"/>
            <a:ext cx="5577840" cy="420624"/>
          </a:xfrm>
          <a:prstGeom prst="round2SameRect">
            <a:avLst>
              <a:gd name="adj1" fmla="val 22000"/>
              <a:gd name="adj2" fmla="val 0"/>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6" name="TextBox 5"/>
          <p:cNvSpPr txBox="1"/>
          <p:nvPr/>
        </p:nvSpPr>
        <p:spPr>
          <a:xfrm>
            <a:off x="594360" y="1298448"/>
            <a:ext cx="5303520" cy="420624"/>
          </a:xfrm>
          <a:prstGeom prst="rect">
            <a:avLst/>
          </a:prstGeom>
          <a:noFill/>
        </p:spPr>
        <p:txBody>
          <a:bodyPr wrap="square" anchor="ctr" lIns="0" rIns="0" tIns="0" bIns="0">
            <a:spAutoFit/>
          </a:bodyPr>
          <a:lstStyle/>
          <a:p>
            <a:pPr algn="l"/>
            <a:r>
              <a:rPr sz="1400" b="1" i="0">
                <a:solidFill>
                  <a:srgbClr val="FFFFFF"/>
                </a:solidFill>
                <a:latin typeface="Nirmala UI"/>
              </a:rPr>
              <a:t>YOU CAN NOW</a:t>
            </a:r>
          </a:p>
        </p:txBody>
      </p:sp>
      <p:sp>
        <p:nvSpPr>
          <p:cNvPr id="7" name="Oval 6"/>
          <p:cNvSpPr/>
          <p:nvPr/>
        </p:nvSpPr>
        <p:spPr>
          <a:xfrm>
            <a:off x="640080" y="2029967"/>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8" name="TextBox 7"/>
          <p:cNvSpPr txBox="1"/>
          <p:nvPr/>
        </p:nvSpPr>
        <p:spPr>
          <a:xfrm>
            <a:off x="1051560" y="1874519"/>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Read with find(), findOne() and precise filters</a:t>
            </a:r>
          </a:p>
        </p:txBody>
      </p:sp>
      <p:sp>
        <p:nvSpPr>
          <p:cNvPr id="9" name="Oval 8"/>
          <p:cNvSpPr/>
          <p:nvPr/>
        </p:nvSpPr>
        <p:spPr>
          <a:xfrm>
            <a:off x="640080" y="2633472"/>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0" name="TextBox 9"/>
          <p:cNvSpPr txBox="1"/>
          <p:nvPr/>
        </p:nvSpPr>
        <p:spPr>
          <a:xfrm>
            <a:off x="1051560" y="2478024"/>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Project, sort, page, count and list distinct values</a:t>
            </a:r>
          </a:p>
        </p:txBody>
      </p:sp>
      <p:sp>
        <p:nvSpPr>
          <p:cNvPr id="11" name="Oval 10"/>
          <p:cNvSpPr/>
          <p:nvPr/>
        </p:nvSpPr>
        <p:spPr>
          <a:xfrm>
            <a:off x="640080" y="3236976"/>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2" name="TextBox 11"/>
          <p:cNvSpPr txBox="1"/>
          <p:nvPr/>
        </p:nvSpPr>
        <p:spPr>
          <a:xfrm>
            <a:off x="1051560" y="3081528"/>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Combine comparison, logical and element operators</a:t>
            </a:r>
          </a:p>
        </p:txBody>
      </p:sp>
      <p:sp>
        <p:nvSpPr>
          <p:cNvPr id="13" name="Oval 12"/>
          <p:cNvSpPr/>
          <p:nvPr/>
        </p:nvSpPr>
        <p:spPr>
          <a:xfrm>
            <a:off x="640080" y="3840479"/>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4" name="TextBox 13"/>
          <p:cNvSpPr txBox="1"/>
          <p:nvPr/>
        </p:nvSpPr>
        <p:spPr>
          <a:xfrm>
            <a:off x="1051560" y="3685031"/>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Query nested fields and arrays with $elemMatch</a:t>
            </a:r>
          </a:p>
        </p:txBody>
      </p:sp>
      <p:sp>
        <p:nvSpPr>
          <p:cNvPr id="15" name="Oval 14"/>
          <p:cNvSpPr/>
          <p:nvPr/>
        </p:nvSpPr>
        <p:spPr>
          <a:xfrm>
            <a:off x="640080" y="4443983"/>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6" name="TextBox 15"/>
          <p:cNvSpPr txBox="1"/>
          <p:nvPr/>
        </p:nvSpPr>
        <p:spPr>
          <a:xfrm>
            <a:off x="1051560" y="4288536"/>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Insert, update, upsert and replace documents</a:t>
            </a:r>
          </a:p>
        </p:txBody>
      </p:sp>
      <p:sp>
        <p:nvSpPr>
          <p:cNvPr id="17" name="Oval 16"/>
          <p:cNvSpPr/>
          <p:nvPr/>
        </p:nvSpPr>
        <p:spPr>
          <a:xfrm>
            <a:off x="640080" y="5047488"/>
            <a:ext cx="292608" cy="292608"/>
          </a:xfrm>
          <a:prstGeom prst="ellipse">
            <a:avLst/>
          </a:prstGeom>
          <a:solidFill>
            <a:srgbClr val="427545"/>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i="0">
                <a:solidFill>
                  <a:srgbClr val="FFFFFF"/>
                </a:solidFill>
                <a:latin typeface="Nirmala UI"/>
              </a:rPr>
              <a:t>✓</a:t>
            </a:r>
          </a:p>
        </p:txBody>
      </p:sp>
      <p:sp>
        <p:nvSpPr>
          <p:cNvPr id="18" name="TextBox 17"/>
          <p:cNvSpPr txBox="1"/>
          <p:nvPr/>
        </p:nvSpPr>
        <p:spPr>
          <a:xfrm>
            <a:off x="1051560" y="4892040"/>
            <a:ext cx="4800600" cy="603504"/>
          </a:xfrm>
          <a:prstGeom prst="rect">
            <a:avLst/>
          </a:prstGeom>
          <a:noFill/>
        </p:spPr>
        <p:txBody>
          <a:bodyPr wrap="square" anchor="ctr" lIns="0" rIns="0" tIns="0" bIns="0">
            <a:spAutoFit/>
          </a:bodyPr>
          <a:lstStyle/>
          <a:p>
            <a:pPr algn="l"/>
            <a:r>
              <a:rPr sz="1500" b="0" i="0">
                <a:solidFill>
                  <a:srgbClr val="000000"/>
                </a:solidFill>
                <a:latin typeface="Nirmala UI"/>
              </a:rPr>
              <a:t>Delete safely and read every write result</a:t>
            </a:r>
          </a:p>
        </p:txBody>
      </p:sp>
      <p:sp>
        <p:nvSpPr>
          <p:cNvPr id="19" name="Rounded Rectangle 18"/>
          <p:cNvSpPr/>
          <p:nvPr/>
        </p:nvSpPr>
        <p:spPr>
          <a:xfrm>
            <a:off x="6400800" y="1298448"/>
            <a:ext cx="5303520" cy="2788920"/>
          </a:xfrm>
          <a:prstGeom prst="roundRect">
            <a:avLst>
              <a:gd name="adj" fmla="val 6000"/>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0" name="Round Same Side Corner Rectangle 19"/>
          <p:cNvSpPr/>
          <p:nvPr/>
        </p:nvSpPr>
        <p:spPr>
          <a:xfrm>
            <a:off x="6400800" y="1298448"/>
            <a:ext cx="5303520" cy="420624"/>
          </a:xfrm>
          <a:prstGeom prst="round2SameRect">
            <a:avLst>
              <a:gd name="adj1" fmla="val 22000"/>
              <a:gd name="adj2" fmla="val 0"/>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1" name="TextBox 20"/>
          <p:cNvSpPr txBox="1"/>
          <p:nvPr/>
        </p:nvSpPr>
        <p:spPr>
          <a:xfrm>
            <a:off x="6537960" y="1298448"/>
            <a:ext cx="5029200" cy="420624"/>
          </a:xfrm>
          <a:prstGeom prst="rect">
            <a:avLst/>
          </a:prstGeom>
          <a:noFill/>
        </p:spPr>
        <p:txBody>
          <a:bodyPr wrap="square" anchor="ctr" lIns="0" rIns="0" tIns="0" bIns="0">
            <a:spAutoFit/>
          </a:bodyPr>
          <a:lstStyle/>
          <a:p>
            <a:pPr algn="l"/>
            <a:r>
              <a:rPr sz="1300" b="1" i="0">
                <a:solidFill>
                  <a:srgbClr val="FFFFFF"/>
                </a:solidFill>
                <a:latin typeface="Nirmala UI"/>
              </a:rPr>
              <a:t>NEXT: MODULE 5 — THE AGGREGATION FRAMEWORK</a:t>
            </a:r>
          </a:p>
        </p:txBody>
      </p:sp>
      <p:sp>
        <p:nvSpPr>
          <p:cNvPr id="22" name="Oval 21"/>
          <p:cNvSpPr/>
          <p:nvPr/>
        </p:nvSpPr>
        <p:spPr>
          <a:xfrm>
            <a:off x="6583680" y="1956816"/>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1</a:t>
            </a:r>
          </a:p>
        </p:txBody>
      </p:sp>
      <p:sp>
        <p:nvSpPr>
          <p:cNvPr id="23" name="TextBox 22"/>
          <p:cNvSpPr txBox="1"/>
          <p:nvPr/>
        </p:nvSpPr>
        <p:spPr>
          <a:xfrm>
            <a:off x="7059168" y="1847088"/>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does a filter become a $match stage?</a:t>
            </a:r>
          </a:p>
        </p:txBody>
      </p:sp>
      <p:sp>
        <p:nvSpPr>
          <p:cNvPr id="24" name="Oval 23"/>
          <p:cNvSpPr/>
          <p:nvPr/>
        </p:nvSpPr>
        <p:spPr>
          <a:xfrm>
            <a:off x="6583680" y="2615184"/>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2</a:t>
            </a:r>
          </a:p>
        </p:txBody>
      </p:sp>
      <p:sp>
        <p:nvSpPr>
          <p:cNvPr id="25" name="TextBox 24"/>
          <p:cNvSpPr txBox="1"/>
          <p:nvPr/>
        </p:nvSpPr>
        <p:spPr>
          <a:xfrm>
            <a:off x="7059168" y="2505456"/>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does $group total the orders?</a:t>
            </a:r>
          </a:p>
        </p:txBody>
      </p:sp>
      <p:sp>
        <p:nvSpPr>
          <p:cNvPr id="26" name="Oval 25"/>
          <p:cNvSpPr/>
          <p:nvPr/>
        </p:nvSpPr>
        <p:spPr>
          <a:xfrm>
            <a:off x="6583680" y="3273552"/>
            <a:ext cx="347472" cy="347472"/>
          </a:xfrm>
          <a:prstGeom prst="ellipse">
            <a:avLst/>
          </a:prstGeom>
          <a:solidFill>
            <a:srgbClr val="182F5F"/>
          </a:solidFill>
          <a:ln>
            <a:noFill/>
          </a:ln>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300" b="1" i="0">
                <a:solidFill>
                  <a:srgbClr val="FFFFFF"/>
                </a:solidFill>
                <a:latin typeface="Nirmala UI"/>
              </a:rPr>
              <a:t>3</a:t>
            </a:r>
          </a:p>
        </p:txBody>
      </p:sp>
      <p:sp>
        <p:nvSpPr>
          <p:cNvPr id="27" name="TextBox 26"/>
          <p:cNvSpPr txBox="1"/>
          <p:nvPr/>
        </p:nvSpPr>
        <p:spPr>
          <a:xfrm>
            <a:off x="7059168" y="3163824"/>
            <a:ext cx="4480560" cy="566928"/>
          </a:xfrm>
          <a:prstGeom prst="rect">
            <a:avLst/>
          </a:prstGeom>
          <a:noFill/>
        </p:spPr>
        <p:txBody>
          <a:bodyPr wrap="square" anchor="ctr" lIns="0" rIns="0" tIns="0" bIns="0">
            <a:spAutoFit/>
          </a:bodyPr>
          <a:lstStyle/>
          <a:p>
            <a:pPr algn="l"/>
            <a:r>
              <a:rPr sz="1500" b="0" i="0">
                <a:solidFill>
                  <a:srgbClr val="000000"/>
                </a:solidFill>
                <a:latin typeface="Nirmala UI"/>
              </a:rPr>
              <a:t>How do stages chain into a pipeline?</a:t>
            </a:r>
          </a:p>
        </p:txBody>
      </p:sp>
      <p:sp>
        <p:nvSpPr>
          <p:cNvPr id="28" name="Rounded Rectangle 27"/>
          <p:cNvSpPr/>
          <p:nvPr/>
        </p:nvSpPr>
        <p:spPr>
          <a:xfrm>
            <a:off x="6400800" y="4270248"/>
            <a:ext cx="5303520" cy="1563624"/>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p>
        </p:txBody>
      </p:sp>
      <p:sp>
        <p:nvSpPr>
          <p:cNvPr id="29" name="TextBox 28"/>
          <p:cNvSpPr txBox="1"/>
          <p:nvPr/>
        </p:nvSpPr>
        <p:spPr>
          <a:xfrm>
            <a:off x="6583680" y="4270248"/>
            <a:ext cx="4937760" cy="1563624"/>
          </a:xfrm>
          <a:prstGeom prst="rect">
            <a:avLst/>
          </a:prstGeom>
          <a:noFill/>
        </p:spPr>
        <p:txBody>
          <a:bodyPr wrap="square" anchor="ctr" lIns="0" rIns="0" tIns="0" bIns="0">
            <a:spAutoFit/>
          </a:bodyPr>
          <a:lstStyle/>
          <a:p>
            <a:pPr algn="l"/>
            <a:r>
              <a:rPr sz="1500" b="1" i="0">
                <a:solidFill>
                  <a:srgbClr val="D1282E"/>
                </a:solidFill>
                <a:latin typeface="Nirmala UI"/>
              </a:rPr>
              <a:t>BRING ALONG   </a:t>
            </a:r>
            <a:r>
              <a:rPr sz="1500" b="0" i="0">
                <a:solidFill>
                  <a:srgbClr val="000000"/>
                </a:solidFill>
                <a:latin typeface="Nirmala UI"/>
              </a:rPr>
              <a:t>Your Lab 3 queries — and reload load.js so the counts start fresh.</a:t>
            </a:r>
          </a:p>
        </p:txBody>
      </p:sp>
      <p:sp>
        <p:nvSpPr>
          <p:cNvPr id="30" name="Rounded Rectangle 29"/>
          <p:cNvSpPr/>
          <p:nvPr/>
        </p:nvSpPr>
        <p:spPr>
          <a:xfrm>
            <a:off x="457200" y="5943600"/>
            <a:ext cx="10972800" cy="566928"/>
          </a:xfrm>
          <a:prstGeom prst="roundRect">
            <a:avLst>
              <a:gd name="adj" fmla="val 8000"/>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943600"/>
            <a:ext cx="10607040" cy="566928"/>
          </a:xfrm>
          <a:prstGeom prst="rect">
            <a:avLst/>
          </a:prstGeom>
          <a:noFill/>
        </p:spPr>
        <p:txBody>
          <a:bodyPr wrap="square" anchor="ctr" lIns="0" rIns="0" tIns="0" bIns="0">
            <a:spAutoFit/>
          </a:bodyPr>
          <a:lstStyle/>
          <a:p>
            <a:r>
              <a:rPr sz="1300" b="1" i="0">
                <a:solidFill>
                  <a:srgbClr val="D1282E"/>
                </a:solidFill>
                <a:latin typeface="Nirmala UI"/>
              </a:rPr>
              <a:t>KEY TAKEAWAY   </a:t>
            </a:r>
            <a:r>
              <a:rPr sz="1300" b="0" i="0">
                <a:solidFill>
                  <a:srgbClr val="000000"/>
                </a:solidFill>
                <a:latin typeface="Nirmala UI"/>
              </a:rPr>
              <a:t>Module 5 reuses today's filters and projections as the first stages of an aggregation pipeline.</a:t>
            </a:r>
          </a:p>
        </p:txBody>
      </p:sp>
      <p:sp>
        <p:nvSpPr>
          <p:cNvPr id="32" name="Rectangle 31"/>
          <p:cNvSpPr/>
          <p:nvPr/>
        </p:nvSpPr>
        <p:spPr>
          <a:xfrm>
            <a:off x="12001500" y="0"/>
            <a:ext cx="190195" cy="1371600"/>
          </a:xfrm>
          <a:prstGeom prst="rect">
            <a:avLst/>
          </a:prstGeom>
          <a:solidFill>
            <a:srgbClr val="D12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2001500" y="1371600"/>
            <a:ext cx="190195" cy="54864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9904" y="6490411"/>
            <a:ext cx="4572000" cy="283464"/>
          </a:xfrm>
          <a:prstGeom prst="rect">
            <a:avLst/>
          </a:prstGeom>
          <a:noFill/>
        </p:spPr>
        <p:txBody>
          <a:bodyPr wrap="none" anchor="t" lIns="0" rIns="0" tIns="0" bIns="0">
            <a:spAutoFit/>
          </a:bodyPr>
          <a:lstStyle/>
          <a:p>
            <a:pPr algn="l"/>
            <a:r>
              <a:rPr sz="1400" b="0" i="0">
                <a:solidFill>
                  <a:srgbClr val="808080"/>
                </a:solidFill>
                <a:latin typeface="Nirmala UI"/>
              </a:rPr>
              <a:t>© 2026 by Innovation In Software Corporation</a:t>
            </a:r>
          </a:p>
        </p:txBody>
      </p:sp>
      <p:sp>
        <p:nvSpPr>
          <p:cNvPr id="35" name="Diagram Page Number"/>
          <p:cNvSpPr txBox="1"/>
          <p:nvPr/>
        </p:nvSpPr>
        <p:spPr>
          <a:xfrm rot="16200000">
            <a:off x="11422684" y="6224320"/>
            <a:ext cx="658368" cy="457200"/>
          </a:xfrm>
          <a:prstGeom prst="rect">
            <a:avLst/>
          </a:prstGeom>
          <a:noFill/>
        </p:spPr>
        <p:txBody>
          <a:bodyPr wrap="none" anchor="ctr" lIns="0" rIns="0" tIns="0" bIns="0">
            <a:spAutoFit/>
          </a:bodyPr>
          <a:lstStyle/>
          <a:p>
            <a:pPr algn="ctr"/>
            <a:r>
              <a:rPr sz="2300" b="1" i="0">
                <a:solidFill>
                  <a:srgbClr val="D1282E"/>
                </a:solidFill>
                <a:latin typeface="Nirmala UI"/>
              </a:rPr>
              <a:t>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