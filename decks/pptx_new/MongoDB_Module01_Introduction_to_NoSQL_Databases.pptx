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NoSQL is a family, not a product</a:t>
            </a:r>
          </a:p>
          <a:p/>
          <a:p>
            <a:r>
              <a:t>  Start by saying that NoSQL is a category of databases.</a:t>
            </a:r>
          </a:p>
          <a:p/>
          <a:p>
            <a:r>
              <a:t>  It is not one product, and it is not a replacement for SQL.</a:t>
            </a:r>
          </a:p>
          <a:p/>
          <a:p>
            <a:r>
              <a:t>  MongoDB is one member of that family: a document database.</a:t>
            </a:r>
          </a:p>
          <a:p/>
          <a:p>
            <a:r>
              <a:t>- What this module does</a:t>
            </a:r>
          </a:p>
          <a:p/>
          <a:p>
            <a:r>
              <a:t>  We look at why NoSQL databases appeared, compare the four main NoSQL models, and then meet MongoDB: its documents, its architecture and when it fits.</a:t>
            </a:r>
          </a:p>
          <a:p/>
          <a:p>
            <a:r>
              <a:t>  Everything uses one sample database, training_store.</a:t>
            </a:r>
          </a:p>
          <a:p/>
          <a:p>
            <a:r>
              <a:t>- Where the course goes next</a:t>
            </a:r>
          </a:p>
          <a:p/>
          <a:p>
            <a:r>
              <a:t>  Module 2 installs MongoDB and mongosh.</a:t>
            </a:r>
          </a:p>
          <a:p/>
          <a:p>
            <a:r>
              <a:t>  Module 3 goes deep on data modeling.</a:t>
            </a:r>
          </a:p>
          <a:p/>
          <a:p>
            <a:r>
              <a:t>  This module gives the vocabulary both of them need.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An online store can keep its product catalog in MongoDB, its shopping sessions in Redis and its general ledger in a relational database.</a:t>
            </a:r>
          </a:p>
          <a:p/>
          <a:p>
            <a:r>
              <a:t>  Each store is chosen for the way that data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Walk through the six objectives on the left.</a:t>
            </a:r>
          </a:p>
          <a:p/>
          <a:p>
            <a:r>
              <a:t>  Learners should be able to define NoSQL as a category and compare the four NoSQL models.</a:t>
            </a:r>
          </a:p>
          <a:p/>
          <a:p>
            <a:r>
              <a:t>  They should be able to explain documents, collections and BSON, and describe the basic MongoDB architecture.</a:t>
            </a:r>
          </a:p>
          <a:p/>
          <a:p>
            <a:r>
              <a:t>  They should also be able to judge when MongoDB is and isn't a good fit, and read real documents in mongosh.</a:t>
            </a:r>
          </a:p>
          <a:p/>
          <a:p>
            <a:r>
              <a:t>- Six questions this module answers</a:t>
            </a:r>
          </a:p>
          <a:p/>
          <a:p>
            <a:r>
              <a:t>  Why did NoSQL databases appear?</a:t>
            </a:r>
          </a:p>
          <a:p/>
          <a:p>
            <a:r>
              <a:t>  What are the four NoSQL models?</a:t>
            </a:r>
          </a:p>
          <a:p/>
          <a:p>
            <a:r>
              <a:t>  What exactly is a MongoDB document?</a:t>
            </a:r>
          </a:p>
          <a:p/>
          <a:p>
            <a:r>
              <a:t>  How is MongoDB built?</a:t>
            </a:r>
          </a:p>
          <a:p/>
          <a:p>
            <a:r>
              <a:t>  When is MongoDB the right choice?</a:t>
            </a:r>
          </a:p>
          <a:p/>
          <a:p>
            <a:r>
              <a:t>  And how do we read real data with mongosh?</a:t>
            </a:r>
          </a:p>
          <a:p/>
          <a:p>
            <a:r>
              <a:t>- Set the expectation</a:t>
            </a:r>
          </a:p>
          <a:p/>
          <a:p>
            <a:r>
              <a:t>  The skill we are building is choosing a data model from the access pattern.</a:t>
            </a:r>
          </a:p>
          <a:p/>
          <a:p>
            <a:r>
              <a:t>  Product popularity is not a reason.</a:t>
            </a:r>
          </a:p>
          <a:p/>
          <a:p>
            <a:r>
              <a:t>  The roadmap at the bottom shows the path through the four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training_store sample database.</a:t>
            </a:r>
          </a:p>
          <a:p/>
          <a:p>
            <a:r>
              <a:t>- NoSQL</a:t>
            </a:r>
          </a:p>
          <a:p/>
          <a:p>
            <a:r>
              <a:t>  Not Only SQL: databases that store data in models other than relational tables.</a:t>
            </a:r>
          </a:p>
          <a:p/>
          <a:p>
            <a:r>
              <a:t>- Document</a:t>
            </a:r>
          </a:p>
          <a:p/>
          <a:p>
            <a:r>
              <a:t>  One record stored as field-value pairs, like a JSON object — one product or one order.</a:t>
            </a:r>
          </a:p>
          <a:p/>
          <a:p>
            <a:r>
              <a:t>- Collection</a:t>
            </a:r>
          </a:p>
          <a:p/>
          <a:p>
            <a:r>
              <a:t>  A group of related documents inside a database, such as products or orders.</a:t>
            </a:r>
          </a:p>
          <a:p/>
          <a:p>
            <a:r>
              <a:t>- BSON</a:t>
            </a:r>
          </a:p>
          <a:p/>
          <a:p>
            <a:r>
              <a:t>  Binary JSON: MongoDB's typed storage format, with dates, decimals and ObjectIds.</a:t>
            </a:r>
          </a:p>
          <a:p/>
          <a:p>
            <a:r>
              <a:t>- _id and ObjectId</a:t>
            </a:r>
          </a:p>
          <a:p/>
          <a:p>
            <a:r>
              <a:t>  _id uniquely identifies a document in its collection; ObjectId is its default value.</a:t>
            </a:r>
          </a:p>
          <a:p/>
          <a:p>
            <a:r>
              <a:t>- Flexible schema</a:t>
            </a:r>
          </a:p>
          <a:p/>
          <a:p>
            <a:r>
              <a:t>  Documents in one collection may have different fields; validation rules are optional.</a:t>
            </a:r>
          </a:p>
          <a:p/>
          <a:p>
            <a:r>
              <a:t>- Access pattern</a:t>
            </a:r>
          </a:p>
          <a:p/>
          <a:p>
            <a:r>
              <a:t>  How the application reads and writes its data — it drives the model you choose.</a:t>
            </a:r>
          </a:p>
          <a:p/>
          <a:p>
            <a:r>
              <a:t>- Replica set</a:t>
            </a:r>
          </a:p>
          <a:p/>
          <a:p>
            <a:r>
              <a:t>  Several mongod servers holding copies of the same data, for high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ACID is Atomicity, Consistency, Isolation, Durability; API is Application Programming Interface; BSON is Binary JSON; CPU is Central Processing Unit; CRUD is Create, Read, Update, Delete; FK is Foreign Key; ID is Identifier; IoT is Internet of Things; ISBN is International Standard Book Number; JSON is JavaScript Object Notation; NoSQL is Not Only SQL; PK is Primary Key; RAM is Random Access Memory; SKU is Stock Keeping Unit; SQL is Structured Query Language; USB is Universal Serial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a running example</a:t>
            </a:r>
          </a:p>
          <a:p/>
          <a:p>
            <a:r>
              <a:t>  Instead of jumping between unrelated examples, we follow one online store, training_store, through the whole module and the whole course.</a:t>
            </a:r>
          </a:p>
          <a:p/>
          <a:p>
            <a:r>
              <a:t>- The four collections</a:t>
            </a:r>
          </a:p>
          <a:p/>
          <a:p>
            <a:r>
              <a:t>  customers holds 6 buyer profiles, products holds 13 catalog items in four categories, orders holds 17 orders and reviews holds 6 product reviews.</a:t>
            </a:r>
          </a:p>
          <a:p/>
          <a:p>
            <a:r>
              <a:t>- One order</a:t>
            </a:r>
          </a:p>
          <a:p/>
          <a:p>
            <a:r>
              <a:t>  Luis Romero, customer C204, bought a Running Shoe and a Wireless Keyboard.</a:t>
            </a:r>
          </a:p>
          <a:p/>
          <a:p>
            <a:r>
              <a:t>  That is order O6102: total 211.38, paid and delivered.</a:t>
            </a:r>
          </a:p>
          <a:p/>
          <a:p>
            <a:r>
              <a:t>  We will see this order as rows, as a document and in mongosh.</a:t>
            </a:r>
          </a:p>
          <a:p/>
          <a:p>
            <a:r>
              <a:t>- The question</a:t>
            </a:r>
          </a:p>
          <a:p/>
          <a:p>
            <a:r>
              <a:t>  Where should data like this live, and in what shape?</a:t>
            </a:r>
          </a:p>
          <a:p/>
          <a:p>
            <a:r>
              <a:t>  Every part of the module helps answer that.</a:t>
            </a:r>
          </a:p>
          <a:p/>
          <a:p>
            <a:r>
              <a:t>- Link to the lab</a:t>
            </a:r>
          </a:p>
          <a:p/>
          <a:p>
            <a:r>
              <a:t>  In Exercise 1.3 learners run these first commands against the loaded dataset.</a:t>
            </a:r>
          </a:p>
          <a:p/>
          <a:p>
            <a:r>
              <a:t>  If mongosh isn't installed yet, they follow on the instructor's screen; Module 2 installs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we start</a:t>
            </a:r>
          </a:p>
          <a:p/>
          <a:p>
            <a:r>
              <a:t>  Relational databases have run business applications for decades, and they still do.</a:t>
            </a:r>
          </a:p>
          <a:p/>
          <a:p>
            <a:r>
              <a:t>  We start by looking at the data itself.</a:t>
            </a:r>
          </a:p>
          <a:p/>
          <a:p>
            <a:r>
              <a:t>- What this part answers</a:t>
            </a:r>
          </a:p>
          <a:p/>
          <a:p>
            <a:r>
              <a:t>  We look at the kinds of data applications store, where tables work well, and where they start to struggle.</a:t>
            </a:r>
          </a:p>
          <a:p/>
          <a:p>
            <a:r>
              <a:t>  That explains why NoSQL appeared.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kinds of data</a:t>
            </a:r>
          </a:p>
          <a:p/>
          <a:p>
            <a:r>
              <a:t>  Structured data has rows, columns and a fixed schema, like a table of SKUs, prices and quantities.</a:t>
            </a:r>
          </a:p>
          <a:p/>
          <a:p>
            <a:r>
              <a:t>  Semi-structured data has nested fields and arrays, and its shape can vary.</a:t>
            </a:r>
          </a:p>
          <a:p/>
          <a:p>
            <a:r>
              <a:t>  Unstructured data, such as images, logs and video, has no fixed fields at all.</a:t>
            </a:r>
          </a:p>
          <a:p/>
          <a:p>
            <a:r>
              <a:t>- Why this matters</a:t>
            </a:r>
          </a:p>
          <a:p/>
          <a:p>
            <a:r>
              <a:t>  Relational tables are built for the first kind.</a:t>
            </a:r>
          </a:p>
          <a:p/>
          <a:p>
            <a:r>
              <a:t>  Modern applications produce a lot of the second kind: products with different attributes, customer profiles, reviews and events.</a:t>
            </a:r>
          </a:p>
          <a:p/>
          <a:p>
            <a:r>
              <a:t>- Our dataset</a:t>
            </a:r>
          </a:p>
          <a:p/>
          <a:p>
            <a:r>
              <a:t>  In training_store, order totals and quantities are structured values.</a:t>
            </a:r>
          </a:p>
          <a:p/>
          <a:p>
            <a:r>
              <a:t>  The products are semi-structured: a laptop has a processor and memory, a shoe has sizes and a material, a book has an author and an ISBN.</a:t>
            </a:r>
          </a:p>
          <a:p/>
          <a:p>
            <a:r>
              <a:t>- What it shows</a:t>
            </a:r>
          </a:p>
          <a:p/>
          <a:p>
            <a:r>
              <a:t>  Three kinds of data side by side: a structured table of SKU, price and quantity; a semi-structured JSON product with nested specs and a tags array; and unstructured images, logs and video.</a:t>
            </a:r>
          </a:p>
          <a:p/>
          <a:p>
            <a:r>
              <a:t>- How to read it</a:t>
            </a:r>
          </a:p>
          <a:p/>
          <a:p>
            <a:r>
              <a:t>  Read the caption under each panel: rows, columns and a fixed schema; nested fields and a flexible schema; no fixed fields.</a:t>
            </a:r>
          </a:p>
          <a:p/>
          <a:p>
            <a:r>
              <a:t>- Key point</a:t>
            </a:r>
          </a:p>
          <a:p/>
          <a:p>
            <a:r>
              <a:t>  Relational tables are built for the first panel.</a:t>
            </a:r>
          </a:p>
          <a:p/>
          <a:p>
            <a:r>
              <a:t>  Much of what modern applications store looks like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Relational databases are good at this</a:t>
            </a:r>
          </a:p>
          <a:p/>
          <a:p>
            <a:r>
              <a:t>  Relational databases organize data into fixed tables of rows and columns.</a:t>
            </a:r>
          </a:p>
          <a:p/>
          <a:p>
            <a:r>
              <a:t>  They work well when the structure is stable and relationships must be strictly enforced.</a:t>
            </a:r>
          </a:p>
          <a:p/>
          <a:p>
            <a:r>
              <a:t>- Keys and joins</a:t>
            </a:r>
          </a:p>
          <a:p/>
          <a:p>
            <a:r>
              <a:t>  Primary keys identify rows.</a:t>
            </a:r>
          </a:p>
          <a:p/>
          <a:p>
            <a:r>
              <a:t>  Foreign keys tie an order to a real customer and an order item to a real product.</a:t>
            </a:r>
          </a:p>
          <a:p/>
          <a:p>
            <a:r>
              <a:t>  SQL joins put the pieces back together when the application asks.</a:t>
            </a:r>
          </a:p>
          <a:p/>
          <a:p>
            <a:r>
              <a:t>- Keep this in mind</a:t>
            </a:r>
          </a:p>
          <a:p/>
          <a:p>
            <a:r>
              <a:t>  Nothing in this module says relational databases are obsolete.</a:t>
            </a:r>
          </a:p>
          <a:p/>
          <a:p>
            <a:r>
              <a:t>  For stable, strongly related data with strict integrity rules, they are often the best choice.</a:t>
            </a:r>
          </a:p>
          <a:p/>
          <a:p>
            <a:r>
              <a:t>- What it shows</a:t>
            </a:r>
          </a:p>
          <a:p/>
          <a:p>
            <a:r>
              <a:t>  The training_store application sends SQL queries and joins to a declared schema of four tables: customers, orders, order_items and products.</a:t>
            </a:r>
          </a:p>
          <a:p/>
          <a:p>
            <a:r>
              <a:t>- How to read it</a:t>
            </a:r>
          </a:p>
          <a:p/>
          <a:p>
            <a:r>
              <a:t>  PK marks each table's primary key and FK its foreign keys.</a:t>
            </a:r>
          </a:p>
          <a:p/>
          <a:p>
            <a:r>
              <a:t>  The one-to-many lines show that a customer has many orders and an order has many items.</a:t>
            </a:r>
          </a:p>
          <a:p/>
          <a:p>
            <a:r>
              <a:t>- Key point</a:t>
            </a:r>
          </a:p>
          <a:p/>
          <a:p>
            <a:r>
              <a:t>  When the structure is stable and the joins are well known, this model works very well.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 bank's general ledger has a fixed structure, strict integrity rules and transactions that touch several accounts at once.</a:t>
            </a:r>
          </a:p>
          <a:p/>
          <a:p>
            <a:r>
              <a:t>  That is classic relational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page, many tables</a:t>
            </a:r>
          </a:p>
          <a:p/>
          <a:p>
            <a:r>
              <a:t>  To show one complete order, the application reads the customer, the address, the order, every order item and the payment.</a:t>
            </a:r>
          </a:p>
          <a:p/>
          <a:p>
            <a:r>
              <a:t>  That is five tables and several joins for a single page.</a:t>
            </a:r>
          </a:p>
          <a:p/>
          <a:p>
            <a:r>
              <a:t>- Change is expensive</a:t>
            </a:r>
          </a:p>
          <a:p/>
          <a:p>
            <a:r>
              <a:t>  When the catalog adds a new kind of product with new attributes, a fixed schema needs new columns, new tables or many optional columns.</a:t>
            </a:r>
          </a:p>
          <a:p/>
          <a:p>
            <a:r>
              <a:t>  Each change means a migration.</a:t>
            </a:r>
          </a:p>
          <a:p/>
          <a:p>
            <a:r>
              <a:t>- Scale is harder</a:t>
            </a:r>
          </a:p>
          <a:p/>
          <a:p>
            <a:r>
              <a:t>  Relational databases traditionally scale up on a bigger server.</a:t>
            </a:r>
          </a:p>
          <a:p/>
          <a:p>
            <a:r>
              <a:t>  Spreading joined tables across many servers is hard.</a:t>
            </a:r>
          </a:p>
          <a:p/>
          <a:p>
            <a:r>
              <a:t>- Be fair</a:t>
            </a:r>
          </a:p>
          <a:p/>
          <a:p>
            <a:r>
              <a:t>  These are costs, not failures.</a:t>
            </a:r>
          </a:p>
          <a:p/>
          <a:p>
            <a:r>
              <a:t>  They grow as the data changes faster and the volume grows.</a:t>
            </a:r>
          </a:p>
          <a:p/>
          <a:p>
            <a:r>
              <a:t>- What it shows</a:t>
            </a:r>
          </a:p>
          <a:p/>
          <a:p>
            <a:r>
              <a:t>  To build Complete Order #1048, the application joins customers, addresses, orders, order_items and payments.</a:t>
            </a:r>
          </a:p>
          <a:p/>
          <a:p>
            <a:r>
              <a:t>- How to read it</a:t>
            </a:r>
          </a:p>
          <a:p/>
          <a:p>
            <a:r>
              <a:t>  Follow the JOIN arrows up to the order.</a:t>
            </a:r>
          </a:p>
          <a:p/>
          <a:p>
            <a:r>
              <a:t>  The red text sums up the cost: multiple lookups, more work and higher latency.</a:t>
            </a:r>
          </a:p>
          <a:p/>
          <a:p>
            <a:r>
              <a:t>- Key point</a:t>
            </a:r>
          </a:p>
          <a:p/>
          <a:p>
            <a:r>
              <a:t>  The more pieces one business object is split into, the more work every read does.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Imagine the store's busiest page is the order history.</a:t>
            </a:r>
          </a:p>
          <a:p/>
          <a:p>
            <a:r>
              <a:t>Every page view runs the same five-table join, thousands of times a minute.</a:t>
            </a:r>
          </a:p>
          <a:p/>
          <a:p>
            <a:r>
              <a:t>The data rarely changes after the order is placed, yet it is reassembled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relational version</a:t>
            </a:r>
          </a:p>
          <a:p/>
          <a:p>
            <a:r>
              <a:t>  To sell shoes, the products table first needs new columns for sizes, color and material.</a:t>
            </a:r>
          </a:p>
          <a:p/>
          <a:p>
            <a:r>
              <a:t>  Every laptop and book row now has three empty columns.</a:t>
            </a:r>
          </a:p>
          <a:p/>
          <a:p>
            <a:r>
              <a:t>  The alternative is extra attribute tables, which means more joins.</a:t>
            </a:r>
          </a:p>
          <a:p/>
          <a:p>
            <a:r>
              <a:t>- The document version</a:t>
            </a:r>
          </a:p>
          <a:p/>
          <a:p>
            <a:r>
              <a:t>  In MongoDB we insert the shoe with the fields it needs.</a:t>
            </a:r>
          </a:p>
          <a:p/>
          <a:p>
            <a:r>
              <a:t>  This is the shape of the real Running Shoe, SKU S200, in training_store, trimmed for the slide; the real document also has tags, active and createdAt.</a:t>
            </a:r>
          </a:p>
          <a:p/>
          <a:p>
            <a:r>
              <a:t>- Don't run it on the loaded data</a:t>
            </a:r>
          </a:p>
          <a:p/>
          <a:p>
            <a:r>
              <a:t>  training_store already contains S200, and sku has a unique index, so this insert would fail with a duplicate key error.</a:t>
            </a:r>
          </a:p>
          <a:p/>
          <a:p>
            <a:r>
              <a:t>  It shows how the product got there.</a:t>
            </a:r>
          </a:p>
          <a:p/>
          <a:p>
            <a:r>
              <a:t>- The balance</a:t>
            </a:r>
          </a:p>
          <a:p/>
          <a:p>
            <a:r>
              <a:t>  Flexible doesn't mean random.</a:t>
            </a:r>
          </a:p>
          <a:p/>
          <a:p>
            <a:r>
              <a:t>  Module 3 decides which fields every product must share and which can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Only SQL</a:t>
            </a:r>
          </a:p>
          <a:p/>
          <a:p>
            <a:r>
              <a:t>  NoSQL means Not Only SQL.</a:t>
            </a:r>
          </a:p>
          <a:p/>
          <a:p>
            <a:r>
              <a:t>  It refers to databases designed to store and retrieve data using models other than relational tables.</a:t>
            </a:r>
          </a:p>
          <a:p/>
          <a:p>
            <a:r>
              <a:t>- Four families</a:t>
            </a:r>
          </a:p>
          <a:p/>
          <a:p>
            <a:r>
              <a:t>  The four main NoSQL families are document, key-value, column-family and graph.</a:t>
            </a:r>
          </a:p>
          <a:p/>
          <a:p>
            <a:r>
              <a:t>  Each organizes data differently, and each is fast at a different kind of access.</a:t>
            </a:r>
          </a:p>
          <a:p/>
          <a:p>
            <a:r>
              <a:t>- Both exist</a:t>
            </a:r>
          </a:p>
          <a:p/>
          <a:p>
            <a:r>
              <a:t>  NoSQL doesn't mean SQL databases are obsolete.</a:t>
            </a:r>
          </a:p>
          <a:p/>
          <a:p>
            <a:r>
              <a:t>  The right database depends on the application's data, access patterns, consistency requirements and scale.</a:t>
            </a:r>
          </a:p>
          <a:p/>
          <a:p>
            <a:r>
              <a:t>  Many real systems use both.</a:t>
            </a:r>
          </a:p>
          <a:p/>
          <a:p>
            <a:r>
              <a:t>- What it shows</a:t>
            </a:r>
          </a:p>
          <a:p/>
          <a:p>
            <a:r>
              <a:t>  A SQL table on the left and the four NoSQL families on the right: document, key-value, column-family and graph.</a:t>
            </a:r>
          </a:p>
          <a:p/>
          <a:p>
            <a:r>
              <a:t>- How to read it</a:t>
            </a:r>
          </a:p>
          <a:p/>
          <a:p>
            <a:r>
              <a:t>  The plus sign and the two-way arrow say both exist.</a:t>
            </a:r>
          </a:p>
          <a:p/>
          <a:p>
            <a:r>
              <a:t>  NoSQL adds models; it doesn't remove SQL.</a:t>
            </a:r>
          </a:p>
          <a:p/>
          <a:p>
            <a:r>
              <a:t>- Key point</a:t>
            </a:r>
          </a:p>
          <a:p/>
          <a:p>
            <a:r>
              <a:t>  NoSQL is a family of models, and SQL remains one of the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pushed teams to NoSQL</a:t>
            </a:r>
          </a:p>
          <a:p/>
          <a:p>
            <a:r>
              <a:t>  NoSQL databases address frequently changing data structures, large volumes of data and high-speed reads and writes.</a:t>
            </a:r>
          </a:p>
          <a:p/>
          <a:p>
            <a:r>
              <a:t>  They also address distributed applications and horizontal scaling across many servers.</a:t>
            </a:r>
          </a:p>
          <a:p/>
          <a:p>
            <a:r>
              <a:t>- The four outcomes</a:t>
            </a:r>
          </a:p>
          <a:p/>
          <a:p>
            <a:r>
              <a:t>  Flexible schema lets fields change as the product changes.</a:t>
            </a:r>
          </a:p>
          <a:p/>
          <a:p>
            <a:r>
              <a:t>  Horizontal scale adds servers instead of buying a bigger one.</a:t>
            </a:r>
          </a:p>
          <a:p/>
          <a:p>
            <a:r>
              <a:t>  Availability keeps copies on several servers, so one failure doesn't stop the application.</a:t>
            </a:r>
          </a:p>
          <a:p/>
          <a:p>
            <a:r>
              <a:t>  Faster delivery comes from storing objects the way the application already uses them.</a:t>
            </a:r>
          </a:p>
          <a:p/>
          <a:p>
            <a:r>
              <a:t>- Keep the balance</a:t>
            </a:r>
          </a:p>
          <a:p/>
          <a:p>
            <a:r>
              <a:t>  These are reasons to consider NoSQL, not a guarantee.</a:t>
            </a:r>
          </a:p>
          <a:p/>
          <a:p>
            <a:r>
              <a:t>  A good design still starts from how the application reads and writes.</a:t>
            </a:r>
          </a:p>
          <a:p/>
          <a:p>
            <a:r>
              <a:t>- What it shows</a:t>
            </a:r>
          </a:p>
          <a:p/>
          <a:p>
            <a:r>
              <a:t>  Application growth in the center, pointing to four needs: flexible schema, horizontal scale, availability and faster delivery.</a:t>
            </a:r>
          </a:p>
          <a:p/>
          <a:p>
            <a:r>
              <a:t>- How to read it</a:t>
            </a:r>
          </a:p>
          <a:p/>
          <a:p>
            <a:r>
              <a:t>  Each circle is one reason teams reach for a NoSQL database as the application grows.</a:t>
            </a:r>
          </a:p>
          <a:p/>
          <a:p>
            <a:r>
              <a:t>- Key point</a:t>
            </a:r>
          </a:p>
          <a:p/>
          <a:p>
            <a:r>
              <a:t>  Teams adopt NoSQL for concrete needs, not because it is newer.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Pairs, five minutes, then compare.</a:t>
            </a:r>
          </a:p>
          <a:p/>
          <a:p>
            <a:r>
              <a:t>  Point back to the challenges diagram with its five tables.</a:t>
            </a:r>
          </a:p>
          <a:p/>
          <a:p>
            <a:r>
              <a:t>- The joins</a:t>
            </a:r>
          </a:p>
          <a:p/>
          <a:p>
            <a:r>
              <a:t>  Five tables need four joins.</a:t>
            </a:r>
          </a:p>
          <a:p/>
          <a:p>
            <a:r>
              <a:t>  Showing product names adds the products table and a fifth join.</a:t>
            </a:r>
          </a:p>
          <a:p/>
          <a:p>
            <a:r>
              <a:t>- The keys</a:t>
            </a:r>
          </a:p>
          <a:p/>
          <a:p>
            <a:r>
              <a:t>  customer_id links customers to orders and addresses, address_id links the order to its address, order_id links items and payments, and product_id links items to products.</a:t>
            </a:r>
          </a:p>
          <a:p/>
          <a:p>
            <a:r>
              <a:t>- The document</a:t>
            </a:r>
          </a:p>
          <a:p/>
          <a:p>
            <a:r>
              <a:t>  In training_store, O6102 is one document.</a:t>
            </a:r>
          </a:p>
          <a:p/>
          <a:p>
            <a:r>
              <a:t>  Its items and shipping address are embedded, and it holds a customerId reference to Luis.</a:t>
            </a:r>
          </a:p>
          <a:p/>
          <a:p>
            <a:r>
              <a:t>  The payment is a paymentStatus field.</a:t>
            </a:r>
          </a:p>
          <a:p/>
          <a:p>
            <a:r>
              <a:t>  We look at this shape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the parts</a:t>
            </a:r>
          </a:p>
          <a:p/>
          <a:p>
            <a:r>
              <a:t>  Part 1 explained why NoSQL appeared.</a:t>
            </a:r>
          </a:p>
          <a:p/>
          <a:p>
            <a:r>
              <a:t>  Part 2 shows that NoSQL is four quite different models.</a:t>
            </a:r>
          </a:p>
          <a:p/>
          <a:p>
            <a:r>
              <a:t>- Watch for</a:t>
            </a:r>
          </a:p>
          <a:p/>
          <a:p>
            <a:r>
              <a:t>  For each model, notice the access pattern it is fast at.</a:t>
            </a:r>
          </a:p>
          <a:p/>
          <a:p>
            <a:r>
              <a:t>  That is the skill Exercise 1.1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Document</a:t>
            </a:r>
          </a:p>
          <a:p/>
          <a:p>
            <a:r>
              <a:t>  A document database stores self-contained, JSON-like documents.</a:t>
            </a:r>
          </a:p>
          <a:p/>
          <a:p>
            <a:r>
              <a:t>  Examples are MongoDB and Couchbase.</a:t>
            </a:r>
          </a:p>
          <a:p/>
          <a:p>
            <a:r>
              <a:t>- Key-value</a:t>
            </a:r>
          </a:p>
          <a:p/>
          <a:p>
            <a:r>
              <a:t>  A key-value store keeps each value under a unique key and returns it when you give it that key.</a:t>
            </a:r>
          </a:p>
          <a:p/>
          <a:p>
            <a:r>
              <a:t>  Examples are Redis and Amazon DynamoDB.</a:t>
            </a:r>
          </a:p>
          <a:p/>
          <a:p>
            <a:r>
              <a:t>- Column-family</a:t>
            </a:r>
          </a:p>
          <a:p/>
          <a:p>
            <a:r>
              <a:t>  A column-family store keeps wide rows found by a row key, with columns grouped into families, and rows can have different columns.</a:t>
            </a:r>
          </a:p>
          <a:p/>
          <a:p>
            <a:r>
              <a:t>  Examples are Apache Cassandra and HBase.</a:t>
            </a:r>
          </a:p>
          <a:p/>
          <a:p>
            <a:r>
              <a:t>- Graph</a:t>
            </a:r>
          </a:p>
          <a:p/>
          <a:p>
            <a:r>
              <a:t>  A graph database stores nodes and the relationships between them as first-class data.</a:t>
            </a:r>
          </a:p>
          <a:p/>
          <a:p>
            <a:r>
              <a:t>  Examples are Neo4j and Amazon Neptune.</a:t>
            </a:r>
          </a:p>
          <a:p/>
          <a:p>
            <a:r>
              <a:t>- What it shows</a:t>
            </a:r>
          </a:p>
          <a:p/>
          <a:p>
            <a:r>
              <a:t>  The four NoSQL families, each with a small example: a JSON-like document, a cart:1001 key pointing to a value, a wide row with stock_CA and stock_US columns, and a customer who bought a product and wrote a review.</a:t>
            </a:r>
          </a:p>
          <a:p/>
          <a:p>
            <a:r>
              <a:t>- How to read it</a:t>
            </a:r>
          </a:p>
          <a:p/>
          <a:p>
            <a:r>
              <a:t>  Read the subtitle in each box: JSON-like aggregates, opaque value by key, wide rows with variable columns, nodes plus relationships.</a:t>
            </a:r>
          </a:p>
          <a:p/>
          <a:p>
            <a:r>
              <a:t>- Key point</a:t>
            </a:r>
          </a:p>
          <a:p/>
          <a:p>
            <a:r>
              <a:t>  Each family is optimized for a different way of reading and writing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Self-contained documents</a:t>
            </a:r>
          </a:p>
          <a:p/>
          <a:p>
            <a:r>
              <a:t>  Document databases store information as self-contained documents, usually in a JSON-like format.</a:t>
            </a:r>
          </a:p>
          <a:p/>
          <a:p>
            <a:r>
              <a:t>  Their main advantage is that one application object can often be stored as one document, without splitting it across many tables.</a:t>
            </a:r>
          </a:p>
          <a:p/>
          <a:p>
            <a:r>
              <a:t>- A real training_store product</a:t>
            </a:r>
          </a:p>
          <a:p/>
          <a:p>
            <a:r>
              <a:t>  The code card shows the Trail Shoe, SKU S210, from our products collection.</a:t>
            </a:r>
          </a:p>
          <a:p/>
          <a:p>
            <a:r>
              <a:t>  Its sizes array and its color and material sit inside an attributes sub-document.</a:t>
            </a:r>
          </a:p>
          <a:p/>
          <a:p>
            <a:r>
              <a:t>  A laptop in the same collection has a processor and memory instead.</a:t>
            </a:r>
          </a:p>
          <a:p/>
          <a:p>
            <a:r>
              <a:t>- Where they fit</a:t>
            </a:r>
          </a:p>
          <a:p/>
          <a:p>
            <a:r>
              <a:t>  Document databases suit product catalogs, customer profiles, content management, mobile and web applications, and order management.</a:t>
            </a:r>
          </a:p>
          <a:p/>
          <a:p>
            <a:r>
              <a:t>- What it shows</a:t>
            </a:r>
          </a:p>
          <a:p/>
          <a:p>
            <a:r>
              <a:t>  MongoDB and training_store in the center, surrounded by six use cases: product catalog, customer profile, order history, personalization, IoT and events, and content.</a:t>
            </a:r>
          </a:p>
          <a:p/>
          <a:p>
            <a:r>
              <a:t>- How to read it</a:t>
            </a:r>
          </a:p>
          <a:p/>
          <a:p>
            <a:r>
              <a:t>  Each box is a kind of application object that maps naturally to one document.</a:t>
            </a:r>
          </a:p>
          <a:p/>
          <a:p>
            <a:r>
              <a:t>- Key point</a:t>
            </a:r>
          </a:p>
          <a:p/>
          <a:p>
            <a:r>
              <a:t>  Document databases shine when one business object can live in one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it works</a:t>
            </a:r>
          </a:p>
          <a:p/>
          <a:p>
            <a:r>
              <a:t>  A key-value database stores each value under a unique key.</a:t>
            </a:r>
          </a:p>
          <a:p/>
          <a:p>
            <a:r>
              <a:t>  The application provides the key, and the database returns the value.</a:t>
            </a:r>
          </a:p>
          <a:p/>
          <a:p>
            <a:r>
              <a:t>- Opaque values</a:t>
            </a:r>
          </a:p>
          <a:p/>
          <a:p>
            <a:r>
              <a:t>  The store usually treats the value as an opaque blob.</a:t>
            </a:r>
          </a:p>
          <a:p/>
          <a:p>
            <a:r>
              <a:t>  It doesn't query inside the value; it simply returns it.</a:t>
            </a:r>
          </a:p>
          <a:p/>
          <a:p>
            <a:r>
              <a:t>- Strengths and limits</a:t>
            </a:r>
          </a:p>
          <a:p/>
          <a:p>
            <a:r>
              <a:t>  Access is very fast when the application knows the key.</a:t>
            </a:r>
          </a:p>
          <a:p/>
          <a:p>
            <a:r>
              <a:t>  Typical uses are caching, user sessions, shopping carts, preferences and real-time counters.</a:t>
            </a:r>
          </a:p>
          <a:p/>
          <a:p>
            <a:r>
              <a:t>  Complex, relationship-based queries are difficult.</a:t>
            </a:r>
          </a:p>
          <a:p/>
          <a:p>
            <a:r>
              <a:t>- What it shows</a:t>
            </a:r>
          </a:p>
          <a:p/>
          <a:p>
            <a:r>
              <a:t>  A Session Service asks for session:abc and a Shopping Cart Service asks for cart:42.</a:t>
            </a:r>
          </a:p>
          <a:p/>
          <a:p>
            <a:r>
              <a:t>  The key-value store returns each opaque value blob.</a:t>
            </a:r>
          </a:p>
          <a:p/>
          <a:p>
            <a:r>
              <a:t>- How to read it</a:t>
            </a:r>
          </a:p>
          <a:p/>
          <a:p>
            <a:r>
              <a:t>  Solid red arrows are GET requests by key.</a:t>
            </a:r>
          </a:p>
          <a:p/>
          <a:p>
            <a:r>
              <a:t>  Dashed arrows are the values coming back.</a:t>
            </a:r>
          </a:p>
          <a:p/>
          <a:p>
            <a:r>
              <a:t>  The store matches the exact key only.</a:t>
            </a:r>
          </a:p>
          <a:p/>
          <a:p>
            <a:r>
              <a:t>- Key point</a:t>
            </a:r>
          </a:p>
          <a:p/>
          <a:p>
            <a:r>
              <a:t>  Very fast when you know the key, but the store doesn't search inside the value.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 web store keeps each shopper's session under a key like session:abc in Redis.</a:t>
            </a:r>
          </a:p>
          <a:p/>
          <a:p>
            <a:r>
              <a:t>  Every page request reads it by that key in well under a millisecond.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Row key first</a:t>
            </a:r>
          </a:p>
          <a:p/>
          <a:p>
            <a:r>
              <a:t>  In a column-family store, every lookup starts from a row key, here a customerId.</a:t>
            </a:r>
          </a:p>
          <a:p/>
          <a:p>
            <a:r>
              <a:t>- Families of columns</a:t>
            </a:r>
          </a:p>
          <a:p/>
          <a:p>
            <a:r>
              <a:t>  Related columns are grouped into column families: profile, orders and activity.</a:t>
            </a:r>
          </a:p>
          <a:p/>
          <a:p>
            <a:r>
              <a:t>  The application usually reads one family at a time.</a:t>
            </a:r>
          </a:p>
          <a:p/>
          <a:p>
            <a:r>
              <a:t>- Sparse rows</a:t>
            </a:r>
          </a:p>
          <a:p/>
          <a:p>
            <a:r>
              <a:t>  A row stores only the columns it actually has.</a:t>
            </a:r>
          </a:p>
          <a:p/>
          <a:p>
            <a:r>
              <a:t>  The dashes in the diagram are missing values, and they cost nothing.</a:t>
            </a:r>
          </a:p>
          <a:p/>
          <a:p>
            <a:r>
              <a:t>- Where they fit</a:t>
            </a:r>
          </a:p>
          <a:p/>
          <a:p>
            <a:r>
              <a:t>  Column-family stores such as Apache Cassandra and HBase handle very large, distributed write volumes, such as events, sensor readings and time series.</a:t>
            </a:r>
          </a:p>
          <a:p/>
          <a:p>
            <a:r>
              <a:t>- What it shows</a:t>
            </a:r>
          </a:p>
          <a:p/>
          <a:p>
            <a:r>
              <a:t>  A table keyed by customerId with three column families: profile, orders and activity.</a:t>
            </a:r>
          </a:p>
          <a:p/>
          <a:p>
            <a:r>
              <a:t>- How to read it</a:t>
            </a:r>
          </a:p>
          <a:p/>
          <a:p>
            <a:r>
              <a:t>  Look along a row.</a:t>
            </a:r>
          </a:p>
          <a:p/>
          <a:p>
            <a:r>
              <a:t>  Customer 205 has no tier and no lastSeen, and customer 318 has no orders — the dashes are simply missing columns.</a:t>
            </a:r>
          </a:p>
          <a:p/>
          <a:p>
            <a:r>
              <a:t>- Key point</a:t>
            </a:r>
          </a:p>
          <a:p/>
          <a:p>
            <a:r>
              <a:t>  Lookups start from the row key, and rows only store the columns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Nodes, edges and properties</a:t>
            </a:r>
          </a:p>
          <a:p/>
          <a:p>
            <a:r>
              <a:t>  A graph database represents data as nodes, such as customers and products, and edges, the relationships between them.</a:t>
            </a:r>
          </a:p>
          <a:p/>
          <a:p>
            <a:r>
              <a:t>  Both nodes and edges can carry properties.</a:t>
            </a:r>
          </a:p>
          <a:p/>
          <a:p>
            <a:r>
              <a:t>- The same store, as a graph</a:t>
            </a:r>
          </a:p>
          <a:p/>
          <a:p>
            <a:r>
              <a:t>  These are real training_store facts drawn as a graph.</a:t>
            </a:r>
          </a:p>
          <a:p/>
          <a:p>
            <a:r>
              <a:t>  Aisha Khan, customer C101, ordered the Business Laptop and the USB Hub, and reviewed the laptop with five stars.</a:t>
            </a:r>
          </a:p>
          <a:p/>
          <a:p>
            <a:r>
              <a:t>  Luis Romero, customer C204, ordered the Business Laptop too.</a:t>
            </a:r>
          </a:p>
          <a:p/>
          <a:p>
            <a:r>
              <a:t>- Traversal is the strength</a:t>
            </a:r>
          </a:p>
          <a:p/>
          <a:p>
            <a:r>
              <a:t>  A recommendation is a walk along the edges: Luis ordered L100, Aisha also ordered L100, and Aisha ordered A400.</a:t>
            </a:r>
          </a:p>
          <a:p/>
          <a:p>
            <a:r>
              <a:t>  So we can suggest the USB Hub to Luis.</a:t>
            </a:r>
          </a:p>
          <a:p/>
          <a:p>
            <a:r>
              <a:t>  Graph databases make multi-step walks like this fast.</a:t>
            </a:r>
          </a:p>
          <a:p/>
          <a:p>
            <a:r>
              <a:t>- Where they fit</a:t>
            </a:r>
          </a:p>
          <a:p/>
          <a:p>
            <a:r>
              <a:t>  Social networks, recommendation engines, fraud detection, network analysis and identity and access relationships.</a:t>
            </a:r>
          </a:p>
          <a:p/>
          <a:p>
            <a:r>
              <a:t>  Examples are Neo4j and Amazon Neptune.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read the table</a:t>
            </a:r>
          </a:p>
          <a:p/>
          <a:p>
            <a:r>
              <a:t>  Each row is one model: how it stores data, what it is best at, and where it is typically used.</a:t>
            </a:r>
          </a:p>
          <a:p/>
          <a:p>
            <a:r>
              <a:t>- Relational is on the list</a:t>
            </a:r>
          </a:p>
          <a:p/>
          <a:p>
            <a:r>
              <a:t>  Exercise 1.1 includes relational as one of five choices, because for some workloads it is still the best one.</a:t>
            </a:r>
          </a:p>
          <a:p/>
          <a:p>
            <a:r>
              <a:t>- The questions to ask</a:t>
            </a:r>
          </a:p>
          <a:p/>
          <a:p>
            <a:r>
              <a:t>  Is the data read by an exact key?</a:t>
            </a:r>
          </a:p>
          <a:p/>
          <a:p>
            <a:r>
              <a:t>  As a whole object?</a:t>
            </a:r>
          </a:p>
          <a:p/>
          <a:p>
            <a:r>
              <a:t>  Written in huge volumes?</a:t>
            </a:r>
          </a:p>
          <a:p/>
          <a:p>
            <a:r>
              <a:t>  Or walked along relationships?</a:t>
            </a:r>
          </a:p>
          <a:p/>
          <a:p>
            <a:r>
              <a:t>  Each answer points to a different row.</a:t>
            </a:r>
          </a:p>
          <a:p/>
          <a:p>
            <a:r>
              <a:t>- No single winner</a:t>
            </a:r>
          </a:p>
          <a:p/>
          <a:p>
            <a:r>
              <a:t>  More than one model can often work.</a:t>
            </a:r>
          </a:p>
          <a:p/>
          <a:p>
            <a:r>
              <a:t>  The justification, based on the access pattern, matters more than the product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MongoDB is the document database this course teaches.</a:t>
            </a:r>
          </a:p>
          <a:p/>
          <a:p>
            <a:r>
              <a:t>  Now we look closely at how it organizes data.</a:t>
            </a:r>
          </a:p>
          <a:p/>
          <a:p>
            <a:r>
              <a:t>- What to watch</a:t>
            </a:r>
          </a:p>
          <a:p/>
          <a:p>
            <a:r>
              <a:t>  Keep comparing with the relational tables from Part 1.</a:t>
            </a:r>
          </a:p>
          <a:p/>
          <a:p>
            <a:r>
              <a:t>  By the end, learners should be able to read a training_store document and name every part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document database</a:t>
            </a:r>
          </a:p>
          <a:p/>
          <a:p>
            <a:r>
              <a:t>  MongoDB is a document-oriented NoSQL database.</a:t>
            </a:r>
          </a:p>
          <a:p/>
          <a:p>
            <a:r>
              <a:t>  It stores data as BSON documents, grouped into collections.</a:t>
            </a:r>
          </a:p>
          <a:p/>
          <a:p>
            <a:r>
              <a:t>- BSON</a:t>
            </a:r>
          </a:p>
          <a:p/>
          <a:p>
            <a:r>
              <a:t>  BSON is a binary representation of JSON-like data.</a:t>
            </a:r>
          </a:p>
          <a:p/>
          <a:p>
            <a:r>
              <a:t>  It adds types that JSON doesn't have, such as dates, decimals and ObjectIds.</a:t>
            </a:r>
          </a:p>
          <a:p/>
          <a:p>
            <a:r>
              <a:t>- Our four collections</a:t>
            </a:r>
          </a:p>
          <a:p/>
          <a:p>
            <a:r>
              <a:t>  training_store has four collections: customers, products, orders and reviews.</a:t>
            </a:r>
          </a:p>
          <a:p/>
          <a:p>
            <a:r>
              <a:t>  After the full load there are 6 customers, 13 products, 17 orders and 6 reviews.</a:t>
            </a:r>
          </a:p>
          <a:p/>
          <a:p>
            <a:r>
              <a:t>- What it shows</a:t>
            </a:r>
          </a:p>
          <a:p/>
          <a:p>
            <a:r>
              <a:t>  MongoDB, a NoSQL document database, in the center, linked to documents, collections, flexible schema, indexes and replica sets.</a:t>
            </a:r>
          </a:p>
          <a:p/>
          <a:p>
            <a:r>
              <a:t>- How to read it</a:t>
            </a:r>
          </a:p>
          <a:p/>
          <a:p>
            <a:r>
              <a:t>  The collections box lists our four training_store collections: products, customers, orders and reviews.</a:t>
            </a:r>
          </a:p>
          <a:p/>
          <a:p>
            <a:r>
              <a:t>- Key point</a:t>
            </a:r>
          </a:p>
          <a:p/>
          <a:p>
            <a:r>
              <a:t>  These five ideas are the building blocks of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hierarchy</a:t>
            </a:r>
          </a:p>
          <a:p/>
          <a:p>
            <a:r>
              <a:t>  A MongoDB deployment contains databases.</a:t>
            </a:r>
          </a:p>
          <a:p/>
          <a:p>
            <a:r>
              <a:t>  A database contains collections.</a:t>
            </a:r>
          </a:p>
          <a:p/>
          <a:p>
            <a:r>
              <a:t>  A collection contains documents, and a document contains fields.</a:t>
            </a:r>
          </a:p>
          <a:p/>
          <a:p>
            <a:r>
              <a:t>- Walking it in mongosh</a:t>
            </a:r>
          </a:p>
          <a:p/>
          <a:p>
            <a:r>
              <a:t>  show dbs lists the databases.</a:t>
            </a:r>
          </a:p>
          <a:p/>
          <a:p>
            <a:r>
              <a:t>  use training_store selects ours.</a:t>
            </a:r>
          </a:p>
          <a:p/>
          <a:p>
            <a:r>
              <a:t>  show collections lists its collections, and db.products.findOne() prints one document.</a:t>
            </a:r>
          </a:p>
          <a:p/>
          <a:p>
            <a:r>
              <a:t>  That is exactly the path of Exercise 1.3.</a:t>
            </a:r>
          </a:p>
          <a:p/>
          <a:p>
            <a:r>
              <a:t>- Created on first write</a:t>
            </a:r>
          </a:p>
          <a:p/>
          <a:p>
            <a:r>
              <a:t>  MongoDB creates a database or a collection the first time you insert into it.</a:t>
            </a:r>
          </a:p>
          <a:p/>
          <a:p>
            <a:r>
              <a:t>  There is no separate CREATE TABLE step.</a:t>
            </a:r>
          </a:p>
          <a:p/>
          <a:p>
            <a:r>
              <a:t>- About the sample document</a:t>
            </a:r>
          </a:p>
          <a:p/>
          <a:p>
            <a:r>
              <a:t>  The document in the diagram is a simplified illustration.</a:t>
            </a:r>
          </a:p>
          <a:p/>
          <a:p>
            <a:r>
              <a:t>  A real one from our products collection is B300, MongoDB Fundamentals, priced at 59.99.</a:t>
            </a:r>
          </a:p>
          <a:p/>
          <a:p>
            <a:r>
              <a:t>- What it shows</a:t>
            </a:r>
          </a:p>
          <a:p/>
          <a:p>
            <a:r>
              <a:t>  Five levels, each containing the next: a deployment, the training_store database, the products collection, one document, and one field.</a:t>
            </a:r>
          </a:p>
          <a:p/>
          <a:p>
            <a:r>
              <a:t>- How to read it</a:t>
            </a:r>
          </a:p>
          <a:p/>
          <a:p>
            <a:r>
              <a:t>  Read top to bottom and say contains at each arrow.</a:t>
            </a:r>
          </a:p>
          <a:p/>
          <a:p>
            <a:r>
              <a:t>- Key point</a:t>
            </a:r>
          </a:p>
          <a:p/>
          <a:p>
            <a:r>
              <a:t>  Every command you type in mongosh works at one of these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mapping</a:t>
            </a:r>
          </a:p>
          <a:p/>
          <a:p>
            <a:r>
              <a:t>  A relational table maps to a collection, a row to a document, and a column to a field.</a:t>
            </a:r>
          </a:p>
          <a:p/>
          <a:p>
            <a:r>
              <a:t>  The primary key maps to _id.</a:t>
            </a:r>
          </a:p>
          <a:p/>
          <a:p>
            <a:r>
              <a:t>- Where the mapping breaks</a:t>
            </a:r>
          </a:p>
          <a:p/>
          <a:p>
            <a:r>
              <a:t>  A document can hold nested objects and arrays that a single row can't.</a:t>
            </a:r>
          </a:p>
          <a:p/>
          <a:p>
            <a:r>
              <a:t>  So one document often replaces several joined rows.</a:t>
            </a:r>
          </a:p>
          <a:p/>
          <a:p>
            <a:r>
              <a:t>- Joins</a:t>
            </a:r>
          </a:p>
          <a:p/>
          <a:p>
            <a:r>
              <a:t>  Instead of joining at read time, MongoDB usually embeds data that is read together, or stores a reference to another document.</a:t>
            </a:r>
          </a:p>
          <a:p/>
          <a:p>
            <a:r>
              <a:t>  When a join is really needed, the $lookup aggregation stage can do one.</a:t>
            </a:r>
          </a:p>
          <a:p/>
          <a:p>
            <a:r>
              <a:t>- Schema</a:t>
            </a:r>
          </a:p>
          <a:p/>
          <a:p>
            <a:r>
              <a:t>  The schema is implicit: it comes from the documents themselves.</a:t>
            </a:r>
          </a:p>
          <a:p/>
          <a:p>
            <a:r>
              <a:t>  When fields must always exist or have a type, you add schema validation.</a:t>
            </a:r>
          </a:p>
          <a:p/>
          <a:p>
            <a:r>
              <a:t>- What it shows</a:t>
            </a:r>
          </a:p>
          <a:p/>
          <a:p>
            <a:r>
              <a:t>  Relational terms on the left and their MongoDB equivalents on the right, from database down to JOIN.</a:t>
            </a:r>
          </a:p>
          <a:p/>
          <a:p>
            <a:r>
              <a:t>- How to read it</a:t>
            </a:r>
          </a:p>
          <a:p/>
          <a:p>
            <a:r>
              <a:t>  Schema maps to implicit, primary key maps to _id, and JOIN maps to embed or reference.</a:t>
            </a:r>
          </a:p>
          <a:p/>
          <a:p>
            <a:r>
              <a:t>- Key point</a:t>
            </a:r>
          </a:p>
          <a:p/>
          <a:p>
            <a:r>
              <a:t>  The words map neatly; the designs often don't.</a:t>
            </a:r>
          </a:p>
          <a:p/>
          <a:p>
            <a:r>
              <a:t>  A document can replace several joined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_id</a:t>
            </a:r>
          </a:p>
          <a:p/>
          <a:p>
            <a:r>
              <a:t>  Every document has an _id field that is unique within its collection.</a:t>
            </a:r>
          </a:p>
          <a:p/>
          <a:p>
            <a:r>
              <a:t>  If you don't supply one, the driver or mongosh adds an ObjectId.</a:t>
            </a:r>
          </a:p>
          <a:p/>
          <a:p>
            <a:r>
              <a:t>  An ObjectId is 12 bytes and starts with a timestamp.</a:t>
            </a:r>
          </a:p>
          <a:p/>
          <a:p>
            <a:r>
              <a:t>- Typed values</a:t>
            </a:r>
          </a:p>
          <a:p/>
          <a:p>
            <a:r>
              <a:t>  BSON keeps real types: String, Decimal128, Boolean, Date, arrays and embedded documents.</a:t>
            </a:r>
          </a:p>
          <a:p/>
          <a:p>
            <a:r>
              <a:t>  mongosh shows them as JSON-like text, but they are stored as typed binary.</a:t>
            </a:r>
          </a:p>
          <a:p/>
          <a:p>
            <a:r>
              <a:t>- Money and time</a:t>
            </a:r>
          </a:p>
          <a:p/>
          <a:p>
            <a:r>
              <a:t>  Use Decimal128 for prices, so 129.99 stays exactly 129.99.</a:t>
            </a:r>
          </a:p>
          <a:p/>
          <a:p>
            <a:r>
              <a:t>  Use real dates, not date strings, so you can sort and filter by time.</a:t>
            </a:r>
          </a:p>
          <a:p/>
          <a:p>
            <a:r>
              <a:t>- A warning from our dataset</a:t>
            </a:r>
          </a:p>
          <a:p/>
          <a:p>
            <a:r>
              <a:t>  training_store deliberately contains one product, XBAD, whose price is the string "49.99" instead of a number.</a:t>
            </a:r>
          </a:p>
          <a:p/>
          <a:p>
            <a:r>
              <a:t>  Module 4 uses it in the $type labs to find and fix values stored with the wrong type.</a:t>
            </a:r>
          </a:p>
          <a:p/>
          <a:p>
            <a:r>
              <a:t>- What it shows</a:t>
            </a:r>
          </a:p>
          <a:p/>
          <a:p>
            <a:r>
              <a:t>  One document from training_store.products with each field labeled by its BSON type.</a:t>
            </a:r>
          </a:p>
          <a:p/>
          <a:p>
            <a:r>
              <a:t>- How to read it</a:t>
            </a:r>
          </a:p>
          <a:p/>
          <a:p>
            <a:r>
              <a:t>  _id is an ObjectId, sku a String, price a Decimal128, active a Boolean, createdAt a Date, tags an Array and specifications an embedded document.</a:t>
            </a:r>
          </a:p>
          <a:p/>
          <a:p>
            <a:r>
              <a:t>- Key point</a:t>
            </a:r>
          </a:p>
          <a:p/>
          <a:p>
            <a:r>
              <a:t>  Unlike JSON, BSON stores real types, so money, dates and IDs behave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Normalized rows</a:t>
            </a:r>
          </a:p>
          <a:p/>
          <a:p>
            <a:r>
              <a:t>  In the relational model, one order is spread across three tables: customers, orders and order_items.</a:t>
            </a:r>
          </a:p>
          <a:p/>
          <a:p>
            <a:r>
              <a:t>  Showing it means joining them on customer_id and order_id.</a:t>
            </a:r>
          </a:p>
          <a:p/>
          <a:p>
            <a:r>
              <a:t>- One aggregate</a:t>
            </a:r>
          </a:p>
          <a:p/>
          <a:p>
            <a:r>
              <a:t>  In MongoDB the order becomes one document.</a:t>
            </a:r>
          </a:p>
          <a:p/>
          <a:p>
            <a:r>
              <a:t>  The line items are an embedded array, and each keeps its purchase-time price.</a:t>
            </a:r>
          </a:p>
          <a:p/>
          <a:p>
            <a:r>
              <a:t>- Snapshot or reference</a:t>
            </a:r>
          </a:p>
          <a:p/>
          <a:p>
            <a:r>
              <a:t>  This diagram embeds a customer snapshot: id, name and email.</a:t>
            </a:r>
          </a:p>
          <a:p/>
          <a:p>
            <a:r>
              <a:t>  That is one valid choice, and it is the shape Exercise 1.2 asks for.</a:t>
            </a:r>
          </a:p>
          <a:p/>
          <a:p>
            <a:r>
              <a:t>  Our training_store orders make the other choice: they keep a customerId reference.</a:t>
            </a:r>
          </a:p>
          <a:p/>
          <a:p>
            <a:r>
              <a:t>  The next slide shows why.</a:t>
            </a:r>
          </a:p>
          <a:p/>
          <a:p>
            <a:r>
              <a:t>- What it shows</a:t>
            </a:r>
          </a:p>
          <a:p/>
          <a:p>
            <a:r>
              <a:t>  On the left, one order spread across the customers, orders and order_items tables.</a:t>
            </a:r>
          </a:p>
          <a:p/>
          <a:p>
            <a:r>
              <a:t>  On the right, the same order as one document.</a:t>
            </a:r>
          </a:p>
          <a:p/>
          <a:p>
            <a:r>
              <a:t>- How to read it</a:t>
            </a:r>
          </a:p>
          <a:p/>
          <a:p>
            <a:r>
              <a:t>  The customer becomes an embedded customer snapshot and the order items become an embedded items array.</a:t>
            </a:r>
          </a:p>
          <a:p/>
          <a:p>
            <a:r>
              <a:t>  The total, 108.98, is carried across.</a:t>
            </a:r>
          </a:p>
          <a:p/>
          <a:p>
            <a:r>
              <a:t>- Key point</a:t>
            </a:r>
          </a:p>
          <a:p/>
          <a:p>
            <a:r>
              <a:t>  The document is shaped like the thing the application shows: one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the order</a:t>
            </a:r>
          </a:p>
          <a:p/>
          <a:p>
            <a:r>
              <a:t>  Order O6102 embeds its two line items and its shipping address.</a:t>
            </a:r>
          </a:p>
          <a:p/>
          <a:p>
            <a:r>
              <a:t>  Each item keeps the unit price Luis paid.</a:t>
            </a:r>
          </a:p>
          <a:p/>
          <a:p>
            <a:r>
              <a:t>  The customer is not embedded: customerId points to Luis Romero's document in customers.</a:t>
            </a:r>
          </a:p>
          <a:p/>
          <a:p>
            <a:r>
              <a:t>- Compare with the last diagram</a:t>
            </a:r>
          </a:p>
          <a:p/>
          <a:p>
            <a:r>
              <a:t>  The rows-to-documents diagram embedded a customer snapshot.</a:t>
            </a:r>
          </a:p>
          <a:p/>
          <a:p>
            <a:r>
              <a:t>  That is valid too.</a:t>
            </a:r>
          </a:p>
          <a:p/>
          <a:p>
            <a:r>
              <a:t>  training_store chose a reference, because a customer changes their email or address independently of past orders.</a:t>
            </a:r>
          </a:p>
          <a:p/>
          <a:p>
            <a:r>
              <a:t>- Read the review</a:t>
            </a:r>
          </a:p>
          <a:p/>
          <a:p>
            <a:r>
              <a:t>  Reviews live in their own collection and reference both the product and the customer.</a:t>
            </a:r>
          </a:p>
          <a:p/>
          <a:p>
            <a:r>
              <a:t>  If every review were embedded in its product, a popular product's document would grow without limit.</a:t>
            </a:r>
          </a:p>
          <a:p/>
          <a:p>
            <a:r>
              <a:t>- The rule</a:t>
            </a:r>
          </a:p>
          <a:p/>
          <a:p>
            <a:r>
              <a:t>  Store together what the application reads together.</a:t>
            </a:r>
          </a:p>
          <a:p/>
          <a:p>
            <a:r>
              <a:t>  Module 3 turns this rule into a full modeling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Same collection, different fields</a:t>
            </a:r>
          </a:p>
          <a:p/>
          <a:p>
            <a:r>
              <a:t>  Documents in the same collection don't need identical fields.</a:t>
            </a:r>
          </a:p>
          <a:p/>
          <a:p>
            <a:r>
              <a:t>  The laptop carries cpu and ram; the book carries isbn and pages.</a:t>
            </a:r>
          </a:p>
          <a:p/>
          <a:p>
            <a:r>
              <a:t>- A shared core</a:t>
            </a:r>
          </a:p>
          <a:p/>
          <a:p>
            <a:r>
              <a:t>  Both documents still share the core fields: _id, sku, name, category, price and active.</a:t>
            </a:r>
          </a:p>
          <a:p/>
          <a:p>
            <a:r>
              <a:t>  The application can rely on those.</a:t>
            </a:r>
          </a:p>
          <a:p/>
          <a:p>
            <a:r>
              <a:t>- Flexible doesn't mean unplanned</a:t>
            </a:r>
          </a:p>
          <a:p/>
          <a:p>
            <a:r>
              <a:t>  This flexibility helps applications evolve without constant table redesign.</a:t>
            </a:r>
          </a:p>
          <a:p/>
          <a:p>
            <a:r>
              <a:t>  But a flexible schema still needs design.</a:t>
            </a:r>
          </a:p>
          <a:p/>
          <a:p>
            <a:r>
              <a:t>  Schema validation can require fields and types where the business needs rules.</a:t>
            </a:r>
          </a:p>
          <a:p/>
          <a:p>
            <a:r>
              <a:t>- What it shows</a:t>
            </a:r>
          </a:p>
          <a:p/>
          <a:p>
            <a:r>
              <a:t>  A laptop document and a book document in the same products collection.</a:t>
            </a:r>
          </a:p>
          <a:p/>
          <a:p>
            <a:r>
              <a:t>- How to read it</a:t>
            </a:r>
          </a:p>
          <a:p/>
          <a:p>
            <a:r>
              <a:t>  The highlighted fields are category-specific: cpu and ram for the laptop, isbn and pages for the book.</a:t>
            </a:r>
          </a:p>
          <a:p/>
          <a:p>
            <a:r>
              <a:t>- Key point</a:t>
            </a:r>
          </a:p>
          <a:p/>
          <a:p>
            <a:r>
              <a:t>  Schema follows the product, not a single table shape.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In training_store the products collection holds four categories: LAPTOP, SHOE, BOOK and ACCESSORY.</a:t>
            </a:r>
          </a:p>
          <a:p/>
          <a:p>
            <a:r>
              <a:t>  Each one keeps its own attributes, such as memoryGB for laptops and sizes for shoes.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Individually for five minutes, then compare in pairs.</a:t>
            </a:r>
          </a:p>
          <a:p/>
          <a:p>
            <a:r>
              <a:t>  Accept any wording that uses collection, document, field and _id correctly.</a:t>
            </a:r>
          </a:p>
          <a:p/>
          <a:p>
            <a:r>
              <a:t>- product_id</a:t>
            </a:r>
          </a:p>
          <a:p/>
          <a:p>
            <a:r>
              <a:t>  Every product has an _id, an ObjectId in our dataset.</a:t>
            </a:r>
          </a:p>
          <a:p/>
          <a:p>
            <a:r>
              <a:t>  The loader also creates a unique index on sku, so sku works as the business key people use.</a:t>
            </a:r>
          </a:p>
          <a:p/>
          <a:p>
            <a:r>
              <a:t>- The join</a:t>
            </a:r>
          </a:p>
          <a:p/>
          <a:p>
            <a:r>
              <a:t>  There is no order_items collection.</a:t>
            </a:r>
          </a:p>
          <a:p/>
          <a:p>
            <a:r>
              <a:t>  Each order document embeds its items array, so showing an order needs no join.</a:t>
            </a:r>
          </a:p>
          <a:p/>
          <a:p>
            <a:r>
              <a:t>- The count</a:t>
            </a:r>
          </a:p>
          <a:p/>
          <a:p>
            <a:r>
              <a:t>  db.products.countDocuments() returns 13 after the full load.</a:t>
            </a:r>
          </a:p>
          <a:p/>
          <a:p>
            <a:r>
              <a:t>  If learners don't have mongosh yet, run it on the instructor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Knowing the data model isn't enough.</a:t>
            </a:r>
          </a:p>
          <a:p/>
          <a:p>
            <a:r>
              <a:t>  We also need to know what runs it, how it stays available and how it scales.</a:t>
            </a:r>
          </a:p>
          <a:p/>
          <a:p>
            <a:r>
              <a:t>- Outcome</a:t>
            </a:r>
          </a:p>
          <a:p/>
          <a:p>
            <a:r>
              <a:t>  By the end, learners should be able to argue for or against MongoDB for a given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Clients</a:t>
            </a:r>
          </a:p>
          <a:p/>
          <a:p>
            <a:r>
              <a:t>  Applications talk to MongoDB through language-specific drivers.</a:t>
            </a:r>
          </a:p>
          <a:p/>
          <a:p>
            <a:r>
              <a:t>  People use mongosh, the MongoDB Shell, and MongoDB Compass, the graphical tool.</a:t>
            </a:r>
          </a:p>
          <a:p/>
          <a:p>
            <a:r>
              <a:t>- mongod</a:t>
            </a:r>
          </a:p>
          <a:p/>
          <a:p>
            <a:r>
              <a:t>  mongod is the main MongoDB server process.</a:t>
            </a:r>
          </a:p>
          <a:p/>
          <a:p>
            <a:r>
              <a:t>  It manages connections, queries, indexes, authentication, replication and database operations.</a:t>
            </a:r>
          </a:p>
          <a:p/>
          <a:p>
            <a:r>
              <a:t>- Storage engine and data files</a:t>
            </a:r>
          </a:p>
          <a:p/>
          <a:p>
            <a:r>
              <a:t>  Below mongod, the storage engine, WiredTiger by default, keeps a cache, writes a journal for durability, and reads and writes the data files.</a:t>
            </a:r>
          </a:p>
          <a:p/>
          <a:p>
            <a:r>
              <a:t>  Those files hold our databases and collections.</a:t>
            </a:r>
          </a:p>
          <a:p/>
          <a:p>
            <a:r>
              <a:t>- What it shows</a:t>
            </a:r>
          </a:p>
          <a:p/>
          <a:p>
            <a:r>
              <a:t>  Clients send a request to mongod, which passes the operation to the storage engine, which reads and writes the data files.</a:t>
            </a:r>
          </a:p>
          <a:p/>
          <a:p>
            <a:r>
              <a:t>  The result returns to the client.</a:t>
            </a:r>
          </a:p>
          <a:p/>
          <a:p>
            <a:r>
              <a:t>- How to read it</a:t>
            </a:r>
          </a:p>
          <a:p/>
          <a:p>
            <a:r>
              <a:t>  Follow the arrows left to right, then the red result arrow back.</a:t>
            </a:r>
          </a:p>
          <a:p/>
          <a:p>
            <a:r>
              <a:t>  The faded servers above mongod are an optional replica set.</a:t>
            </a:r>
          </a:p>
          <a:p/>
          <a:p>
            <a:r>
              <a:t>- Key point</a:t>
            </a:r>
          </a:p>
          <a:p/>
          <a:p>
            <a:r>
              <a:t>  mongod is the server process at the center of every MongoDB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Follow one request</a:t>
            </a:r>
          </a:p>
          <a:p/>
          <a:p>
            <a:r>
              <a:t>  A client asks for products.</a:t>
            </a:r>
          </a:p>
          <a:p/>
          <a:p>
            <a:r>
              <a:t>  The request travels over the MongoDB wire protocol to mongod on port 27017 by default.</a:t>
            </a:r>
          </a:p>
          <a:p/>
          <a:p>
            <a:r>
              <a:t>- Inside mongod</a:t>
            </a:r>
          </a:p>
          <a:p/>
          <a:p>
            <a:r>
              <a:t>  mongod parses the request and checks that the user is authorized.</a:t>
            </a:r>
          </a:p>
          <a:p/>
          <a:p>
            <a:r>
              <a:t>  The query planner then chooses a plan: an index seek, or a scan of the whole collection.</a:t>
            </a:r>
          </a:p>
          <a:p/>
          <a:p>
            <a:r>
              <a:t>- The result</a:t>
            </a:r>
          </a:p>
          <a:p/>
          <a:p>
            <a:r>
              <a:t>  Matching documents are fetched and returned to the client as BSON.</a:t>
            </a:r>
          </a:p>
          <a:p/>
          <a:p>
            <a:r>
              <a:t>  The driver or mongosh turns them into objects you can read.</a:t>
            </a:r>
          </a:p>
          <a:p/>
          <a:p>
            <a:r>
              <a:t>- What it shows</a:t>
            </a:r>
          </a:p>
          <a:p/>
          <a:p>
            <a:r>
              <a:t>  One find request for products, step by step, from the client to the result.</a:t>
            </a:r>
          </a:p>
          <a:p/>
          <a:p>
            <a:r>
              <a:t>- How to read it</a:t>
            </a:r>
          </a:p>
          <a:p/>
          <a:p>
            <a:r>
              <a:t>  Each box is one stage: connect over the MongoDB protocol, parse and authorize, choose a plan, fetch matching documents, return BSON results.</a:t>
            </a:r>
          </a:p>
          <a:p/>
          <a:p>
            <a:r>
              <a:t>- Key point</a:t>
            </a:r>
          </a:p>
          <a:p/>
          <a:p>
            <a:r>
              <a:t>  The query planner's choice, index or scan, decides how much work the request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Replica set</a:t>
            </a:r>
          </a:p>
          <a:p/>
          <a:p>
            <a:r>
              <a:t>  A replica set is a group of MongoDB servers that keep copies of the same data.</a:t>
            </a:r>
          </a:p>
          <a:p/>
          <a:p>
            <a:r>
              <a:t>  The primary accepts writes.</a:t>
            </a:r>
          </a:p>
          <a:p/>
          <a:p>
            <a:r>
              <a:t>  Secondaries copy the primary's changes from its operations log, the oplog.</a:t>
            </a:r>
          </a:p>
          <a:p/>
          <a:p>
            <a:r>
              <a:t>- Automatic failover</a:t>
            </a:r>
          </a:p>
          <a:p/>
          <a:p>
            <a:r>
              <a:t>  If the primary fails, the remaining members hold an election and an eligible secondary becomes the new primary.</a:t>
            </a:r>
          </a:p>
          <a:p/>
          <a:p>
            <a:r>
              <a:t>  Three members is the usual minimum, so a majority can still vote.</a:t>
            </a:r>
          </a:p>
          <a:p/>
          <a:p>
            <a:r>
              <a:t>- Sharded cluster</a:t>
            </a:r>
          </a:p>
          <a:p/>
          <a:p>
            <a:r>
              <a:t>  Sharding spreads a large dataset across several shards.</a:t>
            </a:r>
          </a:p>
          <a:p/>
          <a:p>
            <a:r>
              <a:t>  Each shard is itself a replica set.</a:t>
            </a:r>
          </a:p>
          <a:p/>
          <a:p>
            <a:r>
              <a:t>  Config servers store the cluster metadata, and mongos routers send each request to the right shards.</a:t>
            </a:r>
          </a:p>
          <a:p/>
          <a:p>
            <a:r>
              <a:t>- When to shard</a:t>
            </a:r>
          </a:p>
          <a:p/>
          <a:p>
            <a:r>
              <a:t>  Sharding is for when one server can't efficiently handle the whole dataset or workload.</a:t>
            </a:r>
          </a:p>
          <a:p/>
          <a:p>
            <a:r>
              <a:t>  Module 7 covers both topics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Rich queries</a:t>
            </a:r>
          </a:p>
          <a:p/>
          <a:p>
            <a:r>
              <a:t>  MongoDB supports filtering, sorting, projection and updates.</a:t>
            </a:r>
          </a:p>
          <a:p/>
          <a:p>
            <a:r>
              <a:t>  It can also query arrays, run geospatial and text searches, and build aggregation pipelines.</a:t>
            </a:r>
          </a:p>
          <a:p/>
          <a:p>
            <a:r>
              <a:t>- Indexes and aggregation</a:t>
            </a:r>
          </a:p>
          <a:p/>
          <a:p>
            <a:r>
              <a:t>  Indexes help MongoDB find documents without scanning the whole collection.</a:t>
            </a:r>
          </a:p>
          <a:p/>
          <a:p>
            <a:r>
              <a:t>  Aggregation pipelines pass documents through stages for reporting and analysis.</a:t>
            </a:r>
          </a:p>
          <a:p/>
          <a:p>
            <a:r>
              <a:t>- Replication and sharding</a:t>
            </a:r>
          </a:p>
          <a:p/>
          <a:p>
            <a:r>
              <a:t>  Replica sets give high availability, and sharding gives horizontal scale.</a:t>
            </a:r>
          </a:p>
          <a:p/>
          <a:p>
            <a:r>
              <a:t>  Drivers connect applications in many languages.</a:t>
            </a:r>
          </a:p>
          <a:p/>
          <a:p>
            <a:r>
              <a:t>- Rules when you need them</a:t>
            </a:r>
          </a:p>
          <a:p/>
          <a:p>
            <a:r>
              <a:t>  A flexible schema can still enforce rules with schema validation.</a:t>
            </a:r>
          </a:p>
          <a:p/>
          <a:p>
            <a:r>
              <a:t>  Single-document writes are atomic, and multi-document ACID transactions are available when a business process needs them.</a:t>
            </a:r>
          </a:p>
          <a:p/>
          <a:p>
            <a:r>
              <a:t>- What it shows</a:t>
            </a:r>
          </a:p>
          <a:p/>
          <a:p>
            <a:r>
              <a:t>  MongoDB and training_store in the center, with six features around it: flexible documents, indexes, aggregation, replication, sharding and drivers.</a:t>
            </a:r>
          </a:p>
          <a:p/>
          <a:p>
            <a:r>
              <a:t>- How to read it</a:t>
            </a:r>
          </a:p>
          <a:p/>
          <a:p>
            <a:r>
              <a:t>  Each circle is a capability we practise later in the course.</a:t>
            </a:r>
          </a:p>
          <a:p/>
          <a:p>
            <a:r>
              <a:t>- Key point</a:t>
            </a:r>
          </a:p>
          <a:p/>
          <a:p>
            <a:r>
              <a:t>  MongoDB is more than flexible storage: it queries, indexes, aggregates and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find</a:t>
            </a:r>
          </a:p>
          <a:p/>
          <a:p>
            <a:r>
              <a:t>  The first argument is the filter, the second the projection.</a:t>
            </a:r>
          </a:p>
          <a:p/>
          <a:p>
            <a:r>
              <a:t>  This returns MongoDB Fundamentals at 59.99 and Query Cookbook at 39.99, showing only name and price.</a:t>
            </a:r>
          </a:p>
          <a:p/>
          <a:p>
            <a:r>
              <a:t>  Module 4 covers queries in depth.</a:t>
            </a:r>
          </a:p>
          <a:p/>
          <a:p>
            <a:r>
              <a:t>- createIndex</a:t>
            </a:r>
          </a:p>
          <a:p/>
          <a:p>
            <a:r>
              <a:t>  A compound index on category and price supports queries that filter by category and sort or filter by price.</a:t>
            </a:r>
          </a:p>
          <a:p/>
          <a:p>
            <a:r>
              <a:t>  Design indexes around real query patterns; Module 6 covers this.</a:t>
            </a:r>
          </a:p>
          <a:p/>
          <a:p>
            <a:r>
              <a:t>- aggregate</a:t>
            </a:r>
          </a:p>
          <a:p/>
          <a:p>
            <a:r>
              <a:t>  The pipeline keeps the 13 paid orders, groups them by customerId and sums the totals, then sorts.</a:t>
            </a:r>
          </a:p>
          <a:p/>
          <a:p>
            <a:r>
              <a:t>  Aisha Khan, C101, comes first with 3418.62.</a:t>
            </a:r>
          </a:p>
          <a:p/>
          <a:p>
            <a:r>
              <a:t>  Module 5 covers aggregation.</a:t>
            </a:r>
          </a:p>
          <a:p/>
          <a:p>
            <a:r>
              <a:t>- Field names</a:t>
            </a:r>
          </a:p>
          <a:p/>
          <a:p>
            <a:r>
              <a:t>  Our orders use paymentStatus, not a generic status field.</a:t>
            </a:r>
          </a:p>
          <a:p/>
          <a:p>
            <a:r>
              <a:t>  Using the real field names is the habit to build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Give everyone two minutes to write their prediction, then run the query on the instructor screen.</a:t>
            </a:r>
          </a:p>
          <a:p/>
          <a:p>
            <a:r>
              <a:t>- The filter</a:t>
            </a:r>
          </a:p>
          <a:p/>
          <a:p>
            <a:r>
              <a:t>  category must equal SHOE and price must be less than 100.</a:t>
            </a:r>
          </a:p>
          <a:p/>
          <a:p>
            <a:r>
              <a:t>  Only the Trail Shoe and the Clearance Shoe qualify.</a:t>
            </a:r>
          </a:p>
          <a:p/>
          <a:p>
            <a:r>
              <a:t>- Sort and projection</a:t>
            </a:r>
          </a:p>
          <a:p/>
          <a:p>
            <a:r>
              <a:t>  sort({ price: 1 }) is ascending, so Clearance Shoe comes first.</a:t>
            </a:r>
          </a:p>
          <a:p/>
          <a:p>
            <a:r>
              <a:t>  The projection shows name and price and hides _id.</a:t>
            </a:r>
          </a:p>
          <a:p/>
          <a:p>
            <a:r>
              <a:t>- Decimal128</a:t>
            </a:r>
          </a:p>
          <a:p/>
          <a:p>
            <a:r>
              <a:t>  Prices are stored as Decimal128, so mongosh prints them as Decimal128('44.99').</a:t>
            </a:r>
          </a:p>
          <a:p/>
          <a:p>
            <a:r>
              <a:t>  MongoDB still compares them with the number 100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Strong signals for MongoDB</a:t>
            </a:r>
          </a:p>
          <a:p/>
          <a:p>
            <a:r>
              <a:t>  Varied attributes, such as product specifications.</a:t>
            </a:r>
          </a:p>
          <a:p/>
          <a:p>
            <a:r>
              <a:t>  Data accessed together, such as an order and its line items.</a:t>
            </a:r>
          </a:p>
          <a:p/>
          <a:p>
            <a:r>
              <a:t>  An evolving schema, such as new catalog fields.</a:t>
            </a:r>
          </a:p>
          <a:p/>
          <a:p>
            <a:r>
              <a:t>- More signals</a:t>
            </a:r>
          </a:p>
          <a:p/>
          <a:p>
            <a:r>
              <a:t>  Document aggregates, such as a review with its rating.</a:t>
            </a:r>
          </a:p>
          <a:p/>
          <a:p>
            <a:r>
              <a:t>  And horizontal growth, such as a fast-growing orders collection that may one day need sharding.</a:t>
            </a:r>
          </a:p>
          <a:p/>
          <a:p>
            <a:r>
              <a:t>- The principle</a:t>
            </a:r>
          </a:p>
          <a:p/>
          <a:p>
            <a:r>
              <a:t>  A good MongoDB design doesn't simply move relational tables into collections.</a:t>
            </a:r>
          </a:p>
          <a:p/>
          <a:p>
            <a:r>
              <a:t>  It models documents around how the application reads, writes and updates its data.</a:t>
            </a:r>
          </a:p>
          <a:p/>
          <a:p>
            <a:r>
              <a:t>- What it shows</a:t>
            </a:r>
          </a:p>
          <a:p/>
          <a:p>
            <a:r>
              <a:t>  Five checked cards: varied attributes, data accessed together, evolving schema, document aggregates and horizontal growth.</a:t>
            </a:r>
          </a:p>
          <a:p/>
          <a:p>
            <a:r>
              <a:t>- How to read it</a:t>
            </a:r>
          </a:p>
          <a:p/>
          <a:p>
            <a:r>
              <a:t>  Each card has a training_store example underneath, from product specifications to sharding growing orders.</a:t>
            </a:r>
          </a:p>
          <a:p/>
          <a:p>
            <a:r>
              <a:t>- Key point</a:t>
            </a:r>
          </a:p>
          <a:p/>
          <a:p>
            <a:r>
              <a:t>  The more of these signals a workload shows, the better MongoDB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Consider alternatives</a:t>
            </a:r>
          </a:p>
          <a:p/>
          <a:p>
            <a:r>
              <a:t>  These are workloads where another database may fit better.</a:t>
            </a:r>
          </a:p>
          <a:p/>
          <a:p>
            <a:r>
              <a:t>  They are not things MongoDB cannot do.</a:t>
            </a:r>
          </a:p>
          <a:p/>
          <a:p>
            <a:r>
              <a:t>- Transactions and reporting</a:t>
            </a:r>
          </a:p>
          <a:p/>
          <a:p>
            <a:r>
              <a:t>  MongoDB supports multi-document transactions.</a:t>
            </a:r>
          </a:p>
          <a:p/>
          <a:p>
            <a:r>
              <a:t>  But if most of the work spans many entities at once, like orders, payments and inventory together, a relational design may be simpler.</a:t>
            </a:r>
          </a:p>
          <a:p/>
          <a:p>
            <a:r>
              <a:t>  Strict, fixed tabular reporting is also a natural relational fit.</a:t>
            </a:r>
          </a:p>
          <a:p/>
          <a:p>
            <a:r>
              <a:t>- Other shapes</a:t>
            </a:r>
          </a:p>
          <a:p/>
          <a:p>
            <a:r>
              <a:t>  Tiny single-value records with no aggregate gain little from documents.</a:t>
            </a:r>
          </a:p>
          <a:p/>
          <a:p>
            <a:r>
              <a:t>  Deep relationship paths suit a graph database.</a:t>
            </a:r>
          </a:p>
          <a:p/>
          <a:p>
            <a:r>
              <a:t>  A pure session cache suits a key-value store.</a:t>
            </a:r>
          </a:p>
          <a:p/>
          <a:p>
            <a:r>
              <a:t>- What it shows</a:t>
            </a:r>
          </a:p>
          <a:p/>
          <a:p>
            <a:r>
              <a:t>  Five warning cards: heavy cross-entity transactions, strict tabular reporting, tiny rows with no aggregate, graph-first traversal and a pure key-value cache.</a:t>
            </a:r>
          </a:p>
          <a:p/>
          <a:p>
            <a:r>
              <a:t>- How to read it</a:t>
            </a:r>
          </a:p>
          <a:p/>
          <a:p>
            <a:r>
              <a:t>  Each card says consider alternatives.</a:t>
            </a:r>
          </a:p>
          <a:p/>
          <a:p>
            <a:r>
              <a:t>  That means check the workload, not avoid MongoDB.</a:t>
            </a:r>
          </a:p>
          <a:p/>
          <a:p>
            <a:r>
              <a:t>- Key point</a:t>
            </a:r>
          </a:p>
          <a:p/>
          <a:p>
            <a:r>
              <a:t>  Knowing when not to use a tool is part of choosing it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Before</a:t>
            </a:r>
          </a:p>
          <a:p/>
          <a:p>
            <a:r>
              <a:t>  The relational catalog spreads each product across products, categories, attributes and inventory tables.</a:t>
            </a:r>
          </a:p>
          <a:p/>
          <a:p>
            <a:r>
              <a:t>  Every catalog page needs many joins.</a:t>
            </a:r>
          </a:p>
          <a:p/>
          <a:p>
            <a:r>
              <a:t>- Reshape and load</a:t>
            </a:r>
          </a:p>
          <a:p/>
          <a:p>
            <a:r>
              <a:t>  The team reshapes each product into one document with its sku, name, price, tags and specifications.</a:t>
            </a:r>
          </a:p>
          <a:p/>
          <a:p>
            <a:r>
              <a:t>  Then it loads those documents into the products collection.</a:t>
            </a:r>
          </a:p>
          <a:p/>
          <a:p>
            <a:r>
              <a:t>- Same API</a:t>
            </a:r>
          </a:p>
          <a:p/>
          <a:p>
            <a:r>
              <a:t>  The catalog API, GET /catalog/products, keeps its contract.</a:t>
            </a:r>
          </a:p>
          <a:p/>
          <a:p>
            <a:r>
              <a:t>  Behind it, each product is now one document read.</a:t>
            </a:r>
          </a:p>
          <a:p/>
          <a:p>
            <a:r>
              <a:t>- What it shows</a:t>
            </a:r>
          </a:p>
          <a:p/>
          <a:p>
            <a:r>
              <a:t>  A relational catalog with many joins is reshaped into a product document, loaded into the products collection and served through the same catalog API.</a:t>
            </a:r>
          </a:p>
          <a:p/>
          <a:p>
            <a:r>
              <a:t>- How to read it</a:t>
            </a:r>
          </a:p>
          <a:p/>
          <a:p>
            <a:r>
              <a:t>  Follow the arrows: reshape, load, serve.</a:t>
            </a:r>
          </a:p>
          <a:p/>
          <a:p>
            <a:r>
              <a:t>- Key point</a:t>
            </a:r>
          </a:p>
          <a:p/>
          <a:p>
            <a:r>
              <a:t>  Modernizing starts with reshaping the data, not with copying the tables.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A retailer's product pages are slow because each one joins four tables.</a:t>
            </a:r>
          </a:p>
          <a:p/>
          <a:p>
            <a:r>
              <a:t>The team models one product document around what the page shows, loads the catalog into MongoDB and switches the API to read it.</a:t>
            </a:r>
          </a:p>
          <a:p/>
          <a:p>
            <a:r>
              <a:t>The web and mobile apps don't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checks, clear away the beliefs that cause the most trouble in first designs.</a:t>
            </a:r>
          </a:p>
          <a:p/>
          <a:p>
            <a:r>
              <a:t>- NoSQL and schema</a:t>
            </a:r>
          </a:p>
          <a:p/>
          <a:p>
            <a:r>
              <a:t>  Not Only SQL means more options, not the end of SQL.</a:t>
            </a:r>
          </a:p>
          <a:p/>
          <a:p>
            <a:r>
              <a:t>  And a flexible schema still needs a deliberate model; schema validation can enforce the fields that matter.</a:t>
            </a:r>
          </a:p>
          <a:p/>
          <a:p>
            <a:r>
              <a:t>- Transactions</a:t>
            </a:r>
          </a:p>
          <a:p/>
          <a:p>
            <a:r>
              <a:t>  Every single-document write is atomic.</a:t>
            </a:r>
          </a:p>
          <a:p/>
          <a:p>
            <a:r>
              <a:t>  Multi-document ACID transactions are available too, though a good document design needs them less often.</a:t>
            </a:r>
          </a:p>
          <a:p/>
          <a:p>
            <a:r>
              <a:t>- Anti-patterns</a:t>
            </a:r>
          </a:p>
          <a:p/>
          <a:p>
            <a:r>
              <a:t>  Watch for one collection per table, arrays that grow forever, prices stored as strings, missing indexes, and joining with $lookup on every read.</a:t>
            </a:r>
          </a:p>
          <a:p/>
          <a:p>
            <a:r>
              <a:t>  training_store keeps reviews in their own collection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NoSQL</a:t>
            </a:r>
          </a:p>
          <a:p/>
          <a:p>
            <a:r>
              <a:t>  Scale and flexibility for data that doesn't fit fixed tables.</a:t>
            </a:r>
          </a:p>
          <a:p/>
          <a:p>
            <a:r>
              <a:t>- Four models</a:t>
            </a:r>
          </a:p>
          <a:p/>
          <a:p>
            <a:r>
              <a:t>  Key-value, document, column-family and graph, each fast at a different access pattern.</a:t>
            </a:r>
          </a:p>
          <a:p/>
          <a:p>
            <a:r>
              <a:t>- MongoDB</a:t>
            </a:r>
          </a:p>
          <a:p/>
          <a:p>
            <a:r>
              <a:t>  BSON documents in collections, arranged as database, collection, document and field.</a:t>
            </a:r>
          </a:p>
          <a:p/>
          <a:p>
            <a:r>
              <a:t>  Related data is embedded or referenced.</a:t>
            </a:r>
          </a:p>
          <a:p/>
          <a:p>
            <a:r>
              <a:t>- Architecture</a:t>
            </a:r>
          </a:p>
          <a:p/>
          <a:p>
            <a:r>
              <a:t>  mongosh, Compass and drivers talk to mongod, which stores training_store.</a:t>
            </a:r>
          </a:p>
          <a:p/>
          <a:p>
            <a:r>
              <a:t>- What it shows</a:t>
            </a:r>
          </a:p>
          <a:p/>
          <a:p>
            <a:r>
              <a:t>  A concept map of Module 1: why NoSQL, four models, MongoDB documents, hierarchy, embed versus reference, and architecture.</a:t>
            </a:r>
          </a:p>
          <a:p/>
          <a:p>
            <a:r>
              <a:t>- How to use it</a:t>
            </a:r>
          </a:p>
          <a:p/>
          <a:p>
            <a:r>
              <a:t>  Point to each box and ask the class for one sentence about it before the knowledge check.</a:t>
            </a:r>
          </a:p>
          <a:p/>
          <a:p>
            <a:r>
              <a:t>- Key point</a:t>
            </a:r>
          </a:p>
          <a:p/>
          <a:p>
            <a:r>
              <a:t>  Together these ideas are the vocabulary Module 2 and Module 3 build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Not Only SQL</a:t>
            </a:r>
          </a:p>
          <a:p/>
          <a:p>
            <a:r>
              <a:t>  NoSQL is a family of non-relational models that sits beside SQL.</a:t>
            </a:r>
          </a:p>
          <a:p/>
          <a:p>
            <a:r>
              <a:t>  It doesn't replace it.</a:t>
            </a:r>
          </a:p>
          <a:p/>
          <a:p>
            <a:r>
              <a:t>- 2. Four families</a:t>
            </a:r>
          </a:p>
          <a:p/>
          <a:p>
            <a:r>
              <a:t>  Document, key-value, column-family and graph.</a:t>
            </a:r>
          </a:p>
          <a:p/>
          <a:p>
            <a:r>
              <a:t>- 3. Connected data</a:t>
            </a:r>
          </a:p>
          <a:p/>
          <a:p>
            <a:r>
              <a:t>  A graph database, where relationships are first-class data.</a:t>
            </a:r>
          </a:p>
          <a:p/>
          <a:p>
            <a:r>
              <a:t>- 4. Table and row</a:t>
            </a:r>
          </a:p>
          <a:p/>
          <a:p>
            <a:r>
              <a:t>  A table maps to a collection, and a row maps to a document.</a:t>
            </a:r>
          </a:p>
          <a:p/>
          <a:p>
            <a:r>
              <a:t>- 5. Unique field</a:t>
            </a:r>
          </a:p>
          <a:p/>
          <a:p>
            <a:r>
              <a:t>  _id.</a:t>
            </a:r>
          </a:p>
          <a:p/>
          <a:p>
            <a:r>
              <a:t>  It is unique within its collection, and an ObjectId by default.</a:t>
            </a:r>
          </a:p>
          <a:p/>
          <a:p>
            <a:r>
              <a:t>- 6. BSON</a:t>
            </a:r>
          </a:p>
          <a:p/>
          <a:p>
            <a:r>
              <a:t>  Binary JSON.</a:t>
            </a:r>
          </a:p>
          <a:p/>
          <a:p>
            <a:r>
              <a:t>  It stores real types such as Date, Decimal128 and ObjectId, which plain JSON can't represent.</a:t>
            </a:r>
          </a:p>
          <a:p/>
          <a:p>
            <a:r>
              <a:t>- 7. Product catalog</a:t>
            </a:r>
          </a:p>
          <a:p/>
          <a:p>
            <a:r>
              <a:t>  Products have different attributes per category, and one product is read as one object.</a:t>
            </a:r>
          </a:p>
          <a:p/>
          <a:p>
            <a:r>
              <a:t>- 8. Flexible schema</a:t>
            </a:r>
          </a:p>
          <a:p/>
          <a:p>
            <a:r>
              <a:t>  No. You still design the document shape, and you can enforce rules with schema validation.</a:t>
            </a:r>
          </a:p>
          <a:p/>
          <a:p>
            <a:r>
              <a:t>- 9. Replica sets and sharding</a:t>
            </a:r>
          </a:p>
          <a:p/>
          <a:p>
            <a:r>
              <a:t>  Replica sets give redundancy and automatic failover.</a:t>
            </a:r>
          </a:p>
          <a:p/>
          <a:p>
            <a:r>
              <a:t>  Sharding spreads data across servers for horizontal scale.</a:t>
            </a:r>
          </a:p>
          <a:p/>
          <a:p>
            <a:r>
              <a:t>- 10. Not the best fit</a:t>
            </a:r>
          </a:p>
          <a:p/>
          <a:p>
            <a:r>
              <a:t>  Examples: heavy cross-entity transactions, strict tabular reporting, graph-first traversal, or a pure key-value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1.1 for Module 1.</a:t>
            </a:r>
          </a:p>
          <a:p/>
          <a:p>
            <a:r>
              <a:t>  The worksheet is labs/day-01/exercises/exercise-1.1-choose-the-data-model.md.</a:t>
            </a:r>
          </a:p>
          <a:p/>
          <a:p>
            <a:r>
              <a:t>  No MongoDB is needed.</a:t>
            </a:r>
          </a:p>
          <a:p/>
          <a:p>
            <a:r>
              <a:t>- Running it</a:t>
            </a:r>
          </a:p>
          <a:p/>
          <a:p>
            <a:r>
              <a:t>  Twelve minutes of pair work, then a three-minute debrief.</a:t>
            </a:r>
          </a:p>
          <a:p/>
          <a:p>
            <a:r>
              <a:t>  Reveal the solution column only after groups share their answers.</a:t>
            </a:r>
          </a:p>
          <a:p/>
          <a:p>
            <a:r>
              <a:t>- The requirements</a:t>
            </a:r>
          </a:p>
          <a:p/>
          <a:p>
            <a:r>
              <a:t>  A: retrieve a session by a unique session ID.</a:t>
            </a:r>
          </a:p>
          <a:p/>
          <a:p>
            <a:r>
              <a:t>  B: products with different attributes.</a:t>
            </a:r>
          </a:p>
          <a:p/>
          <a:p>
            <a:r>
              <a:t>  C: traverse relationships between users.</a:t>
            </a:r>
          </a:p>
          <a:p/>
          <a:p>
            <a:r>
              <a:t>  D: strongly structured financial transactions.</a:t>
            </a:r>
          </a:p>
          <a:p/>
          <a:p>
            <a:r>
              <a:t>  E: large volumes of distributed time-series writes.</a:t>
            </a:r>
          </a:p>
          <a:p/>
          <a:p>
            <a:r>
              <a:t>  F: articles with nested and optional sections.</a:t>
            </a:r>
          </a:p>
          <a:p/>
          <a:p>
            <a:r>
              <a:t>- What to listen for</a:t>
            </a:r>
          </a:p>
          <a:p/>
          <a:p>
            <a:r>
              <a:t>  Each justification should name the access pattern: lookup by key, varied attributes, relationship traversal, strict consistency, or write volume.</a:t>
            </a:r>
          </a:p>
          <a:p/>
          <a:p>
            <a:r>
              <a:t>  Product names alone don't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1.2.</a:t>
            </a:r>
          </a:p>
          <a:p/>
          <a:p>
            <a:r>
              <a:t>  The worksheet is labs/day-01/exercises/exercise-1.2-rows-to-documents.md.</a:t>
            </a:r>
          </a:p>
          <a:p/>
          <a:p>
            <a:r>
              <a:t>  Learners write the document in a scratch file; MongoDB is optional.</a:t>
            </a:r>
          </a:p>
          <a:p/>
          <a:p>
            <a:r>
              <a:t>- The expected document</a:t>
            </a:r>
          </a:p>
          <a:p/>
          <a:p>
            <a:r>
              <a:t>  _id is O5001.</a:t>
            </a:r>
          </a:p>
          <a:p/>
          <a:p>
            <a:r>
              <a:t>  customer holds customerId C101, name Aisha Khan and her email.</a:t>
            </a:r>
          </a:p>
          <a:p/>
          <a:p>
            <a:r>
              <a:t>  items is an array of two lines: P10 Keyboard, quantity 2 at 25.00, and P22 Mouse, quantity 1 at 60.00.</a:t>
            </a:r>
          </a:p>
          <a:p/>
          <a:p>
            <a:r>
              <a:t>  status is PLACED and total is 110.00.</a:t>
            </a:r>
          </a:p>
          <a:p/>
          <a:p>
            <a:r>
              <a:t>- Snapshot versus stale</a:t>
            </a:r>
          </a:p>
          <a:p/>
          <a:p>
            <a:r>
              <a:t>  The purchase-time price is a deliberate snapshot.</a:t>
            </a:r>
          </a:p>
          <a:p/>
          <a:p>
            <a:r>
              <a:t>  An embedded email can go stale if Aisha changes it later.</a:t>
            </a:r>
          </a:p>
          <a:p/>
          <a:p>
            <a:r>
              <a:t>  The document is shaped for one query: get order O5001 in one read.</a:t>
            </a:r>
          </a:p>
          <a:p/>
          <a:p>
            <a:r>
              <a:t>- A note on the dataset</a:t>
            </a:r>
          </a:p>
          <a:p/>
          <a:p>
            <a:r>
              <a:t>  The worksheet's O5001 is its own small example.</a:t>
            </a:r>
          </a:p>
          <a:p/>
          <a:p>
            <a:r>
              <a:t>  The O5001 in the loaded training_store is different: a Business Laptop and two Wireless Mice, payment pending, with a customerId reference instead of an embedded customer.</a:t>
            </a:r>
          </a:p>
          <a:p/>
          <a:p>
            <a:r>
              <a:t>  Learners will see it in Exercise 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1.3.</a:t>
            </a:r>
          </a:p>
          <a:p/>
          <a:p>
            <a:r>
              <a:t>  The worksheet is labs/day-01/exercises/exercise-1.3-explore-a-mongodb-dataset.md.</a:t>
            </a:r>
          </a:p>
          <a:p/>
          <a:p>
            <a:r>
              <a:t>  The instructor loads training_store before class; if mongosh isn't installed yet, learners follow on the instructor screen.</a:t>
            </a:r>
          </a:p>
          <a:p/>
          <a:p>
            <a:r>
              <a:t>- What they will see</a:t>
            </a:r>
          </a:p>
          <a:p/>
          <a:p>
            <a:r>
              <a:t>  show dbs lists training_store beside admin, config and local.</a:t>
            </a:r>
          </a:p>
          <a:p/>
          <a:p>
            <a:r>
              <a:t>  show collections lists customers, orders, products and reviews.</a:t>
            </a:r>
          </a:p>
          <a:p/>
          <a:p>
            <a:r>
              <a:t>  db.orders.findOne() prints O5001, with a shippingAddress object and an items array; the customer is a customerId reference.</a:t>
            </a:r>
          </a:p>
          <a:p/>
          <a:p>
            <a:r>
              <a:t>- Comparing products</a:t>
            </a:r>
          </a:p>
          <a:p/>
          <a:p>
            <a:r>
              <a:t>  On a fresh load, find().limit(2) usually returns the two laptops, L100 and L110, which share the same fields.</a:t>
            </a:r>
          </a:p>
          <a:p/>
          <a:p>
            <a:r>
              <a:t>  Use the last command on the slide to compare a laptop, with processor and memoryGB, against a book, with author and isbn.</a:t>
            </a:r>
          </a:p>
          <a:p/>
          <a:p>
            <a:r>
              <a:t>- Observation sheet</a:t>
            </a:r>
          </a:p>
          <a:p/>
          <a:p>
            <a:r>
              <a:t>  Six questions: which databases and collections exist, the purpose of _id, which document had an embedded object, which had an array, which fields differed, and how a document resembles an application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moved from the kinds of data applications store, to the four NoSQL models, to MongoDB's documents and BSON types, to how MongoDB runs and when it fits.</a:t>
            </a:r>
          </a:p>
          <a:p/>
          <a:p>
            <a:r>
              <a:t>- Next module</a:t>
            </a:r>
          </a:p>
          <a:p/>
          <a:p>
            <a:r>
              <a:t>  Module 2 answers the setup questions: local MongoDB or Atlas, how to install and start mongod and mongosh, and how to connect and load training_store.</a:t>
            </a:r>
          </a:p>
          <a:p/>
          <a:p>
            <a:r>
              <a:t>- Bring along</a:t>
            </a:r>
          </a:p>
          <a:p/>
          <a:p>
            <a:r>
              <a:t>  Keep the Exercise 1.1 table, the O5001 document from Exercise 1.2 and the Exercise 1.3 observation sheet.</a:t>
            </a:r>
          </a:p>
          <a:p/>
          <a:p>
            <a:r>
              <a:t>  Module 3 builds directly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"NoSQL means Not Only SQL."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Introduction to NoSQL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Why NoSQL databases exist, how the four NoSQL models differ, and where MongoDB's document model 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Four NoSQL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MongoDB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MongoDB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When MongoDB fits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you will understand by the end of this module.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3916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394960" cy="16881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Define NoSQL as a category, not one product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Compare the four NoSQL data models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documents, collections and BSON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Describe the basic MongoDB architecture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Judge when MongoDB is — and isn't — a fit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Explore training_store in mongosh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SIX QUESTIONS THIS MODULE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73352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73352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did NoSQL databases appear?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2848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are the four NoSQL models?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5234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52344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exactly is a MongoDB document?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4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is MongoDB built?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31335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31335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is MongoDB the right choice?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370831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70831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we read real data in mongosh?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9028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MODULE ROADMAP</a:t>
            </a:r>
          </a:p>
        </p:txBody>
      </p:sp>
      <p:sp>
        <p:nvSpPr>
          <p:cNvPr id="26" name="Pentagon 25"/>
          <p:cNvSpPr/>
          <p:nvPr/>
        </p:nvSpPr>
        <p:spPr>
          <a:xfrm>
            <a:off x="457200" y="5029200"/>
            <a:ext cx="1763485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49830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today</a:t>
            </a:r>
          </a:p>
        </p:txBody>
      </p:sp>
      <p:sp>
        <p:nvSpPr>
          <p:cNvPr id="28" name="Chevron 27"/>
          <p:cNvSpPr/>
          <p:nvPr/>
        </p:nvSpPr>
        <p:spPr>
          <a:xfrm>
            <a:off x="2037805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7261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8411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7867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Four models</a:t>
            </a:r>
          </a:p>
        </p:txBody>
      </p:sp>
      <p:sp>
        <p:nvSpPr>
          <p:cNvPr id="32" name="Chevron 31"/>
          <p:cNvSpPr/>
          <p:nvPr/>
        </p:nvSpPr>
        <p:spPr>
          <a:xfrm>
            <a:off x="5199017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473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</a:t>
            </a:r>
          </a:p>
        </p:txBody>
      </p:sp>
      <p:sp>
        <p:nvSpPr>
          <p:cNvPr id="34" name="Chevron 33"/>
          <p:cNvSpPr/>
          <p:nvPr/>
        </p:nvSpPr>
        <p:spPr>
          <a:xfrm>
            <a:off x="6779622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078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BSON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0228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9684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</a:t>
            </a:r>
          </a:p>
        </p:txBody>
      </p:sp>
      <p:sp>
        <p:nvSpPr>
          <p:cNvPr id="38" name="Chevron 37"/>
          <p:cNvSpPr/>
          <p:nvPr/>
        </p:nvSpPr>
        <p:spPr>
          <a:xfrm>
            <a:off x="9940834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290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a data model from the access pattern — not from a product's popularity.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NoSQL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Not Only SQL: databases that store data in models other than relational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record stored as field-value pairs, like a JSON object — one product or one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group of related documents inside a database, such as products or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BSON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Binary JSON: MongoDB's typed storage format, with dates, decimals and ObjectIds.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_id and ObjectId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_id uniquely identifies a document in its collection; ObjectId is its default 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Flexible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Documents in one collection may have different fields; validation rules are optional.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Access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How the application reads and writes its data — it drives the model you choose.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Replica 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Several mongod servers holding copies of the same data, for high availability.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Atomicity, Consistency, Isolation, Durability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Binary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Central Processing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Read, Update,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FK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Foreign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Internet of Things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ISBN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International Standard Book Number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NoSQL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 Only 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Primary 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Random Access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SKU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Keeping 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USB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Universal Serial Bus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ONE STORY THROUGH THE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training_store sample database — and the exercises you will run on it.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66568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TRAINING_STORE SAMPLE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664208" cy="65836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customers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6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9424" y="1737360"/>
            <a:ext cx="1664208" cy="658368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products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13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737360"/>
            <a:ext cx="1664208" cy="65836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orders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17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3872" y="1737360"/>
            <a:ext cx="1664208" cy="65836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reviews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6 documents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42616"/>
            <a:ext cx="66568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ONE ORDER, STEP BY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424242"/>
                </a:solidFill>
                <a:latin typeface="Nirmala UI"/>
              </a:rPr>
              <a:t>Luis (C204) shops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73352" y="345643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3090672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Adds shoe + keyboard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36392" y="345643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3280" y="3090672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Order O6102 placed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345643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46320" y="3090672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Payment PAID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62472" y="345643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3090672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Order DELIVERED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78224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78224"/>
            <a:ext cx="6675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MODULE'S QUESTION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Where should data like this live — and in what shape should each record be stored?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298448"/>
            <a:ext cx="384048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7863840" y="1298448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298448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LAB: TRAINING_STORE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1828800"/>
            <a:ext cx="35112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1.3 opens this database in mongosh. The instructor loads it before class; Module 2 shows you how.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880360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FIRST COMMANDS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218688"/>
            <a:ext cx="3511296" cy="1143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db.orders.findOne()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same store runs through every slide, so each new idea builds on the last.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WHY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 with the data modern applications produce.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Four NoSQL models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MongoDB's data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 and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know the goals of this module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met the training_store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Why did databases beyond relational tables become necessary?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Three kinds of application data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Where relational databases work well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Where they start to struggle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NoSQL means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organizations adopt 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STRUCTURED, SEMI-STRUCTURED AND UNSTRUCTURED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Rows and columns, nested fields — and data with no fixed fields.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99547"/>
            <a:ext cx="7415783" cy="31332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2699"/>
            <a:ext cx="7269480" cy="2986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Structured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Rows and columns with a fixed schema — prices and quantities.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72690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75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Semi-structured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8450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Nested fields and arrays whose shape can vary — product specs and tags.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Unstructured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fixed fields at all — images, logs and video.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21174"/>
            <a:ext cx="3520440" cy="101269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21174"/>
            <a:ext cx="3154680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OUR DATASET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training_store products are semi-structured: each category has its own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Tables are built for structured data — much of what modern apps store is semi-structured.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WHERE RELATIONAL DATABASES WORK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declared schema, enforced keys and well-known joins.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2159"/>
            <a:ext cx="7415783" cy="376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311"/>
            <a:ext cx="7269480" cy="36216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Declared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Tables, columns and types are fixed before data arrives.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Enforced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Foreign keys tie every order to a real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Well-known joins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SQL rebuilds the full picture from customers, orders, items and products.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STILL THE RIGHT TOOL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Stable structure plus strict integrity.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the structure is stable and relationships must be enforced, relational databases work very well.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CHALLENGES WITH TRADITIONAL RELATIONAL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complete order means joining five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8249"/>
            <a:ext cx="7415783" cy="42158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1401"/>
            <a:ext cx="7269480" cy="40695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Many lookups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Customer, address, order, items and payment — joined on every 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Rigid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new product attribute needs a migration or more optional columns.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Harder to scale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Joined tables are hard to spread across many servers.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COSTS, NOT FAILURES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They grow with change and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more pieces one business object is split into, the more work every read and every change does.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ADDING A NEW KIND OF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catalog starts selling shoes — what has to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Relational: change the table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ALTER TABLE products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ADD COLUMN sizes    VARCHAR(40);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ALTER TABLE products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ADD COLUMN color    VARCHAR(20);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ALTER TABLE products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ADD COLUMN material VARCHAR(20);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-- laptops and books now carry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-- three empty columns each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Document: insert the new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sku: "S200",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name: "Running Shoe",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category: "SHOE",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price: Decimal128("129.99"),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attributes: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sizes: [7, 8, 9, 10],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color: "Blue", material: "Mesh"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new attribute is a schema change, plus empty columns elsewhere.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product carries only the fields it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85970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585970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STILL DESIGNED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Flexible isn't random — Module 3 models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fixed schema turns every new attribute into a migration; documents let each product carry its own fields.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DOES NOSQL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Not Only SQL — relational and non-relational models side by 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9984"/>
            <a:ext cx="7415783" cy="34723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3136"/>
            <a:ext cx="7269480" cy="33260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Not Only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Databases that store data in models other than relational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Four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Document, key-value, column-family and 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BOTH EXIST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Many real systems use SQL and NoSQL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NoSQL adds data models — it doesn't make SQL databases obsolete.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ORGANIZATIONS ADOPT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Application growth creates four needs.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0538" y="1316736"/>
            <a:ext cx="600568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90" y="1389888"/>
            <a:ext cx="5859378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Flexible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Fields change as the product changes — no migration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Horizontal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servers instead of buying a bigger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Copies on several servers survive one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Faster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objects the way the application already uses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right database depends on the data, the access patterns, the consistency needs and the scale.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WHAT DOES ONE ORDER PAGE COST?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Count the work behind a single page in the relational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order page shows O6102: Luis Romero's Running Shoe and Wireless Keyboard, total 211.38.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 the relational design on the challenges slide, that order lives in five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tables the page must read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Count the joins needed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key columns that link them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9085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Sketch what one order document would 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customers, addresses, orders, order_items, payments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Four joins — five with products for item names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customer_id, address_id, order_id, product_id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document: order, items and shipping address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page can hide many joins — a document shaped like the page needs one read.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FOUR NOSQL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NoSQL is a family. Meet its four members.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Four NoSQL models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MongoDB's data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 and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747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Data comes structured, semi-structured and unstructured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Relational tables excel at stable, related data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757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NoSQL adds models for flexibility and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the four NoSQL models store data differently — and what is each one best at?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four families at a glance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Document databases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Key-value databases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Column-family databases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Graph databases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All five models side by side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FOUR MAJOR NOSQL DATABASE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Document, key-value, column-family and graph.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3246"/>
            <a:ext cx="7415783" cy="420582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6398"/>
            <a:ext cx="7269480" cy="40595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Whole records as JSON-like documents — MongoDB, Couchbase.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Key-value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opaque value per key — Redis, Amazon DynamoDB.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Column-family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Wide rows with variable columns — Apache Cassandra, HBase.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Nodes and relationships — Neo4j, Amazon Neptune.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NoSQL family is optimized for a different way of reading and writing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DOCUMENT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Store one application object as one self-contained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858" y="1316736"/>
            <a:ext cx="728704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10" y="1389888"/>
            <a:ext cx="7140738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training_store product (trimmed)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94538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sku: "S210",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name: "Trail Shoe",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category: "SHOE",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price: Decimal128("89.99"),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attributes: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sizes: [8, 9, 10, 11],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color: "Grey",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material: "Synthetic" },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tags: ["trail", "sports"]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701034"/>
            <a:ext cx="3520440" cy="111213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75589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066794"/>
            <a:ext cx="3246120" cy="691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Catalogs, customer profiles, content and order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941189"/>
            <a:ext cx="3520440" cy="89268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941189"/>
            <a:ext cx="3154680" cy="892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MAIN ADVANTAGE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object stays one document — not many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document database keeps each business object together, in the shape the application uses.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KEY-VALUE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application supplies the exact key; the store returns the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99434"/>
            <a:ext cx="7415783" cy="29334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2586"/>
            <a:ext cx="7269480" cy="27871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460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25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 session:abc returns that session's value — nothing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72512"/>
            <a:ext cx="3520440" cy="11460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737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8272"/>
            <a:ext cx="3246120" cy="725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Caching, sessions, shopping carts, preferences, counters.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46576"/>
            <a:ext cx="3520440" cy="11460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0144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212336"/>
            <a:ext cx="3246120" cy="725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Very fast by key; weak for queries about what's inside the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512064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0676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Amazon DynamoDB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Key-value stores are the fastest path when the application always knows the key.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COLUMN-FAMILY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Rows found by row key, with related columns grouped into families.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67293"/>
            <a:ext cx="7415783" cy="27977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445"/>
            <a:ext cx="7269480" cy="26514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Row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lookup starts from the row key, e.g. customerId 101.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Column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Related columns sit together: profile, orders,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Sparse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row stores only the columns it has — gaps cost nothing.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Huge write volumes: events, sensors, time series — Cassandra, HBase.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Column-family stores handle huge, distributed write volumes looked up by row key.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GRAPH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Nodes, relationships and properties — real training_store facts drawn as a graph.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27048"/>
            <a:ext cx="2148840" cy="91440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Luis Romero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Customer C204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527048"/>
            <a:ext cx="2148840" cy="91440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Business Laptop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Product L100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538728"/>
            <a:ext cx="2148840" cy="91440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USB Hub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Product A400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3538728"/>
            <a:ext cx="2148840" cy="91440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Aisha Khan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Customer C101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984248"/>
            <a:ext cx="1508760" cy="0"/>
          </a:xfrm>
          <a:prstGeom prst="line">
            <a:avLst/>
          </a:prstGeom>
          <a:ln w="25400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97480" y="1655064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ORDERED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37760" y="2487168"/>
            <a:ext cx="0" cy="1005840"/>
          </a:xfrm>
          <a:prstGeom prst="line">
            <a:avLst/>
          </a:prstGeom>
          <a:ln w="25400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3320" y="2852928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Nirmala UI"/>
              </a:rPr>
              <a:t>ORDERED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806440" y="2487168"/>
            <a:ext cx="0" cy="1005840"/>
          </a:xfrm>
          <a:prstGeom prst="line">
            <a:avLst/>
          </a:prstGeom>
          <a:ln w="25400">
            <a:solidFill>
              <a:srgbClr val="A86D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97880" y="2715768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690C"/>
                </a:solidFill>
                <a:latin typeface="Nirmala UI"/>
              </a:rPr>
              <a:t>REVIEWED</a:t>
            </a:r>
          </a:p>
          <a:p>
            <a:pPr algn="l"/>
            <a:r>
              <a:rPr sz="1100" b="0" i="0">
                <a:solidFill>
                  <a:srgbClr val="C9690C"/>
                </a:solidFill>
                <a:latin typeface="Consolas"/>
              </a:rPr>
              <a:t>rating: 5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743200" y="3995928"/>
            <a:ext cx="1508760" cy="0"/>
          </a:xfrm>
          <a:prstGeom prst="line">
            <a:avLst/>
          </a:prstGeom>
          <a:ln w="25400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97480" y="3666744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ORDERED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3060" y="2487168"/>
            <a:ext cx="0" cy="1005840"/>
          </a:xfrm>
          <a:prstGeom prst="line">
            <a:avLst/>
          </a:prstGeom>
          <a:ln w="25400">
            <a:solidFill>
              <a:srgbClr val="B04A4E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2788" y="28529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SUGGEST?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73168"/>
            <a:ext cx="6172200" cy="106070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580644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TRAVERSAL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Luis → L100 ← Aisha → A400: suggest the USB Hub to Luis.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298448"/>
            <a:ext cx="4663440" cy="1219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353312"/>
            <a:ext cx="4389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Nodes and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664208"/>
            <a:ext cx="4389120" cy="79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Nodes are things, edges are relationships — and both can carry properties.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645664"/>
            <a:ext cx="4663440" cy="1219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700528"/>
            <a:ext cx="4389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11424"/>
            <a:ext cx="4389120" cy="798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Social networks, recommendations, fraud detection and access relationships.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9288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340352"/>
            <a:ext cx="2295144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Neo4j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9176" y="4340352"/>
            <a:ext cx="2295144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Amazon Neptune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834128"/>
            <a:ext cx="4663440" cy="999743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834128"/>
            <a:ext cx="4297680" cy="9997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STRENGTH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Multi-step walks along relationships stay fast.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a graph database when the relationships matter as much as the things they connect.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COMPARING THE DATA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four NoSQL families — and relational — side by side.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8046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03120"/>
                <a:gridCol w="2194560"/>
                <a:gridCol w="2148840"/>
              </a:tblGrid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Model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Data model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Main strength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Relational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Tables, fixed schema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Integrity, joins,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Ledgers, finance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Document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JSON-like documents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Flexible, app-friendly records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Catalogs, profiles, orders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Key-value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A key mapped to a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Extremely fast lookup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Caching, sessions, carts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Column-family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Wide rows by row key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Huge distributed writes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Events, time series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Nodes and relationships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Relationship traversal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Fraud, recommendations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823960" y="1298448"/>
            <a:ext cx="288036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353312"/>
            <a:ext cx="2606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More than one can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664208"/>
            <a:ext cx="260604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Many workloads have two workable models — justify your first choice.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907791"/>
            <a:ext cx="288036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2962656"/>
            <a:ext cx="2606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Look at the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273551"/>
            <a:ext cx="260604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By key? Whole object? Huge writes? Deep relationships?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331208"/>
            <a:ext cx="288036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4331208"/>
            <a:ext cx="251460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1.1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match six workloads to these five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from how the data is read and written — then pick the model built for that access pattern.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MONGODB'S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the document family in general to MongoDB in particular.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Four NoSQL models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MongoDB's data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 and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Four NoSQL families, each with its strength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the model from the access pattern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Document databases keep whole objects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exactly is a MongoDB document — and how is the data organized?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6777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MongoDB at a glance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0972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27590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Database, collection, document, field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65168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617865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Relational terms in MongoDB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99364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95982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BSON types in a document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3355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30177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From rows to documents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7755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643734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Embed or reference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6019509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8569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Flexible schema in one collection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INTRODUCING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document database that stores BSON documents in collections.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62402"/>
            <a:ext cx="7415783" cy="40075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5554"/>
            <a:ext cx="7269480" cy="38612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Document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is stored as documents, grouped into collections.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Binary JSON — adds types JSON lacks: dates, decimals, ObjectIds.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training_store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products, customers, orders and reviews — our four collections.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BEYOND STORAGE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Indexes and replica sets are built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MongoDB is a document database: BSON documents, grouped into collections, with indexing and replication built 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MONGODB DATA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Deployment → database → collection → document → field.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64675" y="1316736"/>
            <a:ext cx="383740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27" y="1389888"/>
            <a:ext cx="3691105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Walk it in mongosh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103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db.products.findOne()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8590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9138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Created on first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2247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database or collection appears the first time you insert into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2824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2824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OUR DATASET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13 products — e.g. B300, MongoDB Fundamentals.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mongosh command works at one level of the hierarchy: database, collection, document or field.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RELATIONAL-TO-MONGODB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words map neatly — the designs often don't.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8732" y="1316736"/>
            <a:ext cx="6129295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84" y="1389888"/>
            <a:ext cx="5982991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Row →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document can hold nested objects and arrays a row can't.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JOIN → embed /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Embed what is read together; reference the rest. $lookup joins when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Schema → implicit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Fields come from the documents; add validation rules when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ONE-TO-ONE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Don't copy each table into a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Table, row and column become collection, document and field — but one document often replaces several joined rows.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ANATOMY OF A MONGODB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field keeps its BSON 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1128"/>
            <a:ext cx="7415783" cy="37700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4280"/>
            <a:ext cx="7269480" cy="36237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Unique in its collection; an ObjectId is added if you don't supply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Typed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String, Decimal128, Boolean, Date, Array and embedded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Stored as typed binary, shown as JSON-like text in mongosh.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MONEY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Store prices as Decimal128, never as strings.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BSON keeps real types, so IDs, money and dates behave correctly in queries.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ROWS TO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normalized tables become one order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3944" y="1316736"/>
            <a:ext cx="7338871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6" y="1389888"/>
            <a:ext cx="7192567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customers, orders and order_items — joined on customer_id and 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fields, a customer snapshot and an embedded items array.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Purchase-time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item keeps the price paid, even if the catalog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1.2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make this conversion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Shape the document like the thing the application shows — here, one complete order.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EMBED OR REFERENCE? HOW TRAINING_STORE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Real documents from the orders and reviews collections.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orders: O6102 (trimmed)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724911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orderNumber: "O6102",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customerId: ObjectId("…"),  // reference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items: [                    // embedded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{ sku: "S200", quantity: 1,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unitPrice: Decimal128("129.99")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{ sku: "P1001", quantity: 1,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unitPrice: Decimal128("49.99")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],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shippingAddress: { city: "Austin", …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total: Decimal128("211.38")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reviews: their own collection (trimmed)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724911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productId: ObjectId("…"),   // reference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sku: "S200",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customerId: ObjectId("…"),  // reference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rating: 4,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title: "Comfortable",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body: "Good for daily runs."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81144"/>
            <a:ext cx="3627120" cy="12527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36007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46904"/>
            <a:ext cx="335280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Items and the shipping address are read with the order and keep purchase-time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581144"/>
            <a:ext cx="3627120" cy="12527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636007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946904"/>
            <a:ext cx="335280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Customers are shared and change; reviews grow without limit.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581144"/>
            <a:ext cx="3627120" cy="12527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0080" y="4581144"/>
            <a:ext cx="3261360" cy="1252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OF THUMB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Store together what the app reads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what is read together and belongs to one object; reference what is shared, changes or grows without limit.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FLEXIBLE SCHEMA WITHIN 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products, one collection, different fields.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68865"/>
            <a:ext cx="7415783" cy="37945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2017"/>
            <a:ext cx="7269480" cy="36482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Different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laptop has cpu and ram; the book has isbn and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shared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Both keep _id, sku, name, category, price and active.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training_store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LAPTOP, SHOE, BOOK and ACCESSORY each keep their own attributes.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FLEXIBLE ≠ UNPLANNED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Schema validation can require key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Documents in one collection can differ — design the shared core, and validate what must always be there.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TRANSLATE SQL THINKING INTO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Rewrite a relational description of the store in MongoDB terms.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198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describes training_store in relational terms: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"The products table has 13 rows."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"Each row's key is product_id."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"Order lines live in order_items."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"We join them to show an order."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198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Rewrite each sentence in MongoDB terms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field that replaces product_id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replaces the order_items join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2458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1910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mongosh command that counts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198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products collection holds 13 documents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_id — plus sku as a unique business key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items array embedded in each order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db.products.countDocuments() returns 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Speaking MongoDB's vocabulary is the first step to thinking in documents.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ARCHITECTURE AND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MongoDB runs — and when to choose 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NoSQL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Four NoSQL models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MongoDB's data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 and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MongoDB stores BSON documents in collections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Embed what is read together; reference the rest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757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flexible schema still needs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MongoDB run — and when is it the right choice?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6777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Clients, mongod and the storage engine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0972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27590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How a request is processed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65168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617865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Replica sets and sharded clusters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99364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95982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Core features in mongosh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3355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30177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When MongoDB fits — and when it doesn't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7755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643734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modernization scenario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6019509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8569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Misconceptions and anti-patterns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MONGODB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Clients, the mongod server, the storage engine and the data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74519"/>
            <a:ext cx="7415783" cy="29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7671"/>
            <a:ext cx="7269480" cy="28369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mongosh, MongoDB Compass and application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server process: connections, queries, CRUD, indexes,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Storage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WiredTiger by default: cache, journal, reads and writes.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install mongod and connect with mongosh.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client talks to mongod — the server process that owns storage, queries and indexes.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A MONGODB REQUEST IS PROCESSED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Follow one find request from the client to the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34241"/>
            <a:ext cx="11210544" cy="26807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07393"/>
            <a:ext cx="11064240" cy="2534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25112"/>
            <a:ext cx="26746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Find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54296"/>
            <a:ext cx="2674620" cy="11795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category: "LAPTOP"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700" y="4325112"/>
            <a:ext cx="2674620" cy="15087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1860" y="4379975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Parse and authorize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1860" y="4690872"/>
            <a:ext cx="24003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mongod checks the request and the user's rights.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325112"/>
            <a:ext cx="2674620" cy="15087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379975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Choose 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690872"/>
            <a:ext cx="24003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 an index, or scan the whole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325112"/>
            <a:ext cx="2674620" cy="15087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6860" y="4379975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Return BSON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6860" y="4690872"/>
            <a:ext cx="24003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Matching documents go back to the client.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query planner's choice — index or collection scan — decides how much work each request does.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REPLICA SETS AND SHARDED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Copies of the data for availability — and pieces of the data for scale.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5056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REPLICA SET: COPIES FOR AVAILABILITY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8819" y="1737360"/>
            <a:ext cx="2377440" cy="47548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424242"/>
                </a:solidFill>
                <a:latin typeface="Nirmala UI"/>
              </a:rPr>
              <a:t>Application (driver)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7540" y="2240280"/>
            <a:ext cx="0" cy="320040"/>
          </a:xfrm>
          <a:prstGeom prst="line">
            <a:avLst/>
          </a:prstGeom>
          <a:ln w="25400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68980" y="224028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Nirmala UI"/>
              </a:rPr>
              <a:t>writes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19" y="2587752"/>
            <a:ext cx="2377440" cy="65836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PRIMARY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accepts writes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668780" y="3273552"/>
            <a:ext cx="960120" cy="466344"/>
          </a:xfrm>
          <a:prstGeom prst="line">
            <a:avLst/>
          </a:prstGeom>
          <a:ln w="25400">
            <a:solidFill>
              <a:srgbClr val="28727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776472"/>
            <a:ext cx="2240280" cy="658368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SECONDARY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copies the oplog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26180" y="3273552"/>
            <a:ext cx="960120" cy="466344"/>
          </a:xfrm>
          <a:prstGeom prst="line">
            <a:avLst/>
          </a:prstGeom>
          <a:ln w="25400">
            <a:solidFill>
              <a:srgbClr val="28727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3776472"/>
            <a:ext cx="2240280" cy="658368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SECONDARY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copies the oplog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6020" y="3346704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45152"/>
            <a:ext cx="5440680" cy="118871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45152"/>
            <a:ext cx="5074920" cy="1188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FAILOVER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If the primary fails, the members elect a secondary as the new primary.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29844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1289304"/>
            <a:ext cx="50109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SHARDED CLUSTER: SPLIT DATA FOR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2377440" cy="47548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424242"/>
                </a:solidFill>
                <a:latin typeface="Nirmala UI"/>
              </a:rPr>
              <a:t>Application (driver)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0" y="2240280"/>
            <a:ext cx="0" cy="320040"/>
          </a:xfrm>
          <a:prstGeom prst="line">
            <a:avLst/>
          </a:prstGeom>
          <a:ln w="25400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2587752"/>
            <a:ext cx="2377440" cy="65836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mongos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query router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916936"/>
            <a:ext cx="1005840" cy="0"/>
          </a:xfrm>
          <a:prstGeom prst="line">
            <a:avLst/>
          </a:prstGeom>
          <a:ln w="22225">
            <a:solidFill>
              <a:srgbClr val="A86D33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78240" y="2587752"/>
            <a:ext cx="1051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metadata</a:t>
            </a:r>
          </a:p>
        </p:txBody>
      </p:sp>
      <p:sp>
        <p:nvSpPr>
          <p:cNvPr id="26" name="Can 25"/>
          <p:cNvSpPr/>
          <p:nvPr/>
        </p:nvSpPr>
        <p:spPr>
          <a:xfrm>
            <a:off x="9875520" y="2450592"/>
            <a:ext cx="1828800" cy="932688"/>
          </a:xfrm>
          <a:prstGeom prst="can">
            <a:avLst>
              <a:gd name="adj" fmla="val 18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655783"/>
            <a:ext cx="1828800" cy="6901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Config servers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153656" y="3273552"/>
            <a:ext cx="435864" cy="466344"/>
          </a:xfrm>
          <a:prstGeom prst="line">
            <a:avLst/>
          </a:prstGeom>
          <a:ln w="22225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09360" y="3776472"/>
            <a:ext cx="1688592" cy="65836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Shard A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a replica set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0" y="3273552"/>
            <a:ext cx="1417320" cy="466344"/>
          </a:xfrm>
          <a:prstGeom prst="line">
            <a:avLst/>
          </a:prstGeom>
          <a:ln w="22225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62544" y="3776472"/>
            <a:ext cx="1688592" cy="658368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Shard B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a replica set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0" y="3273552"/>
            <a:ext cx="3270504" cy="466344"/>
          </a:xfrm>
          <a:prstGeom prst="line">
            <a:avLst/>
          </a:prstGeom>
          <a:ln w="22225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15728" y="3776472"/>
            <a:ext cx="1688592" cy="65836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Shard C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Nirmala UI"/>
              </a:rPr>
              <a:t>a replica 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645152"/>
            <a:ext cx="5394960" cy="118871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645152"/>
            <a:ext cx="5029200" cy="1188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SHARD KEY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Decides which shard stores each document — Module 7.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Replica sets keep the data available through a failure; sharding lets it grow past one server.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CORE MONGODB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Flexible documents, indexes, aggregation, replication, sharding and drivers.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883" y="1316736"/>
            <a:ext cx="5988993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35" y="1389888"/>
            <a:ext cx="5842689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Rich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Filter, sort, project and update — plus arrays, geospatial and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 documents without scanning the whole collection.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Pipelines of stages for reporting and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Rules when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Schema validation, atomic writes and multi-document transactions.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MongoDB is more than flexible storage: it queries, indexes, aggregates, replicates and scales.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QUERIES, INDEXES AND AGGREGATION IN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commands on training_store — covered in depth on Days 2 and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Filter and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44906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category: "BOOK"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name: 1, price: 1, _id: 0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244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Index a common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2440" y="1627632"/>
            <a:ext cx="3596640" cy="244906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db.products.createIndex(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category: 1, price: 1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68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Aggregate paid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680" y="1627632"/>
            <a:ext cx="3596640" cy="244906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$match: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paymentStatus: "PAID" }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$group: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_id: "$customerId",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spent: { $sum: "$total" } }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{ $sort: { spent: -1 }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Returns the two books — name and price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createIndex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Supports queries that filter on category and price.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aggregate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Totals paid orders per customer; C101 comes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query language filters, indexes and aggregates — all on the same documents.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PREDICT THE QUERY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Read a query and say what mongosh prints — before running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training_store has three shoes: Running Shoe 129.99, Trail Shoe 89.99 and Clearance Shoe 44.99.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category: "SHOE",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price: { $lt: 100 } },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name: 1, price: 1, _id: 0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).sort({ price: 1 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which shoes match the filter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Put them in the order sort() returns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fields each result shows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9085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 your answer on the instructor's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Clearance Shoe (44.99), then Trail Shoe (89.99)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Running Shoe is excluded: 129.99 is not under 100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Only name and price — _id is hidden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Prices print as Decimal128 values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Reading a query before running it is the fastest way to learn the query language.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WHEN TO USE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Five signals that point to a document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82020"/>
            <a:ext cx="7415783" cy="35682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5172"/>
            <a:ext cx="7269480" cy="34219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Varied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Products with category-specific specifications.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57272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21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Accessed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3032"/>
            <a:ext cx="3246120" cy="710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order and its line items, read in one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16096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7096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Evolving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81856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New catalog fields without a migration.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88992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9438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Horizontal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254752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Shard a fast-growing orders collection.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more of these signals a workload shows, the better MongoDB fits.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WHEN MONGODB MAY NOT BE THE BEST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Five workloads where another model may fit better.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90878"/>
            <a:ext cx="7415783" cy="39505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030"/>
            <a:ext cx="7269480" cy="38042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Cross-entity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Supported — but if most work spans many entities, relational may be simpler.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Strict tabular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Fixed rows and columns suit relational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Graph-first or pure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Deep traversal → graph; session lookup → key-value.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CONSIDER ALTERNATIVES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Check the workload — don't rule MongoDB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Knowing when not to use MongoDB is part of choosing it well.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SCENARIO: MODERNIZING A PRODUCT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Reshape the data, load it, and serve the same API.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20111" y="1316736"/>
            <a:ext cx="8721297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63" y="1389888"/>
            <a:ext cx="8574993" cy="27340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products, categories, attributes and inventory tables — many joins.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Reshape and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product document: sku, name, price, tags,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 /catalog/products keeps its contract; one read per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489704"/>
            <a:ext cx="230886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MODEL FIRST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Reshape around reads — don't copy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Modernizing starts by reshaping the data around how it is read — not by copying the tables.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that lead first MongoDB designs into trouble.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NoSQL means SQL is obsolete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Not Only SQL — relational still fits many workloads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Schemaless means no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A flexible schema still needs a model — and can be 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MongoDB has no transactions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Single-document writes are atomic; multi-document transactions exist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Copy each table into a collection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Model documents around how the app reads and writes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NoSQL is one technology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Four families with very different 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collection per relational table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4759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Unbounded arrays, e.g. every review inside its product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4602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4328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Prices stored as strings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77114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437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indexes for common queries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308203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054604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$lookup join on every 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493516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493516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Store together what the application reads together.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Most first-design problems come from treating MongoDB like tables with a new syntax.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NoSQL, four models, MongoDB documents and architecture — on one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15474" y="1316736"/>
            <a:ext cx="7930570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26" y="1389888"/>
            <a:ext cx="7784266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NoSQL is a family of models; MongoDB stores BSON documents shaped around how the application reads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“Not Only SQL” communicate?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Name the four NoSQL model families.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model fits highly connected data?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MongoDB's equivalent of a table? Of a row?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field uniquely identifies a document?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BSON, and why not plain JSON?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might a product catalog fit a document database?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Does a flexible schema mean no schema design?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replica sets and sharding each provide?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Name one workload where MongoDB may not fit best.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1.1 — CHOOSE THE APPROPRIATE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1 checkpoint A: match workloads to models, and justify each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7124" y="1298448"/>
            <a:ext cx="499719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labs/day-01/exercises/exercise-1.1-choose-the-data-model.md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one starting model for each workload: relational, document, key-value, column-family or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  Online shopping sessions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  Product catalog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  Social recommendations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  Banking ledger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  Sensor platform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  Content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each model's primary structure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Classify A–C with a one-line reason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Classify D–F the same way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Defend one controversial row to the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key-value · B document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 graph · D relational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 column-family or time-series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786124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 document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20674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reason names an access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More than one technology may work — start from the access pattern, not popularity.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1.2 — CONVERT RELATIONAL ROWS INTO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1 checkpoint B: one order, one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8020" y="1298448"/>
            <a:ext cx="4686300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labs/day-01/exercises/exercise-1.2-rows-to-documents.md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 O5001 lives in three tables. Make it one document the application can read without joins.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Customer  C101  Aisha Khan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aisha@example.com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     O5001  PLACED  110.00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Items     P10  Keyboard  2 × 25.00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P22  Mouse     1 × 60.00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three tables and their join keys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Draft the order header: status and total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Embed the items and the customer; set _id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2458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1910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what is a snapshot and what can go stale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document with _id: "O5001"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nested customer and an items array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Purchase-time price is a snapshot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embedded email can go stale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Shaped for: get O5001 in one read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Some duplication is intentional when it serves the access pattern and preserves history.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1.3 — EXPLORE A MONGODB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1 checkpoint C: navigate training_store and read real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6228" y="1298448"/>
            <a:ext cx="5308092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labs/day-01/exercises/exercise-1.3-explore-a-mongodb-dataset.md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instructor has loaded training_store. No mongosh yet? Follow on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94538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db.products.findOne()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db.orders.findOne()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db.products.find().limit(2)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a laptop and a book: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sku: { $in: ["L100", "B300"] } 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databases and collections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Read one product and one order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_id, scalars, objects, arrays, dates, numbers, Booleans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9085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Compare two products' fields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44206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43657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Answer the observation sheet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customers, orders, products, reviews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_id: the unique document identifier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Order: shippingAddress object, items array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Products differ by category attributes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row-versus-document difference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document looks like an application object: nested fields, arrays and real types in one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why NoSQL exists to reading real MongoDB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what NoSQL means and why it emerged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Compare document, key-value, column-family and graph models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Describe databases, collections, documents and BSON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mongod, replica sets and sharding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Judge when MongoDB fits — and when it doesn't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47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training_store documents in mongosh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2 — INSTALLATION AND SETUP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Local MongoDB or MongoDB Atlas?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install and start mongod and mongosh?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connect and load training_store?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Exercise 1.1 table, your O5001 document and your Exercise 1.3 observation sheet.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2 gives you your own running MongoDB, so every later module can use training_store hands-on.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