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aggregation is</a:t>
            </a:r>
          </a:p>
          <a:p/>
          <a:p>
            <a:r>
              <a:t>  The aggregation framework runs documents through a pipeline of stages.</a:t>
            </a:r>
          </a:p>
          <a:p/>
          <a:p>
            <a:r>
              <a:t>  Each stage receives documents, transforms them and passes the result to the next stage.</a:t>
            </a:r>
          </a:p>
          <a:p/>
          <a:p>
            <a:r>
              <a:t>  That is how MongoDB answers questions such as revenue per customer or the top five products.</a:t>
            </a:r>
          </a:p>
          <a:p/>
          <a:p>
            <a:r>
              <a:t>- What this module does</a:t>
            </a:r>
          </a:p>
          <a:p/>
          <a:p>
            <a:r>
              <a:t>  We build pipelines on training_store: filter with $match, shape with $project and $set, summarize with $group, expand arrays with $unwind, join with $lookup and combine several reports with $facet.</a:t>
            </a:r>
          </a:p>
          <a:p/>
          <a:p>
            <a:r>
              <a:t>  We finish with stage order and performance.</a:t>
            </a:r>
          </a:p>
          <a:p/>
          <a:p>
            <a:r>
              <a:t>- Where it sits in the course</a:t>
            </a:r>
          </a:p>
          <a:p/>
          <a:p>
            <a:r>
              <a:t>  Module 4 taught find() and updates.</a:t>
            </a:r>
          </a:p>
          <a:p/>
          <a:p>
            <a:r>
              <a:t>  This module is the second half of Day 2, and it leads into Day 2 Lab 4.</a:t>
            </a:r>
          </a:p>
          <a:p/>
          <a:p>
            <a:r>
              <a:t>  Module 6, on Day 3, makes these pipelines fast with indexes.</a:t>
            </a:r>
          </a:p>
          <a:p/>
          <a:p/>
          <a:p>
            <a:r>
              <a:t>REAL-WORLD EXAMPLES</a:t>
            </a:r>
          </a:p>
          <a:p>
            <a:r>
              <a:t>-------------------</a:t>
            </a:r>
          </a:p>
          <a:p/>
          <a:p>
            <a:r>
              <a:t>- An online store's sales dashboard, a finance team's monthly revenue report and a product page's average rating can all be one aggregation pipeline each.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By the end of this module</a:t>
            </a:r>
          </a:p>
          <a:p/>
          <a:p>
            <a:r>
              <a:t>  Walk through the six objectives on the left.</a:t>
            </a:r>
          </a:p>
          <a:p/>
          <a:p>
            <a:r>
              <a:t>  Learners should be able to explain how documents flow through a pipeline, filter and reshape documents, and group them with accumulators.</a:t>
            </a:r>
          </a:p>
          <a:p/>
          <a:p>
            <a:r>
              <a:t>  They should be able to work with the items array and join collections, build one report with several metrics, and put the stages in an order that is both correct and cheap.</a:t>
            </a:r>
          </a:p>
          <a:p/>
          <a:p>
            <a:r>
              <a:t>- Six questions this module answers</a:t>
            </a:r>
          </a:p>
          <a:p/>
          <a:p>
            <a:r>
              <a:t>  What is a pipeline?</a:t>
            </a:r>
          </a:p>
          <a:p/>
          <a:p>
            <a:r>
              <a:t>  How do we filter and shape documents?</a:t>
            </a:r>
          </a:p>
          <a:p/>
          <a:p>
            <a:r>
              <a:t>  How do we summarize them?</a:t>
            </a:r>
          </a:p>
          <a:p/>
          <a:p>
            <a:r>
              <a:t>  How do we use arrays and other collections?</a:t>
            </a:r>
          </a:p>
          <a:p/>
          <a:p>
            <a:r>
              <a:t>  How do we build one report with several metrics?</a:t>
            </a:r>
          </a:p>
          <a:p/>
          <a:p>
            <a:r>
              <a:t>  And why does stage order matter?</a:t>
            </a:r>
          </a:p>
          <a:p/>
          <a:p>
            <a:r>
              <a:t>- Set the expectation</a:t>
            </a:r>
          </a:p>
          <a:p/>
          <a:p>
            <a:r>
              <a:t>  Every result on these slides comes from the real training_store data.</a:t>
            </a:r>
          </a:p>
          <a:p/>
          <a:p>
            <a:r>
              <a:t>  Learners can run each pipeline and get the same numbers.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this slide</a:t>
            </a:r>
          </a:p>
          <a:p/>
          <a:p>
            <a:r>
              <a:t>  Read each term once and give a quick example from the training_store sample database.</a:t>
            </a:r>
          </a:p>
          <a:p/>
          <a:p>
            <a:r>
              <a:t>- Aggregation pipeline</a:t>
            </a:r>
          </a:p>
          <a:p/>
          <a:p>
            <a:r>
              <a:t>  An ordered array of stages that db.collection.aggregate() runs on a stream of documents.</a:t>
            </a:r>
          </a:p>
          <a:p/>
          <a:p>
            <a:r>
              <a:t>- Stage</a:t>
            </a:r>
          </a:p>
          <a:p/>
          <a:p>
            <a:r>
              <a:t>  One step such as $match, $group or $sort: it takes documents in and passes new documents on.</a:t>
            </a:r>
          </a:p>
          <a:p/>
          <a:p>
            <a:r>
              <a:t>- Field path</a:t>
            </a:r>
          </a:p>
          <a:p/>
          <a:p>
            <a:r>
              <a:t>  "$total" or "$items.quantity": the $ tells MongoDB to read a field's value, not the text.</a:t>
            </a:r>
          </a:p>
          <a:p/>
          <a:p>
            <a:r>
              <a:t>- Expression</a:t>
            </a:r>
          </a:p>
          <a:p/>
          <a:p>
            <a:r>
              <a:t>  A calculation evaluated per document, such as $multiply, $concat or $cond.</a:t>
            </a:r>
          </a:p>
          <a:p/>
          <a:p>
            <a:r>
              <a:t>- Grouping key</a:t>
            </a:r>
          </a:p>
          <a:p/>
          <a:p>
            <a:r>
              <a:t>  The _id of $group: every distinct value becomes one output document.</a:t>
            </a:r>
          </a:p>
          <a:p/>
          <a:p>
            <a:r>
              <a:t>- Accumulator</a:t>
            </a:r>
          </a:p>
          <a:p/>
          <a:p>
            <a:r>
              <a:t>  An operator that combines values across a group: $sum, $avg, $min, $max, $push.</a:t>
            </a:r>
          </a:p>
          <a:p/>
          <a:p>
            <a:r>
              <a:t>- $unwind</a:t>
            </a:r>
          </a:p>
          <a:p/>
          <a:p>
            <a:r>
              <a:t>  Turns one document with an array into one document per array element.</a:t>
            </a:r>
          </a:p>
          <a:p/>
          <a:p>
            <a:r>
              <a:t>- $lookup</a:t>
            </a:r>
          </a:p>
          <a:p/>
          <a:p>
            <a:r>
              <a:t>  A left outer join to another collection; the matches arrive as an array.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this slide</a:t>
            </a:r>
          </a:p>
          <a:p/>
          <a:p>
            <a:r>
              <a:t>  Don't read every row.</a:t>
            </a:r>
          </a:p>
          <a:p/>
          <a:p>
            <a:r>
              <a:t>  Point out the few this module uses most, and say the full list is here for reference.</a:t>
            </a:r>
          </a:p>
          <a:p/>
          <a:p>
            <a:r>
              <a:t>- Reference</a:t>
            </a:r>
          </a:p>
          <a:p/>
          <a:p>
            <a:r>
              <a:t>  API is Application Programming Interface; BSON is Binary JSON; CRUD is Create, Read, Update, Delete; ID is Identifier; SKU is Stock Keeping Unit; UTC is Coordinated Universal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Bridge from Module 4</a:t>
            </a:r>
          </a:p>
          <a:p/>
          <a:p>
            <a:r>
              <a:t>  Module 4 taught the query language: filters with comparison and logical operators, projections, dotted paths into nested fields and arrays, sort and limit, and updates.</a:t>
            </a:r>
          </a:p>
          <a:p/>
          <a:p>
            <a:r>
              <a:t>- What changes now</a:t>
            </a:r>
          </a:p>
          <a:p/>
          <a:p>
            <a:r>
              <a:t>  find() can only return documents that are stored.</a:t>
            </a:r>
          </a:p>
          <a:p/>
          <a:p>
            <a:r>
              <a:t>  Questions like revenue per customer, the top five products or orders with customer names need new documents computed from the stored ones.</a:t>
            </a:r>
          </a:p>
          <a:p/>
          <a:p>
            <a:r>
              <a:t>  That is aggregation.</a:t>
            </a:r>
          </a:p>
          <a:p/>
          <a:p>
            <a:r>
              <a:t>- Nothing is wasted</a:t>
            </a:r>
          </a:p>
          <a:p/>
          <a:p>
            <a:r>
              <a:t>  Every Module 4 filter works unchanged inside $match, and projections return as $project.</a:t>
            </a:r>
          </a:p>
          <a:p/>
          <a:p>
            <a:r>
              <a:t>- Where this leads</a:t>
            </a:r>
          </a:p>
          <a:p/>
          <a:p>
            <a:r>
              <a:t>  The module ends in Day 2 Lab 4, one multi-stage pipeline.</a:t>
            </a:r>
          </a:p>
          <a:p/>
          <a:p>
            <a:r>
              <a:t>  Tomorrow, Module 6 makes these pipelines fast with indexes.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Reload first</a:t>
            </a:r>
          </a:p>
          <a:p/>
          <a:p>
            <a:r>
              <a:t>  Run datasets/training_store/load.js before class.</a:t>
            </a:r>
          </a:p>
          <a:p/>
          <a:p>
            <a:r>
              <a:t>  A fresh load has 6 customers, 13 products, 17 orders and 6 reviews, with 13 paid orders.</a:t>
            </a:r>
          </a:p>
          <a:p/>
          <a:p>
            <a:r>
              <a:t>  Some lab guides say 12 products; the loader adds a 13th, XBAD, on purpose.</a:t>
            </a:r>
          </a:p>
          <a:p/>
          <a:p>
            <a:r>
              <a:t>- The order document</a:t>
            </a:r>
          </a:p>
          <a:p/>
          <a:p>
            <a:r>
              <a:t>  Orders keep two status fields, paymentStatus and fulfillmentStatus.</a:t>
            </a:r>
          </a:p>
          <a:p/>
          <a:p>
            <a:r>
              <a:t>  Each item stores sku, name, quantity and unitPrice.</a:t>
            </a:r>
          </a:p>
          <a:p/>
          <a:p>
            <a:r>
              <a:t>  Money is Decimal128 and createdAt is a Date.</a:t>
            </a:r>
          </a:p>
          <a:p/>
          <a:p>
            <a:r>
              <a:t>  customerId is a reference to the customer's _id.</a:t>
            </a:r>
          </a:p>
          <a:p/>
          <a:p>
            <a:r>
              <a:t>- Traps on purpose</a:t>
            </a:r>
          </a:p>
          <a:p/>
          <a:p>
            <a:r>
              <a:t>  Many generic examples use status: "Shipped" and items.lineTotal.</a:t>
            </a:r>
          </a:p>
          <a:p/>
          <a:p>
            <a:r>
              <a:t>  Neither exists here, so those pipelines return nothing or zeros.</a:t>
            </a:r>
          </a:p>
          <a:p/>
          <a:p>
            <a:r>
              <a:t>  shippingFee is missing on O5001, O6201, O6202, O6304, O6402 and O6499.</a:t>
            </a:r>
          </a:p>
          <a:p/>
          <a:p>
            <a:r>
              <a:t>  XBAD stores its price as a string, and O6499 points to a customer that doesn't exist.</a:t>
            </a:r>
          </a:p>
          <a:p/>
          <a:p>
            <a:r>
              <a:t>- Before Lab 4</a:t>
            </a:r>
          </a:p>
          <a:p/>
          <a:p>
            <a:r>
              <a:t>  Lab 4 starts with exactly this check, its Step 0: reload, count the collections, open one document of each kind and write down the field paths.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Where we start</a:t>
            </a:r>
          </a:p>
          <a:p/>
          <a:p>
            <a:r>
              <a:t>  We begin with the model: what a pipeline is, and how documents flow through it.</a:t>
            </a:r>
          </a:p>
          <a:p/>
          <a:p>
            <a:r>
              <a:t>- What this part answers</a:t>
            </a:r>
          </a:p>
          <a:p/>
          <a:p>
            <a:r>
              <a:t>  By the end of Part 1, learners can read a short pipeline and say how many documents leave each stage, and what they look like.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Two tools, two jobs</a:t>
            </a:r>
          </a:p>
          <a:p/>
          <a:p>
            <a:r>
              <a:t>  find() returns stored documents that match a filter.</a:t>
            </a:r>
          </a:p>
          <a:p/>
          <a:p>
            <a:r>
              <a:t>  It is the right tool for everyday reads: one order, a customer's orders, the books in the catalog.</a:t>
            </a:r>
          </a:p>
          <a:p/>
          <a:p>
            <a:r>
              <a:t>- When to aggregate</a:t>
            </a:r>
          </a:p>
          <a:p/>
          <a:p>
            <a:r>
              <a:t>  Use aggregate() when the answer isn't stored in any single document: a count, a total, an average, a ranking or a join.</a:t>
            </a:r>
          </a:p>
          <a:p/>
          <a:p>
            <a:r>
              <a:t>  The pipeline computes new documents from the stored ones.</a:t>
            </a:r>
          </a:p>
          <a:p/>
          <a:p>
            <a:r>
              <a:t>- In training_store</a:t>
            </a:r>
          </a:p>
          <a:p/>
          <a:p>
            <a:r>
              <a:t>  find() can list Aisha Khan's paid orders.</a:t>
            </a:r>
          </a:p>
          <a:p/>
          <a:p>
            <a:r>
              <a:t>  Only aggregate() can tell us that together they are worth 3418.62.</a:t>
            </a:r>
          </a:p>
          <a:p/>
          <a:p>
            <a:r>
              <a:t>- What it shows</a:t>
            </a:r>
          </a:p>
          <a:p/>
          <a:p>
            <a:r>
              <a:t>  On the left, find() with a filter on customerId C-104 and status completed returns three matching order documents.</a:t>
            </a:r>
          </a:p>
          <a:p/>
          <a:p>
            <a:r>
              <a:t>  On the right, aggregate() runs $match, $group and $project and returns one computed result: C-104, three orders, totalSpent 428.</a:t>
            </a:r>
          </a:p>
          <a:p/>
          <a:p>
            <a:r>
              <a:t>- How to read it</a:t>
            </a:r>
          </a:p>
          <a:p/>
          <a:p>
            <a:r>
              <a:t>  Compare the bottom bars: fast CRUD lookup of current records, versus computed summaries.</a:t>
            </a:r>
          </a:p>
          <a:p/>
          <a:p>
            <a:r>
              <a:t>- About the data</a:t>
            </a:r>
          </a:p>
          <a:p/>
          <a:p>
            <a:r>
              <a:t>  The diagram uses a simplified status field and made-up customer numbers.</a:t>
            </a:r>
          </a:p>
          <a:p/>
          <a:p>
            <a:r>
              <a:t>  training_store orders have paymentStatus and fulfillmentStatus instead.</a:t>
            </a:r>
          </a:p>
          <a:p/>
          <a:p>
            <a:r>
              <a:t>- Key point</a:t>
            </a:r>
          </a:p>
          <a:p/>
          <a:p>
            <a:r>
              <a:t>  find() gives back what is stored.</a:t>
            </a:r>
          </a:p>
          <a:p/>
          <a:p>
            <a:r>
              <a:t>  aggregate() gives back something new.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syntax</a:t>
            </a:r>
          </a:p>
          <a:p/>
          <a:p>
            <a:r>
              <a:t>  aggregate() takes an array.</a:t>
            </a:r>
          </a:p>
          <a:p/>
          <a:p>
            <a:r>
              <a:t>  Each element is one stage document, such as { $match: … }.</a:t>
            </a:r>
          </a:p>
          <a:p/>
          <a:p>
            <a:r>
              <a:t>  MongoDB runs them in array order.</a:t>
            </a:r>
          </a:p>
          <a:p/>
          <a:p>
            <a:r>
              <a:t>- A stream, not a table</a:t>
            </a:r>
          </a:p>
          <a:p/>
          <a:p>
            <a:r>
              <a:t>  Documents flow from stage to stage.</a:t>
            </a:r>
          </a:p>
          <a:p/>
          <a:p>
            <a:r>
              <a:t>  The output of one stage is the only input the next stage sees.</a:t>
            </a:r>
          </a:p>
          <a:p/>
          <a:p>
            <a:r>
              <a:t>- Count and shape</a:t>
            </a:r>
          </a:p>
          <a:p/>
          <a:p>
            <a:r>
              <a:t>  Some stages change how many documents there are: $match, $group, $limit, $unwind.</a:t>
            </a:r>
          </a:p>
          <a:p/>
          <a:p>
            <a:r>
              <a:t>  Others change what each document looks like: $project, $set.</a:t>
            </a:r>
          </a:p>
          <a:p/>
          <a:p>
            <a:r>
              <a:t>  $group does both.</a:t>
            </a:r>
          </a:p>
          <a:p/>
          <a:p>
            <a:r>
              <a:t>- Nothing is written</a:t>
            </a:r>
          </a:p>
          <a:p/>
          <a:p>
            <a:r>
              <a:t>  A normal pipeline doesn't change the stored documents.</a:t>
            </a:r>
          </a:p>
          <a:p/>
          <a:p>
            <a:r>
              <a:t>  Only the write stages $out and $merge save results.</a:t>
            </a:r>
          </a:p>
          <a:p/>
          <a:p>
            <a:r>
              <a:t>- What it shows</a:t>
            </a:r>
          </a:p>
          <a:p/>
          <a:p>
            <a:r>
              <a:t>  mongosh or Compass calls aggregate() on the orders collection.</a:t>
            </a:r>
          </a:p>
          <a:p/>
          <a:p>
            <a:r>
              <a:t>  Six input documents stream into $match, four pass to $group by customerId, and $sort orders the two groups by totalSpent.</a:t>
            </a:r>
          </a:p>
          <a:p/>
          <a:p>
            <a:r>
              <a:t>- How to read it</a:t>
            </a:r>
          </a:p>
          <a:p/>
          <a:p>
            <a:r>
              <a:t>  Follow the counts under each arrow: 6, 4, 2.</a:t>
            </a:r>
          </a:p>
          <a:p/>
          <a:p>
            <a:r>
              <a:t>  The two result documents are C-104 with three orders and C-207 with one.</a:t>
            </a:r>
          </a:p>
          <a:p/>
          <a:p>
            <a:r>
              <a:t>- Key point</a:t>
            </a:r>
          </a:p>
          <a:p/>
          <a:p>
            <a:r>
              <a:t>  Each stage only sees what the previous stage passed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Demo 5.1</a:t>
            </a:r>
          </a:p>
          <a:p/>
          <a:p>
            <a:r>
              <a:t>  Type the pipeline in mongosh one stage at a time.</a:t>
            </a:r>
          </a:p>
          <a:p/>
          <a:p>
            <a:r>
              <a:t>  Run the $match alone first: 13 documents, the paid orders.</a:t>
            </a:r>
          </a:p>
          <a:p/>
          <a:p>
            <a:r>
              <a:t>- Add $group</a:t>
            </a:r>
          </a:p>
          <a:p/>
          <a:p>
            <a:r>
              <a:t>  Append $group.</a:t>
            </a:r>
          </a:p>
          <a:p/>
          <a:p>
            <a:r>
              <a:t>  Seventeen orders became 13, and 13 become 4: one per fulfillmentStatus.</a:t>
            </a:r>
          </a:p>
          <a:p/>
          <a:p>
            <a:r>
              <a:t>  orders counts with $sum: 1, and revenue adds total.</a:t>
            </a:r>
          </a:p>
          <a:p/>
          <a:p>
            <a:r>
              <a:t>- Add $sort</a:t>
            </a:r>
          </a:p>
          <a:p/>
          <a:p>
            <a:r>
              <a:t>  Append $sort on revenue, descending.</a:t>
            </a:r>
          </a:p>
          <a:p/>
          <a:p>
            <a:r>
              <a:t>  SHIPPED leads with six orders worth 3809.48, then DELIVERED 2788.42, PROCESSING 2448.77 and NEW 71.77.</a:t>
            </a:r>
          </a:p>
          <a:p/>
          <a:p>
            <a:r>
              <a:t>- Decimal128 output</a:t>
            </a:r>
          </a:p>
          <a:p/>
          <a:p>
            <a:r>
              <a:t>  mongosh prints revenue as Decimal128('3809.48').</a:t>
            </a:r>
          </a:p>
          <a:p/>
          <a:p>
            <a:r>
              <a:t>  The slide shows the plain numbers.</a:t>
            </a:r>
          </a:p>
          <a:p/>
          <a:p>
            <a:r>
              <a:t>- Check the sum</a:t>
            </a:r>
          </a:p>
          <a:p/>
          <a:p>
            <a:r>
              <a:t>  Six plus four plus two plus one is 13.</a:t>
            </a:r>
          </a:p>
          <a:p/>
          <a:p>
            <a:r>
              <a:t>  If the counts don't add up to the $match count, something is wrong.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Order is meaning</a:t>
            </a:r>
          </a:p>
          <a:p/>
          <a:p>
            <a:r>
              <a:t>  Stages run in the order you write them.</a:t>
            </a:r>
          </a:p>
          <a:p/>
          <a:p>
            <a:r>
              <a:t>  Swap two stages and you may ask a different question, or no question at all.</a:t>
            </a:r>
          </a:p>
          <a:p/>
          <a:p>
            <a:r>
              <a:t>- Group, then match</a:t>
            </a:r>
          </a:p>
          <a:p/>
          <a:p>
            <a:r>
              <a:t>  $group outputs only _id and the accumulator fields.</a:t>
            </a:r>
          </a:p>
          <a:p/>
          <a:p>
            <a:r>
              <a:t>  A $match on paymentStatus after it looks for a field that no longer exists, so it returns nothing.</a:t>
            </a:r>
          </a:p>
          <a:p/>
          <a:p>
            <a:r>
              <a:t>  On training_store this pipeline returns zero documents.</a:t>
            </a:r>
          </a:p>
          <a:p/>
          <a:p>
            <a:r>
              <a:t>- The fix</a:t>
            </a:r>
          </a:p>
          <a:p/>
          <a:p>
            <a:r>
              <a:t>  Filter first, then group.</a:t>
            </a:r>
          </a:p>
          <a:p/>
          <a:p>
            <a:r>
              <a:t>  Every total is then paid revenue only.</a:t>
            </a:r>
          </a:p>
          <a:p/>
          <a:p>
            <a:r>
              <a:t>- What it shows</a:t>
            </a:r>
          </a:p>
          <a:p/>
          <a:p>
            <a:r>
              <a:t>  Top row: ten orders, $match on status completed keeps six, and $group by customerId makes two groups.</a:t>
            </a:r>
          </a:p>
          <a:p/>
          <a:p>
            <a:r>
              <a:t>  Bottom row: $group runs first and outputs only _id and totalSpent, so the later $match has no status field to test.</a:t>
            </a:r>
          </a:p>
          <a:p/>
          <a:p>
            <a:r>
              <a:t>- How to read it</a:t>
            </a:r>
          </a:p>
          <a:p/>
          <a:p>
            <a:r>
              <a:t>  Green is the correct order.</a:t>
            </a:r>
          </a:p>
          <a:p/>
          <a:p>
            <a:r>
              <a:t>  Red marks the wrong one: status field removed, wrong or unusable filter.</a:t>
            </a:r>
          </a:p>
          <a:p/>
          <a:p>
            <a:r>
              <a:t>- Key point</a:t>
            </a:r>
          </a:p>
          <a:p/>
          <a:p>
            <a:r>
              <a:t>  Filter on stored fields before $group removes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Connecting the parts</a:t>
            </a:r>
          </a:p>
          <a:p/>
          <a:p>
            <a:r>
              <a:t>  Part 1 showed the stream.</a:t>
            </a:r>
          </a:p>
          <a:p/>
          <a:p>
            <a:r>
              <a:t>  Part 2 introduces the stages that almost every pipeline uses: $match, $project, $set, $sort and $limit.</a:t>
            </a:r>
          </a:p>
          <a:p/>
          <a:p>
            <a:r>
              <a:t>- Watch for</a:t>
            </a:r>
          </a:p>
          <a:p/>
          <a:p>
            <a:r>
              <a:t>  Real field names, Decimal128 money and missing fields.</a:t>
            </a:r>
          </a:p>
          <a:p/>
          <a:p>
            <a:r>
              <a:t>  They are where most first pipelines go wrong.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$match filters</a:t>
            </a:r>
          </a:p>
          <a:p/>
          <a:p>
            <a:r>
              <a:t>  $match keeps the documents that satisfy a filter and drops the rest.</a:t>
            </a:r>
          </a:p>
          <a:p/>
          <a:p>
            <a:r>
              <a:t>  It uses exactly the query language from Module 4.</a:t>
            </a:r>
          </a:p>
          <a:p/>
          <a:p>
            <a:r>
              <a:t>- Our high-value orders</a:t>
            </a:r>
          </a:p>
          <a:p/>
          <a:p>
            <a:r>
              <a:t>  paymentStatus PAID and total at least Decimal128 1000.00 match four orders: O6101, O6202, O6301 and O6304.</a:t>
            </a:r>
          </a:p>
          <a:p/>
          <a:p>
            <a:r>
              <a:t>- Put it first</a:t>
            </a:r>
          </a:p>
          <a:p/>
          <a:p>
            <a:r>
              <a:t>  A selective $match at the start means every later stage works on fewer documents.</a:t>
            </a:r>
          </a:p>
          <a:p/>
          <a:p>
            <a:r>
              <a:t>  As the first stage it can also use an index, which is Module 6.</a:t>
            </a:r>
          </a:p>
          <a:p/>
          <a:p>
            <a:r>
              <a:t>- What it shows</a:t>
            </a:r>
          </a:p>
          <a:p/>
          <a:p>
            <a:r>
              <a:t>  Eight orders enter $match with status PAID and total at least 100.</a:t>
            </a:r>
          </a:p>
          <a:p/>
          <a:p>
            <a:r>
              <a:t>  Three documents come out, with totals 145, 320 and 210.</a:t>
            </a:r>
          </a:p>
          <a:p/>
          <a:p>
            <a:r>
              <a:t>- How to read it</a:t>
            </a:r>
          </a:p>
          <a:p/>
          <a:p>
            <a:r>
              <a:t>  The pending order and the shipped order are dropped.</a:t>
            </a:r>
          </a:p>
          <a:p/>
          <a:p>
            <a:r>
              <a:t>  Each remaining order meets both conditions.</a:t>
            </a:r>
          </a:p>
          <a:p/>
          <a:p>
            <a:r>
              <a:t>- About the data</a:t>
            </a:r>
          </a:p>
          <a:p/>
          <a:p>
            <a:r>
              <a:t>  The diagram's status field stands for training_store's paymentStatus.</a:t>
            </a:r>
          </a:p>
          <a:p/>
          <a:p>
            <a:r>
              <a:t>- Key point</a:t>
            </a:r>
          </a:p>
          <a:p/>
          <a:p>
            <a:r>
              <a:t>  $match uses the same filter language as find().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Categories</a:t>
            </a:r>
          </a:p>
          <a:p/>
          <a:p>
            <a:r>
              <a:t>  Active laptops and accessories: L100, L110, P1001, A400, A410, A500 and XBAD.</a:t>
            </a:r>
          </a:p>
          <a:p/>
          <a:p>
            <a:r>
              <a:t>  L190 is a laptop but inactive, so it is filtered out.</a:t>
            </a:r>
          </a:p>
          <a:p/>
          <a:p>
            <a:r>
              <a:t>- Dates</a:t>
            </a:r>
          </a:p>
          <a:p/>
          <a:p>
            <a:r>
              <a:t>  The half-open range, $gte the first of August and $lt the first of September, catches every August instant exactly once.</a:t>
            </a:r>
          </a:p>
          <a:p/>
          <a:p>
            <a:r>
              <a:t>  The August reviews are for L110, B300 and P1001.</a:t>
            </a:r>
          </a:p>
          <a:p/>
          <a:p>
            <a:r>
              <a:t>- Nested arrays</a:t>
            </a:r>
          </a:p>
          <a:p/>
          <a:p>
            <a:r>
              <a:t>  addresses is an array of documents.</a:t>
            </a:r>
          </a:p>
          <a:p/>
          <a:p>
            <a:r>
              <a:t>  "addresses.province" matches if any address is in Ontario or Quebec: Aisha Khan (C101), Jordan Lee (C412) and Sam Okonkwo (C515), who is inactive but still matches.</a:t>
            </a:r>
          </a:p>
          <a:p/>
          <a:p>
            <a:r>
              <a:t>- Try it</a:t>
            </a:r>
          </a:p>
          <a:p/>
          <a:p>
            <a:r>
              <a:t>  Have learners run these three filters, plus the paid and high-value filter from the last slide, and check each count.</a:t>
            </a:r>
          </a:p>
          <a:p/>
          <a:p>
            <a:r>
              <a:t>  The high-value filter must use Decimal128, not a plain number written as a string.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$project controls the output shape</a:t>
            </a:r>
          </a:p>
          <a:p/>
          <a:p>
            <a:r>
              <a:t>  1 includes a field and 0 excludes it.</a:t>
            </a:r>
          </a:p>
          <a:p/>
          <a:p>
            <a:r>
              <a:t>  _id is included unless you set it to 0.</a:t>
            </a:r>
          </a:p>
          <a:p/>
          <a:p>
            <a:r>
              <a:t>- Include or exclude — not both</a:t>
            </a:r>
          </a:p>
          <a:p/>
          <a:p>
            <a:r>
              <a:t>  A projection is either a list of fields to keep or a list of fields to drop.</a:t>
            </a:r>
          </a:p>
          <a:p/>
          <a:p>
            <a:r>
              <a:t>  The only field you may exclude in an inclusion projection is _id.</a:t>
            </a:r>
          </a:p>
          <a:p/>
          <a:p>
            <a:r>
              <a:t>- Rename and compute</a:t>
            </a:r>
          </a:p>
          <a:p/>
          <a:p>
            <a:r>
              <a:t>  A new name with a $ path copies a value: productName: "$name".</a:t>
            </a:r>
          </a:p>
          <a:p/>
          <a:p>
            <a:r>
              <a:t>  An expression computes one.</a:t>
            </a:r>
          </a:p>
          <a:p/>
          <a:p>
            <a:r>
              <a:t>  Both change only the pipeline output, never the stored product.</a:t>
            </a:r>
          </a:p>
          <a:p/>
          <a:p>
            <a:r>
              <a:t>- What it shows</a:t>
            </a:r>
          </a:p>
          <a:p/>
          <a:p>
            <a:r>
              <a:t>  One product, a Laptop Stand, projected two ways.</a:t>
            </a:r>
          </a:p>
          <a:p/>
          <a:p>
            <a:r>
              <a:t>  Inclusion keeps name, category and price.</a:t>
            </a:r>
          </a:p>
          <a:p/>
          <a:p>
            <a:r>
              <a:t>  Exclusion drops supplierCost, stock and _id.</a:t>
            </a:r>
          </a:p>
          <a:p/>
          <a:p>
            <a:r>
              <a:t>  Both give the same result document.</a:t>
            </a:r>
          </a:p>
          <a:p/>
          <a:p>
            <a:r>
              <a:t>- How to read it</a:t>
            </a:r>
          </a:p>
          <a:p/>
          <a:p>
            <a:r>
              <a:t>  The banner at the bottom states the rule: do not mix inclusion and exclusion, except _id.</a:t>
            </a:r>
          </a:p>
          <a:p/>
          <a:p>
            <a:r>
              <a:t>- Key point</a:t>
            </a:r>
          </a:p>
          <a:p/>
          <a:p>
            <a:r>
              <a:t>  Pick one style per projection; _id is the only exception.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Expressions per document</a:t>
            </a:r>
          </a:p>
          <a:p/>
          <a:p>
            <a:r>
              <a:t>  Arithmetic expressions run once for each document: $add, $subtract, $multiply, $divide and $round.</a:t>
            </a:r>
          </a:p>
          <a:p/>
          <a:p>
            <a:r>
              <a:t>- Line revenue</a:t>
            </a:r>
          </a:p>
          <a:p/>
          <a:p>
            <a:r>
              <a:t>  training_store stores items.quantity and items.unitPrice.</a:t>
            </a:r>
          </a:p>
          <a:p/>
          <a:p>
            <a:r>
              <a:t>  There is no lineTotal field, so we compute it: quantity times unitPrice.</a:t>
            </a:r>
          </a:p>
          <a:p/>
          <a:p>
            <a:r>
              <a:t>  Guides that read items.lineTotal get null and a zero sum.</a:t>
            </a:r>
          </a:p>
          <a:p/>
          <a:p>
            <a:r>
              <a:t>- $project or $set</a:t>
            </a:r>
          </a:p>
          <a:p/>
          <a:p>
            <a:r>
              <a:t>  $project returns only the fields you list.</a:t>
            </a:r>
          </a:p>
          <a:p/>
          <a:p>
            <a:r>
              <a:t>  $set, also called $addFields, adds or replaces fields and keeps everything else.</a:t>
            </a:r>
          </a:p>
          <a:p/>
          <a:p>
            <a:r>
              <a:t>  Use $set for helper fields in the middle of a pipeline, $project for the final shape.</a:t>
            </a:r>
          </a:p>
          <a:p/>
          <a:p>
            <a:r>
              <a:t>- What it shows</a:t>
            </a:r>
          </a:p>
          <a:p/>
          <a:p>
            <a:r>
              <a:t>  An order with quantity 3, unitPrice 40.00, subtotal 120.00 and taxRate 0.13 goes through $project.</a:t>
            </a:r>
          </a:p>
          <a:p/>
          <a:p>
            <a:r>
              <a:t>  It outputs lineTotal 120.00, tax 15.60 and grandTotal 135.60.</a:t>
            </a:r>
          </a:p>
          <a:p/>
          <a:p>
            <a:r>
              <a:t>- How to read it</a:t>
            </a:r>
          </a:p>
          <a:p/>
          <a:p>
            <a:r>
              <a:t>  Read the three calculator rows: 3 × 40.00, then 120.00 × 0.13, then 120.00 + 15.60.</a:t>
            </a:r>
          </a:p>
          <a:p/>
          <a:p>
            <a:r>
              <a:t>  The stored document stays unchanged.</a:t>
            </a:r>
          </a:p>
          <a:p/>
          <a:p>
            <a:r>
              <a:t>- About the data</a:t>
            </a:r>
          </a:p>
          <a:p/>
          <a:p>
            <a:r>
              <a:t>  training_store has no taxRate field; it stores tax as an amount.</a:t>
            </a:r>
          </a:p>
          <a:p/>
          <a:p>
            <a:r>
              <a:t>  The line calculation, quantity times unitPrice, is exactly the one we use.</a:t>
            </a:r>
          </a:p>
          <a:p/>
          <a:p>
            <a:r>
              <a:t>- Key point</a:t>
            </a:r>
          </a:p>
          <a:p/>
          <a:p>
            <a:r>
              <a:t>  Compute what isn't stored — the stored document never changes.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missing field</a:t>
            </a:r>
          </a:p>
          <a:p/>
          <a:p>
            <a:r>
              <a:t>  O6201 has no shippingFee at all.</a:t>
            </a:r>
          </a:p>
          <a:p/>
          <a:p>
            <a:r>
              <a:t>  $add with a missing value returns null, so without $ifNull, checkTotal would be null for O6201.</a:t>
            </a:r>
          </a:p>
          <a:p/>
          <a:p>
            <a:r>
              <a:t>- $ifNull</a:t>
            </a:r>
          </a:p>
          <a:p/>
          <a:p>
            <a:r>
              <a:t>  $ifNull returns the first value that isn't null or missing, here Decimal128 0.00.</a:t>
            </a:r>
          </a:p>
          <a:p/>
          <a:p>
            <a:r>
              <a:t>  Six orders have no shippingFee: O5001, O6201, O6202, O6304, O6402 and O6499.</a:t>
            </a:r>
          </a:p>
          <a:p/>
          <a:p>
            <a:r>
              <a:t>- The check</a:t>
            </a:r>
          </a:p>
          <a:p/>
          <a:p>
            <a:r>
              <a:t>  For O6301, 1324.98 plus 172.25 plus 15.00 is 1512.23, the stored total.</a:t>
            </a:r>
          </a:p>
          <a:p/>
          <a:p>
            <a:r>
              <a:t>  For O6201, 69.97 plus 9.10 plus 0.00 is 79.07.</a:t>
            </a:r>
          </a:p>
          <a:p/>
          <a:p>
            <a:r>
              <a:t>- Field order</a:t>
            </a:r>
          </a:p>
          <a:p/>
          <a:p>
            <a:r>
              <a:t>  An inclusion $project keeps the input order, and $set appended shipping and checkTotal at the end.</a:t>
            </a:r>
          </a:p>
          <a:p/>
          <a:p>
            <a:r>
              <a:t>  That is why total prints before them.</a:t>
            </a:r>
          </a:p>
          <a:p/>
          <a:p>
            <a:r>
              <a:t>- For fast finishers</a:t>
            </a:r>
          </a:p>
          <a:p/>
          <a:p>
            <a:r>
              <a:t>  Add the same shipping-safe total to every paid order, plus line revenue, full names, an order-size class and a reporting month.</a:t>
            </a:r>
          </a:p>
          <a:p/>
          <a:p>
            <a:r>
              <a:t>  Each one returns in a later part of this module.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Top N needs sort first</a:t>
            </a:r>
          </a:p>
          <a:p/>
          <a:p>
            <a:r>
              <a:t>  $limit keeps the first N documents that reach it.</a:t>
            </a:r>
          </a:p>
          <a:p/>
          <a:p>
            <a:r>
              <a:t>  If they haven't been sorted yet, you get N arbitrary documents.</a:t>
            </a:r>
          </a:p>
          <a:p/>
          <a:p>
            <a:r>
              <a:t>- Ties</a:t>
            </a:r>
          </a:p>
          <a:p/>
          <a:p>
            <a:r>
              <a:t>  O6202 and O6304 both total 2146.99.</a:t>
            </a:r>
          </a:p>
          <a:p/>
          <a:p>
            <a:r>
              <a:t>  Adding orderNumber as a second sort key makes the order repeatable.</a:t>
            </a:r>
          </a:p>
          <a:p/>
          <a:p>
            <a:r>
              <a:t>- $skip</a:t>
            </a:r>
          </a:p>
          <a:p/>
          <a:p>
            <a:r>
              <a:t>  $sort, then $skip, then $limit pages through results.</a:t>
            </a:r>
          </a:p>
          <a:p/>
          <a:p>
            <a:r>
              <a:t>  Large skips get slow, so production code often pages by range instead.</a:t>
            </a:r>
          </a:p>
          <a:p/>
          <a:p>
            <a:r>
              <a:t>- What it shows</a:t>
            </a:r>
          </a:p>
          <a:p/>
          <a:p>
            <a:r>
              <a:t>  Five products.</a:t>
            </a:r>
          </a:p>
          <a:p/>
          <a:p>
            <a:r>
              <a:t>  On the left, $limit 3 runs before $sort, so the result is Laptop, Keyboard and Mouse: the top 3 of an arbitrary subset.</a:t>
            </a:r>
          </a:p>
          <a:p/>
          <a:p>
            <a:r>
              <a:t>  On the right, $sort by price then $limit 3 gives Laptop, Monitor and Webcam: the true top 3.</a:t>
            </a:r>
          </a:p>
          <a:p/>
          <a:p>
            <a:r>
              <a:t>- How to read it</a:t>
            </a:r>
          </a:p>
          <a:p/>
          <a:p>
            <a:r>
              <a:t>  Compare the two output rows.</a:t>
            </a:r>
          </a:p>
          <a:p/>
          <a:p>
            <a:r>
              <a:t>  The Monitor at 300 is missing from the wrong one.</a:t>
            </a:r>
          </a:p>
          <a:p/>
          <a:p>
            <a:r>
              <a:t>- Key point</a:t>
            </a:r>
          </a:p>
          <a:p/>
          <a:p>
            <a:r>
              <a:t>  Every top-N report is $sort, then $limit.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it</a:t>
            </a:r>
          </a:p>
          <a:p/>
          <a:p>
            <a:r>
              <a:t>  Pairs, five minutes to write it, then run it on the instructor screen.</a:t>
            </a:r>
          </a:p>
          <a:p/>
          <a:p>
            <a:r>
              <a:t>- The stages</a:t>
            </a:r>
          </a:p>
          <a:p/>
          <a:p>
            <a:r>
              <a:t>  $match on active true and category SHOE, $project name and price without _id, $sort price descending, $limit 2.</a:t>
            </a:r>
          </a:p>
          <a:p/>
          <a:p>
            <a:r>
              <a:t>- The answer</a:t>
            </a:r>
          </a:p>
          <a:p/>
          <a:p>
            <a:r>
              <a:t>  Running Shoe at 129.99, then Trail Shoe at 89.99.</a:t>
            </a:r>
          </a:p>
          <a:p/>
          <a:p>
            <a:r>
              <a:t>  The Clearance Shoe at 44.99 is third, so $limit drops it.</a:t>
            </a:r>
          </a:p>
          <a:p/>
          <a:p>
            <a:r>
              <a:t>- A variation</a:t>
            </a:r>
          </a:p>
          <a:p/>
          <a:p>
            <a:r>
              <a:t>  Ask what happens if $project comes before $match.</a:t>
            </a:r>
          </a:p>
          <a:p/>
          <a:p>
            <a:r>
              <a:t>  The projection removes category and active, so the $match then finds nothing.</a:t>
            </a:r>
          </a:p>
          <a:p/>
          <a:p>
            <a:r>
              <a:t>  That is Part 1's lesson again.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Connecting the parts</a:t>
            </a:r>
          </a:p>
          <a:p/>
          <a:p>
            <a:r>
              <a:t>  Part 2 worked on one document at a time.</a:t>
            </a:r>
          </a:p>
          <a:p/>
          <a:p>
            <a:r>
              <a:t>  $group is different: it combines many documents into one.</a:t>
            </a:r>
          </a:p>
          <a:p/>
          <a:p>
            <a:r>
              <a:t>- Watch for</a:t>
            </a:r>
          </a:p>
          <a:p/>
          <a:p>
            <a:r>
              <a:t>  What _id means in the output, and which fields survive the stage.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One output per key</a:t>
            </a:r>
          </a:p>
          <a:p/>
          <a:p>
            <a:r>
              <a:t>  $group collects documents with the same _id value into one output document.</a:t>
            </a:r>
          </a:p>
          <a:p/>
          <a:p>
            <a:r>
              <a:t>  _id: "$customerId" means one result per customer.</a:t>
            </a:r>
          </a:p>
          <a:p/>
          <a:p>
            <a:r>
              <a:t>- Accumulators</a:t>
            </a:r>
          </a:p>
          <a:p/>
          <a:p>
            <a:r>
              <a:t>  Every other field in $group must be an accumulator: $sum, $avg, $min, $max, $first, $last, $push or $addToSet.</a:t>
            </a:r>
          </a:p>
          <a:p/>
          <a:p>
            <a:r>
              <a:t>- Two kinds of $sum</a:t>
            </a:r>
          </a:p>
          <a:p/>
          <a:p>
            <a:r>
              <a:t>  $sum: 1 adds one per document, so it counts.</a:t>
            </a:r>
          </a:p>
          <a:p/>
          <a:p>
            <a:r>
              <a:t>  $sum: "$total" adds the field's values.</a:t>
            </a:r>
          </a:p>
          <a:p/>
          <a:p>
            <a:r>
              <a:t>- _id: null</a:t>
            </a:r>
          </a:p>
          <a:p/>
          <a:p>
            <a:r>
              <a:t>  Use _id: null to put the whole input in one group, for a grand total.</a:t>
            </a:r>
          </a:p>
          <a:p/>
          <a:p>
            <a:r>
              <a:t>- What it shows</a:t>
            </a:r>
          </a:p>
          <a:p/>
          <a:p>
            <a:r>
              <a:t>  Three orders: C101 with 120, C102 with 80 and C101 with 60.</a:t>
            </a:r>
          </a:p>
          <a:p/>
          <a:p>
            <a:r>
              <a:t>  $group by customerId sums total and counts orders.</a:t>
            </a:r>
          </a:p>
          <a:p/>
          <a:p>
            <a:r>
              <a:t>  The output is C101 with 180 and two orders, and C102 with 80 and one order.</a:t>
            </a:r>
          </a:p>
          <a:p/>
          <a:p>
            <a:r>
              <a:t>- How to read it</a:t>
            </a:r>
          </a:p>
          <a:p/>
          <a:p>
            <a:r>
              <a:t>  Follow the two C101 arrows into the same group.</a:t>
            </a:r>
          </a:p>
          <a:p/>
          <a:p>
            <a:r>
              <a:t>- Key point</a:t>
            </a:r>
          </a:p>
          <a:p/>
          <a:p>
            <a:r>
              <a:t>  _id is the grouping key; the other fields are accumulators.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pipeline</a:t>
            </a:r>
          </a:p>
          <a:p/>
          <a:p>
            <a:r>
              <a:t>  $match keeps the 12 active products.</a:t>
            </a:r>
          </a:p>
          <a:p/>
          <a:p>
            <a:r>
              <a:t>  $group makes one document per category with four accumulators.</a:t>
            </a:r>
          </a:p>
          <a:p/>
          <a:p>
            <a:r>
              <a:t>  $sort ranks categories by average price.</a:t>
            </a:r>
          </a:p>
          <a:p/>
          <a:p>
            <a:r>
              <a:t>- The result</a:t>
            </a:r>
          </a:p>
          <a:p/>
          <a:p>
            <a:r>
              <a:t>  LAPTOP averages 1599.99 over two products, because L190 is inactive.</a:t>
            </a:r>
          </a:p>
          <a:p/>
          <a:p>
            <a:r>
              <a:t>  SHOE averages 88.32 over three.</a:t>
            </a:r>
          </a:p>
          <a:p/>
          <a:p>
            <a:r>
              <a:t>  ACCESSORY averages 86.24 and BOOK 49.99.</a:t>
            </a:r>
          </a:p>
          <a:p/>
          <a:p>
            <a:r>
              <a:t>  The exact SHOE average is 88.3233…; add $round in a $project for the report.</a:t>
            </a:r>
          </a:p>
          <a:p/>
          <a:p>
            <a:r>
              <a:t>- The XBAD trap</a:t>
            </a:r>
          </a:p>
          <a:p/>
          <a:p>
            <a:r>
              <a:t>  ACCESSORY counts five products, because XBAD is active.</a:t>
            </a:r>
          </a:p>
          <a:p/>
          <a:p>
            <a:r>
              <a:t>  Its price is the string "49.99".</a:t>
            </a:r>
          </a:p>
          <a:p/>
          <a:p>
            <a:r>
              <a:t>  $avg and $sum ignore non-numbers, so the average uses four prices.</a:t>
            </a:r>
          </a:p>
          <a:p/>
          <a:p>
            <a:r>
              <a:t>  But $max compares by BSON type order, where strings rank above numbers, so ACCESSORY's maximumPrice is the string "49.99", not 249.99.</a:t>
            </a:r>
          </a:p>
          <a:p/>
          <a:p>
            <a:r>
              <a:t>- Guide differences</a:t>
            </a:r>
          </a:p>
          <a:p/>
          <a:p>
            <a:r>
              <a:t>  Older guides expect ACCESSORY 4 and the order LAPTOP, ACCESSORY, SHOE, BOOK.</a:t>
            </a:r>
          </a:p>
          <a:p/>
          <a:p>
            <a:r>
              <a:t>  On a fresh load the counts are ACCESSORY 5 and the order is LAPTOP, SHOE, ACCESSORY, BOOK.</a:t>
            </a:r>
          </a:p>
          <a:p/>
          <a:p>
            <a:r>
              <a:t>  The fix for the data is to match price with $type: "decimal", or convert it with $toDecimal.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A compound key</a:t>
            </a:r>
          </a:p>
          <a:p/>
          <a:p>
            <a:r>
              <a:t>  _id can be a document.</a:t>
            </a:r>
          </a:p>
          <a:p/>
          <a:p>
            <a:r>
              <a:t>  Each unique combination of its fields becomes one group.</a:t>
            </a:r>
          </a:p>
          <a:p/>
          <a:p>
            <a:r>
              <a:t>- Payment by fulfillment</a:t>
            </a:r>
          </a:p>
          <a:p/>
          <a:p>
            <a:r>
              <a:t>  Grouping training_store orders by paymentStatus and fulfillmentStatus gives seven combinations.</a:t>
            </a:r>
          </a:p>
          <a:p/>
          <a:p>
            <a:r>
              <a:t>  PAID and SHIPPED is the largest: six orders worth 3809.48.</a:t>
            </a:r>
          </a:p>
          <a:p/>
          <a:p>
            <a:r>
              <a:t>- Read _id in words</a:t>
            </a:r>
          </a:p>
          <a:p/>
          <a:p>
            <a:r>
              <a:t>  The group with _id PENDING and NEW means all orders that are pending and new.</a:t>
            </a:r>
          </a:p>
          <a:p/>
          <a:p>
            <a:r>
              <a:t>  That is O5001 and O6499.</a:t>
            </a:r>
          </a:p>
          <a:p/>
          <a:p>
            <a:r>
              <a:t>  _id here is the grouping key, not an order's ObjectId.</a:t>
            </a:r>
          </a:p>
          <a:p/>
          <a:p>
            <a:r>
              <a:t>- What it shows</a:t>
            </a:r>
          </a:p>
          <a:p/>
          <a:p>
            <a:r>
              <a:t>  Four orders grouped with _id: { customer, status }.</a:t>
            </a:r>
          </a:p>
          <a:p/>
          <a:p>
            <a:r>
              <a:t>  The result is three groups: C001 and completed, C001 and shipped, and C002 and completed with two orders totaling 250.</a:t>
            </a:r>
          </a:p>
          <a:p/>
          <a:p>
            <a:r>
              <a:t>- How to read it</a:t>
            </a:r>
          </a:p>
          <a:p/>
          <a:p>
            <a:r>
              <a:t>  The key icon joins customerId and status into one grouping key.</a:t>
            </a:r>
          </a:p>
          <a:p/>
          <a:p>
            <a:r>
              <a:t>- About the data</a:t>
            </a:r>
          </a:p>
          <a:p/>
          <a:p>
            <a:r>
              <a:t>  training_store has two status fields, so our version groups by paymentStatus and fulfillmentStatus.</a:t>
            </a:r>
          </a:p>
          <a:p/>
          <a:p>
            <a:r>
              <a:t>- Key point</a:t>
            </a:r>
          </a:p>
          <a:p/>
          <a:p>
            <a:r>
              <a:t>  Every unique pair of values becomes its own summary document.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survives $group</a:t>
            </a:r>
          </a:p>
          <a:p/>
          <a:p>
            <a:r>
              <a:t>  Only _id and the accumulator fields leave $group.</a:t>
            </a:r>
          </a:p>
          <a:p/>
          <a:p>
            <a:r>
              <a:t>  Every other field, such as orderNumber, items or fulfillmentStatus, is gone.</a:t>
            </a:r>
          </a:p>
          <a:p/>
          <a:p>
            <a:r>
              <a:t>- Keep what you need</a:t>
            </a:r>
          </a:p>
          <a:p/>
          <a:p>
            <a:r>
              <a:t>  If the report needs a value, collect it with an accumulator.</a:t>
            </a:r>
          </a:p>
          <a:p/>
          <a:p>
            <a:r>
              <a:t>  $push keeps every value, $addToSet keeps unique values, and $first or $last keeps one.</a:t>
            </a:r>
          </a:p>
          <a:p/>
          <a:p>
            <a:r>
              <a:t>- $first needs a $sort</a:t>
            </a:r>
          </a:p>
          <a:p/>
          <a:p>
            <a:r>
              <a:t>  Without a $sort before $group, first is whatever order the documents arrived in.</a:t>
            </a:r>
          </a:p>
          <a:p/>
          <a:p>
            <a:r>
              <a:t>  Sort first, then $first is meaningful.</a:t>
            </a:r>
          </a:p>
          <a:p/>
          <a:p>
            <a:r>
              <a:t>- What it shows</a:t>
            </a:r>
          </a:p>
          <a:p/>
          <a:p>
            <a:r>
              <a:t>  Three orders with orderId, product, total and status.</a:t>
            </a:r>
          </a:p>
          <a:p/>
          <a:p>
            <a:r>
              <a:t>  $group by customer with totalSpent gives C001 1225 and C002 75.</a:t>
            </a:r>
          </a:p>
          <a:p/>
          <a:p>
            <a:r>
              <a:t>- How to read it</a:t>
            </a:r>
          </a:p>
          <a:p/>
          <a:p>
            <a:r>
              <a:t>  The red tags orderId, product and status are not carried forward into the grouped documents.</a:t>
            </a:r>
          </a:p>
          <a:p/>
          <a:p>
            <a:r>
              <a:t>- Key point</a:t>
            </a:r>
          </a:p>
          <a:p/>
          <a:p>
            <a:r>
              <a:t>  If the report needs a field, keep it with an accumulator.</a:t>
            </a:r>
          </a:p>
          <a:p/>
          <a:p>
            <a:r>
              <a:t>- On our data</a:t>
            </a:r>
          </a:p>
          <a:p/>
          <a:p>
            <a:r>
              <a:t>  For Aisha Khan's paid orders, orders holds O6101, O6201, O6301 and O6306, and statuses holds SHIPPED and DELIVERED, each once.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$count</a:t>
            </a:r>
          </a:p>
          <a:p/>
          <a:p>
            <a:r>
              <a:t>  $count outputs one document holding the number of documents that reached it.</a:t>
            </a:r>
          </a:p>
          <a:p/>
          <a:p>
            <a:r>
              <a:t>  It counts the pipeline stream, not the whole collection.</a:t>
            </a:r>
          </a:p>
          <a:p/>
          <a:p>
            <a:r>
              <a:t>- $sortByCount</a:t>
            </a:r>
          </a:p>
          <a:p/>
          <a:p>
            <a:r>
              <a:t>  $sortByCount groups by an expression, counts each group and sorts by the count, highest first.</a:t>
            </a:r>
          </a:p>
          <a:p/>
          <a:p>
            <a:r>
              <a:t>  It is shorthand for $group with $sum: 1 followed by $sort.</a:t>
            </a:r>
          </a:p>
          <a:p/>
          <a:p>
            <a:r>
              <a:t>- The diagram is our data</a:t>
            </a:r>
          </a:p>
          <a:p/>
          <a:p>
            <a:r>
              <a:t>  training_store has six reviews: three 5-star, two 4-star and one 3-star.</a:t>
            </a:r>
          </a:p>
          <a:p/>
          <a:p>
            <a:r>
              <a:t>- What it shows</a:t>
            </a:r>
          </a:p>
          <a:p/>
          <a:p>
            <a:r>
              <a:t>  Six reviews with ratings 5, 4, 5, 3, 4 and 5.</a:t>
            </a:r>
          </a:p>
          <a:p/>
          <a:p>
            <a:r>
              <a:t>  $count totalReviews returns 6.</a:t>
            </a:r>
          </a:p>
          <a:p/>
          <a:p>
            <a:r>
              <a:t>  $sortByCount on rating returns 5 stars 3, 4 stars 2 and 3 stars 1.</a:t>
            </a:r>
          </a:p>
          <a:p/>
          <a:p>
            <a:r>
              <a:t>- How to read it</a:t>
            </a:r>
          </a:p>
          <a:p/>
          <a:p>
            <a:r>
              <a:t>  The upper path counts everything; the lower path groups, counts and sorts.</a:t>
            </a:r>
          </a:p>
          <a:p/>
          <a:p>
            <a:r>
              <a:t>- Key point</a:t>
            </a:r>
          </a:p>
          <a:p/>
          <a:p>
            <a:r>
              <a:t>  These are exactly the six reviews in training_store.</a:t>
            </a:r>
          </a:p>
          <a:p/>
          <a:p>
            <a:r>
              <a:t>- Guide difference</a:t>
            </a:r>
          </a:p>
          <a:p/>
          <a:p>
            <a:r>
              <a:t>  Exercise 5.2, the top-N checkpoint, runs $sortByCount on product category.</a:t>
            </a:r>
          </a:p>
          <a:p/>
          <a:p>
            <a:r>
              <a:t>  On a fresh load it returns ACCESSORY 5, then LAPTOP 3 and SHOE 3, then BOOK 2.</a:t>
            </a:r>
          </a:p>
          <a:p/>
          <a:p>
            <a:r>
              <a:t>  Older guides' ACCESSORY 4 predates the XBAD fixture.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it</a:t>
            </a:r>
          </a:p>
          <a:p/>
          <a:p>
            <a:r>
              <a:t>  Individually for five minutes, then compare.</a:t>
            </a:r>
          </a:p>
          <a:p/>
          <a:p>
            <a:r>
              <a:t>  No $match this time: the question is about every order.</a:t>
            </a:r>
          </a:p>
          <a:p/>
          <a:p>
            <a:r>
              <a:t>- The pipeline</a:t>
            </a:r>
          </a:p>
          <a:p/>
          <a:p>
            <a:r>
              <a:t>  $group with _id "$paymentStatus", orders { $sum: 1 } and revenue { $sum: "$total" }; $sort revenue -1; $project with _id: 0 and paymentStatus: "$_id".</a:t>
            </a:r>
          </a:p>
          <a:p/>
          <a:p>
            <a:r>
              <a:t>- The answer</a:t>
            </a:r>
          </a:p>
          <a:p/>
          <a:p>
            <a:r>
              <a:t>  PAID 13 orders worth 9118.44.</a:t>
            </a:r>
          </a:p>
          <a:p/>
          <a:p>
            <a:r>
              <a:t>  PENDING 3 orders worth 4488.39: O5001, O6401 and O6499.</a:t>
            </a:r>
          </a:p>
          <a:p/>
          <a:p>
            <a:r>
              <a:t>  FAILED 1 order worth 45.19: O6402.</a:t>
            </a:r>
          </a:p>
          <a:p/>
          <a:p>
            <a:r>
              <a:t>- The habit</a:t>
            </a:r>
          </a:p>
          <a:p/>
          <a:p>
            <a:r>
              <a:t>  The counts add up to 17, the collection size.</a:t>
            </a:r>
          </a:p>
          <a:p/>
          <a:p>
            <a:r>
              <a:t>  That one check catches most mistakes in a $group.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this part</a:t>
            </a:r>
          </a:p>
          <a:p/>
          <a:p>
            <a:r>
              <a:t>  An order embeds its items, and refers to its customer by id.</a:t>
            </a:r>
          </a:p>
          <a:p/>
          <a:p>
            <a:r>
              <a:t>  To report on products we open the array; to show names we join customers.</a:t>
            </a:r>
          </a:p>
          <a:p/>
          <a:p>
            <a:r>
              <a:t>- Watch for</a:t>
            </a:r>
          </a:p>
          <a:p/>
          <a:p>
            <a:r>
              <a:t>  How many documents each stage produces.</a:t>
            </a:r>
          </a:p>
          <a:p/>
          <a:p>
            <a:r>
              <a:t>  $unwind multiplies them, and $lookup adds arrays.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One per element</a:t>
            </a:r>
          </a:p>
          <a:p/>
          <a:p>
            <a:r>
              <a:t>  $unwind outputs one copy of the document for each element of the array.</a:t>
            </a:r>
          </a:p>
          <a:p/>
          <a:p>
            <a:r>
              <a:t>  In each copy, the array field holds just that one element.</a:t>
            </a:r>
          </a:p>
          <a:p/>
          <a:p>
            <a:r>
              <a:t>- Our three-item order</a:t>
            </a:r>
          </a:p>
          <a:p/>
          <a:p>
            <a:r>
              <a:t>  O6303 has three items: MongoDB Fundamentals, Query Cookbook and the Wireless Keyboard.</a:t>
            </a:r>
          </a:p>
          <a:p/>
          <a:p>
            <a:r>
              <a:t>  After $unwind it is three documents.</a:t>
            </a:r>
          </a:p>
          <a:p/>
          <a:p>
            <a:r>
              <a:t>- Watch the size</a:t>
            </a:r>
          </a:p>
          <a:p/>
          <a:p>
            <a:r>
              <a:t>  The 13 paid orders become 21 line documents.</a:t>
            </a:r>
          </a:p>
          <a:p/>
          <a:p>
            <a:r>
              <a:t>  An order with 100 items becomes 100 documents, so filter before you unwind.</a:t>
            </a:r>
          </a:p>
          <a:p/>
          <a:p>
            <a:r>
              <a:t>- What it shows</a:t>
            </a:r>
          </a:p>
          <a:p/>
          <a:p>
            <a:r>
              <a:t>  Order 1042 with items Laptop, Mouse and Bag goes through $unwind "$items".</a:t>
            </a:r>
          </a:p>
          <a:p/>
          <a:p>
            <a:r>
              <a:t>  Three order documents come out, each with a single item object.</a:t>
            </a:r>
          </a:p>
          <a:p/>
          <a:p>
            <a:r>
              <a:t>- How to read it</a:t>
            </a:r>
          </a:p>
          <a:p/>
          <a:p>
            <a:r>
              <a:t>  In each output, items is one object, no longer an array.</a:t>
            </a:r>
          </a:p>
          <a:p/>
          <a:p>
            <a:r>
              <a:t>- Key point</a:t>
            </a:r>
          </a:p>
          <a:p/>
          <a:p>
            <a:r>
              <a:t>  $unwind multiplies documents: one per array element.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pattern</a:t>
            </a:r>
          </a:p>
          <a:p/>
          <a:p>
            <a:r>
              <a:t>  Keep paid orders, open the items array, compute line revenue as quantity times unitPrice, then group by SKU.</a:t>
            </a:r>
          </a:p>
          <a:p/>
          <a:p>
            <a:r>
              <a:t>  It is the answer to Exercise 5.1 and the corrected pipeline of Exercise 5.4.</a:t>
            </a:r>
          </a:p>
          <a:p/>
          <a:p>
            <a:r>
              <a:t>  Lab 4 uses the same pattern, grouped by product category.</a:t>
            </a:r>
          </a:p>
          <a:p/>
          <a:p>
            <a:r>
              <a:t>- The result</a:t>
            </a:r>
          </a:p>
          <a:p/>
          <a:p>
            <a:r>
              <a:t>  L110, the Ultrabook, leads with two units worth 3799.98.</a:t>
            </a:r>
          </a:p>
          <a:p/>
          <a:p>
            <a:r>
              <a:t>  L100 follows with 2599.98 and A500 with 499.98.</a:t>
            </a:r>
          </a:p>
          <a:p/>
          <a:p>
            <a:r>
              <a:t>  S200 and B300 complete the top five.</a:t>
            </a:r>
          </a:p>
          <a:p/>
          <a:p>
            <a:r>
              <a:t>- Units versus revenue</a:t>
            </a:r>
          </a:p>
          <a:p/>
          <a:p>
            <a:r>
              <a:t>  Ranked by units instead, A410, the Wireless Mouse, leads with four.</a:t>
            </a:r>
          </a:p>
          <a:p/>
          <a:p>
            <a:r>
              <a:t>  The ranking depends on the metric.</a:t>
            </a:r>
          </a:p>
          <a:p/>
          <a:p>
            <a:r>
              <a:t>- Why no lineTotal</a:t>
            </a:r>
          </a:p>
          <a:p/>
          <a:p>
            <a:r>
              <a:t>  The content guide groups on $items.lineTotal.</a:t>
            </a:r>
          </a:p>
          <a:p/>
          <a:p>
            <a:r>
              <a:t>  training_store has no such field, so that sum would be 0.</a:t>
            </a:r>
          </a:p>
          <a:p/>
          <a:p>
            <a:r>
              <a:t>  Compute it, as here.</a:t>
            </a:r>
          </a:p>
          <a:p/>
          <a:p>
            <a:r>
              <a:t>- orderCount</a:t>
            </a:r>
          </a:p>
          <a:p/>
          <a:p>
            <a:r>
              <a:t>  $sum: 1 after $unwind counts lines.</a:t>
            </a:r>
          </a:p>
          <a:p/>
          <a:p>
            <a:r>
              <a:t>  No training_store order lists the same SKU twice, so it equals the number of orders.</a:t>
            </a:r>
          </a:p>
          <a:p/>
          <a:p>
            <a:r>
              <a:t>  In general, $addToSet the orderNumber and take $size.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trap</a:t>
            </a:r>
          </a:p>
          <a:p/>
          <a:p>
            <a:r>
              <a:t>  After $unwind, every line document still carries the whole order's total.</a:t>
            </a:r>
          </a:p>
          <a:p/>
          <a:p>
            <a:r>
              <a:t>  Summing total then counts a two-item order twice and a three-item order three times.</a:t>
            </a:r>
          </a:p>
          <a:p/>
          <a:p>
            <a:r>
              <a:t>- On our data</a:t>
            </a:r>
          </a:p>
          <a:p/>
          <a:p>
            <a:r>
              <a:t>  Paid revenue is 9118.44.</a:t>
            </a:r>
          </a:p>
          <a:p/>
          <a:p>
            <a:r>
              <a:t>  Unwinding first and summing total gives 12119.25: wrong by more than 3000.</a:t>
            </a:r>
          </a:p>
          <a:p/>
          <a:p>
            <a:r>
              <a:t>- The rule</a:t>
            </a:r>
          </a:p>
          <a:p/>
          <a:p>
            <a:r>
              <a:t>  Sum order-level fields before $unwind.</a:t>
            </a:r>
          </a:p>
          <a:p/>
          <a:p>
            <a:r>
              <a:t>  Sum line-level values, quantity times unitPrice, after it.</a:t>
            </a:r>
          </a:p>
          <a:p/>
          <a:p>
            <a:r>
              <a:t>- What it shows</a:t>
            </a:r>
          </a:p>
          <a:p/>
          <a:p>
            <a:r>
              <a:t>  Order O-101 with orderTotal 120 and three items is unwound into three documents, each still carrying 120.</a:t>
            </a:r>
          </a:p>
          <a:p/>
          <a:p>
            <a:r>
              <a:t>  $sum gives 360, double-counted.</a:t>
            </a:r>
          </a:p>
          <a:p/>
          <a:p>
            <a:r>
              <a:t>  Grouping once per order gives the correct 120.</a:t>
            </a:r>
          </a:p>
          <a:p/>
          <a:p>
            <a:r>
              <a:t>- How to read it</a:t>
            </a:r>
          </a:p>
          <a:p/>
          <a:p>
            <a:r>
              <a:t>  Red is the wrong sum, green the correct total.</a:t>
            </a:r>
          </a:p>
          <a:p/>
          <a:p>
            <a:r>
              <a:t>- Key point</a:t>
            </a:r>
          </a:p>
          <a:p/>
          <a:p>
            <a:r>
              <a:t>  Don't sum an order field after unwinding its lines.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A left outer join</a:t>
            </a:r>
          </a:p>
          <a:p/>
          <a:p>
            <a:r>
              <a:t>  $lookup adds the matching documents from another collection to each input document.</a:t>
            </a:r>
          </a:p>
          <a:p/>
          <a:p>
            <a:r>
              <a:t>  Input documents without a match are kept.</a:t>
            </a:r>
          </a:p>
          <a:p/>
          <a:p>
            <a:r>
              <a:t>- Always an array</a:t>
            </a:r>
          </a:p>
          <a:p/>
          <a:p>
            <a:r>
              <a:t>  The as field is always an array: one element for one match, several for several, and empty for none.</a:t>
            </a:r>
          </a:p>
          <a:p/>
          <a:p>
            <a:r>
              <a:t>- Our unmatched order</a:t>
            </a:r>
          </a:p>
          <a:p/>
          <a:p>
            <a:r>
              <a:t>  O6499's customerId matches no customer, so its customer array is empty.</a:t>
            </a:r>
          </a:p>
          <a:p/>
          <a:p>
            <a:r>
              <a:t>  A plain $unwind would drop it.</a:t>
            </a:r>
          </a:p>
          <a:p/>
          <a:p>
            <a:r>
              <a:t>  preserveNullAndEmptyArrays: true keeps it.</a:t>
            </a:r>
          </a:p>
          <a:p/>
          <a:p>
            <a:r>
              <a:t>- What it shows</a:t>
            </a:r>
          </a:p>
          <a:p/>
          <a:p>
            <a:r>
              <a:t>  Left: order O1001 with customerId C101 finds customer Asha, so customer holds one document.</a:t>
            </a:r>
          </a:p>
          <a:p/>
          <a:p>
            <a:r>
              <a:t>  Right: order O1002 with customerId C999 finds nothing, so customer is an empty array.</a:t>
            </a:r>
          </a:p>
          <a:p/>
          <a:p>
            <a:r>
              <a:t>- How to read it</a:t>
            </a:r>
          </a:p>
          <a:p/>
          <a:p>
            <a:r>
              <a:t>  Both orders stay in the output.</a:t>
            </a:r>
          </a:p>
          <a:p/>
          <a:p>
            <a:r>
              <a:t>  Only the customer array differs.</a:t>
            </a:r>
          </a:p>
          <a:p/>
          <a:p>
            <a:r>
              <a:t>- About the data</a:t>
            </a:r>
          </a:p>
          <a:p/>
          <a:p>
            <a:r>
              <a:t>  The diagram stores string ids for readability.</a:t>
            </a:r>
          </a:p>
          <a:p/>
          <a:p>
            <a:r>
              <a:t>  In training_store, customerId holds the customer's ObjectId, and C101 is Aisha Khan.</a:t>
            </a:r>
          </a:p>
          <a:p/>
          <a:p>
            <a:r>
              <a:t>- Key point</a:t>
            </a:r>
          </a:p>
          <a:p/>
          <a:p>
            <a:r>
              <a:t>  $lookup never drops an input document; an empty array means no match.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pipeline</a:t>
            </a:r>
          </a:p>
          <a:p/>
          <a:p>
            <a:r>
              <a:t>  Match paid orders, group them by customerId, then look up each customer.</a:t>
            </a:r>
          </a:p>
          <a:p/>
          <a:p>
            <a:r>
              <a:t>  The $group _id is the customer's ObjectId, so localField is _id.</a:t>
            </a:r>
          </a:p>
          <a:p/>
          <a:p>
            <a:r>
              <a:t>- The names</a:t>
            </a:r>
          </a:p>
          <a:p/>
          <a:p>
            <a:r>
              <a:t>  Customers store name.first and name.last, so the full name is a $concat of the two.</a:t>
            </a:r>
          </a:p>
          <a:p/>
          <a:p>
            <a:r>
              <a:t>  The content guide's $firstName and $lastName don't exist here; they would give null.</a:t>
            </a:r>
          </a:p>
          <a:p/>
          <a:p>
            <a:r>
              <a:t>- The result</a:t>
            </a:r>
          </a:p>
          <a:p/>
          <a:p>
            <a:r>
              <a:t>  Aisha Khan spent 3418.62 over four paid orders: O6101, O6201, O6301 and O6306.</a:t>
            </a:r>
          </a:p>
          <a:p/>
          <a:p>
            <a:r>
              <a:t>  Maya Chen and Jordan Lee follow, each with one large laptop order.</a:t>
            </a:r>
          </a:p>
          <a:p/>
          <a:p>
            <a:r>
              <a:t>- Why no O6499 problem here</a:t>
            </a:r>
          </a:p>
          <a:p/>
          <a:p>
            <a:r>
              <a:t>  O6499 is pending, so the $match already removed it.</a:t>
            </a:r>
          </a:p>
          <a:p/>
          <a:p>
            <a:r>
              <a:t>  Every grouped customerId finds a customer, and a plain $unwind is safe.</a:t>
            </a:r>
          </a:p>
          <a:p/>
          <a:p>
            <a:r>
              <a:t>- Email</a:t>
            </a:r>
          </a:p>
          <a:p/>
          <a:p>
            <a:r>
              <a:t>  To add the email, project "$customer.contact.email"; the email is nested under contact.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it</a:t>
            </a:r>
          </a:p>
          <a:p/>
          <a:p>
            <a:r>
              <a:t>  Two minutes to write predictions, then run it on the instructor screen.</a:t>
            </a:r>
          </a:p>
          <a:p/>
          <a:p>
            <a:r>
              <a:t>- The counts</a:t>
            </a:r>
          </a:p>
          <a:p/>
          <a:p>
            <a:r>
              <a:t>  13 paid orders.</a:t>
            </a:r>
          </a:p>
          <a:p/>
          <a:p>
            <a:r>
              <a:t>  Six have one item, six have two and O6303 has three: 6 + 12 + 3 = 21 lines.</a:t>
            </a:r>
          </a:p>
          <a:p/>
          <a:p>
            <a:r>
              <a:t>- The other order</a:t>
            </a:r>
          </a:p>
          <a:p/>
          <a:p>
            <a:r>
              <a:t>  All 17 orders hold 26 lines.</a:t>
            </a:r>
          </a:p>
          <a:p/>
          <a:p>
            <a:r>
              <a:t>  Unwinding first creates all 26 documents and then throws 5 away, the same result for more work.</a:t>
            </a:r>
          </a:p>
          <a:p/>
          <a:p>
            <a:r>
              <a:t>- Why it matters</a:t>
            </a:r>
          </a:p>
          <a:p/>
          <a:p>
            <a:r>
              <a:t>  On a real store with millions of orders, that difference is the difference between a fast and a slow report.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this part</a:t>
            </a:r>
          </a:p>
          <a:p/>
          <a:p>
            <a:r>
              <a:t>  Real reports need labels, calendar periods and several metrics side by side.</a:t>
            </a:r>
          </a:p>
          <a:p/>
          <a:p>
            <a:r>
              <a:t>  These stages and expressions provide them.</a:t>
            </a:r>
          </a:p>
          <a:p/>
          <a:p>
            <a:r>
              <a:t>- Watch for</a:t>
            </a:r>
          </a:p>
          <a:p/>
          <a:p>
            <a:r>
              <a:t>  Time zones in date grouping, and the one-document shape of $facet output.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$cond is if-then-else</a:t>
            </a:r>
          </a:p>
          <a:p/>
          <a:p>
            <a:r>
              <a:t>  $cond takes a condition, a value when true and a value when false.</a:t>
            </a:r>
          </a:p>
          <a:p/>
          <a:p>
            <a:r>
              <a:t>  It runs for each document.</a:t>
            </a:r>
          </a:p>
          <a:p/>
          <a:p>
            <a:r>
              <a:t>- Order size</a:t>
            </a:r>
          </a:p>
          <a:p/>
          <a:p>
            <a:r>
              <a:t>  We label paid orders HIGH_VALUE when total is at least 1000.00, otherwise STANDARD.</a:t>
            </a:r>
          </a:p>
          <a:p/>
          <a:p>
            <a:r>
              <a:t>  O6201 at 79.07 is STANDARD; O6202 at 2146.99 is HIGH_VALUE.</a:t>
            </a:r>
          </a:p>
          <a:p/>
          <a:p>
            <a:r>
              <a:t>- $switch for more branches</a:t>
            </a:r>
          </a:p>
          <a:p/>
          <a:p>
            <a:r>
              <a:t>  $switch checks cases in order and uses the first one that is true, with a default when none match.</a:t>
            </a:r>
          </a:p>
          <a:p/>
          <a:p>
            <a:r>
              <a:t>  It reads better than nested $cond.</a:t>
            </a:r>
          </a:p>
          <a:p/>
          <a:p>
            <a:r>
              <a:t>- What it shows</a:t>
            </a:r>
          </a:p>
          <a:p/>
          <a:p>
            <a:r>
              <a:t>  An order with total 120 and status PAID goes through $project with $cond.</a:t>
            </a:r>
          </a:p>
          <a:p/>
          <a:p>
            <a:r>
              <a:t>  The test is total at least 100.</a:t>
            </a:r>
          </a:p>
          <a:p/>
          <a:p>
            <a:r>
              <a:t>  True gives total × 0.90, false gives total.</a:t>
            </a:r>
          </a:p>
          <a:p/>
          <a:p>
            <a:r>
              <a:t>  The result is finalTotal 108.</a:t>
            </a:r>
          </a:p>
          <a:p/>
          <a:p>
            <a:r>
              <a:t>- How to read it</a:t>
            </a:r>
          </a:p>
          <a:p/>
          <a:p>
            <a:r>
              <a:t>  Follow the green TRUE path: 120 passes the test, so 10 percent comes off.</a:t>
            </a:r>
          </a:p>
          <a:p/>
          <a:p>
            <a:r>
              <a:t>- Key point</a:t>
            </a:r>
          </a:p>
          <a:p/>
          <a:p>
            <a:r>
              <a:t>  $cond chooses a value for each document.</a:t>
            </a:r>
          </a:p>
          <a:p/>
          <a:p>
            <a:r>
              <a:t>- The counts</a:t>
            </a:r>
          </a:p>
          <a:p/>
          <a:p>
            <a:r>
              <a:t>  Among the 13 paid orders, four are HIGH_VALUE: O6101, O6202, O6301 and O6304, together 7290.20.</a:t>
            </a:r>
          </a:p>
          <a:p/>
          <a:p>
            <a:r>
              <a:t>  The other nine are STANDARD.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Dates are stored in UTC</a:t>
            </a:r>
          </a:p>
          <a:p/>
          <a:p>
            <a:r>
              <a:t>  createdAt is a BSON Date: one instant, stored in UTC.</a:t>
            </a:r>
          </a:p>
          <a:p/>
          <a:p>
            <a:r>
              <a:t>- Reports need a local day</a:t>
            </a:r>
          </a:p>
          <a:p/>
          <a:p>
            <a:r>
              <a:t>  Grouping by day or month needs a time zone.</a:t>
            </a:r>
          </a:p>
          <a:p/>
          <a:p>
            <a:r>
              <a:t>  $dateToString, $dateTrunc and the other date operators accept a timezone option.</a:t>
            </a:r>
          </a:p>
          <a:p/>
          <a:p>
            <a:r>
              <a:t>- The diagram is our data</a:t>
            </a:r>
          </a:p>
          <a:p/>
          <a:p>
            <a:r>
              <a:t>  2026-09-20T14:30Z is order O5001's createdAt.</a:t>
            </a:r>
          </a:p>
          <a:p/>
          <a:p>
            <a:r>
              <a:t>  It is 10:30 in Toronto, 07:30 in Vancouver and 20:00 in Delhi.</a:t>
            </a:r>
          </a:p>
          <a:p/>
          <a:p>
            <a:r>
              <a:t>  An order placed late in the evening can land in a different day, or month, depending on the zone.</a:t>
            </a:r>
          </a:p>
          <a:p/>
          <a:p>
            <a:r>
              <a:t>- What it shows</a:t>
            </a:r>
          </a:p>
          <a:p/>
          <a:p>
            <a:r>
              <a:t>  An order's createdAt, 2026-09-20T14:30:00Z, goes through $dateToString with a timezone.</a:t>
            </a:r>
          </a:p>
          <a:p/>
          <a:p>
            <a:r>
              <a:t>  Toronto shows Sep 20 10:30, Vancouver 07:30 and Delhi 20:00.</a:t>
            </a:r>
          </a:p>
          <a:p/>
          <a:p>
            <a:r>
              <a:t>- How to read it</a:t>
            </a:r>
          </a:p>
          <a:p/>
          <a:p>
            <a:r>
              <a:t>  The red note says it all: same UTC instant, different local reporting times.</a:t>
            </a:r>
          </a:p>
          <a:p/>
          <a:p>
            <a:r>
              <a:t>- Key point</a:t>
            </a:r>
          </a:p>
          <a:p/>
          <a:p>
            <a:r>
              <a:t>  Name the time zone whenever a report groups by day or month.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pipeline</a:t>
            </a:r>
          </a:p>
          <a:p/>
          <a:p>
            <a:r>
              <a:t>  Keep paid orders, build a YYYY-MM month key from createdAt in the Toronto time zone, group by it and sort ascending.</a:t>
            </a:r>
          </a:p>
          <a:p/>
          <a:p>
            <a:r>
              <a:t>- The result</a:t>
            </a:r>
          </a:p>
          <a:p/>
          <a:p>
            <a:r>
              <a:t>  July has three paid orders worth 1835.95: O6101, O6102 and O6103.</a:t>
            </a:r>
          </a:p>
          <a:p/>
          <a:p>
            <a:r>
              <a:t>  August has four worth 2731.92, and September six worth 4550.57.</a:t>
            </a:r>
          </a:p>
          <a:p/>
          <a:p>
            <a:r>
              <a:t>- Time zone</a:t>
            </a:r>
          </a:p>
          <a:p/>
          <a:p>
            <a:r>
              <a:t>  Without a timezone option, $dateToString uses UTC.</a:t>
            </a:r>
          </a:p>
          <a:p/>
          <a:p>
            <a:r>
              <a:t>  On this dataset no paid order is close to midnight at a month boundary, so UTC gives the same months.</a:t>
            </a:r>
          </a:p>
          <a:p/>
          <a:p>
            <a:r>
              <a:t>  Real data will differ.</a:t>
            </a:r>
          </a:p>
          <a:p/>
          <a:p>
            <a:r>
              <a:t>- $dateTrunc</a:t>
            </a:r>
          </a:p>
          <a:p/>
          <a:p>
            <a:r>
              <a:t>  The content guide groups with $dateTrunc and unit month instead.</a:t>
            </a:r>
          </a:p>
          <a:p/>
          <a:p>
            <a:r>
              <a:t>  That returns a Date for the first of the month rather than a string; both work.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Fixed bands</a:t>
            </a:r>
          </a:p>
          <a:p/>
          <a:p>
            <a:r>
              <a:t>  $bucket groups documents into ranges you choose with boundaries.</a:t>
            </a:r>
          </a:p>
          <a:p/>
          <a:p>
            <a:r>
              <a:t>  Each lower bound is included and each upper bound excluded.</a:t>
            </a:r>
          </a:p>
          <a:p/>
          <a:p>
            <a:r>
              <a:t>- Our price bands</a:t>
            </a:r>
          </a:p>
          <a:p/>
          <a:p>
            <a:r>
              <a:t>  With boundaries 0, 50, 100, 500 and 2000, training_store has five products under 50, two from 50 to 100, three from 100 to 500 and two from 500 to 2000.</a:t>
            </a:r>
          </a:p>
          <a:p/>
          <a:p>
            <a:r>
              <a:t>- The default bucket</a:t>
            </a:r>
          </a:p>
          <a:p/>
          <a:p>
            <a:r>
              <a:t>  Anything outside the boundaries, or of another type, goes to default.</a:t>
            </a:r>
          </a:p>
          <a:p/>
          <a:p>
            <a:r>
              <a:t>  XBAD's price is the string "49.99", so it lands in Other.</a:t>
            </a:r>
          </a:p>
          <a:p/>
          <a:p>
            <a:r>
              <a:t>- $bucketAuto</a:t>
            </a:r>
          </a:p>
          <a:p/>
          <a:p>
            <a:r>
              <a:t>  $bucketAuto chooses the ranges for you, given a number of buckets.</a:t>
            </a:r>
          </a:p>
          <a:p/>
          <a:p>
            <a:r>
              <a:t>- What it shows</a:t>
            </a:r>
          </a:p>
          <a:p/>
          <a:p>
            <a:r>
              <a:t>  Six prices, 25 to 900.</a:t>
            </a:r>
          </a:p>
          <a:p/>
          <a:p>
            <a:r>
              <a:t>  $bucket with boundaries 0, 100, 500 and 1000 gives groups of 2, 3 and 1.</a:t>
            </a:r>
          </a:p>
          <a:p/>
          <a:p>
            <a:r>
              <a:t>  $bucketAuto with three buckets gives three groups of two.</a:t>
            </a:r>
          </a:p>
          <a:p/>
          <a:p>
            <a:r>
              <a:t>- How to read it</a:t>
            </a:r>
          </a:p>
          <a:p/>
          <a:p>
            <a:r>
              <a:t>  Left, you choose ranges; right, MongoDB balances them.</a:t>
            </a:r>
          </a:p>
          <a:p/>
          <a:p>
            <a:r>
              <a:t>- Key point</a:t>
            </a:r>
          </a:p>
          <a:p/>
          <a:p>
            <a:r>
              <a:t>  Use $bucket when the business defines the bands.</a:t>
            </a:r>
          </a:p>
          <a:p/>
          <a:p>
            <a:r>
              <a:t>- The bands on our data</a:t>
            </a:r>
          </a:p>
          <a:p/>
          <a:p>
            <a:r>
              <a:t>  Under 50: USB Hub, Wireless Mouse, Query Cookbook, Clearance Shoe and Wireless Keyboard.</a:t>
            </a:r>
          </a:p>
          <a:p/>
          <a:p>
            <a:r>
              <a:t>  50 to 100: Trail Shoe and MongoDB Fundamentals.</a:t>
            </a:r>
          </a:p>
          <a:p/>
          <a:p>
            <a:r>
              <a:t>  100 to 500: Refurbished Laptop, Running Shoe and Docking Station.</a:t>
            </a:r>
          </a:p>
          <a:p/>
          <a:p>
            <a:r>
              <a:t>  500 to 2000: the two laptops.</a:t>
            </a:r>
          </a:p>
          <a:p/>
          <a:p>
            <a:r>
              <a:t>- Guide difference</a:t>
            </a:r>
          </a:p>
          <a:p/>
          <a:p>
            <a:r>
              <a:t>  Older guides expect four buckets.</a:t>
            </a:r>
          </a:p>
          <a:p/>
          <a:p>
            <a:r>
              <a:t>  A fresh load gives five, because XBAD's string price goes to the Other bucket.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Several pipelines, one input</a:t>
            </a:r>
          </a:p>
          <a:p/>
          <a:p>
            <a:r>
              <a:t>  $facet runs several sub-pipelines on the same documents in one aggregate call.</a:t>
            </a:r>
          </a:p>
          <a:p/>
          <a:p>
            <a:r>
              <a:t>- One result document</a:t>
            </a:r>
          </a:p>
          <a:p/>
          <a:p>
            <a:r>
              <a:t>  The output is a single document.</a:t>
            </a:r>
          </a:p>
          <a:p/>
          <a:p>
            <a:r>
              <a:t>  Each facet name is a field holding that sub-pipeline's results as an array.</a:t>
            </a:r>
          </a:p>
          <a:p/>
          <a:p>
            <a:r>
              <a:t>- When to use it</a:t>
            </a:r>
          </a:p>
          <a:p/>
          <a:p>
            <a:r>
              <a:t>  Dashboards and API responses that need several metrics at once: totals, breakdowns and top-N lists.</a:t>
            </a:r>
          </a:p>
          <a:p/>
          <a:p>
            <a:r>
              <a:t>- Filter before it</a:t>
            </a:r>
          </a:p>
          <a:p/>
          <a:p>
            <a:r>
              <a:t>  A $match before $facet runs once, and every facet benefits.</a:t>
            </a:r>
          </a:p>
          <a:p/>
          <a:p>
            <a:r>
              <a:t>- What it shows</a:t>
            </a:r>
          </a:p>
          <a:p/>
          <a:p>
            <a:r>
              <a:t>  Products flow into $facet with three parallel sub-pipelines: byCategory with $group, priceBands with $bucket and topRated with $sort and $limit 3.</a:t>
            </a:r>
          </a:p>
          <a:p/>
          <a:p>
            <a:r>
              <a:t>  The output is a single result document with one array per facet.</a:t>
            </a:r>
          </a:p>
          <a:p/>
          <a:p>
            <a:r>
              <a:t>- How to read it</a:t>
            </a:r>
          </a:p>
          <a:p/>
          <a:p>
            <a:r>
              <a:t>  Each coloured box in the result matches the sub-pipeline of the same colour.</a:t>
            </a:r>
          </a:p>
          <a:p/>
          <a:p>
            <a:r>
              <a:t>- About the data</a:t>
            </a:r>
          </a:p>
          <a:p/>
          <a:p>
            <a:r>
              <a:t>  The diagram's products have ratings; in training_store ratings live in the reviews collection.</a:t>
            </a:r>
          </a:p>
          <a:p/>
          <a:p>
            <a:r>
              <a:t>- Key point</a:t>
            </a:r>
          </a:p>
          <a:p/>
          <a:p>
            <a:r>
              <a:t>  $facet returns one document; each facet is an array.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pipeline</a:t>
            </a:r>
          </a:p>
          <a:p/>
          <a:p>
            <a:r>
              <a:t>  One $match keeps the 13 paid orders.</a:t>
            </a:r>
          </a:p>
          <a:p/>
          <a:p>
            <a:r>
              <a:t>  Then three facets run on those same 13 documents.</a:t>
            </a:r>
          </a:p>
          <a:p/>
          <a:p>
            <a:r>
              <a:t>- The result</a:t>
            </a:r>
          </a:p>
          <a:p/>
          <a:p>
            <a:r>
              <a:t>  totals holds one document: 13 orders worth 9118.44.</a:t>
            </a:r>
          </a:p>
          <a:p/>
          <a:p>
            <a:r>
              <a:t>  byFulfillment ranks SHIPPED 6, DELIVERED 4, PROCESSING 2 and NEW 1.</a:t>
            </a:r>
          </a:p>
          <a:p/>
          <a:p>
            <a:r>
              <a:t>  highValue counts four orders of at least 1000.</a:t>
            </a:r>
          </a:p>
          <a:p/>
          <a:p>
            <a:r>
              <a:t>- Reading the shape</a:t>
            </a:r>
          </a:p>
          <a:p/>
          <a:p>
            <a:r>
              <a:t>  The output is one document, and every facet is an array, even totals and highValue, which hold one element each.</a:t>
            </a:r>
          </a:p>
          <a:p/>
          <a:p>
            <a:r>
              <a:t>  Application code reads result.totals[0].revenue.</a:t>
            </a:r>
          </a:p>
          <a:p/>
          <a:p>
            <a:r>
              <a:t>- Extending it</a:t>
            </a:r>
          </a:p>
          <a:p/>
          <a:p>
            <a:r>
              <a:t>  A fuller dashboard adds topCustomers and topProducts facets.</a:t>
            </a:r>
          </a:p>
          <a:p/>
          <a:p>
            <a:r>
              <a:t>  topProducts starts with L110, as in the product sales report.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this part</a:t>
            </a:r>
          </a:p>
          <a:p/>
          <a:p>
            <a:r>
              <a:t>  training_store is tiny, so every pipeline is fast here.</a:t>
            </a:r>
          </a:p>
          <a:p/>
          <a:p>
            <a:r>
              <a:t>  The habits in this part are what keep pipelines fast on real data.</a:t>
            </a:r>
          </a:p>
          <a:p/>
          <a:p>
            <a:r>
              <a:t>- Link to Module 6</a:t>
            </a:r>
          </a:p>
          <a:p/>
          <a:p>
            <a:r>
              <a:t>  Module 6 adds indexes and explain plans.</a:t>
            </a:r>
          </a:p>
          <a:p/>
          <a:p>
            <a:r>
              <a:t>  This part explains why the first stage matters so much to them.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Early $match</a:t>
            </a:r>
          </a:p>
          <a:p/>
          <a:p>
            <a:r>
              <a:t>  Filtering first means every later stage handles fewer documents.</a:t>
            </a:r>
          </a:p>
          <a:p/>
          <a:p>
            <a:r>
              <a:t>  Here 13 paid orders flow on instead of 17.</a:t>
            </a:r>
          </a:p>
          <a:p/>
          <a:p>
            <a:r>
              <a:t>- Late $match can be wrong too</a:t>
            </a:r>
          </a:p>
          <a:p/>
          <a:p>
            <a:r>
              <a:t>  In the diagram's late version, $match status runs after $group.</a:t>
            </a:r>
          </a:p>
          <a:p/>
          <a:p>
            <a:r>
              <a:t>  As we saw in Part 1, $group has already removed that field, so the pipeline is not only slow but also empty.</a:t>
            </a:r>
          </a:p>
          <a:p/>
          <a:p>
            <a:r>
              <a:t>- The optimizer helps, a little</a:t>
            </a:r>
          </a:p>
          <a:p/>
          <a:p>
            <a:r>
              <a:t>  MongoDB moves some stages itself, such as a $match after a $sort.</a:t>
            </a:r>
          </a:p>
          <a:p/>
          <a:p>
            <a:r>
              <a:t>  It can't fix a pipeline whose meaning is wrong, so write the efficient order yourself.</a:t>
            </a:r>
          </a:p>
          <a:p/>
          <a:p>
            <a:r>
              <a:t>- Indexes</a:t>
            </a:r>
          </a:p>
          <a:p/>
          <a:p>
            <a:r>
              <a:t>  A $match at the start can use an index, such as { paymentStatus: 1, createdAt: 1 }.</a:t>
            </a:r>
          </a:p>
          <a:p/>
          <a:p>
            <a:r>
              <a:t>  Module 6 covers this.</a:t>
            </a:r>
          </a:p>
          <a:p/>
          <a:p>
            <a:r>
              <a:t>- What it shows</a:t>
            </a:r>
          </a:p>
          <a:p/>
          <a:p>
            <a:r>
              <a:t>  Left: $match status PAID runs first, then $project and $group — fast, low work.</a:t>
            </a:r>
          </a:p>
          <a:p/>
          <a:p>
            <a:r>
              <a:t>  Right: $project and $group handle all the data, and $match runs last — slow, high work.</a:t>
            </a:r>
          </a:p>
          <a:p/>
          <a:p>
            <a:r>
              <a:t>- How to read it</a:t>
            </a:r>
          </a:p>
          <a:p/>
          <a:p>
            <a:r>
              <a:t>  Count the document icons between stages: fewer on the left.</a:t>
            </a:r>
          </a:p>
          <a:p/>
          <a:p>
            <a:r>
              <a:t>- Key point</a:t>
            </a:r>
          </a:p>
          <a:p/>
          <a:p>
            <a:r>
              <a:t>  Put the most selective $match as early as possible.</a:t>
            </a:r>
          </a:p>
          <a:p/>
          <a:p>
            <a:r>
              <a:t>- Applying it</a:t>
            </a:r>
          </a:p>
          <a:p/>
          <a:p>
            <a:r>
              <a:t>  To speed up a slow customer report: match paid orders first, group by customerId without unwinding, then look up customers and keep ACTIVE ones.</a:t>
            </a:r>
          </a:p>
          <a:p/>
          <a:p>
            <a:r>
              <a:t>  A supporting index later is { paymentStatus: 1, customerId: 1 }.</a:t>
            </a:r>
          </a:p>
          <a:p/>
          <a:p>
            <a:r>
              <a:t>- Lab 4, Step 5</a:t>
            </a:r>
          </a:p>
          <a:p/>
          <a:p>
            <a:r>
              <a:t>  Lab 4's optional Step 5 runs explain("executionStats") on the report and checks that $match is first.</a:t>
            </a:r>
          </a:p>
          <a:p/>
          <a:p>
            <a:r>
              <a:t>  Comparing a late and an early $match on 17 orders, both plans may look alike, because the optimizer moves a $match ahead of a $sort.</a:t>
            </a:r>
          </a:p>
          <a:p/>
          <a:p>
            <a:r>
              <a:t>  Read the plan shape, not the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Start from the output</a:t>
            </a:r>
          </a:p>
          <a:p/>
          <a:p>
            <a:r>
              <a:t>  Write down the result you want first: its fields and roughly how many rows.</a:t>
            </a:r>
          </a:p>
          <a:p/>
          <a:p>
            <a:r>
              <a:t>- One stage at a time</a:t>
            </a:r>
          </a:p>
          <a:p/>
          <a:p>
            <a:r>
              <a:t>  Run the first stage and look at the documents.</a:t>
            </a:r>
          </a:p>
          <a:p/>
          <a:p>
            <a:r>
              <a:t>  Add the next stage and run again.</a:t>
            </a:r>
          </a:p>
          <a:p/>
          <a:p>
            <a:r>
              <a:t>  A wrong field path or filter shows up the moment it is added.</a:t>
            </a:r>
          </a:p>
          <a:p/>
          <a:p>
            <a:r>
              <a:t>- Prove one number</a:t>
            </a:r>
          </a:p>
          <a:p/>
          <a:p>
            <a:r>
              <a:t>  Check one result by hand.</a:t>
            </a:r>
          </a:p>
          <a:p/>
          <a:p>
            <a:r>
              <a:t>  Aisha Khan's four paid orders add up to 3418.62, which must match the pipeline.</a:t>
            </a:r>
          </a:p>
          <a:p/>
          <a:p>
            <a:r>
              <a:t>- What it shows</a:t>
            </a:r>
          </a:p>
          <a:p/>
          <a:p>
            <a:r>
              <a:t>  Six steps: define the output, inspect the input, add one stage, run and inspect in mongosh or Compass, build gradually with $set, $group and $sort, and finalize a correct, readable, reusable pipeline.</a:t>
            </a:r>
          </a:p>
          <a:p/>
          <a:p>
            <a:r>
              <a:t>- How to read it</a:t>
            </a:r>
          </a:p>
          <a:p/>
          <a:p>
            <a:r>
              <a:t>  Steps 3 to 5 repeat until the result is right.</a:t>
            </a:r>
          </a:p>
          <a:p/>
          <a:p>
            <a:r>
              <a:t>- Key point</a:t>
            </a:r>
          </a:p>
          <a:p/>
          <a:p>
            <a:r>
              <a:t>  Never write a ten-stage pipeline in one go.</a:t>
            </a:r>
          </a:p>
          <a:p/>
          <a:p>
            <a:r>
              <a:t>- Day 2 Lab 4</a:t>
            </a:r>
          </a:p>
          <a:p/>
          <a:p>
            <a:r>
              <a:t>  Lab 4 is built exactly this way: confirm the input set (10 paid orders that are shipped or delivered), add $unwind and line sales, then join products and group by category.</a:t>
            </a:r>
          </a:p>
          <a:p/>
          <a:p>
            <a:r>
              <a:t>  Step 4 proves one number with a second pipeline.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this slide</a:t>
            </a:r>
          </a:p>
          <a:p/>
          <a:p>
            <a:r>
              <a:t>  Before the checks, collect the mistakes that cause most broken pipelines.</a:t>
            </a:r>
          </a:p>
          <a:p/>
          <a:p>
            <a:r>
              <a:t>  Exercise 5.4 contains several of them at once.</a:t>
            </a:r>
          </a:p>
          <a:p/>
          <a:p>
            <a:r>
              <a:t>- Field references</a:t>
            </a:r>
          </a:p>
          <a:p/>
          <a:p>
            <a:r>
              <a:t>  A $ turns a string into a field path.</a:t>
            </a:r>
          </a:p>
          <a:p/>
          <a:p>
            <a:r>
              <a:t>  "items.sku" as a group key is one constant, so everything lands in one group; "$items.sku" is the SKU.</a:t>
            </a:r>
          </a:p>
          <a:p/>
          <a:p>
            <a:r>
              <a:t>- Order mistakes</a:t>
            </a:r>
          </a:p>
          <a:p/>
          <a:p>
            <a:r>
              <a:t>  $limit before $sort, $match after $group on a dropped field, and $unwind before summing order totals all give plausible but wrong answers.</a:t>
            </a:r>
          </a:p>
          <a:p/>
          <a:p>
            <a:r>
              <a:t>  They don't raise errors.</a:t>
            </a:r>
          </a:p>
          <a:p/>
          <a:p>
            <a:r>
              <a:t>- Dataset traps</a:t>
            </a:r>
          </a:p>
          <a:p/>
          <a:p>
            <a:r>
              <a:t>  Generic examples use status and lineTotal.</a:t>
            </a:r>
          </a:p>
          <a:p/>
          <a:p>
            <a:r>
              <a:t>  training_store has paymentStatus, fulfillmentStatus, quantity and unitPrice.</a:t>
            </a:r>
          </a:p>
          <a:p/>
          <a:p>
            <a:r>
              <a:t>  Money is Decimal128, so compare it with Decimal128("1000.00").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Filter</a:t>
            </a:r>
          </a:p>
          <a:p/>
          <a:p>
            <a:r>
              <a:t>  $match first, with the real field names: paymentStatus and fulfillmentStatus.</a:t>
            </a:r>
          </a:p>
          <a:p/>
          <a:p>
            <a:r>
              <a:t>- Shape</a:t>
            </a:r>
          </a:p>
          <a:p/>
          <a:p>
            <a:r>
              <a:t>  $project and $set rename fields and compute new ones, such as line revenue.</a:t>
            </a:r>
          </a:p>
          <a:p/>
          <a:p>
            <a:r>
              <a:t>- Group</a:t>
            </a:r>
          </a:p>
          <a:p/>
          <a:p>
            <a:r>
              <a:t>  $group with accumulators turns many documents into one per key.</a:t>
            </a:r>
          </a:p>
          <a:p/>
          <a:p>
            <a:r>
              <a:t>- Join and arrays</a:t>
            </a:r>
          </a:p>
          <a:p/>
          <a:p>
            <a:r>
              <a:t>  $unwind expands items; $lookup adds customer or product details as an array.</a:t>
            </a:r>
          </a:p>
          <a:p/>
          <a:p>
            <a:r>
              <a:t>- Always</a:t>
            </a:r>
          </a:p>
          <a:p/>
          <a:p>
            <a:r>
              <a:t>  Keep stage order in mind, use $ for field references and verify each stage.</a:t>
            </a:r>
          </a:p>
          <a:p/>
          <a:p>
            <a:r>
              <a:t>- What it shows</a:t>
            </a:r>
          </a:p>
          <a:p/>
          <a:p>
            <a:r>
              <a:t>  training_store orders flow through Filter ($match), Shape ($project), Group ($group) and Join or arrays ($lookup, $unwind) to business insight.</a:t>
            </a:r>
          </a:p>
          <a:p/>
          <a:p>
            <a:r>
              <a:t>- How to use it</a:t>
            </a:r>
          </a:p>
          <a:p/>
          <a:p>
            <a:r>
              <a:t>  Point to each box and ask the class for the stage they would use for one question, before the knowledge check.</a:t>
            </a:r>
          </a:p>
          <a:p/>
          <a:p>
            <a:r>
              <a:t>- Key point</a:t>
            </a:r>
          </a:p>
          <a:p/>
          <a:p>
            <a:r>
              <a:t>  Stage order, $ field references and checking each stage are what make a pipeline right.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- 1. Stages</a:t>
            </a:r>
          </a:p>
          <a:p/>
          <a:p>
            <a:r>
              <a:t>  Each stage receives the documents the previous stage output, transforms them and passes the result on.</a:t>
            </a:r>
          </a:p>
          <a:p/>
          <a:p>
            <a:r>
              <a:t>- 2. Group then match</a:t>
            </a:r>
          </a:p>
          <a:p/>
          <a:p>
            <a:r>
              <a:t>  $group outputs only _id and accumulators, so paymentStatus no longer exists when $match runs.</a:t>
            </a:r>
          </a:p>
          <a:p/>
          <a:p>
            <a:r>
              <a:t>  Filter before grouping.</a:t>
            </a:r>
          </a:p>
          <a:p/>
          <a:p>
            <a:r>
              <a:t>- 3. $project and $set</a:t>
            </a:r>
          </a:p>
          <a:p/>
          <a:p>
            <a:r>
              <a:t>  $project returns only the fields you list.</a:t>
            </a:r>
          </a:p>
          <a:p/>
          <a:p>
            <a:r>
              <a:t>  $set, or $addFields, adds or replaces fields and keeps the rest.</a:t>
            </a:r>
          </a:p>
          <a:p/>
          <a:p>
            <a:r>
              <a:t>- 4. _id in $group</a:t>
            </a:r>
          </a:p>
          <a:p/>
          <a:p>
            <a:r>
              <a:t>  The grouping key.</a:t>
            </a:r>
          </a:p>
          <a:p/>
          <a:p>
            <a:r>
              <a:t>  Each distinct value becomes one output document; null puts everything in one group.</a:t>
            </a:r>
          </a:p>
          <a:p/>
          <a:p>
            <a:r>
              <a:t>- 5. $sum: 1</a:t>
            </a:r>
          </a:p>
          <a:p/>
          <a:p>
            <a:r>
              <a:t>  It adds one per document, so it counts the documents in each group.</a:t>
            </a:r>
          </a:p>
          <a:p/>
          <a:p>
            <a:r>
              <a:t>- 6. $unwind</a:t>
            </a:r>
          </a:p>
          <a:p/>
          <a:p>
            <a:r>
              <a:t>  When you need to work with individual array elements, such as grouping order items by SKU.</a:t>
            </a:r>
          </a:p>
          <a:p/>
          <a:p>
            <a:r>
              <a:t>- 7. $lookup</a:t>
            </a:r>
          </a:p>
          <a:p/>
          <a:p>
            <a:r>
              <a:t>  An array of the matching documents from the other collection: empty when nothing matches, as for O6499.</a:t>
            </a:r>
          </a:p>
          <a:p/>
          <a:p>
            <a:r>
              <a:t>- 8. Sort before limit</a:t>
            </a:r>
          </a:p>
          <a:p/>
          <a:p>
            <a:r>
              <a:t>  $limit keeps the first N documents it receives.</a:t>
            </a:r>
          </a:p>
          <a:p/>
          <a:p>
            <a:r>
              <a:t>  Unsorted, those are arbitrary, not the top N.</a:t>
            </a:r>
          </a:p>
          <a:p/>
          <a:p>
            <a:r>
              <a:t>- 9. Missing values</a:t>
            </a:r>
          </a:p>
          <a:p/>
          <a:p>
            <a:r>
              <a:t>  $ifNull: ["$shippingFee", Decimal128("0.00")], so the calculation doesn't become null.</a:t>
            </a:r>
          </a:p>
          <a:p/>
          <a:p>
            <a:r>
              <a:t>- 10. $facet</a:t>
            </a:r>
          </a:p>
          <a:p/>
          <a:p>
            <a:r>
              <a:t>  One document with one field per facet, each holding that sub-pipeline's results as an array.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checkpoint</a:t>
            </a:r>
          </a:p>
          <a:p/>
          <a:p>
            <a:r>
              <a:t>  This is the official Exercise 5.1.</a:t>
            </a:r>
          </a:p>
          <a:p/>
          <a:p>
            <a:r>
              <a:t>  The worksheet is labs/day-02/exercises/exercise-5.1-arrange-pipeline-stages.md; the answer key is in labs/day-02/exercises/solution/.</a:t>
            </a:r>
          </a:p>
          <a:p/>
          <a:p>
            <a:r>
              <a:t>  Pairs, on paper; no MongoDB is needed.</a:t>
            </a:r>
          </a:p>
          <a:p/>
          <a:p>
            <a:r>
              <a:t>- The reveal</a:t>
            </a:r>
          </a:p>
          <a:p/>
          <a:p>
            <a:r>
              <a:t>  $match paid orders, $unwind items, $set lineRevenue, $group by SKU, $sort by revenue descending, $limit 5.</a:t>
            </a:r>
          </a:p>
          <a:p/>
          <a:p>
            <a:r>
              <a:t>- What to listen for</a:t>
            </a:r>
          </a:p>
          <a:p/>
          <a:p>
            <a:r>
              <a:t>  $limit before $sort gives five arbitrary products.</a:t>
            </a:r>
          </a:p>
          <a:p/>
          <a:p>
            <a:r>
              <a:t>  $unwind must come before grouping by items.sku.</a:t>
            </a:r>
          </a:p>
          <a:p/>
          <a:p>
            <a:r>
              <a:t>  $set could also sit inside $group as a $sum of $multiply — a defensible variation.</a:t>
            </a:r>
          </a:p>
          <a:p/>
          <a:p>
            <a:r>
              <a:t>- The follow-up question</a:t>
            </a:r>
          </a:p>
          <a:p/>
          <a:p>
            <a:r>
              <a:t>  A $match after $group would filter the grouped SKU rows, for example keeping products with revenue over 500.</a:t>
            </a:r>
          </a:p>
          <a:p/>
          <a:p>
            <a:r>
              <a:t>  That is a different, valid question.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checkpoint</a:t>
            </a:r>
          </a:p>
          <a:p/>
          <a:p>
            <a:r>
              <a:t>  This is the official Exercise 5.2.</a:t>
            </a:r>
          </a:p>
          <a:p/>
          <a:p>
            <a:r>
              <a:t>  The worksheet is labs/day-02/exercises/exercise-5.2-build-a-top-n-report.md.</a:t>
            </a:r>
          </a:p>
          <a:p/>
          <a:p>
            <a:r>
              <a:t>- Customers and orders</a:t>
            </a:r>
          </a:p>
          <a:p/>
          <a:p>
            <a:r>
              <a:t>  C101, Aisha Khan, is the top paid spender with 3418.62.</a:t>
            </a:r>
          </a:p>
          <a:p/>
          <a:p>
            <a:r>
              <a:t>  The highest paid orders are O6202 and O6304 at 2146.99, then O6301 at 1512.23; orderNumber breaks the tie.</a:t>
            </a:r>
          </a:p>
          <a:p/>
          <a:p>
            <a:r>
              <a:t>- Units</a:t>
            </a:r>
          </a:p>
          <a:p/>
          <a:p>
            <a:r>
              <a:t>  Sorted by unitsSold and then _id, A410 leads with 4 units, followed by A400 and B300 with 3.</a:t>
            </a:r>
          </a:p>
          <a:p/>
          <a:p>
            <a:r>
              <a:t>  P1001 and S200 also sold 3.</a:t>
            </a:r>
          </a:p>
          <a:p/>
          <a:p>
            <a:r>
              <a:t>- A dataset note</a:t>
            </a:r>
          </a:p>
          <a:p/>
          <a:p>
            <a:r>
              <a:t>  The worksheet lists ACCESSORY 4.</a:t>
            </a:r>
          </a:p>
          <a:p/>
          <a:p>
            <a:r>
              <a:t>  On a fresh load $sortByCount returns ACCESSORY 5, because the XBAD fixture is an accessory, then LAPTOP 3 and SHOE 3, then BOOK 2.</a:t>
            </a:r>
          </a:p>
          <a:p/>
          <a:p>
            <a:r>
              <a:t>  The inactive L190 is counted, since there is no $match.</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checkpoint</a:t>
            </a:r>
          </a:p>
          <a:p/>
          <a:p>
            <a:r>
              <a:t>  This is the official Exercise 5.3.</a:t>
            </a:r>
          </a:p>
          <a:p/>
          <a:p>
            <a:r>
              <a:t>  The worksheet is labs/day-02/exercises/exercise-5.3-join-related-collections.md.</a:t>
            </a:r>
          </a:p>
          <a:p/>
          <a:p>
            <a:r>
              <a:t>- The projection</a:t>
            </a:r>
          </a:p>
          <a:p/>
          <a:p>
            <a:r>
              <a:t>  customerNumber: "$customer.customerNumber" and customerName: $concat of "$customer.name.first", a space and "$customer.name.last".</a:t>
            </a:r>
          </a:p>
          <a:p/>
          <a:p>
            <a:r>
              <a:t>- The result</a:t>
            </a:r>
          </a:p>
          <a:p/>
          <a:p>
            <a:r>
              <a:t>  All 17 orders appear, sorted by total.</a:t>
            </a:r>
          </a:p>
          <a:p/>
          <a:p>
            <a:r>
              <a:t>  O6401, Luis Romero's pending 2945.98 order, is first.</a:t>
            </a:r>
          </a:p>
          <a:p/>
          <a:p>
            <a:r>
              <a:t>  O6499 has no customerNumber, and its customerName is null, because $concat of missing fields returns null.</a:t>
            </a:r>
          </a:p>
          <a:p/>
          <a:p>
            <a:r>
              <a:t>- Without preserve</a:t>
            </a:r>
          </a:p>
          <a:p/>
          <a:p>
            <a:r>
              <a:t>  Remove preserveNullAndEmptyArrays and O6499 disappears: 16 rows.</a:t>
            </a:r>
          </a:p>
          <a:p/>
          <a:p>
            <a:r>
              <a:t>  Ask learners which behaviour a data-quality report needs.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checkpoint</a:t>
            </a:r>
          </a:p>
          <a:p/>
          <a:p>
            <a:r>
              <a:t>  This is the official Exercise 5.4.</a:t>
            </a:r>
          </a:p>
          <a:p/>
          <a:p>
            <a:r>
              <a:t>  The worksheet is labs/day-02/exercises/exercise-5.4-correct-a-broken-pipeline.md.</a:t>
            </a:r>
          </a:p>
          <a:p/>
          <a:p>
            <a:r>
              <a:t>- The seven defects</a:t>
            </a:r>
          </a:p>
          <a:p/>
          <a:p>
            <a:r>
              <a:t>  $limit before any sort; no paid-order filter; "items.sku" without $, so every order falls in one group; quantity read from the top level instead of items; no $unwind before grouping by SKU; total is an order total, not line revenue; and the $lookup output is treated like an object.</a:t>
            </a:r>
          </a:p>
          <a:p/>
          <a:p>
            <a:r>
              <a:t>- The correct core</a:t>
            </a:r>
          </a:p>
          <a:p/>
          <a:p>
            <a:r>
              <a:t>  Match PAID, unwind items, set lineRevenue as quantity times unitPrice, group by "$items.sku" with unitsSold and revenue, sort revenue descending, limit 5.</a:t>
            </a:r>
          </a:p>
          <a:p/>
          <a:p>
            <a:r>
              <a:t>  It returns L110 first with 3799.98.</a:t>
            </a:r>
          </a:p>
          <a:p/>
          <a:p>
            <a:r>
              <a:t>- The lesson</a:t>
            </a:r>
          </a:p>
          <a:p/>
          <a:p>
            <a:r>
              <a:t>  A product revenue report needs no customer join at all.</a:t>
            </a:r>
          </a:p>
          <a:p/>
          <a:p>
            <a:r>
              <a:t>  Removing a stage is often the best fix.</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lab</a:t>
            </a:r>
          </a:p>
          <a:p/>
          <a:p>
            <a:r>
              <a:t>  This is Day 2 Lab 4, labs/day-02/lab4/LAB-4-GUIDE.md, about 45 to 60 minutes.</a:t>
            </a:r>
          </a:p>
          <a:p/>
          <a:p>
            <a:r>
              <a:t>  The instructor answer key is labs/day-02/lab4/solution/LAB-4-SOLUTION.md.</a:t>
            </a:r>
          </a:p>
          <a:p/>
          <a:p>
            <a:r>
              <a:t>  It is the outline hands-on, building an aggregation pipeline.</a:t>
            </a:r>
          </a:p>
          <a:p/>
          <a:p>
            <a:r>
              <a:t>- Before you start</a:t>
            </a:r>
          </a:p>
          <a:p/>
          <a:p>
            <a:r>
              <a:t>  Reload load.js from the repository root in PowerShell.</a:t>
            </a:r>
          </a:p>
          <a:p/>
          <a:p>
            <a:r>
              <a:t>  Lab 3 changed O6202 and A410, and the Module 4 labs added products, so without a reload the numbers drift.</a:t>
            </a:r>
          </a:p>
          <a:p/>
          <a:p>
            <a:r>
              <a:t>  Step 0 checks 13 products, 6 customers, 17 orders, 6 reviews and 13 paid orders.</a:t>
            </a:r>
          </a:p>
          <a:p/>
          <a:p>
            <a:r>
              <a:t>- Steps 1 and 2</a:t>
            </a:r>
          </a:p>
          <a:p/>
          <a:p>
            <a:r>
              <a:t>  Step 1 counts the input: PAID and SHIPPED or DELIVERED gives 10 orders; O6202 and O6302 are still PROCESSING and O6305 is NEW.</a:t>
            </a:r>
          </a:p>
          <a:p/>
          <a:p>
            <a:r>
              <a:t>  Step 2 runs $match, $unwind and $set: 18 line documents, each with lineSales as quantity times unitPrice.</a:t>
            </a:r>
          </a:p>
          <a:p/>
          <a:p>
            <a:r>
              <a:t>- Step 3, the report</a:t>
            </a:r>
          </a:p>
          <a:p/>
          <a:p>
            <a:r>
              <a:t>  Join each line to products on items.productId, group by product.category and rank.</a:t>
            </a:r>
          </a:p>
          <a:p/>
          <a:p>
            <a:r>
              <a:t>  LAPTOP 4499.97 from 3 units and 2 customers, ACCESSORY 744.91 from 9 units, SHOE 264.97 and BOOK 259.95.</a:t>
            </a:r>
          </a:p>
          <a:p/>
          <a:p>
            <a:r>
              <a:t>  All four clear 50, so $limit 5 returns four rows.</a:t>
            </a:r>
          </a:p>
          <a:p/>
          <a:p>
            <a:r>
              <a:t>- Steps 4 and 5</a:t>
            </a:r>
          </a:p>
          <a:p/>
          <a:p>
            <a:r>
              <a:t>  Step 4 proves one number: laptop units from a second pipeline are 3, the same as LAPTOP totalUnitsSold.</a:t>
            </a:r>
          </a:p>
          <a:p/>
          <a:p>
            <a:r>
              <a:t>  Optional Step 5 runs explain and confirms the $match is the first stage.</a:t>
            </a:r>
          </a:p>
          <a:p/>
          <a:p>
            <a:r>
              <a:t>- Debrief</a:t>
            </a:r>
          </a:p>
          <a:p/>
          <a:p>
            <a:r>
              <a:t>  Ask why the $match comes before $unwind, and why $lookup comes after it.</a:t>
            </a:r>
          </a:p>
          <a:p/>
          <a:p>
            <a:r>
              <a:t>  Then ask which index would help the first $match: that is where Module 6 begins.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Recap</a:t>
            </a:r>
          </a:p>
          <a:p/>
          <a:p>
            <a:r>
              <a:t>  We moved from one $match to reports that group, unwind, join and facet, all on training_store with numbers we checked by hand.</a:t>
            </a:r>
          </a:p>
          <a:p/>
          <a:p>
            <a:r>
              <a:t>- Day 2 Lab 4</a:t>
            </a:r>
          </a:p>
          <a:p/>
          <a:p>
            <a:r>
              <a:t>  Next is Day 2 Lab 4: top product categories for paid orders that are shipped or delivered.</a:t>
            </a:r>
          </a:p>
          <a:p/>
          <a:p>
            <a:r>
              <a:t>  It uses paymentStatus and fulfillmentStatus, computes line sales, and on a fresh load LAPTOP comes first with 4499.97.</a:t>
            </a:r>
          </a:p>
          <a:p/>
          <a:p>
            <a:r>
              <a:t>- Next module</a:t>
            </a:r>
          </a:p>
          <a:p/>
          <a:p>
            <a:r>
              <a:t>  Module 6, on Day 3, covers index types, compound index order, covered queries and explain plans.</a:t>
            </a:r>
          </a:p>
          <a:p/>
          <a:p>
            <a:r>
              <a:t>  The first $match of each pipeline is where those indexes help, for example { paymentStatus: 1, createdAt: 1 }.</a:t>
            </a:r>
          </a:p>
          <a:p/>
          <a:p>
            <a:r>
              <a:t>- Bring along</a:t>
            </a:r>
          </a:p>
          <a:p/>
          <a:p>
            <a:r>
              <a:t>  Keep the Lab 4 pipeline and one proposed index.</a:t>
            </a:r>
          </a:p>
          <a:p/>
          <a:p>
            <a:r>
              <a:t>  Module 6 tests them with explain.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43216" y="109728"/>
            <a:ext cx="3566160" cy="365760"/>
          </a:xfrm>
          <a:prstGeom prst="rect">
            <a:avLst/>
          </a:prstGeom>
          <a:noFill/>
        </p:spPr>
        <p:txBody>
          <a:bodyPr wrap="square" anchor="ctr" lIns="0" rIns="0" tIns="0" bIns="0">
            <a:spAutoFit/>
          </a:bodyPr>
          <a:lstStyle/>
          <a:p>
            <a:pPr algn="r"/>
            <a:r>
              <a:rPr sz="1400" b="0" i="1">
                <a:solidFill>
                  <a:srgbClr val="595959"/>
                </a:solidFill>
                <a:latin typeface="Nirmala UI"/>
              </a:rPr>
              <a:t>"Each stage receives documents, transforms them and passes them on."</a:t>
            </a:r>
          </a:p>
        </p:txBody>
      </p:sp>
      <p:sp>
        <p:nvSpPr>
          <p:cNvPr id="5" name="TextBox 4"/>
          <p:cNvSpPr txBox="1"/>
          <p:nvPr/>
        </p:nvSpPr>
        <p:spPr>
          <a:xfrm>
            <a:off x="457200" y="384048"/>
            <a:ext cx="10332720" cy="548640"/>
          </a:xfrm>
          <a:prstGeom prst="rect">
            <a:avLst/>
          </a:prstGeom>
          <a:noFill/>
        </p:spPr>
        <p:txBody>
          <a:bodyPr wrap="square" anchor="ctr" lIns="0" rIns="0" tIns="0" bIns="0">
            <a:spAutoFit/>
          </a:bodyPr>
          <a:lstStyle/>
          <a:p>
            <a:pPr algn="l"/>
            <a:r>
              <a:rPr sz="2300" b="0" i="0">
                <a:solidFill>
                  <a:srgbClr val="002060"/>
                </a:solidFill>
                <a:latin typeface="Leelawadee"/>
              </a:rPr>
              <a:t>MODULE 5</a:t>
            </a:r>
          </a:p>
        </p:txBody>
      </p:sp>
      <p:sp>
        <p:nvSpPr>
          <p:cNvPr id="6" name="TextBox 5"/>
          <p:cNvSpPr txBox="1"/>
          <p:nvPr/>
        </p:nvSpPr>
        <p:spPr>
          <a:xfrm>
            <a:off x="457200" y="1965960"/>
            <a:ext cx="11247120" cy="1737360"/>
          </a:xfrm>
          <a:prstGeom prst="rect">
            <a:avLst/>
          </a:prstGeom>
          <a:noFill/>
        </p:spPr>
        <p:txBody>
          <a:bodyPr wrap="square" anchor="t" lIns="0" rIns="0" tIns="0" bIns="0">
            <a:spAutoFit/>
          </a:bodyPr>
          <a:lstStyle/>
          <a:p>
            <a:pPr algn="l"/>
            <a:r>
              <a:rPr sz="4000" b="1" i="0">
                <a:solidFill>
                  <a:srgbClr val="D1282E"/>
                </a:solidFill>
                <a:latin typeface="Leelawadee"/>
              </a:rPr>
              <a:t>The Aggregation Framework</a:t>
            </a:r>
          </a:p>
        </p:txBody>
      </p:sp>
      <p:sp>
        <p:nvSpPr>
          <p:cNvPr id="7" name="TextBox 6"/>
          <p:cNvSpPr txBox="1"/>
          <p:nvPr/>
        </p:nvSpPr>
        <p:spPr>
          <a:xfrm>
            <a:off x="457200" y="3886200"/>
            <a:ext cx="10058400" cy="777240"/>
          </a:xfrm>
          <a:prstGeom prst="rect">
            <a:avLst/>
          </a:prstGeom>
          <a:noFill/>
        </p:spPr>
        <p:txBody>
          <a:bodyPr wrap="square" anchor="t" lIns="0" rIns="0" tIns="0" bIns="0">
            <a:spAutoFit/>
          </a:bodyPr>
          <a:lstStyle/>
          <a:p>
            <a:pPr algn="l"/>
            <a:r>
              <a:rPr sz="1800" b="0" i="0">
                <a:solidFill>
                  <a:srgbClr val="002060"/>
                </a:solidFill>
                <a:latin typeface="Nirmala UI"/>
              </a:rPr>
              <a:t>Turn training_store documents into totals, rankings and reports — one pipeline stage at a time.</a:t>
            </a:r>
          </a:p>
        </p:txBody>
      </p:sp>
      <p:sp>
        <p:nvSpPr>
          <p:cNvPr id="8" name="TextBox 7"/>
          <p:cNvSpPr txBox="1"/>
          <p:nvPr/>
        </p:nvSpPr>
        <p:spPr>
          <a:xfrm>
            <a:off x="457200" y="6172200"/>
            <a:ext cx="7525512" cy="365760"/>
          </a:xfrm>
          <a:prstGeom prst="rect">
            <a:avLst/>
          </a:prstGeom>
          <a:noFill/>
        </p:spPr>
        <p:txBody>
          <a:bodyPr wrap="square" anchor="ctr" lIns="0" rIns="0" tIns="0" bIns="0">
            <a:spAutoFit/>
          </a:bodyPr>
          <a:lstStyle/>
          <a:p>
            <a:pPr algn="l"/>
            <a:r>
              <a:rPr sz="1400" b="0" i="0">
                <a:solidFill>
                  <a:srgbClr val="595959"/>
                </a:solidFill>
                <a:latin typeface="Nirmala UI"/>
              </a:rPr>
              <a:t>MASTERING MONGODB  •  MODULE 5</a:t>
            </a:r>
          </a:p>
        </p:txBody>
      </p:sp>
      <p:sp>
        <p:nvSpPr>
          <p:cNvPr id="9" name="Rounded Rectangle 8"/>
          <p:cNvSpPr/>
          <p:nvPr/>
        </p:nvSpPr>
        <p:spPr>
          <a:xfrm>
            <a:off x="457200" y="4709160"/>
            <a:ext cx="2139696" cy="868680"/>
          </a:xfrm>
          <a:prstGeom prst="roundRect">
            <a:avLst>
              <a:gd name="adj" fmla="val 12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Pipelines</a:t>
            </a:r>
          </a:p>
        </p:txBody>
      </p:sp>
      <p:sp>
        <p:nvSpPr>
          <p:cNvPr id="10" name="Rounded Rectangle 9"/>
          <p:cNvSpPr/>
          <p:nvPr/>
        </p:nvSpPr>
        <p:spPr>
          <a:xfrm>
            <a:off x="2734056" y="4709160"/>
            <a:ext cx="2139696" cy="868680"/>
          </a:xfrm>
          <a:prstGeom prst="roundRect">
            <a:avLst>
              <a:gd name="adj" fmla="val 12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Filter and shape</a:t>
            </a:r>
          </a:p>
        </p:txBody>
      </p:sp>
      <p:sp>
        <p:nvSpPr>
          <p:cNvPr id="11" name="Rounded Rectangle 10"/>
          <p:cNvSpPr/>
          <p:nvPr/>
        </p:nvSpPr>
        <p:spPr>
          <a:xfrm>
            <a:off x="5010912" y="4709160"/>
            <a:ext cx="2139696" cy="868680"/>
          </a:xfrm>
          <a:prstGeom prst="roundRect">
            <a:avLst>
              <a:gd name="adj" fmla="val 12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Group</a:t>
            </a:r>
          </a:p>
        </p:txBody>
      </p:sp>
      <p:sp>
        <p:nvSpPr>
          <p:cNvPr id="12" name="Rounded Rectangle 11"/>
          <p:cNvSpPr/>
          <p:nvPr/>
        </p:nvSpPr>
        <p:spPr>
          <a:xfrm>
            <a:off x="7287767" y="4709160"/>
            <a:ext cx="2139696" cy="868680"/>
          </a:xfrm>
          <a:prstGeom prst="roundRect">
            <a:avLst>
              <a:gd name="adj" fmla="val 12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Arrays and joins</a:t>
            </a:r>
          </a:p>
        </p:txBody>
      </p:sp>
      <p:sp>
        <p:nvSpPr>
          <p:cNvPr id="13" name="Rounded Rectangle 12"/>
          <p:cNvSpPr/>
          <p:nvPr/>
        </p:nvSpPr>
        <p:spPr>
          <a:xfrm>
            <a:off x="9564624" y="4709160"/>
            <a:ext cx="2139696" cy="868680"/>
          </a:xfrm>
          <a:prstGeom prst="roundRect">
            <a:avLst>
              <a:gd name="adj" fmla="val 12000"/>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Reports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LEARNING OBJECTIVES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What you will be able to do by the end of this module.</a:t>
            </a:r>
          </a:p>
        </p:txBody>
      </p:sp>
      <p:sp>
        <p:nvSpPr>
          <p:cNvPr id="4" name="Oval 3"/>
          <p:cNvSpPr/>
          <p:nvPr/>
        </p:nvSpPr>
        <p:spPr>
          <a:xfrm>
            <a:off x="457200" y="1252728"/>
            <a:ext cx="382641" cy="382641"/>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52728"/>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1252728"/>
            <a:ext cx="4939167" cy="382641"/>
          </a:xfrm>
          <a:prstGeom prst="rect">
            <a:avLst/>
          </a:prstGeom>
          <a:noFill/>
        </p:spPr>
        <p:txBody>
          <a:bodyPr wrap="square" anchor="t" lIns="0" rIns="0" tIns="0" bIns="0">
            <a:spAutoFit/>
          </a:bodyPr>
          <a:lstStyle/>
          <a:p>
            <a:pPr algn="l"/>
            <a:r>
              <a:rPr sz="1600" b="1" i="0">
                <a:solidFill>
                  <a:srgbClr val="D1282E"/>
                </a:solidFill>
                <a:latin typeface="Nirmala UI"/>
              </a:rPr>
              <a:t>BY THE END OF THIS MODULE, YOU CAN</a:t>
            </a:r>
          </a:p>
        </p:txBody>
      </p:sp>
      <p:sp>
        <p:nvSpPr>
          <p:cNvPr id="7" name="TextBox 6"/>
          <p:cNvSpPr txBox="1"/>
          <p:nvPr/>
        </p:nvSpPr>
        <p:spPr>
          <a:xfrm>
            <a:off x="457200" y="1759164"/>
            <a:ext cx="5394960" cy="2498415"/>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0" i="0">
                <a:solidFill>
                  <a:srgbClr val="000000"/>
                </a:solidFill>
                <a:latin typeface="Nirmala UI"/>
              </a:rPr>
              <a:t>Explain how documents flow through a pipeline</a:t>
            </a:r>
          </a:p>
          <a:p>
            <a:pPr>
              <a:spcBef>
                <a:spcPts val="0"/>
              </a:spcBef>
              <a:spcAft>
                <a:spcPts val="369"/>
              </a:spcAft>
            </a:pPr>
            <a:r>
              <a:rPr sz="1600" b="1" i="0">
                <a:solidFill>
                  <a:srgbClr val="D1282E"/>
                </a:solidFill>
                <a:latin typeface="Nirmala UI"/>
              </a:rPr>
              <a:t>2. </a:t>
            </a:r>
            <a:r>
              <a:rPr sz="1600" b="0" i="0">
                <a:solidFill>
                  <a:srgbClr val="000000"/>
                </a:solidFill>
                <a:latin typeface="Nirmala UI"/>
              </a:rPr>
              <a:t>Filter and reshape with $match, $project, $set</a:t>
            </a:r>
          </a:p>
          <a:p>
            <a:pPr>
              <a:spcBef>
                <a:spcPts val="0"/>
              </a:spcBef>
              <a:spcAft>
                <a:spcPts val="369"/>
              </a:spcAft>
            </a:pPr>
            <a:r>
              <a:rPr sz="1600" b="1" i="0">
                <a:solidFill>
                  <a:srgbClr val="D1282E"/>
                </a:solidFill>
                <a:latin typeface="Nirmala UI"/>
              </a:rPr>
              <a:t>3. </a:t>
            </a:r>
            <a:r>
              <a:rPr sz="1600" b="0" i="0">
                <a:solidFill>
                  <a:srgbClr val="000000"/>
                </a:solidFill>
                <a:latin typeface="Nirmala UI"/>
              </a:rPr>
              <a:t>Summarize with $group and accumulators</a:t>
            </a:r>
          </a:p>
          <a:p>
            <a:pPr>
              <a:spcBef>
                <a:spcPts val="0"/>
              </a:spcBef>
              <a:spcAft>
                <a:spcPts val="369"/>
              </a:spcAft>
            </a:pPr>
            <a:r>
              <a:rPr sz="1600" b="1" i="0">
                <a:solidFill>
                  <a:srgbClr val="D1282E"/>
                </a:solidFill>
                <a:latin typeface="Nirmala UI"/>
              </a:rPr>
              <a:t>4. </a:t>
            </a:r>
            <a:r>
              <a:rPr sz="1600" b="0" i="0">
                <a:solidFill>
                  <a:srgbClr val="000000"/>
                </a:solidFill>
                <a:latin typeface="Nirmala UI"/>
              </a:rPr>
              <a:t>Expand items with $unwind; join with $lookup</a:t>
            </a:r>
          </a:p>
          <a:p>
            <a:pPr>
              <a:spcBef>
                <a:spcPts val="0"/>
              </a:spcBef>
              <a:spcAft>
                <a:spcPts val="369"/>
              </a:spcAft>
            </a:pPr>
            <a:r>
              <a:rPr sz="1600" b="1" i="0">
                <a:solidFill>
                  <a:srgbClr val="D1282E"/>
                </a:solidFill>
                <a:latin typeface="Nirmala UI"/>
              </a:rPr>
              <a:t>5. </a:t>
            </a:r>
            <a:r>
              <a:rPr sz="1600" b="0" i="0">
                <a:solidFill>
                  <a:srgbClr val="000000"/>
                </a:solidFill>
                <a:latin typeface="Nirmala UI"/>
              </a:rPr>
              <a:t>Build one report with several metrics</a:t>
            </a:r>
          </a:p>
          <a:p>
            <a:pPr>
              <a:spcBef>
                <a:spcPts val="0"/>
              </a:spcBef>
              <a:spcAft>
                <a:spcPts val="369"/>
              </a:spcAft>
            </a:pPr>
            <a:r>
              <a:rPr sz="1600" b="1" i="0">
                <a:solidFill>
                  <a:srgbClr val="D1282E"/>
                </a:solidFill>
                <a:latin typeface="Nirmala UI"/>
              </a:rPr>
              <a:t>6. </a:t>
            </a:r>
            <a:r>
              <a:rPr sz="1600" b="0" i="0">
                <a:solidFill>
                  <a:srgbClr val="000000"/>
                </a:solidFill>
                <a:latin typeface="Nirmala UI"/>
              </a:rPr>
              <a:t>Order stages for correct, cheap pipelines</a:t>
            </a:r>
          </a:p>
        </p:txBody>
      </p:sp>
      <p:sp>
        <p:nvSpPr>
          <p:cNvPr id="8" name="Oval 7"/>
          <p:cNvSpPr/>
          <p:nvPr/>
        </p:nvSpPr>
        <p:spPr>
          <a:xfrm>
            <a:off x="6172200" y="1252728"/>
            <a:ext cx="310896" cy="310896"/>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25272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10" name="TextBox 9"/>
          <p:cNvSpPr txBox="1"/>
          <p:nvPr/>
        </p:nvSpPr>
        <p:spPr>
          <a:xfrm>
            <a:off x="6556248" y="1243584"/>
            <a:ext cx="5148072" cy="347472"/>
          </a:xfrm>
          <a:prstGeom prst="rect">
            <a:avLst/>
          </a:prstGeom>
          <a:noFill/>
        </p:spPr>
        <p:txBody>
          <a:bodyPr wrap="square" anchor="ctr" lIns="0" rIns="0" tIns="0" bIns="0">
            <a:spAutoFit/>
          </a:bodyPr>
          <a:lstStyle/>
          <a:p>
            <a:pPr algn="l"/>
            <a:r>
              <a:rPr sz="1400" b="1" i="0">
                <a:solidFill>
                  <a:srgbClr val="D1282E"/>
                </a:solidFill>
                <a:latin typeface="Nirmala UI"/>
              </a:rPr>
              <a:t>SIX QUESTIONS THIS MODULE ANSWERS</a:t>
            </a:r>
          </a:p>
        </p:txBody>
      </p:sp>
      <p:sp>
        <p:nvSpPr>
          <p:cNvPr id="11" name="Rounded Rectangle 10"/>
          <p:cNvSpPr/>
          <p:nvPr/>
        </p:nvSpPr>
        <p:spPr>
          <a:xfrm>
            <a:off x="6172200" y="1673352"/>
            <a:ext cx="1874519" cy="457200"/>
          </a:xfrm>
          <a:prstGeom prst="roundRect">
            <a:avLst>
              <a:gd name="adj" fmla="val 14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WHAT</a:t>
            </a:r>
          </a:p>
        </p:txBody>
      </p:sp>
      <p:sp>
        <p:nvSpPr>
          <p:cNvPr id="12" name="TextBox 11"/>
          <p:cNvSpPr txBox="1"/>
          <p:nvPr/>
        </p:nvSpPr>
        <p:spPr>
          <a:xfrm>
            <a:off x="8183879" y="1673352"/>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is an aggregation pipeline?</a:t>
            </a:r>
          </a:p>
        </p:txBody>
      </p:sp>
      <p:sp>
        <p:nvSpPr>
          <p:cNvPr id="13" name="Rounded Rectangle 12"/>
          <p:cNvSpPr/>
          <p:nvPr/>
        </p:nvSpPr>
        <p:spPr>
          <a:xfrm>
            <a:off x="6172200" y="2212848"/>
            <a:ext cx="1874519" cy="457200"/>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HOW</a:t>
            </a:r>
          </a:p>
        </p:txBody>
      </p:sp>
      <p:sp>
        <p:nvSpPr>
          <p:cNvPr id="14" name="TextBox 13"/>
          <p:cNvSpPr txBox="1"/>
          <p:nvPr/>
        </p:nvSpPr>
        <p:spPr>
          <a:xfrm>
            <a:off x="8183879" y="2212848"/>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do we filter and shape documents?</a:t>
            </a:r>
          </a:p>
        </p:txBody>
      </p:sp>
      <p:sp>
        <p:nvSpPr>
          <p:cNvPr id="15" name="Rounded Rectangle 14"/>
          <p:cNvSpPr/>
          <p:nvPr/>
        </p:nvSpPr>
        <p:spPr>
          <a:xfrm>
            <a:off x="6172200" y="2752344"/>
            <a:ext cx="1874519" cy="457200"/>
          </a:xfrm>
          <a:prstGeom prst="roundRect">
            <a:avLst>
              <a:gd name="adj" fmla="val 14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HOW</a:t>
            </a:r>
          </a:p>
        </p:txBody>
      </p:sp>
      <p:sp>
        <p:nvSpPr>
          <p:cNvPr id="16" name="TextBox 15"/>
          <p:cNvSpPr txBox="1"/>
          <p:nvPr/>
        </p:nvSpPr>
        <p:spPr>
          <a:xfrm>
            <a:off x="8183879" y="2752344"/>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do we summarize many documents?</a:t>
            </a:r>
          </a:p>
        </p:txBody>
      </p:sp>
      <p:sp>
        <p:nvSpPr>
          <p:cNvPr id="17" name="Rounded Rectangle 16"/>
          <p:cNvSpPr/>
          <p:nvPr/>
        </p:nvSpPr>
        <p:spPr>
          <a:xfrm>
            <a:off x="6172200" y="3291840"/>
            <a:ext cx="1874519" cy="457200"/>
          </a:xfrm>
          <a:prstGeom prst="roundRect">
            <a:avLst>
              <a:gd name="adj" fmla="val 14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HOW</a:t>
            </a:r>
          </a:p>
        </p:txBody>
      </p:sp>
      <p:sp>
        <p:nvSpPr>
          <p:cNvPr id="18" name="TextBox 17"/>
          <p:cNvSpPr txBox="1"/>
          <p:nvPr/>
        </p:nvSpPr>
        <p:spPr>
          <a:xfrm>
            <a:off x="8183879" y="3291840"/>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do we use arrays and other collections?</a:t>
            </a:r>
          </a:p>
        </p:txBody>
      </p:sp>
      <p:sp>
        <p:nvSpPr>
          <p:cNvPr id="19" name="Rounded Rectangle 18"/>
          <p:cNvSpPr/>
          <p:nvPr/>
        </p:nvSpPr>
        <p:spPr>
          <a:xfrm>
            <a:off x="6172200" y="3831335"/>
            <a:ext cx="1874519" cy="457200"/>
          </a:xfrm>
          <a:prstGeom prst="roundRect">
            <a:avLst>
              <a:gd name="adj" fmla="val 14000"/>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HOW</a:t>
            </a:r>
          </a:p>
        </p:txBody>
      </p:sp>
      <p:sp>
        <p:nvSpPr>
          <p:cNvPr id="20" name="TextBox 19"/>
          <p:cNvSpPr txBox="1"/>
          <p:nvPr/>
        </p:nvSpPr>
        <p:spPr>
          <a:xfrm>
            <a:off x="8183879" y="3831335"/>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do we build one multi-metric report?</a:t>
            </a:r>
          </a:p>
        </p:txBody>
      </p:sp>
      <p:sp>
        <p:nvSpPr>
          <p:cNvPr id="21" name="Rounded Rectangle 20"/>
          <p:cNvSpPr/>
          <p:nvPr/>
        </p:nvSpPr>
        <p:spPr>
          <a:xfrm>
            <a:off x="6172200" y="4370831"/>
            <a:ext cx="1874519" cy="457200"/>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WHY</a:t>
            </a:r>
          </a:p>
        </p:txBody>
      </p:sp>
      <p:sp>
        <p:nvSpPr>
          <p:cNvPr id="22" name="TextBox 21"/>
          <p:cNvSpPr txBox="1"/>
          <p:nvPr/>
        </p:nvSpPr>
        <p:spPr>
          <a:xfrm>
            <a:off x="8183879" y="4370831"/>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does stage order matter?</a:t>
            </a:r>
          </a:p>
        </p:txBody>
      </p:sp>
      <p:sp>
        <p:nvSpPr>
          <p:cNvPr id="23" name="Oval 22"/>
          <p:cNvSpPr/>
          <p:nvPr/>
        </p:nvSpPr>
        <p:spPr>
          <a:xfrm>
            <a:off x="457200" y="4590288"/>
            <a:ext cx="310896" cy="310896"/>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59028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25" name="TextBox 24"/>
          <p:cNvSpPr txBox="1"/>
          <p:nvPr/>
        </p:nvSpPr>
        <p:spPr>
          <a:xfrm>
            <a:off x="841248" y="4581144"/>
            <a:ext cx="10863072" cy="347472"/>
          </a:xfrm>
          <a:prstGeom prst="rect">
            <a:avLst/>
          </a:prstGeom>
          <a:noFill/>
        </p:spPr>
        <p:txBody>
          <a:bodyPr wrap="square" anchor="ctr" lIns="0" rIns="0" tIns="0" bIns="0">
            <a:spAutoFit/>
          </a:bodyPr>
          <a:lstStyle/>
          <a:p>
            <a:pPr algn="l"/>
            <a:r>
              <a:rPr sz="1400" b="1" i="0">
                <a:solidFill>
                  <a:srgbClr val="D1282E"/>
                </a:solidFill>
                <a:latin typeface="Nirmala UI"/>
              </a:rPr>
              <a:t>MODULE ROADMAP</a:t>
            </a:r>
          </a:p>
        </p:txBody>
      </p:sp>
      <p:sp>
        <p:nvSpPr>
          <p:cNvPr id="26" name="Pentagon 25"/>
          <p:cNvSpPr/>
          <p:nvPr/>
        </p:nvSpPr>
        <p:spPr>
          <a:xfrm>
            <a:off x="457200" y="5029200"/>
            <a:ext cx="1763485" cy="731520"/>
          </a:xfrm>
          <a:prstGeom prst="homePlate">
            <a:avLst>
              <a:gd name="adj" fmla="val 30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7" name="TextBox 26"/>
          <p:cNvSpPr txBox="1"/>
          <p:nvPr/>
        </p:nvSpPr>
        <p:spPr>
          <a:xfrm>
            <a:off x="548640" y="5029200"/>
            <a:ext cx="1498309" cy="731520"/>
          </a:xfrm>
          <a:prstGeom prst="rect">
            <a:avLst/>
          </a:prstGeom>
          <a:noFill/>
        </p:spPr>
        <p:txBody>
          <a:bodyPr wrap="square" anchor="ctr" lIns="0" rIns="0" tIns="0" bIns="0">
            <a:spAutoFit/>
          </a:bodyPr>
          <a:lstStyle/>
          <a:p>
            <a:pPr algn="ctr"/>
            <a:r>
              <a:rPr sz="1300" b="1" i="0">
                <a:solidFill>
                  <a:srgbClr val="FFFFFF"/>
                </a:solidFill>
                <a:latin typeface="Nirmala UI"/>
              </a:rPr>
              <a:t>Pipelines</a:t>
            </a:r>
          </a:p>
        </p:txBody>
      </p:sp>
      <p:sp>
        <p:nvSpPr>
          <p:cNvPr id="28" name="Chevron 27"/>
          <p:cNvSpPr/>
          <p:nvPr/>
        </p:nvSpPr>
        <p:spPr>
          <a:xfrm>
            <a:off x="2037805" y="5029200"/>
            <a:ext cx="1763485" cy="731520"/>
          </a:xfrm>
          <a:prstGeom prst="chevron">
            <a:avLst>
              <a:gd name="adj" fmla="val 30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TextBox 28"/>
          <p:cNvSpPr txBox="1"/>
          <p:nvPr/>
        </p:nvSpPr>
        <p:spPr>
          <a:xfrm>
            <a:off x="2257261"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Filter</a:t>
            </a:r>
          </a:p>
        </p:txBody>
      </p:sp>
      <p:sp>
        <p:nvSpPr>
          <p:cNvPr id="30" name="Chevron 29"/>
          <p:cNvSpPr/>
          <p:nvPr/>
        </p:nvSpPr>
        <p:spPr>
          <a:xfrm>
            <a:off x="3618411" y="5029200"/>
            <a:ext cx="1763485" cy="731520"/>
          </a:xfrm>
          <a:prstGeom prst="chevron">
            <a:avLst>
              <a:gd name="adj" fmla="val 30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1" name="TextBox 30"/>
          <p:cNvSpPr txBox="1"/>
          <p:nvPr/>
        </p:nvSpPr>
        <p:spPr>
          <a:xfrm>
            <a:off x="3837867"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Shape</a:t>
            </a:r>
          </a:p>
        </p:txBody>
      </p:sp>
      <p:sp>
        <p:nvSpPr>
          <p:cNvPr id="32" name="Chevron 31"/>
          <p:cNvSpPr/>
          <p:nvPr/>
        </p:nvSpPr>
        <p:spPr>
          <a:xfrm>
            <a:off x="5199017" y="5029200"/>
            <a:ext cx="1763485" cy="731520"/>
          </a:xfrm>
          <a:prstGeom prst="chevron">
            <a:avLst>
              <a:gd name="adj" fmla="val 30000"/>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3" name="TextBox 32"/>
          <p:cNvSpPr txBox="1"/>
          <p:nvPr/>
        </p:nvSpPr>
        <p:spPr>
          <a:xfrm>
            <a:off x="5418473"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Group</a:t>
            </a:r>
          </a:p>
        </p:txBody>
      </p:sp>
      <p:sp>
        <p:nvSpPr>
          <p:cNvPr id="34" name="Chevron 33"/>
          <p:cNvSpPr/>
          <p:nvPr/>
        </p:nvSpPr>
        <p:spPr>
          <a:xfrm>
            <a:off x="6779622" y="5029200"/>
            <a:ext cx="1763485" cy="731520"/>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5" name="TextBox 34"/>
          <p:cNvSpPr txBox="1"/>
          <p:nvPr/>
        </p:nvSpPr>
        <p:spPr>
          <a:xfrm>
            <a:off x="6999078"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Arrays + joins</a:t>
            </a:r>
          </a:p>
        </p:txBody>
      </p:sp>
      <p:sp>
        <p:nvSpPr>
          <p:cNvPr id="36" name="Chevron 35"/>
          <p:cNvSpPr/>
          <p:nvPr/>
        </p:nvSpPr>
        <p:spPr>
          <a:xfrm>
            <a:off x="8360228" y="5029200"/>
            <a:ext cx="1763485" cy="731520"/>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7" name="TextBox 36"/>
          <p:cNvSpPr txBox="1"/>
          <p:nvPr/>
        </p:nvSpPr>
        <p:spPr>
          <a:xfrm>
            <a:off x="8579684"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Reports</a:t>
            </a:r>
          </a:p>
        </p:txBody>
      </p:sp>
      <p:sp>
        <p:nvSpPr>
          <p:cNvPr id="38" name="Chevron 37"/>
          <p:cNvSpPr/>
          <p:nvPr/>
        </p:nvSpPr>
        <p:spPr>
          <a:xfrm>
            <a:off x="9940834" y="5029200"/>
            <a:ext cx="1763485" cy="731520"/>
          </a:xfrm>
          <a:prstGeom prst="chevron">
            <a:avLst>
              <a:gd name="adj" fmla="val 30000"/>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9" name="TextBox 38"/>
          <p:cNvSpPr txBox="1"/>
          <p:nvPr/>
        </p:nvSpPr>
        <p:spPr>
          <a:xfrm>
            <a:off x="10160290"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Performance</a:t>
            </a:r>
          </a:p>
        </p:txBody>
      </p:sp>
      <p:sp>
        <p:nvSpPr>
          <p:cNvPr id="40" name="Rounded Rectangle 39"/>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pipeline answers questions no single stored document can — one stage at a time.</a:t>
            </a:r>
          </a:p>
        </p:txBody>
      </p:sp>
      <p:sp>
        <p:nvSpPr>
          <p:cNvPr id="42" name="Rectangle 4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KEY TERMS FOR THIS MODULE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Plain definitions for the words we'll use most.</a:t>
            </a:r>
          </a:p>
        </p:txBody>
      </p:sp>
      <p:sp>
        <p:nvSpPr>
          <p:cNvPr id="4" name="Rounded Rectangle 3"/>
          <p:cNvSpPr/>
          <p:nvPr/>
        </p:nvSpPr>
        <p:spPr>
          <a:xfrm>
            <a:off x="457200" y="1298448"/>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Oval 4"/>
          <p:cNvSpPr/>
          <p:nvPr/>
        </p:nvSpPr>
        <p:spPr>
          <a:xfrm>
            <a:off x="603504" y="1408176"/>
            <a:ext cx="365760" cy="36576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1</a:t>
            </a:r>
          </a:p>
        </p:txBody>
      </p:sp>
      <p:sp>
        <p:nvSpPr>
          <p:cNvPr id="6" name="TextBox 5"/>
          <p:cNvSpPr txBox="1"/>
          <p:nvPr/>
        </p:nvSpPr>
        <p:spPr>
          <a:xfrm>
            <a:off x="1097280" y="1371600"/>
            <a:ext cx="4709160" cy="420624"/>
          </a:xfrm>
          <a:prstGeom prst="rect">
            <a:avLst/>
          </a:prstGeom>
          <a:noFill/>
        </p:spPr>
        <p:txBody>
          <a:bodyPr wrap="square" anchor="ctr" lIns="0" rIns="0" tIns="0" bIns="0">
            <a:spAutoFit/>
          </a:bodyPr>
          <a:lstStyle/>
          <a:p>
            <a:pPr algn="l"/>
            <a:r>
              <a:rPr sz="1500" b="1" i="0">
                <a:solidFill>
                  <a:srgbClr val="002060"/>
                </a:solidFill>
                <a:latin typeface="Nirmala UI"/>
              </a:rPr>
              <a:t>Aggregation pipeline</a:t>
            </a:r>
          </a:p>
        </p:txBody>
      </p:sp>
      <p:sp>
        <p:nvSpPr>
          <p:cNvPr id="7" name="TextBox 6"/>
          <p:cNvSpPr txBox="1"/>
          <p:nvPr/>
        </p:nvSpPr>
        <p:spPr>
          <a:xfrm>
            <a:off x="1097280" y="1773936"/>
            <a:ext cx="4709160" cy="493776"/>
          </a:xfrm>
          <a:prstGeom prst="rect">
            <a:avLst/>
          </a:prstGeom>
          <a:noFill/>
        </p:spPr>
        <p:txBody>
          <a:bodyPr wrap="square" anchor="t" lIns="0" rIns="0" tIns="0" bIns="0">
            <a:spAutoFit/>
          </a:bodyPr>
          <a:lstStyle/>
          <a:p>
            <a:pPr algn="l"/>
            <a:r>
              <a:rPr sz="1300" b="0" i="0">
                <a:solidFill>
                  <a:srgbClr val="000000"/>
                </a:solidFill>
                <a:latin typeface="Nirmala UI"/>
              </a:rPr>
              <a:t>An ordered array of stages that db.collection.aggregate() runs on a stream of documents.</a:t>
            </a:r>
          </a:p>
        </p:txBody>
      </p:sp>
      <p:sp>
        <p:nvSpPr>
          <p:cNvPr id="8" name="Rounded Rectangle 7"/>
          <p:cNvSpPr/>
          <p:nvPr/>
        </p:nvSpPr>
        <p:spPr>
          <a:xfrm>
            <a:off x="6217920" y="1298448"/>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Oval 8"/>
          <p:cNvSpPr/>
          <p:nvPr/>
        </p:nvSpPr>
        <p:spPr>
          <a:xfrm>
            <a:off x="6364224" y="1408176"/>
            <a:ext cx="365760" cy="365760"/>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2</a:t>
            </a:r>
          </a:p>
        </p:txBody>
      </p:sp>
      <p:sp>
        <p:nvSpPr>
          <p:cNvPr id="10" name="TextBox 9"/>
          <p:cNvSpPr txBox="1"/>
          <p:nvPr/>
        </p:nvSpPr>
        <p:spPr>
          <a:xfrm>
            <a:off x="6858000" y="1371600"/>
            <a:ext cx="4709160" cy="420624"/>
          </a:xfrm>
          <a:prstGeom prst="rect">
            <a:avLst/>
          </a:prstGeom>
          <a:noFill/>
        </p:spPr>
        <p:txBody>
          <a:bodyPr wrap="square" anchor="ctr" lIns="0" rIns="0" tIns="0" bIns="0">
            <a:spAutoFit/>
          </a:bodyPr>
          <a:lstStyle/>
          <a:p>
            <a:pPr algn="l"/>
            <a:r>
              <a:rPr sz="1500" b="1" i="0">
                <a:solidFill>
                  <a:srgbClr val="5B3A9E"/>
                </a:solidFill>
                <a:latin typeface="Nirmala UI"/>
              </a:rPr>
              <a:t>Stage</a:t>
            </a:r>
          </a:p>
        </p:txBody>
      </p:sp>
      <p:sp>
        <p:nvSpPr>
          <p:cNvPr id="11" name="TextBox 10"/>
          <p:cNvSpPr txBox="1"/>
          <p:nvPr/>
        </p:nvSpPr>
        <p:spPr>
          <a:xfrm>
            <a:off x="6858000" y="1773936"/>
            <a:ext cx="4709160" cy="493776"/>
          </a:xfrm>
          <a:prstGeom prst="rect">
            <a:avLst/>
          </a:prstGeom>
          <a:noFill/>
        </p:spPr>
        <p:txBody>
          <a:bodyPr wrap="square" anchor="t" lIns="0" rIns="0" tIns="0" bIns="0">
            <a:spAutoFit/>
          </a:bodyPr>
          <a:lstStyle/>
          <a:p>
            <a:pPr algn="l"/>
            <a:r>
              <a:rPr sz="1300" b="0" i="0">
                <a:solidFill>
                  <a:srgbClr val="000000"/>
                </a:solidFill>
                <a:latin typeface="Nirmala UI"/>
              </a:rPr>
              <a:t>One step such as $match, $group or $sort: it takes documents in and passes new documents on.</a:t>
            </a:r>
          </a:p>
        </p:txBody>
      </p:sp>
      <p:sp>
        <p:nvSpPr>
          <p:cNvPr id="12" name="Rounded Rectangle 11"/>
          <p:cNvSpPr/>
          <p:nvPr/>
        </p:nvSpPr>
        <p:spPr>
          <a:xfrm>
            <a:off x="457200" y="2468880"/>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Oval 12"/>
          <p:cNvSpPr/>
          <p:nvPr/>
        </p:nvSpPr>
        <p:spPr>
          <a:xfrm>
            <a:off x="603504" y="2578608"/>
            <a:ext cx="365760" cy="365760"/>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3</a:t>
            </a:r>
          </a:p>
        </p:txBody>
      </p:sp>
      <p:sp>
        <p:nvSpPr>
          <p:cNvPr id="14" name="TextBox 13"/>
          <p:cNvSpPr txBox="1"/>
          <p:nvPr/>
        </p:nvSpPr>
        <p:spPr>
          <a:xfrm>
            <a:off x="1097280" y="2542032"/>
            <a:ext cx="4709160" cy="420624"/>
          </a:xfrm>
          <a:prstGeom prst="rect">
            <a:avLst/>
          </a:prstGeom>
          <a:noFill/>
        </p:spPr>
        <p:txBody>
          <a:bodyPr wrap="square" anchor="ctr" lIns="0" rIns="0" tIns="0" bIns="0">
            <a:spAutoFit/>
          </a:bodyPr>
          <a:lstStyle/>
          <a:p>
            <a:pPr algn="l"/>
            <a:r>
              <a:rPr sz="1500" b="1" i="0">
                <a:solidFill>
                  <a:srgbClr val="0E7C7B"/>
                </a:solidFill>
                <a:latin typeface="Nirmala UI"/>
              </a:rPr>
              <a:t>Field path</a:t>
            </a:r>
          </a:p>
        </p:txBody>
      </p:sp>
      <p:sp>
        <p:nvSpPr>
          <p:cNvPr id="15" name="TextBox 14"/>
          <p:cNvSpPr txBox="1"/>
          <p:nvPr/>
        </p:nvSpPr>
        <p:spPr>
          <a:xfrm>
            <a:off x="1097280" y="2944368"/>
            <a:ext cx="4709160" cy="493776"/>
          </a:xfrm>
          <a:prstGeom prst="rect">
            <a:avLst/>
          </a:prstGeom>
          <a:noFill/>
        </p:spPr>
        <p:txBody>
          <a:bodyPr wrap="square" anchor="t" lIns="0" rIns="0" tIns="0" bIns="0">
            <a:spAutoFit/>
          </a:bodyPr>
          <a:lstStyle/>
          <a:p>
            <a:pPr algn="l"/>
            <a:r>
              <a:rPr sz="1300" b="0" i="0">
                <a:solidFill>
                  <a:srgbClr val="000000"/>
                </a:solidFill>
                <a:latin typeface="Nirmala UI"/>
              </a:rPr>
              <a:t>"$total" or "$items.quantity": the $ tells MongoDB to read a field's value, not the text.</a:t>
            </a:r>
          </a:p>
        </p:txBody>
      </p:sp>
      <p:sp>
        <p:nvSpPr>
          <p:cNvPr id="16" name="Rounded Rectangle 15"/>
          <p:cNvSpPr/>
          <p:nvPr/>
        </p:nvSpPr>
        <p:spPr>
          <a:xfrm>
            <a:off x="6217920" y="2468880"/>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Oval 16"/>
          <p:cNvSpPr/>
          <p:nvPr/>
        </p:nvSpPr>
        <p:spPr>
          <a:xfrm>
            <a:off x="6364224" y="2578608"/>
            <a:ext cx="365760" cy="365760"/>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4</a:t>
            </a:r>
          </a:p>
        </p:txBody>
      </p:sp>
      <p:sp>
        <p:nvSpPr>
          <p:cNvPr id="18" name="TextBox 17"/>
          <p:cNvSpPr txBox="1"/>
          <p:nvPr/>
        </p:nvSpPr>
        <p:spPr>
          <a:xfrm>
            <a:off x="6858000" y="2542032"/>
            <a:ext cx="4709160" cy="420624"/>
          </a:xfrm>
          <a:prstGeom prst="rect">
            <a:avLst/>
          </a:prstGeom>
          <a:noFill/>
        </p:spPr>
        <p:txBody>
          <a:bodyPr wrap="square" anchor="ctr" lIns="0" rIns="0" tIns="0" bIns="0">
            <a:spAutoFit/>
          </a:bodyPr>
          <a:lstStyle/>
          <a:p>
            <a:pPr algn="l"/>
            <a:r>
              <a:rPr sz="1500" b="1" i="0">
                <a:solidFill>
                  <a:srgbClr val="2E7D32"/>
                </a:solidFill>
                <a:latin typeface="Nirmala UI"/>
              </a:rPr>
              <a:t>Expression</a:t>
            </a:r>
          </a:p>
        </p:txBody>
      </p:sp>
      <p:sp>
        <p:nvSpPr>
          <p:cNvPr id="19" name="TextBox 18"/>
          <p:cNvSpPr txBox="1"/>
          <p:nvPr/>
        </p:nvSpPr>
        <p:spPr>
          <a:xfrm>
            <a:off x="6858000" y="2944368"/>
            <a:ext cx="4709160" cy="493776"/>
          </a:xfrm>
          <a:prstGeom prst="rect">
            <a:avLst/>
          </a:prstGeom>
          <a:noFill/>
        </p:spPr>
        <p:txBody>
          <a:bodyPr wrap="square" anchor="t" lIns="0" rIns="0" tIns="0" bIns="0">
            <a:spAutoFit/>
          </a:bodyPr>
          <a:lstStyle/>
          <a:p>
            <a:pPr algn="l"/>
            <a:r>
              <a:rPr sz="1300" b="0" i="0">
                <a:solidFill>
                  <a:srgbClr val="000000"/>
                </a:solidFill>
                <a:latin typeface="Nirmala UI"/>
              </a:rPr>
              <a:t>A calculation evaluated per document, such as $multiply, $concat or $cond.</a:t>
            </a:r>
          </a:p>
        </p:txBody>
      </p:sp>
      <p:sp>
        <p:nvSpPr>
          <p:cNvPr id="20" name="Rounded Rectangle 19"/>
          <p:cNvSpPr/>
          <p:nvPr/>
        </p:nvSpPr>
        <p:spPr>
          <a:xfrm>
            <a:off x="457200" y="3639312"/>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1" name="Oval 20"/>
          <p:cNvSpPr/>
          <p:nvPr/>
        </p:nvSpPr>
        <p:spPr>
          <a:xfrm>
            <a:off x="603504" y="3749040"/>
            <a:ext cx="365760" cy="365760"/>
          </a:xfrm>
          <a:prstGeom prst="ellipse">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5</a:t>
            </a:r>
          </a:p>
        </p:txBody>
      </p:sp>
      <p:sp>
        <p:nvSpPr>
          <p:cNvPr id="22" name="TextBox 21"/>
          <p:cNvSpPr txBox="1"/>
          <p:nvPr/>
        </p:nvSpPr>
        <p:spPr>
          <a:xfrm>
            <a:off x="1097280" y="3712464"/>
            <a:ext cx="4709160" cy="420624"/>
          </a:xfrm>
          <a:prstGeom prst="rect">
            <a:avLst/>
          </a:prstGeom>
          <a:noFill/>
        </p:spPr>
        <p:txBody>
          <a:bodyPr wrap="square" anchor="ctr" lIns="0" rIns="0" tIns="0" bIns="0">
            <a:spAutoFit/>
          </a:bodyPr>
          <a:lstStyle/>
          <a:p>
            <a:pPr algn="l"/>
            <a:r>
              <a:rPr sz="1500" b="1" i="0">
                <a:solidFill>
                  <a:srgbClr val="C9690C"/>
                </a:solidFill>
                <a:latin typeface="Nirmala UI"/>
              </a:rPr>
              <a:t>Grouping key</a:t>
            </a:r>
          </a:p>
        </p:txBody>
      </p:sp>
      <p:sp>
        <p:nvSpPr>
          <p:cNvPr id="23" name="TextBox 22"/>
          <p:cNvSpPr txBox="1"/>
          <p:nvPr/>
        </p:nvSpPr>
        <p:spPr>
          <a:xfrm>
            <a:off x="1097280" y="4114800"/>
            <a:ext cx="4709160" cy="493776"/>
          </a:xfrm>
          <a:prstGeom prst="rect">
            <a:avLst/>
          </a:prstGeom>
          <a:noFill/>
        </p:spPr>
        <p:txBody>
          <a:bodyPr wrap="square" anchor="t" lIns="0" rIns="0" tIns="0" bIns="0">
            <a:spAutoFit/>
          </a:bodyPr>
          <a:lstStyle/>
          <a:p>
            <a:pPr algn="l"/>
            <a:r>
              <a:rPr sz="1300" b="0" i="0">
                <a:solidFill>
                  <a:srgbClr val="000000"/>
                </a:solidFill>
                <a:latin typeface="Nirmala UI"/>
              </a:rPr>
              <a:t>The _id of $group: every distinct value becomes one output document.</a:t>
            </a:r>
          </a:p>
        </p:txBody>
      </p:sp>
      <p:sp>
        <p:nvSpPr>
          <p:cNvPr id="24" name="Rounded Rectangle 23"/>
          <p:cNvSpPr/>
          <p:nvPr/>
        </p:nvSpPr>
        <p:spPr>
          <a:xfrm>
            <a:off x="6217920" y="3639312"/>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Oval 24"/>
          <p:cNvSpPr/>
          <p:nvPr/>
        </p:nvSpPr>
        <p:spPr>
          <a:xfrm>
            <a:off x="6364224" y="3749040"/>
            <a:ext cx="365760" cy="365760"/>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6</a:t>
            </a:r>
          </a:p>
        </p:txBody>
      </p:sp>
      <p:sp>
        <p:nvSpPr>
          <p:cNvPr id="26" name="TextBox 25"/>
          <p:cNvSpPr txBox="1"/>
          <p:nvPr/>
        </p:nvSpPr>
        <p:spPr>
          <a:xfrm>
            <a:off x="6858000" y="3712464"/>
            <a:ext cx="4709160" cy="420624"/>
          </a:xfrm>
          <a:prstGeom prst="rect">
            <a:avLst/>
          </a:prstGeom>
          <a:noFill/>
        </p:spPr>
        <p:txBody>
          <a:bodyPr wrap="square" anchor="ctr" lIns="0" rIns="0" tIns="0" bIns="0">
            <a:spAutoFit/>
          </a:bodyPr>
          <a:lstStyle/>
          <a:p>
            <a:pPr algn="l"/>
            <a:r>
              <a:rPr sz="1500" b="1" i="0">
                <a:solidFill>
                  <a:srgbClr val="D1282E"/>
                </a:solidFill>
                <a:latin typeface="Nirmala UI"/>
              </a:rPr>
              <a:t>Accumulator</a:t>
            </a:r>
          </a:p>
        </p:txBody>
      </p:sp>
      <p:sp>
        <p:nvSpPr>
          <p:cNvPr id="27" name="TextBox 26"/>
          <p:cNvSpPr txBox="1"/>
          <p:nvPr/>
        </p:nvSpPr>
        <p:spPr>
          <a:xfrm>
            <a:off x="6858000" y="4114800"/>
            <a:ext cx="4709160" cy="493776"/>
          </a:xfrm>
          <a:prstGeom prst="rect">
            <a:avLst/>
          </a:prstGeom>
          <a:noFill/>
        </p:spPr>
        <p:txBody>
          <a:bodyPr wrap="square" anchor="t" lIns="0" rIns="0" tIns="0" bIns="0">
            <a:spAutoFit/>
          </a:bodyPr>
          <a:lstStyle/>
          <a:p>
            <a:pPr algn="l"/>
            <a:r>
              <a:rPr sz="1300" b="0" i="0">
                <a:solidFill>
                  <a:srgbClr val="000000"/>
                </a:solidFill>
                <a:latin typeface="Nirmala UI"/>
              </a:rPr>
              <a:t>An operator that combines values across a group: $sum, $avg, $min, $max, $push.</a:t>
            </a:r>
          </a:p>
        </p:txBody>
      </p:sp>
      <p:sp>
        <p:nvSpPr>
          <p:cNvPr id="28" name="Rounded Rectangle 27"/>
          <p:cNvSpPr/>
          <p:nvPr/>
        </p:nvSpPr>
        <p:spPr>
          <a:xfrm>
            <a:off x="457200" y="4809744"/>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Oval 28"/>
          <p:cNvSpPr/>
          <p:nvPr/>
        </p:nvSpPr>
        <p:spPr>
          <a:xfrm>
            <a:off x="603504" y="4919472"/>
            <a:ext cx="365760" cy="36576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7</a:t>
            </a:r>
          </a:p>
        </p:txBody>
      </p:sp>
      <p:sp>
        <p:nvSpPr>
          <p:cNvPr id="30" name="TextBox 29"/>
          <p:cNvSpPr txBox="1"/>
          <p:nvPr/>
        </p:nvSpPr>
        <p:spPr>
          <a:xfrm>
            <a:off x="1097280" y="4882896"/>
            <a:ext cx="4709160" cy="420624"/>
          </a:xfrm>
          <a:prstGeom prst="rect">
            <a:avLst/>
          </a:prstGeom>
          <a:noFill/>
        </p:spPr>
        <p:txBody>
          <a:bodyPr wrap="square" anchor="ctr" lIns="0" rIns="0" tIns="0" bIns="0">
            <a:spAutoFit/>
          </a:bodyPr>
          <a:lstStyle/>
          <a:p>
            <a:pPr algn="l"/>
            <a:r>
              <a:rPr sz="1500" b="1" i="0">
                <a:solidFill>
                  <a:srgbClr val="002060"/>
                </a:solidFill>
                <a:latin typeface="Nirmala UI"/>
              </a:rPr>
              <a:t>$unwind</a:t>
            </a:r>
          </a:p>
        </p:txBody>
      </p:sp>
      <p:sp>
        <p:nvSpPr>
          <p:cNvPr id="31" name="TextBox 30"/>
          <p:cNvSpPr txBox="1"/>
          <p:nvPr/>
        </p:nvSpPr>
        <p:spPr>
          <a:xfrm>
            <a:off x="1097280" y="5285231"/>
            <a:ext cx="4709160" cy="493776"/>
          </a:xfrm>
          <a:prstGeom prst="rect">
            <a:avLst/>
          </a:prstGeom>
          <a:noFill/>
        </p:spPr>
        <p:txBody>
          <a:bodyPr wrap="square" anchor="t" lIns="0" rIns="0" tIns="0" bIns="0">
            <a:spAutoFit/>
          </a:bodyPr>
          <a:lstStyle/>
          <a:p>
            <a:pPr algn="l"/>
            <a:r>
              <a:rPr sz="1300" b="0" i="0">
                <a:solidFill>
                  <a:srgbClr val="000000"/>
                </a:solidFill>
                <a:latin typeface="Nirmala UI"/>
              </a:rPr>
              <a:t>Turns one document with an array into one document per array element.</a:t>
            </a:r>
          </a:p>
        </p:txBody>
      </p:sp>
      <p:sp>
        <p:nvSpPr>
          <p:cNvPr id="32" name="Rounded Rectangle 31"/>
          <p:cNvSpPr/>
          <p:nvPr/>
        </p:nvSpPr>
        <p:spPr>
          <a:xfrm>
            <a:off x="6217920" y="4809744"/>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3" name="Oval 32"/>
          <p:cNvSpPr/>
          <p:nvPr/>
        </p:nvSpPr>
        <p:spPr>
          <a:xfrm>
            <a:off x="6364224" y="4919472"/>
            <a:ext cx="365760" cy="365760"/>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8</a:t>
            </a:r>
          </a:p>
        </p:txBody>
      </p:sp>
      <p:sp>
        <p:nvSpPr>
          <p:cNvPr id="34" name="TextBox 33"/>
          <p:cNvSpPr txBox="1"/>
          <p:nvPr/>
        </p:nvSpPr>
        <p:spPr>
          <a:xfrm>
            <a:off x="6858000" y="4882896"/>
            <a:ext cx="4709160" cy="420624"/>
          </a:xfrm>
          <a:prstGeom prst="rect">
            <a:avLst/>
          </a:prstGeom>
          <a:noFill/>
        </p:spPr>
        <p:txBody>
          <a:bodyPr wrap="square" anchor="ctr" lIns="0" rIns="0" tIns="0" bIns="0">
            <a:spAutoFit/>
          </a:bodyPr>
          <a:lstStyle/>
          <a:p>
            <a:pPr algn="l"/>
            <a:r>
              <a:rPr sz="1500" b="1" i="0">
                <a:solidFill>
                  <a:srgbClr val="5B3A9E"/>
                </a:solidFill>
                <a:latin typeface="Nirmala UI"/>
              </a:rPr>
              <a:t>$lookup</a:t>
            </a:r>
          </a:p>
        </p:txBody>
      </p:sp>
      <p:sp>
        <p:nvSpPr>
          <p:cNvPr id="35" name="TextBox 34"/>
          <p:cNvSpPr txBox="1"/>
          <p:nvPr/>
        </p:nvSpPr>
        <p:spPr>
          <a:xfrm>
            <a:off x="6858000" y="5285231"/>
            <a:ext cx="4709160" cy="493776"/>
          </a:xfrm>
          <a:prstGeom prst="rect">
            <a:avLst/>
          </a:prstGeom>
          <a:noFill/>
        </p:spPr>
        <p:txBody>
          <a:bodyPr wrap="square" anchor="t" lIns="0" rIns="0" tIns="0" bIns="0">
            <a:spAutoFit/>
          </a:bodyPr>
          <a:lstStyle/>
          <a:p>
            <a:pPr algn="l"/>
            <a:r>
              <a:rPr sz="1300" b="0" i="0">
                <a:solidFill>
                  <a:srgbClr val="000000"/>
                </a:solidFill>
                <a:latin typeface="Nirmala UI"/>
              </a:rPr>
              <a:t>A left outer join to another collection; the matches arrive as an array.</a:t>
            </a:r>
          </a:p>
        </p:txBody>
      </p:sp>
      <p:sp>
        <p:nvSpPr>
          <p:cNvPr id="36" name="Rounded Rectangle 3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Agree on the words first — every later slide builds on them.</a:t>
            </a:r>
          </a:p>
        </p:txBody>
      </p:sp>
      <p:sp>
        <p:nvSpPr>
          <p:cNvPr id="38" name="Rectangle 3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FULL FORMS USED IN THIS MODULE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Every abbreviation on these slides, spelled out.</a:t>
            </a:r>
          </a:p>
        </p:txBody>
      </p:sp>
      <p:sp>
        <p:nvSpPr>
          <p:cNvPr id="4" name="Rounded Rectangle 3"/>
          <p:cNvSpPr/>
          <p:nvPr/>
        </p:nvSpPr>
        <p:spPr>
          <a:xfrm>
            <a:off x="457200" y="1344168"/>
            <a:ext cx="1005840" cy="475488"/>
          </a:xfrm>
          <a:prstGeom prst="roundRect">
            <a:avLst>
              <a:gd name="adj" fmla="val 10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02060"/>
                </a:solidFill>
                <a:latin typeface="Nirmala UI"/>
              </a:rPr>
              <a:t>API</a:t>
            </a:r>
          </a:p>
        </p:txBody>
      </p:sp>
      <p:sp>
        <p:nvSpPr>
          <p:cNvPr id="5" name="TextBox 4"/>
          <p:cNvSpPr txBox="1"/>
          <p:nvPr/>
        </p:nvSpPr>
        <p:spPr>
          <a:xfrm>
            <a:off x="1572768" y="1298448"/>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Application Programming Interface</a:t>
            </a:r>
          </a:p>
        </p:txBody>
      </p:sp>
      <p:sp>
        <p:nvSpPr>
          <p:cNvPr id="6" name="Rounded Rectangle 5"/>
          <p:cNvSpPr/>
          <p:nvPr/>
        </p:nvSpPr>
        <p:spPr>
          <a:xfrm>
            <a:off x="457200" y="1911095"/>
            <a:ext cx="1005840" cy="475488"/>
          </a:xfrm>
          <a:prstGeom prst="roundRect">
            <a:avLst>
              <a:gd name="adj" fmla="val 10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02060"/>
                </a:solidFill>
                <a:latin typeface="Nirmala UI"/>
              </a:rPr>
              <a:t>BSON</a:t>
            </a:r>
          </a:p>
        </p:txBody>
      </p:sp>
      <p:sp>
        <p:nvSpPr>
          <p:cNvPr id="7" name="TextBox 6"/>
          <p:cNvSpPr txBox="1"/>
          <p:nvPr/>
        </p:nvSpPr>
        <p:spPr>
          <a:xfrm>
            <a:off x="1572768" y="1865376"/>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Binary JSON</a:t>
            </a:r>
          </a:p>
        </p:txBody>
      </p:sp>
      <p:sp>
        <p:nvSpPr>
          <p:cNvPr id="8" name="Rounded Rectangle 7"/>
          <p:cNvSpPr/>
          <p:nvPr/>
        </p:nvSpPr>
        <p:spPr>
          <a:xfrm>
            <a:off x="4282440" y="1344168"/>
            <a:ext cx="1005840" cy="475488"/>
          </a:xfrm>
          <a:prstGeom prst="roundRect">
            <a:avLst>
              <a:gd name="adj" fmla="val 10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5B3A9E"/>
                </a:solidFill>
                <a:latin typeface="Nirmala UI"/>
              </a:rPr>
              <a:t>CRUD</a:t>
            </a:r>
          </a:p>
        </p:txBody>
      </p:sp>
      <p:sp>
        <p:nvSpPr>
          <p:cNvPr id="9" name="TextBox 8"/>
          <p:cNvSpPr txBox="1"/>
          <p:nvPr/>
        </p:nvSpPr>
        <p:spPr>
          <a:xfrm>
            <a:off x="5398008" y="1298448"/>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Create, Read, Update, Delete</a:t>
            </a:r>
          </a:p>
        </p:txBody>
      </p:sp>
      <p:sp>
        <p:nvSpPr>
          <p:cNvPr id="10" name="Rounded Rectangle 9"/>
          <p:cNvSpPr/>
          <p:nvPr/>
        </p:nvSpPr>
        <p:spPr>
          <a:xfrm>
            <a:off x="4282440" y="1911095"/>
            <a:ext cx="1005840" cy="475488"/>
          </a:xfrm>
          <a:prstGeom prst="roundRect">
            <a:avLst>
              <a:gd name="adj" fmla="val 10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5B3A9E"/>
                </a:solidFill>
                <a:latin typeface="Nirmala UI"/>
              </a:rPr>
              <a:t>ID</a:t>
            </a:r>
          </a:p>
        </p:txBody>
      </p:sp>
      <p:sp>
        <p:nvSpPr>
          <p:cNvPr id="11" name="TextBox 10"/>
          <p:cNvSpPr txBox="1"/>
          <p:nvPr/>
        </p:nvSpPr>
        <p:spPr>
          <a:xfrm>
            <a:off x="5398008" y="1865376"/>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Identifier</a:t>
            </a:r>
          </a:p>
        </p:txBody>
      </p:sp>
      <p:sp>
        <p:nvSpPr>
          <p:cNvPr id="12" name="Rounded Rectangle 11"/>
          <p:cNvSpPr/>
          <p:nvPr/>
        </p:nvSpPr>
        <p:spPr>
          <a:xfrm>
            <a:off x="8107680" y="1344168"/>
            <a:ext cx="1005840" cy="475488"/>
          </a:xfrm>
          <a:prstGeom prst="roundRect">
            <a:avLst>
              <a:gd name="adj" fmla="val 1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E7C7B"/>
                </a:solidFill>
                <a:latin typeface="Nirmala UI"/>
              </a:rPr>
              <a:t>SKU</a:t>
            </a:r>
          </a:p>
        </p:txBody>
      </p:sp>
      <p:sp>
        <p:nvSpPr>
          <p:cNvPr id="13" name="TextBox 12"/>
          <p:cNvSpPr txBox="1"/>
          <p:nvPr/>
        </p:nvSpPr>
        <p:spPr>
          <a:xfrm>
            <a:off x="9223248" y="1298448"/>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Stock Keeping Unit</a:t>
            </a:r>
          </a:p>
        </p:txBody>
      </p:sp>
      <p:sp>
        <p:nvSpPr>
          <p:cNvPr id="14" name="Rounded Rectangle 13"/>
          <p:cNvSpPr/>
          <p:nvPr/>
        </p:nvSpPr>
        <p:spPr>
          <a:xfrm>
            <a:off x="8107680" y="1911095"/>
            <a:ext cx="1005840" cy="475488"/>
          </a:xfrm>
          <a:prstGeom prst="roundRect">
            <a:avLst>
              <a:gd name="adj" fmla="val 1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E7C7B"/>
                </a:solidFill>
                <a:latin typeface="Nirmala UI"/>
              </a:rPr>
              <a:t>UTC</a:t>
            </a:r>
          </a:p>
        </p:txBody>
      </p:sp>
      <p:sp>
        <p:nvSpPr>
          <p:cNvPr id="15" name="TextBox 14"/>
          <p:cNvSpPr txBox="1"/>
          <p:nvPr/>
        </p:nvSpPr>
        <p:spPr>
          <a:xfrm>
            <a:off x="9223248" y="1865376"/>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Coordinated Universal Time</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When an abbreviation isn't clear, the full form is on this slide.</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FROM MODULE 4 TO MODULE 5</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find() reads what is stored — aggregate() computes what isn't.</a:t>
            </a:r>
          </a:p>
        </p:txBody>
      </p:sp>
      <p:sp>
        <p:nvSpPr>
          <p:cNvPr id="4" name="Rounded Rectangle 3"/>
          <p:cNvSpPr/>
          <p:nvPr/>
        </p:nvSpPr>
        <p:spPr>
          <a:xfrm>
            <a:off x="457200" y="1298448"/>
            <a:ext cx="4663440" cy="453542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Round Same Side Corner Rectangle 4"/>
          <p:cNvSpPr/>
          <p:nvPr/>
        </p:nvSpPr>
        <p:spPr>
          <a:xfrm>
            <a:off x="457200" y="1298448"/>
            <a:ext cx="46634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6" name="TextBox 5"/>
          <p:cNvSpPr txBox="1"/>
          <p:nvPr/>
        </p:nvSpPr>
        <p:spPr>
          <a:xfrm>
            <a:off x="594360" y="1298448"/>
            <a:ext cx="4389120" cy="420624"/>
          </a:xfrm>
          <a:prstGeom prst="rect">
            <a:avLst/>
          </a:prstGeom>
          <a:noFill/>
        </p:spPr>
        <p:txBody>
          <a:bodyPr wrap="square" anchor="ctr" lIns="0" rIns="0" tIns="0" bIns="0">
            <a:spAutoFit/>
          </a:bodyPr>
          <a:lstStyle/>
          <a:p>
            <a:pPr algn="l"/>
            <a:r>
              <a:rPr sz="1400" b="1" i="0">
                <a:solidFill>
                  <a:srgbClr val="FFFFFF"/>
                </a:solidFill>
                <a:latin typeface="Nirmala UI"/>
              </a:rPr>
              <a:t>MODULE 4 GAVE US</a:t>
            </a:r>
          </a:p>
        </p:txBody>
      </p:sp>
      <p:sp>
        <p:nvSpPr>
          <p:cNvPr id="7" name="Oval 6"/>
          <p:cNvSpPr/>
          <p:nvPr/>
        </p:nvSpPr>
        <p:spPr>
          <a:xfrm>
            <a:off x="640080" y="196596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8" name="TextBox 7"/>
          <p:cNvSpPr txBox="1"/>
          <p:nvPr/>
        </p:nvSpPr>
        <p:spPr>
          <a:xfrm>
            <a:off x="1051560" y="1874519"/>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find() filters with query operators</a:t>
            </a:r>
          </a:p>
        </p:txBody>
      </p:sp>
      <p:sp>
        <p:nvSpPr>
          <p:cNvPr id="9" name="Oval 8"/>
          <p:cNvSpPr/>
          <p:nvPr/>
        </p:nvSpPr>
        <p:spPr>
          <a:xfrm>
            <a:off x="640080" y="25328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0" name="TextBox 9"/>
          <p:cNvSpPr txBox="1"/>
          <p:nvPr/>
        </p:nvSpPr>
        <p:spPr>
          <a:xfrm>
            <a:off x="1051560" y="2441448"/>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Projections pick the returned fields</a:t>
            </a:r>
          </a:p>
        </p:txBody>
      </p:sp>
      <p:sp>
        <p:nvSpPr>
          <p:cNvPr id="11" name="Oval 10"/>
          <p:cNvSpPr/>
          <p:nvPr/>
        </p:nvSpPr>
        <p:spPr>
          <a:xfrm>
            <a:off x="640080" y="3099816"/>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2" name="TextBox 11"/>
          <p:cNvSpPr txBox="1"/>
          <p:nvPr/>
        </p:nvSpPr>
        <p:spPr>
          <a:xfrm>
            <a:off x="1051560" y="3008376"/>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Dotted paths reach nested fields</a:t>
            </a:r>
          </a:p>
        </p:txBody>
      </p:sp>
      <p:sp>
        <p:nvSpPr>
          <p:cNvPr id="13" name="Oval 12"/>
          <p:cNvSpPr/>
          <p:nvPr/>
        </p:nvSpPr>
        <p:spPr>
          <a:xfrm>
            <a:off x="640080" y="3666744"/>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4" name="TextBox 13"/>
          <p:cNvSpPr txBox="1"/>
          <p:nvPr/>
        </p:nvSpPr>
        <p:spPr>
          <a:xfrm>
            <a:off x="1051560" y="3575303"/>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sort() and limit() rank results</a:t>
            </a:r>
          </a:p>
        </p:txBody>
      </p:sp>
      <p:sp>
        <p:nvSpPr>
          <p:cNvPr id="15" name="Oval 14"/>
          <p:cNvSpPr/>
          <p:nvPr/>
        </p:nvSpPr>
        <p:spPr>
          <a:xfrm>
            <a:off x="640080" y="4233671"/>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6" name="TextBox 15"/>
          <p:cNvSpPr txBox="1"/>
          <p:nvPr/>
        </p:nvSpPr>
        <p:spPr>
          <a:xfrm>
            <a:off x="1051560" y="4142231"/>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Updates change stored documents</a:t>
            </a:r>
          </a:p>
        </p:txBody>
      </p:sp>
      <p:sp>
        <p:nvSpPr>
          <p:cNvPr id="17" name="Rounded Rectangle 16"/>
          <p:cNvSpPr/>
          <p:nvPr/>
        </p:nvSpPr>
        <p:spPr>
          <a:xfrm>
            <a:off x="594360" y="4690872"/>
            <a:ext cx="4389120" cy="96012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777240" y="4690872"/>
            <a:ext cx="4023359" cy="960120"/>
          </a:xfrm>
          <a:prstGeom prst="rect">
            <a:avLst/>
          </a:prstGeom>
          <a:noFill/>
        </p:spPr>
        <p:txBody>
          <a:bodyPr wrap="square" anchor="ctr" lIns="0" rIns="0" tIns="0" bIns="0">
            <a:spAutoFit/>
          </a:bodyPr>
          <a:lstStyle/>
          <a:p>
            <a:pPr algn="l"/>
            <a:r>
              <a:rPr sz="1400" b="1" i="0">
                <a:solidFill>
                  <a:srgbClr val="D1282E"/>
                </a:solidFill>
                <a:latin typeface="Nirmala UI"/>
              </a:rPr>
              <a:t>NOW   </a:t>
            </a:r>
            <a:r>
              <a:rPr sz="1400" b="0" i="0">
                <a:solidFill>
                  <a:srgbClr val="000000"/>
                </a:solidFill>
                <a:latin typeface="Nirmala UI"/>
              </a:rPr>
              <a:t>Answer questions find() can't: totals, rankings and joins.</a:t>
            </a:r>
          </a:p>
        </p:txBody>
      </p:sp>
      <p:sp>
        <p:nvSpPr>
          <p:cNvPr id="19" name="Oval 18"/>
          <p:cNvSpPr/>
          <p:nvPr/>
        </p:nvSpPr>
        <p:spPr>
          <a:xfrm>
            <a:off x="5486400" y="1298448"/>
            <a:ext cx="310896" cy="310896"/>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0" y="129844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21" name="TextBox 20"/>
          <p:cNvSpPr txBox="1"/>
          <p:nvPr/>
        </p:nvSpPr>
        <p:spPr>
          <a:xfrm>
            <a:off x="5870448" y="1289304"/>
            <a:ext cx="5833872" cy="347472"/>
          </a:xfrm>
          <a:prstGeom prst="rect">
            <a:avLst/>
          </a:prstGeom>
          <a:noFill/>
        </p:spPr>
        <p:txBody>
          <a:bodyPr wrap="square" anchor="ctr" lIns="0" rIns="0" tIns="0" bIns="0">
            <a:spAutoFit/>
          </a:bodyPr>
          <a:lstStyle/>
          <a:p>
            <a:pPr algn="l"/>
            <a:r>
              <a:rPr sz="1400" b="1" i="0">
                <a:solidFill>
                  <a:srgbClr val="D1282E"/>
                </a:solidFill>
                <a:latin typeface="Nirmala UI"/>
              </a:rPr>
              <a:t>OUR PATH THROUGH MODULE 5</a:t>
            </a:r>
          </a:p>
        </p:txBody>
      </p:sp>
      <p:sp>
        <p:nvSpPr>
          <p:cNvPr id="22" name="Oval 21"/>
          <p:cNvSpPr/>
          <p:nvPr/>
        </p:nvSpPr>
        <p:spPr>
          <a:xfrm>
            <a:off x="5486400" y="1888236"/>
            <a:ext cx="347472" cy="34747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1</a:t>
            </a:r>
          </a:p>
        </p:txBody>
      </p:sp>
      <p:sp>
        <p:nvSpPr>
          <p:cNvPr id="23" name="TextBox 22"/>
          <p:cNvSpPr txBox="1"/>
          <p:nvPr/>
        </p:nvSpPr>
        <p:spPr>
          <a:xfrm>
            <a:off x="5943600" y="1719072"/>
            <a:ext cx="4297680" cy="685800"/>
          </a:xfrm>
          <a:prstGeom prst="rect">
            <a:avLst/>
          </a:prstGeom>
          <a:noFill/>
        </p:spPr>
        <p:txBody>
          <a:bodyPr wrap="square" anchor="ctr" lIns="0" rIns="0" tIns="0" bIns="0">
            <a:spAutoFit/>
          </a:bodyPr>
          <a:lstStyle/>
          <a:p>
            <a:pPr algn="l"/>
            <a:r>
              <a:rPr sz="1500" b="0" i="0">
                <a:solidFill>
                  <a:srgbClr val="000000"/>
                </a:solidFill>
                <a:latin typeface="Nirmala UI"/>
              </a:rPr>
              <a:t>How a pipeline works; why order matters</a:t>
            </a:r>
          </a:p>
        </p:txBody>
      </p:sp>
      <p:sp>
        <p:nvSpPr>
          <p:cNvPr id="24" name="Rounded Rectangle 23"/>
          <p:cNvSpPr/>
          <p:nvPr/>
        </p:nvSpPr>
        <p:spPr>
          <a:xfrm>
            <a:off x="10332720" y="1879092"/>
            <a:ext cx="1371600" cy="365760"/>
          </a:xfrm>
          <a:prstGeom prst="roundRect">
            <a:avLst>
              <a:gd name="adj" fmla="val 14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02060"/>
                </a:solidFill>
                <a:latin typeface="Nirmala UI"/>
              </a:rPr>
              <a:t>Part 1</a:t>
            </a:r>
          </a:p>
        </p:txBody>
      </p:sp>
      <p:sp>
        <p:nvSpPr>
          <p:cNvPr id="25" name="Oval 24"/>
          <p:cNvSpPr/>
          <p:nvPr/>
        </p:nvSpPr>
        <p:spPr>
          <a:xfrm>
            <a:off x="5486400" y="2574036"/>
            <a:ext cx="347472" cy="347472"/>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2</a:t>
            </a:r>
          </a:p>
        </p:txBody>
      </p:sp>
      <p:sp>
        <p:nvSpPr>
          <p:cNvPr id="26" name="TextBox 25"/>
          <p:cNvSpPr txBox="1"/>
          <p:nvPr/>
        </p:nvSpPr>
        <p:spPr>
          <a:xfrm>
            <a:off x="5943600" y="2404872"/>
            <a:ext cx="4297680" cy="685800"/>
          </a:xfrm>
          <a:prstGeom prst="rect">
            <a:avLst/>
          </a:prstGeom>
          <a:noFill/>
        </p:spPr>
        <p:txBody>
          <a:bodyPr wrap="square" anchor="ctr" lIns="0" rIns="0" tIns="0" bIns="0">
            <a:spAutoFit/>
          </a:bodyPr>
          <a:lstStyle/>
          <a:p>
            <a:pPr algn="l"/>
            <a:r>
              <a:rPr sz="1500" b="0" i="0">
                <a:solidFill>
                  <a:srgbClr val="000000"/>
                </a:solidFill>
                <a:latin typeface="Nirmala UI"/>
              </a:rPr>
              <a:t>Filter, reshape and compute fields</a:t>
            </a:r>
          </a:p>
        </p:txBody>
      </p:sp>
      <p:sp>
        <p:nvSpPr>
          <p:cNvPr id="27" name="Rounded Rectangle 26"/>
          <p:cNvSpPr/>
          <p:nvPr/>
        </p:nvSpPr>
        <p:spPr>
          <a:xfrm>
            <a:off x="10332720" y="2564891"/>
            <a:ext cx="1371600" cy="365760"/>
          </a:xfrm>
          <a:prstGeom prst="roundRect">
            <a:avLst>
              <a:gd name="adj" fmla="val 14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5B3A9E"/>
                </a:solidFill>
                <a:latin typeface="Nirmala UI"/>
              </a:rPr>
              <a:t>Part 2</a:t>
            </a:r>
          </a:p>
        </p:txBody>
      </p:sp>
      <p:sp>
        <p:nvSpPr>
          <p:cNvPr id="28" name="Oval 27"/>
          <p:cNvSpPr/>
          <p:nvPr/>
        </p:nvSpPr>
        <p:spPr>
          <a:xfrm>
            <a:off x="5486400" y="3259836"/>
            <a:ext cx="347472" cy="347472"/>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3</a:t>
            </a:r>
          </a:p>
        </p:txBody>
      </p:sp>
      <p:sp>
        <p:nvSpPr>
          <p:cNvPr id="29" name="TextBox 28"/>
          <p:cNvSpPr txBox="1"/>
          <p:nvPr/>
        </p:nvSpPr>
        <p:spPr>
          <a:xfrm>
            <a:off x="5943600" y="3090672"/>
            <a:ext cx="4297680" cy="685800"/>
          </a:xfrm>
          <a:prstGeom prst="rect">
            <a:avLst/>
          </a:prstGeom>
          <a:noFill/>
        </p:spPr>
        <p:txBody>
          <a:bodyPr wrap="square" anchor="ctr" lIns="0" rIns="0" tIns="0" bIns="0">
            <a:spAutoFit/>
          </a:bodyPr>
          <a:lstStyle/>
          <a:p>
            <a:pPr algn="l"/>
            <a:r>
              <a:rPr sz="1500" b="0" i="0">
                <a:solidFill>
                  <a:srgbClr val="000000"/>
                </a:solidFill>
                <a:latin typeface="Nirmala UI"/>
              </a:rPr>
              <a:t>Group and summarize with accumulators</a:t>
            </a:r>
          </a:p>
        </p:txBody>
      </p:sp>
      <p:sp>
        <p:nvSpPr>
          <p:cNvPr id="30" name="Rounded Rectangle 29"/>
          <p:cNvSpPr/>
          <p:nvPr/>
        </p:nvSpPr>
        <p:spPr>
          <a:xfrm>
            <a:off x="10332720" y="3250691"/>
            <a:ext cx="1371600" cy="365760"/>
          </a:xfrm>
          <a:prstGeom prst="roundRect">
            <a:avLst>
              <a:gd name="adj" fmla="val 14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E7C7B"/>
                </a:solidFill>
                <a:latin typeface="Nirmala UI"/>
              </a:rPr>
              <a:t>Part 3</a:t>
            </a:r>
          </a:p>
        </p:txBody>
      </p:sp>
      <p:sp>
        <p:nvSpPr>
          <p:cNvPr id="31" name="Oval 30"/>
          <p:cNvSpPr/>
          <p:nvPr/>
        </p:nvSpPr>
        <p:spPr>
          <a:xfrm>
            <a:off x="5486400" y="3945635"/>
            <a:ext cx="347472" cy="34747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4</a:t>
            </a:r>
          </a:p>
        </p:txBody>
      </p:sp>
      <p:sp>
        <p:nvSpPr>
          <p:cNvPr id="32" name="TextBox 31"/>
          <p:cNvSpPr txBox="1"/>
          <p:nvPr/>
        </p:nvSpPr>
        <p:spPr>
          <a:xfrm>
            <a:off x="5943600" y="3776472"/>
            <a:ext cx="4297680" cy="685800"/>
          </a:xfrm>
          <a:prstGeom prst="rect">
            <a:avLst/>
          </a:prstGeom>
          <a:noFill/>
        </p:spPr>
        <p:txBody>
          <a:bodyPr wrap="square" anchor="ctr" lIns="0" rIns="0" tIns="0" bIns="0">
            <a:spAutoFit/>
          </a:bodyPr>
          <a:lstStyle/>
          <a:p>
            <a:pPr algn="l"/>
            <a:r>
              <a:rPr sz="1500" b="0" i="0">
                <a:solidFill>
                  <a:srgbClr val="000000"/>
                </a:solidFill>
                <a:latin typeface="Nirmala UI"/>
              </a:rPr>
              <a:t>Expand items; join customers</a:t>
            </a:r>
          </a:p>
        </p:txBody>
      </p:sp>
      <p:sp>
        <p:nvSpPr>
          <p:cNvPr id="33" name="Rounded Rectangle 32"/>
          <p:cNvSpPr/>
          <p:nvPr/>
        </p:nvSpPr>
        <p:spPr>
          <a:xfrm>
            <a:off x="10332720" y="3936491"/>
            <a:ext cx="1371600" cy="365760"/>
          </a:xfrm>
          <a:prstGeom prst="roundRect">
            <a:avLst>
              <a:gd name="adj" fmla="val 14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2E7D32"/>
                </a:solidFill>
                <a:latin typeface="Nirmala UI"/>
              </a:rPr>
              <a:t>Part 4</a:t>
            </a:r>
          </a:p>
        </p:txBody>
      </p:sp>
      <p:sp>
        <p:nvSpPr>
          <p:cNvPr id="34" name="Oval 33"/>
          <p:cNvSpPr/>
          <p:nvPr/>
        </p:nvSpPr>
        <p:spPr>
          <a:xfrm>
            <a:off x="5486400" y="4631436"/>
            <a:ext cx="347472" cy="347472"/>
          </a:xfrm>
          <a:prstGeom prst="ellipse">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5</a:t>
            </a:r>
          </a:p>
        </p:txBody>
      </p:sp>
      <p:sp>
        <p:nvSpPr>
          <p:cNvPr id="35" name="TextBox 34"/>
          <p:cNvSpPr txBox="1"/>
          <p:nvPr/>
        </p:nvSpPr>
        <p:spPr>
          <a:xfrm>
            <a:off x="5943600" y="4462272"/>
            <a:ext cx="4297680" cy="685800"/>
          </a:xfrm>
          <a:prstGeom prst="rect">
            <a:avLst/>
          </a:prstGeom>
          <a:noFill/>
        </p:spPr>
        <p:txBody>
          <a:bodyPr wrap="square" anchor="ctr" lIns="0" rIns="0" tIns="0" bIns="0">
            <a:spAutoFit/>
          </a:bodyPr>
          <a:lstStyle/>
          <a:p>
            <a:pPr algn="l"/>
            <a:r>
              <a:rPr sz="1500" b="0" i="0">
                <a:solidFill>
                  <a:srgbClr val="000000"/>
                </a:solidFill>
                <a:latin typeface="Nirmala UI"/>
              </a:rPr>
              <a:t>Dates, price bands and one report</a:t>
            </a:r>
          </a:p>
        </p:txBody>
      </p:sp>
      <p:sp>
        <p:nvSpPr>
          <p:cNvPr id="36" name="Rounded Rectangle 35"/>
          <p:cNvSpPr/>
          <p:nvPr/>
        </p:nvSpPr>
        <p:spPr>
          <a:xfrm>
            <a:off x="10332720" y="4622292"/>
            <a:ext cx="1371600" cy="365760"/>
          </a:xfrm>
          <a:prstGeom prst="roundRect">
            <a:avLst>
              <a:gd name="adj" fmla="val 14000"/>
            </a:avLst>
          </a:prstGeom>
          <a:solidFill>
            <a:srgbClr val="FDF0E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C9690C"/>
                </a:solidFill>
                <a:latin typeface="Nirmala UI"/>
              </a:rPr>
              <a:t>Part 5</a:t>
            </a:r>
          </a:p>
        </p:txBody>
      </p:sp>
      <p:sp>
        <p:nvSpPr>
          <p:cNvPr id="37" name="Oval 36"/>
          <p:cNvSpPr/>
          <p:nvPr/>
        </p:nvSpPr>
        <p:spPr>
          <a:xfrm>
            <a:off x="5486400" y="5317236"/>
            <a:ext cx="347472" cy="34747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6</a:t>
            </a:r>
          </a:p>
        </p:txBody>
      </p:sp>
      <p:sp>
        <p:nvSpPr>
          <p:cNvPr id="38" name="TextBox 37"/>
          <p:cNvSpPr txBox="1"/>
          <p:nvPr/>
        </p:nvSpPr>
        <p:spPr>
          <a:xfrm>
            <a:off x="5943600" y="5148072"/>
            <a:ext cx="4297680" cy="685800"/>
          </a:xfrm>
          <a:prstGeom prst="rect">
            <a:avLst/>
          </a:prstGeom>
          <a:noFill/>
        </p:spPr>
        <p:txBody>
          <a:bodyPr wrap="square" anchor="ctr" lIns="0" rIns="0" tIns="0" bIns="0">
            <a:spAutoFit/>
          </a:bodyPr>
          <a:lstStyle/>
          <a:p>
            <a:pPr algn="l"/>
            <a:r>
              <a:rPr sz="1500" b="0" i="0">
                <a:solidFill>
                  <a:srgbClr val="000000"/>
                </a:solidFill>
                <a:latin typeface="Nirmala UI"/>
              </a:rPr>
              <a:t>Stage order, cost and debugging</a:t>
            </a:r>
          </a:p>
        </p:txBody>
      </p:sp>
      <p:sp>
        <p:nvSpPr>
          <p:cNvPr id="39" name="Rounded Rectangle 38"/>
          <p:cNvSpPr/>
          <p:nvPr/>
        </p:nvSpPr>
        <p:spPr>
          <a:xfrm>
            <a:off x="10332720" y="5308092"/>
            <a:ext cx="1371600" cy="365760"/>
          </a:xfrm>
          <a:prstGeom prst="roundRect">
            <a:avLst>
              <a:gd name="adj" fmla="val 14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1282E"/>
                </a:solidFill>
                <a:latin typeface="Nirmala UI"/>
              </a:rPr>
              <a:t>Part 6</a:t>
            </a:r>
          </a:p>
        </p:txBody>
      </p:sp>
      <p:sp>
        <p:nvSpPr>
          <p:cNvPr id="40" name="Rounded Rectangle 39"/>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Module 4's filters become the first stage of every pipeline in Module 5.</a:t>
            </a:r>
          </a:p>
        </p:txBody>
      </p:sp>
      <p:sp>
        <p:nvSpPr>
          <p:cNvPr id="42" name="Rectangle 4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THE FIELDS EVERY PIPELINE USES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The real paths in training_store — and the traps the data is built to teach.</a:t>
            </a:r>
          </a:p>
        </p:txBody>
      </p:sp>
      <p:sp>
        <p:nvSpPr>
          <p:cNvPr id="4" name="Oval 3"/>
          <p:cNvSpPr/>
          <p:nvPr/>
        </p:nvSpPr>
        <p:spPr>
          <a:xfrm>
            <a:off x="457200" y="1298448"/>
            <a:ext cx="310896" cy="310896"/>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9844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841248" y="1289304"/>
            <a:ext cx="6291072" cy="347472"/>
          </a:xfrm>
          <a:prstGeom prst="rect">
            <a:avLst/>
          </a:prstGeom>
          <a:noFill/>
        </p:spPr>
        <p:txBody>
          <a:bodyPr wrap="square" anchor="ctr" lIns="0" rIns="0" tIns="0" bIns="0">
            <a:spAutoFit/>
          </a:bodyPr>
          <a:lstStyle/>
          <a:p>
            <a:pPr algn="l"/>
            <a:r>
              <a:rPr sz="1400" b="1" i="0">
                <a:solidFill>
                  <a:srgbClr val="D1282E"/>
                </a:solidFill>
                <a:latin typeface="Nirmala UI"/>
              </a:rPr>
              <a:t>TRAINING_STORE AFTER A FRESH LOAD</a:t>
            </a:r>
          </a:p>
        </p:txBody>
      </p:sp>
      <p:sp>
        <p:nvSpPr>
          <p:cNvPr id="7" name="Rounded Rectangle 6"/>
          <p:cNvSpPr/>
          <p:nvPr/>
        </p:nvSpPr>
        <p:spPr>
          <a:xfrm>
            <a:off x="457200" y="1737360"/>
            <a:ext cx="1572768" cy="640080"/>
          </a:xfrm>
          <a:prstGeom prst="roundRect">
            <a:avLst>
              <a:gd name="adj" fmla="val 14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500" b="1" i="0">
                <a:solidFill>
                  <a:srgbClr val="FFFFFF"/>
                </a:solidFill>
                <a:latin typeface="Nirmala UI"/>
              </a:rPr>
              <a:t>customers</a:t>
            </a:r>
          </a:p>
          <a:p>
            <a:pPr algn="ctr"/>
            <a:r>
              <a:rPr sz="1200" b="0" i="0">
                <a:solidFill>
                  <a:srgbClr val="FFFFFF"/>
                </a:solidFill>
                <a:latin typeface="Nirmala UI"/>
              </a:rPr>
              <a:t>6 documents</a:t>
            </a:r>
          </a:p>
        </p:txBody>
      </p:sp>
      <p:sp>
        <p:nvSpPr>
          <p:cNvPr id="8" name="Rounded Rectangle 7"/>
          <p:cNvSpPr/>
          <p:nvPr/>
        </p:nvSpPr>
        <p:spPr>
          <a:xfrm>
            <a:off x="2157984" y="1737360"/>
            <a:ext cx="1572768" cy="640080"/>
          </a:xfrm>
          <a:prstGeom prst="roundRect">
            <a:avLst>
              <a:gd name="adj" fmla="val 14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500" b="1" i="0">
                <a:solidFill>
                  <a:srgbClr val="FFFFFF"/>
                </a:solidFill>
                <a:latin typeface="Nirmala UI"/>
              </a:rPr>
              <a:t>products</a:t>
            </a:r>
          </a:p>
          <a:p>
            <a:pPr algn="ctr"/>
            <a:r>
              <a:rPr sz="1200" b="0" i="0">
                <a:solidFill>
                  <a:srgbClr val="FFFFFF"/>
                </a:solidFill>
                <a:latin typeface="Nirmala UI"/>
              </a:rPr>
              <a:t>13 documents</a:t>
            </a:r>
          </a:p>
        </p:txBody>
      </p:sp>
      <p:sp>
        <p:nvSpPr>
          <p:cNvPr id="9" name="Rounded Rectangle 8"/>
          <p:cNvSpPr/>
          <p:nvPr/>
        </p:nvSpPr>
        <p:spPr>
          <a:xfrm>
            <a:off x="3858768" y="1737360"/>
            <a:ext cx="1572768" cy="640080"/>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500" b="1" i="0">
                <a:solidFill>
                  <a:srgbClr val="FFFFFF"/>
                </a:solidFill>
                <a:latin typeface="Nirmala UI"/>
              </a:rPr>
              <a:t>orders</a:t>
            </a:r>
          </a:p>
          <a:p>
            <a:pPr algn="ctr"/>
            <a:r>
              <a:rPr sz="1200" b="0" i="0">
                <a:solidFill>
                  <a:srgbClr val="FFFFFF"/>
                </a:solidFill>
                <a:latin typeface="Nirmala UI"/>
              </a:rPr>
              <a:t>17 documents</a:t>
            </a:r>
          </a:p>
        </p:txBody>
      </p:sp>
      <p:sp>
        <p:nvSpPr>
          <p:cNvPr id="10" name="Rounded Rectangle 9"/>
          <p:cNvSpPr/>
          <p:nvPr/>
        </p:nvSpPr>
        <p:spPr>
          <a:xfrm>
            <a:off x="5559552" y="1737360"/>
            <a:ext cx="1572768" cy="640080"/>
          </a:xfrm>
          <a:prstGeom prst="roundRect">
            <a:avLst>
              <a:gd name="adj" fmla="val 14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500" b="1" i="0">
                <a:solidFill>
                  <a:srgbClr val="FFFFFF"/>
                </a:solidFill>
                <a:latin typeface="Nirmala UI"/>
              </a:rPr>
              <a:t>reviews</a:t>
            </a:r>
          </a:p>
          <a:p>
            <a:pPr algn="ctr"/>
            <a:r>
              <a:rPr sz="1200" b="0" i="0">
                <a:solidFill>
                  <a:srgbClr val="FFFFFF"/>
                </a:solidFill>
                <a:latin typeface="Nirmala UI"/>
              </a:rPr>
              <a:t>6 documents</a:t>
            </a:r>
          </a:p>
        </p:txBody>
      </p:sp>
      <p:sp>
        <p:nvSpPr>
          <p:cNvPr id="11" name="Oval 10"/>
          <p:cNvSpPr/>
          <p:nvPr/>
        </p:nvSpPr>
        <p:spPr>
          <a:xfrm>
            <a:off x="457200" y="2587752"/>
            <a:ext cx="310896" cy="310896"/>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587752"/>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13" name="TextBox 12"/>
          <p:cNvSpPr txBox="1"/>
          <p:nvPr/>
        </p:nvSpPr>
        <p:spPr>
          <a:xfrm>
            <a:off x="841248" y="2578608"/>
            <a:ext cx="6291072" cy="347472"/>
          </a:xfrm>
          <a:prstGeom prst="rect">
            <a:avLst/>
          </a:prstGeom>
          <a:noFill/>
        </p:spPr>
        <p:txBody>
          <a:bodyPr wrap="square" anchor="ctr" lIns="0" rIns="0" tIns="0" bIns="0">
            <a:spAutoFit/>
          </a:bodyPr>
          <a:lstStyle/>
          <a:p>
            <a:pPr algn="l"/>
            <a:r>
              <a:rPr sz="1400" b="1" i="0">
                <a:solidFill>
                  <a:srgbClr val="D1282E"/>
                </a:solidFill>
                <a:latin typeface="Nirmala UI"/>
              </a:rPr>
              <a:t>ONE ORDER: THE PATHS WE AGGREGATE</a:t>
            </a:r>
          </a:p>
        </p:txBody>
      </p:sp>
      <p:sp>
        <p:nvSpPr>
          <p:cNvPr id="14" name="Rounded Rectangle 13"/>
          <p:cNvSpPr/>
          <p:nvPr/>
        </p:nvSpPr>
        <p:spPr>
          <a:xfrm>
            <a:off x="457200" y="3026664"/>
            <a:ext cx="6675120" cy="280720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 orderNumber: "O6301",</a:t>
            </a:r>
          </a:p>
          <a:p>
            <a:pPr algn="l"/>
            <a:r>
              <a:rPr sz="1300" b="0" i="0">
                <a:solidFill>
                  <a:srgbClr val="000000"/>
                </a:solidFill>
                <a:latin typeface="Consolas"/>
              </a:rPr>
              <a:t>  customerId: ObjectId("…"),    // → customers._id</a:t>
            </a:r>
          </a:p>
          <a:p>
            <a:pPr algn="l"/>
            <a:r>
              <a:rPr sz="1300" b="0" i="0">
                <a:solidFill>
                  <a:srgbClr val="000000"/>
                </a:solidFill>
                <a:latin typeface="Consolas"/>
              </a:rPr>
              <a:t>  items: [ { sku: "L100", name: "Business Laptop",</a:t>
            </a:r>
          </a:p>
          <a:p>
            <a:pPr algn="l"/>
            <a:r>
              <a:rPr sz="1300" b="0" i="0">
                <a:solidFill>
                  <a:srgbClr val="000000"/>
                </a:solidFill>
                <a:latin typeface="Consolas"/>
              </a:rPr>
              <a:t>             quantity: 1,</a:t>
            </a:r>
          </a:p>
          <a:p>
            <a:pPr algn="l"/>
            <a:r>
              <a:rPr sz="1300" b="0" i="0">
                <a:solidFill>
                  <a:srgbClr val="000000"/>
                </a:solidFill>
                <a:latin typeface="Consolas"/>
              </a:rPr>
              <a:t>             unitPrice: Decimal128("1299.99") }, … ],</a:t>
            </a:r>
          </a:p>
          <a:p>
            <a:pPr algn="l"/>
            <a:r>
              <a:rPr sz="1300" b="0" i="0">
                <a:solidFill>
                  <a:srgbClr val="000000"/>
                </a:solidFill>
                <a:latin typeface="Consolas"/>
              </a:rPr>
              <a:t>  paymentStatus: "PAID",</a:t>
            </a:r>
          </a:p>
          <a:p>
            <a:pPr algn="l"/>
            <a:r>
              <a:rPr sz="1300" b="0" i="0">
                <a:solidFill>
                  <a:srgbClr val="000000"/>
                </a:solidFill>
                <a:latin typeface="Consolas"/>
              </a:rPr>
              <a:t>  fulfillmentStatus: "SHIPPED",</a:t>
            </a:r>
          </a:p>
          <a:p>
            <a:pPr algn="l"/>
            <a:r>
              <a:rPr sz="1300" b="0" i="0">
                <a:solidFill>
                  <a:srgbClr val="000000"/>
                </a:solidFill>
                <a:latin typeface="Consolas"/>
              </a:rPr>
              <a:t>  subtotal: …, tax: …, shippingFee: Decimal128("15.00"),</a:t>
            </a:r>
          </a:p>
          <a:p>
            <a:pPr algn="l"/>
            <a:r>
              <a:rPr sz="1300" b="0" i="0">
                <a:solidFill>
                  <a:srgbClr val="000000"/>
                </a:solidFill>
                <a:latin typeface="Consolas"/>
              </a:rPr>
              <a:t>  total: Decimal128("1512.23"),</a:t>
            </a:r>
          </a:p>
          <a:p>
            <a:pPr algn="l"/>
            <a:r>
              <a:rPr sz="1300" b="0" i="0">
                <a:solidFill>
                  <a:srgbClr val="000000"/>
                </a:solidFill>
                <a:latin typeface="Consolas"/>
              </a:rPr>
              <a:t>  createdAt: ISODate("2026-09-03T10:15:00Z") }</a:t>
            </a:r>
          </a:p>
        </p:txBody>
      </p:sp>
      <p:sp>
        <p:nvSpPr>
          <p:cNvPr id="15" name="TextBox 14"/>
          <p:cNvSpPr txBox="1"/>
          <p:nvPr/>
        </p:nvSpPr>
        <p:spPr>
          <a:xfrm>
            <a:off x="7498079" y="1298448"/>
            <a:ext cx="4206240" cy="310896"/>
          </a:xfrm>
          <a:prstGeom prst="rect">
            <a:avLst/>
          </a:prstGeom>
          <a:noFill/>
        </p:spPr>
        <p:txBody>
          <a:bodyPr wrap="square" anchor="t" lIns="0" rIns="0" tIns="0" bIns="0">
            <a:spAutoFit/>
          </a:bodyPr>
          <a:lstStyle/>
          <a:p>
            <a:pPr algn="l"/>
            <a:r>
              <a:rPr sz="1300" b="1" i="0">
                <a:solidFill>
                  <a:srgbClr val="D1282E"/>
                </a:solidFill>
                <a:latin typeface="Nirmala UI"/>
              </a:rPr>
              <a:t>TRAPS BUILT INTO THE DATA</a:t>
            </a:r>
          </a:p>
        </p:txBody>
      </p:sp>
      <p:sp>
        <p:nvSpPr>
          <p:cNvPr id="16" name="Oval 15"/>
          <p:cNvSpPr/>
          <p:nvPr/>
        </p:nvSpPr>
        <p:spPr>
          <a:xfrm>
            <a:off x="7498079" y="1673352"/>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17" name="TextBox 16"/>
          <p:cNvSpPr txBox="1"/>
          <p:nvPr/>
        </p:nvSpPr>
        <p:spPr>
          <a:xfrm>
            <a:off x="7863840" y="1645920"/>
            <a:ext cx="3840480" cy="475996"/>
          </a:xfrm>
          <a:prstGeom prst="rect">
            <a:avLst/>
          </a:prstGeom>
          <a:noFill/>
        </p:spPr>
        <p:txBody>
          <a:bodyPr wrap="square" anchor="ctr" lIns="0" rIns="0" tIns="0" bIns="0">
            <a:spAutoFit/>
          </a:bodyPr>
          <a:lstStyle/>
          <a:p>
            <a:pPr algn="l"/>
            <a:r>
              <a:rPr sz="1300" b="0" i="0">
                <a:solidFill>
                  <a:srgbClr val="000000"/>
                </a:solidFill>
                <a:latin typeface="Nirmala UI"/>
              </a:rPr>
              <a:t>No status field: use paymentStatus and fulfillmentStatus</a:t>
            </a:r>
          </a:p>
        </p:txBody>
      </p:sp>
      <p:sp>
        <p:nvSpPr>
          <p:cNvPr id="18" name="Oval 17"/>
          <p:cNvSpPr/>
          <p:nvPr/>
        </p:nvSpPr>
        <p:spPr>
          <a:xfrm>
            <a:off x="7498079" y="2149348"/>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19" name="TextBox 18"/>
          <p:cNvSpPr txBox="1"/>
          <p:nvPr/>
        </p:nvSpPr>
        <p:spPr>
          <a:xfrm>
            <a:off x="7863840" y="2121916"/>
            <a:ext cx="3840480" cy="310896"/>
          </a:xfrm>
          <a:prstGeom prst="rect">
            <a:avLst/>
          </a:prstGeom>
          <a:noFill/>
        </p:spPr>
        <p:txBody>
          <a:bodyPr wrap="square" anchor="ctr" lIns="0" rIns="0" tIns="0" bIns="0">
            <a:spAutoFit/>
          </a:bodyPr>
          <a:lstStyle/>
          <a:p>
            <a:pPr algn="l"/>
            <a:r>
              <a:rPr sz="1300" b="0" i="0">
                <a:solidFill>
                  <a:srgbClr val="000000"/>
                </a:solidFill>
                <a:latin typeface="Nirmala UI"/>
              </a:rPr>
              <a:t>No lineTotal: compute quantity × unitPrice</a:t>
            </a:r>
          </a:p>
        </p:txBody>
      </p:sp>
      <p:sp>
        <p:nvSpPr>
          <p:cNvPr id="20" name="Oval 19"/>
          <p:cNvSpPr/>
          <p:nvPr/>
        </p:nvSpPr>
        <p:spPr>
          <a:xfrm>
            <a:off x="7498079" y="2460244"/>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1" name="TextBox 20"/>
          <p:cNvSpPr txBox="1"/>
          <p:nvPr/>
        </p:nvSpPr>
        <p:spPr>
          <a:xfrm>
            <a:off x="7863840" y="2432812"/>
            <a:ext cx="3840480" cy="310896"/>
          </a:xfrm>
          <a:prstGeom prst="rect">
            <a:avLst/>
          </a:prstGeom>
          <a:noFill/>
        </p:spPr>
        <p:txBody>
          <a:bodyPr wrap="square" anchor="ctr" lIns="0" rIns="0" tIns="0" bIns="0">
            <a:spAutoFit/>
          </a:bodyPr>
          <a:lstStyle/>
          <a:p>
            <a:pPr algn="l"/>
            <a:r>
              <a:rPr sz="1300" b="0" i="0">
                <a:solidFill>
                  <a:srgbClr val="000000"/>
                </a:solidFill>
                <a:latin typeface="Nirmala UI"/>
              </a:rPr>
              <a:t>shippingFee is missing on 6 orders</a:t>
            </a:r>
          </a:p>
        </p:txBody>
      </p:sp>
      <p:sp>
        <p:nvSpPr>
          <p:cNvPr id="22" name="Oval 21"/>
          <p:cNvSpPr/>
          <p:nvPr/>
        </p:nvSpPr>
        <p:spPr>
          <a:xfrm>
            <a:off x="7498079" y="2771140"/>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3" name="TextBox 22"/>
          <p:cNvSpPr txBox="1"/>
          <p:nvPr/>
        </p:nvSpPr>
        <p:spPr>
          <a:xfrm>
            <a:off x="7863840" y="2743708"/>
            <a:ext cx="3840480" cy="310896"/>
          </a:xfrm>
          <a:prstGeom prst="rect">
            <a:avLst/>
          </a:prstGeom>
          <a:noFill/>
        </p:spPr>
        <p:txBody>
          <a:bodyPr wrap="square" anchor="ctr" lIns="0" rIns="0" tIns="0" bIns="0">
            <a:spAutoFit/>
          </a:bodyPr>
          <a:lstStyle/>
          <a:p>
            <a:pPr algn="l"/>
            <a:r>
              <a:rPr sz="1300" b="0" i="0">
                <a:solidFill>
                  <a:srgbClr val="000000"/>
                </a:solidFill>
                <a:latin typeface="Nirmala UI"/>
              </a:rPr>
              <a:t>XBAD's price is the string "49.99"</a:t>
            </a:r>
          </a:p>
        </p:txBody>
      </p:sp>
      <p:sp>
        <p:nvSpPr>
          <p:cNvPr id="24" name="Oval 23"/>
          <p:cNvSpPr/>
          <p:nvPr/>
        </p:nvSpPr>
        <p:spPr>
          <a:xfrm>
            <a:off x="7498079" y="3082036"/>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5" name="TextBox 24"/>
          <p:cNvSpPr txBox="1"/>
          <p:nvPr/>
        </p:nvSpPr>
        <p:spPr>
          <a:xfrm>
            <a:off x="7863840" y="3054604"/>
            <a:ext cx="3840480" cy="310896"/>
          </a:xfrm>
          <a:prstGeom prst="rect">
            <a:avLst/>
          </a:prstGeom>
          <a:noFill/>
        </p:spPr>
        <p:txBody>
          <a:bodyPr wrap="square" anchor="ctr" lIns="0" rIns="0" tIns="0" bIns="0">
            <a:spAutoFit/>
          </a:bodyPr>
          <a:lstStyle/>
          <a:p>
            <a:pPr algn="l"/>
            <a:r>
              <a:rPr sz="1300" b="0" i="0">
                <a:solidFill>
                  <a:srgbClr val="000000"/>
                </a:solidFill>
                <a:latin typeface="Nirmala UI"/>
              </a:rPr>
              <a:t>O6499's customerId matches no customer</a:t>
            </a:r>
          </a:p>
        </p:txBody>
      </p:sp>
      <p:sp>
        <p:nvSpPr>
          <p:cNvPr id="26" name="Rounded Rectangle 25"/>
          <p:cNvSpPr/>
          <p:nvPr/>
        </p:nvSpPr>
        <p:spPr>
          <a:xfrm>
            <a:off x="7498079" y="3493516"/>
            <a:ext cx="4206240" cy="99644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7" name="TextBox 26"/>
          <p:cNvSpPr txBox="1"/>
          <p:nvPr/>
        </p:nvSpPr>
        <p:spPr>
          <a:xfrm>
            <a:off x="7680959" y="3493516"/>
            <a:ext cx="3840480" cy="996442"/>
          </a:xfrm>
          <a:prstGeom prst="rect">
            <a:avLst/>
          </a:prstGeom>
          <a:noFill/>
        </p:spPr>
        <p:txBody>
          <a:bodyPr wrap="square" anchor="ctr" lIns="0" rIns="0" tIns="0" bIns="0">
            <a:spAutoFit/>
          </a:bodyPr>
          <a:lstStyle/>
          <a:p>
            <a:pPr algn="l"/>
            <a:r>
              <a:rPr sz="1200" b="1" i="0">
                <a:solidFill>
                  <a:srgbClr val="D1282E"/>
                </a:solidFill>
                <a:latin typeface="Nirmala UI"/>
              </a:rPr>
              <a:t>MONEY   </a:t>
            </a:r>
            <a:r>
              <a:rPr sz="1200" b="0" i="0">
                <a:solidFill>
                  <a:srgbClr val="000000"/>
                </a:solidFill>
                <a:latin typeface="Nirmala UI"/>
              </a:rPr>
              <a:t>Decimal128 — compare with Decimal128("1000.00").</a:t>
            </a:r>
          </a:p>
        </p:txBody>
      </p:sp>
      <p:sp>
        <p:nvSpPr>
          <p:cNvPr id="28" name="Rounded Rectangle 27"/>
          <p:cNvSpPr/>
          <p:nvPr/>
        </p:nvSpPr>
        <p:spPr>
          <a:xfrm>
            <a:off x="7498079" y="4617974"/>
            <a:ext cx="4206240" cy="121589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TextBox 28"/>
          <p:cNvSpPr txBox="1"/>
          <p:nvPr/>
        </p:nvSpPr>
        <p:spPr>
          <a:xfrm>
            <a:off x="7635240" y="4672837"/>
            <a:ext cx="3931920" cy="292608"/>
          </a:xfrm>
          <a:prstGeom prst="rect">
            <a:avLst/>
          </a:prstGeom>
          <a:noFill/>
        </p:spPr>
        <p:txBody>
          <a:bodyPr wrap="square" anchor="ctr" lIns="0" rIns="0" tIns="0" bIns="0">
            <a:spAutoFit/>
          </a:bodyPr>
          <a:lstStyle/>
          <a:p>
            <a:pPr algn="l"/>
            <a:r>
              <a:rPr sz="1300" b="1" i="0">
                <a:solidFill>
                  <a:srgbClr val="002060"/>
                </a:solidFill>
                <a:latin typeface="Nirmala UI"/>
              </a:rPr>
              <a:t>Before Lab 4</a:t>
            </a:r>
          </a:p>
        </p:txBody>
      </p:sp>
      <p:sp>
        <p:nvSpPr>
          <p:cNvPr id="30" name="TextBox 29"/>
          <p:cNvSpPr txBox="1"/>
          <p:nvPr/>
        </p:nvSpPr>
        <p:spPr>
          <a:xfrm>
            <a:off x="7635240" y="4983734"/>
            <a:ext cx="3931920" cy="795273"/>
          </a:xfrm>
          <a:prstGeom prst="rect">
            <a:avLst/>
          </a:prstGeom>
          <a:noFill/>
        </p:spPr>
        <p:txBody>
          <a:bodyPr wrap="square" anchor="t" lIns="0" rIns="0" tIns="0" bIns="0">
            <a:spAutoFit/>
          </a:bodyPr>
          <a:lstStyle/>
          <a:p>
            <a:pPr algn="l"/>
            <a:r>
              <a:rPr sz="1200" b="0" i="0">
                <a:solidFill>
                  <a:srgbClr val="000000"/>
                </a:solidFill>
                <a:latin typeface="Nirmala UI"/>
              </a:rPr>
              <a:t>Count each collection and write down these paths before any pipeline.</a:t>
            </a:r>
          </a:p>
        </p:txBody>
      </p:sp>
      <p:sp>
        <p:nvSpPr>
          <p:cNvPr id="31" name="Rounded Rectangle 30"/>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pipeline is only as correct as its field paths — check them against a real document first.</a:t>
            </a:r>
          </a:p>
        </p:txBody>
      </p:sp>
      <p:sp>
        <p:nvSpPr>
          <p:cNvPr id="33" name="Rectangle 3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1: HOW A PIPELINE WORKS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Documents in, stages in order, new documents out.</a:t>
            </a:r>
          </a:p>
        </p:txBody>
      </p:sp>
      <p:sp>
        <p:nvSpPr>
          <p:cNvPr id="4" name="Pentagon 3"/>
          <p:cNvSpPr/>
          <p:nvPr/>
        </p:nvSpPr>
        <p:spPr>
          <a:xfrm>
            <a:off x="457200" y="1298448"/>
            <a:ext cx="2022348" cy="713232"/>
          </a:xfrm>
          <a:prstGeom prst="homePlate">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1762658" cy="713232"/>
          </a:xfrm>
          <a:prstGeom prst="rect">
            <a:avLst/>
          </a:prstGeom>
          <a:noFill/>
        </p:spPr>
        <p:txBody>
          <a:bodyPr wrap="square" anchor="ctr" lIns="0" rIns="0" tIns="0" bIns="0">
            <a:spAutoFit/>
          </a:bodyPr>
          <a:lstStyle/>
          <a:p>
            <a:pPr algn="ctr"/>
            <a:r>
              <a:rPr sz="1300" b="1" i="0">
                <a:solidFill>
                  <a:srgbClr val="FFFFFF"/>
                </a:solidFill>
                <a:latin typeface="Nirmala UI"/>
              </a:rPr>
              <a:t>Part 1</a:t>
            </a:r>
          </a:p>
          <a:p>
            <a:pPr algn="ctr"/>
            <a:r>
              <a:rPr sz="1300" b="1" i="0">
                <a:solidFill>
                  <a:srgbClr val="FFFFFF"/>
                </a:solidFill>
                <a:latin typeface="Nirmala UI"/>
              </a:rPr>
              <a:t>Pipelines</a:t>
            </a:r>
          </a:p>
        </p:txBody>
      </p:sp>
      <p:sp>
        <p:nvSpPr>
          <p:cNvPr id="6" name="Chevron 5"/>
          <p:cNvSpPr/>
          <p:nvPr/>
        </p:nvSpPr>
        <p:spPr>
          <a:xfrm>
            <a:off x="2302154"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516124"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2</a:t>
            </a:r>
          </a:p>
          <a:p>
            <a:pPr algn="ctr"/>
            <a:r>
              <a:rPr sz="1300" b="1" i="0">
                <a:solidFill>
                  <a:srgbClr val="FFFFFF"/>
                </a:solidFill>
                <a:latin typeface="Nirmala UI"/>
              </a:rPr>
              <a:t>Filter and shape</a:t>
            </a:r>
          </a:p>
        </p:txBody>
      </p:sp>
      <p:sp>
        <p:nvSpPr>
          <p:cNvPr id="8" name="Chevron 7"/>
          <p:cNvSpPr/>
          <p:nvPr/>
        </p:nvSpPr>
        <p:spPr>
          <a:xfrm>
            <a:off x="4147108"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4361078"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3</a:t>
            </a:r>
          </a:p>
          <a:p>
            <a:pPr algn="ctr"/>
            <a:r>
              <a:rPr sz="1300" b="1" i="0">
                <a:solidFill>
                  <a:srgbClr val="FFFFFF"/>
                </a:solidFill>
                <a:latin typeface="Nirmala UI"/>
              </a:rPr>
              <a:t>Group</a:t>
            </a:r>
          </a:p>
        </p:txBody>
      </p:sp>
      <p:sp>
        <p:nvSpPr>
          <p:cNvPr id="10" name="Chevron 9"/>
          <p:cNvSpPr/>
          <p:nvPr/>
        </p:nvSpPr>
        <p:spPr>
          <a:xfrm>
            <a:off x="5992063"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6206032"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4</a:t>
            </a:r>
          </a:p>
          <a:p>
            <a:pPr algn="ctr"/>
            <a:r>
              <a:rPr sz="1300" b="1" i="0">
                <a:solidFill>
                  <a:srgbClr val="FFFFFF"/>
                </a:solidFill>
                <a:latin typeface="Nirmala UI"/>
              </a:rPr>
              <a:t>Arrays and joins</a:t>
            </a:r>
          </a:p>
        </p:txBody>
      </p:sp>
      <p:sp>
        <p:nvSpPr>
          <p:cNvPr id="12" name="Chevron 11"/>
          <p:cNvSpPr/>
          <p:nvPr/>
        </p:nvSpPr>
        <p:spPr>
          <a:xfrm>
            <a:off x="7837017"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050987"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Reports</a:t>
            </a:r>
          </a:p>
        </p:txBody>
      </p:sp>
      <p:sp>
        <p:nvSpPr>
          <p:cNvPr id="14" name="Chevron 13"/>
          <p:cNvSpPr/>
          <p:nvPr/>
        </p:nvSpPr>
        <p:spPr>
          <a:xfrm>
            <a:off x="9681972"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9895941"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6</a:t>
            </a:r>
          </a:p>
          <a:p>
            <a:pPr algn="ctr"/>
            <a:r>
              <a:rPr sz="1300" b="1" i="0">
                <a:solidFill>
                  <a:srgbClr val="FFFFFF"/>
                </a:solidFill>
                <a:latin typeface="Nirmala UI"/>
              </a:rPr>
              <a:t>Performance</a:t>
            </a:r>
          </a:p>
        </p:txBody>
      </p:sp>
      <p:sp>
        <p:nvSpPr>
          <p:cNvPr id="16" name="Rounded Rectangle 15"/>
          <p:cNvSpPr/>
          <p:nvPr/>
        </p:nvSpPr>
        <p:spPr>
          <a:xfrm>
            <a:off x="457200" y="2304288"/>
            <a:ext cx="4937760" cy="21031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Round Same Side Corner Rectangle 16"/>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9" name="Oval 18"/>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28803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You know find(), projections and sort()</a:t>
            </a:r>
          </a:p>
        </p:txBody>
      </p:sp>
      <p:sp>
        <p:nvSpPr>
          <p:cNvPr id="21" name="Oval 20"/>
          <p:cNvSpPr/>
          <p:nvPr/>
        </p:nvSpPr>
        <p:spPr>
          <a:xfrm>
            <a:off x="640080" y="34290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3558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You know the training_store field paths</a:t>
            </a:r>
          </a:p>
        </p:txBody>
      </p:sp>
      <p:sp>
        <p:nvSpPr>
          <p:cNvPr id="23" name="Rounded Rectangle 22"/>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5" name="TextBox 24"/>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What does a pipeline do that find() can't — and why does the order of its stages matter?</a:t>
            </a:r>
          </a:p>
        </p:txBody>
      </p:sp>
      <p:sp>
        <p:nvSpPr>
          <p:cNvPr id="26" name="TextBox 25"/>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7" name="Oval 26"/>
          <p:cNvSpPr/>
          <p:nvPr/>
        </p:nvSpPr>
        <p:spPr>
          <a:xfrm>
            <a:off x="5760720" y="399796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28" name="TextBox 27"/>
          <p:cNvSpPr txBox="1"/>
          <p:nvPr/>
        </p:nvSpPr>
        <p:spPr>
          <a:xfrm>
            <a:off x="6144768" y="3933952"/>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Queries versus aggregation</a:t>
            </a:r>
          </a:p>
        </p:txBody>
      </p:sp>
      <p:sp>
        <p:nvSpPr>
          <p:cNvPr id="29" name="Oval 28"/>
          <p:cNvSpPr/>
          <p:nvPr/>
        </p:nvSpPr>
        <p:spPr>
          <a:xfrm>
            <a:off x="5760720" y="440029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0" name="TextBox 29"/>
          <p:cNvSpPr txBox="1"/>
          <p:nvPr/>
        </p:nvSpPr>
        <p:spPr>
          <a:xfrm>
            <a:off x="6144768" y="4336288"/>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How documents flow through stages</a:t>
            </a:r>
          </a:p>
        </p:txBody>
      </p:sp>
      <p:sp>
        <p:nvSpPr>
          <p:cNvPr id="31" name="Oval 30"/>
          <p:cNvSpPr/>
          <p:nvPr/>
        </p:nvSpPr>
        <p:spPr>
          <a:xfrm>
            <a:off x="5760720" y="4802632"/>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2" name="TextBox 31"/>
          <p:cNvSpPr txBox="1"/>
          <p:nvPr/>
        </p:nvSpPr>
        <p:spPr>
          <a:xfrm>
            <a:off x="6144768" y="4738624"/>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One pipeline, stage by stage</a:t>
            </a:r>
          </a:p>
        </p:txBody>
      </p:sp>
      <p:sp>
        <p:nvSpPr>
          <p:cNvPr id="33" name="Oval 32"/>
          <p:cNvSpPr/>
          <p:nvPr/>
        </p:nvSpPr>
        <p:spPr>
          <a:xfrm>
            <a:off x="5760720" y="5204968"/>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4" name="TextBox 33"/>
          <p:cNvSpPr txBox="1"/>
          <p:nvPr/>
        </p:nvSpPr>
        <p:spPr>
          <a:xfrm>
            <a:off x="6144768" y="5140960"/>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Why stage order matters</a:t>
            </a:r>
          </a:p>
        </p:txBody>
      </p:sp>
      <p:sp>
        <p:nvSpPr>
          <p:cNvPr id="35" name="Rectangle 3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OPERATIONAL QUERIES VS. AGGREGATION</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find() returns stored documents; aggregate() computes new ones.</a:t>
            </a:r>
          </a:p>
        </p:txBody>
      </p:sp>
      <p:sp>
        <p:nvSpPr>
          <p:cNvPr id="4" name="Rounded Rectangle 3"/>
          <p:cNvSpPr/>
          <p:nvPr/>
        </p:nvSpPr>
        <p:spPr>
          <a:xfrm>
            <a:off x="475488" y="1440012"/>
            <a:ext cx="7415783" cy="4252294"/>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03" descr="image.jpg"/>
          <p:cNvPicPr>
            <a:picLocks noChangeAspect="1"/>
          </p:cNvPicPr>
          <p:nvPr/>
        </p:nvPicPr>
        <p:blipFill>
          <a:blip r:embed="rId2"/>
          <a:stretch>
            <a:fillRect/>
          </a:stretch>
        </p:blipFill>
        <p:spPr>
          <a:xfrm>
            <a:off x="548640" y="1513164"/>
            <a:ext cx="7269480" cy="4105990"/>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find()</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Returns the stored documents that match — everyday CRUD reads.</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aggregate()</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Computes new documents: counts, totals, averages, rankings, joins.</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Our example</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find() lists Aisha's paid orders; aggregate() says they total 3418.62.</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RULE OF THUMB   </a:t>
            </a:r>
            <a:r>
              <a:rPr sz="1200" b="0" i="0">
                <a:solidFill>
                  <a:srgbClr val="000000"/>
                </a:solidFill>
                <a:latin typeface="Nirmala UI"/>
              </a:rPr>
              <a:t>Not stored in one document? Aggregate.</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Use find() to retrieve documents and aggregate() to compute answers from them.</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HOW DOCUMENTS MOVE THROUGH A PIPELINE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An array of stages; each stage's output is the next stage's input.</a:t>
            </a:r>
          </a:p>
        </p:txBody>
      </p:sp>
      <p:sp>
        <p:nvSpPr>
          <p:cNvPr id="4" name="Rounded Rectangle 3"/>
          <p:cNvSpPr/>
          <p:nvPr/>
        </p:nvSpPr>
        <p:spPr>
          <a:xfrm>
            <a:off x="475488" y="2225631"/>
            <a:ext cx="7415783" cy="2681056"/>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06" descr="image.jpg"/>
          <p:cNvPicPr>
            <a:picLocks noChangeAspect="1"/>
          </p:cNvPicPr>
          <p:nvPr/>
        </p:nvPicPr>
        <p:blipFill>
          <a:blip r:embed="rId2"/>
          <a:stretch>
            <a:fillRect/>
          </a:stretch>
        </p:blipFill>
        <p:spPr>
          <a:xfrm>
            <a:off x="548640" y="2298783"/>
            <a:ext cx="7269480" cy="2534752"/>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An array of stage documents</a:t>
            </a:r>
          </a:p>
        </p:txBody>
      </p:sp>
      <p:sp>
        <p:nvSpPr>
          <p:cNvPr id="7" name="Rounded Rectangle 6"/>
          <p:cNvSpPr/>
          <p:nvPr/>
        </p:nvSpPr>
        <p:spPr>
          <a:xfrm>
            <a:off x="8183880" y="1627632"/>
            <a:ext cx="3520440" cy="130149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db.orders.aggregate([</a:t>
            </a:r>
          </a:p>
          <a:p>
            <a:pPr algn="l"/>
            <a:r>
              <a:rPr sz="1200" b="0" i="0">
                <a:solidFill>
                  <a:srgbClr val="000000"/>
                </a:solidFill>
                <a:latin typeface="Consolas"/>
              </a:rPr>
              <a:t>  { $match: { … } },</a:t>
            </a:r>
          </a:p>
          <a:p>
            <a:pPr algn="l"/>
            <a:r>
              <a:rPr sz="1200" b="0" i="0">
                <a:solidFill>
                  <a:srgbClr val="000000"/>
                </a:solidFill>
                <a:latin typeface="Consolas"/>
              </a:rPr>
              <a:t>  { $group: { … } },</a:t>
            </a:r>
          </a:p>
          <a:p>
            <a:pPr algn="l"/>
            <a:r>
              <a:rPr sz="1200" b="0" i="0">
                <a:solidFill>
                  <a:srgbClr val="000000"/>
                </a:solidFill>
                <a:latin typeface="Consolas"/>
              </a:rPr>
              <a:t>  { $sort:  { … } }</a:t>
            </a:r>
          </a:p>
          <a:p>
            <a:pPr algn="l"/>
            <a:r>
              <a:rPr sz="1200" b="0" i="0">
                <a:solidFill>
                  <a:srgbClr val="000000"/>
                </a:solidFill>
                <a:latin typeface="Consolas"/>
              </a:rPr>
              <a:t>])</a:t>
            </a:r>
          </a:p>
        </p:txBody>
      </p:sp>
      <p:sp>
        <p:nvSpPr>
          <p:cNvPr id="8" name="Rounded Rectangle 7"/>
          <p:cNvSpPr/>
          <p:nvPr/>
        </p:nvSpPr>
        <p:spPr>
          <a:xfrm>
            <a:off x="8183880" y="3057144"/>
            <a:ext cx="3520440" cy="97536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311200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 stream</a:t>
            </a:r>
          </a:p>
        </p:txBody>
      </p:sp>
      <p:sp>
        <p:nvSpPr>
          <p:cNvPr id="10" name="TextBox 9"/>
          <p:cNvSpPr txBox="1"/>
          <p:nvPr/>
        </p:nvSpPr>
        <p:spPr>
          <a:xfrm>
            <a:off x="8321040" y="3422904"/>
            <a:ext cx="3246120" cy="554735"/>
          </a:xfrm>
          <a:prstGeom prst="rect">
            <a:avLst/>
          </a:prstGeom>
          <a:noFill/>
        </p:spPr>
        <p:txBody>
          <a:bodyPr wrap="square" anchor="t" lIns="0" rIns="0" tIns="0" bIns="0">
            <a:spAutoFit/>
          </a:bodyPr>
          <a:lstStyle/>
          <a:p>
            <a:pPr algn="l"/>
            <a:r>
              <a:rPr sz="1200" b="0" i="0">
                <a:solidFill>
                  <a:srgbClr val="000000"/>
                </a:solidFill>
                <a:latin typeface="Nirmala UI"/>
              </a:rPr>
              <a:t>Stages run in array order; each sees only the last one's output.</a:t>
            </a:r>
          </a:p>
        </p:txBody>
      </p:sp>
      <p:sp>
        <p:nvSpPr>
          <p:cNvPr id="11" name="Rounded Rectangle 10"/>
          <p:cNvSpPr/>
          <p:nvPr/>
        </p:nvSpPr>
        <p:spPr>
          <a:xfrm>
            <a:off x="8183880" y="4160520"/>
            <a:ext cx="3520440" cy="97536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421538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Count and shape change</a:t>
            </a:r>
          </a:p>
        </p:txBody>
      </p:sp>
      <p:sp>
        <p:nvSpPr>
          <p:cNvPr id="13" name="TextBox 12"/>
          <p:cNvSpPr txBox="1"/>
          <p:nvPr/>
        </p:nvSpPr>
        <p:spPr>
          <a:xfrm>
            <a:off x="8321040" y="4526280"/>
            <a:ext cx="3246120" cy="554735"/>
          </a:xfrm>
          <a:prstGeom prst="rect">
            <a:avLst/>
          </a:prstGeom>
          <a:noFill/>
        </p:spPr>
        <p:txBody>
          <a:bodyPr wrap="square" anchor="t" lIns="0" rIns="0" tIns="0" bIns="0">
            <a:spAutoFit/>
          </a:bodyPr>
          <a:lstStyle/>
          <a:p>
            <a:pPr algn="l"/>
            <a:r>
              <a:rPr sz="1200" b="0" i="0">
                <a:solidFill>
                  <a:srgbClr val="000000"/>
                </a:solidFill>
                <a:latin typeface="Nirmala UI"/>
              </a:rPr>
              <a:t>6 → 4 → 2: $match shrinks the stream, $group reshapes it.</a:t>
            </a:r>
          </a:p>
        </p:txBody>
      </p:sp>
      <p:sp>
        <p:nvSpPr>
          <p:cNvPr id="14" name="Rounded Rectangle 13"/>
          <p:cNvSpPr/>
          <p:nvPr/>
        </p:nvSpPr>
        <p:spPr>
          <a:xfrm>
            <a:off x="8183880" y="5263896"/>
            <a:ext cx="3520440" cy="569975"/>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66760" y="5263896"/>
            <a:ext cx="3154680" cy="569975"/>
          </a:xfrm>
          <a:prstGeom prst="rect">
            <a:avLst/>
          </a:prstGeom>
          <a:noFill/>
        </p:spPr>
        <p:txBody>
          <a:bodyPr wrap="square" anchor="ctr" lIns="0" rIns="0" tIns="0" bIns="0">
            <a:spAutoFit/>
          </a:bodyPr>
          <a:lstStyle/>
          <a:p>
            <a:pPr algn="l"/>
            <a:r>
              <a:rPr sz="1200" b="1" i="0">
                <a:solidFill>
                  <a:srgbClr val="D1282E"/>
                </a:solidFill>
                <a:latin typeface="Nirmala UI"/>
              </a:rPr>
              <a:t>READ-ONLY   </a:t>
            </a:r>
            <a:r>
              <a:rPr sz="1200" b="0" i="0">
                <a:solidFill>
                  <a:srgbClr val="000000"/>
                </a:solidFill>
                <a:latin typeface="Nirmala UI"/>
              </a:rPr>
              <a:t>Stored orders never change.</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pipeline is a stream: each stage transforms the documents and passes them on.</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DEMO: ONE PIPELINE, STAGE BY STAGE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Paid revenue by fulfillment status — run it one stage at a time.</a:t>
            </a:r>
          </a:p>
        </p:txBody>
      </p:sp>
      <p:sp>
        <p:nvSpPr>
          <p:cNvPr id="4" name="Rounded Rectangle 3"/>
          <p:cNvSpPr/>
          <p:nvPr/>
        </p:nvSpPr>
        <p:spPr>
          <a:xfrm>
            <a:off x="457200" y="1298448"/>
            <a:ext cx="2537460" cy="868680"/>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424242"/>
                </a:solidFill>
                <a:latin typeface="Nirmala UI"/>
              </a:rPr>
              <a:t>training_store.orders</a:t>
            </a:r>
          </a:p>
          <a:p>
            <a:pPr algn="ctr"/>
            <a:r>
              <a:rPr sz="1200" b="0" i="0">
                <a:solidFill>
                  <a:srgbClr val="424242"/>
                </a:solidFill>
                <a:latin typeface="Nirmala UI"/>
              </a:rPr>
              <a:t>17 documents</a:t>
            </a:r>
          </a:p>
        </p:txBody>
      </p:sp>
      <p:cxnSp>
        <p:nvCxnSpPr>
          <p:cNvPr id="5" name="Connector 4"/>
          <p:cNvCxnSpPr/>
          <p:nvPr/>
        </p:nvCxnSpPr>
        <p:spPr>
          <a:xfrm>
            <a:off x="3022092" y="1732788"/>
            <a:ext cx="310896" cy="0"/>
          </a:xfrm>
          <a:prstGeom prst="line">
            <a:avLst/>
          </a:prstGeom>
          <a:ln w="22225">
            <a:solidFill>
              <a:srgbClr val="182F5F"/>
            </a:solidFill>
            <a:tailEnd type="triangle" w="med" h="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360420" y="1298448"/>
            <a:ext cx="2537460" cy="868680"/>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Nirmala UI"/>
              </a:rPr>
              <a:t>$match</a:t>
            </a:r>
          </a:p>
          <a:p>
            <a:pPr algn="ctr"/>
            <a:r>
              <a:rPr sz="1200" b="0" i="0">
                <a:solidFill>
                  <a:srgbClr val="FFFFFF"/>
                </a:solidFill>
                <a:latin typeface="Nirmala UI"/>
              </a:rPr>
              <a:t>paymentStatus: "PAID" → 13</a:t>
            </a:r>
          </a:p>
        </p:txBody>
      </p:sp>
      <p:cxnSp>
        <p:nvCxnSpPr>
          <p:cNvPr id="7" name="Connector 6"/>
          <p:cNvCxnSpPr/>
          <p:nvPr/>
        </p:nvCxnSpPr>
        <p:spPr>
          <a:xfrm>
            <a:off x="5925312" y="1732788"/>
            <a:ext cx="310896" cy="0"/>
          </a:xfrm>
          <a:prstGeom prst="line">
            <a:avLst/>
          </a:prstGeom>
          <a:ln w="22225">
            <a:solidFill>
              <a:srgbClr val="182F5F"/>
            </a:solidFill>
            <a:tailEnd type="triangle" w="med" h="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63640" y="1298448"/>
            <a:ext cx="2537460" cy="868680"/>
          </a:xfrm>
          <a:prstGeom prst="roundRect">
            <a:avLst>
              <a:gd name="adj" fmla="val 14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Nirmala UI"/>
              </a:rPr>
              <a:t>$group</a:t>
            </a:r>
          </a:p>
          <a:p>
            <a:pPr algn="ctr"/>
            <a:r>
              <a:rPr sz="1200" b="0" i="0">
                <a:solidFill>
                  <a:srgbClr val="FFFFFF"/>
                </a:solidFill>
                <a:latin typeface="Nirmala UI"/>
              </a:rPr>
              <a:t>by fulfillmentStatus → 4</a:t>
            </a:r>
          </a:p>
        </p:txBody>
      </p:sp>
      <p:cxnSp>
        <p:nvCxnSpPr>
          <p:cNvPr id="9" name="Connector 8"/>
          <p:cNvCxnSpPr/>
          <p:nvPr/>
        </p:nvCxnSpPr>
        <p:spPr>
          <a:xfrm>
            <a:off x="8828532" y="1732788"/>
            <a:ext cx="310896" cy="0"/>
          </a:xfrm>
          <a:prstGeom prst="line">
            <a:avLst/>
          </a:prstGeom>
          <a:ln w="22225">
            <a:solidFill>
              <a:srgbClr val="182F5F"/>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166860" y="1298448"/>
            <a:ext cx="2537460" cy="868680"/>
          </a:xfrm>
          <a:prstGeom prst="roundRect">
            <a:avLst>
              <a:gd name="adj" fmla="val 14000"/>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Nirmala UI"/>
              </a:rPr>
              <a:t>$sort</a:t>
            </a:r>
          </a:p>
          <a:p>
            <a:pPr algn="ctr"/>
            <a:r>
              <a:rPr sz="1200" b="0" i="0">
                <a:solidFill>
                  <a:srgbClr val="FFFFFF"/>
                </a:solidFill>
                <a:latin typeface="Nirmala UI"/>
              </a:rPr>
              <a:t>revenue: -1 → 4 ranked</a:t>
            </a:r>
          </a:p>
        </p:txBody>
      </p:sp>
      <p:sp>
        <p:nvSpPr>
          <p:cNvPr id="11" name="Oval 10"/>
          <p:cNvSpPr/>
          <p:nvPr/>
        </p:nvSpPr>
        <p:spPr>
          <a:xfrm>
            <a:off x="457200" y="2441448"/>
            <a:ext cx="310896" cy="310896"/>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44144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13" name="TextBox 12"/>
          <p:cNvSpPr txBox="1"/>
          <p:nvPr/>
        </p:nvSpPr>
        <p:spPr>
          <a:xfrm>
            <a:off x="841248" y="2432304"/>
            <a:ext cx="5376672" cy="347472"/>
          </a:xfrm>
          <a:prstGeom prst="rect">
            <a:avLst/>
          </a:prstGeom>
          <a:noFill/>
        </p:spPr>
        <p:txBody>
          <a:bodyPr wrap="square" anchor="ctr" lIns="0" rIns="0" tIns="0" bIns="0">
            <a:spAutoFit/>
          </a:bodyPr>
          <a:lstStyle/>
          <a:p>
            <a:pPr algn="l"/>
            <a:r>
              <a:rPr sz="1400" b="1" i="0">
                <a:solidFill>
                  <a:srgbClr val="D1282E"/>
                </a:solidFill>
                <a:latin typeface="Nirmala UI"/>
              </a:rPr>
              <a:t>THE PIPELINE</a:t>
            </a:r>
          </a:p>
        </p:txBody>
      </p:sp>
      <p:sp>
        <p:nvSpPr>
          <p:cNvPr id="14" name="Rounded Rectangle 13"/>
          <p:cNvSpPr/>
          <p:nvPr/>
        </p:nvSpPr>
        <p:spPr>
          <a:xfrm>
            <a:off x="457200" y="2880360"/>
            <a:ext cx="5760720" cy="233172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db.orders.aggregate([</a:t>
            </a:r>
          </a:p>
          <a:p>
            <a:pPr algn="l"/>
            <a:r>
              <a:rPr sz="1300" b="0" i="0">
                <a:solidFill>
                  <a:srgbClr val="000000"/>
                </a:solidFill>
                <a:latin typeface="Consolas"/>
              </a:rPr>
              <a:t>  { $match: { paymentStatus: "PAID" } },</a:t>
            </a:r>
          </a:p>
          <a:p>
            <a:pPr algn="l"/>
            <a:r>
              <a:rPr sz="1300" b="0" i="0">
                <a:solidFill>
                  <a:srgbClr val="000000"/>
                </a:solidFill>
                <a:latin typeface="Consolas"/>
              </a:rPr>
              <a:t>  { $group: {</a:t>
            </a:r>
          </a:p>
          <a:p>
            <a:pPr algn="l"/>
            <a:r>
              <a:rPr sz="1300" b="0" i="0">
                <a:solidFill>
                  <a:srgbClr val="000000"/>
                </a:solidFill>
                <a:latin typeface="Consolas"/>
              </a:rPr>
              <a:t>      _id: "$fulfillmentStatus",</a:t>
            </a:r>
          </a:p>
          <a:p>
            <a:pPr algn="l"/>
            <a:r>
              <a:rPr sz="1300" b="0" i="0">
                <a:solidFill>
                  <a:srgbClr val="000000"/>
                </a:solidFill>
                <a:latin typeface="Consolas"/>
              </a:rPr>
              <a:t>      orders: { $sum: 1 },</a:t>
            </a:r>
          </a:p>
          <a:p>
            <a:pPr algn="l"/>
            <a:r>
              <a:rPr sz="1300" b="0" i="0">
                <a:solidFill>
                  <a:srgbClr val="000000"/>
                </a:solidFill>
                <a:latin typeface="Consolas"/>
              </a:rPr>
              <a:t>      revenue: { $sum: "$total" } } },</a:t>
            </a:r>
          </a:p>
          <a:p>
            <a:pPr algn="l"/>
            <a:r>
              <a:rPr sz="1300" b="0" i="0">
                <a:solidFill>
                  <a:srgbClr val="000000"/>
                </a:solidFill>
                <a:latin typeface="Consolas"/>
              </a:rPr>
              <a:t>  { $sort: { revenue: -1 } }</a:t>
            </a:r>
          </a:p>
          <a:p>
            <a:pPr algn="l"/>
            <a:r>
              <a:rPr sz="1300" b="0" i="0">
                <a:solidFill>
                  <a:srgbClr val="000000"/>
                </a:solidFill>
                <a:latin typeface="Consolas"/>
              </a:rPr>
              <a:t>])</a:t>
            </a:r>
          </a:p>
        </p:txBody>
      </p:sp>
      <p:sp>
        <p:nvSpPr>
          <p:cNvPr id="15" name="Oval 14"/>
          <p:cNvSpPr/>
          <p:nvPr/>
        </p:nvSpPr>
        <p:spPr>
          <a:xfrm>
            <a:off x="6583680" y="2441448"/>
            <a:ext cx="310896" cy="310896"/>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244144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17" name="TextBox 16"/>
          <p:cNvSpPr txBox="1"/>
          <p:nvPr/>
        </p:nvSpPr>
        <p:spPr>
          <a:xfrm>
            <a:off x="6967728" y="2432304"/>
            <a:ext cx="4736592" cy="347472"/>
          </a:xfrm>
          <a:prstGeom prst="rect">
            <a:avLst/>
          </a:prstGeom>
          <a:noFill/>
        </p:spPr>
        <p:txBody>
          <a:bodyPr wrap="square" anchor="ctr" lIns="0" rIns="0" tIns="0" bIns="0">
            <a:spAutoFit/>
          </a:bodyPr>
          <a:lstStyle/>
          <a:p>
            <a:pPr algn="l"/>
            <a:r>
              <a:rPr sz="1400" b="1" i="0">
                <a:solidFill>
                  <a:srgbClr val="D1282E"/>
                </a:solidFill>
                <a:latin typeface="Nirmala UI"/>
              </a:rPr>
              <a:t>THE RESULT: 4 DOCUMENTS</a:t>
            </a:r>
          </a:p>
        </p:txBody>
      </p:sp>
      <p:graphicFrame>
        <p:nvGraphicFramePr>
          <p:cNvPr id="18" name="Table 17"/>
          <p:cNvGraphicFramePr>
            <a:graphicFrameLocks noGrp="1"/>
          </p:cNvGraphicFramePr>
          <p:nvPr/>
        </p:nvGraphicFramePr>
        <p:xfrm>
          <a:off x="6583680" y="2880360"/>
          <a:ext cx="5120640" cy="2011680"/>
        </p:xfrm>
        <a:graphic>
          <a:graphicData uri="http://schemas.openxmlformats.org/drawingml/2006/table">
            <a:tbl>
              <a:tblPr firstRow="1" bandRow="1">
                <a:tableStyleId>{5C22544A-7EE6-4342-B048-85BDC9FD1C3A}</a:tableStyleId>
              </a:tblPr>
              <a:tblGrid>
                <a:gridCol w="2011680"/>
                <a:gridCol w="1143000"/>
                <a:gridCol w="1965960"/>
              </a:tblGrid>
              <a:tr h="402336">
                <a:tc>
                  <a:txBody>
                    <a:bodyPr/>
                    <a:lstStyle/>
                    <a:p>
                      <a:r>
                        <a:rPr sz="1400" b="1" i="0">
                          <a:solidFill>
                            <a:srgbClr val="FFFFFF"/>
                          </a:solidFill>
                          <a:latin typeface="Nirmala UI"/>
                        </a:rPr>
                        <a:t>_id</a:t>
                      </a:r>
                    </a:p>
                  </a:txBody>
                  <a:tcPr anchor="ctr">
                    <a:solidFill>
                      <a:srgbClr val="182F5F"/>
                    </a:solidFill>
                  </a:tcPr>
                </a:tc>
                <a:tc>
                  <a:txBody>
                    <a:bodyPr/>
                    <a:lstStyle/>
                    <a:p>
                      <a:r>
                        <a:rPr sz="1400" b="1" i="0">
                          <a:solidFill>
                            <a:srgbClr val="FFFFFF"/>
                          </a:solidFill>
                          <a:latin typeface="Nirmala UI"/>
                        </a:rPr>
                        <a:t>orders</a:t>
                      </a:r>
                    </a:p>
                  </a:txBody>
                  <a:tcPr anchor="ctr">
                    <a:solidFill>
                      <a:srgbClr val="182F5F"/>
                    </a:solidFill>
                  </a:tcPr>
                </a:tc>
                <a:tc>
                  <a:txBody>
                    <a:bodyPr/>
                    <a:lstStyle/>
                    <a:p>
                      <a:r>
                        <a:rPr sz="1400" b="1" i="0">
                          <a:solidFill>
                            <a:srgbClr val="FFFFFF"/>
                          </a:solidFill>
                          <a:latin typeface="Nirmala UI"/>
                        </a:rPr>
                        <a:t>revenue</a:t>
                      </a:r>
                    </a:p>
                  </a:txBody>
                  <a:tcPr anchor="ctr">
                    <a:solidFill>
                      <a:srgbClr val="182F5F"/>
                    </a:solidFill>
                  </a:tcPr>
                </a:tc>
              </a:tr>
              <a:tr h="402336">
                <a:tc>
                  <a:txBody>
                    <a:bodyPr/>
                    <a:lstStyle/>
                    <a:p>
                      <a:r>
                        <a:rPr sz="1400" b="1" i="0">
                          <a:solidFill>
                            <a:srgbClr val="000000"/>
                          </a:solidFill>
                          <a:latin typeface="Nirmala UI"/>
                        </a:rPr>
                        <a:t>SHIPPED</a:t>
                      </a:r>
                    </a:p>
                  </a:txBody>
                  <a:tcPr anchor="ctr">
                    <a:solidFill>
                      <a:srgbClr val="FFFFFF"/>
                    </a:solidFill>
                  </a:tcPr>
                </a:tc>
                <a:tc>
                  <a:txBody>
                    <a:bodyPr/>
                    <a:lstStyle/>
                    <a:p>
                      <a:r>
                        <a:rPr sz="1400" b="0" i="0">
                          <a:solidFill>
                            <a:srgbClr val="000000"/>
                          </a:solidFill>
                          <a:latin typeface="Nirmala UI"/>
                        </a:rPr>
                        <a:t>6</a:t>
                      </a:r>
                    </a:p>
                  </a:txBody>
                  <a:tcPr anchor="ctr">
                    <a:solidFill>
                      <a:srgbClr val="FFFFFF"/>
                    </a:solidFill>
                  </a:tcPr>
                </a:tc>
                <a:tc>
                  <a:txBody>
                    <a:bodyPr/>
                    <a:lstStyle/>
                    <a:p>
                      <a:r>
                        <a:rPr sz="1400" b="0" i="0">
                          <a:solidFill>
                            <a:srgbClr val="000000"/>
                          </a:solidFill>
                          <a:latin typeface="Nirmala UI"/>
                        </a:rPr>
                        <a:t>3809.48</a:t>
                      </a:r>
                    </a:p>
                  </a:txBody>
                  <a:tcPr anchor="ctr">
                    <a:solidFill>
                      <a:srgbClr val="FFFFFF"/>
                    </a:solidFill>
                  </a:tcPr>
                </a:tc>
              </a:tr>
              <a:tr h="402336">
                <a:tc>
                  <a:txBody>
                    <a:bodyPr/>
                    <a:lstStyle/>
                    <a:p>
                      <a:r>
                        <a:rPr sz="1400" b="1" i="0">
                          <a:solidFill>
                            <a:srgbClr val="000000"/>
                          </a:solidFill>
                          <a:latin typeface="Nirmala UI"/>
                        </a:rPr>
                        <a:t>DELIVERED</a:t>
                      </a:r>
                    </a:p>
                  </a:txBody>
                  <a:tcPr anchor="ctr">
                    <a:solidFill>
                      <a:srgbClr val="F5F5F5"/>
                    </a:solidFill>
                  </a:tcPr>
                </a:tc>
                <a:tc>
                  <a:txBody>
                    <a:bodyPr/>
                    <a:lstStyle/>
                    <a:p>
                      <a:r>
                        <a:rPr sz="1400" b="0" i="0">
                          <a:solidFill>
                            <a:srgbClr val="000000"/>
                          </a:solidFill>
                          <a:latin typeface="Nirmala UI"/>
                        </a:rPr>
                        <a:t>4</a:t>
                      </a:r>
                    </a:p>
                  </a:txBody>
                  <a:tcPr anchor="ctr">
                    <a:solidFill>
                      <a:srgbClr val="F5F5F5"/>
                    </a:solidFill>
                  </a:tcPr>
                </a:tc>
                <a:tc>
                  <a:txBody>
                    <a:bodyPr/>
                    <a:lstStyle/>
                    <a:p>
                      <a:r>
                        <a:rPr sz="1400" b="0" i="0">
                          <a:solidFill>
                            <a:srgbClr val="000000"/>
                          </a:solidFill>
                          <a:latin typeface="Nirmala UI"/>
                        </a:rPr>
                        <a:t>2788.42</a:t>
                      </a:r>
                    </a:p>
                  </a:txBody>
                  <a:tcPr anchor="ctr">
                    <a:solidFill>
                      <a:srgbClr val="F5F5F5"/>
                    </a:solidFill>
                  </a:tcPr>
                </a:tc>
              </a:tr>
              <a:tr h="402336">
                <a:tc>
                  <a:txBody>
                    <a:bodyPr/>
                    <a:lstStyle/>
                    <a:p>
                      <a:r>
                        <a:rPr sz="1400" b="1" i="0">
                          <a:solidFill>
                            <a:srgbClr val="000000"/>
                          </a:solidFill>
                          <a:latin typeface="Nirmala UI"/>
                        </a:rPr>
                        <a:t>PROCESSING</a:t>
                      </a:r>
                    </a:p>
                  </a:txBody>
                  <a:tcPr anchor="ctr">
                    <a:solidFill>
                      <a:srgbClr val="FFFFFF"/>
                    </a:solidFill>
                  </a:tcPr>
                </a:tc>
                <a:tc>
                  <a:txBody>
                    <a:bodyPr/>
                    <a:lstStyle/>
                    <a:p>
                      <a:r>
                        <a:rPr sz="1400" b="0" i="0">
                          <a:solidFill>
                            <a:srgbClr val="000000"/>
                          </a:solidFill>
                          <a:latin typeface="Nirmala UI"/>
                        </a:rPr>
                        <a:t>2</a:t>
                      </a:r>
                    </a:p>
                  </a:txBody>
                  <a:tcPr anchor="ctr">
                    <a:solidFill>
                      <a:srgbClr val="FFFFFF"/>
                    </a:solidFill>
                  </a:tcPr>
                </a:tc>
                <a:tc>
                  <a:txBody>
                    <a:bodyPr/>
                    <a:lstStyle/>
                    <a:p>
                      <a:r>
                        <a:rPr sz="1400" b="0" i="0">
                          <a:solidFill>
                            <a:srgbClr val="000000"/>
                          </a:solidFill>
                          <a:latin typeface="Nirmala UI"/>
                        </a:rPr>
                        <a:t>2448.77</a:t>
                      </a:r>
                    </a:p>
                  </a:txBody>
                  <a:tcPr anchor="ctr">
                    <a:solidFill>
                      <a:srgbClr val="FFFFFF"/>
                    </a:solidFill>
                  </a:tcPr>
                </a:tc>
              </a:tr>
              <a:tr h="402336">
                <a:tc>
                  <a:txBody>
                    <a:bodyPr/>
                    <a:lstStyle/>
                    <a:p>
                      <a:r>
                        <a:rPr sz="1400" b="1" i="0">
                          <a:solidFill>
                            <a:srgbClr val="000000"/>
                          </a:solidFill>
                          <a:latin typeface="Nirmala UI"/>
                        </a:rPr>
                        <a:t>NEW</a:t>
                      </a:r>
                    </a:p>
                  </a:txBody>
                  <a:tcPr anchor="ctr">
                    <a:solidFill>
                      <a:srgbClr val="F5F5F5"/>
                    </a:solidFill>
                  </a:tcPr>
                </a:tc>
                <a:tc>
                  <a:txBody>
                    <a:bodyPr/>
                    <a:lstStyle/>
                    <a:p>
                      <a:r>
                        <a:rPr sz="1400" b="0" i="0">
                          <a:solidFill>
                            <a:srgbClr val="000000"/>
                          </a:solidFill>
                          <a:latin typeface="Nirmala UI"/>
                        </a:rPr>
                        <a:t>1</a:t>
                      </a:r>
                    </a:p>
                  </a:txBody>
                  <a:tcPr anchor="ctr">
                    <a:solidFill>
                      <a:srgbClr val="F5F5F5"/>
                    </a:solidFill>
                  </a:tcPr>
                </a:tc>
                <a:tc>
                  <a:txBody>
                    <a:bodyPr/>
                    <a:lstStyle/>
                    <a:p>
                      <a:r>
                        <a:rPr sz="1400" b="0" i="0">
                          <a:solidFill>
                            <a:srgbClr val="000000"/>
                          </a:solidFill>
                          <a:latin typeface="Nirmala UI"/>
                        </a:rPr>
                        <a:t>71.77</a:t>
                      </a:r>
                    </a:p>
                  </a:txBody>
                  <a:tcPr anchor="ctr">
                    <a:solidFill>
                      <a:srgbClr val="F5F5F5"/>
                    </a:solidFill>
                  </a:tcPr>
                </a:tc>
              </a:tr>
            </a:tbl>
          </a:graphicData>
        </a:graphic>
      </p:graphicFrame>
      <p:sp>
        <p:nvSpPr>
          <p:cNvPr id="19" name="TextBox 18"/>
          <p:cNvSpPr txBox="1"/>
          <p:nvPr/>
        </p:nvSpPr>
        <p:spPr>
          <a:xfrm>
            <a:off x="6583680" y="4965192"/>
            <a:ext cx="5120640" cy="365760"/>
          </a:xfrm>
          <a:prstGeom prst="rect">
            <a:avLst/>
          </a:prstGeom>
          <a:noFill/>
        </p:spPr>
        <p:txBody>
          <a:bodyPr wrap="square" anchor="t" lIns="0" rIns="0" tIns="0" bIns="0">
            <a:spAutoFit/>
          </a:bodyPr>
          <a:lstStyle/>
          <a:p>
            <a:pPr algn="l"/>
            <a:r>
              <a:rPr sz="1300" b="0" i="1">
                <a:solidFill>
                  <a:srgbClr val="424242"/>
                </a:solidFill>
                <a:latin typeface="Nirmala UI"/>
              </a:rPr>
              <a:t>Check: 6 + 4 + 2 + 1 = 13 paid orders.</a:t>
            </a:r>
          </a:p>
        </p:txBody>
      </p:sp>
      <p:sp>
        <p:nvSpPr>
          <p:cNvPr id="20" name="Rounded Rectangle 19"/>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Run each stage on its own first — the counts tell you whether it did what you meant.</a:t>
            </a:r>
          </a:p>
        </p:txBody>
      </p:sp>
      <p:sp>
        <p:nvSpPr>
          <p:cNvPr id="22" name="Rectangle 2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STAGE ORDER MATTERS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Match then group is a report; group then match returns nothing.</a:t>
            </a:r>
          </a:p>
        </p:txBody>
      </p:sp>
      <p:sp>
        <p:nvSpPr>
          <p:cNvPr id="4" name="Rounded Rectangle 3"/>
          <p:cNvSpPr/>
          <p:nvPr/>
        </p:nvSpPr>
        <p:spPr>
          <a:xfrm>
            <a:off x="475488" y="1687615"/>
            <a:ext cx="7415783" cy="3757088"/>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09" descr="image.jpg"/>
          <p:cNvPicPr>
            <a:picLocks noChangeAspect="1"/>
          </p:cNvPicPr>
          <p:nvPr/>
        </p:nvPicPr>
        <p:blipFill>
          <a:blip r:embed="rId2"/>
          <a:stretch>
            <a:fillRect/>
          </a:stretch>
        </p:blipFill>
        <p:spPr>
          <a:xfrm>
            <a:off x="548640" y="1760767"/>
            <a:ext cx="7269480" cy="3610784"/>
          </a:xfrm>
          <a:prstGeom prst="rect">
            <a:avLst/>
          </a:prstGeom>
        </p:spPr>
      </p:pic>
      <p:sp>
        <p:nvSpPr>
          <p:cNvPr id="6" name="Rounded Rectangle 5"/>
          <p:cNvSpPr/>
          <p:nvPr/>
        </p:nvSpPr>
        <p:spPr>
          <a:xfrm>
            <a:off x="8183880" y="1298448"/>
            <a:ext cx="352044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Match, then group</a:t>
            </a:r>
          </a:p>
        </p:txBody>
      </p:sp>
      <p:sp>
        <p:nvSpPr>
          <p:cNvPr id="8" name="TextBox 7"/>
          <p:cNvSpPr txBox="1"/>
          <p:nvPr/>
        </p:nvSpPr>
        <p:spPr>
          <a:xfrm>
            <a:off x="8321040" y="1664208"/>
            <a:ext cx="3246120" cy="874775"/>
          </a:xfrm>
          <a:prstGeom prst="rect">
            <a:avLst/>
          </a:prstGeom>
          <a:noFill/>
        </p:spPr>
        <p:txBody>
          <a:bodyPr wrap="square" anchor="t" lIns="0" rIns="0" tIns="0" bIns="0">
            <a:spAutoFit/>
          </a:bodyPr>
          <a:lstStyle/>
          <a:p>
            <a:pPr algn="l"/>
            <a:r>
              <a:rPr sz="1200" b="0" i="0">
                <a:solidFill>
                  <a:srgbClr val="000000"/>
                </a:solidFill>
                <a:latin typeface="Nirmala UI"/>
              </a:rPr>
              <a:t>Keep PAID orders, then total them: paid revenue per customer.</a:t>
            </a:r>
          </a:p>
        </p:txBody>
      </p:sp>
      <p:sp>
        <p:nvSpPr>
          <p:cNvPr id="9" name="Rounded Rectangle 8"/>
          <p:cNvSpPr/>
          <p:nvPr/>
        </p:nvSpPr>
        <p:spPr>
          <a:xfrm>
            <a:off x="8183880" y="2721864"/>
            <a:ext cx="352044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77672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Group, then match</a:t>
            </a:r>
          </a:p>
        </p:txBody>
      </p:sp>
      <p:sp>
        <p:nvSpPr>
          <p:cNvPr id="11" name="TextBox 10"/>
          <p:cNvSpPr txBox="1"/>
          <p:nvPr/>
        </p:nvSpPr>
        <p:spPr>
          <a:xfrm>
            <a:off x="8321040" y="3087624"/>
            <a:ext cx="3246120" cy="874776"/>
          </a:xfrm>
          <a:prstGeom prst="rect">
            <a:avLst/>
          </a:prstGeom>
          <a:noFill/>
        </p:spPr>
        <p:txBody>
          <a:bodyPr wrap="square" anchor="t" lIns="0" rIns="0" tIns="0" bIns="0">
            <a:spAutoFit/>
          </a:bodyPr>
          <a:lstStyle/>
          <a:p>
            <a:pPr algn="l"/>
            <a:r>
              <a:rPr sz="1200" b="0" i="0">
                <a:solidFill>
                  <a:srgbClr val="000000"/>
                </a:solidFill>
                <a:latin typeface="Nirmala UI"/>
              </a:rPr>
              <a:t>$group keeps only _id and totals — paymentStatus is gone.</a:t>
            </a:r>
          </a:p>
        </p:txBody>
      </p:sp>
      <p:sp>
        <p:nvSpPr>
          <p:cNvPr id="12" name="Oval 11"/>
          <p:cNvSpPr/>
          <p:nvPr/>
        </p:nvSpPr>
        <p:spPr>
          <a:xfrm>
            <a:off x="8183880" y="4172712"/>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13" name="TextBox 12"/>
          <p:cNvSpPr txBox="1"/>
          <p:nvPr/>
        </p:nvSpPr>
        <p:spPr>
          <a:xfrm>
            <a:off x="8513064" y="4145280"/>
            <a:ext cx="3191256" cy="310896"/>
          </a:xfrm>
          <a:prstGeom prst="rect">
            <a:avLst/>
          </a:prstGeom>
          <a:noFill/>
        </p:spPr>
        <p:txBody>
          <a:bodyPr wrap="square" anchor="ctr" lIns="0" rIns="0" tIns="0" bIns="0">
            <a:spAutoFit/>
          </a:bodyPr>
          <a:lstStyle/>
          <a:p>
            <a:pPr algn="l"/>
            <a:r>
              <a:rPr sz="1300" b="1" i="0">
                <a:solidFill>
                  <a:srgbClr val="D1282E"/>
                </a:solidFill>
                <a:latin typeface="Nirmala UI"/>
              </a:rPr>
              <a:t>Wrong order on training_store</a:t>
            </a:r>
          </a:p>
        </p:txBody>
      </p:sp>
      <p:sp>
        <p:nvSpPr>
          <p:cNvPr id="14" name="Rounded Rectangle 13"/>
          <p:cNvSpPr/>
          <p:nvPr/>
        </p:nvSpPr>
        <p:spPr>
          <a:xfrm>
            <a:off x="8183880" y="4474464"/>
            <a:ext cx="3520440" cy="1037335"/>
          </a:xfrm>
          <a:prstGeom prst="roundRect">
            <a:avLst>
              <a:gd name="adj" fmla="val 6000"/>
            </a:avLst>
          </a:prstGeom>
          <a:solidFill>
            <a:srgbClr val="FDECE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 $group: { _id: "$customerId",</a:t>
            </a:r>
          </a:p>
          <a:p>
            <a:pPr algn="l"/>
            <a:r>
              <a:rPr sz="1100" b="0" i="0">
                <a:solidFill>
                  <a:srgbClr val="000000"/>
                </a:solidFill>
                <a:latin typeface="Consolas"/>
              </a:rPr>
              <a:t>    spent: { $sum: "$total" } } },</a:t>
            </a:r>
          </a:p>
          <a:p>
            <a:pPr algn="l"/>
            <a:r>
              <a:rPr sz="1100" b="0" i="0">
                <a:solidFill>
                  <a:srgbClr val="000000"/>
                </a:solidFill>
                <a:latin typeface="Consolas"/>
              </a:rPr>
              <a:t>{ $match: { paymentStatus: "PAID" } }</a:t>
            </a:r>
          </a:p>
          <a:p>
            <a:pPr algn="l"/>
            <a:r>
              <a:rPr sz="1100" b="0" i="0">
                <a:solidFill>
                  <a:srgbClr val="000000"/>
                </a:solidFill>
                <a:latin typeface="Consolas"/>
              </a:rPr>
              <a:t>// → 0 documents</a:t>
            </a:r>
          </a:p>
        </p:txBody>
      </p:sp>
      <p:sp>
        <p:nvSpPr>
          <p:cNvPr id="15" name="Rounded Rectangle 14"/>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Stage order is part of the question — filter on stored fields before $group removes them.</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2: FILTER AND SHAPE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Choose the documents, then choose — or compute — their fields.</a:t>
            </a:r>
          </a:p>
        </p:txBody>
      </p:sp>
      <p:sp>
        <p:nvSpPr>
          <p:cNvPr id="4" name="Pentagon 3"/>
          <p:cNvSpPr/>
          <p:nvPr/>
        </p:nvSpPr>
        <p:spPr>
          <a:xfrm>
            <a:off x="457200" y="1298448"/>
            <a:ext cx="202234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1762658"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Pipelines</a:t>
            </a:r>
          </a:p>
        </p:txBody>
      </p:sp>
      <p:sp>
        <p:nvSpPr>
          <p:cNvPr id="6" name="Chevron 5"/>
          <p:cNvSpPr/>
          <p:nvPr/>
        </p:nvSpPr>
        <p:spPr>
          <a:xfrm>
            <a:off x="2302154" y="1298448"/>
            <a:ext cx="202234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516124"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2</a:t>
            </a:r>
          </a:p>
          <a:p>
            <a:pPr algn="ctr"/>
            <a:r>
              <a:rPr sz="1300" b="1" i="0">
                <a:solidFill>
                  <a:srgbClr val="FFFFFF"/>
                </a:solidFill>
                <a:latin typeface="Nirmala UI"/>
              </a:rPr>
              <a:t>Filter and shape</a:t>
            </a:r>
          </a:p>
        </p:txBody>
      </p:sp>
      <p:sp>
        <p:nvSpPr>
          <p:cNvPr id="8" name="Chevron 7"/>
          <p:cNvSpPr/>
          <p:nvPr/>
        </p:nvSpPr>
        <p:spPr>
          <a:xfrm>
            <a:off x="4147108"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4361078"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3</a:t>
            </a:r>
          </a:p>
          <a:p>
            <a:pPr algn="ctr"/>
            <a:r>
              <a:rPr sz="1300" b="1" i="0">
                <a:solidFill>
                  <a:srgbClr val="FFFFFF"/>
                </a:solidFill>
                <a:latin typeface="Nirmala UI"/>
              </a:rPr>
              <a:t>Group</a:t>
            </a:r>
          </a:p>
        </p:txBody>
      </p:sp>
      <p:sp>
        <p:nvSpPr>
          <p:cNvPr id="10" name="Chevron 9"/>
          <p:cNvSpPr/>
          <p:nvPr/>
        </p:nvSpPr>
        <p:spPr>
          <a:xfrm>
            <a:off x="5992063"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6206032"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4</a:t>
            </a:r>
          </a:p>
          <a:p>
            <a:pPr algn="ctr"/>
            <a:r>
              <a:rPr sz="1300" b="1" i="0">
                <a:solidFill>
                  <a:srgbClr val="FFFFFF"/>
                </a:solidFill>
                <a:latin typeface="Nirmala UI"/>
              </a:rPr>
              <a:t>Arrays and joins</a:t>
            </a:r>
          </a:p>
        </p:txBody>
      </p:sp>
      <p:sp>
        <p:nvSpPr>
          <p:cNvPr id="12" name="Chevron 11"/>
          <p:cNvSpPr/>
          <p:nvPr/>
        </p:nvSpPr>
        <p:spPr>
          <a:xfrm>
            <a:off x="7837017"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050987"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Reports</a:t>
            </a:r>
          </a:p>
        </p:txBody>
      </p:sp>
      <p:sp>
        <p:nvSpPr>
          <p:cNvPr id="14" name="Chevron 13"/>
          <p:cNvSpPr/>
          <p:nvPr/>
        </p:nvSpPr>
        <p:spPr>
          <a:xfrm>
            <a:off x="9681972"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9895941"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6</a:t>
            </a:r>
          </a:p>
          <a:p>
            <a:pPr algn="ctr"/>
            <a:r>
              <a:rPr sz="1300" b="1" i="0">
                <a:solidFill>
                  <a:srgbClr val="FFFFFF"/>
                </a:solidFill>
                <a:latin typeface="Nirmala UI"/>
              </a:rPr>
              <a:t>Performance</a:t>
            </a:r>
          </a:p>
        </p:txBody>
      </p:sp>
      <p:sp>
        <p:nvSpPr>
          <p:cNvPr id="16" name="Rounded Rectangle 15"/>
          <p:cNvSpPr/>
          <p:nvPr/>
        </p:nvSpPr>
        <p:spPr>
          <a:xfrm>
            <a:off x="457200" y="2304288"/>
            <a:ext cx="4937760" cy="223113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Round Same Side Corner Rectangle 16"/>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9" name="Oval 18"/>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28803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A pipeline is an ordered array of stages</a:t>
            </a:r>
          </a:p>
        </p:txBody>
      </p:sp>
      <p:sp>
        <p:nvSpPr>
          <p:cNvPr id="21" name="Oval 20"/>
          <p:cNvSpPr/>
          <p:nvPr/>
        </p:nvSpPr>
        <p:spPr>
          <a:xfrm>
            <a:off x="640080" y="34290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3558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Each stage sees only the previous output</a:t>
            </a:r>
          </a:p>
        </p:txBody>
      </p:sp>
      <p:sp>
        <p:nvSpPr>
          <p:cNvPr id="23" name="Oval 22"/>
          <p:cNvSpPr/>
          <p:nvPr/>
        </p:nvSpPr>
        <p:spPr>
          <a:xfrm>
            <a:off x="640080" y="39044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4" name="TextBox 23"/>
          <p:cNvSpPr txBox="1"/>
          <p:nvPr/>
        </p:nvSpPr>
        <p:spPr>
          <a:xfrm>
            <a:off x="1051560" y="3831336"/>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Filter before $group removes fields</a:t>
            </a:r>
          </a:p>
        </p:txBody>
      </p:sp>
      <p:sp>
        <p:nvSpPr>
          <p:cNvPr id="25" name="Rounded Rectangle 24"/>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TextBox 25"/>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7" name="TextBox 26"/>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How do we keep only the documents we need, and give them the shape the report needs?</a:t>
            </a:r>
          </a:p>
        </p:txBody>
      </p:sp>
      <p:sp>
        <p:nvSpPr>
          <p:cNvPr id="28" name="TextBox 27"/>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9" name="Oval 28"/>
          <p:cNvSpPr/>
          <p:nvPr/>
        </p:nvSpPr>
        <p:spPr>
          <a:xfrm>
            <a:off x="5760720" y="399796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30" name="TextBox 29"/>
          <p:cNvSpPr txBox="1"/>
          <p:nvPr/>
        </p:nvSpPr>
        <p:spPr>
          <a:xfrm>
            <a:off x="6144768" y="3933952"/>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$match: filter the stream</a:t>
            </a:r>
          </a:p>
        </p:txBody>
      </p:sp>
      <p:sp>
        <p:nvSpPr>
          <p:cNvPr id="31" name="Oval 30"/>
          <p:cNvSpPr/>
          <p:nvPr/>
        </p:nvSpPr>
        <p:spPr>
          <a:xfrm>
            <a:off x="5760720" y="440029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2" name="TextBox 31"/>
          <p:cNvSpPr txBox="1"/>
          <p:nvPr/>
        </p:nvSpPr>
        <p:spPr>
          <a:xfrm>
            <a:off x="6144768" y="4336288"/>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$match on real fields and dates</a:t>
            </a:r>
          </a:p>
        </p:txBody>
      </p:sp>
      <p:sp>
        <p:nvSpPr>
          <p:cNvPr id="33" name="Oval 32"/>
          <p:cNvSpPr/>
          <p:nvPr/>
        </p:nvSpPr>
        <p:spPr>
          <a:xfrm>
            <a:off x="5760720" y="4802632"/>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4" name="TextBox 33"/>
          <p:cNvSpPr txBox="1"/>
          <p:nvPr/>
        </p:nvSpPr>
        <p:spPr>
          <a:xfrm>
            <a:off x="6144768" y="4738624"/>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$project: include, exclude, rename</a:t>
            </a:r>
          </a:p>
        </p:txBody>
      </p:sp>
      <p:sp>
        <p:nvSpPr>
          <p:cNvPr id="35" name="Oval 34"/>
          <p:cNvSpPr/>
          <p:nvPr/>
        </p:nvSpPr>
        <p:spPr>
          <a:xfrm>
            <a:off x="5760720" y="5204968"/>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6" name="TextBox 35"/>
          <p:cNvSpPr txBox="1"/>
          <p:nvPr/>
        </p:nvSpPr>
        <p:spPr>
          <a:xfrm>
            <a:off x="6144768" y="5140960"/>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Calculated fields and $set</a:t>
            </a:r>
          </a:p>
        </p:txBody>
      </p:sp>
      <p:sp>
        <p:nvSpPr>
          <p:cNvPr id="37" name="Oval 36"/>
          <p:cNvSpPr/>
          <p:nvPr/>
        </p:nvSpPr>
        <p:spPr>
          <a:xfrm>
            <a:off x="5760720" y="5607304"/>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38" name="TextBox 37"/>
          <p:cNvSpPr txBox="1"/>
          <p:nvPr/>
        </p:nvSpPr>
        <p:spPr>
          <a:xfrm>
            <a:off x="6144768" y="5543296"/>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$sort and $limit: top-N</a:t>
            </a:r>
          </a:p>
        </p:txBody>
      </p:sp>
      <p:sp>
        <p:nvSpPr>
          <p:cNvPr id="39" name="Rectangle 3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THE $MATCH STAGE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Keep only the documents that satisfy the filter.</a:t>
            </a:r>
          </a:p>
        </p:txBody>
      </p:sp>
      <p:sp>
        <p:nvSpPr>
          <p:cNvPr id="4" name="Rounded Rectangle 3"/>
          <p:cNvSpPr/>
          <p:nvPr/>
        </p:nvSpPr>
        <p:spPr>
          <a:xfrm>
            <a:off x="475488" y="1697666"/>
            <a:ext cx="7415783" cy="3736986"/>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11" descr="image.jpg"/>
          <p:cNvPicPr>
            <a:picLocks noChangeAspect="1"/>
          </p:cNvPicPr>
          <p:nvPr/>
        </p:nvPicPr>
        <p:blipFill>
          <a:blip r:embed="rId2"/>
          <a:stretch>
            <a:fillRect/>
          </a:stretch>
        </p:blipFill>
        <p:spPr>
          <a:xfrm>
            <a:off x="548640" y="1770818"/>
            <a:ext cx="7269480" cy="3590682"/>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Paid orders of 1000 or more</a:t>
            </a:r>
          </a:p>
        </p:txBody>
      </p:sp>
      <p:sp>
        <p:nvSpPr>
          <p:cNvPr id="7" name="Rounded Rectangle 6"/>
          <p:cNvSpPr/>
          <p:nvPr/>
        </p:nvSpPr>
        <p:spPr>
          <a:xfrm>
            <a:off x="8183880" y="1627632"/>
            <a:ext cx="3520440" cy="130149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 $match: {</a:t>
            </a:r>
          </a:p>
          <a:p>
            <a:pPr algn="l"/>
            <a:r>
              <a:rPr sz="1200" b="0" i="0">
                <a:solidFill>
                  <a:srgbClr val="000000"/>
                </a:solidFill>
                <a:latin typeface="Consolas"/>
              </a:rPr>
              <a:t>    paymentStatus: "PAID",</a:t>
            </a:r>
          </a:p>
          <a:p>
            <a:pPr algn="l"/>
            <a:r>
              <a:rPr sz="1200" b="0" i="0">
                <a:solidFill>
                  <a:srgbClr val="000000"/>
                </a:solidFill>
                <a:latin typeface="Consolas"/>
              </a:rPr>
              <a:t>    total: { $gte:</a:t>
            </a:r>
          </a:p>
          <a:p>
            <a:pPr algn="l"/>
            <a:r>
              <a:rPr sz="1200" b="0" i="0">
                <a:solidFill>
                  <a:srgbClr val="000000"/>
                </a:solidFill>
                <a:latin typeface="Consolas"/>
              </a:rPr>
              <a:t>      Decimal128("1000.00") }</a:t>
            </a:r>
          </a:p>
          <a:p>
            <a:pPr algn="l"/>
            <a:r>
              <a:rPr sz="1200" b="0" i="0">
                <a:solidFill>
                  <a:srgbClr val="000000"/>
                </a:solidFill>
                <a:latin typeface="Consolas"/>
              </a:rPr>
              <a:t>} }</a:t>
            </a:r>
          </a:p>
        </p:txBody>
      </p:sp>
      <p:sp>
        <p:nvSpPr>
          <p:cNvPr id="8" name="Rounded Rectangle 7"/>
          <p:cNvSpPr/>
          <p:nvPr/>
        </p:nvSpPr>
        <p:spPr>
          <a:xfrm>
            <a:off x="8183880" y="3057144"/>
            <a:ext cx="3520440" cy="78943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311200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Result</a:t>
            </a:r>
          </a:p>
        </p:txBody>
      </p:sp>
      <p:sp>
        <p:nvSpPr>
          <p:cNvPr id="10" name="TextBox 9"/>
          <p:cNvSpPr txBox="1"/>
          <p:nvPr/>
        </p:nvSpPr>
        <p:spPr>
          <a:xfrm>
            <a:off x="8321040" y="3422904"/>
            <a:ext cx="3246120" cy="368808"/>
          </a:xfrm>
          <a:prstGeom prst="rect">
            <a:avLst/>
          </a:prstGeom>
          <a:noFill/>
        </p:spPr>
        <p:txBody>
          <a:bodyPr wrap="square" anchor="t" lIns="0" rIns="0" tIns="0" bIns="0">
            <a:spAutoFit/>
          </a:bodyPr>
          <a:lstStyle/>
          <a:p>
            <a:pPr algn="l"/>
            <a:r>
              <a:rPr sz="1200" b="0" i="0">
                <a:solidFill>
                  <a:srgbClr val="000000"/>
                </a:solidFill>
                <a:latin typeface="Nirmala UI"/>
              </a:rPr>
              <a:t>4 orders: O6101, O6202, O6301 and O6304.</a:t>
            </a:r>
          </a:p>
        </p:txBody>
      </p:sp>
      <p:sp>
        <p:nvSpPr>
          <p:cNvPr id="11" name="Rounded Rectangle 10"/>
          <p:cNvSpPr/>
          <p:nvPr/>
        </p:nvSpPr>
        <p:spPr>
          <a:xfrm>
            <a:off x="8183880" y="3974592"/>
            <a:ext cx="3520440" cy="97536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402945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Put it first</a:t>
            </a:r>
          </a:p>
        </p:txBody>
      </p:sp>
      <p:sp>
        <p:nvSpPr>
          <p:cNvPr id="13" name="TextBox 12"/>
          <p:cNvSpPr txBox="1"/>
          <p:nvPr/>
        </p:nvSpPr>
        <p:spPr>
          <a:xfrm>
            <a:off x="8321040" y="4340352"/>
            <a:ext cx="3246120" cy="554735"/>
          </a:xfrm>
          <a:prstGeom prst="rect">
            <a:avLst/>
          </a:prstGeom>
          <a:noFill/>
        </p:spPr>
        <p:txBody>
          <a:bodyPr wrap="square" anchor="t" lIns="0" rIns="0" tIns="0" bIns="0">
            <a:spAutoFit/>
          </a:bodyPr>
          <a:lstStyle/>
          <a:p>
            <a:pPr algn="l"/>
            <a:r>
              <a:rPr sz="1200" b="0" i="0">
                <a:solidFill>
                  <a:srgbClr val="000000"/>
                </a:solidFill>
                <a:latin typeface="Nirmala UI"/>
              </a:rPr>
              <a:t>Later stages then handle 4 documents, not 17.</a:t>
            </a:r>
          </a:p>
        </p:txBody>
      </p:sp>
      <p:sp>
        <p:nvSpPr>
          <p:cNvPr id="14" name="Rounded Rectangle 13"/>
          <p:cNvSpPr/>
          <p:nvPr/>
        </p:nvSpPr>
        <p:spPr>
          <a:xfrm>
            <a:off x="8183880" y="5077968"/>
            <a:ext cx="3520440" cy="755903"/>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66760" y="5077968"/>
            <a:ext cx="3154680" cy="755903"/>
          </a:xfrm>
          <a:prstGeom prst="rect">
            <a:avLst/>
          </a:prstGeom>
          <a:noFill/>
        </p:spPr>
        <p:txBody>
          <a:bodyPr wrap="square" anchor="ctr" lIns="0" rIns="0" tIns="0" bIns="0">
            <a:spAutoFit/>
          </a:bodyPr>
          <a:lstStyle/>
          <a:p>
            <a:pPr algn="l"/>
            <a:r>
              <a:rPr sz="1200" b="1" i="0">
                <a:solidFill>
                  <a:srgbClr val="D1282E"/>
                </a:solidFill>
                <a:latin typeface="Nirmala UI"/>
              </a:rPr>
              <a:t>SAME LANGUAGE   </a:t>
            </a:r>
            <a:r>
              <a:rPr sz="1200" b="0" i="0">
                <a:solidFill>
                  <a:srgbClr val="000000"/>
                </a:solidFill>
                <a:latin typeface="Nirmala UI"/>
              </a:rPr>
              <a:t>Every Module 4 filter works here.</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$match filters with the find() query language — and belongs as early as possible.</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$MATCH ON REAL TRAINING_STORE FIELDS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Categories, a date range and a nested array path.</a:t>
            </a:r>
          </a:p>
        </p:txBody>
      </p:sp>
      <p:sp>
        <p:nvSpPr>
          <p:cNvPr id="4" name="TextBox 3"/>
          <p:cNvSpPr txBox="1"/>
          <p:nvPr/>
        </p:nvSpPr>
        <p:spPr>
          <a:xfrm>
            <a:off x="45720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Active laptops and accessories</a:t>
            </a:r>
          </a:p>
        </p:txBody>
      </p:sp>
      <p:sp>
        <p:nvSpPr>
          <p:cNvPr id="5" name="Rounded Rectangle 4"/>
          <p:cNvSpPr/>
          <p:nvPr/>
        </p:nvSpPr>
        <p:spPr>
          <a:xfrm>
            <a:off x="457200" y="1627632"/>
            <a:ext cx="3596640" cy="238302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db.products.aggregate([</a:t>
            </a:r>
          </a:p>
          <a:p>
            <a:pPr algn="l"/>
            <a:r>
              <a:rPr sz="1100" b="0" i="0">
                <a:solidFill>
                  <a:srgbClr val="000000"/>
                </a:solidFill>
                <a:latin typeface="Consolas"/>
              </a:rPr>
              <a:t>  { $match: {</a:t>
            </a:r>
          </a:p>
          <a:p>
            <a:pPr algn="l"/>
            <a:r>
              <a:rPr sz="1100" b="0" i="0">
                <a:solidFill>
                  <a:srgbClr val="000000"/>
                </a:solidFill>
                <a:latin typeface="Consolas"/>
              </a:rPr>
              <a:t>      active: true,</a:t>
            </a:r>
          </a:p>
          <a:p>
            <a:pPr algn="l"/>
            <a:r>
              <a:rPr sz="1100" b="0" i="0">
                <a:solidFill>
                  <a:srgbClr val="000000"/>
                </a:solidFill>
                <a:latin typeface="Consolas"/>
              </a:rPr>
              <a:t>      category: { $in:</a:t>
            </a:r>
          </a:p>
          <a:p>
            <a:pPr algn="l"/>
            <a:r>
              <a:rPr sz="1100" b="0" i="0">
                <a:solidFill>
                  <a:srgbClr val="000000"/>
                </a:solidFill>
                <a:latin typeface="Consolas"/>
              </a:rPr>
              <a:t>        ["LAPTOP", "ACCESSORY"] }</a:t>
            </a:r>
          </a:p>
          <a:p>
            <a:pPr algn="l"/>
            <a:r>
              <a:rPr sz="1100" b="0" i="0">
                <a:solidFill>
                  <a:srgbClr val="000000"/>
                </a:solidFill>
                <a:latin typeface="Consolas"/>
              </a:rPr>
              <a:t>  } }</a:t>
            </a:r>
          </a:p>
          <a:p>
            <a:pPr algn="l"/>
            <a:r>
              <a:rPr sz="1100" b="0" i="0">
                <a:solidFill>
                  <a:srgbClr val="000000"/>
                </a:solidFill>
                <a:latin typeface="Consolas"/>
              </a:rPr>
              <a:t>])</a:t>
            </a:r>
          </a:p>
          <a:p>
            <a:pPr algn="l"/>
            <a:r>
              <a:rPr sz="1100" b="0" i="0">
                <a:solidFill>
                  <a:srgbClr val="000000"/>
                </a:solidFill>
                <a:latin typeface="Consolas"/>
              </a:rPr>
              <a:t>// 7 products (XBAD is one)</a:t>
            </a:r>
          </a:p>
        </p:txBody>
      </p:sp>
      <p:sp>
        <p:nvSpPr>
          <p:cNvPr id="6" name="TextBox 5"/>
          <p:cNvSpPr txBox="1"/>
          <p:nvPr/>
        </p:nvSpPr>
        <p:spPr>
          <a:xfrm>
            <a:off x="428244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Reviews written in August</a:t>
            </a:r>
          </a:p>
        </p:txBody>
      </p:sp>
      <p:sp>
        <p:nvSpPr>
          <p:cNvPr id="7" name="Rounded Rectangle 6"/>
          <p:cNvSpPr/>
          <p:nvPr/>
        </p:nvSpPr>
        <p:spPr>
          <a:xfrm>
            <a:off x="4282440" y="1627632"/>
            <a:ext cx="3596640" cy="238302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db.reviews.aggregate([</a:t>
            </a:r>
          </a:p>
          <a:p>
            <a:pPr algn="l"/>
            <a:r>
              <a:rPr sz="1100" b="0" i="0">
                <a:solidFill>
                  <a:srgbClr val="000000"/>
                </a:solidFill>
                <a:latin typeface="Consolas"/>
              </a:rPr>
              <a:t>  { $match: { createdAt: {</a:t>
            </a:r>
          </a:p>
          <a:p>
            <a:pPr algn="l"/>
            <a:r>
              <a:rPr sz="1100" b="0" i="0">
                <a:solidFill>
                  <a:srgbClr val="000000"/>
                </a:solidFill>
                <a:latin typeface="Consolas"/>
              </a:rPr>
              <a:t>      $gte: ISODate("2026-08-01"),</a:t>
            </a:r>
          </a:p>
          <a:p>
            <a:pPr algn="l"/>
            <a:r>
              <a:rPr sz="1100" b="0" i="0">
                <a:solidFill>
                  <a:srgbClr val="000000"/>
                </a:solidFill>
                <a:latin typeface="Consolas"/>
              </a:rPr>
              <a:t>      $lt:  ISODate("2026-09-01")</a:t>
            </a:r>
          </a:p>
          <a:p>
            <a:pPr algn="l"/>
            <a:r>
              <a:rPr sz="1100" b="0" i="0">
                <a:solidFill>
                  <a:srgbClr val="000000"/>
                </a:solidFill>
                <a:latin typeface="Consolas"/>
              </a:rPr>
              <a:t>  } } }</a:t>
            </a:r>
          </a:p>
          <a:p>
            <a:pPr algn="l"/>
            <a:r>
              <a:rPr sz="1100" b="0" i="0">
                <a:solidFill>
                  <a:srgbClr val="000000"/>
                </a:solidFill>
                <a:latin typeface="Consolas"/>
              </a:rPr>
              <a:t>])</a:t>
            </a:r>
          </a:p>
          <a:p>
            <a:pPr algn="l"/>
            <a:r>
              <a:rPr sz="1100" b="0" i="0">
                <a:solidFill>
                  <a:srgbClr val="000000"/>
                </a:solidFill>
                <a:latin typeface="Consolas"/>
              </a:rPr>
              <a:t>// 3 reviews: L110, B300, P1001</a:t>
            </a:r>
          </a:p>
        </p:txBody>
      </p:sp>
      <p:sp>
        <p:nvSpPr>
          <p:cNvPr id="8" name="TextBox 7"/>
          <p:cNvSpPr txBox="1"/>
          <p:nvPr/>
        </p:nvSpPr>
        <p:spPr>
          <a:xfrm>
            <a:off x="810768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Customers in Ontario or Quebec</a:t>
            </a:r>
          </a:p>
        </p:txBody>
      </p:sp>
      <p:sp>
        <p:nvSpPr>
          <p:cNvPr id="9" name="Rounded Rectangle 8"/>
          <p:cNvSpPr/>
          <p:nvPr/>
        </p:nvSpPr>
        <p:spPr>
          <a:xfrm>
            <a:off x="8107680" y="1627632"/>
            <a:ext cx="3596640" cy="238302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db.customers.aggregate([</a:t>
            </a:r>
          </a:p>
          <a:p>
            <a:pPr algn="l"/>
            <a:r>
              <a:rPr sz="1100" b="0" i="0">
                <a:solidFill>
                  <a:srgbClr val="000000"/>
                </a:solidFill>
                <a:latin typeface="Consolas"/>
              </a:rPr>
              <a:t>  { $match: {</a:t>
            </a:r>
          </a:p>
          <a:p>
            <a:pPr algn="l"/>
            <a:r>
              <a:rPr sz="1100" b="0" i="0">
                <a:solidFill>
                  <a:srgbClr val="000000"/>
                </a:solidFill>
                <a:latin typeface="Consolas"/>
              </a:rPr>
              <a:t>      "addresses.province":</a:t>
            </a:r>
          </a:p>
          <a:p>
            <a:pPr algn="l"/>
            <a:r>
              <a:rPr sz="1100" b="0" i="0">
                <a:solidFill>
                  <a:srgbClr val="000000"/>
                </a:solidFill>
                <a:latin typeface="Consolas"/>
              </a:rPr>
              <a:t>        { $in: ["Ontario", "Quebec"] }</a:t>
            </a:r>
          </a:p>
          <a:p>
            <a:pPr algn="l"/>
            <a:r>
              <a:rPr sz="1100" b="0" i="0">
                <a:solidFill>
                  <a:srgbClr val="000000"/>
                </a:solidFill>
                <a:latin typeface="Consolas"/>
              </a:rPr>
              <a:t>  } }</a:t>
            </a:r>
          </a:p>
          <a:p>
            <a:pPr algn="l"/>
            <a:r>
              <a:rPr sz="1100" b="0" i="0">
                <a:solidFill>
                  <a:srgbClr val="000000"/>
                </a:solidFill>
                <a:latin typeface="Consolas"/>
              </a:rPr>
              <a:t>])</a:t>
            </a:r>
          </a:p>
          <a:p>
            <a:pPr algn="l"/>
            <a:r>
              <a:rPr sz="1100" b="0" i="0">
                <a:solidFill>
                  <a:srgbClr val="000000"/>
                </a:solidFill>
                <a:latin typeface="Consolas"/>
              </a:rPr>
              <a:t>// 3 customers: C101, C412, C515</a:t>
            </a:r>
          </a:p>
        </p:txBody>
      </p:sp>
      <p:sp>
        <p:nvSpPr>
          <p:cNvPr id="10" name="Rounded Rectangle 9"/>
          <p:cNvSpPr/>
          <p:nvPr/>
        </p:nvSpPr>
        <p:spPr>
          <a:xfrm>
            <a:off x="457200" y="4239260"/>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594360" y="4294124"/>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Same operators</a:t>
            </a:r>
          </a:p>
        </p:txBody>
      </p:sp>
      <p:sp>
        <p:nvSpPr>
          <p:cNvPr id="12" name="TextBox 11"/>
          <p:cNvSpPr txBox="1"/>
          <p:nvPr/>
        </p:nvSpPr>
        <p:spPr>
          <a:xfrm>
            <a:off x="594360" y="4605020"/>
            <a:ext cx="3352800" cy="737615"/>
          </a:xfrm>
          <a:prstGeom prst="rect">
            <a:avLst/>
          </a:prstGeom>
          <a:noFill/>
        </p:spPr>
        <p:txBody>
          <a:bodyPr wrap="square" anchor="t" lIns="0" rIns="0" tIns="0" bIns="0">
            <a:spAutoFit/>
          </a:bodyPr>
          <a:lstStyle/>
          <a:p>
            <a:pPr algn="l"/>
            <a:r>
              <a:rPr sz="1200" b="0" i="0">
                <a:solidFill>
                  <a:srgbClr val="000000"/>
                </a:solidFill>
                <a:latin typeface="Nirmala UI"/>
              </a:rPr>
              <a:t>$in, ranges and dotted paths behave exactly as in find().</a:t>
            </a:r>
          </a:p>
        </p:txBody>
      </p:sp>
      <p:sp>
        <p:nvSpPr>
          <p:cNvPr id="13" name="Rounded Rectangle 12"/>
          <p:cNvSpPr/>
          <p:nvPr/>
        </p:nvSpPr>
        <p:spPr>
          <a:xfrm>
            <a:off x="4267200" y="4239260"/>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404360" y="4294124"/>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Half-open dates</a:t>
            </a:r>
          </a:p>
        </p:txBody>
      </p:sp>
      <p:sp>
        <p:nvSpPr>
          <p:cNvPr id="15" name="TextBox 14"/>
          <p:cNvSpPr txBox="1"/>
          <p:nvPr/>
        </p:nvSpPr>
        <p:spPr>
          <a:xfrm>
            <a:off x="4404360" y="4605020"/>
            <a:ext cx="3352800" cy="737615"/>
          </a:xfrm>
          <a:prstGeom prst="rect">
            <a:avLst/>
          </a:prstGeom>
          <a:noFill/>
        </p:spPr>
        <p:txBody>
          <a:bodyPr wrap="square" anchor="t" lIns="0" rIns="0" tIns="0" bIns="0">
            <a:spAutoFit/>
          </a:bodyPr>
          <a:lstStyle/>
          <a:p>
            <a:pPr algn="l"/>
            <a:r>
              <a:rPr sz="1200" b="0" i="0">
                <a:solidFill>
                  <a:srgbClr val="000000"/>
                </a:solidFill>
                <a:latin typeface="Nirmala UI"/>
              </a:rPr>
              <a:t>$gte the first day, $lt the next month — no gap, no overlap.</a:t>
            </a:r>
          </a:p>
        </p:txBody>
      </p:sp>
      <p:sp>
        <p:nvSpPr>
          <p:cNvPr id="16" name="Rounded Rectangle 15"/>
          <p:cNvSpPr/>
          <p:nvPr/>
        </p:nvSpPr>
        <p:spPr>
          <a:xfrm>
            <a:off x="8077200" y="4239260"/>
            <a:ext cx="3627120" cy="115824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TextBox 16"/>
          <p:cNvSpPr txBox="1"/>
          <p:nvPr/>
        </p:nvSpPr>
        <p:spPr>
          <a:xfrm>
            <a:off x="8260080" y="4239260"/>
            <a:ext cx="3261360" cy="1158240"/>
          </a:xfrm>
          <a:prstGeom prst="rect">
            <a:avLst/>
          </a:prstGeom>
          <a:noFill/>
        </p:spPr>
        <p:txBody>
          <a:bodyPr wrap="square" anchor="ctr" lIns="0" rIns="0" tIns="0" bIns="0">
            <a:spAutoFit/>
          </a:bodyPr>
          <a:lstStyle/>
          <a:p>
            <a:pPr algn="l"/>
            <a:r>
              <a:rPr sz="1200" b="1" i="0">
                <a:solidFill>
                  <a:srgbClr val="D1282E"/>
                </a:solidFill>
                <a:latin typeface="Nirmala UI"/>
              </a:rPr>
              <a:t>TRY IT   </a:t>
            </a:r>
            <a:r>
              <a:rPr sz="1200" b="0" i="0">
                <a:solidFill>
                  <a:srgbClr val="000000"/>
                </a:solidFill>
                <a:latin typeface="Nirmala UI"/>
              </a:rPr>
              <a:t>Run each filter and check the count.</a:t>
            </a:r>
          </a:p>
        </p:txBody>
      </p:sp>
      <p:sp>
        <p:nvSpPr>
          <p:cNvPr id="18" name="Rounded Rectangle 17"/>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$match speaks the query language you already know — use the real field paths and types.</a:t>
            </a:r>
          </a:p>
        </p:txBody>
      </p:sp>
      <p:sp>
        <p:nvSpPr>
          <p:cNvPr id="20" name="Rectangle 1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$PROJECT: INCLUDE, EXCLUDE, RENAME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Decide exactly which fields leave the stage.</a:t>
            </a:r>
          </a:p>
        </p:txBody>
      </p:sp>
      <p:sp>
        <p:nvSpPr>
          <p:cNvPr id="4" name="Rounded Rectangle 3"/>
          <p:cNvSpPr/>
          <p:nvPr/>
        </p:nvSpPr>
        <p:spPr>
          <a:xfrm>
            <a:off x="475488" y="1476655"/>
            <a:ext cx="7415783" cy="4179008"/>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20" descr="image.jpg"/>
          <p:cNvPicPr>
            <a:picLocks noChangeAspect="1"/>
          </p:cNvPicPr>
          <p:nvPr/>
        </p:nvPicPr>
        <p:blipFill>
          <a:blip r:embed="rId2"/>
          <a:stretch>
            <a:fillRect/>
          </a:stretch>
        </p:blipFill>
        <p:spPr>
          <a:xfrm>
            <a:off x="548640" y="1549807"/>
            <a:ext cx="7269480" cy="4032704"/>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Rename sku, keep two fields</a:t>
            </a:r>
          </a:p>
        </p:txBody>
      </p:sp>
      <p:sp>
        <p:nvSpPr>
          <p:cNvPr id="7" name="Rounded Rectangle 6"/>
          <p:cNvSpPr/>
          <p:nvPr/>
        </p:nvSpPr>
        <p:spPr>
          <a:xfrm>
            <a:off x="8183880" y="1627632"/>
            <a:ext cx="3520440" cy="130149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db.products.aggregate([</a:t>
            </a:r>
          </a:p>
          <a:p>
            <a:pPr algn="l"/>
            <a:r>
              <a:rPr sz="1200" b="0" i="0">
                <a:solidFill>
                  <a:srgbClr val="000000"/>
                </a:solidFill>
                <a:latin typeface="Consolas"/>
              </a:rPr>
              <a:t>  { $project: { _id: 0,</a:t>
            </a:r>
          </a:p>
          <a:p>
            <a:pPr algn="l"/>
            <a:r>
              <a:rPr sz="1200" b="0" i="0">
                <a:solidFill>
                  <a:srgbClr val="000000"/>
                </a:solidFill>
                <a:latin typeface="Consolas"/>
              </a:rPr>
              <a:t>      productCode: "$sku",</a:t>
            </a:r>
          </a:p>
          <a:p>
            <a:pPr algn="l"/>
            <a:r>
              <a:rPr sz="1200" b="0" i="0">
                <a:solidFill>
                  <a:srgbClr val="000000"/>
                </a:solidFill>
                <a:latin typeface="Consolas"/>
              </a:rPr>
              <a:t>      name: 1, price: 1 } }</a:t>
            </a:r>
          </a:p>
          <a:p>
            <a:pPr algn="l"/>
            <a:r>
              <a:rPr sz="1200" b="0" i="0">
                <a:solidFill>
                  <a:srgbClr val="000000"/>
                </a:solidFill>
                <a:latin typeface="Consolas"/>
              </a:rPr>
              <a:t>])</a:t>
            </a:r>
          </a:p>
        </p:txBody>
      </p:sp>
      <p:sp>
        <p:nvSpPr>
          <p:cNvPr id="8" name="Rounded Rectangle 7"/>
          <p:cNvSpPr/>
          <p:nvPr/>
        </p:nvSpPr>
        <p:spPr>
          <a:xfrm>
            <a:off x="8183880" y="3057144"/>
            <a:ext cx="3520440" cy="91338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311200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1 or 0</a:t>
            </a:r>
          </a:p>
        </p:txBody>
      </p:sp>
      <p:sp>
        <p:nvSpPr>
          <p:cNvPr id="10" name="TextBox 9"/>
          <p:cNvSpPr txBox="1"/>
          <p:nvPr/>
        </p:nvSpPr>
        <p:spPr>
          <a:xfrm>
            <a:off x="8321040" y="3422904"/>
            <a:ext cx="3246120" cy="492759"/>
          </a:xfrm>
          <a:prstGeom prst="rect">
            <a:avLst/>
          </a:prstGeom>
          <a:noFill/>
        </p:spPr>
        <p:txBody>
          <a:bodyPr wrap="square" anchor="t" lIns="0" rIns="0" tIns="0" bIns="0">
            <a:spAutoFit/>
          </a:bodyPr>
          <a:lstStyle/>
          <a:p>
            <a:pPr algn="l"/>
            <a:r>
              <a:rPr sz="1200" b="0" i="0">
                <a:solidFill>
                  <a:srgbClr val="000000"/>
                </a:solidFill>
                <a:latin typeface="Nirmala UI"/>
              </a:rPr>
              <a:t>1 keeps a field, 0 drops it — never both, except _id.</a:t>
            </a:r>
          </a:p>
        </p:txBody>
      </p:sp>
      <p:sp>
        <p:nvSpPr>
          <p:cNvPr id="11" name="Rounded Rectangle 10"/>
          <p:cNvSpPr/>
          <p:nvPr/>
        </p:nvSpPr>
        <p:spPr>
          <a:xfrm>
            <a:off x="8183880" y="4098544"/>
            <a:ext cx="3520440" cy="91338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415340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Rename</a:t>
            </a:r>
          </a:p>
        </p:txBody>
      </p:sp>
      <p:sp>
        <p:nvSpPr>
          <p:cNvPr id="13" name="TextBox 12"/>
          <p:cNvSpPr txBox="1"/>
          <p:nvPr/>
        </p:nvSpPr>
        <p:spPr>
          <a:xfrm>
            <a:off x="8321040" y="4464304"/>
            <a:ext cx="3246120" cy="492759"/>
          </a:xfrm>
          <a:prstGeom prst="rect">
            <a:avLst/>
          </a:prstGeom>
          <a:noFill/>
        </p:spPr>
        <p:txBody>
          <a:bodyPr wrap="square" anchor="t" lIns="0" rIns="0" tIns="0" bIns="0">
            <a:spAutoFit/>
          </a:bodyPr>
          <a:lstStyle/>
          <a:p>
            <a:pPr algn="l"/>
            <a:r>
              <a:rPr sz="1200" b="0" i="0">
                <a:solidFill>
                  <a:srgbClr val="000000"/>
                </a:solidFill>
                <a:latin typeface="Nirmala UI"/>
              </a:rPr>
              <a:t>productCode: "$sku" copies the value under a new name.</a:t>
            </a:r>
          </a:p>
        </p:txBody>
      </p:sp>
      <p:sp>
        <p:nvSpPr>
          <p:cNvPr id="14" name="Rounded Rectangle 13"/>
          <p:cNvSpPr/>
          <p:nvPr/>
        </p:nvSpPr>
        <p:spPr>
          <a:xfrm>
            <a:off x="8183880" y="5139944"/>
            <a:ext cx="3520440" cy="693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66760" y="5139944"/>
            <a:ext cx="3154680" cy="693928"/>
          </a:xfrm>
          <a:prstGeom prst="rect">
            <a:avLst/>
          </a:prstGeom>
          <a:noFill/>
        </p:spPr>
        <p:txBody>
          <a:bodyPr wrap="square" anchor="ctr" lIns="0" rIns="0" tIns="0" bIns="0">
            <a:spAutoFit/>
          </a:bodyPr>
          <a:lstStyle/>
          <a:p>
            <a:pPr algn="l"/>
            <a:r>
              <a:rPr sz="1200" b="1" i="0">
                <a:solidFill>
                  <a:srgbClr val="D1282E"/>
                </a:solidFill>
                <a:latin typeface="Nirmala UI"/>
              </a:rPr>
              <a:t>OUTPUT ONLY   </a:t>
            </a:r>
            <a:r>
              <a:rPr sz="1200" b="0" i="0">
                <a:solidFill>
                  <a:srgbClr val="000000"/>
                </a:solidFill>
                <a:latin typeface="Nirmala UI"/>
              </a:rPr>
              <a:t>Stored products are unchanged.</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$project decides the output shape: keep, drop, rename — the stored document stays the same.</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CALCULATED FIELDS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Expressions compute values that aren't stored.</a:t>
            </a:r>
          </a:p>
        </p:txBody>
      </p:sp>
      <p:sp>
        <p:nvSpPr>
          <p:cNvPr id="4" name="Rounded Rectangle 3"/>
          <p:cNvSpPr/>
          <p:nvPr/>
        </p:nvSpPr>
        <p:spPr>
          <a:xfrm>
            <a:off x="475488" y="1782158"/>
            <a:ext cx="7415783" cy="3568003"/>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25" descr="image.jpg"/>
          <p:cNvPicPr>
            <a:picLocks noChangeAspect="1"/>
          </p:cNvPicPr>
          <p:nvPr/>
        </p:nvPicPr>
        <p:blipFill>
          <a:blip r:embed="rId2"/>
          <a:stretch>
            <a:fillRect/>
          </a:stretch>
        </p:blipFill>
        <p:spPr>
          <a:xfrm>
            <a:off x="548640" y="1855310"/>
            <a:ext cx="7269480" cy="3421699"/>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Line revenue (after $unwind)</a:t>
            </a:r>
          </a:p>
        </p:txBody>
      </p:sp>
      <p:sp>
        <p:nvSpPr>
          <p:cNvPr id="7" name="Rounded Rectangle 6"/>
          <p:cNvSpPr/>
          <p:nvPr/>
        </p:nvSpPr>
        <p:spPr>
          <a:xfrm>
            <a:off x="8183880" y="1627632"/>
            <a:ext cx="3520440" cy="110337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 $set: { lineRevenue: {</a:t>
            </a:r>
          </a:p>
          <a:p>
            <a:pPr algn="l"/>
            <a:r>
              <a:rPr sz="1200" b="0" i="0">
                <a:solidFill>
                  <a:srgbClr val="000000"/>
                </a:solidFill>
                <a:latin typeface="Consolas"/>
              </a:rPr>
              <a:t>    $multiply: ["$items.quantity",</a:t>
            </a:r>
          </a:p>
          <a:p>
            <a:pPr algn="l"/>
            <a:r>
              <a:rPr sz="1200" b="0" i="0">
                <a:solidFill>
                  <a:srgbClr val="000000"/>
                </a:solidFill>
                <a:latin typeface="Consolas"/>
              </a:rPr>
              <a:t>                "$items.unitPrice"]</a:t>
            </a:r>
          </a:p>
          <a:p>
            <a:pPr algn="l"/>
            <a:r>
              <a:rPr sz="1200" b="0" i="0">
                <a:solidFill>
                  <a:srgbClr val="000000"/>
                </a:solidFill>
                <a:latin typeface="Consolas"/>
              </a:rPr>
              <a:t>} } }</a:t>
            </a:r>
          </a:p>
        </p:txBody>
      </p:sp>
      <p:sp>
        <p:nvSpPr>
          <p:cNvPr id="8" name="Rounded Rectangle 7"/>
          <p:cNvSpPr/>
          <p:nvPr/>
        </p:nvSpPr>
        <p:spPr>
          <a:xfrm>
            <a:off x="8183880" y="2859024"/>
            <a:ext cx="352044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291388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No lineTotal</a:t>
            </a:r>
          </a:p>
        </p:txBody>
      </p:sp>
      <p:sp>
        <p:nvSpPr>
          <p:cNvPr id="10" name="TextBox 9"/>
          <p:cNvSpPr txBox="1"/>
          <p:nvPr/>
        </p:nvSpPr>
        <p:spPr>
          <a:xfrm>
            <a:off x="8321040" y="3224784"/>
            <a:ext cx="3246120" cy="874776"/>
          </a:xfrm>
          <a:prstGeom prst="rect">
            <a:avLst/>
          </a:prstGeom>
          <a:noFill/>
        </p:spPr>
        <p:txBody>
          <a:bodyPr wrap="square" anchor="t" lIns="0" rIns="0" tIns="0" bIns="0">
            <a:spAutoFit/>
          </a:bodyPr>
          <a:lstStyle/>
          <a:p>
            <a:pPr algn="l"/>
            <a:r>
              <a:rPr sz="1200" b="0" i="0">
                <a:solidFill>
                  <a:srgbClr val="000000"/>
                </a:solidFill>
                <a:latin typeface="Nirmala UI"/>
              </a:rPr>
              <a:t>training_store stores quantity and unitPrice — compute the line.</a:t>
            </a:r>
          </a:p>
        </p:txBody>
      </p:sp>
      <p:sp>
        <p:nvSpPr>
          <p:cNvPr id="11" name="Rounded Rectangle 10"/>
          <p:cNvSpPr/>
          <p:nvPr/>
        </p:nvSpPr>
        <p:spPr>
          <a:xfrm>
            <a:off x="8183880" y="4282440"/>
            <a:ext cx="352044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433730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$project or $set</a:t>
            </a:r>
          </a:p>
        </p:txBody>
      </p:sp>
      <p:sp>
        <p:nvSpPr>
          <p:cNvPr id="13" name="TextBox 12"/>
          <p:cNvSpPr txBox="1"/>
          <p:nvPr/>
        </p:nvSpPr>
        <p:spPr>
          <a:xfrm>
            <a:off x="8321040" y="4648200"/>
            <a:ext cx="3246120" cy="874775"/>
          </a:xfrm>
          <a:prstGeom prst="rect">
            <a:avLst/>
          </a:prstGeom>
          <a:noFill/>
        </p:spPr>
        <p:txBody>
          <a:bodyPr wrap="square" anchor="t" lIns="0" rIns="0" tIns="0" bIns="0">
            <a:spAutoFit/>
          </a:bodyPr>
          <a:lstStyle/>
          <a:p>
            <a:pPr algn="l"/>
            <a:r>
              <a:rPr sz="1200" b="0" i="0">
                <a:solidFill>
                  <a:srgbClr val="000000"/>
                </a:solidFill>
                <a:latin typeface="Nirmala UI"/>
              </a:rPr>
              <a:t>$project keeps only listed fields; $set adds fields and keeps the rest.</a:t>
            </a:r>
          </a:p>
        </p:txBody>
      </p:sp>
      <p:sp>
        <p:nvSpPr>
          <p:cNvPr id="14" name="Rounded Rectangle 1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Compute what the report needs with expressions — $set for helper fields, $project for the final shape.</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CALCULATED FIELDS YOU CAN CHECK</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Rebuild each order's total — and survive a missing shippingFee.</a:t>
            </a:r>
          </a:p>
        </p:txBody>
      </p:sp>
      <p:sp>
        <p:nvSpPr>
          <p:cNvPr id="4" name="TextBox 3"/>
          <p:cNvSpPr txBox="1"/>
          <p:nvPr/>
        </p:nvSpPr>
        <p:spPr>
          <a:xfrm>
            <a:off x="457200" y="1298448"/>
            <a:ext cx="5509260" cy="310896"/>
          </a:xfrm>
          <a:prstGeom prst="rect">
            <a:avLst/>
          </a:prstGeom>
          <a:noFill/>
        </p:spPr>
        <p:txBody>
          <a:bodyPr wrap="square" anchor="ctr" lIns="0" rIns="0" tIns="0" bIns="0">
            <a:spAutoFit/>
          </a:bodyPr>
          <a:lstStyle/>
          <a:p>
            <a:pPr algn="l"/>
            <a:r>
              <a:rPr sz="1300" b="1" i="0">
                <a:solidFill>
                  <a:srgbClr val="002060"/>
                </a:solidFill>
                <a:latin typeface="Nirmala UI"/>
              </a:rPr>
              <a:t>Pipeline</a:t>
            </a:r>
          </a:p>
        </p:txBody>
      </p:sp>
      <p:sp>
        <p:nvSpPr>
          <p:cNvPr id="5" name="Rounded Rectangle 4"/>
          <p:cNvSpPr/>
          <p:nvPr/>
        </p:nvSpPr>
        <p:spPr>
          <a:xfrm>
            <a:off x="457200" y="1627632"/>
            <a:ext cx="5509260" cy="272973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db.orders.aggregate([</a:t>
            </a:r>
          </a:p>
          <a:p>
            <a:pPr algn="l"/>
            <a:r>
              <a:rPr sz="1300" b="0" i="0">
                <a:solidFill>
                  <a:srgbClr val="000000"/>
                </a:solidFill>
                <a:latin typeface="Consolas"/>
              </a:rPr>
              <a:t>  { $match: { orderNumber:</a:t>
            </a:r>
          </a:p>
          <a:p>
            <a:pPr algn="l"/>
            <a:r>
              <a:rPr sz="1300" b="0" i="0">
                <a:solidFill>
                  <a:srgbClr val="000000"/>
                </a:solidFill>
                <a:latin typeface="Consolas"/>
              </a:rPr>
              <a:t>      { $in: ["O6201", "O6301"] } } },</a:t>
            </a:r>
          </a:p>
          <a:p>
            <a:pPr algn="l"/>
            <a:r>
              <a:rPr sz="1300" b="0" i="0">
                <a:solidFill>
                  <a:srgbClr val="000000"/>
                </a:solidFill>
                <a:latin typeface="Consolas"/>
              </a:rPr>
              <a:t>  { $set: { shipping: { $ifNull:</a:t>
            </a:r>
          </a:p>
          <a:p>
            <a:pPr algn="l"/>
            <a:r>
              <a:rPr sz="1300" b="0" i="0">
                <a:solidFill>
                  <a:srgbClr val="000000"/>
                </a:solidFill>
                <a:latin typeface="Consolas"/>
              </a:rPr>
              <a:t>      ["$shippingFee", Decimal128("0.00")] } } },</a:t>
            </a:r>
          </a:p>
          <a:p>
            <a:pPr algn="l"/>
            <a:r>
              <a:rPr sz="1300" b="0" i="0">
                <a:solidFill>
                  <a:srgbClr val="000000"/>
                </a:solidFill>
                <a:latin typeface="Consolas"/>
              </a:rPr>
              <a:t>  { $set: { checkTotal: { $add:</a:t>
            </a:r>
          </a:p>
          <a:p>
            <a:pPr algn="l"/>
            <a:r>
              <a:rPr sz="1300" b="0" i="0">
                <a:solidFill>
                  <a:srgbClr val="000000"/>
                </a:solidFill>
                <a:latin typeface="Consolas"/>
              </a:rPr>
              <a:t>      ["$subtotal", "$tax", "$shipping"] } } },</a:t>
            </a:r>
          </a:p>
          <a:p>
            <a:pPr algn="l"/>
            <a:r>
              <a:rPr sz="1300" b="0" i="0">
                <a:solidFill>
                  <a:srgbClr val="000000"/>
                </a:solidFill>
                <a:latin typeface="Consolas"/>
              </a:rPr>
              <a:t>  { $project: { _id: 0, orderNumber: 1,</a:t>
            </a:r>
          </a:p>
          <a:p>
            <a:pPr algn="l"/>
            <a:r>
              <a:rPr sz="1300" b="0" i="0">
                <a:solidFill>
                  <a:srgbClr val="000000"/>
                </a:solidFill>
                <a:latin typeface="Consolas"/>
              </a:rPr>
              <a:t>      total: 1, shipping: 1, checkTotal: 1 } }</a:t>
            </a:r>
          </a:p>
          <a:p>
            <a:pPr algn="l"/>
            <a:r>
              <a:rPr sz="1300" b="0" i="0">
                <a:solidFill>
                  <a:srgbClr val="000000"/>
                </a:solidFill>
                <a:latin typeface="Consolas"/>
              </a:rPr>
              <a:t>])</a:t>
            </a:r>
          </a:p>
        </p:txBody>
      </p:sp>
      <p:sp>
        <p:nvSpPr>
          <p:cNvPr id="6" name="Oval 5"/>
          <p:cNvSpPr/>
          <p:nvPr/>
        </p:nvSpPr>
        <p:spPr>
          <a:xfrm>
            <a:off x="6195060" y="132588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7" name="TextBox 6"/>
          <p:cNvSpPr txBox="1"/>
          <p:nvPr/>
        </p:nvSpPr>
        <p:spPr>
          <a:xfrm>
            <a:off x="6524244" y="1298448"/>
            <a:ext cx="5180076" cy="310896"/>
          </a:xfrm>
          <a:prstGeom prst="rect">
            <a:avLst/>
          </a:prstGeom>
          <a:noFill/>
        </p:spPr>
        <p:txBody>
          <a:bodyPr wrap="square" anchor="ctr" lIns="0" rIns="0" tIns="0" bIns="0">
            <a:spAutoFit/>
          </a:bodyPr>
          <a:lstStyle/>
          <a:p>
            <a:pPr algn="l"/>
            <a:r>
              <a:rPr sz="1300" b="1" i="0">
                <a:solidFill>
                  <a:srgbClr val="2E7D32"/>
                </a:solidFill>
                <a:latin typeface="Nirmala UI"/>
              </a:rPr>
              <a:t>Result</a:t>
            </a:r>
          </a:p>
        </p:txBody>
      </p:sp>
      <p:sp>
        <p:nvSpPr>
          <p:cNvPr id="8" name="Rounded Rectangle 7"/>
          <p:cNvSpPr/>
          <p:nvPr/>
        </p:nvSpPr>
        <p:spPr>
          <a:xfrm>
            <a:off x="6195060" y="1627632"/>
            <a:ext cx="5509260" cy="2729737"/>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 orderNumber: "O6201",</a:t>
            </a:r>
          </a:p>
          <a:p>
            <a:pPr algn="l"/>
            <a:r>
              <a:rPr sz="1300" b="0" i="0">
                <a:solidFill>
                  <a:srgbClr val="000000"/>
                </a:solidFill>
                <a:latin typeface="Consolas"/>
              </a:rPr>
              <a:t>  total: Decimal128("79.07"),</a:t>
            </a:r>
          </a:p>
          <a:p>
            <a:pPr algn="l"/>
            <a:r>
              <a:rPr sz="1300" b="0" i="0">
                <a:solidFill>
                  <a:srgbClr val="000000"/>
                </a:solidFill>
                <a:latin typeface="Consolas"/>
              </a:rPr>
              <a:t>  shipping: Decimal128("0.00"),</a:t>
            </a:r>
          </a:p>
          <a:p>
            <a:pPr algn="l"/>
            <a:r>
              <a:rPr sz="1300" b="0" i="0">
                <a:solidFill>
                  <a:srgbClr val="000000"/>
                </a:solidFill>
                <a:latin typeface="Consolas"/>
              </a:rPr>
              <a:t>  checkTotal: Decimal128("79.07") }</a:t>
            </a:r>
          </a:p>
          <a:p>
            <a:pPr algn="l"/>
            <a:r>
              <a:rPr sz="1300" b="0" i="0">
                <a:solidFill>
                  <a:srgbClr val="000000"/>
                </a:solidFill>
                <a:latin typeface="Consolas"/>
              </a:rPr>
              <a:t>{ orderNumber: "O6301",</a:t>
            </a:r>
          </a:p>
          <a:p>
            <a:pPr algn="l"/>
            <a:r>
              <a:rPr sz="1300" b="0" i="0">
                <a:solidFill>
                  <a:srgbClr val="000000"/>
                </a:solidFill>
                <a:latin typeface="Consolas"/>
              </a:rPr>
              <a:t>  total: Decimal128("1512.23"),</a:t>
            </a:r>
          </a:p>
          <a:p>
            <a:pPr algn="l"/>
            <a:r>
              <a:rPr sz="1300" b="0" i="0">
                <a:solidFill>
                  <a:srgbClr val="000000"/>
                </a:solidFill>
                <a:latin typeface="Consolas"/>
              </a:rPr>
              <a:t>  shipping: Decimal128("15.00"),</a:t>
            </a:r>
          </a:p>
          <a:p>
            <a:pPr algn="l"/>
            <a:r>
              <a:rPr sz="1300" b="0" i="0">
                <a:solidFill>
                  <a:srgbClr val="000000"/>
                </a:solidFill>
                <a:latin typeface="Consolas"/>
              </a:rPr>
              <a:t>  checkTotal: Decimal128("1512.23") }</a:t>
            </a:r>
          </a:p>
        </p:txBody>
      </p:sp>
      <p:sp>
        <p:nvSpPr>
          <p:cNvPr id="9" name="Rounded Rectangle 8"/>
          <p:cNvSpPr/>
          <p:nvPr/>
        </p:nvSpPr>
        <p:spPr>
          <a:xfrm>
            <a:off x="457200" y="4585970"/>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594360" y="4640833"/>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$ifNull</a:t>
            </a:r>
          </a:p>
        </p:txBody>
      </p:sp>
      <p:sp>
        <p:nvSpPr>
          <p:cNvPr id="11" name="TextBox 10"/>
          <p:cNvSpPr txBox="1"/>
          <p:nvPr/>
        </p:nvSpPr>
        <p:spPr>
          <a:xfrm>
            <a:off x="594360" y="4951730"/>
            <a:ext cx="3352800" cy="737615"/>
          </a:xfrm>
          <a:prstGeom prst="rect">
            <a:avLst/>
          </a:prstGeom>
          <a:noFill/>
        </p:spPr>
        <p:txBody>
          <a:bodyPr wrap="square" anchor="t" lIns="0" rIns="0" tIns="0" bIns="0">
            <a:spAutoFit/>
          </a:bodyPr>
          <a:lstStyle/>
          <a:p>
            <a:pPr algn="l"/>
            <a:r>
              <a:rPr sz="1200" b="0" i="0">
                <a:solidFill>
                  <a:srgbClr val="000000"/>
                </a:solidFill>
                <a:latin typeface="Nirmala UI"/>
              </a:rPr>
              <a:t>O6201 has no shippingFee, so 0.00 is used instead of null.</a:t>
            </a:r>
          </a:p>
        </p:txBody>
      </p:sp>
      <p:sp>
        <p:nvSpPr>
          <p:cNvPr id="12" name="Rounded Rectangle 11"/>
          <p:cNvSpPr/>
          <p:nvPr/>
        </p:nvSpPr>
        <p:spPr>
          <a:xfrm>
            <a:off x="4267200" y="4585970"/>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4404360" y="4640833"/>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$add</a:t>
            </a:r>
          </a:p>
        </p:txBody>
      </p:sp>
      <p:sp>
        <p:nvSpPr>
          <p:cNvPr id="14" name="TextBox 13"/>
          <p:cNvSpPr txBox="1"/>
          <p:nvPr/>
        </p:nvSpPr>
        <p:spPr>
          <a:xfrm>
            <a:off x="4404360" y="4951730"/>
            <a:ext cx="3352800" cy="737615"/>
          </a:xfrm>
          <a:prstGeom prst="rect">
            <a:avLst/>
          </a:prstGeom>
          <a:noFill/>
        </p:spPr>
        <p:txBody>
          <a:bodyPr wrap="square" anchor="t" lIns="0" rIns="0" tIns="0" bIns="0">
            <a:spAutoFit/>
          </a:bodyPr>
          <a:lstStyle/>
          <a:p>
            <a:pPr algn="l"/>
            <a:r>
              <a:rPr sz="1200" b="0" i="0">
                <a:solidFill>
                  <a:srgbClr val="000000"/>
                </a:solidFill>
                <a:latin typeface="Nirmala UI"/>
              </a:rPr>
              <a:t>subtotal + tax + shipping rebuilds the stored total.</a:t>
            </a:r>
          </a:p>
        </p:txBody>
      </p:sp>
      <p:sp>
        <p:nvSpPr>
          <p:cNvPr id="15" name="Rounded Rectangle 14"/>
          <p:cNvSpPr/>
          <p:nvPr/>
        </p:nvSpPr>
        <p:spPr>
          <a:xfrm>
            <a:off x="8077200" y="4585970"/>
            <a:ext cx="3627120" cy="115824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260080" y="4585970"/>
            <a:ext cx="3261360" cy="1158240"/>
          </a:xfrm>
          <a:prstGeom prst="rect">
            <a:avLst/>
          </a:prstGeom>
          <a:noFill/>
        </p:spPr>
        <p:txBody>
          <a:bodyPr wrap="square" anchor="ctr" lIns="0" rIns="0" tIns="0" bIns="0">
            <a:spAutoFit/>
          </a:bodyPr>
          <a:lstStyle/>
          <a:p>
            <a:pPr algn="l"/>
            <a:r>
              <a:rPr sz="1200" b="1" i="0">
                <a:solidFill>
                  <a:srgbClr val="D1282E"/>
                </a:solidFill>
                <a:latin typeface="Nirmala UI"/>
              </a:rPr>
              <a:t>WHY CHECK   </a:t>
            </a:r>
            <a:r>
              <a:rPr sz="1200" b="0" i="0">
                <a:solidFill>
                  <a:srgbClr val="000000"/>
                </a:solidFill>
                <a:latin typeface="Nirmala UI"/>
              </a:rPr>
              <a:t>checkTotal ≠ total means bad data — or a bad pipeline.</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Handle missing fields with $ifNull before calculating — one null turns the whole result into null.</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$SORT BEFORE $LIMIT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 top-N report sorts the whole stream, then keeps N.</a:t>
            </a:r>
          </a:p>
        </p:txBody>
      </p:sp>
      <p:sp>
        <p:nvSpPr>
          <p:cNvPr id="4" name="Rounded Rectangle 3"/>
          <p:cNvSpPr/>
          <p:nvPr/>
        </p:nvSpPr>
        <p:spPr>
          <a:xfrm>
            <a:off x="475488" y="1402365"/>
            <a:ext cx="7415783" cy="4327588"/>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50" descr="image.jpg"/>
          <p:cNvPicPr>
            <a:picLocks noChangeAspect="1"/>
          </p:cNvPicPr>
          <p:nvPr/>
        </p:nvPicPr>
        <p:blipFill>
          <a:blip r:embed="rId2"/>
          <a:stretch>
            <a:fillRect/>
          </a:stretch>
        </p:blipFill>
        <p:spPr>
          <a:xfrm>
            <a:off x="548640" y="1475517"/>
            <a:ext cx="7269480" cy="4181284"/>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Top three paid orders</a:t>
            </a:r>
          </a:p>
        </p:txBody>
      </p:sp>
      <p:sp>
        <p:nvSpPr>
          <p:cNvPr id="7" name="Rounded Rectangle 6"/>
          <p:cNvSpPr/>
          <p:nvPr/>
        </p:nvSpPr>
        <p:spPr>
          <a:xfrm>
            <a:off x="8183880" y="1627632"/>
            <a:ext cx="3520440" cy="130149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 $match: {</a:t>
            </a:r>
          </a:p>
          <a:p>
            <a:pPr algn="l"/>
            <a:r>
              <a:rPr sz="1200" b="0" i="0">
                <a:solidFill>
                  <a:srgbClr val="000000"/>
                </a:solidFill>
                <a:latin typeface="Consolas"/>
              </a:rPr>
              <a:t>    paymentStatus: "PAID" } },</a:t>
            </a:r>
          </a:p>
          <a:p>
            <a:pPr algn="l"/>
            <a:r>
              <a:rPr sz="1200" b="0" i="0">
                <a:solidFill>
                  <a:srgbClr val="000000"/>
                </a:solidFill>
                <a:latin typeface="Consolas"/>
              </a:rPr>
              <a:t>{ $sort: { total: -1,</a:t>
            </a:r>
          </a:p>
          <a:p>
            <a:pPr algn="l"/>
            <a:r>
              <a:rPr sz="1200" b="0" i="0">
                <a:solidFill>
                  <a:srgbClr val="000000"/>
                </a:solidFill>
                <a:latin typeface="Consolas"/>
              </a:rPr>
              <a:t>           orderNumber: 1 } },</a:t>
            </a:r>
          </a:p>
          <a:p>
            <a:pPr algn="l"/>
            <a:r>
              <a:rPr sz="1200" b="0" i="0">
                <a:solidFill>
                  <a:srgbClr val="000000"/>
                </a:solidFill>
                <a:latin typeface="Consolas"/>
              </a:rPr>
              <a:t>{ $limit: 3 }</a:t>
            </a:r>
          </a:p>
        </p:txBody>
      </p:sp>
      <p:sp>
        <p:nvSpPr>
          <p:cNvPr id="8" name="Rounded Rectangle 7"/>
          <p:cNvSpPr/>
          <p:nvPr/>
        </p:nvSpPr>
        <p:spPr>
          <a:xfrm>
            <a:off x="8183880" y="3057144"/>
            <a:ext cx="3520440" cy="9022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311200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Result</a:t>
            </a:r>
          </a:p>
        </p:txBody>
      </p:sp>
      <p:sp>
        <p:nvSpPr>
          <p:cNvPr id="10" name="TextBox 9"/>
          <p:cNvSpPr txBox="1"/>
          <p:nvPr/>
        </p:nvSpPr>
        <p:spPr>
          <a:xfrm>
            <a:off x="8321040" y="3422904"/>
            <a:ext cx="3246120" cy="481583"/>
          </a:xfrm>
          <a:prstGeom prst="rect">
            <a:avLst/>
          </a:prstGeom>
          <a:noFill/>
        </p:spPr>
        <p:txBody>
          <a:bodyPr wrap="square" anchor="t" lIns="0" rIns="0" tIns="0" bIns="0">
            <a:spAutoFit/>
          </a:bodyPr>
          <a:lstStyle/>
          <a:p>
            <a:pPr algn="l"/>
            <a:r>
              <a:rPr sz="1200" b="0" i="0">
                <a:solidFill>
                  <a:srgbClr val="000000"/>
                </a:solidFill>
                <a:latin typeface="Nirmala UI"/>
              </a:rPr>
              <a:t>O6202 and O6304 tie at 2146.99; O6301 is third at 1512.23.</a:t>
            </a:r>
          </a:p>
        </p:txBody>
      </p:sp>
      <p:sp>
        <p:nvSpPr>
          <p:cNvPr id="11" name="Rounded Rectangle 10"/>
          <p:cNvSpPr/>
          <p:nvPr/>
        </p:nvSpPr>
        <p:spPr>
          <a:xfrm>
            <a:off x="8183880" y="4087368"/>
            <a:ext cx="3520440" cy="716279"/>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414223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Tie-breaker</a:t>
            </a:r>
          </a:p>
        </p:txBody>
      </p:sp>
      <p:sp>
        <p:nvSpPr>
          <p:cNvPr id="13" name="TextBox 12"/>
          <p:cNvSpPr txBox="1"/>
          <p:nvPr/>
        </p:nvSpPr>
        <p:spPr>
          <a:xfrm>
            <a:off x="8321040" y="4453128"/>
            <a:ext cx="3246120" cy="295655"/>
          </a:xfrm>
          <a:prstGeom prst="rect">
            <a:avLst/>
          </a:prstGeom>
          <a:noFill/>
        </p:spPr>
        <p:txBody>
          <a:bodyPr wrap="square" anchor="t" lIns="0" rIns="0" tIns="0" bIns="0">
            <a:spAutoFit/>
          </a:bodyPr>
          <a:lstStyle/>
          <a:p>
            <a:pPr algn="l"/>
            <a:r>
              <a:rPr sz="1200" b="0" i="0">
                <a:solidFill>
                  <a:srgbClr val="000000"/>
                </a:solidFill>
                <a:latin typeface="Nirmala UI"/>
              </a:rPr>
              <a:t>orderNumber makes the order repeatable.</a:t>
            </a:r>
          </a:p>
        </p:txBody>
      </p:sp>
      <p:sp>
        <p:nvSpPr>
          <p:cNvPr id="14" name="Rounded Rectangle 13"/>
          <p:cNvSpPr/>
          <p:nvPr/>
        </p:nvSpPr>
        <p:spPr>
          <a:xfrm>
            <a:off x="8183880" y="4931664"/>
            <a:ext cx="3520440" cy="9022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21040" y="498652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$skip</a:t>
            </a:r>
          </a:p>
        </p:txBody>
      </p:sp>
      <p:sp>
        <p:nvSpPr>
          <p:cNvPr id="16" name="TextBox 15"/>
          <p:cNvSpPr txBox="1"/>
          <p:nvPr/>
        </p:nvSpPr>
        <p:spPr>
          <a:xfrm>
            <a:off x="8321040" y="5297424"/>
            <a:ext cx="3246120" cy="481583"/>
          </a:xfrm>
          <a:prstGeom prst="rect">
            <a:avLst/>
          </a:prstGeom>
          <a:noFill/>
        </p:spPr>
        <p:txBody>
          <a:bodyPr wrap="square" anchor="t" lIns="0" rIns="0" tIns="0" bIns="0">
            <a:spAutoFit/>
          </a:bodyPr>
          <a:lstStyle/>
          <a:p>
            <a:pPr algn="l"/>
            <a:r>
              <a:rPr sz="1200" b="0" i="0">
                <a:solidFill>
                  <a:srgbClr val="000000"/>
                </a:solidFill>
                <a:latin typeface="Nirmala UI"/>
              </a:rPr>
              <a:t>$sort → $skip → $limit pages through results.</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Every top-N report is $sort, then $limit — with a tie-breaker when values can tie.</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BUILD A SHOE PRICE LIST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Filter, shape, sort and limit — then predict the output.</a:t>
            </a:r>
          </a:p>
        </p:txBody>
      </p:sp>
      <p:sp>
        <p:nvSpPr>
          <p:cNvPr id="4" name="Rounded Rectangle 3"/>
          <p:cNvSpPr/>
          <p:nvPr/>
        </p:nvSpPr>
        <p:spPr>
          <a:xfrm>
            <a:off x="457200" y="1298448"/>
            <a:ext cx="2016252" cy="384048"/>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PRACTICE EXERCISE</a:t>
            </a:r>
          </a:p>
        </p:txBody>
      </p:sp>
      <p:sp>
        <p:nvSpPr>
          <p:cNvPr id="5" name="Rounded Rectangle 4"/>
          <p:cNvSpPr/>
          <p:nvPr/>
        </p:nvSpPr>
        <p:spPr>
          <a:xfrm>
            <a:off x="2610612"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10 MIN</a:t>
            </a:r>
          </a:p>
        </p:txBody>
      </p:sp>
      <p:sp>
        <p:nvSpPr>
          <p:cNvPr id="6" name="Rounded Rectangle 5"/>
          <p:cNvSpPr/>
          <p:nvPr/>
        </p:nvSpPr>
        <p:spPr>
          <a:xfrm>
            <a:off x="457200" y="1865376"/>
            <a:ext cx="3840480" cy="3001263"/>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Round Same Side Corner Rectangle 6"/>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TextBox 7"/>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9" name="TextBox 8"/>
          <p:cNvSpPr txBox="1"/>
          <p:nvPr/>
        </p:nvSpPr>
        <p:spPr>
          <a:xfrm>
            <a:off x="594360" y="2395728"/>
            <a:ext cx="3566160" cy="1411224"/>
          </a:xfrm>
          <a:prstGeom prst="rect">
            <a:avLst/>
          </a:prstGeom>
          <a:noFill/>
        </p:spPr>
        <p:txBody>
          <a:bodyPr wrap="square" anchor="t" lIns="0" rIns="0" tIns="0" bIns="0">
            <a:spAutoFit/>
          </a:bodyPr>
          <a:lstStyle/>
          <a:p>
            <a:pPr algn="l"/>
            <a:r>
              <a:rPr sz="1400" b="0" i="0">
                <a:solidFill>
                  <a:srgbClr val="000000"/>
                </a:solidFill>
                <a:latin typeface="Nirmala UI"/>
              </a:rPr>
              <a:t>Marketing wants the two most expensive active shoes: name and price only, highest price first.</a:t>
            </a:r>
          </a:p>
          <a:p>
            <a:pPr algn="l"/>
            <a:r>
              <a:rPr sz="1400" b="0" i="0">
                <a:solidFill>
                  <a:srgbClr val="000000"/>
                </a:solidFill>
                <a:latin typeface="Nirmala UI"/>
              </a:rPr>
              <a:t/>
            </a:r>
          </a:p>
          <a:p>
            <a:pPr algn="l"/>
            <a:r>
              <a:rPr sz="1400" b="0" i="0">
                <a:solidFill>
                  <a:srgbClr val="000000"/>
                </a:solidFill>
                <a:latin typeface="Nirmala UI"/>
              </a:rPr>
              <a:t>training_store has three shoes: S200, S210 and S290.</a:t>
            </a:r>
          </a:p>
        </p:txBody>
      </p:sp>
      <p:sp>
        <p:nvSpPr>
          <p:cNvPr id="10" name="Rounded Rectangle 9"/>
          <p:cNvSpPr/>
          <p:nvPr/>
        </p:nvSpPr>
        <p:spPr>
          <a:xfrm>
            <a:off x="4526280" y="1865376"/>
            <a:ext cx="3886200" cy="3001263"/>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Round Same Side Corner Rectangle 10"/>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3" name="Oval 12"/>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4" name="TextBox 13"/>
          <p:cNvSpPr txBox="1"/>
          <p:nvPr/>
        </p:nvSpPr>
        <p:spPr>
          <a:xfrm>
            <a:off x="5056632" y="23957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Choose the four stages and their order</a:t>
            </a:r>
          </a:p>
        </p:txBody>
      </p:sp>
      <p:sp>
        <p:nvSpPr>
          <p:cNvPr id="15" name="Oval 14"/>
          <p:cNvSpPr/>
          <p:nvPr/>
        </p:nvSpPr>
        <p:spPr>
          <a:xfrm>
            <a:off x="4663440" y="30490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6" name="TextBox 15"/>
          <p:cNvSpPr txBox="1"/>
          <p:nvPr/>
        </p:nvSpPr>
        <p:spPr>
          <a:xfrm>
            <a:off x="5056632" y="29941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Write the $match</a:t>
            </a:r>
          </a:p>
        </p:txBody>
      </p:sp>
      <p:sp>
        <p:nvSpPr>
          <p:cNvPr id="17" name="Oval 16"/>
          <p:cNvSpPr/>
          <p:nvPr/>
        </p:nvSpPr>
        <p:spPr>
          <a:xfrm>
            <a:off x="4663440" y="35062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18" name="TextBox 17"/>
          <p:cNvSpPr txBox="1"/>
          <p:nvPr/>
        </p:nvSpPr>
        <p:spPr>
          <a:xfrm>
            <a:off x="5056632" y="34513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Write the $project</a:t>
            </a:r>
          </a:p>
        </p:txBody>
      </p:sp>
      <p:sp>
        <p:nvSpPr>
          <p:cNvPr id="19" name="Oval 18"/>
          <p:cNvSpPr/>
          <p:nvPr/>
        </p:nvSpPr>
        <p:spPr>
          <a:xfrm>
            <a:off x="4663440" y="39634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0" name="TextBox 19"/>
          <p:cNvSpPr txBox="1"/>
          <p:nvPr/>
        </p:nvSpPr>
        <p:spPr>
          <a:xfrm>
            <a:off x="5056632" y="3908552"/>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Add $sort and $limit; predict the output</a:t>
            </a:r>
          </a:p>
        </p:txBody>
      </p:sp>
      <p:sp>
        <p:nvSpPr>
          <p:cNvPr id="21" name="Rounded Rectangle 20"/>
          <p:cNvSpPr/>
          <p:nvPr/>
        </p:nvSpPr>
        <p:spPr>
          <a:xfrm>
            <a:off x="8641080" y="1865376"/>
            <a:ext cx="3063240" cy="3001263"/>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2" name="Round Same Side Corner Rectangle 21"/>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TextBox 22"/>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EXPECTED OUTCOME</a:t>
            </a:r>
          </a:p>
        </p:txBody>
      </p:sp>
      <p:sp>
        <p:nvSpPr>
          <p:cNvPr id="24" name="Oval 23"/>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5" name="TextBox 24"/>
          <p:cNvSpPr txBox="1"/>
          <p:nvPr/>
        </p:nvSpPr>
        <p:spPr>
          <a:xfrm>
            <a:off x="9116567" y="2395728"/>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$match → $project → $sort → $limit</a:t>
            </a:r>
          </a:p>
        </p:txBody>
      </p:sp>
      <p:sp>
        <p:nvSpPr>
          <p:cNvPr id="26" name="Oval 25"/>
          <p:cNvSpPr/>
          <p:nvPr/>
        </p:nvSpPr>
        <p:spPr>
          <a:xfrm>
            <a:off x="8778240" y="29997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944876"/>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 active: true, category: "SHOE" }</a:t>
            </a:r>
          </a:p>
        </p:txBody>
      </p:sp>
      <p:sp>
        <p:nvSpPr>
          <p:cNvPr id="28" name="Oval 27"/>
          <p:cNvSpPr/>
          <p:nvPr/>
        </p:nvSpPr>
        <p:spPr>
          <a:xfrm>
            <a:off x="8778240" y="35488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3494023"/>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 _id: 0, name: 1, price: 1 }</a:t>
            </a:r>
          </a:p>
        </p:txBody>
      </p:sp>
      <p:sp>
        <p:nvSpPr>
          <p:cNvPr id="30" name="Oval 29"/>
          <p:cNvSpPr/>
          <p:nvPr/>
        </p:nvSpPr>
        <p:spPr>
          <a:xfrm>
            <a:off x="8778240" y="4098035"/>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4043171"/>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Running Shoe 129.99, then Trail Shoe 89.99</a:t>
            </a:r>
          </a:p>
        </p:txBody>
      </p:sp>
      <p:sp>
        <p:nvSpPr>
          <p:cNvPr id="32" name="Rounded Rectangle 31"/>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Filter first, shape the output, then sort before you limit.</a:t>
            </a:r>
          </a:p>
        </p:txBody>
      </p:sp>
      <p:sp>
        <p:nvSpPr>
          <p:cNvPr id="34" name="Rectangle 3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3: GROUP AND SUMMARIZE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Many documents in, one summary per key out.</a:t>
            </a:r>
          </a:p>
        </p:txBody>
      </p:sp>
      <p:sp>
        <p:nvSpPr>
          <p:cNvPr id="4" name="Pentagon 3"/>
          <p:cNvSpPr/>
          <p:nvPr/>
        </p:nvSpPr>
        <p:spPr>
          <a:xfrm>
            <a:off x="457200" y="1298448"/>
            <a:ext cx="202234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1762658"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Pipelines</a:t>
            </a:r>
          </a:p>
        </p:txBody>
      </p:sp>
      <p:sp>
        <p:nvSpPr>
          <p:cNvPr id="6" name="Chevron 5"/>
          <p:cNvSpPr/>
          <p:nvPr/>
        </p:nvSpPr>
        <p:spPr>
          <a:xfrm>
            <a:off x="2302154"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516124"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2</a:t>
            </a:r>
          </a:p>
          <a:p>
            <a:pPr algn="ctr"/>
            <a:r>
              <a:rPr sz="1300" b="1" i="0">
                <a:solidFill>
                  <a:srgbClr val="FFFFFF"/>
                </a:solidFill>
                <a:latin typeface="Nirmala UI"/>
              </a:rPr>
              <a:t>Filter and shape</a:t>
            </a:r>
          </a:p>
        </p:txBody>
      </p:sp>
      <p:sp>
        <p:nvSpPr>
          <p:cNvPr id="8" name="Chevron 7"/>
          <p:cNvSpPr/>
          <p:nvPr/>
        </p:nvSpPr>
        <p:spPr>
          <a:xfrm>
            <a:off x="4147108" y="1298448"/>
            <a:ext cx="202234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4361078"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3</a:t>
            </a:r>
          </a:p>
          <a:p>
            <a:pPr algn="ctr"/>
            <a:r>
              <a:rPr sz="1300" b="1" i="0">
                <a:solidFill>
                  <a:srgbClr val="FFFFFF"/>
                </a:solidFill>
                <a:latin typeface="Nirmala UI"/>
              </a:rPr>
              <a:t>Group</a:t>
            </a:r>
          </a:p>
        </p:txBody>
      </p:sp>
      <p:sp>
        <p:nvSpPr>
          <p:cNvPr id="10" name="Chevron 9"/>
          <p:cNvSpPr/>
          <p:nvPr/>
        </p:nvSpPr>
        <p:spPr>
          <a:xfrm>
            <a:off x="5992063"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6206032"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4</a:t>
            </a:r>
          </a:p>
          <a:p>
            <a:pPr algn="ctr"/>
            <a:r>
              <a:rPr sz="1300" b="1" i="0">
                <a:solidFill>
                  <a:srgbClr val="FFFFFF"/>
                </a:solidFill>
                <a:latin typeface="Nirmala UI"/>
              </a:rPr>
              <a:t>Arrays and joins</a:t>
            </a:r>
          </a:p>
        </p:txBody>
      </p:sp>
      <p:sp>
        <p:nvSpPr>
          <p:cNvPr id="12" name="Chevron 11"/>
          <p:cNvSpPr/>
          <p:nvPr/>
        </p:nvSpPr>
        <p:spPr>
          <a:xfrm>
            <a:off x="7837017"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050987"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Reports</a:t>
            </a:r>
          </a:p>
        </p:txBody>
      </p:sp>
      <p:sp>
        <p:nvSpPr>
          <p:cNvPr id="14" name="Chevron 13"/>
          <p:cNvSpPr/>
          <p:nvPr/>
        </p:nvSpPr>
        <p:spPr>
          <a:xfrm>
            <a:off x="9681972"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9895941"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6</a:t>
            </a:r>
          </a:p>
          <a:p>
            <a:pPr algn="ctr"/>
            <a:r>
              <a:rPr sz="1300" b="1" i="0">
                <a:solidFill>
                  <a:srgbClr val="FFFFFF"/>
                </a:solidFill>
                <a:latin typeface="Nirmala UI"/>
              </a:rPr>
              <a:t>Performance</a:t>
            </a:r>
          </a:p>
        </p:txBody>
      </p:sp>
      <p:sp>
        <p:nvSpPr>
          <p:cNvPr id="16" name="Rounded Rectangle 15"/>
          <p:cNvSpPr/>
          <p:nvPr/>
        </p:nvSpPr>
        <p:spPr>
          <a:xfrm>
            <a:off x="457200" y="2304288"/>
            <a:ext cx="4937760" cy="223113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Round Same Side Corner Rectangle 16"/>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9" name="Oval 18"/>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28803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$match keeps the documents you need</a:t>
            </a:r>
          </a:p>
        </p:txBody>
      </p:sp>
      <p:sp>
        <p:nvSpPr>
          <p:cNvPr id="21" name="Oval 20"/>
          <p:cNvSpPr/>
          <p:nvPr/>
        </p:nvSpPr>
        <p:spPr>
          <a:xfrm>
            <a:off x="640080" y="34290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3558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$project and $set shape documents</a:t>
            </a:r>
          </a:p>
        </p:txBody>
      </p:sp>
      <p:sp>
        <p:nvSpPr>
          <p:cNvPr id="23" name="Oval 22"/>
          <p:cNvSpPr/>
          <p:nvPr/>
        </p:nvSpPr>
        <p:spPr>
          <a:xfrm>
            <a:off x="640080" y="39044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4" name="TextBox 23"/>
          <p:cNvSpPr txBox="1"/>
          <p:nvPr/>
        </p:nvSpPr>
        <p:spPr>
          <a:xfrm>
            <a:off x="1051560" y="3831336"/>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Top-N is $sort, then $limit</a:t>
            </a:r>
          </a:p>
        </p:txBody>
      </p:sp>
      <p:sp>
        <p:nvSpPr>
          <p:cNvPr id="25" name="Rounded Rectangle 24"/>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TextBox 25"/>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7" name="TextBox 26"/>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How do we turn many documents into one summary per customer, status or category?</a:t>
            </a:r>
          </a:p>
        </p:txBody>
      </p:sp>
      <p:sp>
        <p:nvSpPr>
          <p:cNvPr id="28" name="TextBox 27"/>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9" name="Oval 28"/>
          <p:cNvSpPr/>
          <p:nvPr/>
        </p:nvSpPr>
        <p:spPr>
          <a:xfrm>
            <a:off x="5760720" y="399796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30" name="TextBox 29"/>
          <p:cNvSpPr txBox="1"/>
          <p:nvPr/>
        </p:nvSpPr>
        <p:spPr>
          <a:xfrm>
            <a:off x="6144768" y="3933952"/>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$group, _id and accumulators</a:t>
            </a:r>
          </a:p>
        </p:txBody>
      </p:sp>
      <p:sp>
        <p:nvSpPr>
          <p:cNvPr id="31" name="Oval 30"/>
          <p:cNvSpPr/>
          <p:nvPr/>
        </p:nvSpPr>
        <p:spPr>
          <a:xfrm>
            <a:off x="5760720" y="440029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2" name="TextBox 31"/>
          <p:cNvSpPr txBox="1"/>
          <p:nvPr/>
        </p:nvSpPr>
        <p:spPr>
          <a:xfrm>
            <a:off x="6144768" y="4336288"/>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Products by category</a:t>
            </a:r>
          </a:p>
        </p:txBody>
      </p:sp>
      <p:sp>
        <p:nvSpPr>
          <p:cNvPr id="33" name="Oval 32"/>
          <p:cNvSpPr/>
          <p:nvPr/>
        </p:nvSpPr>
        <p:spPr>
          <a:xfrm>
            <a:off x="5760720" y="4802632"/>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4" name="TextBox 33"/>
          <p:cNvSpPr txBox="1"/>
          <p:nvPr/>
        </p:nvSpPr>
        <p:spPr>
          <a:xfrm>
            <a:off x="6144768" y="4738624"/>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Grouping by several fields</a:t>
            </a:r>
          </a:p>
        </p:txBody>
      </p:sp>
      <p:sp>
        <p:nvSpPr>
          <p:cNvPr id="35" name="Oval 34"/>
          <p:cNvSpPr/>
          <p:nvPr/>
        </p:nvSpPr>
        <p:spPr>
          <a:xfrm>
            <a:off x="5760720" y="5204968"/>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6" name="TextBox 35"/>
          <p:cNvSpPr txBox="1"/>
          <p:nvPr/>
        </p:nvSpPr>
        <p:spPr>
          <a:xfrm>
            <a:off x="6144768" y="5140960"/>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What $group keeps — and loses</a:t>
            </a:r>
          </a:p>
        </p:txBody>
      </p:sp>
      <p:sp>
        <p:nvSpPr>
          <p:cNvPr id="37" name="Oval 36"/>
          <p:cNvSpPr/>
          <p:nvPr/>
        </p:nvSpPr>
        <p:spPr>
          <a:xfrm>
            <a:off x="5760720" y="5607304"/>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38" name="TextBox 37"/>
          <p:cNvSpPr txBox="1"/>
          <p:nvPr/>
        </p:nvSpPr>
        <p:spPr>
          <a:xfrm>
            <a:off x="6144768" y="5543296"/>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$count and $sortByCount</a:t>
            </a:r>
          </a:p>
        </p:txBody>
      </p:sp>
      <p:sp>
        <p:nvSpPr>
          <p:cNvPr id="39" name="Rectangle 3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$GROUP: ONE DOCUMENT PER KEY</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_id is the grouping key; every other field is an accumulator.</a:t>
            </a:r>
          </a:p>
        </p:txBody>
      </p:sp>
      <p:sp>
        <p:nvSpPr>
          <p:cNvPr id="4" name="Rounded Rectangle 3"/>
          <p:cNvSpPr/>
          <p:nvPr/>
        </p:nvSpPr>
        <p:spPr>
          <a:xfrm>
            <a:off x="475488" y="1843463"/>
            <a:ext cx="7415783" cy="3445393"/>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9" descr="image.jpg"/>
          <p:cNvPicPr>
            <a:picLocks noChangeAspect="1"/>
          </p:cNvPicPr>
          <p:nvPr/>
        </p:nvPicPr>
        <p:blipFill>
          <a:blip r:embed="rId2"/>
          <a:stretch>
            <a:fillRect/>
          </a:stretch>
        </p:blipFill>
        <p:spPr>
          <a:xfrm>
            <a:off x="548640" y="1916615"/>
            <a:ext cx="7269480" cy="3299089"/>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_id</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"$customerId" — one output per distinct value; null means one group.</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Accumulators</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$sum, $avg, $min, $max, $first, $last, $push, $addToSet.</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Count or total</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$sum: 1 counts documents; $sum: "$total" adds values.</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OUR DATA   </a:t>
            </a:r>
            <a:r>
              <a:rPr sz="1200" b="0" i="0">
                <a:solidFill>
                  <a:srgbClr val="000000"/>
                </a:solidFill>
                <a:latin typeface="Nirmala UI"/>
              </a:rPr>
              <a:t>Aisha's 4 paid orders → spent 3418.62.</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$group turns many documents into one per key — _id names the key, accumulators compute the rest.</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PRODUCTS BY CATEGORY</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Count, average, minimum and maximum price for active products.</a:t>
            </a:r>
          </a:p>
        </p:txBody>
      </p:sp>
      <p:sp>
        <p:nvSpPr>
          <p:cNvPr id="4" name="TextBox 3"/>
          <p:cNvSpPr txBox="1"/>
          <p:nvPr/>
        </p:nvSpPr>
        <p:spPr>
          <a:xfrm>
            <a:off x="457200" y="1298448"/>
            <a:ext cx="7132320" cy="310896"/>
          </a:xfrm>
          <a:prstGeom prst="rect">
            <a:avLst/>
          </a:prstGeom>
          <a:noFill/>
        </p:spPr>
        <p:txBody>
          <a:bodyPr wrap="square" anchor="ctr" lIns="0" rIns="0" tIns="0" bIns="0">
            <a:spAutoFit/>
          </a:bodyPr>
          <a:lstStyle/>
          <a:p>
            <a:pPr algn="l"/>
            <a:r>
              <a:rPr sz="1300" b="1" i="0">
                <a:solidFill>
                  <a:srgbClr val="002060"/>
                </a:solidFill>
                <a:latin typeface="Nirmala UI"/>
              </a:rPr>
              <a:t>Pipeline</a:t>
            </a:r>
          </a:p>
        </p:txBody>
      </p:sp>
      <p:sp>
        <p:nvSpPr>
          <p:cNvPr id="5" name="Rounded Rectangle 4"/>
          <p:cNvSpPr/>
          <p:nvPr/>
        </p:nvSpPr>
        <p:spPr>
          <a:xfrm>
            <a:off x="457200" y="1627632"/>
            <a:ext cx="7132320" cy="26718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db.products.aggregate([</a:t>
            </a:r>
          </a:p>
          <a:p>
            <a:pPr algn="l"/>
            <a:r>
              <a:rPr sz="1300" b="0" i="0">
                <a:solidFill>
                  <a:srgbClr val="000000"/>
                </a:solidFill>
                <a:latin typeface="Consolas"/>
              </a:rPr>
              <a:t>  { $match: { active: true } },</a:t>
            </a:r>
          </a:p>
          <a:p>
            <a:pPr algn="l"/>
            <a:r>
              <a:rPr sz="1300" b="0" i="0">
                <a:solidFill>
                  <a:srgbClr val="000000"/>
                </a:solidFill>
                <a:latin typeface="Consolas"/>
              </a:rPr>
              <a:t>  { $group: {</a:t>
            </a:r>
          </a:p>
          <a:p>
            <a:pPr algn="l"/>
            <a:r>
              <a:rPr sz="1300" b="0" i="0">
                <a:solidFill>
                  <a:srgbClr val="000000"/>
                </a:solidFill>
                <a:latin typeface="Consolas"/>
              </a:rPr>
              <a:t>      _id: "$category",</a:t>
            </a:r>
          </a:p>
          <a:p>
            <a:pPr algn="l"/>
            <a:r>
              <a:rPr sz="1300" b="0" i="0">
                <a:solidFill>
                  <a:srgbClr val="000000"/>
                </a:solidFill>
                <a:latin typeface="Consolas"/>
              </a:rPr>
              <a:t>      productCount: { $sum: 1 },</a:t>
            </a:r>
          </a:p>
          <a:p>
            <a:pPr algn="l"/>
            <a:r>
              <a:rPr sz="1300" b="0" i="0">
                <a:solidFill>
                  <a:srgbClr val="000000"/>
                </a:solidFill>
                <a:latin typeface="Consolas"/>
              </a:rPr>
              <a:t>      averagePrice: { $avg: "$price" },</a:t>
            </a:r>
          </a:p>
          <a:p>
            <a:pPr algn="l"/>
            <a:r>
              <a:rPr sz="1300" b="0" i="0">
                <a:solidFill>
                  <a:srgbClr val="000000"/>
                </a:solidFill>
                <a:latin typeface="Consolas"/>
              </a:rPr>
              <a:t>      minimumPrice: { $min: "$price" },</a:t>
            </a:r>
          </a:p>
          <a:p>
            <a:pPr algn="l"/>
            <a:r>
              <a:rPr sz="1300" b="0" i="0">
                <a:solidFill>
                  <a:srgbClr val="000000"/>
                </a:solidFill>
                <a:latin typeface="Consolas"/>
              </a:rPr>
              <a:t>      maximumPrice: { $max: "$price" }</a:t>
            </a:r>
          </a:p>
          <a:p>
            <a:pPr algn="l"/>
            <a:r>
              <a:rPr sz="1300" b="0" i="0">
                <a:solidFill>
                  <a:srgbClr val="000000"/>
                </a:solidFill>
                <a:latin typeface="Consolas"/>
              </a:rPr>
              <a:t>  } },</a:t>
            </a:r>
          </a:p>
          <a:p>
            <a:pPr algn="l"/>
            <a:r>
              <a:rPr sz="1300" b="0" i="0">
                <a:solidFill>
                  <a:srgbClr val="000000"/>
                </a:solidFill>
                <a:latin typeface="Consolas"/>
              </a:rPr>
              <a:t>  { $sort: { averagePrice: -1 } }</a:t>
            </a:r>
          </a:p>
          <a:p>
            <a:pPr algn="l"/>
            <a:r>
              <a:rPr sz="1300" b="0" i="0">
                <a:solidFill>
                  <a:srgbClr val="000000"/>
                </a:solidFill>
                <a:latin typeface="Consolas"/>
              </a:rPr>
              <a:t>])</a:t>
            </a:r>
          </a:p>
        </p:txBody>
      </p:sp>
      <p:sp>
        <p:nvSpPr>
          <p:cNvPr id="6" name="Oval 5"/>
          <p:cNvSpPr/>
          <p:nvPr/>
        </p:nvSpPr>
        <p:spPr>
          <a:xfrm>
            <a:off x="7863840" y="132588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7" name="TextBox 6"/>
          <p:cNvSpPr txBox="1"/>
          <p:nvPr/>
        </p:nvSpPr>
        <p:spPr>
          <a:xfrm>
            <a:off x="8193024" y="1298448"/>
            <a:ext cx="3511296" cy="310896"/>
          </a:xfrm>
          <a:prstGeom prst="rect">
            <a:avLst/>
          </a:prstGeom>
          <a:noFill/>
        </p:spPr>
        <p:txBody>
          <a:bodyPr wrap="square" anchor="ctr" lIns="0" rIns="0" tIns="0" bIns="0">
            <a:spAutoFit/>
          </a:bodyPr>
          <a:lstStyle/>
          <a:p>
            <a:pPr algn="l"/>
            <a:r>
              <a:rPr sz="1300" b="1" i="0">
                <a:solidFill>
                  <a:srgbClr val="2E7D32"/>
                </a:solidFill>
                <a:latin typeface="Nirmala UI"/>
              </a:rPr>
              <a:t>Result (rounded)</a:t>
            </a:r>
          </a:p>
        </p:txBody>
      </p:sp>
      <p:sp>
        <p:nvSpPr>
          <p:cNvPr id="8" name="Rounded Rectangle 7"/>
          <p:cNvSpPr/>
          <p:nvPr/>
        </p:nvSpPr>
        <p:spPr>
          <a:xfrm>
            <a:off x="7863840" y="1627632"/>
            <a:ext cx="3840479" cy="1384046"/>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_id        count  averagePrice</a:t>
            </a:r>
          </a:p>
          <a:p>
            <a:pPr algn="l"/>
            <a:r>
              <a:rPr sz="1300" b="0" i="0">
                <a:solidFill>
                  <a:srgbClr val="000000"/>
                </a:solidFill>
                <a:latin typeface="Consolas"/>
              </a:rPr>
              <a:t>LAPTOP     2      1599.99</a:t>
            </a:r>
          </a:p>
          <a:p>
            <a:pPr algn="l"/>
            <a:r>
              <a:rPr sz="1300" b="0" i="0">
                <a:solidFill>
                  <a:srgbClr val="000000"/>
                </a:solidFill>
                <a:latin typeface="Consolas"/>
              </a:rPr>
              <a:t>SHOE       3        88.32</a:t>
            </a:r>
          </a:p>
          <a:p>
            <a:pPr algn="l"/>
            <a:r>
              <a:rPr sz="1300" b="0" i="0">
                <a:solidFill>
                  <a:srgbClr val="000000"/>
                </a:solidFill>
                <a:latin typeface="Consolas"/>
              </a:rPr>
              <a:t>ACCESSORY  5        86.24</a:t>
            </a:r>
          </a:p>
          <a:p>
            <a:pPr algn="l"/>
            <a:r>
              <a:rPr sz="1300" b="0" i="0">
                <a:solidFill>
                  <a:srgbClr val="000000"/>
                </a:solidFill>
                <a:latin typeface="Consolas"/>
              </a:rPr>
              <a:t>BOOK       2        49.99</a:t>
            </a:r>
          </a:p>
        </p:txBody>
      </p:sp>
      <p:sp>
        <p:nvSpPr>
          <p:cNvPr id="9" name="Rounded Rectangle 8"/>
          <p:cNvSpPr/>
          <p:nvPr/>
        </p:nvSpPr>
        <p:spPr>
          <a:xfrm>
            <a:off x="7863840" y="3139694"/>
            <a:ext cx="3840479" cy="110947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001000" y="3194558"/>
            <a:ext cx="3566159" cy="292608"/>
          </a:xfrm>
          <a:prstGeom prst="rect">
            <a:avLst/>
          </a:prstGeom>
          <a:noFill/>
        </p:spPr>
        <p:txBody>
          <a:bodyPr wrap="square" anchor="ctr" lIns="0" rIns="0" tIns="0" bIns="0">
            <a:spAutoFit/>
          </a:bodyPr>
          <a:lstStyle/>
          <a:p>
            <a:pPr algn="l"/>
            <a:r>
              <a:rPr sz="1300" b="1" i="0">
                <a:solidFill>
                  <a:srgbClr val="002060"/>
                </a:solidFill>
                <a:latin typeface="Nirmala UI"/>
              </a:rPr>
              <a:t>L190 is inactive</a:t>
            </a:r>
          </a:p>
        </p:txBody>
      </p:sp>
      <p:sp>
        <p:nvSpPr>
          <p:cNvPr id="11" name="TextBox 10"/>
          <p:cNvSpPr txBox="1"/>
          <p:nvPr/>
        </p:nvSpPr>
        <p:spPr>
          <a:xfrm>
            <a:off x="8001000" y="3505454"/>
            <a:ext cx="3566159" cy="688848"/>
          </a:xfrm>
          <a:prstGeom prst="rect">
            <a:avLst/>
          </a:prstGeom>
          <a:noFill/>
        </p:spPr>
        <p:txBody>
          <a:bodyPr wrap="square" anchor="t" lIns="0" rIns="0" tIns="0" bIns="0">
            <a:spAutoFit/>
          </a:bodyPr>
          <a:lstStyle/>
          <a:p>
            <a:pPr algn="l"/>
            <a:r>
              <a:rPr sz="1200" b="0" i="0">
                <a:solidFill>
                  <a:srgbClr val="000000"/>
                </a:solidFill>
                <a:latin typeface="Nirmala UI"/>
              </a:rPr>
              <a:t>So LAPTOP counts 2, not 3.</a:t>
            </a:r>
          </a:p>
        </p:txBody>
      </p:sp>
      <p:sp>
        <p:nvSpPr>
          <p:cNvPr id="12" name="Rounded Rectangle 11"/>
          <p:cNvSpPr/>
          <p:nvPr/>
        </p:nvSpPr>
        <p:spPr>
          <a:xfrm>
            <a:off x="7863840" y="4377182"/>
            <a:ext cx="3840479" cy="107594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046720" y="4377182"/>
            <a:ext cx="3474719" cy="1075944"/>
          </a:xfrm>
          <a:prstGeom prst="rect">
            <a:avLst/>
          </a:prstGeom>
          <a:noFill/>
        </p:spPr>
        <p:txBody>
          <a:bodyPr wrap="square" anchor="ctr" lIns="0" rIns="0" tIns="0" bIns="0">
            <a:spAutoFit/>
          </a:bodyPr>
          <a:lstStyle/>
          <a:p>
            <a:pPr algn="l"/>
            <a:r>
              <a:rPr sz="1200" b="1" i="0">
                <a:solidFill>
                  <a:srgbClr val="D1282E"/>
                </a:solidFill>
                <a:latin typeface="Nirmala UI"/>
              </a:rPr>
              <a:t>XBAD TRAP   </a:t>
            </a:r>
            <a:r>
              <a:rPr sz="1200" b="0" i="0">
                <a:solidFill>
                  <a:srgbClr val="000000"/>
                </a:solidFill>
                <a:latin typeface="Nirmala UI"/>
              </a:rPr>
              <a:t>Price "49.99" is a string: $avg skips it, $max returns it.</a:t>
            </a:r>
          </a:p>
        </p:txBody>
      </p:sp>
      <p:sp>
        <p:nvSpPr>
          <p:cNvPr id="14" name="Rounded Rectangle 1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Accumulators summarize each group — and a wrongly typed value changes the answer quietly.</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GROUPING BY SEVERAL FIELDS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 document as _id: one group per combination of values.</a:t>
            </a:r>
          </a:p>
        </p:txBody>
      </p:sp>
      <p:sp>
        <p:nvSpPr>
          <p:cNvPr id="4" name="Rounded Rectangle 3"/>
          <p:cNvSpPr/>
          <p:nvPr/>
        </p:nvSpPr>
        <p:spPr>
          <a:xfrm>
            <a:off x="475488" y="1854969"/>
            <a:ext cx="7415783" cy="3422381"/>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47" descr="image.jpg"/>
          <p:cNvPicPr>
            <a:picLocks noChangeAspect="1"/>
          </p:cNvPicPr>
          <p:nvPr/>
        </p:nvPicPr>
        <p:blipFill>
          <a:blip r:embed="rId2"/>
          <a:stretch>
            <a:fillRect/>
          </a:stretch>
        </p:blipFill>
        <p:spPr>
          <a:xfrm>
            <a:off x="548640" y="1928121"/>
            <a:ext cx="7269480" cy="3276077"/>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Payment × fulfillment</a:t>
            </a:r>
          </a:p>
        </p:txBody>
      </p:sp>
      <p:sp>
        <p:nvSpPr>
          <p:cNvPr id="7" name="Rounded Rectangle 6"/>
          <p:cNvSpPr/>
          <p:nvPr/>
        </p:nvSpPr>
        <p:spPr>
          <a:xfrm>
            <a:off x="8183880" y="1627632"/>
            <a:ext cx="3520440" cy="140055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 $group: {</a:t>
            </a:r>
          </a:p>
          <a:p>
            <a:pPr algn="l"/>
            <a:r>
              <a:rPr sz="1100" b="0" i="0">
                <a:solidFill>
                  <a:srgbClr val="000000"/>
                </a:solidFill>
                <a:latin typeface="Consolas"/>
              </a:rPr>
              <a:t>    _id: {</a:t>
            </a:r>
          </a:p>
          <a:p>
            <a:pPr algn="l"/>
            <a:r>
              <a:rPr sz="1100" b="0" i="0">
                <a:solidFill>
                  <a:srgbClr val="000000"/>
                </a:solidFill>
                <a:latin typeface="Consolas"/>
              </a:rPr>
              <a:t>      pay: "$paymentStatus",</a:t>
            </a:r>
          </a:p>
          <a:p>
            <a:pPr algn="l"/>
            <a:r>
              <a:rPr sz="1100" b="0" i="0">
                <a:solidFill>
                  <a:srgbClr val="000000"/>
                </a:solidFill>
                <a:latin typeface="Consolas"/>
              </a:rPr>
              <a:t>      ful: "$fulfillmentStatus" },</a:t>
            </a:r>
          </a:p>
          <a:p>
            <a:pPr algn="l"/>
            <a:r>
              <a:rPr sz="1100" b="0" i="0">
                <a:solidFill>
                  <a:srgbClr val="000000"/>
                </a:solidFill>
                <a:latin typeface="Consolas"/>
              </a:rPr>
              <a:t>    orders: { $sum: 1 },</a:t>
            </a:r>
          </a:p>
          <a:p>
            <a:pPr algn="l"/>
            <a:r>
              <a:rPr sz="1100" b="0" i="0">
                <a:solidFill>
                  <a:srgbClr val="000000"/>
                </a:solidFill>
                <a:latin typeface="Consolas"/>
              </a:rPr>
              <a:t>    revenue: { $sum: "$total" } } }</a:t>
            </a:r>
          </a:p>
        </p:txBody>
      </p:sp>
      <p:sp>
        <p:nvSpPr>
          <p:cNvPr id="8" name="Rounded Rectangle 7"/>
          <p:cNvSpPr/>
          <p:nvPr/>
        </p:nvSpPr>
        <p:spPr>
          <a:xfrm>
            <a:off x="8183880" y="3156204"/>
            <a:ext cx="3520440" cy="127482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321106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Result</a:t>
            </a:r>
          </a:p>
        </p:txBody>
      </p:sp>
      <p:sp>
        <p:nvSpPr>
          <p:cNvPr id="10" name="TextBox 9"/>
          <p:cNvSpPr txBox="1"/>
          <p:nvPr/>
        </p:nvSpPr>
        <p:spPr>
          <a:xfrm>
            <a:off x="8321040" y="3521964"/>
            <a:ext cx="3246120" cy="854201"/>
          </a:xfrm>
          <a:prstGeom prst="rect">
            <a:avLst/>
          </a:prstGeom>
          <a:noFill/>
        </p:spPr>
        <p:txBody>
          <a:bodyPr wrap="square" anchor="t" lIns="0" rIns="0" tIns="0" bIns="0">
            <a:spAutoFit/>
          </a:bodyPr>
          <a:lstStyle/>
          <a:p>
            <a:pPr algn="l"/>
            <a:r>
              <a:rPr sz="1200" b="0" i="0">
                <a:solidFill>
                  <a:srgbClr val="000000"/>
                </a:solidFill>
                <a:latin typeface="Nirmala UI"/>
              </a:rPr>
              <a:t>7 groups; PAID + SHIPPED is largest: 6 orders, 3809.48.</a:t>
            </a:r>
          </a:p>
        </p:txBody>
      </p:sp>
      <p:sp>
        <p:nvSpPr>
          <p:cNvPr id="11" name="Rounded Rectangle 10"/>
          <p:cNvSpPr/>
          <p:nvPr/>
        </p:nvSpPr>
        <p:spPr>
          <a:xfrm>
            <a:off x="8183880" y="4559046"/>
            <a:ext cx="3520440" cy="127482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4613910"/>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Read _id in words</a:t>
            </a:r>
          </a:p>
        </p:txBody>
      </p:sp>
      <p:sp>
        <p:nvSpPr>
          <p:cNvPr id="13" name="TextBox 12"/>
          <p:cNvSpPr txBox="1"/>
          <p:nvPr/>
        </p:nvSpPr>
        <p:spPr>
          <a:xfrm>
            <a:off x="8321040" y="4924806"/>
            <a:ext cx="3246120" cy="854201"/>
          </a:xfrm>
          <a:prstGeom prst="rect">
            <a:avLst/>
          </a:prstGeom>
          <a:noFill/>
        </p:spPr>
        <p:txBody>
          <a:bodyPr wrap="square" anchor="t" lIns="0" rIns="0" tIns="0" bIns="0">
            <a:spAutoFit/>
          </a:bodyPr>
          <a:lstStyle/>
          <a:p>
            <a:pPr algn="l"/>
            <a:r>
              <a:rPr sz="1200" b="0" i="0">
                <a:solidFill>
                  <a:srgbClr val="000000"/>
                </a:solidFill>
                <a:latin typeface="Nirmala UI"/>
              </a:rPr>
              <a:t>{ PENDING, NEW } = all pending, new orders: O5001, O6499.</a:t>
            </a:r>
          </a:p>
        </p:txBody>
      </p:sp>
      <p:sp>
        <p:nvSpPr>
          <p:cNvPr id="14" name="Rounded Rectangle 1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compound _id groups by every combination — read it as a sentence about the orders it holds.</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WHAT $GROUP KEEPS — AND LOSES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Only _id and the accumulators leave the stage.</a:t>
            </a:r>
          </a:p>
        </p:txBody>
      </p:sp>
      <p:sp>
        <p:nvSpPr>
          <p:cNvPr id="4" name="Rounded Rectangle 3"/>
          <p:cNvSpPr/>
          <p:nvPr/>
        </p:nvSpPr>
        <p:spPr>
          <a:xfrm>
            <a:off x="475488" y="1688728"/>
            <a:ext cx="7415783" cy="3754863"/>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46" descr="image.jpg"/>
          <p:cNvPicPr>
            <a:picLocks noChangeAspect="1"/>
          </p:cNvPicPr>
          <p:nvPr/>
        </p:nvPicPr>
        <p:blipFill>
          <a:blip r:embed="rId2"/>
          <a:stretch>
            <a:fillRect/>
          </a:stretch>
        </p:blipFill>
        <p:spPr>
          <a:xfrm>
            <a:off x="548640" y="1761880"/>
            <a:ext cx="7269480" cy="3608559"/>
          </a:xfrm>
          <a:prstGeom prst="rect">
            <a:avLst/>
          </a:prstGeom>
        </p:spPr>
      </p:pic>
      <p:sp>
        <p:nvSpPr>
          <p:cNvPr id="6" name="Rounded Rectangle 5"/>
          <p:cNvSpPr/>
          <p:nvPr/>
        </p:nvSpPr>
        <p:spPr>
          <a:xfrm>
            <a:off x="8183880" y="1298448"/>
            <a:ext cx="352044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Lost</a:t>
            </a:r>
          </a:p>
        </p:txBody>
      </p:sp>
      <p:sp>
        <p:nvSpPr>
          <p:cNvPr id="8" name="TextBox 7"/>
          <p:cNvSpPr txBox="1"/>
          <p:nvPr/>
        </p:nvSpPr>
        <p:spPr>
          <a:xfrm>
            <a:off x="8321040" y="1664208"/>
            <a:ext cx="3246120" cy="874775"/>
          </a:xfrm>
          <a:prstGeom prst="rect">
            <a:avLst/>
          </a:prstGeom>
          <a:noFill/>
        </p:spPr>
        <p:txBody>
          <a:bodyPr wrap="square" anchor="t" lIns="0" rIns="0" tIns="0" bIns="0">
            <a:spAutoFit/>
          </a:bodyPr>
          <a:lstStyle/>
          <a:p>
            <a:pPr algn="l"/>
            <a:r>
              <a:rPr sz="1200" b="0" i="0">
                <a:solidFill>
                  <a:srgbClr val="000000"/>
                </a:solidFill>
                <a:latin typeface="Nirmala UI"/>
              </a:rPr>
              <a:t>orderNumber, items and fulfillmentStatus don't carry forward.</a:t>
            </a:r>
          </a:p>
        </p:txBody>
      </p:sp>
      <p:sp>
        <p:nvSpPr>
          <p:cNvPr id="9" name="Oval 8"/>
          <p:cNvSpPr/>
          <p:nvPr/>
        </p:nvSpPr>
        <p:spPr>
          <a:xfrm>
            <a:off x="8183880" y="2749295"/>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10" name="TextBox 9"/>
          <p:cNvSpPr txBox="1"/>
          <p:nvPr/>
        </p:nvSpPr>
        <p:spPr>
          <a:xfrm>
            <a:off x="8513064" y="2721864"/>
            <a:ext cx="3191256" cy="310896"/>
          </a:xfrm>
          <a:prstGeom prst="rect">
            <a:avLst/>
          </a:prstGeom>
          <a:noFill/>
        </p:spPr>
        <p:txBody>
          <a:bodyPr wrap="square" anchor="ctr" lIns="0" rIns="0" tIns="0" bIns="0">
            <a:spAutoFit/>
          </a:bodyPr>
          <a:lstStyle/>
          <a:p>
            <a:pPr algn="l"/>
            <a:r>
              <a:rPr sz="1300" b="1" i="0">
                <a:solidFill>
                  <a:srgbClr val="2E7D32"/>
                </a:solidFill>
                <a:latin typeface="Nirmala UI"/>
              </a:rPr>
              <a:t>Keep values with accumulators</a:t>
            </a:r>
          </a:p>
        </p:txBody>
      </p:sp>
      <p:sp>
        <p:nvSpPr>
          <p:cNvPr id="11" name="Rounded Rectangle 10"/>
          <p:cNvSpPr/>
          <p:nvPr/>
        </p:nvSpPr>
        <p:spPr>
          <a:xfrm>
            <a:off x="8183880" y="3051048"/>
            <a:ext cx="3520440" cy="1218946"/>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 $group: { _id: "$customerId",</a:t>
            </a:r>
          </a:p>
          <a:p>
            <a:pPr algn="l"/>
            <a:r>
              <a:rPr sz="1100" b="0" i="0">
                <a:solidFill>
                  <a:srgbClr val="000000"/>
                </a:solidFill>
                <a:latin typeface="Consolas"/>
              </a:rPr>
              <a:t>    spent: { $sum: "$total" },</a:t>
            </a:r>
          </a:p>
          <a:p>
            <a:pPr algn="l"/>
            <a:r>
              <a:rPr sz="1100" b="0" i="0">
                <a:solidFill>
                  <a:srgbClr val="000000"/>
                </a:solidFill>
                <a:latin typeface="Consolas"/>
              </a:rPr>
              <a:t>    orders: { $push: "$orderNumber" },</a:t>
            </a:r>
          </a:p>
          <a:p>
            <a:pPr algn="l"/>
            <a:r>
              <a:rPr sz="1100" b="0" i="0">
                <a:solidFill>
                  <a:srgbClr val="000000"/>
                </a:solidFill>
                <a:latin typeface="Consolas"/>
              </a:rPr>
              <a:t>    statuses: { $addToSet:</a:t>
            </a:r>
          </a:p>
          <a:p>
            <a:pPr algn="l"/>
            <a:r>
              <a:rPr sz="1100" b="0" i="0">
                <a:solidFill>
                  <a:srgbClr val="000000"/>
                </a:solidFill>
                <a:latin typeface="Consolas"/>
              </a:rPr>
              <a:t>      "$fulfillmentStatus" } } }</a:t>
            </a:r>
          </a:p>
        </p:txBody>
      </p:sp>
      <p:sp>
        <p:nvSpPr>
          <p:cNvPr id="12" name="Rounded Rectangle 11"/>
          <p:cNvSpPr/>
          <p:nvPr/>
        </p:nvSpPr>
        <p:spPr>
          <a:xfrm>
            <a:off x="8183880" y="4398010"/>
            <a:ext cx="352044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4452873"/>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$first and $last</a:t>
            </a:r>
          </a:p>
        </p:txBody>
      </p:sp>
      <p:sp>
        <p:nvSpPr>
          <p:cNvPr id="14" name="TextBox 13"/>
          <p:cNvSpPr txBox="1"/>
          <p:nvPr/>
        </p:nvSpPr>
        <p:spPr>
          <a:xfrm>
            <a:off x="8321040" y="4763770"/>
            <a:ext cx="3246120" cy="874775"/>
          </a:xfrm>
          <a:prstGeom prst="rect">
            <a:avLst/>
          </a:prstGeom>
          <a:noFill/>
        </p:spPr>
        <p:txBody>
          <a:bodyPr wrap="square" anchor="t" lIns="0" rIns="0" tIns="0" bIns="0">
            <a:spAutoFit/>
          </a:bodyPr>
          <a:lstStyle/>
          <a:p>
            <a:pPr algn="l"/>
            <a:r>
              <a:rPr sz="1200" b="0" i="0">
                <a:solidFill>
                  <a:srgbClr val="000000"/>
                </a:solidFill>
                <a:latin typeface="Nirmala UI"/>
              </a:rPr>
              <a:t>Sort first — then they pick a meaningful document.</a:t>
            </a:r>
          </a:p>
        </p:txBody>
      </p:sp>
      <p:sp>
        <p:nvSpPr>
          <p:cNvPr id="15" name="Rounded Rectangle 14"/>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Anything a report needs after $group must be kept by an accumulator.</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$COUNT AND $SORTBYCOUNT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Count the stream — or count and rank each value.</a:t>
            </a:r>
          </a:p>
        </p:txBody>
      </p:sp>
      <p:sp>
        <p:nvSpPr>
          <p:cNvPr id="4" name="Rounded Rectangle 3"/>
          <p:cNvSpPr/>
          <p:nvPr/>
        </p:nvSpPr>
        <p:spPr>
          <a:xfrm>
            <a:off x="475488" y="2106067"/>
            <a:ext cx="7415783" cy="2920184"/>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51" descr="image.jpg"/>
          <p:cNvPicPr>
            <a:picLocks noChangeAspect="1"/>
          </p:cNvPicPr>
          <p:nvPr/>
        </p:nvPicPr>
        <p:blipFill>
          <a:blip r:embed="rId2"/>
          <a:stretch>
            <a:fillRect/>
          </a:stretch>
        </p:blipFill>
        <p:spPr>
          <a:xfrm>
            <a:off x="548640" y="2179219"/>
            <a:ext cx="7269480" cy="2773880"/>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Reviews per rating</a:t>
            </a:r>
          </a:p>
        </p:txBody>
      </p:sp>
      <p:sp>
        <p:nvSpPr>
          <p:cNvPr id="7" name="Rounded Rectangle 6"/>
          <p:cNvSpPr/>
          <p:nvPr/>
        </p:nvSpPr>
        <p:spPr>
          <a:xfrm>
            <a:off x="8183880" y="1627632"/>
            <a:ext cx="3520440" cy="90525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db.reviews.aggregate([</a:t>
            </a:r>
          </a:p>
          <a:p>
            <a:pPr algn="l"/>
            <a:r>
              <a:rPr sz="1200" b="0" i="0">
                <a:solidFill>
                  <a:srgbClr val="000000"/>
                </a:solidFill>
                <a:latin typeface="Consolas"/>
              </a:rPr>
              <a:t>  { $sortByCount: "$rating" }</a:t>
            </a:r>
          </a:p>
          <a:p>
            <a:pPr algn="l"/>
            <a:r>
              <a:rPr sz="1200" b="0" i="0">
                <a:solidFill>
                  <a:srgbClr val="000000"/>
                </a:solidFill>
                <a:latin typeface="Consolas"/>
              </a:rPr>
              <a:t>])</a:t>
            </a:r>
          </a:p>
        </p:txBody>
      </p:sp>
      <p:sp>
        <p:nvSpPr>
          <p:cNvPr id="8" name="Rounded Rectangle 7"/>
          <p:cNvSpPr/>
          <p:nvPr/>
        </p:nvSpPr>
        <p:spPr>
          <a:xfrm>
            <a:off x="8183880" y="2660904"/>
            <a:ext cx="3520440" cy="104546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271576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Result</a:t>
            </a:r>
          </a:p>
        </p:txBody>
      </p:sp>
      <p:sp>
        <p:nvSpPr>
          <p:cNvPr id="10" name="TextBox 9"/>
          <p:cNvSpPr txBox="1"/>
          <p:nvPr/>
        </p:nvSpPr>
        <p:spPr>
          <a:xfrm>
            <a:off x="8321040" y="3026664"/>
            <a:ext cx="3246120" cy="624840"/>
          </a:xfrm>
          <a:prstGeom prst="rect">
            <a:avLst/>
          </a:prstGeom>
          <a:noFill/>
        </p:spPr>
        <p:txBody>
          <a:bodyPr wrap="square" anchor="t" lIns="0" rIns="0" tIns="0" bIns="0">
            <a:spAutoFit/>
          </a:bodyPr>
          <a:lstStyle/>
          <a:p>
            <a:pPr algn="l"/>
            <a:r>
              <a:rPr sz="1200" b="0" i="0">
                <a:solidFill>
                  <a:srgbClr val="000000"/>
                </a:solidFill>
                <a:latin typeface="Nirmala UI"/>
              </a:rPr>
              <a:t>5 stars: 3 · 4 stars: 2 · 3 stars: 1 — our six reviews.</a:t>
            </a:r>
          </a:p>
        </p:txBody>
      </p:sp>
      <p:sp>
        <p:nvSpPr>
          <p:cNvPr id="11" name="Rounded Rectangle 10"/>
          <p:cNvSpPr/>
          <p:nvPr/>
        </p:nvSpPr>
        <p:spPr>
          <a:xfrm>
            <a:off x="8183880" y="3834384"/>
            <a:ext cx="3520440" cy="104546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3889247"/>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$count</a:t>
            </a:r>
          </a:p>
        </p:txBody>
      </p:sp>
      <p:sp>
        <p:nvSpPr>
          <p:cNvPr id="13" name="TextBox 12"/>
          <p:cNvSpPr txBox="1"/>
          <p:nvPr/>
        </p:nvSpPr>
        <p:spPr>
          <a:xfrm>
            <a:off x="8321040" y="4200144"/>
            <a:ext cx="3246120" cy="624839"/>
          </a:xfrm>
          <a:prstGeom prst="rect">
            <a:avLst/>
          </a:prstGeom>
          <a:noFill/>
        </p:spPr>
        <p:txBody>
          <a:bodyPr wrap="square" anchor="t" lIns="0" rIns="0" tIns="0" bIns="0">
            <a:spAutoFit/>
          </a:bodyPr>
          <a:lstStyle/>
          <a:p>
            <a:pPr algn="l"/>
            <a:r>
              <a:rPr sz="1200" b="0" i="0">
                <a:solidFill>
                  <a:srgbClr val="000000"/>
                </a:solidFill>
                <a:latin typeface="Nirmala UI"/>
              </a:rPr>
              <a:t>{ $count: "totalReviews" } → { totalReviews: 6 }</a:t>
            </a:r>
          </a:p>
        </p:txBody>
      </p:sp>
      <p:sp>
        <p:nvSpPr>
          <p:cNvPr id="14" name="Rounded Rectangle 13"/>
          <p:cNvSpPr/>
          <p:nvPr/>
        </p:nvSpPr>
        <p:spPr>
          <a:xfrm>
            <a:off x="8183880" y="5007864"/>
            <a:ext cx="3520440" cy="82600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66760" y="5007864"/>
            <a:ext cx="3154680" cy="826008"/>
          </a:xfrm>
          <a:prstGeom prst="rect">
            <a:avLst/>
          </a:prstGeom>
          <a:noFill/>
        </p:spPr>
        <p:txBody>
          <a:bodyPr wrap="square" anchor="ctr" lIns="0" rIns="0" tIns="0" bIns="0">
            <a:spAutoFit/>
          </a:bodyPr>
          <a:lstStyle/>
          <a:p>
            <a:pPr algn="l"/>
            <a:r>
              <a:rPr sz="1200" b="1" i="0">
                <a:solidFill>
                  <a:srgbClr val="D1282E"/>
                </a:solidFill>
                <a:latin typeface="Nirmala UI"/>
              </a:rPr>
              <a:t>SHORTCUT   </a:t>
            </a:r>
            <a:r>
              <a:rPr sz="1200" b="0" i="0">
                <a:solidFill>
                  <a:srgbClr val="000000"/>
                </a:solidFill>
                <a:latin typeface="Nirmala UI"/>
              </a:rPr>
              <a:t>$sortByCount = $group + $sum: 1 + $sort.</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$count counts what reaches it; $sortByCount counts and ranks each value in one stage.</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ORDERS BY PAYMENT STATUS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Group all orders — then check the counts add up.</a:t>
            </a:r>
          </a:p>
        </p:txBody>
      </p:sp>
      <p:sp>
        <p:nvSpPr>
          <p:cNvPr id="4" name="Rounded Rectangle 3"/>
          <p:cNvSpPr/>
          <p:nvPr/>
        </p:nvSpPr>
        <p:spPr>
          <a:xfrm>
            <a:off x="457200" y="1298448"/>
            <a:ext cx="2016252" cy="384048"/>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PRACTICE EXERCISE</a:t>
            </a:r>
          </a:p>
        </p:txBody>
      </p:sp>
      <p:sp>
        <p:nvSpPr>
          <p:cNvPr id="5" name="Rounded Rectangle 4"/>
          <p:cNvSpPr/>
          <p:nvPr/>
        </p:nvSpPr>
        <p:spPr>
          <a:xfrm>
            <a:off x="2610612"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10 MIN</a:t>
            </a:r>
          </a:p>
        </p:txBody>
      </p:sp>
      <p:sp>
        <p:nvSpPr>
          <p:cNvPr id="6" name="Rounded Rectangle 5"/>
          <p:cNvSpPr/>
          <p:nvPr/>
        </p:nvSpPr>
        <p:spPr>
          <a:xfrm>
            <a:off x="457200" y="1865376"/>
            <a:ext cx="3840480" cy="29159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Round Same Side Corner Rectangle 6"/>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TextBox 7"/>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9" name="TextBox 8"/>
          <p:cNvSpPr txBox="1"/>
          <p:nvPr/>
        </p:nvSpPr>
        <p:spPr>
          <a:xfrm>
            <a:off x="594360" y="2395728"/>
            <a:ext cx="3566160" cy="1411224"/>
          </a:xfrm>
          <a:prstGeom prst="rect">
            <a:avLst/>
          </a:prstGeom>
          <a:noFill/>
        </p:spPr>
        <p:txBody>
          <a:bodyPr wrap="square" anchor="t" lIns="0" rIns="0" tIns="0" bIns="0">
            <a:spAutoFit/>
          </a:bodyPr>
          <a:lstStyle/>
          <a:p>
            <a:pPr algn="l"/>
            <a:r>
              <a:rPr sz="1400" b="0" i="0">
                <a:solidFill>
                  <a:srgbClr val="000000"/>
                </a:solidFill>
                <a:latin typeface="Nirmala UI"/>
              </a:rPr>
              <a:t>Finance asks how many orders — and how much money — sit in each payment status.</a:t>
            </a:r>
          </a:p>
          <a:p>
            <a:pPr algn="l"/>
            <a:r>
              <a:rPr sz="1400" b="0" i="0">
                <a:solidFill>
                  <a:srgbClr val="000000"/>
                </a:solidFill>
                <a:latin typeface="Nirmala UI"/>
              </a:rPr>
              <a:t/>
            </a:r>
          </a:p>
          <a:p>
            <a:pPr algn="l"/>
            <a:r>
              <a:rPr sz="1400" b="0" i="0">
                <a:solidFill>
                  <a:srgbClr val="000000"/>
                </a:solidFill>
                <a:latin typeface="Nirmala UI"/>
              </a:rPr>
              <a:t>Use all 17 orders, not only the paid ones.</a:t>
            </a:r>
          </a:p>
        </p:txBody>
      </p:sp>
      <p:sp>
        <p:nvSpPr>
          <p:cNvPr id="10" name="Rounded Rectangle 9"/>
          <p:cNvSpPr/>
          <p:nvPr/>
        </p:nvSpPr>
        <p:spPr>
          <a:xfrm>
            <a:off x="4526280" y="1865376"/>
            <a:ext cx="3886200" cy="29159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Round Same Side Corner Rectangle 10"/>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3" name="Oval 12"/>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4" name="TextBox 13"/>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Group by paymentStatus</a:t>
            </a:r>
          </a:p>
        </p:txBody>
      </p:sp>
      <p:sp>
        <p:nvSpPr>
          <p:cNvPr id="15" name="Oval 14"/>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6" name="TextBox 15"/>
          <p:cNvSpPr txBox="1"/>
          <p:nvPr/>
        </p:nvSpPr>
        <p:spPr>
          <a:xfrm>
            <a:off x="5056632" y="28529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Count with $sum: 1; add total with $sum</a:t>
            </a:r>
          </a:p>
        </p:txBody>
      </p:sp>
      <p:sp>
        <p:nvSpPr>
          <p:cNvPr id="17" name="Oval 16"/>
          <p:cNvSpPr/>
          <p:nvPr/>
        </p:nvSpPr>
        <p:spPr>
          <a:xfrm>
            <a:off x="4663440" y="35062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18" name="TextBox 17"/>
          <p:cNvSpPr txBox="1"/>
          <p:nvPr/>
        </p:nvSpPr>
        <p:spPr>
          <a:xfrm>
            <a:off x="5056632" y="34513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Sort by revenue, highest first</a:t>
            </a:r>
          </a:p>
        </p:txBody>
      </p:sp>
      <p:sp>
        <p:nvSpPr>
          <p:cNvPr id="19" name="Oval 18"/>
          <p:cNvSpPr/>
          <p:nvPr/>
        </p:nvSpPr>
        <p:spPr>
          <a:xfrm>
            <a:off x="4663440" y="39634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0" name="TextBox 19"/>
          <p:cNvSpPr txBox="1"/>
          <p:nvPr/>
        </p:nvSpPr>
        <p:spPr>
          <a:xfrm>
            <a:off x="5056632" y="3908552"/>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Rename _id to paymentStatus in $project</a:t>
            </a:r>
          </a:p>
        </p:txBody>
      </p:sp>
      <p:sp>
        <p:nvSpPr>
          <p:cNvPr id="21" name="Rounded Rectangle 20"/>
          <p:cNvSpPr/>
          <p:nvPr/>
        </p:nvSpPr>
        <p:spPr>
          <a:xfrm>
            <a:off x="8641080" y="1865376"/>
            <a:ext cx="3063240" cy="29159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2" name="Round Same Side Corner Rectangle 21"/>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TextBox 22"/>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EXPECTED OUTCOME</a:t>
            </a:r>
          </a:p>
        </p:txBody>
      </p:sp>
      <p:sp>
        <p:nvSpPr>
          <p:cNvPr id="24" name="Oval 23"/>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5" name="TextBox 24"/>
          <p:cNvSpPr txBox="1"/>
          <p:nvPr/>
        </p:nvSpPr>
        <p:spPr>
          <a:xfrm>
            <a:off x="9116567" y="239572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PAID: 13 orders, 9118.44</a:t>
            </a:r>
          </a:p>
        </p:txBody>
      </p:sp>
      <p:sp>
        <p:nvSpPr>
          <p:cNvPr id="26" name="Oval 25"/>
          <p:cNvSpPr/>
          <p:nvPr/>
        </p:nvSpPr>
        <p:spPr>
          <a:xfrm>
            <a:off x="8778240" y="2871216"/>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816352"/>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PENDING: 3 orders, 4488.39</a:t>
            </a:r>
          </a:p>
        </p:txBody>
      </p:sp>
      <p:sp>
        <p:nvSpPr>
          <p:cNvPr id="28" name="Oval 27"/>
          <p:cNvSpPr/>
          <p:nvPr/>
        </p:nvSpPr>
        <p:spPr>
          <a:xfrm>
            <a:off x="8778240" y="32918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3236976"/>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FAILED: 1 order, 45.19</a:t>
            </a:r>
          </a:p>
        </p:txBody>
      </p:sp>
      <p:sp>
        <p:nvSpPr>
          <p:cNvPr id="30" name="Oval 29"/>
          <p:cNvSpPr/>
          <p:nvPr/>
        </p:nvSpPr>
        <p:spPr>
          <a:xfrm>
            <a:off x="8778240" y="3712463"/>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3657600"/>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13 + 3 + 1 = 17 orders</a:t>
            </a:r>
          </a:p>
        </p:txBody>
      </p:sp>
      <p:sp>
        <p:nvSpPr>
          <p:cNvPr id="32" name="Rounded Rectangle 31"/>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Check a grouped report by adding its counts back to the input count.</a:t>
            </a:r>
          </a:p>
        </p:txBody>
      </p:sp>
      <p:sp>
        <p:nvSpPr>
          <p:cNvPr id="34" name="Rectangle 3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4: ARRAYS AND JOINS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Look inside the items array — and reach into other collections.</a:t>
            </a:r>
          </a:p>
        </p:txBody>
      </p:sp>
      <p:sp>
        <p:nvSpPr>
          <p:cNvPr id="4" name="Pentagon 3"/>
          <p:cNvSpPr/>
          <p:nvPr/>
        </p:nvSpPr>
        <p:spPr>
          <a:xfrm>
            <a:off x="457200" y="1298448"/>
            <a:ext cx="202234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1762658"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Pipelines</a:t>
            </a:r>
          </a:p>
        </p:txBody>
      </p:sp>
      <p:sp>
        <p:nvSpPr>
          <p:cNvPr id="6" name="Chevron 5"/>
          <p:cNvSpPr/>
          <p:nvPr/>
        </p:nvSpPr>
        <p:spPr>
          <a:xfrm>
            <a:off x="2302154"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516124"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2</a:t>
            </a:r>
          </a:p>
          <a:p>
            <a:pPr algn="ctr"/>
            <a:r>
              <a:rPr sz="1300" b="1" i="0">
                <a:solidFill>
                  <a:srgbClr val="FFFFFF"/>
                </a:solidFill>
                <a:latin typeface="Nirmala UI"/>
              </a:rPr>
              <a:t>Filter and shape</a:t>
            </a:r>
          </a:p>
        </p:txBody>
      </p:sp>
      <p:sp>
        <p:nvSpPr>
          <p:cNvPr id="8" name="Chevron 7"/>
          <p:cNvSpPr/>
          <p:nvPr/>
        </p:nvSpPr>
        <p:spPr>
          <a:xfrm>
            <a:off x="4147108"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4361078"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3</a:t>
            </a:r>
          </a:p>
          <a:p>
            <a:pPr algn="ctr"/>
            <a:r>
              <a:rPr sz="1300" b="1" i="0">
                <a:solidFill>
                  <a:srgbClr val="FFFFFF"/>
                </a:solidFill>
                <a:latin typeface="Nirmala UI"/>
              </a:rPr>
              <a:t>Group</a:t>
            </a:r>
          </a:p>
        </p:txBody>
      </p:sp>
      <p:sp>
        <p:nvSpPr>
          <p:cNvPr id="10" name="Chevron 9"/>
          <p:cNvSpPr/>
          <p:nvPr/>
        </p:nvSpPr>
        <p:spPr>
          <a:xfrm>
            <a:off x="5992063" y="1298448"/>
            <a:ext cx="202234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6206032"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4</a:t>
            </a:r>
          </a:p>
          <a:p>
            <a:pPr algn="ctr"/>
            <a:r>
              <a:rPr sz="1300" b="1" i="0">
                <a:solidFill>
                  <a:srgbClr val="FFFFFF"/>
                </a:solidFill>
                <a:latin typeface="Nirmala UI"/>
              </a:rPr>
              <a:t>Arrays and joins</a:t>
            </a:r>
          </a:p>
        </p:txBody>
      </p:sp>
      <p:sp>
        <p:nvSpPr>
          <p:cNvPr id="12" name="Chevron 11"/>
          <p:cNvSpPr/>
          <p:nvPr/>
        </p:nvSpPr>
        <p:spPr>
          <a:xfrm>
            <a:off x="7837017"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050987"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Reports</a:t>
            </a:r>
          </a:p>
        </p:txBody>
      </p:sp>
      <p:sp>
        <p:nvSpPr>
          <p:cNvPr id="14" name="Chevron 13"/>
          <p:cNvSpPr/>
          <p:nvPr/>
        </p:nvSpPr>
        <p:spPr>
          <a:xfrm>
            <a:off x="9681972"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9895941"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6</a:t>
            </a:r>
          </a:p>
          <a:p>
            <a:pPr algn="ctr"/>
            <a:r>
              <a:rPr sz="1300" b="1" i="0">
                <a:solidFill>
                  <a:srgbClr val="FFFFFF"/>
                </a:solidFill>
                <a:latin typeface="Nirmala UI"/>
              </a:rPr>
              <a:t>Performance</a:t>
            </a:r>
          </a:p>
        </p:txBody>
      </p:sp>
      <p:sp>
        <p:nvSpPr>
          <p:cNvPr id="16" name="Rounded Rectangle 15"/>
          <p:cNvSpPr/>
          <p:nvPr/>
        </p:nvSpPr>
        <p:spPr>
          <a:xfrm>
            <a:off x="457200" y="2304288"/>
            <a:ext cx="4937760" cy="223113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Round Same Side Corner Rectangle 16"/>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9" name="Oval 18"/>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28803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$group summarizes many documents per key</a:t>
            </a:r>
          </a:p>
        </p:txBody>
      </p:sp>
      <p:sp>
        <p:nvSpPr>
          <p:cNvPr id="21" name="Oval 20"/>
          <p:cNvSpPr/>
          <p:nvPr/>
        </p:nvSpPr>
        <p:spPr>
          <a:xfrm>
            <a:off x="640080" y="34290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3558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Accumulators keep what the report needs</a:t>
            </a:r>
          </a:p>
        </p:txBody>
      </p:sp>
      <p:sp>
        <p:nvSpPr>
          <p:cNvPr id="23" name="Oval 22"/>
          <p:cNvSpPr/>
          <p:nvPr/>
        </p:nvSpPr>
        <p:spPr>
          <a:xfrm>
            <a:off x="640080" y="39044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4" name="TextBox 23"/>
          <p:cNvSpPr txBox="1"/>
          <p:nvPr/>
        </p:nvSpPr>
        <p:spPr>
          <a:xfrm>
            <a:off x="1051560" y="3831336"/>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Counts should add back up to the input</a:t>
            </a:r>
          </a:p>
        </p:txBody>
      </p:sp>
      <p:sp>
        <p:nvSpPr>
          <p:cNvPr id="25" name="Rounded Rectangle 24"/>
          <p:cNvSpPr/>
          <p:nvPr/>
        </p:nvSpPr>
        <p:spPr>
          <a:xfrm>
            <a:off x="5760720" y="2304288"/>
            <a:ext cx="5943600" cy="1310640"/>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TextBox 25"/>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7" name="TextBox 26"/>
          <p:cNvSpPr txBox="1"/>
          <p:nvPr/>
        </p:nvSpPr>
        <p:spPr>
          <a:xfrm>
            <a:off x="5989320" y="2688336"/>
            <a:ext cx="5486400" cy="853440"/>
          </a:xfrm>
          <a:prstGeom prst="rect">
            <a:avLst/>
          </a:prstGeom>
          <a:noFill/>
        </p:spPr>
        <p:txBody>
          <a:bodyPr wrap="square" anchor="t" lIns="0" rIns="0" tIns="0" bIns="0">
            <a:spAutoFit/>
          </a:bodyPr>
          <a:lstStyle/>
          <a:p>
            <a:pPr algn="l"/>
            <a:r>
              <a:rPr sz="1600" b="1" i="0">
                <a:solidFill>
                  <a:srgbClr val="002060"/>
                </a:solidFill>
                <a:latin typeface="Nirmala UI"/>
              </a:rPr>
              <a:t>How do we report on individual order lines, and add customer names that live in another collection?</a:t>
            </a:r>
          </a:p>
        </p:txBody>
      </p:sp>
      <p:sp>
        <p:nvSpPr>
          <p:cNvPr id="28" name="TextBox 27"/>
          <p:cNvSpPr txBox="1"/>
          <p:nvPr/>
        </p:nvSpPr>
        <p:spPr>
          <a:xfrm>
            <a:off x="5760720" y="3816096"/>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9" name="Oval 28"/>
          <p:cNvSpPr/>
          <p:nvPr/>
        </p:nvSpPr>
        <p:spPr>
          <a:xfrm>
            <a:off x="5760720" y="4245864"/>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30" name="TextBox 29"/>
          <p:cNvSpPr txBox="1"/>
          <p:nvPr/>
        </p:nvSpPr>
        <p:spPr>
          <a:xfrm>
            <a:off x="6144768" y="4181856"/>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$unwind: one document per item</a:t>
            </a:r>
          </a:p>
        </p:txBody>
      </p:sp>
      <p:sp>
        <p:nvSpPr>
          <p:cNvPr id="31" name="Oval 30"/>
          <p:cNvSpPr/>
          <p:nvPr/>
        </p:nvSpPr>
        <p:spPr>
          <a:xfrm>
            <a:off x="5760720" y="464820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2" name="TextBox 31"/>
          <p:cNvSpPr txBox="1"/>
          <p:nvPr/>
        </p:nvSpPr>
        <p:spPr>
          <a:xfrm>
            <a:off x="6144768" y="4584192"/>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Product sales from order lines</a:t>
            </a:r>
          </a:p>
        </p:txBody>
      </p:sp>
      <p:sp>
        <p:nvSpPr>
          <p:cNvPr id="33" name="Oval 32"/>
          <p:cNvSpPr/>
          <p:nvPr/>
        </p:nvSpPr>
        <p:spPr>
          <a:xfrm>
            <a:off x="5760720" y="505053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4" name="TextBox 33"/>
          <p:cNvSpPr txBox="1"/>
          <p:nvPr/>
        </p:nvSpPr>
        <p:spPr>
          <a:xfrm>
            <a:off x="6144768" y="4986528"/>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The double-counting trap</a:t>
            </a:r>
          </a:p>
        </p:txBody>
      </p:sp>
      <p:sp>
        <p:nvSpPr>
          <p:cNvPr id="35" name="Oval 34"/>
          <p:cNvSpPr/>
          <p:nvPr/>
        </p:nvSpPr>
        <p:spPr>
          <a:xfrm>
            <a:off x="5760720" y="5452872"/>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6" name="TextBox 35"/>
          <p:cNvSpPr txBox="1"/>
          <p:nvPr/>
        </p:nvSpPr>
        <p:spPr>
          <a:xfrm>
            <a:off x="6144768" y="5388864"/>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$lookup: matched and unmatched</a:t>
            </a:r>
          </a:p>
        </p:txBody>
      </p:sp>
      <p:sp>
        <p:nvSpPr>
          <p:cNvPr id="37" name="Oval 36"/>
          <p:cNvSpPr/>
          <p:nvPr/>
        </p:nvSpPr>
        <p:spPr>
          <a:xfrm>
            <a:off x="5760720" y="5855208"/>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38" name="TextBox 37"/>
          <p:cNvSpPr txBox="1"/>
          <p:nvPr/>
        </p:nvSpPr>
        <p:spPr>
          <a:xfrm>
            <a:off x="6144768" y="5791200"/>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Customer spending with names</a:t>
            </a:r>
          </a:p>
        </p:txBody>
      </p:sp>
      <p:sp>
        <p:nvSpPr>
          <p:cNvPr id="39" name="Rectangle 3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$UNWIND: ONE DOCUMENT PER ARRAY ELEMENT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An order with three items becomes three documents.</a:t>
            </a:r>
          </a:p>
        </p:txBody>
      </p:sp>
      <p:sp>
        <p:nvSpPr>
          <p:cNvPr id="4" name="Rounded Rectangle 3"/>
          <p:cNvSpPr/>
          <p:nvPr/>
        </p:nvSpPr>
        <p:spPr>
          <a:xfrm>
            <a:off x="475488" y="1531188"/>
            <a:ext cx="7415783" cy="4069942"/>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53" descr="image.jpg"/>
          <p:cNvPicPr>
            <a:picLocks noChangeAspect="1"/>
          </p:cNvPicPr>
          <p:nvPr/>
        </p:nvPicPr>
        <p:blipFill>
          <a:blip r:embed="rId2"/>
          <a:stretch>
            <a:fillRect/>
          </a:stretch>
        </p:blipFill>
        <p:spPr>
          <a:xfrm>
            <a:off x="548640" y="1604340"/>
            <a:ext cx="7269480" cy="3923638"/>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Our three-item order</a:t>
            </a:r>
          </a:p>
        </p:txBody>
      </p:sp>
      <p:sp>
        <p:nvSpPr>
          <p:cNvPr id="7" name="Rounded Rectangle 6"/>
          <p:cNvSpPr/>
          <p:nvPr/>
        </p:nvSpPr>
        <p:spPr>
          <a:xfrm>
            <a:off x="8183880" y="1627632"/>
            <a:ext cx="3520440" cy="103733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db.orders.aggregate([</a:t>
            </a:r>
          </a:p>
          <a:p>
            <a:pPr algn="l"/>
            <a:r>
              <a:rPr sz="1100" b="0" i="0">
                <a:solidFill>
                  <a:srgbClr val="000000"/>
                </a:solidFill>
                <a:latin typeface="Consolas"/>
              </a:rPr>
              <a:t>  { $match: { orderNumber: "O6303" } },</a:t>
            </a:r>
          </a:p>
          <a:p>
            <a:pPr algn="l"/>
            <a:r>
              <a:rPr sz="1100" b="0" i="0">
                <a:solidFill>
                  <a:srgbClr val="000000"/>
                </a:solidFill>
                <a:latin typeface="Consolas"/>
              </a:rPr>
              <a:t>  { $unwind: "$items" }</a:t>
            </a:r>
          </a:p>
          <a:p>
            <a:pPr algn="l"/>
            <a:r>
              <a:rPr sz="1100" b="0" i="0">
                <a:solidFill>
                  <a:srgbClr val="000000"/>
                </a:solidFill>
                <a:latin typeface="Consolas"/>
              </a:rPr>
              <a:t>])</a:t>
            </a:r>
          </a:p>
        </p:txBody>
      </p:sp>
      <p:sp>
        <p:nvSpPr>
          <p:cNvPr id="8" name="Rounded Rectangle 7"/>
          <p:cNvSpPr/>
          <p:nvPr/>
        </p:nvSpPr>
        <p:spPr>
          <a:xfrm>
            <a:off x="8183880" y="2792984"/>
            <a:ext cx="3520440" cy="100143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284784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Result</a:t>
            </a:r>
          </a:p>
        </p:txBody>
      </p:sp>
      <p:sp>
        <p:nvSpPr>
          <p:cNvPr id="10" name="TextBox 9"/>
          <p:cNvSpPr txBox="1"/>
          <p:nvPr/>
        </p:nvSpPr>
        <p:spPr>
          <a:xfrm>
            <a:off x="8321040" y="3158744"/>
            <a:ext cx="3246120" cy="580813"/>
          </a:xfrm>
          <a:prstGeom prst="rect">
            <a:avLst/>
          </a:prstGeom>
          <a:noFill/>
        </p:spPr>
        <p:txBody>
          <a:bodyPr wrap="square" anchor="t" lIns="0" rIns="0" tIns="0" bIns="0">
            <a:spAutoFit/>
          </a:bodyPr>
          <a:lstStyle/>
          <a:p>
            <a:pPr algn="l"/>
            <a:r>
              <a:rPr sz="1200" b="0" i="0">
                <a:solidFill>
                  <a:srgbClr val="000000"/>
                </a:solidFill>
                <a:latin typeface="Nirmala UI"/>
              </a:rPr>
              <a:t>3 documents — items is now one object, not an array.</a:t>
            </a:r>
          </a:p>
        </p:txBody>
      </p:sp>
      <p:sp>
        <p:nvSpPr>
          <p:cNvPr id="11" name="Rounded Rectangle 10"/>
          <p:cNvSpPr/>
          <p:nvPr/>
        </p:nvSpPr>
        <p:spPr>
          <a:xfrm>
            <a:off x="8183880" y="3922437"/>
            <a:ext cx="3520440" cy="100143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3977301"/>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Scale</a:t>
            </a:r>
          </a:p>
        </p:txBody>
      </p:sp>
      <p:sp>
        <p:nvSpPr>
          <p:cNvPr id="13" name="TextBox 12"/>
          <p:cNvSpPr txBox="1"/>
          <p:nvPr/>
        </p:nvSpPr>
        <p:spPr>
          <a:xfrm>
            <a:off x="8321040" y="4288197"/>
            <a:ext cx="3246120" cy="580813"/>
          </a:xfrm>
          <a:prstGeom prst="rect">
            <a:avLst/>
          </a:prstGeom>
          <a:noFill/>
        </p:spPr>
        <p:txBody>
          <a:bodyPr wrap="square" anchor="t" lIns="0" rIns="0" tIns="0" bIns="0">
            <a:spAutoFit/>
          </a:bodyPr>
          <a:lstStyle/>
          <a:p>
            <a:pPr algn="l"/>
            <a:r>
              <a:rPr sz="1200" b="0" i="0">
                <a:solidFill>
                  <a:srgbClr val="000000"/>
                </a:solidFill>
                <a:latin typeface="Nirmala UI"/>
              </a:rPr>
              <a:t>The 13 paid orders become 21 line documents.</a:t>
            </a:r>
          </a:p>
        </p:txBody>
      </p:sp>
      <p:sp>
        <p:nvSpPr>
          <p:cNvPr id="14" name="Rounded Rectangle 13"/>
          <p:cNvSpPr/>
          <p:nvPr/>
        </p:nvSpPr>
        <p:spPr>
          <a:xfrm>
            <a:off x="8183880" y="5051890"/>
            <a:ext cx="3520440" cy="781981"/>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66760" y="5051890"/>
            <a:ext cx="3154680" cy="781981"/>
          </a:xfrm>
          <a:prstGeom prst="rect">
            <a:avLst/>
          </a:prstGeom>
          <a:noFill/>
        </p:spPr>
        <p:txBody>
          <a:bodyPr wrap="square" anchor="ctr" lIns="0" rIns="0" tIns="0" bIns="0">
            <a:spAutoFit/>
          </a:bodyPr>
          <a:lstStyle/>
          <a:p>
            <a:pPr algn="l"/>
            <a:r>
              <a:rPr sz="1200" b="1" i="0">
                <a:solidFill>
                  <a:srgbClr val="D1282E"/>
                </a:solidFill>
                <a:latin typeface="Nirmala UI"/>
              </a:rPr>
              <a:t>OUTPUT ONLY   </a:t>
            </a:r>
            <a:r>
              <a:rPr sz="1200" b="0" i="0">
                <a:solidFill>
                  <a:srgbClr val="000000"/>
                </a:solidFill>
                <a:latin typeface="Nirmala UI"/>
              </a:rPr>
              <a:t>Stored orders keep their arrays.</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$unwind turns each array element into its own document — filter first so it multiplies less.</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PRODUCT SALES FROM ORDER LINES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Paid orders → lines → line revenue → one row per SKU.</a:t>
            </a:r>
          </a:p>
        </p:txBody>
      </p:sp>
      <p:sp>
        <p:nvSpPr>
          <p:cNvPr id="4" name="TextBox 3"/>
          <p:cNvSpPr txBox="1"/>
          <p:nvPr/>
        </p:nvSpPr>
        <p:spPr>
          <a:xfrm>
            <a:off x="457200" y="1298448"/>
            <a:ext cx="7132320" cy="310896"/>
          </a:xfrm>
          <a:prstGeom prst="rect">
            <a:avLst/>
          </a:prstGeom>
          <a:noFill/>
        </p:spPr>
        <p:txBody>
          <a:bodyPr wrap="square" anchor="ctr" lIns="0" rIns="0" tIns="0" bIns="0">
            <a:spAutoFit/>
          </a:bodyPr>
          <a:lstStyle/>
          <a:p>
            <a:pPr algn="l"/>
            <a:r>
              <a:rPr sz="1300" b="1" i="0">
                <a:solidFill>
                  <a:srgbClr val="002060"/>
                </a:solidFill>
                <a:latin typeface="Nirmala UI"/>
              </a:rPr>
              <a:t>Pipeline (Exercises 5.1 and 5.4)</a:t>
            </a:r>
          </a:p>
        </p:txBody>
      </p:sp>
      <p:sp>
        <p:nvSpPr>
          <p:cNvPr id="5" name="Rounded Rectangle 4"/>
          <p:cNvSpPr/>
          <p:nvPr/>
        </p:nvSpPr>
        <p:spPr>
          <a:xfrm>
            <a:off x="457200" y="1627632"/>
            <a:ext cx="7132320" cy="310108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db.orders.aggregate([</a:t>
            </a:r>
          </a:p>
          <a:p>
            <a:pPr algn="l"/>
            <a:r>
              <a:rPr sz="1300" b="0" i="0">
                <a:solidFill>
                  <a:srgbClr val="000000"/>
                </a:solidFill>
                <a:latin typeface="Consolas"/>
              </a:rPr>
              <a:t>  { $match: { paymentStatus: "PAID" } },</a:t>
            </a:r>
          </a:p>
          <a:p>
            <a:pPr algn="l"/>
            <a:r>
              <a:rPr sz="1300" b="0" i="0">
                <a:solidFill>
                  <a:srgbClr val="000000"/>
                </a:solidFill>
                <a:latin typeface="Consolas"/>
              </a:rPr>
              <a:t>  { $unwind: "$items" },</a:t>
            </a:r>
          </a:p>
          <a:p>
            <a:pPr algn="l"/>
            <a:r>
              <a:rPr sz="1300" b="0" i="0">
                <a:solidFill>
                  <a:srgbClr val="000000"/>
                </a:solidFill>
                <a:latin typeface="Consolas"/>
              </a:rPr>
              <a:t>  { $set: { lineRevenue: { $multiply:</a:t>
            </a:r>
          </a:p>
          <a:p>
            <a:pPr algn="l"/>
            <a:r>
              <a:rPr sz="1300" b="0" i="0">
                <a:solidFill>
                  <a:srgbClr val="000000"/>
                </a:solidFill>
                <a:latin typeface="Consolas"/>
              </a:rPr>
              <a:t>      ["$items.quantity", "$items.unitPrice"] } } },</a:t>
            </a:r>
          </a:p>
          <a:p>
            <a:pPr algn="l"/>
            <a:r>
              <a:rPr sz="1300" b="0" i="0">
                <a:solidFill>
                  <a:srgbClr val="000000"/>
                </a:solidFill>
                <a:latin typeface="Consolas"/>
              </a:rPr>
              <a:t>  { $group: {</a:t>
            </a:r>
          </a:p>
          <a:p>
            <a:pPr algn="l"/>
            <a:r>
              <a:rPr sz="1300" b="0" i="0">
                <a:solidFill>
                  <a:srgbClr val="000000"/>
                </a:solidFill>
                <a:latin typeface="Consolas"/>
              </a:rPr>
              <a:t>      _id: "$items.sku",</a:t>
            </a:r>
          </a:p>
          <a:p>
            <a:pPr algn="l"/>
            <a:r>
              <a:rPr sz="1300" b="0" i="0">
                <a:solidFill>
                  <a:srgbClr val="000000"/>
                </a:solidFill>
                <a:latin typeface="Consolas"/>
              </a:rPr>
              <a:t>      unitsSold: { $sum: "$items.quantity" },</a:t>
            </a:r>
          </a:p>
          <a:p>
            <a:pPr algn="l"/>
            <a:r>
              <a:rPr sz="1300" b="0" i="0">
                <a:solidFill>
                  <a:srgbClr val="000000"/>
                </a:solidFill>
                <a:latin typeface="Consolas"/>
              </a:rPr>
              <a:t>      revenue: { $sum: "$lineRevenue" },</a:t>
            </a:r>
          </a:p>
          <a:p>
            <a:pPr algn="l"/>
            <a:r>
              <a:rPr sz="1300" b="0" i="0">
                <a:solidFill>
                  <a:srgbClr val="000000"/>
                </a:solidFill>
                <a:latin typeface="Consolas"/>
              </a:rPr>
              <a:t>      orderCount: { $sum: 1 } } },</a:t>
            </a:r>
          </a:p>
          <a:p>
            <a:pPr algn="l"/>
            <a:r>
              <a:rPr sz="1300" b="0" i="0">
                <a:solidFill>
                  <a:srgbClr val="000000"/>
                </a:solidFill>
                <a:latin typeface="Consolas"/>
              </a:rPr>
              <a:t>  { $sort: { revenue: -1 } },</a:t>
            </a:r>
          </a:p>
          <a:p>
            <a:pPr algn="l"/>
            <a:r>
              <a:rPr sz="1300" b="0" i="0">
                <a:solidFill>
                  <a:srgbClr val="000000"/>
                </a:solidFill>
                <a:latin typeface="Consolas"/>
              </a:rPr>
              <a:t>  { $limit: 5 }</a:t>
            </a:r>
          </a:p>
          <a:p>
            <a:pPr algn="l"/>
            <a:r>
              <a:rPr sz="1300" b="0" i="0">
                <a:solidFill>
                  <a:srgbClr val="000000"/>
                </a:solidFill>
                <a:latin typeface="Consolas"/>
              </a:rPr>
              <a:t>])</a:t>
            </a:r>
          </a:p>
        </p:txBody>
      </p:sp>
      <p:sp>
        <p:nvSpPr>
          <p:cNvPr id="6" name="Oval 5"/>
          <p:cNvSpPr/>
          <p:nvPr/>
        </p:nvSpPr>
        <p:spPr>
          <a:xfrm>
            <a:off x="7863840" y="132588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7" name="TextBox 6"/>
          <p:cNvSpPr txBox="1"/>
          <p:nvPr/>
        </p:nvSpPr>
        <p:spPr>
          <a:xfrm>
            <a:off x="8193024" y="1298448"/>
            <a:ext cx="3511296" cy="310896"/>
          </a:xfrm>
          <a:prstGeom prst="rect">
            <a:avLst/>
          </a:prstGeom>
          <a:noFill/>
        </p:spPr>
        <p:txBody>
          <a:bodyPr wrap="square" anchor="ctr" lIns="0" rIns="0" tIns="0" bIns="0">
            <a:spAutoFit/>
          </a:bodyPr>
          <a:lstStyle/>
          <a:p>
            <a:pPr algn="l"/>
            <a:r>
              <a:rPr sz="1300" b="1" i="0">
                <a:solidFill>
                  <a:srgbClr val="2E7D32"/>
                </a:solidFill>
                <a:latin typeface="Nirmala UI"/>
              </a:rPr>
              <a:t>Result</a:t>
            </a:r>
          </a:p>
        </p:txBody>
      </p:sp>
      <p:sp>
        <p:nvSpPr>
          <p:cNvPr id="8" name="Rounded Rectangle 7"/>
          <p:cNvSpPr/>
          <p:nvPr/>
        </p:nvSpPr>
        <p:spPr>
          <a:xfrm>
            <a:off x="7863840" y="1627632"/>
            <a:ext cx="3840479" cy="1598675"/>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_id   units  revenue  orders</a:t>
            </a:r>
          </a:p>
          <a:p>
            <a:pPr algn="l"/>
            <a:r>
              <a:rPr sz="1300" b="0" i="0">
                <a:solidFill>
                  <a:srgbClr val="000000"/>
                </a:solidFill>
                <a:latin typeface="Consolas"/>
              </a:rPr>
              <a:t>L110  2      3799.98  2</a:t>
            </a:r>
          </a:p>
          <a:p>
            <a:pPr algn="l"/>
            <a:r>
              <a:rPr sz="1300" b="0" i="0">
                <a:solidFill>
                  <a:srgbClr val="000000"/>
                </a:solidFill>
                <a:latin typeface="Consolas"/>
              </a:rPr>
              <a:t>L100  2      2599.98  2</a:t>
            </a:r>
          </a:p>
          <a:p>
            <a:pPr algn="l"/>
            <a:r>
              <a:rPr sz="1300" b="0" i="0">
                <a:solidFill>
                  <a:srgbClr val="000000"/>
                </a:solidFill>
                <a:latin typeface="Consolas"/>
              </a:rPr>
              <a:t>A500  2       499.98  2</a:t>
            </a:r>
          </a:p>
          <a:p>
            <a:pPr algn="l"/>
            <a:r>
              <a:rPr sz="1300" b="0" i="0">
                <a:solidFill>
                  <a:srgbClr val="000000"/>
                </a:solidFill>
                <a:latin typeface="Consolas"/>
              </a:rPr>
              <a:t>S200  3       389.97  2</a:t>
            </a:r>
          </a:p>
          <a:p>
            <a:pPr algn="l"/>
            <a:r>
              <a:rPr sz="1300" b="0" i="0">
                <a:solidFill>
                  <a:srgbClr val="000000"/>
                </a:solidFill>
                <a:latin typeface="Consolas"/>
              </a:rPr>
              <a:t>B300  3       179.97  2</a:t>
            </a:r>
          </a:p>
        </p:txBody>
      </p:sp>
      <p:sp>
        <p:nvSpPr>
          <p:cNvPr id="9" name="Rounded Rectangle 8"/>
          <p:cNvSpPr/>
          <p:nvPr/>
        </p:nvSpPr>
        <p:spPr>
          <a:xfrm>
            <a:off x="7863840" y="3354324"/>
            <a:ext cx="3840479"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001000" y="3409188"/>
            <a:ext cx="3566159" cy="292608"/>
          </a:xfrm>
          <a:prstGeom prst="rect">
            <a:avLst/>
          </a:prstGeom>
          <a:noFill/>
        </p:spPr>
        <p:txBody>
          <a:bodyPr wrap="square" anchor="ctr" lIns="0" rIns="0" tIns="0" bIns="0">
            <a:spAutoFit/>
          </a:bodyPr>
          <a:lstStyle/>
          <a:p>
            <a:pPr algn="l"/>
            <a:r>
              <a:rPr sz="1300" b="1" i="0">
                <a:solidFill>
                  <a:srgbClr val="002060"/>
                </a:solidFill>
                <a:latin typeface="Nirmala UI"/>
              </a:rPr>
              <a:t>orderCount</a:t>
            </a:r>
          </a:p>
        </p:txBody>
      </p:sp>
      <p:sp>
        <p:nvSpPr>
          <p:cNvPr id="11" name="TextBox 10"/>
          <p:cNvSpPr txBox="1"/>
          <p:nvPr/>
        </p:nvSpPr>
        <p:spPr>
          <a:xfrm>
            <a:off x="8001000" y="3720084"/>
            <a:ext cx="3566159" cy="874775"/>
          </a:xfrm>
          <a:prstGeom prst="rect">
            <a:avLst/>
          </a:prstGeom>
          <a:noFill/>
        </p:spPr>
        <p:txBody>
          <a:bodyPr wrap="square" anchor="t" lIns="0" rIns="0" tIns="0" bIns="0">
            <a:spAutoFit/>
          </a:bodyPr>
          <a:lstStyle/>
          <a:p>
            <a:pPr algn="l"/>
            <a:r>
              <a:rPr sz="1200" b="0" i="0">
                <a:solidFill>
                  <a:srgbClr val="000000"/>
                </a:solidFill>
                <a:latin typeface="Nirmala UI"/>
              </a:rPr>
              <a:t>$sum: 1 counts lines — equal to orders here, as no order repeats a SKU.</a:t>
            </a:r>
          </a:p>
        </p:txBody>
      </p:sp>
      <p:sp>
        <p:nvSpPr>
          <p:cNvPr id="12" name="Rounded Rectangle 11"/>
          <p:cNvSpPr/>
          <p:nvPr/>
        </p:nvSpPr>
        <p:spPr>
          <a:xfrm>
            <a:off x="7863840" y="4777740"/>
            <a:ext cx="3840479" cy="89001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046720" y="4777740"/>
            <a:ext cx="3474719" cy="890016"/>
          </a:xfrm>
          <a:prstGeom prst="rect">
            <a:avLst/>
          </a:prstGeom>
          <a:noFill/>
        </p:spPr>
        <p:txBody>
          <a:bodyPr wrap="square" anchor="ctr" lIns="0" rIns="0" tIns="0" bIns="0">
            <a:spAutoFit/>
          </a:bodyPr>
          <a:lstStyle/>
          <a:p>
            <a:pPr algn="l"/>
            <a:r>
              <a:rPr sz="1200" b="1" i="0">
                <a:solidFill>
                  <a:srgbClr val="D1282E"/>
                </a:solidFill>
                <a:latin typeface="Nirmala UI"/>
              </a:rPr>
              <a:t>ORDER   </a:t>
            </a:r>
            <a:r>
              <a:rPr sz="1200" b="0" i="0">
                <a:solidFill>
                  <a:srgbClr val="000000"/>
                </a:solidFill>
                <a:latin typeface="Nirmala UI"/>
              </a:rPr>
              <a:t>Match → unwind → compute → group.</a:t>
            </a:r>
          </a:p>
        </p:txBody>
      </p:sp>
      <p:sp>
        <p:nvSpPr>
          <p:cNvPr id="14" name="Rounded Rectangle 1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Unwind after filtering, compute the line value, then group — that is the product-report pattern.</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DOUBLE-COUNTING AFTER $UNWIND</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Each line still carries the whole order's total.</a:t>
            </a:r>
          </a:p>
        </p:txBody>
      </p:sp>
      <p:sp>
        <p:nvSpPr>
          <p:cNvPr id="4" name="Rounded Rectangle 3"/>
          <p:cNvSpPr/>
          <p:nvPr/>
        </p:nvSpPr>
        <p:spPr>
          <a:xfrm>
            <a:off x="475488" y="1945283"/>
            <a:ext cx="7415783" cy="3241752"/>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86" descr="image.jpg"/>
          <p:cNvPicPr>
            <a:picLocks noChangeAspect="1"/>
          </p:cNvPicPr>
          <p:nvPr/>
        </p:nvPicPr>
        <p:blipFill>
          <a:blip r:embed="rId2"/>
          <a:stretch>
            <a:fillRect/>
          </a:stretch>
        </p:blipFill>
        <p:spPr>
          <a:xfrm>
            <a:off x="548640" y="2018435"/>
            <a:ext cx="7269480" cy="3095448"/>
          </a:xfrm>
          <a:prstGeom prst="rect">
            <a:avLst/>
          </a:prstGeom>
        </p:spPr>
      </p:pic>
      <p:sp>
        <p:nvSpPr>
          <p:cNvPr id="6" name="Rounded Rectangle 5"/>
          <p:cNvSpPr/>
          <p:nvPr/>
        </p:nvSpPr>
        <p:spPr>
          <a:xfrm>
            <a:off x="8183880" y="1298448"/>
            <a:ext cx="3520440" cy="113919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The trap</a:t>
            </a:r>
          </a:p>
        </p:txBody>
      </p:sp>
      <p:sp>
        <p:nvSpPr>
          <p:cNvPr id="8" name="TextBox 7"/>
          <p:cNvSpPr txBox="1"/>
          <p:nvPr/>
        </p:nvSpPr>
        <p:spPr>
          <a:xfrm>
            <a:off x="8321040" y="1664208"/>
            <a:ext cx="3246120" cy="718565"/>
          </a:xfrm>
          <a:prstGeom prst="rect">
            <a:avLst/>
          </a:prstGeom>
          <a:noFill/>
        </p:spPr>
        <p:txBody>
          <a:bodyPr wrap="square" anchor="t" lIns="0" rIns="0" tIns="0" bIns="0">
            <a:spAutoFit/>
          </a:bodyPr>
          <a:lstStyle/>
          <a:p>
            <a:pPr algn="l"/>
            <a:r>
              <a:rPr sz="1200" b="0" i="0">
                <a:solidFill>
                  <a:srgbClr val="000000"/>
                </a:solidFill>
                <a:latin typeface="Nirmala UI"/>
              </a:rPr>
              <a:t>O6303's total, 174.47, is summed three times — once per line.</a:t>
            </a:r>
          </a:p>
        </p:txBody>
      </p:sp>
      <p:sp>
        <p:nvSpPr>
          <p:cNvPr id="9" name="Rounded Rectangle 8"/>
          <p:cNvSpPr/>
          <p:nvPr/>
        </p:nvSpPr>
        <p:spPr>
          <a:xfrm>
            <a:off x="8183880" y="2565654"/>
            <a:ext cx="3520440" cy="113919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62051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On our data</a:t>
            </a:r>
          </a:p>
        </p:txBody>
      </p:sp>
      <p:sp>
        <p:nvSpPr>
          <p:cNvPr id="11" name="TextBox 10"/>
          <p:cNvSpPr txBox="1"/>
          <p:nvPr/>
        </p:nvSpPr>
        <p:spPr>
          <a:xfrm>
            <a:off x="8321040" y="2931414"/>
            <a:ext cx="3246120" cy="718566"/>
          </a:xfrm>
          <a:prstGeom prst="rect">
            <a:avLst/>
          </a:prstGeom>
          <a:noFill/>
        </p:spPr>
        <p:txBody>
          <a:bodyPr wrap="square" anchor="t" lIns="0" rIns="0" tIns="0" bIns="0">
            <a:spAutoFit/>
          </a:bodyPr>
          <a:lstStyle/>
          <a:p>
            <a:pPr algn="l"/>
            <a:r>
              <a:rPr sz="1200" b="0" i="0">
                <a:solidFill>
                  <a:srgbClr val="000000"/>
                </a:solidFill>
                <a:latin typeface="Nirmala UI"/>
              </a:rPr>
              <a:t>Paid revenue is 9118.44; unwind first and it becomes 12119.25.</a:t>
            </a:r>
          </a:p>
        </p:txBody>
      </p:sp>
      <p:sp>
        <p:nvSpPr>
          <p:cNvPr id="12" name="Rounded Rectangle 11"/>
          <p:cNvSpPr/>
          <p:nvPr/>
        </p:nvSpPr>
        <p:spPr>
          <a:xfrm>
            <a:off x="8183880" y="3832860"/>
            <a:ext cx="3520440" cy="113919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887723"/>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The rule</a:t>
            </a:r>
          </a:p>
        </p:txBody>
      </p:sp>
      <p:sp>
        <p:nvSpPr>
          <p:cNvPr id="14" name="TextBox 13"/>
          <p:cNvSpPr txBox="1"/>
          <p:nvPr/>
        </p:nvSpPr>
        <p:spPr>
          <a:xfrm>
            <a:off x="8321040" y="4198620"/>
            <a:ext cx="3246120" cy="718565"/>
          </a:xfrm>
          <a:prstGeom prst="rect">
            <a:avLst/>
          </a:prstGeom>
          <a:noFill/>
        </p:spPr>
        <p:txBody>
          <a:bodyPr wrap="square" anchor="t" lIns="0" rIns="0" tIns="0" bIns="0">
            <a:spAutoFit/>
          </a:bodyPr>
          <a:lstStyle/>
          <a:p>
            <a:pPr algn="l"/>
            <a:r>
              <a:rPr sz="1200" b="0" i="0">
                <a:solidFill>
                  <a:srgbClr val="000000"/>
                </a:solidFill>
                <a:latin typeface="Nirmala UI"/>
              </a:rPr>
              <a:t>Sum order fields before $unwind; sum line values after it.</a:t>
            </a:r>
          </a:p>
        </p:txBody>
      </p:sp>
      <p:sp>
        <p:nvSpPr>
          <p:cNvPr id="15" name="Rounded Rectangle 14"/>
          <p:cNvSpPr/>
          <p:nvPr/>
        </p:nvSpPr>
        <p:spPr>
          <a:xfrm>
            <a:off x="8183880" y="5100066"/>
            <a:ext cx="3520440" cy="73380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5100066"/>
            <a:ext cx="3154680" cy="733806"/>
          </a:xfrm>
          <a:prstGeom prst="rect">
            <a:avLst/>
          </a:prstGeom>
          <a:noFill/>
        </p:spPr>
        <p:txBody>
          <a:bodyPr wrap="square" anchor="ctr" lIns="0" rIns="0" tIns="0" bIns="0">
            <a:spAutoFit/>
          </a:bodyPr>
          <a:lstStyle/>
          <a:p>
            <a:pPr algn="l"/>
            <a:r>
              <a:rPr sz="1200" b="1" i="0">
                <a:solidFill>
                  <a:srgbClr val="D1282E"/>
                </a:solidFill>
                <a:latin typeface="Nirmala UI"/>
              </a:rPr>
              <a:t>CHECK   </a:t>
            </a:r>
            <a:r>
              <a:rPr sz="1200" b="0" i="0">
                <a:solidFill>
                  <a:srgbClr val="000000"/>
                </a:solidFill>
                <a:latin typeface="Nirmala UI"/>
              </a:rPr>
              <a:t>Known totals must not change.</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After $unwind, sum line values — never the order total that every line repeats.</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$LOOKUP: MATCHED AND UNMATCHED</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Join another collection; the matches arrive as an array.</a:t>
            </a:r>
          </a:p>
        </p:txBody>
      </p:sp>
      <p:sp>
        <p:nvSpPr>
          <p:cNvPr id="4" name="Rounded Rectangle 3"/>
          <p:cNvSpPr/>
          <p:nvPr/>
        </p:nvSpPr>
        <p:spPr>
          <a:xfrm>
            <a:off x="475488" y="1425117"/>
            <a:ext cx="7415783" cy="4282084"/>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61" descr="image.jpg"/>
          <p:cNvPicPr>
            <a:picLocks noChangeAspect="1"/>
          </p:cNvPicPr>
          <p:nvPr/>
        </p:nvPicPr>
        <p:blipFill>
          <a:blip r:embed="rId2"/>
          <a:stretch>
            <a:fillRect/>
          </a:stretch>
        </p:blipFill>
        <p:spPr>
          <a:xfrm>
            <a:off x="548640" y="1498269"/>
            <a:ext cx="7269480" cy="4135780"/>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Orders → customers</a:t>
            </a:r>
          </a:p>
        </p:txBody>
      </p:sp>
      <p:sp>
        <p:nvSpPr>
          <p:cNvPr id="7" name="Rounded Rectangle 6"/>
          <p:cNvSpPr/>
          <p:nvPr/>
        </p:nvSpPr>
        <p:spPr>
          <a:xfrm>
            <a:off x="8183880" y="1627632"/>
            <a:ext cx="3520440" cy="130149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 $lookup: {</a:t>
            </a:r>
          </a:p>
          <a:p>
            <a:pPr algn="l"/>
            <a:r>
              <a:rPr sz="1200" b="0" i="0">
                <a:solidFill>
                  <a:srgbClr val="000000"/>
                </a:solidFill>
                <a:latin typeface="Consolas"/>
              </a:rPr>
              <a:t>    from: "customers",</a:t>
            </a:r>
          </a:p>
          <a:p>
            <a:pPr algn="l"/>
            <a:r>
              <a:rPr sz="1200" b="0" i="0">
                <a:solidFill>
                  <a:srgbClr val="000000"/>
                </a:solidFill>
                <a:latin typeface="Consolas"/>
              </a:rPr>
              <a:t>    localField: "customerId",</a:t>
            </a:r>
          </a:p>
          <a:p>
            <a:pPr algn="l"/>
            <a:r>
              <a:rPr sz="1200" b="0" i="0">
                <a:solidFill>
                  <a:srgbClr val="000000"/>
                </a:solidFill>
                <a:latin typeface="Consolas"/>
              </a:rPr>
              <a:t>    foreignField: "_id",</a:t>
            </a:r>
          </a:p>
          <a:p>
            <a:pPr algn="l"/>
            <a:r>
              <a:rPr sz="1200" b="0" i="0">
                <a:solidFill>
                  <a:srgbClr val="000000"/>
                </a:solidFill>
                <a:latin typeface="Consolas"/>
              </a:rPr>
              <a:t>    as: "customer" } }</a:t>
            </a:r>
          </a:p>
        </p:txBody>
      </p:sp>
      <p:sp>
        <p:nvSpPr>
          <p:cNvPr id="8" name="Rounded Rectangle 7"/>
          <p:cNvSpPr/>
          <p:nvPr/>
        </p:nvSpPr>
        <p:spPr>
          <a:xfrm>
            <a:off x="8183880" y="3057144"/>
            <a:ext cx="3520440" cy="78943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311200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Always an array</a:t>
            </a:r>
          </a:p>
        </p:txBody>
      </p:sp>
      <p:sp>
        <p:nvSpPr>
          <p:cNvPr id="10" name="TextBox 9"/>
          <p:cNvSpPr txBox="1"/>
          <p:nvPr/>
        </p:nvSpPr>
        <p:spPr>
          <a:xfrm>
            <a:off x="8321040" y="3422904"/>
            <a:ext cx="3246120" cy="368808"/>
          </a:xfrm>
          <a:prstGeom prst="rect">
            <a:avLst/>
          </a:prstGeom>
          <a:noFill/>
        </p:spPr>
        <p:txBody>
          <a:bodyPr wrap="square" anchor="t" lIns="0" rIns="0" tIns="0" bIns="0">
            <a:spAutoFit/>
          </a:bodyPr>
          <a:lstStyle/>
          <a:p>
            <a:pPr algn="l"/>
            <a:r>
              <a:rPr sz="1200" b="0" i="0">
                <a:solidFill>
                  <a:srgbClr val="000000"/>
                </a:solidFill>
                <a:latin typeface="Nirmala UI"/>
              </a:rPr>
              <a:t>One match → [ {…} ]; no match → [ ].</a:t>
            </a:r>
          </a:p>
        </p:txBody>
      </p:sp>
      <p:sp>
        <p:nvSpPr>
          <p:cNvPr id="11" name="Rounded Rectangle 10"/>
          <p:cNvSpPr/>
          <p:nvPr/>
        </p:nvSpPr>
        <p:spPr>
          <a:xfrm>
            <a:off x="8183880" y="3974592"/>
            <a:ext cx="3520440" cy="97536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402945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O6499</a:t>
            </a:r>
          </a:p>
        </p:txBody>
      </p:sp>
      <p:sp>
        <p:nvSpPr>
          <p:cNvPr id="13" name="TextBox 12"/>
          <p:cNvSpPr txBox="1"/>
          <p:nvPr/>
        </p:nvSpPr>
        <p:spPr>
          <a:xfrm>
            <a:off x="8321040" y="4340352"/>
            <a:ext cx="3246120" cy="554735"/>
          </a:xfrm>
          <a:prstGeom prst="rect">
            <a:avLst/>
          </a:prstGeom>
          <a:noFill/>
        </p:spPr>
        <p:txBody>
          <a:bodyPr wrap="square" anchor="t" lIns="0" rIns="0" tIns="0" bIns="0">
            <a:spAutoFit/>
          </a:bodyPr>
          <a:lstStyle/>
          <a:p>
            <a:pPr algn="l"/>
            <a:r>
              <a:rPr sz="1200" b="0" i="0">
                <a:solidFill>
                  <a:srgbClr val="000000"/>
                </a:solidFill>
                <a:latin typeface="Nirmala UI"/>
              </a:rPr>
              <a:t>Its customerId matches no one, so customer is [ ].</a:t>
            </a:r>
          </a:p>
        </p:txBody>
      </p:sp>
      <p:sp>
        <p:nvSpPr>
          <p:cNvPr id="14" name="Rounded Rectangle 13"/>
          <p:cNvSpPr/>
          <p:nvPr/>
        </p:nvSpPr>
        <p:spPr>
          <a:xfrm>
            <a:off x="8183880" y="5077968"/>
            <a:ext cx="3520440" cy="755903"/>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66760" y="5077968"/>
            <a:ext cx="3154680" cy="755903"/>
          </a:xfrm>
          <a:prstGeom prst="rect">
            <a:avLst/>
          </a:prstGeom>
          <a:noFill/>
        </p:spPr>
        <p:txBody>
          <a:bodyPr wrap="square" anchor="ctr" lIns="0" rIns="0" tIns="0" bIns="0">
            <a:spAutoFit/>
          </a:bodyPr>
          <a:lstStyle/>
          <a:p>
            <a:pPr algn="l"/>
            <a:r>
              <a:rPr sz="1200" b="1" i="0">
                <a:solidFill>
                  <a:srgbClr val="D1282E"/>
                </a:solidFill>
                <a:latin typeface="Nirmala UI"/>
              </a:rPr>
              <a:t>KEEP IT   </a:t>
            </a:r>
            <a:r>
              <a:rPr sz="1200" b="0" i="0">
                <a:solidFill>
                  <a:srgbClr val="000000"/>
                </a:solidFill>
                <a:latin typeface="Nirmala UI"/>
              </a:rPr>
              <a:t>$unwind with preserveNullAndEmptyArrays: true.</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$lookup is a left outer join — it never drops an order, it just leaves the array empty.</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CUSTOMER SPENDING WITH NAMES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Group first, then join — five lookups instead of thirteen.</a:t>
            </a:r>
          </a:p>
        </p:txBody>
      </p:sp>
      <p:sp>
        <p:nvSpPr>
          <p:cNvPr id="4" name="TextBox 3"/>
          <p:cNvSpPr txBox="1"/>
          <p:nvPr/>
        </p:nvSpPr>
        <p:spPr>
          <a:xfrm>
            <a:off x="457200" y="1298448"/>
            <a:ext cx="7132320" cy="310896"/>
          </a:xfrm>
          <a:prstGeom prst="rect">
            <a:avLst/>
          </a:prstGeom>
          <a:noFill/>
        </p:spPr>
        <p:txBody>
          <a:bodyPr wrap="square" anchor="ctr" lIns="0" rIns="0" tIns="0" bIns="0">
            <a:spAutoFit/>
          </a:bodyPr>
          <a:lstStyle/>
          <a:p>
            <a:pPr algn="l"/>
            <a:r>
              <a:rPr sz="1300" b="1" i="0">
                <a:solidFill>
                  <a:srgbClr val="002060"/>
                </a:solidFill>
                <a:latin typeface="Nirmala UI"/>
              </a:rPr>
              <a:t>Pipeline</a:t>
            </a:r>
          </a:p>
        </p:txBody>
      </p:sp>
      <p:sp>
        <p:nvSpPr>
          <p:cNvPr id="5" name="Rounded Rectangle 4"/>
          <p:cNvSpPr/>
          <p:nvPr/>
        </p:nvSpPr>
        <p:spPr>
          <a:xfrm>
            <a:off x="457200" y="1627632"/>
            <a:ext cx="7132320" cy="331571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db.orders.aggregate([</a:t>
            </a:r>
          </a:p>
          <a:p>
            <a:pPr algn="l"/>
            <a:r>
              <a:rPr sz="1300" b="0" i="0">
                <a:solidFill>
                  <a:srgbClr val="000000"/>
                </a:solidFill>
                <a:latin typeface="Consolas"/>
              </a:rPr>
              <a:t>  { $match: { paymentStatus: "PAID" } },</a:t>
            </a:r>
          </a:p>
          <a:p>
            <a:pPr algn="l"/>
            <a:r>
              <a:rPr sz="1300" b="0" i="0">
                <a:solidFill>
                  <a:srgbClr val="000000"/>
                </a:solidFill>
                <a:latin typeface="Consolas"/>
              </a:rPr>
              <a:t>  { $group: { _id: "$customerId",</a:t>
            </a:r>
          </a:p>
          <a:p>
            <a:pPr algn="l"/>
            <a:r>
              <a:rPr sz="1300" b="0" i="0">
                <a:solidFill>
                  <a:srgbClr val="000000"/>
                </a:solidFill>
                <a:latin typeface="Consolas"/>
              </a:rPr>
              <a:t>      orders: { $sum: 1 },</a:t>
            </a:r>
          </a:p>
          <a:p>
            <a:pPr algn="l"/>
            <a:r>
              <a:rPr sz="1300" b="0" i="0">
                <a:solidFill>
                  <a:srgbClr val="000000"/>
                </a:solidFill>
                <a:latin typeface="Consolas"/>
              </a:rPr>
              <a:t>      spent: { $sum: "$total" } } },</a:t>
            </a:r>
          </a:p>
          <a:p>
            <a:pPr algn="l"/>
            <a:r>
              <a:rPr sz="1300" b="0" i="0">
                <a:solidFill>
                  <a:srgbClr val="000000"/>
                </a:solidFill>
                <a:latin typeface="Consolas"/>
              </a:rPr>
              <a:t>  { $lookup: { from: "customers",</a:t>
            </a:r>
          </a:p>
          <a:p>
            <a:pPr algn="l"/>
            <a:r>
              <a:rPr sz="1300" b="0" i="0">
                <a:solidFill>
                  <a:srgbClr val="000000"/>
                </a:solidFill>
                <a:latin typeface="Consolas"/>
              </a:rPr>
              <a:t>      localField: "_id", foreignField: "_id",</a:t>
            </a:r>
          </a:p>
          <a:p>
            <a:pPr algn="l"/>
            <a:r>
              <a:rPr sz="1300" b="0" i="0">
                <a:solidFill>
                  <a:srgbClr val="000000"/>
                </a:solidFill>
                <a:latin typeface="Consolas"/>
              </a:rPr>
              <a:t>      as: "customer" } },</a:t>
            </a:r>
          </a:p>
          <a:p>
            <a:pPr algn="l"/>
            <a:r>
              <a:rPr sz="1300" b="0" i="0">
                <a:solidFill>
                  <a:srgbClr val="000000"/>
                </a:solidFill>
                <a:latin typeface="Consolas"/>
              </a:rPr>
              <a:t>  { $unwind: "$customer" },</a:t>
            </a:r>
          </a:p>
          <a:p>
            <a:pPr algn="l"/>
            <a:r>
              <a:rPr sz="1300" b="0" i="0">
                <a:solidFill>
                  <a:srgbClr val="000000"/>
                </a:solidFill>
                <a:latin typeface="Consolas"/>
              </a:rPr>
              <a:t>  { $project: { _id: 0, orders: 1, spent: 1,</a:t>
            </a:r>
          </a:p>
          <a:p>
            <a:pPr algn="l"/>
            <a:r>
              <a:rPr sz="1300" b="0" i="0">
                <a:solidFill>
                  <a:srgbClr val="000000"/>
                </a:solidFill>
                <a:latin typeface="Consolas"/>
              </a:rPr>
              <a:t>      name: { $concat: ["$customer.name.first",</a:t>
            </a:r>
          </a:p>
          <a:p>
            <a:pPr algn="l"/>
            <a:r>
              <a:rPr sz="1300" b="0" i="0">
                <a:solidFill>
                  <a:srgbClr val="000000"/>
                </a:solidFill>
                <a:latin typeface="Consolas"/>
              </a:rPr>
              <a:t>                        " ", "$customer.name.last"] } } },</a:t>
            </a:r>
          </a:p>
          <a:p>
            <a:pPr algn="l"/>
            <a:r>
              <a:rPr sz="1300" b="0" i="0">
                <a:solidFill>
                  <a:srgbClr val="000000"/>
                </a:solidFill>
                <a:latin typeface="Consolas"/>
              </a:rPr>
              <a:t>  { $sort: { spent: -1 } }</a:t>
            </a:r>
          </a:p>
          <a:p>
            <a:pPr algn="l"/>
            <a:r>
              <a:rPr sz="1300" b="0" i="0">
                <a:solidFill>
                  <a:srgbClr val="000000"/>
                </a:solidFill>
                <a:latin typeface="Consolas"/>
              </a:rPr>
              <a:t>])</a:t>
            </a:r>
          </a:p>
        </p:txBody>
      </p:sp>
      <p:sp>
        <p:nvSpPr>
          <p:cNvPr id="6" name="Oval 5"/>
          <p:cNvSpPr/>
          <p:nvPr/>
        </p:nvSpPr>
        <p:spPr>
          <a:xfrm>
            <a:off x="7863840" y="132588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7" name="TextBox 6"/>
          <p:cNvSpPr txBox="1"/>
          <p:nvPr/>
        </p:nvSpPr>
        <p:spPr>
          <a:xfrm>
            <a:off x="8193024" y="1298448"/>
            <a:ext cx="3511296" cy="310896"/>
          </a:xfrm>
          <a:prstGeom prst="rect">
            <a:avLst/>
          </a:prstGeom>
          <a:noFill/>
        </p:spPr>
        <p:txBody>
          <a:bodyPr wrap="square" anchor="ctr" lIns="0" rIns="0" tIns="0" bIns="0">
            <a:spAutoFit/>
          </a:bodyPr>
          <a:lstStyle/>
          <a:p>
            <a:pPr algn="l"/>
            <a:r>
              <a:rPr sz="1300" b="1" i="0">
                <a:solidFill>
                  <a:srgbClr val="2E7D32"/>
                </a:solidFill>
                <a:latin typeface="Nirmala UI"/>
              </a:rPr>
              <a:t>Result</a:t>
            </a:r>
          </a:p>
        </p:txBody>
      </p:sp>
      <p:sp>
        <p:nvSpPr>
          <p:cNvPr id="8" name="Rounded Rectangle 7"/>
          <p:cNvSpPr/>
          <p:nvPr/>
        </p:nvSpPr>
        <p:spPr>
          <a:xfrm>
            <a:off x="7863840" y="1627632"/>
            <a:ext cx="3840479" cy="1598675"/>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name         orders  spent</a:t>
            </a:r>
          </a:p>
          <a:p>
            <a:pPr algn="l"/>
            <a:r>
              <a:rPr sz="1300" b="0" i="0">
                <a:solidFill>
                  <a:srgbClr val="000000"/>
                </a:solidFill>
                <a:latin typeface="Consolas"/>
              </a:rPr>
              <a:t>Aisha Khan   4       3418.62</a:t>
            </a:r>
          </a:p>
          <a:p>
            <a:pPr algn="l"/>
            <a:r>
              <a:rPr sz="1300" b="0" i="0">
                <a:solidFill>
                  <a:srgbClr val="000000"/>
                </a:solidFill>
                <a:latin typeface="Consolas"/>
              </a:rPr>
              <a:t>Maya Chen    2       2497.97</a:t>
            </a:r>
          </a:p>
          <a:p>
            <a:pPr algn="l"/>
            <a:r>
              <a:rPr sz="1300" b="0" i="0">
                <a:solidFill>
                  <a:srgbClr val="000000"/>
                </a:solidFill>
                <a:latin typeface="Consolas"/>
              </a:rPr>
              <a:t>Jordan Lee   2       2321.46</a:t>
            </a:r>
          </a:p>
          <a:p>
            <a:pPr algn="l"/>
            <a:r>
              <a:rPr sz="1300" b="0" i="0">
                <a:solidFill>
                  <a:srgbClr val="000000"/>
                </a:solidFill>
                <a:latin typeface="Consolas"/>
              </a:rPr>
              <a:t>Luis Romero  3        668.04</a:t>
            </a:r>
          </a:p>
          <a:p>
            <a:pPr algn="l"/>
            <a:r>
              <a:rPr sz="1300" b="0" i="0">
                <a:solidFill>
                  <a:srgbClr val="000000"/>
                </a:solidFill>
                <a:latin typeface="Consolas"/>
              </a:rPr>
              <a:t>Priya Patel  2        212.35</a:t>
            </a:r>
          </a:p>
        </p:txBody>
      </p:sp>
      <p:sp>
        <p:nvSpPr>
          <p:cNvPr id="9" name="Rounded Rectangle 8"/>
          <p:cNvSpPr/>
          <p:nvPr/>
        </p:nvSpPr>
        <p:spPr>
          <a:xfrm>
            <a:off x="7863840" y="3354324"/>
            <a:ext cx="3840479" cy="110947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001000" y="3409188"/>
            <a:ext cx="3566159" cy="292608"/>
          </a:xfrm>
          <a:prstGeom prst="rect">
            <a:avLst/>
          </a:prstGeom>
          <a:noFill/>
        </p:spPr>
        <p:txBody>
          <a:bodyPr wrap="square" anchor="ctr" lIns="0" rIns="0" tIns="0" bIns="0">
            <a:spAutoFit/>
          </a:bodyPr>
          <a:lstStyle/>
          <a:p>
            <a:pPr algn="l"/>
            <a:r>
              <a:rPr sz="1300" b="1" i="0">
                <a:solidFill>
                  <a:srgbClr val="002060"/>
                </a:solidFill>
                <a:latin typeface="Nirmala UI"/>
              </a:rPr>
              <a:t>No Sam Okonkwo</a:t>
            </a:r>
          </a:p>
        </p:txBody>
      </p:sp>
      <p:sp>
        <p:nvSpPr>
          <p:cNvPr id="11" name="TextBox 10"/>
          <p:cNvSpPr txBox="1"/>
          <p:nvPr/>
        </p:nvSpPr>
        <p:spPr>
          <a:xfrm>
            <a:off x="8001000" y="3720084"/>
            <a:ext cx="3566159" cy="688848"/>
          </a:xfrm>
          <a:prstGeom prst="rect">
            <a:avLst/>
          </a:prstGeom>
          <a:noFill/>
        </p:spPr>
        <p:txBody>
          <a:bodyPr wrap="square" anchor="t" lIns="0" rIns="0" tIns="0" bIns="0">
            <a:spAutoFit/>
          </a:bodyPr>
          <a:lstStyle/>
          <a:p>
            <a:pPr algn="l"/>
            <a:r>
              <a:rPr sz="1200" b="0" i="0">
                <a:solidFill>
                  <a:srgbClr val="000000"/>
                </a:solidFill>
                <a:latin typeface="Nirmala UI"/>
              </a:rPr>
              <a:t>C515's only order, O6402, failed payment.</a:t>
            </a:r>
          </a:p>
        </p:txBody>
      </p:sp>
      <p:sp>
        <p:nvSpPr>
          <p:cNvPr id="12" name="Rounded Rectangle 11"/>
          <p:cNvSpPr/>
          <p:nvPr/>
        </p:nvSpPr>
        <p:spPr>
          <a:xfrm>
            <a:off x="7863840" y="4591812"/>
            <a:ext cx="3840479" cy="107594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046720" y="4591812"/>
            <a:ext cx="3474719" cy="1075944"/>
          </a:xfrm>
          <a:prstGeom prst="rect">
            <a:avLst/>
          </a:prstGeom>
          <a:noFill/>
        </p:spPr>
        <p:txBody>
          <a:bodyPr wrap="square" anchor="ctr" lIns="0" rIns="0" tIns="0" bIns="0">
            <a:spAutoFit/>
          </a:bodyPr>
          <a:lstStyle/>
          <a:p>
            <a:pPr algn="l"/>
            <a:r>
              <a:rPr sz="1200" b="1" i="0">
                <a:solidFill>
                  <a:srgbClr val="D1282E"/>
                </a:solidFill>
                <a:latin typeface="Nirmala UI"/>
              </a:rPr>
              <a:t>JOIN LATE   </a:t>
            </a:r>
            <a:r>
              <a:rPr sz="1200" b="0" i="0">
                <a:solidFill>
                  <a:srgbClr val="000000"/>
                </a:solidFill>
                <a:latin typeface="Nirmala UI"/>
              </a:rPr>
              <a:t>Look up after $group — one per customer.</a:t>
            </a:r>
          </a:p>
        </p:txBody>
      </p:sp>
      <p:sp>
        <p:nvSpPr>
          <p:cNvPr id="14" name="Rounded Rectangle 1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Group before you join — the lookup then runs once per customer, not once per order.</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HOW BIG DOES THE STREAM GET?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Predict the document count after each stage.</a:t>
            </a:r>
          </a:p>
        </p:txBody>
      </p:sp>
      <p:sp>
        <p:nvSpPr>
          <p:cNvPr id="4" name="Rounded Rectangle 3"/>
          <p:cNvSpPr/>
          <p:nvPr/>
        </p:nvSpPr>
        <p:spPr>
          <a:xfrm>
            <a:off x="457200" y="1298448"/>
            <a:ext cx="2016252" cy="384048"/>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PRACTICE EXERCISE</a:t>
            </a:r>
          </a:p>
        </p:txBody>
      </p:sp>
      <p:sp>
        <p:nvSpPr>
          <p:cNvPr id="5" name="Rounded Rectangle 4"/>
          <p:cNvSpPr/>
          <p:nvPr/>
        </p:nvSpPr>
        <p:spPr>
          <a:xfrm>
            <a:off x="2610612"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5 MIN</a:t>
            </a:r>
          </a:p>
        </p:txBody>
      </p:sp>
      <p:sp>
        <p:nvSpPr>
          <p:cNvPr id="6" name="Rounded Rectangle 5"/>
          <p:cNvSpPr/>
          <p:nvPr/>
        </p:nvSpPr>
        <p:spPr>
          <a:xfrm>
            <a:off x="457200" y="1865376"/>
            <a:ext cx="3840480" cy="29159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Round Same Side Corner Rectangle 6"/>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TextBox 7"/>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9" name="TextBox 8"/>
          <p:cNvSpPr txBox="1"/>
          <p:nvPr/>
        </p:nvSpPr>
        <p:spPr>
          <a:xfrm>
            <a:off x="594360" y="2395728"/>
            <a:ext cx="3566160" cy="760476"/>
          </a:xfrm>
          <a:prstGeom prst="rect">
            <a:avLst/>
          </a:prstGeom>
          <a:noFill/>
        </p:spPr>
        <p:txBody>
          <a:bodyPr wrap="square" anchor="t" lIns="0" rIns="0" tIns="0" bIns="0">
            <a:spAutoFit/>
          </a:bodyPr>
          <a:lstStyle/>
          <a:p>
            <a:pPr algn="l"/>
            <a:r>
              <a:rPr sz="1400" b="0" i="0">
                <a:solidFill>
                  <a:srgbClr val="000000"/>
                </a:solidFill>
                <a:latin typeface="Nirmala UI"/>
              </a:rPr>
              <a:t>Before building the product report, predict how many documents each stage passes on.</a:t>
            </a:r>
          </a:p>
        </p:txBody>
      </p:sp>
      <p:sp>
        <p:nvSpPr>
          <p:cNvPr id="10" name="Rounded Rectangle 9"/>
          <p:cNvSpPr/>
          <p:nvPr/>
        </p:nvSpPr>
        <p:spPr>
          <a:xfrm>
            <a:off x="566928" y="3229356"/>
            <a:ext cx="3621024" cy="121894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db.orders.aggregate([</a:t>
            </a:r>
          </a:p>
          <a:p>
            <a:pPr algn="l"/>
            <a:r>
              <a:rPr sz="1100" b="0" i="0">
                <a:solidFill>
                  <a:srgbClr val="000000"/>
                </a:solidFill>
                <a:latin typeface="Consolas"/>
              </a:rPr>
              <a:t>  { $match: { paymentStatus: "PAID" } },</a:t>
            </a:r>
          </a:p>
          <a:p>
            <a:pPr algn="l"/>
            <a:r>
              <a:rPr sz="1100" b="0" i="0">
                <a:solidFill>
                  <a:srgbClr val="000000"/>
                </a:solidFill>
                <a:latin typeface="Consolas"/>
              </a:rPr>
              <a:t>  { $unwind: "$items" },</a:t>
            </a:r>
          </a:p>
          <a:p>
            <a:pPr algn="l"/>
            <a:r>
              <a:rPr sz="1100" b="0" i="0">
                <a:solidFill>
                  <a:srgbClr val="000000"/>
                </a:solidFill>
                <a:latin typeface="Consolas"/>
              </a:rPr>
              <a:t>  { $count: "lines" }</a:t>
            </a:r>
          </a:p>
          <a:p>
            <a:pPr algn="l"/>
            <a:r>
              <a:rPr sz="1100" b="0" i="0">
                <a:solidFill>
                  <a:srgbClr val="000000"/>
                </a:solidFill>
                <a:latin typeface="Consolas"/>
              </a:rPr>
              <a:t>])</a:t>
            </a:r>
          </a:p>
        </p:txBody>
      </p:sp>
      <p:sp>
        <p:nvSpPr>
          <p:cNvPr id="11" name="Rounded Rectangle 10"/>
          <p:cNvSpPr/>
          <p:nvPr/>
        </p:nvSpPr>
        <p:spPr>
          <a:xfrm>
            <a:off x="4526280" y="1865376"/>
            <a:ext cx="3886200" cy="29159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Round Same Side Corner Rectangle 11"/>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4" name="Oval 13"/>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5" name="TextBox 14"/>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Predict the count after $match</a:t>
            </a:r>
          </a:p>
        </p:txBody>
      </p:sp>
      <p:sp>
        <p:nvSpPr>
          <p:cNvPr id="16" name="Oval 15"/>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7" name="TextBox 16"/>
          <p:cNvSpPr txBox="1"/>
          <p:nvPr/>
        </p:nvSpPr>
        <p:spPr>
          <a:xfrm>
            <a:off x="5056632" y="28529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Predict the count after $unwind</a:t>
            </a:r>
          </a:p>
        </p:txBody>
      </p:sp>
      <p:sp>
        <p:nvSpPr>
          <p:cNvPr id="18" name="Oval 17"/>
          <p:cNvSpPr/>
          <p:nvPr/>
        </p:nvSpPr>
        <p:spPr>
          <a:xfrm>
            <a:off x="4663440" y="33649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19" name="TextBox 18"/>
          <p:cNvSpPr txBox="1"/>
          <p:nvPr/>
        </p:nvSpPr>
        <p:spPr>
          <a:xfrm>
            <a:off x="5056632" y="33101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Name the paid order with the most lines</a:t>
            </a:r>
          </a:p>
        </p:txBody>
      </p:sp>
      <p:sp>
        <p:nvSpPr>
          <p:cNvPr id="20" name="Oval 19"/>
          <p:cNvSpPr/>
          <p:nvPr/>
        </p:nvSpPr>
        <p:spPr>
          <a:xfrm>
            <a:off x="4663440" y="39634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1" name="TextBox 20"/>
          <p:cNvSpPr txBox="1"/>
          <p:nvPr/>
        </p:nvSpPr>
        <p:spPr>
          <a:xfrm>
            <a:off x="5056632" y="3908552"/>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What if $unwind came before $match?</a:t>
            </a:r>
          </a:p>
        </p:txBody>
      </p:sp>
      <p:sp>
        <p:nvSpPr>
          <p:cNvPr id="22" name="Rounded Rectangle 21"/>
          <p:cNvSpPr/>
          <p:nvPr/>
        </p:nvSpPr>
        <p:spPr>
          <a:xfrm>
            <a:off x="8641080" y="1865376"/>
            <a:ext cx="3063240" cy="29159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Round Same Side Corner Rectangle 22"/>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EXPECTED OUTCOME</a:t>
            </a:r>
          </a:p>
        </p:txBody>
      </p:sp>
      <p:sp>
        <p:nvSpPr>
          <p:cNvPr id="25" name="Oval 24"/>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6" name="TextBox 25"/>
          <p:cNvSpPr txBox="1"/>
          <p:nvPr/>
        </p:nvSpPr>
        <p:spPr>
          <a:xfrm>
            <a:off x="9116567" y="239572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13 paid orders</a:t>
            </a:r>
          </a:p>
        </p:txBody>
      </p:sp>
      <p:sp>
        <p:nvSpPr>
          <p:cNvPr id="27" name="Oval 26"/>
          <p:cNvSpPr/>
          <p:nvPr/>
        </p:nvSpPr>
        <p:spPr>
          <a:xfrm>
            <a:off x="8778240" y="2871216"/>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8" name="TextBox 27"/>
          <p:cNvSpPr txBox="1"/>
          <p:nvPr/>
        </p:nvSpPr>
        <p:spPr>
          <a:xfrm>
            <a:off x="9116567" y="2816352"/>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 lines: 21 }</a:t>
            </a:r>
          </a:p>
        </p:txBody>
      </p:sp>
      <p:sp>
        <p:nvSpPr>
          <p:cNvPr id="29" name="Oval 28"/>
          <p:cNvSpPr/>
          <p:nvPr/>
        </p:nvSpPr>
        <p:spPr>
          <a:xfrm>
            <a:off x="8778240" y="32918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0" name="TextBox 29"/>
          <p:cNvSpPr txBox="1"/>
          <p:nvPr/>
        </p:nvSpPr>
        <p:spPr>
          <a:xfrm>
            <a:off x="9116567" y="3236976"/>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O6303 — three items</a:t>
            </a:r>
          </a:p>
        </p:txBody>
      </p:sp>
      <p:sp>
        <p:nvSpPr>
          <p:cNvPr id="31" name="Oval 30"/>
          <p:cNvSpPr/>
          <p:nvPr/>
        </p:nvSpPr>
        <p:spPr>
          <a:xfrm>
            <a:off x="8778240" y="3712463"/>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2" name="TextBox 31"/>
          <p:cNvSpPr txBox="1"/>
          <p:nvPr/>
        </p:nvSpPr>
        <p:spPr>
          <a:xfrm>
            <a:off x="9116567" y="3657600"/>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26 lines, filtered back to 21: more work</a:t>
            </a:r>
          </a:p>
        </p:txBody>
      </p:sp>
      <p:sp>
        <p:nvSpPr>
          <p:cNvPr id="33" name="Rounded Rectangle 32"/>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Know how many documents each stage emits — it is the first check of any pipeline.</a:t>
            </a:r>
          </a:p>
        </p:txBody>
      </p:sp>
      <p:sp>
        <p:nvSpPr>
          <p:cNvPr id="35" name="Rectangle 3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5: CONDITIONS, DATES AND REPORTS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Per-document decisions, calendar reports and several metrics at once.</a:t>
            </a:r>
          </a:p>
        </p:txBody>
      </p:sp>
      <p:sp>
        <p:nvSpPr>
          <p:cNvPr id="4" name="Pentagon 3"/>
          <p:cNvSpPr/>
          <p:nvPr/>
        </p:nvSpPr>
        <p:spPr>
          <a:xfrm>
            <a:off x="457200" y="1298448"/>
            <a:ext cx="202234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1762658"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Pipelines</a:t>
            </a:r>
          </a:p>
        </p:txBody>
      </p:sp>
      <p:sp>
        <p:nvSpPr>
          <p:cNvPr id="6" name="Chevron 5"/>
          <p:cNvSpPr/>
          <p:nvPr/>
        </p:nvSpPr>
        <p:spPr>
          <a:xfrm>
            <a:off x="2302154"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516124"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2</a:t>
            </a:r>
          </a:p>
          <a:p>
            <a:pPr algn="ctr"/>
            <a:r>
              <a:rPr sz="1300" b="1" i="0">
                <a:solidFill>
                  <a:srgbClr val="FFFFFF"/>
                </a:solidFill>
                <a:latin typeface="Nirmala UI"/>
              </a:rPr>
              <a:t>Filter and shape</a:t>
            </a:r>
          </a:p>
        </p:txBody>
      </p:sp>
      <p:sp>
        <p:nvSpPr>
          <p:cNvPr id="8" name="Chevron 7"/>
          <p:cNvSpPr/>
          <p:nvPr/>
        </p:nvSpPr>
        <p:spPr>
          <a:xfrm>
            <a:off x="4147108"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4361078"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3</a:t>
            </a:r>
          </a:p>
          <a:p>
            <a:pPr algn="ctr"/>
            <a:r>
              <a:rPr sz="1300" b="1" i="0">
                <a:solidFill>
                  <a:srgbClr val="FFFFFF"/>
                </a:solidFill>
                <a:latin typeface="Nirmala UI"/>
              </a:rPr>
              <a:t>Group</a:t>
            </a:r>
          </a:p>
        </p:txBody>
      </p:sp>
      <p:sp>
        <p:nvSpPr>
          <p:cNvPr id="10" name="Chevron 9"/>
          <p:cNvSpPr/>
          <p:nvPr/>
        </p:nvSpPr>
        <p:spPr>
          <a:xfrm>
            <a:off x="5992063"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6206032"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4</a:t>
            </a:r>
          </a:p>
          <a:p>
            <a:pPr algn="ctr"/>
            <a:r>
              <a:rPr sz="1300" b="1" i="0">
                <a:solidFill>
                  <a:srgbClr val="FFFFFF"/>
                </a:solidFill>
                <a:latin typeface="Nirmala UI"/>
              </a:rPr>
              <a:t>Arrays and joins</a:t>
            </a:r>
          </a:p>
        </p:txBody>
      </p:sp>
      <p:sp>
        <p:nvSpPr>
          <p:cNvPr id="12" name="Chevron 11"/>
          <p:cNvSpPr/>
          <p:nvPr/>
        </p:nvSpPr>
        <p:spPr>
          <a:xfrm>
            <a:off x="7837017" y="1298448"/>
            <a:ext cx="202234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050987"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Reports</a:t>
            </a:r>
          </a:p>
        </p:txBody>
      </p:sp>
      <p:sp>
        <p:nvSpPr>
          <p:cNvPr id="14" name="Chevron 13"/>
          <p:cNvSpPr/>
          <p:nvPr/>
        </p:nvSpPr>
        <p:spPr>
          <a:xfrm>
            <a:off x="9681972"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9895941"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6</a:t>
            </a:r>
          </a:p>
          <a:p>
            <a:pPr algn="ctr"/>
            <a:r>
              <a:rPr sz="1300" b="1" i="0">
                <a:solidFill>
                  <a:srgbClr val="FFFFFF"/>
                </a:solidFill>
                <a:latin typeface="Nirmala UI"/>
              </a:rPr>
              <a:t>Performance</a:t>
            </a:r>
          </a:p>
        </p:txBody>
      </p:sp>
      <p:sp>
        <p:nvSpPr>
          <p:cNvPr id="16" name="Rounded Rectangle 15"/>
          <p:cNvSpPr/>
          <p:nvPr/>
        </p:nvSpPr>
        <p:spPr>
          <a:xfrm>
            <a:off x="457200" y="2304288"/>
            <a:ext cx="4937760" cy="223113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Round Same Side Corner Rectangle 16"/>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9" name="Oval 18"/>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28803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$unwind opens the items array</a:t>
            </a:r>
          </a:p>
        </p:txBody>
      </p:sp>
      <p:sp>
        <p:nvSpPr>
          <p:cNvPr id="21" name="Oval 20"/>
          <p:cNvSpPr/>
          <p:nvPr/>
        </p:nvSpPr>
        <p:spPr>
          <a:xfrm>
            <a:off x="640080" y="34290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3558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Sum line values, never repeated totals</a:t>
            </a:r>
          </a:p>
        </p:txBody>
      </p:sp>
      <p:sp>
        <p:nvSpPr>
          <p:cNvPr id="23" name="Oval 22"/>
          <p:cNvSpPr/>
          <p:nvPr/>
        </p:nvSpPr>
        <p:spPr>
          <a:xfrm>
            <a:off x="640080" y="39044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4" name="TextBox 23"/>
          <p:cNvSpPr txBox="1"/>
          <p:nvPr/>
        </p:nvSpPr>
        <p:spPr>
          <a:xfrm>
            <a:off x="1051560" y="3831336"/>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$lookup joins as an array — group first</a:t>
            </a:r>
          </a:p>
        </p:txBody>
      </p:sp>
      <p:sp>
        <p:nvSpPr>
          <p:cNvPr id="25" name="Rounded Rectangle 24"/>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TextBox 25"/>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7" name="TextBox 26"/>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How do we label, bucket and date-group documents — and return a whole dashboard from one call?</a:t>
            </a:r>
          </a:p>
        </p:txBody>
      </p:sp>
      <p:sp>
        <p:nvSpPr>
          <p:cNvPr id="28" name="TextBox 27"/>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9" name="Oval 28"/>
          <p:cNvSpPr/>
          <p:nvPr/>
        </p:nvSpPr>
        <p:spPr>
          <a:xfrm>
            <a:off x="5760720" y="399626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30" name="TextBox 29"/>
          <p:cNvSpPr txBox="1"/>
          <p:nvPr/>
        </p:nvSpPr>
        <p:spPr>
          <a:xfrm>
            <a:off x="6144768" y="3933952"/>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$cond and $switch</a:t>
            </a:r>
          </a:p>
        </p:txBody>
      </p:sp>
      <p:sp>
        <p:nvSpPr>
          <p:cNvPr id="31" name="Oval 30"/>
          <p:cNvSpPr/>
          <p:nvPr/>
        </p:nvSpPr>
        <p:spPr>
          <a:xfrm>
            <a:off x="5760720" y="439521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2" name="TextBox 31"/>
          <p:cNvSpPr txBox="1"/>
          <p:nvPr/>
        </p:nvSpPr>
        <p:spPr>
          <a:xfrm>
            <a:off x="6144768" y="4332901"/>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Dates and time zones</a:t>
            </a:r>
          </a:p>
        </p:txBody>
      </p:sp>
      <p:sp>
        <p:nvSpPr>
          <p:cNvPr id="33" name="Oval 32"/>
          <p:cNvSpPr/>
          <p:nvPr/>
        </p:nvSpPr>
        <p:spPr>
          <a:xfrm>
            <a:off x="5760720" y="4794165"/>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4" name="TextBox 33"/>
          <p:cNvSpPr txBox="1"/>
          <p:nvPr/>
        </p:nvSpPr>
        <p:spPr>
          <a:xfrm>
            <a:off x="6144768" y="4731850"/>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Monthly paid sales</a:t>
            </a:r>
          </a:p>
        </p:txBody>
      </p:sp>
      <p:sp>
        <p:nvSpPr>
          <p:cNvPr id="35" name="Oval 34"/>
          <p:cNvSpPr/>
          <p:nvPr/>
        </p:nvSpPr>
        <p:spPr>
          <a:xfrm>
            <a:off x="5760720" y="5193114"/>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6" name="TextBox 35"/>
          <p:cNvSpPr txBox="1"/>
          <p:nvPr/>
        </p:nvSpPr>
        <p:spPr>
          <a:xfrm>
            <a:off x="6144768" y="5130800"/>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$bucket price bands</a:t>
            </a:r>
          </a:p>
        </p:txBody>
      </p:sp>
      <p:sp>
        <p:nvSpPr>
          <p:cNvPr id="37" name="Oval 36"/>
          <p:cNvSpPr/>
          <p:nvPr/>
        </p:nvSpPr>
        <p:spPr>
          <a:xfrm>
            <a:off x="5760720" y="5592064"/>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38" name="TextBox 37"/>
          <p:cNvSpPr txBox="1"/>
          <p:nvPr/>
        </p:nvSpPr>
        <p:spPr>
          <a:xfrm>
            <a:off x="6144768" y="5529749"/>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$facet: several reports at once</a:t>
            </a:r>
          </a:p>
        </p:txBody>
      </p:sp>
      <p:sp>
        <p:nvSpPr>
          <p:cNvPr id="39" name="Oval 38"/>
          <p:cNvSpPr/>
          <p:nvPr/>
        </p:nvSpPr>
        <p:spPr>
          <a:xfrm>
            <a:off x="5760720" y="599101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6</a:t>
            </a:r>
          </a:p>
        </p:txBody>
      </p:sp>
      <p:sp>
        <p:nvSpPr>
          <p:cNvPr id="40" name="TextBox 39"/>
          <p:cNvSpPr txBox="1"/>
          <p:nvPr/>
        </p:nvSpPr>
        <p:spPr>
          <a:xfrm>
            <a:off x="6144768" y="5928698"/>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A paid-orders dashboard</a:t>
            </a:r>
          </a:p>
        </p:txBody>
      </p:sp>
      <p:sp>
        <p:nvSpPr>
          <p:cNvPr id="41" name="Rectangle 4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$COND: DECIDE PER DOCUMENT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If the condition is true use one value, otherwise the other.</a:t>
            </a:r>
          </a:p>
        </p:txBody>
      </p:sp>
      <p:sp>
        <p:nvSpPr>
          <p:cNvPr id="4" name="Rounded Rectangle 3"/>
          <p:cNvSpPr/>
          <p:nvPr/>
        </p:nvSpPr>
        <p:spPr>
          <a:xfrm>
            <a:off x="930745" y="1316736"/>
            <a:ext cx="10300029" cy="2583688"/>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7" descr="image.jpg"/>
          <p:cNvPicPr>
            <a:picLocks noChangeAspect="1"/>
          </p:cNvPicPr>
          <p:nvPr/>
        </p:nvPicPr>
        <p:blipFill>
          <a:blip r:embed="rId2"/>
          <a:stretch>
            <a:fillRect/>
          </a:stretch>
        </p:blipFill>
        <p:spPr>
          <a:xfrm>
            <a:off x="1003897" y="1389888"/>
            <a:ext cx="10153725" cy="2437383"/>
          </a:xfrm>
          <a:prstGeom prst="rect">
            <a:avLst/>
          </a:prstGeom>
        </p:spPr>
      </p:pic>
      <p:sp>
        <p:nvSpPr>
          <p:cNvPr id="6" name="TextBox 5"/>
          <p:cNvSpPr txBox="1"/>
          <p:nvPr/>
        </p:nvSpPr>
        <p:spPr>
          <a:xfrm>
            <a:off x="457200" y="4193031"/>
            <a:ext cx="3627120" cy="310896"/>
          </a:xfrm>
          <a:prstGeom prst="rect">
            <a:avLst/>
          </a:prstGeom>
          <a:noFill/>
        </p:spPr>
        <p:txBody>
          <a:bodyPr wrap="square" anchor="ctr" lIns="0" rIns="0" tIns="0" bIns="0">
            <a:spAutoFit/>
          </a:bodyPr>
          <a:lstStyle/>
          <a:p>
            <a:pPr algn="l"/>
            <a:r>
              <a:rPr sz="1300" b="1" i="0">
                <a:solidFill>
                  <a:srgbClr val="002060"/>
                </a:solidFill>
                <a:latin typeface="Nirmala UI"/>
              </a:rPr>
              <a:t>Inside $set</a:t>
            </a:r>
          </a:p>
        </p:txBody>
      </p:sp>
      <p:sp>
        <p:nvSpPr>
          <p:cNvPr id="7" name="Rounded Rectangle 6"/>
          <p:cNvSpPr/>
          <p:nvPr/>
        </p:nvSpPr>
        <p:spPr>
          <a:xfrm>
            <a:off x="457200" y="4522215"/>
            <a:ext cx="3627120" cy="131165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orderSize: { $cond: [</a:t>
            </a:r>
          </a:p>
          <a:p>
            <a:pPr algn="l"/>
            <a:r>
              <a:rPr sz="1100" b="0" i="0">
                <a:solidFill>
                  <a:srgbClr val="000000"/>
                </a:solidFill>
                <a:latin typeface="Consolas"/>
              </a:rPr>
              <a:t>  { $gte: ["$total",</a:t>
            </a:r>
          </a:p>
          <a:p>
            <a:pPr algn="l"/>
            <a:r>
              <a:rPr sz="1100" b="0" i="0">
                <a:solidFill>
                  <a:srgbClr val="000000"/>
                </a:solidFill>
                <a:latin typeface="Consolas"/>
              </a:rPr>
              <a:t>      Decimal128("1000.00")] },</a:t>
            </a:r>
          </a:p>
          <a:p>
            <a:pPr algn="l"/>
            <a:r>
              <a:rPr sz="1100" b="0" i="0">
                <a:solidFill>
                  <a:srgbClr val="000000"/>
                </a:solidFill>
                <a:latin typeface="Consolas"/>
              </a:rPr>
              <a:t>  "HIGH_VALUE", "STANDARD" ] }</a:t>
            </a:r>
          </a:p>
        </p:txBody>
      </p:sp>
      <p:sp>
        <p:nvSpPr>
          <p:cNvPr id="8" name="Rounded Rectangle 7"/>
          <p:cNvSpPr/>
          <p:nvPr/>
        </p:nvSpPr>
        <p:spPr>
          <a:xfrm>
            <a:off x="4267200" y="4193031"/>
            <a:ext cx="3627120" cy="16408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4404360" y="4247895"/>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Result</a:t>
            </a:r>
          </a:p>
        </p:txBody>
      </p:sp>
      <p:sp>
        <p:nvSpPr>
          <p:cNvPr id="10" name="TextBox 9"/>
          <p:cNvSpPr txBox="1"/>
          <p:nvPr/>
        </p:nvSpPr>
        <p:spPr>
          <a:xfrm>
            <a:off x="4404360" y="4558792"/>
            <a:ext cx="3352800" cy="1220215"/>
          </a:xfrm>
          <a:prstGeom prst="rect">
            <a:avLst/>
          </a:prstGeom>
          <a:noFill/>
        </p:spPr>
        <p:txBody>
          <a:bodyPr wrap="square" anchor="t" lIns="0" rIns="0" tIns="0" bIns="0">
            <a:spAutoFit/>
          </a:bodyPr>
          <a:lstStyle/>
          <a:p>
            <a:pPr algn="l"/>
            <a:r>
              <a:rPr sz="1200" b="0" i="0">
                <a:solidFill>
                  <a:srgbClr val="000000"/>
                </a:solidFill>
                <a:latin typeface="Nirmala UI"/>
              </a:rPr>
              <a:t>O6201 (79.07) → STANDARD; O6202 (2146.99) → HIGH_VALUE. Paid orders: 4 HIGH_VALUE, 9 STANDARD.</a:t>
            </a:r>
          </a:p>
        </p:txBody>
      </p:sp>
      <p:sp>
        <p:nvSpPr>
          <p:cNvPr id="11" name="Rounded Rectangle 10"/>
          <p:cNvSpPr/>
          <p:nvPr/>
        </p:nvSpPr>
        <p:spPr>
          <a:xfrm>
            <a:off x="8077200" y="4193031"/>
            <a:ext cx="3627120" cy="16408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214360" y="4247895"/>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$switch</a:t>
            </a:r>
          </a:p>
        </p:txBody>
      </p:sp>
      <p:sp>
        <p:nvSpPr>
          <p:cNvPr id="13" name="TextBox 12"/>
          <p:cNvSpPr txBox="1"/>
          <p:nvPr/>
        </p:nvSpPr>
        <p:spPr>
          <a:xfrm>
            <a:off x="8214360" y="4558792"/>
            <a:ext cx="3352800" cy="1220215"/>
          </a:xfrm>
          <a:prstGeom prst="rect">
            <a:avLst/>
          </a:prstGeom>
          <a:noFill/>
        </p:spPr>
        <p:txBody>
          <a:bodyPr wrap="square" anchor="t" lIns="0" rIns="0" tIns="0" bIns="0">
            <a:spAutoFit/>
          </a:bodyPr>
          <a:lstStyle/>
          <a:p>
            <a:pPr algn="l"/>
            <a:r>
              <a:rPr sz="1200" b="0" i="0">
                <a:solidFill>
                  <a:srgbClr val="000000"/>
                </a:solidFill>
                <a:latin typeface="Nirmala UI"/>
              </a:rPr>
              <a:t>Several cases in order; the first true case wins, and default catches the rest.</a:t>
            </a:r>
          </a:p>
        </p:txBody>
      </p:sp>
      <p:sp>
        <p:nvSpPr>
          <p:cNvPr id="14" name="Rounded Rectangle 1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$cond and $switch put business rules into the pipeline — one decision per document.</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DATES AND TIME ZONES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Dates are stored in UTC; reports need a local calendar.</a:t>
            </a:r>
          </a:p>
        </p:txBody>
      </p:sp>
      <p:sp>
        <p:nvSpPr>
          <p:cNvPr id="4" name="Rounded Rectangle 3"/>
          <p:cNvSpPr/>
          <p:nvPr/>
        </p:nvSpPr>
        <p:spPr>
          <a:xfrm>
            <a:off x="475488" y="1856070"/>
            <a:ext cx="7415783" cy="3420178"/>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5" descr="image.jpg"/>
          <p:cNvPicPr>
            <a:picLocks noChangeAspect="1"/>
          </p:cNvPicPr>
          <p:nvPr/>
        </p:nvPicPr>
        <p:blipFill>
          <a:blip r:embed="rId2"/>
          <a:stretch>
            <a:fillRect/>
          </a:stretch>
        </p:blipFill>
        <p:spPr>
          <a:xfrm>
            <a:off x="548640" y="1929222"/>
            <a:ext cx="7269480" cy="3273874"/>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A month key</a:t>
            </a:r>
          </a:p>
        </p:txBody>
      </p:sp>
      <p:sp>
        <p:nvSpPr>
          <p:cNvPr id="7" name="Rounded Rectangle 6"/>
          <p:cNvSpPr/>
          <p:nvPr/>
        </p:nvSpPr>
        <p:spPr>
          <a:xfrm>
            <a:off x="8183880" y="1627632"/>
            <a:ext cx="3520440" cy="130149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month: { $dateToString: {</a:t>
            </a:r>
          </a:p>
          <a:p>
            <a:pPr algn="l"/>
            <a:r>
              <a:rPr sz="1200" b="0" i="0">
                <a:solidFill>
                  <a:srgbClr val="000000"/>
                </a:solidFill>
                <a:latin typeface="Consolas"/>
              </a:rPr>
              <a:t>  format: "%Y-%m",</a:t>
            </a:r>
          </a:p>
          <a:p>
            <a:pPr algn="l"/>
            <a:r>
              <a:rPr sz="1200" b="0" i="0">
                <a:solidFill>
                  <a:srgbClr val="000000"/>
                </a:solidFill>
                <a:latin typeface="Consolas"/>
              </a:rPr>
              <a:t>  date: "$createdAt",</a:t>
            </a:r>
          </a:p>
          <a:p>
            <a:pPr algn="l"/>
            <a:r>
              <a:rPr sz="1200" b="0" i="0">
                <a:solidFill>
                  <a:srgbClr val="000000"/>
                </a:solidFill>
                <a:latin typeface="Consolas"/>
              </a:rPr>
              <a:t>  timezone: "America/Toronto"</a:t>
            </a:r>
          </a:p>
          <a:p>
            <a:pPr algn="l"/>
            <a:r>
              <a:rPr sz="1200" b="0" i="0">
                <a:solidFill>
                  <a:srgbClr val="000000"/>
                </a:solidFill>
                <a:latin typeface="Consolas"/>
              </a:rPr>
              <a:t>} }</a:t>
            </a:r>
          </a:p>
        </p:txBody>
      </p:sp>
      <p:sp>
        <p:nvSpPr>
          <p:cNvPr id="8" name="Rounded Rectangle 7"/>
          <p:cNvSpPr/>
          <p:nvPr/>
        </p:nvSpPr>
        <p:spPr>
          <a:xfrm>
            <a:off x="8183880" y="3057144"/>
            <a:ext cx="3520440" cy="97536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311200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Our order</a:t>
            </a:r>
          </a:p>
        </p:txBody>
      </p:sp>
      <p:sp>
        <p:nvSpPr>
          <p:cNvPr id="10" name="TextBox 9"/>
          <p:cNvSpPr txBox="1"/>
          <p:nvPr/>
        </p:nvSpPr>
        <p:spPr>
          <a:xfrm>
            <a:off x="8321040" y="3422904"/>
            <a:ext cx="3246120" cy="554735"/>
          </a:xfrm>
          <a:prstGeom prst="rect">
            <a:avLst/>
          </a:prstGeom>
          <a:noFill/>
        </p:spPr>
        <p:txBody>
          <a:bodyPr wrap="square" anchor="t" lIns="0" rIns="0" tIns="0" bIns="0">
            <a:spAutoFit/>
          </a:bodyPr>
          <a:lstStyle/>
          <a:p>
            <a:pPr algn="l"/>
            <a:r>
              <a:rPr sz="1200" b="0" i="0">
                <a:solidFill>
                  <a:srgbClr val="000000"/>
                </a:solidFill>
                <a:latin typeface="Nirmala UI"/>
              </a:rPr>
              <a:t>O5001's createdAt, 14:30 UTC, is 10:30 in Toronto.</a:t>
            </a:r>
          </a:p>
        </p:txBody>
      </p:sp>
      <p:sp>
        <p:nvSpPr>
          <p:cNvPr id="11" name="Rounded Rectangle 10"/>
          <p:cNvSpPr/>
          <p:nvPr/>
        </p:nvSpPr>
        <p:spPr>
          <a:xfrm>
            <a:off x="8183880" y="4160520"/>
            <a:ext cx="3520440" cy="78943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421538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Name the zone</a:t>
            </a:r>
          </a:p>
        </p:txBody>
      </p:sp>
      <p:sp>
        <p:nvSpPr>
          <p:cNvPr id="13" name="TextBox 12"/>
          <p:cNvSpPr txBox="1"/>
          <p:nvPr/>
        </p:nvSpPr>
        <p:spPr>
          <a:xfrm>
            <a:off x="8321040" y="4526280"/>
            <a:ext cx="3246120" cy="368807"/>
          </a:xfrm>
          <a:prstGeom prst="rect">
            <a:avLst/>
          </a:prstGeom>
          <a:noFill/>
        </p:spPr>
        <p:txBody>
          <a:bodyPr wrap="square" anchor="t" lIns="0" rIns="0" tIns="0" bIns="0">
            <a:spAutoFit/>
          </a:bodyPr>
          <a:lstStyle/>
          <a:p>
            <a:pPr algn="l"/>
            <a:r>
              <a:rPr sz="1200" b="0" i="0">
                <a:solidFill>
                  <a:srgbClr val="000000"/>
                </a:solidFill>
                <a:latin typeface="Nirmala UI"/>
              </a:rPr>
              <a:t>Day and month boundaries depend on it.</a:t>
            </a:r>
          </a:p>
        </p:txBody>
      </p:sp>
      <p:sp>
        <p:nvSpPr>
          <p:cNvPr id="14" name="Rounded Rectangle 13"/>
          <p:cNvSpPr/>
          <p:nvPr/>
        </p:nvSpPr>
        <p:spPr>
          <a:xfrm>
            <a:off x="8183880" y="5077968"/>
            <a:ext cx="3520440" cy="755903"/>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66760" y="5077968"/>
            <a:ext cx="3154680" cy="755903"/>
          </a:xfrm>
          <a:prstGeom prst="rect">
            <a:avLst/>
          </a:prstGeom>
          <a:noFill/>
        </p:spPr>
        <p:txBody>
          <a:bodyPr wrap="square" anchor="ctr" lIns="0" rIns="0" tIns="0" bIns="0">
            <a:spAutoFit/>
          </a:bodyPr>
          <a:lstStyle/>
          <a:p>
            <a:pPr algn="l"/>
            <a:r>
              <a:rPr sz="1200" b="1" i="0">
                <a:solidFill>
                  <a:srgbClr val="D1282E"/>
                </a:solidFill>
                <a:latin typeface="Nirmala UI"/>
              </a:rPr>
              <a:t>ALSO   </a:t>
            </a:r>
            <a:r>
              <a:rPr sz="1200" b="0" i="0">
                <a:solidFill>
                  <a:srgbClr val="000000"/>
                </a:solidFill>
                <a:latin typeface="Nirmala UI"/>
              </a:rPr>
              <a:t>$year, $month, $dateTrunc, $dateAdd.</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Store dates in UTC; state the time zone every time a report groups by day or month.</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MONTHLY PAID SALES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 month key, then one row per month in calendar order.</a:t>
            </a:r>
          </a:p>
        </p:txBody>
      </p:sp>
      <p:sp>
        <p:nvSpPr>
          <p:cNvPr id="4" name="TextBox 3"/>
          <p:cNvSpPr txBox="1"/>
          <p:nvPr/>
        </p:nvSpPr>
        <p:spPr>
          <a:xfrm>
            <a:off x="457200" y="1298448"/>
            <a:ext cx="7132320" cy="310896"/>
          </a:xfrm>
          <a:prstGeom prst="rect">
            <a:avLst/>
          </a:prstGeom>
          <a:noFill/>
        </p:spPr>
        <p:txBody>
          <a:bodyPr wrap="square" anchor="ctr" lIns="0" rIns="0" tIns="0" bIns="0">
            <a:spAutoFit/>
          </a:bodyPr>
          <a:lstStyle/>
          <a:p>
            <a:pPr algn="l"/>
            <a:r>
              <a:rPr sz="1300" b="1" i="0">
                <a:solidFill>
                  <a:srgbClr val="002060"/>
                </a:solidFill>
                <a:latin typeface="Nirmala UI"/>
              </a:rPr>
              <a:t>Pipeline</a:t>
            </a:r>
          </a:p>
        </p:txBody>
      </p:sp>
      <p:sp>
        <p:nvSpPr>
          <p:cNvPr id="5" name="Rounded Rectangle 4"/>
          <p:cNvSpPr/>
          <p:nvPr/>
        </p:nvSpPr>
        <p:spPr>
          <a:xfrm>
            <a:off x="457200" y="1627632"/>
            <a:ext cx="7132320" cy="245719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db.orders.aggregate([</a:t>
            </a:r>
          </a:p>
          <a:p>
            <a:pPr algn="l"/>
            <a:r>
              <a:rPr sz="1300" b="0" i="0">
                <a:solidFill>
                  <a:srgbClr val="000000"/>
                </a:solidFill>
                <a:latin typeface="Consolas"/>
              </a:rPr>
              <a:t>  { $match: { paymentStatus: "PAID" } },</a:t>
            </a:r>
          </a:p>
          <a:p>
            <a:pPr algn="l"/>
            <a:r>
              <a:rPr sz="1300" b="0" i="0">
                <a:solidFill>
                  <a:srgbClr val="000000"/>
                </a:solidFill>
                <a:latin typeface="Consolas"/>
              </a:rPr>
              <a:t>  { $set: { month: { $dateToString: {</a:t>
            </a:r>
          </a:p>
          <a:p>
            <a:pPr algn="l"/>
            <a:r>
              <a:rPr sz="1300" b="0" i="0">
                <a:solidFill>
                  <a:srgbClr val="000000"/>
                </a:solidFill>
                <a:latin typeface="Consolas"/>
              </a:rPr>
              <a:t>      format: "%Y-%m", date: "$createdAt",</a:t>
            </a:r>
          </a:p>
          <a:p>
            <a:pPr algn="l"/>
            <a:r>
              <a:rPr sz="1300" b="0" i="0">
                <a:solidFill>
                  <a:srgbClr val="000000"/>
                </a:solidFill>
                <a:latin typeface="Consolas"/>
              </a:rPr>
              <a:t>      timezone: "America/Toronto" } } } },</a:t>
            </a:r>
          </a:p>
          <a:p>
            <a:pPr algn="l"/>
            <a:r>
              <a:rPr sz="1300" b="0" i="0">
                <a:solidFill>
                  <a:srgbClr val="000000"/>
                </a:solidFill>
                <a:latin typeface="Consolas"/>
              </a:rPr>
              <a:t>  { $group: { _id: "$month",</a:t>
            </a:r>
          </a:p>
          <a:p>
            <a:pPr algn="l"/>
            <a:r>
              <a:rPr sz="1300" b="0" i="0">
                <a:solidFill>
                  <a:srgbClr val="000000"/>
                </a:solidFill>
                <a:latin typeface="Consolas"/>
              </a:rPr>
              <a:t>      orders: { $sum: 1 },</a:t>
            </a:r>
          </a:p>
          <a:p>
            <a:pPr algn="l"/>
            <a:r>
              <a:rPr sz="1300" b="0" i="0">
                <a:solidFill>
                  <a:srgbClr val="000000"/>
                </a:solidFill>
                <a:latin typeface="Consolas"/>
              </a:rPr>
              <a:t>      revenue: { $sum: "$total" } } },</a:t>
            </a:r>
          </a:p>
          <a:p>
            <a:pPr algn="l"/>
            <a:r>
              <a:rPr sz="1300" b="0" i="0">
                <a:solidFill>
                  <a:srgbClr val="000000"/>
                </a:solidFill>
                <a:latin typeface="Consolas"/>
              </a:rPr>
              <a:t>  { $sort: { _id: 1 } }</a:t>
            </a:r>
          </a:p>
          <a:p>
            <a:pPr algn="l"/>
            <a:r>
              <a:rPr sz="1300" b="0" i="0">
                <a:solidFill>
                  <a:srgbClr val="000000"/>
                </a:solidFill>
                <a:latin typeface="Consolas"/>
              </a:rPr>
              <a:t>])</a:t>
            </a:r>
          </a:p>
        </p:txBody>
      </p:sp>
      <p:sp>
        <p:nvSpPr>
          <p:cNvPr id="6" name="Oval 5"/>
          <p:cNvSpPr/>
          <p:nvPr/>
        </p:nvSpPr>
        <p:spPr>
          <a:xfrm>
            <a:off x="7863840" y="132588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7" name="TextBox 6"/>
          <p:cNvSpPr txBox="1"/>
          <p:nvPr/>
        </p:nvSpPr>
        <p:spPr>
          <a:xfrm>
            <a:off x="8193024" y="1298448"/>
            <a:ext cx="3511296" cy="310896"/>
          </a:xfrm>
          <a:prstGeom prst="rect">
            <a:avLst/>
          </a:prstGeom>
          <a:noFill/>
        </p:spPr>
        <p:txBody>
          <a:bodyPr wrap="square" anchor="ctr" lIns="0" rIns="0" tIns="0" bIns="0">
            <a:spAutoFit/>
          </a:bodyPr>
          <a:lstStyle/>
          <a:p>
            <a:pPr algn="l"/>
            <a:r>
              <a:rPr sz="1300" b="1" i="0">
                <a:solidFill>
                  <a:srgbClr val="2E7D32"/>
                </a:solidFill>
                <a:latin typeface="Nirmala UI"/>
              </a:rPr>
              <a:t>Result</a:t>
            </a:r>
          </a:p>
        </p:txBody>
      </p:sp>
      <p:sp>
        <p:nvSpPr>
          <p:cNvPr id="8" name="Rounded Rectangle 7"/>
          <p:cNvSpPr/>
          <p:nvPr/>
        </p:nvSpPr>
        <p:spPr>
          <a:xfrm>
            <a:off x="7863840" y="1627632"/>
            <a:ext cx="3840479" cy="1169416"/>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_id      orders  revenue</a:t>
            </a:r>
          </a:p>
          <a:p>
            <a:pPr algn="l"/>
            <a:r>
              <a:rPr sz="1300" b="0" i="0">
                <a:solidFill>
                  <a:srgbClr val="000000"/>
                </a:solidFill>
                <a:latin typeface="Consolas"/>
              </a:rPr>
              <a:t>2026-07  3       1835.95</a:t>
            </a:r>
          </a:p>
          <a:p>
            <a:pPr algn="l"/>
            <a:r>
              <a:rPr sz="1300" b="0" i="0">
                <a:solidFill>
                  <a:srgbClr val="000000"/>
                </a:solidFill>
                <a:latin typeface="Consolas"/>
              </a:rPr>
              <a:t>2026-08  4       2731.92</a:t>
            </a:r>
          </a:p>
          <a:p>
            <a:pPr algn="l"/>
            <a:r>
              <a:rPr sz="1300" b="0" i="0">
                <a:solidFill>
                  <a:srgbClr val="000000"/>
                </a:solidFill>
                <a:latin typeface="Consolas"/>
              </a:rPr>
              <a:t>2026-09  6       4550.57</a:t>
            </a:r>
          </a:p>
        </p:txBody>
      </p:sp>
      <p:sp>
        <p:nvSpPr>
          <p:cNvPr id="9" name="Rounded Rectangle 8"/>
          <p:cNvSpPr/>
          <p:nvPr/>
        </p:nvSpPr>
        <p:spPr>
          <a:xfrm>
            <a:off x="7863840" y="2925064"/>
            <a:ext cx="3840479" cy="95741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001000" y="2979928"/>
            <a:ext cx="3566159" cy="292608"/>
          </a:xfrm>
          <a:prstGeom prst="rect">
            <a:avLst/>
          </a:prstGeom>
          <a:noFill/>
        </p:spPr>
        <p:txBody>
          <a:bodyPr wrap="square" anchor="ctr" lIns="0" rIns="0" tIns="0" bIns="0">
            <a:spAutoFit/>
          </a:bodyPr>
          <a:lstStyle/>
          <a:p>
            <a:pPr algn="l"/>
            <a:r>
              <a:rPr sz="1300" b="1" i="0">
                <a:solidFill>
                  <a:srgbClr val="002060"/>
                </a:solidFill>
                <a:latin typeface="Nirmala UI"/>
              </a:rPr>
              <a:t>Sorts as text</a:t>
            </a:r>
          </a:p>
        </p:txBody>
      </p:sp>
      <p:sp>
        <p:nvSpPr>
          <p:cNvPr id="11" name="TextBox 10"/>
          <p:cNvSpPr txBox="1"/>
          <p:nvPr/>
        </p:nvSpPr>
        <p:spPr>
          <a:xfrm>
            <a:off x="8001000" y="3290824"/>
            <a:ext cx="3566159" cy="536786"/>
          </a:xfrm>
          <a:prstGeom prst="rect">
            <a:avLst/>
          </a:prstGeom>
          <a:noFill/>
        </p:spPr>
        <p:txBody>
          <a:bodyPr wrap="square" anchor="t" lIns="0" rIns="0" tIns="0" bIns="0">
            <a:spAutoFit/>
          </a:bodyPr>
          <a:lstStyle/>
          <a:p>
            <a:pPr algn="l"/>
            <a:r>
              <a:rPr sz="1200" b="0" i="0">
                <a:solidFill>
                  <a:srgbClr val="000000"/>
                </a:solidFill>
                <a:latin typeface="Nirmala UI"/>
              </a:rPr>
              <a:t>"YYYY-MM" strings sort in calendar order.</a:t>
            </a:r>
          </a:p>
        </p:txBody>
      </p:sp>
      <p:sp>
        <p:nvSpPr>
          <p:cNvPr id="12" name="Rounded Rectangle 11"/>
          <p:cNvSpPr/>
          <p:nvPr/>
        </p:nvSpPr>
        <p:spPr>
          <a:xfrm>
            <a:off x="7863840" y="4010490"/>
            <a:ext cx="3840479" cy="95741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001000" y="4065354"/>
            <a:ext cx="3566159" cy="292608"/>
          </a:xfrm>
          <a:prstGeom prst="rect">
            <a:avLst/>
          </a:prstGeom>
          <a:noFill/>
        </p:spPr>
        <p:txBody>
          <a:bodyPr wrap="square" anchor="ctr" lIns="0" rIns="0" tIns="0" bIns="0">
            <a:spAutoFit/>
          </a:bodyPr>
          <a:lstStyle/>
          <a:p>
            <a:pPr algn="l"/>
            <a:r>
              <a:rPr sz="1300" b="1" i="0">
                <a:solidFill>
                  <a:srgbClr val="002060"/>
                </a:solidFill>
                <a:latin typeface="Nirmala UI"/>
              </a:rPr>
              <a:t>O5001 excluded</a:t>
            </a:r>
          </a:p>
        </p:txBody>
      </p:sp>
      <p:sp>
        <p:nvSpPr>
          <p:cNvPr id="14" name="TextBox 13"/>
          <p:cNvSpPr txBox="1"/>
          <p:nvPr/>
        </p:nvSpPr>
        <p:spPr>
          <a:xfrm>
            <a:off x="8001000" y="4376250"/>
            <a:ext cx="3566159" cy="536786"/>
          </a:xfrm>
          <a:prstGeom prst="rect">
            <a:avLst/>
          </a:prstGeom>
          <a:noFill/>
        </p:spPr>
        <p:txBody>
          <a:bodyPr wrap="square" anchor="t" lIns="0" rIns="0" tIns="0" bIns="0">
            <a:spAutoFit/>
          </a:bodyPr>
          <a:lstStyle/>
          <a:p>
            <a:pPr algn="l"/>
            <a:r>
              <a:rPr sz="1200" b="0" i="0">
                <a:solidFill>
                  <a:srgbClr val="000000"/>
                </a:solidFill>
                <a:latin typeface="Nirmala UI"/>
              </a:rPr>
              <a:t>Its payment is still PENDING.</a:t>
            </a:r>
          </a:p>
        </p:txBody>
      </p:sp>
      <p:sp>
        <p:nvSpPr>
          <p:cNvPr id="15" name="Rounded Rectangle 14"/>
          <p:cNvSpPr/>
          <p:nvPr/>
        </p:nvSpPr>
        <p:spPr>
          <a:xfrm>
            <a:off x="7863840" y="5095917"/>
            <a:ext cx="3840479" cy="73795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046720" y="5095917"/>
            <a:ext cx="3474719" cy="737954"/>
          </a:xfrm>
          <a:prstGeom prst="rect">
            <a:avLst/>
          </a:prstGeom>
          <a:noFill/>
        </p:spPr>
        <p:txBody>
          <a:bodyPr wrap="square" anchor="ctr" lIns="0" rIns="0" tIns="0" bIns="0">
            <a:spAutoFit/>
          </a:bodyPr>
          <a:lstStyle/>
          <a:p>
            <a:pPr algn="l"/>
            <a:r>
              <a:rPr sz="1200" b="1" i="0">
                <a:solidFill>
                  <a:srgbClr val="D1282E"/>
                </a:solidFill>
                <a:latin typeface="Nirmala UI"/>
              </a:rPr>
              <a:t>CHECK   </a:t>
            </a:r>
            <a:r>
              <a:rPr sz="1200" b="0" i="0">
                <a:solidFill>
                  <a:srgbClr val="000000"/>
                </a:solidFill>
                <a:latin typeface="Nirmala UI"/>
              </a:rPr>
              <a:t>3 + 4 + 6 = 13 paid orders.</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date expression builds the key, $group builds the rows, $sort puts them in calendar order.</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$BUCKET: PRICE BANDS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Group values into ranges the business defines.</a:t>
            </a:r>
          </a:p>
        </p:txBody>
      </p:sp>
      <p:sp>
        <p:nvSpPr>
          <p:cNvPr id="4" name="Rounded Rectangle 3"/>
          <p:cNvSpPr/>
          <p:nvPr/>
        </p:nvSpPr>
        <p:spPr>
          <a:xfrm>
            <a:off x="475488" y="1845201"/>
            <a:ext cx="7415783" cy="3441917"/>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64" descr="image.jpg"/>
          <p:cNvPicPr>
            <a:picLocks noChangeAspect="1"/>
          </p:cNvPicPr>
          <p:nvPr/>
        </p:nvPicPr>
        <p:blipFill>
          <a:blip r:embed="rId2"/>
          <a:stretch>
            <a:fillRect/>
          </a:stretch>
        </p:blipFill>
        <p:spPr>
          <a:xfrm>
            <a:off x="548640" y="1918353"/>
            <a:ext cx="7269480" cy="3295613"/>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Price bands on products</a:t>
            </a:r>
          </a:p>
        </p:txBody>
      </p:sp>
      <p:sp>
        <p:nvSpPr>
          <p:cNvPr id="7" name="Rounded Rectangle 6"/>
          <p:cNvSpPr/>
          <p:nvPr/>
        </p:nvSpPr>
        <p:spPr>
          <a:xfrm>
            <a:off x="8183880" y="1627632"/>
            <a:ext cx="3520440" cy="121894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 $bucket: {</a:t>
            </a:r>
          </a:p>
          <a:p>
            <a:pPr algn="l"/>
            <a:r>
              <a:rPr sz="1100" b="0" i="0">
                <a:solidFill>
                  <a:srgbClr val="000000"/>
                </a:solidFill>
                <a:latin typeface="Consolas"/>
              </a:rPr>
              <a:t>    groupBy: "$price",</a:t>
            </a:r>
          </a:p>
          <a:p>
            <a:pPr algn="l"/>
            <a:r>
              <a:rPr sz="1100" b="0" i="0">
                <a:solidFill>
                  <a:srgbClr val="000000"/>
                </a:solidFill>
                <a:latin typeface="Consolas"/>
              </a:rPr>
              <a:t>    boundaries: [0, 50, 100, 500, 2000],</a:t>
            </a:r>
          </a:p>
          <a:p>
            <a:pPr algn="l"/>
            <a:r>
              <a:rPr sz="1100" b="0" i="0">
                <a:solidFill>
                  <a:srgbClr val="000000"/>
                </a:solidFill>
                <a:latin typeface="Consolas"/>
              </a:rPr>
              <a:t>    default: "Other",</a:t>
            </a:r>
          </a:p>
          <a:p>
            <a:pPr algn="l"/>
            <a:r>
              <a:rPr sz="1100" b="0" i="0">
                <a:solidFill>
                  <a:srgbClr val="000000"/>
                </a:solidFill>
                <a:latin typeface="Consolas"/>
              </a:rPr>
              <a:t>    output: { count: { $sum: 1 } } } }</a:t>
            </a:r>
          </a:p>
        </p:txBody>
      </p:sp>
      <p:sp>
        <p:nvSpPr>
          <p:cNvPr id="8" name="Rounded Rectangle 7"/>
          <p:cNvSpPr/>
          <p:nvPr/>
        </p:nvSpPr>
        <p:spPr>
          <a:xfrm>
            <a:off x="8183880" y="2974594"/>
            <a:ext cx="3520440" cy="9409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302945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Result</a:t>
            </a:r>
          </a:p>
        </p:txBody>
      </p:sp>
      <p:sp>
        <p:nvSpPr>
          <p:cNvPr id="10" name="TextBox 9"/>
          <p:cNvSpPr txBox="1"/>
          <p:nvPr/>
        </p:nvSpPr>
        <p:spPr>
          <a:xfrm>
            <a:off x="8321040" y="3340354"/>
            <a:ext cx="3246120" cy="520276"/>
          </a:xfrm>
          <a:prstGeom prst="rect">
            <a:avLst/>
          </a:prstGeom>
          <a:noFill/>
        </p:spPr>
        <p:txBody>
          <a:bodyPr wrap="square" anchor="t" lIns="0" rIns="0" tIns="0" bIns="0">
            <a:spAutoFit/>
          </a:bodyPr>
          <a:lstStyle/>
          <a:p>
            <a:pPr algn="l"/>
            <a:r>
              <a:rPr sz="1200" b="0" i="0">
                <a:solidFill>
                  <a:srgbClr val="000000"/>
                </a:solidFill>
                <a:latin typeface="Nirmala UI"/>
              </a:rPr>
              <a:t>0: 5 · 50: 2 · 100: 3 · 500: 2 · Other: 1</a:t>
            </a:r>
          </a:p>
        </p:txBody>
      </p:sp>
      <p:sp>
        <p:nvSpPr>
          <p:cNvPr id="11" name="Rounded Rectangle 10"/>
          <p:cNvSpPr/>
          <p:nvPr/>
        </p:nvSpPr>
        <p:spPr>
          <a:xfrm>
            <a:off x="8183880" y="4043510"/>
            <a:ext cx="3520440" cy="9409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409837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Boundaries</a:t>
            </a:r>
          </a:p>
        </p:txBody>
      </p:sp>
      <p:sp>
        <p:nvSpPr>
          <p:cNvPr id="13" name="TextBox 12"/>
          <p:cNvSpPr txBox="1"/>
          <p:nvPr/>
        </p:nvSpPr>
        <p:spPr>
          <a:xfrm>
            <a:off x="8321040" y="4409270"/>
            <a:ext cx="3246120" cy="520276"/>
          </a:xfrm>
          <a:prstGeom prst="rect">
            <a:avLst/>
          </a:prstGeom>
          <a:noFill/>
        </p:spPr>
        <p:txBody>
          <a:bodyPr wrap="square" anchor="t" lIns="0" rIns="0" tIns="0" bIns="0">
            <a:spAutoFit/>
          </a:bodyPr>
          <a:lstStyle/>
          <a:p>
            <a:pPr algn="l"/>
            <a:r>
              <a:rPr sz="1200" b="0" i="0">
                <a:solidFill>
                  <a:srgbClr val="000000"/>
                </a:solidFill>
                <a:latin typeface="Nirmala UI"/>
              </a:rPr>
              <a:t>Lower bound in, upper bound out: 49.99 → the 0 band.</a:t>
            </a:r>
          </a:p>
        </p:txBody>
      </p:sp>
      <p:sp>
        <p:nvSpPr>
          <p:cNvPr id="14" name="Rounded Rectangle 13"/>
          <p:cNvSpPr/>
          <p:nvPr/>
        </p:nvSpPr>
        <p:spPr>
          <a:xfrm>
            <a:off x="8183880" y="5112427"/>
            <a:ext cx="3520440" cy="72144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66760" y="5112427"/>
            <a:ext cx="3154680" cy="721444"/>
          </a:xfrm>
          <a:prstGeom prst="rect">
            <a:avLst/>
          </a:prstGeom>
          <a:noFill/>
        </p:spPr>
        <p:txBody>
          <a:bodyPr wrap="square" anchor="ctr" lIns="0" rIns="0" tIns="0" bIns="0">
            <a:spAutoFit/>
          </a:bodyPr>
          <a:lstStyle/>
          <a:p>
            <a:pPr algn="l"/>
            <a:r>
              <a:rPr sz="1200" b="1" i="0">
                <a:solidFill>
                  <a:srgbClr val="D1282E"/>
                </a:solidFill>
                <a:latin typeface="Nirmala UI"/>
              </a:rPr>
              <a:t>OTHER = XBAD   </a:t>
            </a:r>
            <a:r>
              <a:rPr sz="1200" b="0" i="0">
                <a:solidFill>
                  <a:srgbClr val="000000"/>
                </a:solidFill>
                <a:latin typeface="Nirmala UI"/>
              </a:rPr>
              <a:t>A string price fits no band.</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$bucket turns a number into a business band — and default catches whatever doesn't fit.</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$FACET: SEVERAL REPORTS IN ONE PASS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Parallel sub-pipelines on the same input, one result document.</a:t>
            </a:r>
          </a:p>
        </p:txBody>
      </p:sp>
      <p:sp>
        <p:nvSpPr>
          <p:cNvPr id="4" name="Rounded Rectangle 3"/>
          <p:cNvSpPr/>
          <p:nvPr/>
        </p:nvSpPr>
        <p:spPr>
          <a:xfrm>
            <a:off x="475488" y="1885586"/>
            <a:ext cx="7415783" cy="3361146"/>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65" descr="image.jpg"/>
          <p:cNvPicPr>
            <a:picLocks noChangeAspect="1"/>
          </p:cNvPicPr>
          <p:nvPr/>
        </p:nvPicPr>
        <p:blipFill>
          <a:blip r:embed="rId2"/>
          <a:stretch>
            <a:fillRect/>
          </a:stretch>
        </p:blipFill>
        <p:spPr>
          <a:xfrm>
            <a:off x="548640" y="1958738"/>
            <a:ext cx="7269480" cy="3214842"/>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Same input</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Every sub-pipeline sees the documents that reach $facet.</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One document</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Each facet name holds an array of results.</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Use it for</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Dashboards and API responses with several metrics.</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FILTER FIRST   </a:t>
            </a:r>
            <a:r>
              <a:rPr sz="1200" b="0" i="0">
                <a:solidFill>
                  <a:srgbClr val="000000"/>
                </a:solidFill>
                <a:latin typeface="Nirmala UI"/>
              </a:rPr>
              <a:t>One $match before $facet serves every facet.</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$facet returns a whole dashboard in one document — one array per sub-pipeline.</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A PAID-ORDERS DASHBOARD</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Totals, a status breakdown and a high-value count in one call.</a:t>
            </a:r>
          </a:p>
        </p:txBody>
      </p:sp>
      <p:sp>
        <p:nvSpPr>
          <p:cNvPr id="4" name="TextBox 3"/>
          <p:cNvSpPr txBox="1"/>
          <p:nvPr/>
        </p:nvSpPr>
        <p:spPr>
          <a:xfrm>
            <a:off x="457200" y="1298448"/>
            <a:ext cx="7132320" cy="310896"/>
          </a:xfrm>
          <a:prstGeom prst="rect">
            <a:avLst/>
          </a:prstGeom>
          <a:noFill/>
        </p:spPr>
        <p:txBody>
          <a:bodyPr wrap="square" anchor="ctr" lIns="0" rIns="0" tIns="0" bIns="0">
            <a:spAutoFit/>
          </a:bodyPr>
          <a:lstStyle/>
          <a:p>
            <a:pPr algn="l"/>
            <a:r>
              <a:rPr sz="1300" b="1" i="0">
                <a:solidFill>
                  <a:srgbClr val="002060"/>
                </a:solidFill>
                <a:latin typeface="Nirmala UI"/>
              </a:rPr>
              <a:t>Pipeline (trimmed)</a:t>
            </a:r>
          </a:p>
        </p:txBody>
      </p:sp>
      <p:sp>
        <p:nvSpPr>
          <p:cNvPr id="5" name="Rounded Rectangle 4"/>
          <p:cNvSpPr/>
          <p:nvPr/>
        </p:nvSpPr>
        <p:spPr>
          <a:xfrm>
            <a:off x="457200" y="1627632"/>
            <a:ext cx="7132320" cy="331571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db.orders.aggregate([</a:t>
            </a:r>
          </a:p>
          <a:p>
            <a:pPr algn="l"/>
            <a:r>
              <a:rPr sz="1300" b="0" i="0">
                <a:solidFill>
                  <a:srgbClr val="000000"/>
                </a:solidFill>
                <a:latin typeface="Consolas"/>
              </a:rPr>
              <a:t>  { $match: { paymentStatus: "PAID" } },</a:t>
            </a:r>
          </a:p>
          <a:p>
            <a:pPr algn="l"/>
            <a:r>
              <a:rPr sz="1300" b="0" i="0">
                <a:solidFill>
                  <a:srgbClr val="000000"/>
                </a:solidFill>
                <a:latin typeface="Consolas"/>
              </a:rPr>
              <a:t>  { $facet: {</a:t>
            </a:r>
          </a:p>
          <a:p>
            <a:pPr algn="l"/>
            <a:r>
              <a:rPr sz="1300" b="0" i="0">
                <a:solidFill>
                  <a:srgbClr val="000000"/>
                </a:solidFill>
                <a:latin typeface="Consolas"/>
              </a:rPr>
              <a:t>      totals: [ { $group: { _id: null,</a:t>
            </a:r>
          </a:p>
          <a:p>
            <a:pPr algn="l"/>
            <a:r>
              <a:rPr sz="1300" b="0" i="0">
                <a:solidFill>
                  <a:srgbClr val="000000"/>
                </a:solidFill>
                <a:latin typeface="Consolas"/>
              </a:rPr>
              <a:t>          orders: { $sum: 1 },</a:t>
            </a:r>
          </a:p>
          <a:p>
            <a:pPr algn="l"/>
            <a:r>
              <a:rPr sz="1300" b="0" i="0">
                <a:solidFill>
                  <a:srgbClr val="000000"/>
                </a:solidFill>
                <a:latin typeface="Consolas"/>
              </a:rPr>
              <a:t>          revenue: { $sum: "$total" } } } ],</a:t>
            </a:r>
          </a:p>
          <a:p>
            <a:pPr algn="l"/>
            <a:r>
              <a:rPr sz="1300" b="0" i="0">
                <a:solidFill>
                  <a:srgbClr val="000000"/>
                </a:solidFill>
                <a:latin typeface="Consolas"/>
              </a:rPr>
              <a:t>      byFulfillment: [</a:t>
            </a:r>
          </a:p>
          <a:p>
            <a:pPr algn="l"/>
            <a:r>
              <a:rPr sz="1300" b="0" i="0">
                <a:solidFill>
                  <a:srgbClr val="000000"/>
                </a:solidFill>
                <a:latin typeface="Consolas"/>
              </a:rPr>
              <a:t>        { $sortByCount: "$fulfillmentStatus" } ],</a:t>
            </a:r>
          </a:p>
          <a:p>
            <a:pPr algn="l"/>
            <a:r>
              <a:rPr sz="1300" b="0" i="0">
                <a:solidFill>
                  <a:srgbClr val="000000"/>
                </a:solidFill>
                <a:latin typeface="Consolas"/>
              </a:rPr>
              <a:t>      highValue: [</a:t>
            </a:r>
          </a:p>
          <a:p>
            <a:pPr algn="l"/>
            <a:r>
              <a:rPr sz="1300" b="0" i="0">
                <a:solidFill>
                  <a:srgbClr val="000000"/>
                </a:solidFill>
                <a:latin typeface="Consolas"/>
              </a:rPr>
              <a:t>        { $match: { total:</a:t>
            </a:r>
          </a:p>
          <a:p>
            <a:pPr algn="l"/>
            <a:r>
              <a:rPr sz="1300" b="0" i="0">
                <a:solidFill>
                  <a:srgbClr val="000000"/>
                </a:solidFill>
                <a:latin typeface="Consolas"/>
              </a:rPr>
              <a:t>            { $gte: Decimal128("1000.00") } } },</a:t>
            </a:r>
          </a:p>
          <a:p>
            <a:pPr algn="l"/>
            <a:r>
              <a:rPr sz="1300" b="0" i="0">
                <a:solidFill>
                  <a:srgbClr val="000000"/>
                </a:solidFill>
                <a:latin typeface="Consolas"/>
              </a:rPr>
              <a:t>        { $count: "orders" } ]</a:t>
            </a:r>
          </a:p>
          <a:p>
            <a:pPr algn="l"/>
            <a:r>
              <a:rPr sz="1300" b="0" i="0">
                <a:solidFill>
                  <a:srgbClr val="000000"/>
                </a:solidFill>
                <a:latin typeface="Consolas"/>
              </a:rPr>
              <a:t>  } }</a:t>
            </a:r>
          </a:p>
          <a:p>
            <a:pPr algn="l"/>
            <a:r>
              <a:rPr sz="1300" b="0" i="0">
                <a:solidFill>
                  <a:srgbClr val="000000"/>
                </a:solidFill>
                <a:latin typeface="Consolas"/>
              </a:rPr>
              <a:t>])</a:t>
            </a:r>
          </a:p>
        </p:txBody>
      </p:sp>
      <p:sp>
        <p:nvSpPr>
          <p:cNvPr id="6" name="Oval 5"/>
          <p:cNvSpPr/>
          <p:nvPr/>
        </p:nvSpPr>
        <p:spPr>
          <a:xfrm>
            <a:off x="7863840" y="132588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7" name="TextBox 6"/>
          <p:cNvSpPr txBox="1"/>
          <p:nvPr/>
        </p:nvSpPr>
        <p:spPr>
          <a:xfrm>
            <a:off x="8193024" y="1298448"/>
            <a:ext cx="3511296" cy="310896"/>
          </a:xfrm>
          <a:prstGeom prst="rect">
            <a:avLst/>
          </a:prstGeom>
          <a:noFill/>
        </p:spPr>
        <p:txBody>
          <a:bodyPr wrap="square" anchor="ctr" lIns="0" rIns="0" tIns="0" bIns="0">
            <a:spAutoFit/>
          </a:bodyPr>
          <a:lstStyle/>
          <a:p>
            <a:pPr algn="l"/>
            <a:r>
              <a:rPr sz="1300" b="1" i="0">
                <a:solidFill>
                  <a:srgbClr val="2E7D32"/>
                </a:solidFill>
                <a:latin typeface="Nirmala UI"/>
              </a:rPr>
              <a:t>Result: one document</a:t>
            </a:r>
          </a:p>
        </p:txBody>
      </p:sp>
      <p:sp>
        <p:nvSpPr>
          <p:cNvPr id="8" name="Rounded Rectangle 7"/>
          <p:cNvSpPr/>
          <p:nvPr/>
        </p:nvSpPr>
        <p:spPr>
          <a:xfrm>
            <a:off x="7863840" y="1627632"/>
            <a:ext cx="3840479" cy="1895856"/>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 totals: [ { _id: null,</a:t>
            </a:r>
          </a:p>
          <a:p>
            <a:pPr algn="l"/>
            <a:r>
              <a:rPr sz="1200" b="0" i="0">
                <a:solidFill>
                  <a:srgbClr val="000000"/>
                </a:solidFill>
                <a:latin typeface="Consolas"/>
              </a:rPr>
              <a:t>    orders: 13, revenue: 9118.44 } ],</a:t>
            </a:r>
          </a:p>
          <a:p>
            <a:pPr algn="l"/>
            <a:r>
              <a:rPr sz="1200" b="0" i="0">
                <a:solidFill>
                  <a:srgbClr val="000000"/>
                </a:solidFill>
                <a:latin typeface="Consolas"/>
              </a:rPr>
              <a:t>  byFulfillment: [</a:t>
            </a:r>
          </a:p>
          <a:p>
            <a:pPr algn="l"/>
            <a:r>
              <a:rPr sz="1200" b="0" i="0">
                <a:solidFill>
                  <a:srgbClr val="000000"/>
                </a:solidFill>
                <a:latin typeface="Consolas"/>
              </a:rPr>
              <a:t>    { _id: "SHIPPED", count: 6 },</a:t>
            </a:r>
          </a:p>
          <a:p>
            <a:pPr algn="l"/>
            <a:r>
              <a:rPr sz="1200" b="0" i="0">
                <a:solidFill>
                  <a:srgbClr val="000000"/>
                </a:solidFill>
                <a:latin typeface="Consolas"/>
              </a:rPr>
              <a:t>    { _id: "DELIVERED", count: 4 },</a:t>
            </a:r>
          </a:p>
          <a:p>
            <a:pPr algn="l"/>
            <a:r>
              <a:rPr sz="1200" b="0" i="0">
                <a:solidFill>
                  <a:srgbClr val="000000"/>
                </a:solidFill>
                <a:latin typeface="Consolas"/>
              </a:rPr>
              <a:t>    { _id: "PROCESSING", count: 2 },</a:t>
            </a:r>
          </a:p>
          <a:p>
            <a:pPr algn="l"/>
            <a:r>
              <a:rPr sz="1200" b="0" i="0">
                <a:solidFill>
                  <a:srgbClr val="000000"/>
                </a:solidFill>
                <a:latin typeface="Consolas"/>
              </a:rPr>
              <a:t>    { _id: "NEW", count: 1 } ],</a:t>
            </a:r>
          </a:p>
          <a:p>
            <a:pPr algn="l"/>
            <a:r>
              <a:rPr sz="1200" b="0" i="0">
                <a:solidFill>
                  <a:srgbClr val="000000"/>
                </a:solidFill>
                <a:latin typeface="Consolas"/>
              </a:rPr>
              <a:t>  highValue: [ { orders: 4 } ] }</a:t>
            </a:r>
          </a:p>
        </p:txBody>
      </p:sp>
      <p:sp>
        <p:nvSpPr>
          <p:cNvPr id="9" name="Rounded Rectangle 8"/>
          <p:cNvSpPr/>
          <p:nvPr/>
        </p:nvSpPr>
        <p:spPr>
          <a:xfrm>
            <a:off x="7863840" y="3651504"/>
            <a:ext cx="3840479" cy="89001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046720" y="3651504"/>
            <a:ext cx="3474719" cy="890016"/>
          </a:xfrm>
          <a:prstGeom prst="rect">
            <a:avLst/>
          </a:prstGeom>
          <a:noFill/>
        </p:spPr>
        <p:txBody>
          <a:bodyPr wrap="square" anchor="ctr" lIns="0" rIns="0" tIns="0" bIns="0">
            <a:spAutoFit/>
          </a:bodyPr>
          <a:lstStyle/>
          <a:p>
            <a:pPr algn="l"/>
            <a:r>
              <a:rPr sz="1200" b="1" i="0">
                <a:solidFill>
                  <a:srgbClr val="D1282E"/>
                </a:solidFill>
                <a:latin typeface="Nirmala UI"/>
              </a:rPr>
              <a:t>ARRAYS   </a:t>
            </a:r>
            <a:r>
              <a:rPr sz="1200" b="0" i="0">
                <a:solidFill>
                  <a:srgbClr val="000000"/>
                </a:solidFill>
                <a:latin typeface="Nirmala UI"/>
              </a:rPr>
              <a:t>Even one-row facets are arrays.</a:t>
            </a:r>
          </a:p>
        </p:txBody>
      </p:sp>
      <p:sp>
        <p:nvSpPr>
          <p:cNvPr id="11" name="Rounded Rectangle 10"/>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Filter once, then let each facet answer its own question — the result is one document.</a:t>
            </a:r>
          </a:p>
        </p:txBody>
      </p:sp>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6: PERFORMANCE AND DEBUGGING</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Right first, then cheap — and a method for finding what went wrong.</a:t>
            </a:r>
          </a:p>
        </p:txBody>
      </p:sp>
      <p:sp>
        <p:nvSpPr>
          <p:cNvPr id="4" name="Pentagon 3"/>
          <p:cNvSpPr/>
          <p:nvPr/>
        </p:nvSpPr>
        <p:spPr>
          <a:xfrm>
            <a:off x="457200" y="1298448"/>
            <a:ext cx="202234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1762658"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Pipelines</a:t>
            </a:r>
          </a:p>
        </p:txBody>
      </p:sp>
      <p:sp>
        <p:nvSpPr>
          <p:cNvPr id="6" name="Chevron 5"/>
          <p:cNvSpPr/>
          <p:nvPr/>
        </p:nvSpPr>
        <p:spPr>
          <a:xfrm>
            <a:off x="2302154"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516124"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2</a:t>
            </a:r>
          </a:p>
          <a:p>
            <a:pPr algn="ctr"/>
            <a:r>
              <a:rPr sz="1300" b="1" i="0">
                <a:solidFill>
                  <a:srgbClr val="FFFFFF"/>
                </a:solidFill>
                <a:latin typeface="Nirmala UI"/>
              </a:rPr>
              <a:t>Filter and shape</a:t>
            </a:r>
          </a:p>
        </p:txBody>
      </p:sp>
      <p:sp>
        <p:nvSpPr>
          <p:cNvPr id="8" name="Chevron 7"/>
          <p:cNvSpPr/>
          <p:nvPr/>
        </p:nvSpPr>
        <p:spPr>
          <a:xfrm>
            <a:off x="4147108"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4361078"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3</a:t>
            </a:r>
          </a:p>
          <a:p>
            <a:pPr algn="ctr"/>
            <a:r>
              <a:rPr sz="1300" b="1" i="0">
                <a:solidFill>
                  <a:srgbClr val="FFFFFF"/>
                </a:solidFill>
                <a:latin typeface="Nirmala UI"/>
              </a:rPr>
              <a:t>Group</a:t>
            </a:r>
          </a:p>
        </p:txBody>
      </p:sp>
      <p:sp>
        <p:nvSpPr>
          <p:cNvPr id="10" name="Chevron 9"/>
          <p:cNvSpPr/>
          <p:nvPr/>
        </p:nvSpPr>
        <p:spPr>
          <a:xfrm>
            <a:off x="5992063"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6206032"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4</a:t>
            </a:r>
          </a:p>
          <a:p>
            <a:pPr algn="ctr"/>
            <a:r>
              <a:rPr sz="1300" b="1" i="0">
                <a:solidFill>
                  <a:srgbClr val="FFFFFF"/>
                </a:solidFill>
                <a:latin typeface="Nirmala UI"/>
              </a:rPr>
              <a:t>Arrays and joins</a:t>
            </a:r>
          </a:p>
        </p:txBody>
      </p:sp>
      <p:sp>
        <p:nvSpPr>
          <p:cNvPr id="12" name="Chevron 11"/>
          <p:cNvSpPr/>
          <p:nvPr/>
        </p:nvSpPr>
        <p:spPr>
          <a:xfrm>
            <a:off x="7837017"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050987"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5</a:t>
            </a:r>
          </a:p>
          <a:p>
            <a:pPr algn="ctr"/>
            <a:r>
              <a:rPr sz="1300" b="1" i="0">
                <a:solidFill>
                  <a:srgbClr val="FFFFFF"/>
                </a:solidFill>
                <a:latin typeface="Nirmala UI"/>
              </a:rPr>
              <a:t>Reports</a:t>
            </a:r>
          </a:p>
        </p:txBody>
      </p:sp>
      <p:sp>
        <p:nvSpPr>
          <p:cNvPr id="14" name="Chevron 13"/>
          <p:cNvSpPr/>
          <p:nvPr/>
        </p:nvSpPr>
        <p:spPr>
          <a:xfrm>
            <a:off x="9681972" y="1298448"/>
            <a:ext cx="202234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9895941"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6</a:t>
            </a:r>
          </a:p>
          <a:p>
            <a:pPr algn="ctr"/>
            <a:r>
              <a:rPr sz="1300" b="1" i="0">
                <a:solidFill>
                  <a:srgbClr val="FFFFFF"/>
                </a:solidFill>
                <a:latin typeface="Nirmala UI"/>
              </a:rPr>
              <a:t>Performance</a:t>
            </a:r>
          </a:p>
        </p:txBody>
      </p:sp>
      <p:sp>
        <p:nvSpPr>
          <p:cNvPr id="16" name="Rounded Rectangle 15"/>
          <p:cNvSpPr/>
          <p:nvPr/>
        </p:nvSpPr>
        <p:spPr>
          <a:xfrm>
            <a:off x="457200" y="2304288"/>
            <a:ext cx="4937760" cy="223113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Round Same Side Corner Rectangle 16"/>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9" name="Oval 18"/>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28803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$cond, dates and $bucket label documents</a:t>
            </a:r>
          </a:p>
        </p:txBody>
      </p:sp>
      <p:sp>
        <p:nvSpPr>
          <p:cNvPr id="21" name="Oval 20"/>
          <p:cNvSpPr/>
          <p:nvPr/>
        </p:nvSpPr>
        <p:spPr>
          <a:xfrm>
            <a:off x="640080" y="34290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3558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$facet returns several reports at once</a:t>
            </a:r>
          </a:p>
        </p:txBody>
      </p:sp>
      <p:sp>
        <p:nvSpPr>
          <p:cNvPr id="23" name="Oval 22"/>
          <p:cNvSpPr/>
          <p:nvPr/>
        </p:nvSpPr>
        <p:spPr>
          <a:xfrm>
            <a:off x="640080" y="39044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4" name="TextBox 23"/>
          <p:cNvSpPr txBox="1"/>
          <p:nvPr/>
        </p:nvSpPr>
        <p:spPr>
          <a:xfrm>
            <a:off x="1051560" y="3831336"/>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Every report was checked against the data</a:t>
            </a:r>
          </a:p>
        </p:txBody>
      </p:sp>
      <p:sp>
        <p:nvSpPr>
          <p:cNvPr id="25" name="Rounded Rectangle 24"/>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TextBox 25"/>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7" name="TextBox 26"/>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How do we order stages so a pipeline stays correct and cheap — and find the stage that broke it?</a:t>
            </a:r>
          </a:p>
        </p:txBody>
      </p:sp>
      <p:sp>
        <p:nvSpPr>
          <p:cNvPr id="28" name="TextBox 27"/>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9" name="Oval 28"/>
          <p:cNvSpPr/>
          <p:nvPr/>
        </p:nvSpPr>
        <p:spPr>
          <a:xfrm>
            <a:off x="5760720" y="399796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30" name="TextBox 29"/>
          <p:cNvSpPr txBox="1"/>
          <p:nvPr/>
        </p:nvSpPr>
        <p:spPr>
          <a:xfrm>
            <a:off x="6144768" y="3933952"/>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Early versus late $match</a:t>
            </a:r>
          </a:p>
        </p:txBody>
      </p:sp>
      <p:sp>
        <p:nvSpPr>
          <p:cNvPr id="31" name="Oval 30"/>
          <p:cNvSpPr/>
          <p:nvPr/>
        </p:nvSpPr>
        <p:spPr>
          <a:xfrm>
            <a:off x="5760720" y="440029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2" name="TextBox 31"/>
          <p:cNvSpPr txBox="1"/>
          <p:nvPr/>
        </p:nvSpPr>
        <p:spPr>
          <a:xfrm>
            <a:off x="6144768" y="4336288"/>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Build and verify one stage at a time</a:t>
            </a:r>
          </a:p>
        </p:txBody>
      </p:sp>
      <p:sp>
        <p:nvSpPr>
          <p:cNvPr id="33" name="Oval 32"/>
          <p:cNvSpPr/>
          <p:nvPr/>
        </p:nvSpPr>
        <p:spPr>
          <a:xfrm>
            <a:off x="5760720" y="4802632"/>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4" name="TextBox 33"/>
          <p:cNvSpPr txBox="1"/>
          <p:nvPr/>
        </p:nvSpPr>
        <p:spPr>
          <a:xfrm>
            <a:off x="6144768" y="4738624"/>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Common aggregation mistakes</a:t>
            </a:r>
          </a:p>
        </p:txBody>
      </p:sp>
      <p:sp>
        <p:nvSpPr>
          <p:cNvPr id="35" name="Rectangle 3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EARLY VS. LATE $MATCH</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Filter first: fewer documents for every later stage.</a:t>
            </a:r>
          </a:p>
        </p:txBody>
      </p:sp>
      <p:sp>
        <p:nvSpPr>
          <p:cNvPr id="4" name="Rounded Rectangle 3"/>
          <p:cNvSpPr/>
          <p:nvPr/>
        </p:nvSpPr>
        <p:spPr>
          <a:xfrm>
            <a:off x="671209" y="1316736"/>
            <a:ext cx="7024341" cy="4498848"/>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79" descr="image.jpg"/>
          <p:cNvPicPr>
            <a:picLocks noChangeAspect="1"/>
          </p:cNvPicPr>
          <p:nvPr/>
        </p:nvPicPr>
        <p:blipFill>
          <a:blip r:embed="rId2"/>
          <a:stretch>
            <a:fillRect/>
          </a:stretch>
        </p:blipFill>
        <p:spPr>
          <a:xfrm>
            <a:off x="744361" y="1389888"/>
            <a:ext cx="6878037" cy="4352544"/>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Early</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$match PAID first: 13 documents flow on, not 17.</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Late can be wrong</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After $group, the status field no longer exists.</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Join late</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$lookup after $group runs once per customer.</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INDEX   </a:t>
            </a:r>
            <a:r>
              <a:rPr sz="1200" b="0" i="0">
                <a:solidFill>
                  <a:srgbClr val="000000"/>
                </a:solidFill>
                <a:latin typeface="Nirmala UI"/>
              </a:rPr>
              <a:t>A first-stage $match can use one — Module 6.</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Filter as early as possible, and join after you have reduced the stream.</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BUILD A PIPELINE ONE STAGE AT A TIME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Define the output, then add and check one stage at a time.</a:t>
            </a:r>
          </a:p>
        </p:txBody>
      </p:sp>
      <p:sp>
        <p:nvSpPr>
          <p:cNvPr id="4" name="Rounded Rectangle 3"/>
          <p:cNvSpPr/>
          <p:nvPr/>
        </p:nvSpPr>
        <p:spPr>
          <a:xfrm>
            <a:off x="475487" y="1561724"/>
            <a:ext cx="11210544" cy="2275321"/>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76" descr="image.jpg"/>
          <p:cNvPicPr>
            <a:picLocks noChangeAspect="1"/>
          </p:cNvPicPr>
          <p:nvPr/>
        </p:nvPicPr>
        <p:blipFill>
          <a:blip r:embed="rId2"/>
          <a:stretch>
            <a:fillRect/>
          </a:stretch>
        </p:blipFill>
        <p:spPr>
          <a:xfrm>
            <a:off x="548639" y="1634876"/>
            <a:ext cx="11064240" cy="2129017"/>
          </a:xfrm>
          <a:prstGeom prst="rect">
            <a:avLst/>
          </a:prstGeom>
        </p:spPr>
      </p:pic>
      <p:sp>
        <p:nvSpPr>
          <p:cNvPr id="6" name="Rounded Rectangle 5"/>
          <p:cNvSpPr/>
          <p:nvPr/>
        </p:nvSpPr>
        <p:spPr>
          <a:xfrm>
            <a:off x="457200" y="4374642"/>
            <a:ext cx="3627120" cy="145923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594360" y="4429506"/>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One stage at a time</a:t>
            </a:r>
          </a:p>
        </p:txBody>
      </p:sp>
      <p:sp>
        <p:nvSpPr>
          <p:cNvPr id="8" name="TextBox 7"/>
          <p:cNvSpPr txBox="1"/>
          <p:nvPr/>
        </p:nvSpPr>
        <p:spPr>
          <a:xfrm>
            <a:off x="594360" y="4740402"/>
            <a:ext cx="3352800" cy="1038605"/>
          </a:xfrm>
          <a:prstGeom prst="rect">
            <a:avLst/>
          </a:prstGeom>
          <a:noFill/>
        </p:spPr>
        <p:txBody>
          <a:bodyPr wrap="square" anchor="t" lIns="0" rIns="0" tIns="0" bIns="0">
            <a:spAutoFit/>
          </a:bodyPr>
          <a:lstStyle/>
          <a:p>
            <a:pPr algn="l"/>
            <a:r>
              <a:rPr sz="1200" b="0" i="0">
                <a:solidFill>
                  <a:srgbClr val="000000"/>
                </a:solidFill>
                <a:latin typeface="Nirmala UI"/>
              </a:rPr>
              <a:t>Run the first stage and check the count and one document; add the next, run again.</a:t>
            </a:r>
          </a:p>
        </p:txBody>
      </p:sp>
      <p:sp>
        <p:nvSpPr>
          <p:cNvPr id="9" name="Rounded Rectangle 8"/>
          <p:cNvSpPr/>
          <p:nvPr/>
        </p:nvSpPr>
        <p:spPr>
          <a:xfrm>
            <a:off x="4267200" y="4374642"/>
            <a:ext cx="3627120" cy="145923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4404360" y="4429506"/>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Prove one number</a:t>
            </a:r>
          </a:p>
        </p:txBody>
      </p:sp>
      <p:sp>
        <p:nvSpPr>
          <p:cNvPr id="11" name="TextBox 10"/>
          <p:cNvSpPr txBox="1"/>
          <p:nvPr/>
        </p:nvSpPr>
        <p:spPr>
          <a:xfrm>
            <a:off x="4404360" y="4740402"/>
            <a:ext cx="3352800" cy="1038605"/>
          </a:xfrm>
          <a:prstGeom prst="rect">
            <a:avLst/>
          </a:prstGeom>
          <a:noFill/>
        </p:spPr>
        <p:txBody>
          <a:bodyPr wrap="square" anchor="t" lIns="0" rIns="0" tIns="0" bIns="0">
            <a:spAutoFit/>
          </a:bodyPr>
          <a:lstStyle/>
          <a:p>
            <a:pPr algn="l"/>
            <a:r>
              <a:rPr sz="1200" b="0" i="0">
                <a:solidFill>
                  <a:srgbClr val="000000"/>
                </a:solidFill>
                <a:latin typeface="Nirmala UI"/>
              </a:rPr>
              <a:t>Add Aisha's paid orders by hand: 3418.62 must match the pipeline.</a:t>
            </a:r>
          </a:p>
        </p:txBody>
      </p:sp>
      <p:sp>
        <p:nvSpPr>
          <p:cNvPr id="12" name="TextBox 11"/>
          <p:cNvSpPr txBox="1"/>
          <p:nvPr/>
        </p:nvSpPr>
        <p:spPr>
          <a:xfrm>
            <a:off x="8077200" y="4374642"/>
            <a:ext cx="3627120" cy="310896"/>
          </a:xfrm>
          <a:prstGeom prst="rect">
            <a:avLst/>
          </a:prstGeom>
          <a:noFill/>
        </p:spPr>
        <p:txBody>
          <a:bodyPr wrap="square" anchor="ctr" lIns="0" rIns="0" tIns="0" bIns="0">
            <a:spAutoFit/>
          </a:bodyPr>
          <a:lstStyle/>
          <a:p>
            <a:pPr algn="l"/>
            <a:r>
              <a:rPr sz="1300" b="1" i="0">
                <a:solidFill>
                  <a:srgbClr val="002060"/>
                </a:solidFill>
                <a:latin typeface="Nirmala UI"/>
              </a:rPr>
              <a:t>Then inspect the plan</a:t>
            </a:r>
          </a:p>
        </p:txBody>
      </p:sp>
      <p:sp>
        <p:nvSpPr>
          <p:cNvPr id="13" name="Rounded Rectangle 12"/>
          <p:cNvSpPr/>
          <p:nvPr/>
        </p:nvSpPr>
        <p:spPr>
          <a:xfrm>
            <a:off x="8077200" y="4703826"/>
            <a:ext cx="3627120" cy="113004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db.orders</a:t>
            </a:r>
          </a:p>
          <a:p>
            <a:pPr algn="l"/>
            <a:r>
              <a:rPr sz="1100" b="0" i="0">
                <a:solidFill>
                  <a:srgbClr val="000000"/>
                </a:solidFill>
                <a:latin typeface="Consolas"/>
              </a:rPr>
              <a:t>  .explain("executionStats")</a:t>
            </a:r>
          </a:p>
          <a:p>
            <a:pPr algn="l"/>
            <a:r>
              <a:rPr sz="1100" b="0" i="0">
                <a:solidFill>
                  <a:srgbClr val="000000"/>
                </a:solidFill>
                <a:latin typeface="Consolas"/>
              </a:rPr>
              <a:t>  .aggregate([ … ])</a:t>
            </a:r>
          </a:p>
        </p:txBody>
      </p:sp>
      <p:sp>
        <p:nvSpPr>
          <p:cNvPr id="14" name="Rounded Rectangle 1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Build incrementally and verify each stage — a wrong path shows up the moment you add it.</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COMMON AGGREGATION MISTAKES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Why a pipeline returns nothing, too much or the wrong total.</a:t>
            </a:r>
          </a:p>
        </p:txBody>
      </p:sp>
      <p:sp>
        <p:nvSpPr>
          <p:cNvPr id="4" name="TextBox 3"/>
          <p:cNvSpPr txBox="1"/>
          <p:nvPr/>
        </p:nvSpPr>
        <p:spPr>
          <a:xfrm>
            <a:off x="457200" y="1298448"/>
            <a:ext cx="3291840" cy="310896"/>
          </a:xfrm>
          <a:prstGeom prst="rect">
            <a:avLst/>
          </a:prstGeom>
          <a:noFill/>
        </p:spPr>
        <p:txBody>
          <a:bodyPr wrap="square" anchor="t" lIns="0" rIns="0" tIns="0" bIns="0">
            <a:spAutoFit/>
          </a:bodyPr>
          <a:lstStyle/>
          <a:p>
            <a:pPr algn="l"/>
            <a:r>
              <a:rPr sz="1300" b="1" i="0">
                <a:solidFill>
                  <a:srgbClr val="D1282E"/>
                </a:solidFill>
                <a:latin typeface="Nirmala UI"/>
              </a:rPr>
              <a:t>MISCONCEPTION</a:t>
            </a:r>
          </a:p>
        </p:txBody>
      </p:sp>
      <p:sp>
        <p:nvSpPr>
          <p:cNvPr id="5" name="TextBox 4"/>
          <p:cNvSpPr txBox="1"/>
          <p:nvPr/>
        </p:nvSpPr>
        <p:spPr>
          <a:xfrm>
            <a:off x="4069080" y="1298448"/>
            <a:ext cx="3291840" cy="310896"/>
          </a:xfrm>
          <a:prstGeom prst="rect">
            <a:avLst/>
          </a:prstGeom>
          <a:noFill/>
        </p:spPr>
        <p:txBody>
          <a:bodyPr wrap="square" anchor="t" lIns="0" rIns="0" tIns="0" bIns="0">
            <a:spAutoFit/>
          </a:bodyPr>
          <a:lstStyle/>
          <a:p>
            <a:pPr algn="l"/>
            <a:r>
              <a:rPr sz="1300" b="1" i="0">
                <a:solidFill>
                  <a:srgbClr val="2E7D32"/>
                </a:solidFill>
                <a:latin typeface="Nirmala UI"/>
              </a:rPr>
              <a:t>REALITY</a:t>
            </a:r>
          </a:p>
        </p:txBody>
      </p:sp>
      <p:sp>
        <p:nvSpPr>
          <p:cNvPr id="6" name="Rounded Rectangle 5"/>
          <p:cNvSpPr/>
          <p:nvPr/>
        </p:nvSpPr>
        <p:spPr>
          <a:xfrm>
            <a:off x="457200" y="1709928"/>
            <a:ext cx="3246120" cy="737006"/>
          </a:xfrm>
          <a:prstGeom prst="roundRect">
            <a:avLst>
              <a:gd name="adj" fmla="val 8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D1282E"/>
                </a:solidFill>
                <a:latin typeface="Nirmala UI"/>
              </a:rPr>
              <a:t>"total" and "$total" mean the same</a:t>
            </a:r>
          </a:p>
        </p:txBody>
      </p:sp>
      <p:cxnSp>
        <p:nvCxnSpPr>
          <p:cNvPr id="7" name="Connector 6"/>
          <p:cNvCxnSpPr/>
          <p:nvPr/>
        </p:nvCxnSpPr>
        <p:spPr>
          <a:xfrm>
            <a:off x="3730752" y="2078431"/>
            <a:ext cx="310896"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069080" y="1709928"/>
            <a:ext cx="3337559" cy="737006"/>
          </a:xfrm>
          <a:prstGeom prst="roundRect">
            <a:avLst>
              <a:gd name="adj" fmla="val 8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2E7D32"/>
                </a:solidFill>
                <a:latin typeface="Nirmala UI"/>
              </a:rPr>
              <a:t>Without $ it is the text "total", not the field</a:t>
            </a:r>
          </a:p>
        </p:txBody>
      </p:sp>
      <p:sp>
        <p:nvSpPr>
          <p:cNvPr id="9" name="Rounded Rectangle 8"/>
          <p:cNvSpPr/>
          <p:nvPr/>
        </p:nvSpPr>
        <p:spPr>
          <a:xfrm>
            <a:off x="457200" y="2556662"/>
            <a:ext cx="3246120" cy="737006"/>
          </a:xfrm>
          <a:prstGeom prst="roundRect">
            <a:avLst>
              <a:gd name="adj" fmla="val 8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D1282E"/>
                </a:solidFill>
                <a:latin typeface="Nirmala UI"/>
              </a:rPr>
              <a:t>$limit, then $sort gives a top N</a:t>
            </a:r>
          </a:p>
        </p:txBody>
      </p:sp>
      <p:cxnSp>
        <p:nvCxnSpPr>
          <p:cNvPr id="10" name="Connector 9"/>
          <p:cNvCxnSpPr/>
          <p:nvPr/>
        </p:nvCxnSpPr>
        <p:spPr>
          <a:xfrm>
            <a:off x="3730752" y="2925165"/>
            <a:ext cx="310896"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069080" y="2556662"/>
            <a:ext cx="3337559" cy="737006"/>
          </a:xfrm>
          <a:prstGeom prst="roundRect">
            <a:avLst>
              <a:gd name="adj" fmla="val 8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2E7D32"/>
                </a:solidFill>
                <a:latin typeface="Nirmala UI"/>
              </a:rPr>
              <a:t>Sort first — otherwise it is an arbitrary N</a:t>
            </a:r>
          </a:p>
        </p:txBody>
      </p:sp>
      <p:sp>
        <p:nvSpPr>
          <p:cNvPr id="12" name="Rounded Rectangle 11"/>
          <p:cNvSpPr/>
          <p:nvPr/>
        </p:nvSpPr>
        <p:spPr>
          <a:xfrm>
            <a:off x="457200" y="3403396"/>
            <a:ext cx="3246120" cy="737006"/>
          </a:xfrm>
          <a:prstGeom prst="roundRect">
            <a:avLst>
              <a:gd name="adj" fmla="val 8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D1282E"/>
                </a:solidFill>
                <a:latin typeface="Nirmala UI"/>
              </a:rPr>
              <a:t>Sum total after $unwind</a:t>
            </a:r>
          </a:p>
        </p:txBody>
      </p:sp>
      <p:cxnSp>
        <p:nvCxnSpPr>
          <p:cNvPr id="13" name="Connector 12"/>
          <p:cNvCxnSpPr/>
          <p:nvPr/>
        </p:nvCxnSpPr>
        <p:spPr>
          <a:xfrm>
            <a:off x="3730752" y="3771899"/>
            <a:ext cx="310896"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069080" y="3403396"/>
            <a:ext cx="3337559" cy="737006"/>
          </a:xfrm>
          <a:prstGeom prst="roundRect">
            <a:avLst>
              <a:gd name="adj" fmla="val 8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2E7D32"/>
                </a:solidFill>
                <a:latin typeface="Nirmala UI"/>
              </a:rPr>
              <a:t>Each order's total repeats on every line</a:t>
            </a:r>
          </a:p>
        </p:txBody>
      </p:sp>
      <p:sp>
        <p:nvSpPr>
          <p:cNvPr id="15" name="Rounded Rectangle 14"/>
          <p:cNvSpPr/>
          <p:nvPr/>
        </p:nvSpPr>
        <p:spPr>
          <a:xfrm>
            <a:off x="457200" y="4250131"/>
            <a:ext cx="3246120" cy="737006"/>
          </a:xfrm>
          <a:prstGeom prst="roundRect">
            <a:avLst>
              <a:gd name="adj" fmla="val 8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D1282E"/>
                </a:solidFill>
                <a:latin typeface="Nirmala UI"/>
              </a:rPr>
              <a:t>$match on paymentStatus after $group</a:t>
            </a:r>
          </a:p>
        </p:txBody>
      </p:sp>
      <p:cxnSp>
        <p:nvCxnSpPr>
          <p:cNvPr id="16" name="Connector 15"/>
          <p:cNvCxnSpPr/>
          <p:nvPr/>
        </p:nvCxnSpPr>
        <p:spPr>
          <a:xfrm>
            <a:off x="3730752" y="4618634"/>
            <a:ext cx="310896"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069080" y="4250131"/>
            <a:ext cx="3337559" cy="737006"/>
          </a:xfrm>
          <a:prstGeom prst="roundRect">
            <a:avLst>
              <a:gd name="adj" fmla="val 8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2E7D32"/>
                </a:solidFill>
                <a:latin typeface="Nirmala UI"/>
              </a:rPr>
              <a:t>$group dropped it — filter before grouping</a:t>
            </a:r>
          </a:p>
        </p:txBody>
      </p:sp>
      <p:sp>
        <p:nvSpPr>
          <p:cNvPr id="18" name="Rounded Rectangle 17"/>
          <p:cNvSpPr/>
          <p:nvPr/>
        </p:nvSpPr>
        <p:spPr>
          <a:xfrm>
            <a:off x="457200" y="5096865"/>
            <a:ext cx="3246120" cy="737006"/>
          </a:xfrm>
          <a:prstGeom prst="roundRect">
            <a:avLst>
              <a:gd name="adj" fmla="val 8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D1282E"/>
                </a:solidFill>
                <a:latin typeface="Nirmala UI"/>
              </a:rPr>
              <a:t>$lookup returns one document</a:t>
            </a:r>
          </a:p>
        </p:txBody>
      </p:sp>
      <p:cxnSp>
        <p:nvCxnSpPr>
          <p:cNvPr id="19" name="Connector 18"/>
          <p:cNvCxnSpPr/>
          <p:nvPr/>
        </p:nvCxnSpPr>
        <p:spPr>
          <a:xfrm>
            <a:off x="3730752" y="5465368"/>
            <a:ext cx="310896"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069080" y="5096865"/>
            <a:ext cx="3337559" cy="737006"/>
          </a:xfrm>
          <a:prstGeom prst="roundRect">
            <a:avLst>
              <a:gd name="adj" fmla="val 8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2E7D32"/>
                </a:solidFill>
                <a:latin typeface="Nirmala UI"/>
              </a:rPr>
              <a:t>It returns an array — unwind it or take [0]</a:t>
            </a:r>
          </a:p>
        </p:txBody>
      </p:sp>
      <p:sp>
        <p:nvSpPr>
          <p:cNvPr id="21" name="TextBox 20"/>
          <p:cNvSpPr txBox="1"/>
          <p:nvPr/>
        </p:nvSpPr>
        <p:spPr>
          <a:xfrm>
            <a:off x="7772400" y="1298448"/>
            <a:ext cx="3931920" cy="310896"/>
          </a:xfrm>
          <a:prstGeom prst="rect">
            <a:avLst/>
          </a:prstGeom>
          <a:noFill/>
        </p:spPr>
        <p:txBody>
          <a:bodyPr wrap="square" anchor="t" lIns="0" rIns="0" tIns="0" bIns="0">
            <a:spAutoFit/>
          </a:bodyPr>
          <a:lstStyle/>
          <a:p>
            <a:pPr algn="l"/>
            <a:r>
              <a:rPr sz="1300" b="1" i="0">
                <a:solidFill>
                  <a:srgbClr val="D1282E"/>
                </a:solidFill>
                <a:latin typeface="Nirmala UI"/>
              </a:rPr>
              <a:t>ANTI-PATTERNS TO AVOID</a:t>
            </a:r>
          </a:p>
        </p:txBody>
      </p:sp>
      <p:sp>
        <p:nvSpPr>
          <p:cNvPr id="22" name="Oval 21"/>
          <p:cNvSpPr/>
          <p:nvPr/>
        </p:nvSpPr>
        <p:spPr>
          <a:xfrm>
            <a:off x="7772400" y="1673352"/>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3" name="TextBox 22"/>
          <p:cNvSpPr txBox="1"/>
          <p:nvPr/>
        </p:nvSpPr>
        <p:spPr>
          <a:xfrm>
            <a:off x="8138160" y="1645920"/>
            <a:ext cx="3566160" cy="475996"/>
          </a:xfrm>
          <a:prstGeom prst="rect">
            <a:avLst/>
          </a:prstGeom>
          <a:noFill/>
        </p:spPr>
        <p:txBody>
          <a:bodyPr wrap="square" anchor="ctr" lIns="0" rIns="0" tIns="0" bIns="0">
            <a:spAutoFit/>
          </a:bodyPr>
          <a:lstStyle/>
          <a:p>
            <a:pPr algn="l"/>
            <a:r>
              <a:rPr sz="1300" b="0" i="0">
                <a:solidFill>
                  <a:srgbClr val="000000"/>
                </a:solidFill>
                <a:latin typeface="Nirmala UI"/>
              </a:rPr>
              <a:t>status: "Shipped" — orders have no status field</a:t>
            </a:r>
          </a:p>
        </p:txBody>
      </p:sp>
      <p:sp>
        <p:nvSpPr>
          <p:cNvPr id="24" name="Oval 23"/>
          <p:cNvSpPr/>
          <p:nvPr/>
        </p:nvSpPr>
        <p:spPr>
          <a:xfrm>
            <a:off x="7772400" y="2149348"/>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5" name="TextBox 24"/>
          <p:cNvSpPr txBox="1"/>
          <p:nvPr/>
        </p:nvSpPr>
        <p:spPr>
          <a:xfrm>
            <a:off x="8138160" y="2121916"/>
            <a:ext cx="3566160" cy="475996"/>
          </a:xfrm>
          <a:prstGeom prst="rect">
            <a:avLst/>
          </a:prstGeom>
          <a:noFill/>
        </p:spPr>
        <p:txBody>
          <a:bodyPr wrap="square" anchor="ctr" lIns="0" rIns="0" tIns="0" bIns="0">
            <a:spAutoFit/>
          </a:bodyPr>
          <a:lstStyle/>
          <a:p>
            <a:pPr algn="l"/>
            <a:r>
              <a:rPr sz="1300" b="0" i="0">
                <a:solidFill>
                  <a:srgbClr val="000000"/>
                </a:solidFill>
                <a:latin typeface="Nirmala UI"/>
              </a:rPr>
              <a:t>$items.lineTotal — compute quantity × unitPrice</a:t>
            </a:r>
          </a:p>
        </p:txBody>
      </p:sp>
      <p:sp>
        <p:nvSpPr>
          <p:cNvPr id="26" name="Oval 25"/>
          <p:cNvSpPr/>
          <p:nvPr/>
        </p:nvSpPr>
        <p:spPr>
          <a:xfrm>
            <a:off x="7772400" y="2625344"/>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8138160" y="2597912"/>
            <a:ext cx="3566160" cy="310896"/>
          </a:xfrm>
          <a:prstGeom prst="rect">
            <a:avLst/>
          </a:prstGeom>
          <a:noFill/>
        </p:spPr>
        <p:txBody>
          <a:bodyPr wrap="square" anchor="ctr" lIns="0" rIns="0" tIns="0" bIns="0">
            <a:spAutoFit/>
          </a:bodyPr>
          <a:lstStyle/>
          <a:p>
            <a:pPr algn="l"/>
            <a:r>
              <a:rPr sz="1300" b="0" i="0">
                <a:solidFill>
                  <a:srgbClr val="000000"/>
                </a:solidFill>
                <a:latin typeface="Nirmala UI"/>
              </a:rPr>
              <a:t>$lookup on every order before filtering</a:t>
            </a:r>
          </a:p>
        </p:txBody>
      </p:sp>
      <p:sp>
        <p:nvSpPr>
          <p:cNvPr id="28" name="Oval 27"/>
          <p:cNvSpPr/>
          <p:nvPr/>
        </p:nvSpPr>
        <p:spPr>
          <a:xfrm>
            <a:off x="7772400" y="2936240"/>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8138160" y="2908808"/>
            <a:ext cx="3566160" cy="310896"/>
          </a:xfrm>
          <a:prstGeom prst="rect">
            <a:avLst/>
          </a:prstGeom>
          <a:noFill/>
        </p:spPr>
        <p:txBody>
          <a:bodyPr wrap="square" anchor="ctr" lIns="0" rIns="0" tIns="0" bIns="0">
            <a:spAutoFit/>
          </a:bodyPr>
          <a:lstStyle/>
          <a:p>
            <a:pPr algn="l"/>
            <a:r>
              <a:rPr sz="1300" b="0" i="0">
                <a:solidFill>
                  <a:srgbClr val="000000"/>
                </a:solidFill>
                <a:latin typeface="Nirmala UI"/>
              </a:rPr>
              <a:t>Unwinding just to sum order totals</a:t>
            </a:r>
          </a:p>
        </p:txBody>
      </p:sp>
      <p:sp>
        <p:nvSpPr>
          <p:cNvPr id="30" name="Oval 29"/>
          <p:cNvSpPr/>
          <p:nvPr/>
        </p:nvSpPr>
        <p:spPr>
          <a:xfrm>
            <a:off x="7772400" y="3247136"/>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8138160" y="3219704"/>
            <a:ext cx="3566160" cy="475996"/>
          </a:xfrm>
          <a:prstGeom prst="rect">
            <a:avLst/>
          </a:prstGeom>
          <a:noFill/>
        </p:spPr>
        <p:txBody>
          <a:bodyPr wrap="square" anchor="ctr" lIns="0" rIns="0" tIns="0" bIns="0">
            <a:spAutoFit/>
          </a:bodyPr>
          <a:lstStyle/>
          <a:p>
            <a:pPr algn="l"/>
            <a:r>
              <a:rPr sz="1300" b="0" i="0">
                <a:solidFill>
                  <a:srgbClr val="000000"/>
                </a:solidFill>
                <a:latin typeface="Nirmala UI"/>
              </a:rPr>
              <a:t>Money compared with strings, not Decimal128</a:t>
            </a:r>
          </a:p>
        </p:txBody>
      </p:sp>
      <p:sp>
        <p:nvSpPr>
          <p:cNvPr id="32" name="Rounded Rectangle 31"/>
          <p:cNvSpPr/>
          <p:nvPr/>
        </p:nvSpPr>
        <p:spPr>
          <a:xfrm>
            <a:off x="7772400" y="3823716"/>
            <a:ext cx="3931920" cy="107594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3" name="TextBox 32"/>
          <p:cNvSpPr txBox="1"/>
          <p:nvPr/>
        </p:nvSpPr>
        <p:spPr>
          <a:xfrm>
            <a:off x="7955279" y="3823716"/>
            <a:ext cx="3566160" cy="1075944"/>
          </a:xfrm>
          <a:prstGeom prst="rect">
            <a:avLst/>
          </a:prstGeom>
          <a:noFill/>
        </p:spPr>
        <p:txBody>
          <a:bodyPr wrap="square" anchor="ctr" lIns="0" rIns="0" tIns="0" bIns="0">
            <a:spAutoFit/>
          </a:bodyPr>
          <a:lstStyle/>
          <a:p>
            <a:pPr algn="l"/>
            <a:r>
              <a:rPr sz="1200" b="1" i="0">
                <a:solidFill>
                  <a:srgbClr val="D1282E"/>
                </a:solidFill>
                <a:latin typeface="Nirmala UI"/>
              </a:rPr>
              <a:t>REMEMBER   </a:t>
            </a:r>
            <a:r>
              <a:rPr sz="1200" b="0" i="0">
                <a:solidFill>
                  <a:srgbClr val="000000"/>
                </a:solidFill>
                <a:latin typeface="Nirmala UI"/>
              </a:rPr>
              <a:t>Filter early, group before joining, verify each stage.</a:t>
            </a:r>
          </a:p>
        </p:txBody>
      </p:sp>
      <p:sp>
        <p:nvSpPr>
          <p:cNvPr id="34" name="Rounded Rectangle 3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Most broken pipelines have a wrong field path or a stage in the wrong place.</a:t>
            </a:r>
          </a:p>
        </p:txBody>
      </p:sp>
      <p:sp>
        <p:nvSpPr>
          <p:cNvPr id="36" name="Rectangle 3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MODULE 5 AT A GLANCE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Filter, shape, group, join — and verify each stage.</a:t>
            </a:r>
          </a:p>
        </p:txBody>
      </p:sp>
      <p:sp>
        <p:nvSpPr>
          <p:cNvPr id="4" name="Rounded Rectangle 3"/>
          <p:cNvSpPr/>
          <p:nvPr/>
        </p:nvSpPr>
        <p:spPr>
          <a:xfrm>
            <a:off x="475488" y="1651184"/>
            <a:ext cx="11210544" cy="3829951"/>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88" descr="image.jpg"/>
          <p:cNvPicPr>
            <a:picLocks noChangeAspect="1"/>
          </p:cNvPicPr>
          <p:nvPr/>
        </p:nvPicPr>
        <p:blipFill>
          <a:blip r:embed="rId2"/>
          <a:stretch>
            <a:fillRect/>
          </a:stretch>
        </p:blipFill>
        <p:spPr>
          <a:xfrm>
            <a:off x="548640" y="1724336"/>
            <a:ext cx="11064240" cy="3683647"/>
          </a:xfrm>
          <a:prstGeom prst="rect">
            <a:avLst/>
          </a:prstGeom>
        </p:spPr>
      </p:pic>
      <p:sp>
        <p:nvSpPr>
          <p:cNvPr id="6" name="Rounded Rectangle 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pipeline is ordered transformations: filter, shape, group and join — then check the numbers.</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KNOWLEDGE CHECK</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Answer in your own words — then compare with a partner.</a:t>
            </a:r>
          </a:p>
        </p:txBody>
      </p:sp>
      <p:sp>
        <p:nvSpPr>
          <p:cNvPr id="4" name="Rounded Rectangle 3"/>
          <p:cNvSpPr/>
          <p:nvPr/>
        </p:nvSpPr>
        <p:spPr>
          <a:xfrm>
            <a:off x="457200" y="1298448"/>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Oval 4"/>
          <p:cNvSpPr/>
          <p:nvPr/>
        </p:nvSpPr>
        <p:spPr>
          <a:xfrm>
            <a:off x="603504" y="1565452"/>
            <a:ext cx="384048" cy="384048"/>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1</a:t>
            </a:r>
          </a:p>
        </p:txBody>
      </p:sp>
      <p:sp>
        <p:nvSpPr>
          <p:cNvPr id="6" name="TextBox 5"/>
          <p:cNvSpPr txBox="1"/>
          <p:nvPr/>
        </p:nvSpPr>
        <p:spPr>
          <a:xfrm>
            <a:off x="1143000" y="1298448"/>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does each pipeline stage receive and pass on?</a:t>
            </a:r>
          </a:p>
        </p:txBody>
      </p:sp>
      <p:sp>
        <p:nvSpPr>
          <p:cNvPr id="7" name="Rounded Rectangle 6"/>
          <p:cNvSpPr/>
          <p:nvPr/>
        </p:nvSpPr>
        <p:spPr>
          <a:xfrm>
            <a:off x="457200" y="2326233"/>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Oval 7"/>
          <p:cNvSpPr/>
          <p:nvPr/>
        </p:nvSpPr>
        <p:spPr>
          <a:xfrm>
            <a:off x="603504" y="2593238"/>
            <a:ext cx="384048" cy="38404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2</a:t>
            </a:r>
          </a:p>
        </p:txBody>
      </p:sp>
      <p:sp>
        <p:nvSpPr>
          <p:cNvPr id="9" name="TextBox 8"/>
          <p:cNvSpPr txBox="1"/>
          <p:nvPr/>
        </p:nvSpPr>
        <p:spPr>
          <a:xfrm>
            <a:off x="1143000" y="2326233"/>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Why can $group then $match on paymentStatus return nothing?</a:t>
            </a:r>
          </a:p>
        </p:txBody>
      </p:sp>
      <p:sp>
        <p:nvSpPr>
          <p:cNvPr id="10" name="Rounded Rectangle 9"/>
          <p:cNvSpPr/>
          <p:nvPr/>
        </p:nvSpPr>
        <p:spPr>
          <a:xfrm>
            <a:off x="457200" y="3354019"/>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Oval 10"/>
          <p:cNvSpPr/>
          <p:nvPr/>
        </p:nvSpPr>
        <p:spPr>
          <a:xfrm>
            <a:off x="603504" y="3621024"/>
            <a:ext cx="384048" cy="384048"/>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3</a:t>
            </a:r>
          </a:p>
        </p:txBody>
      </p:sp>
      <p:sp>
        <p:nvSpPr>
          <p:cNvPr id="12" name="TextBox 11"/>
          <p:cNvSpPr txBox="1"/>
          <p:nvPr/>
        </p:nvSpPr>
        <p:spPr>
          <a:xfrm>
            <a:off x="1143000" y="3354019"/>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How is $project different from $set?</a:t>
            </a:r>
          </a:p>
        </p:txBody>
      </p:sp>
      <p:sp>
        <p:nvSpPr>
          <p:cNvPr id="13" name="Rounded Rectangle 12"/>
          <p:cNvSpPr/>
          <p:nvPr/>
        </p:nvSpPr>
        <p:spPr>
          <a:xfrm>
            <a:off x="457200" y="4381804"/>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Oval 13"/>
          <p:cNvSpPr/>
          <p:nvPr/>
        </p:nvSpPr>
        <p:spPr>
          <a:xfrm>
            <a:off x="603504" y="4648809"/>
            <a:ext cx="384048" cy="38404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4</a:t>
            </a:r>
          </a:p>
        </p:txBody>
      </p:sp>
      <p:sp>
        <p:nvSpPr>
          <p:cNvPr id="15" name="TextBox 14"/>
          <p:cNvSpPr txBox="1"/>
          <p:nvPr/>
        </p:nvSpPr>
        <p:spPr>
          <a:xfrm>
            <a:off x="1143000" y="4381804"/>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does _id mean in a $group stage?</a:t>
            </a:r>
          </a:p>
        </p:txBody>
      </p:sp>
      <p:sp>
        <p:nvSpPr>
          <p:cNvPr id="16" name="Rounded Rectangle 15"/>
          <p:cNvSpPr/>
          <p:nvPr/>
        </p:nvSpPr>
        <p:spPr>
          <a:xfrm>
            <a:off x="457200" y="5409590"/>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Oval 16"/>
          <p:cNvSpPr/>
          <p:nvPr/>
        </p:nvSpPr>
        <p:spPr>
          <a:xfrm>
            <a:off x="603504" y="5676595"/>
            <a:ext cx="384048" cy="384048"/>
          </a:xfrm>
          <a:prstGeom prst="ellipse">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5</a:t>
            </a:r>
          </a:p>
        </p:txBody>
      </p:sp>
      <p:sp>
        <p:nvSpPr>
          <p:cNvPr id="18" name="TextBox 17"/>
          <p:cNvSpPr txBox="1"/>
          <p:nvPr/>
        </p:nvSpPr>
        <p:spPr>
          <a:xfrm>
            <a:off x="1143000" y="5409590"/>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does $sum: 1 calculate?</a:t>
            </a:r>
          </a:p>
        </p:txBody>
      </p:sp>
      <p:sp>
        <p:nvSpPr>
          <p:cNvPr id="19" name="Rounded Rectangle 18"/>
          <p:cNvSpPr/>
          <p:nvPr/>
        </p:nvSpPr>
        <p:spPr>
          <a:xfrm>
            <a:off x="6263640" y="1298448"/>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0" name="Oval 19"/>
          <p:cNvSpPr/>
          <p:nvPr/>
        </p:nvSpPr>
        <p:spPr>
          <a:xfrm>
            <a:off x="6409944" y="1565452"/>
            <a:ext cx="384048" cy="384048"/>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6</a:t>
            </a:r>
          </a:p>
        </p:txBody>
      </p:sp>
      <p:sp>
        <p:nvSpPr>
          <p:cNvPr id="21" name="TextBox 20"/>
          <p:cNvSpPr txBox="1"/>
          <p:nvPr/>
        </p:nvSpPr>
        <p:spPr>
          <a:xfrm>
            <a:off x="6949440" y="1298448"/>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When do you need $unwind?</a:t>
            </a:r>
          </a:p>
        </p:txBody>
      </p:sp>
      <p:sp>
        <p:nvSpPr>
          <p:cNvPr id="22" name="Rounded Rectangle 21"/>
          <p:cNvSpPr/>
          <p:nvPr/>
        </p:nvSpPr>
        <p:spPr>
          <a:xfrm>
            <a:off x="6263640" y="2326233"/>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Oval 22"/>
          <p:cNvSpPr/>
          <p:nvPr/>
        </p:nvSpPr>
        <p:spPr>
          <a:xfrm>
            <a:off x="6409944" y="2593238"/>
            <a:ext cx="384048" cy="384048"/>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7</a:t>
            </a:r>
          </a:p>
        </p:txBody>
      </p:sp>
      <p:sp>
        <p:nvSpPr>
          <p:cNvPr id="24" name="TextBox 23"/>
          <p:cNvSpPr txBox="1"/>
          <p:nvPr/>
        </p:nvSpPr>
        <p:spPr>
          <a:xfrm>
            <a:off x="6949440" y="2326233"/>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does $lookup put in its as field?</a:t>
            </a:r>
          </a:p>
        </p:txBody>
      </p:sp>
      <p:sp>
        <p:nvSpPr>
          <p:cNvPr id="25" name="Rounded Rectangle 24"/>
          <p:cNvSpPr/>
          <p:nvPr/>
        </p:nvSpPr>
        <p:spPr>
          <a:xfrm>
            <a:off x="6263640" y="3354019"/>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Oval 25"/>
          <p:cNvSpPr/>
          <p:nvPr/>
        </p:nvSpPr>
        <p:spPr>
          <a:xfrm>
            <a:off x="6409944" y="3621024"/>
            <a:ext cx="384048" cy="38404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8</a:t>
            </a:r>
          </a:p>
        </p:txBody>
      </p:sp>
      <p:sp>
        <p:nvSpPr>
          <p:cNvPr id="27" name="TextBox 26"/>
          <p:cNvSpPr txBox="1"/>
          <p:nvPr/>
        </p:nvSpPr>
        <p:spPr>
          <a:xfrm>
            <a:off x="6949440" y="3354019"/>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Why must $sort come before $limit?</a:t>
            </a:r>
          </a:p>
        </p:txBody>
      </p:sp>
      <p:sp>
        <p:nvSpPr>
          <p:cNvPr id="28" name="Rounded Rectangle 27"/>
          <p:cNvSpPr/>
          <p:nvPr/>
        </p:nvSpPr>
        <p:spPr>
          <a:xfrm>
            <a:off x="6263640" y="4381804"/>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Oval 28"/>
          <p:cNvSpPr/>
          <p:nvPr/>
        </p:nvSpPr>
        <p:spPr>
          <a:xfrm>
            <a:off x="6409944" y="4648809"/>
            <a:ext cx="384048" cy="384048"/>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9</a:t>
            </a:r>
          </a:p>
        </p:txBody>
      </p:sp>
      <p:sp>
        <p:nvSpPr>
          <p:cNvPr id="30" name="TextBox 29"/>
          <p:cNvSpPr txBox="1"/>
          <p:nvPr/>
        </p:nvSpPr>
        <p:spPr>
          <a:xfrm>
            <a:off x="6949440" y="4381804"/>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How do you handle a missing shippingFee?</a:t>
            </a:r>
          </a:p>
        </p:txBody>
      </p:sp>
      <p:sp>
        <p:nvSpPr>
          <p:cNvPr id="31" name="Rounded Rectangle 30"/>
          <p:cNvSpPr/>
          <p:nvPr/>
        </p:nvSpPr>
        <p:spPr>
          <a:xfrm>
            <a:off x="6263640" y="5409590"/>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2" name="Oval 31"/>
          <p:cNvSpPr/>
          <p:nvPr/>
        </p:nvSpPr>
        <p:spPr>
          <a:xfrm>
            <a:off x="6409944" y="5676595"/>
            <a:ext cx="384048" cy="38404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10</a:t>
            </a:r>
          </a:p>
        </p:txBody>
      </p:sp>
      <p:sp>
        <p:nvSpPr>
          <p:cNvPr id="33" name="TextBox 32"/>
          <p:cNvSpPr txBox="1"/>
          <p:nvPr/>
        </p:nvSpPr>
        <p:spPr>
          <a:xfrm>
            <a:off x="6949440" y="5409590"/>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does a $facet stage return?</a:t>
            </a:r>
          </a:p>
        </p:txBody>
      </p:sp>
      <p:sp>
        <p:nvSpPr>
          <p:cNvPr id="34" name="Rectangle 3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5.1 — ARRANGE PIPELINE STAGES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5 checkpoint A: put six stages in the right order.</a:t>
            </a:r>
          </a:p>
        </p:txBody>
      </p:sp>
      <p:sp>
        <p:nvSpPr>
          <p:cNvPr id="4" name="Rounded Rectangle 3"/>
          <p:cNvSpPr/>
          <p:nvPr/>
        </p:nvSpPr>
        <p:spPr>
          <a:xfrm>
            <a:off x="457200" y="1298448"/>
            <a:ext cx="2436876"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CHECKPOINT A</a:t>
            </a:r>
          </a:p>
        </p:txBody>
      </p:sp>
      <p:sp>
        <p:nvSpPr>
          <p:cNvPr id="5" name="Rounded Rectangle 4"/>
          <p:cNvSpPr/>
          <p:nvPr/>
        </p:nvSpPr>
        <p:spPr>
          <a:xfrm>
            <a:off x="3031236"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10 MIN</a:t>
            </a:r>
          </a:p>
        </p:txBody>
      </p:sp>
      <p:sp>
        <p:nvSpPr>
          <p:cNvPr id="6" name="Rounded Rectangle 5"/>
          <p:cNvSpPr/>
          <p:nvPr/>
        </p:nvSpPr>
        <p:spPr>
          <a:xfrm>
            <a:off x="6551676" y="1298448"/>
            <a:ext cx="5152644"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labs/day-02/exercises/exercise-5.1-arrange-pipeline-stages.md</a:t>
            </a:r>
          </a:p>
        </p:txBody>
      </p:sp>
      <p:sp>
        <p:nvSpPr>
          <p:cNvPr id="7" name="Rounded Rectangle 6"/>
          <p:cNvSpPr/>
          <p:nvPr/>
        </p:nvSpPr>
        <p:spPr>
          <a:xfrm>
            <a:off x="457200" y="1865376"/>
            <a:ext cx="3840480" cy="319836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760476"/>
          </a:xfrm>
          <a:prstGeom prst="rect">
            <a:avLst/>
          </a:prstGeom>
          <a:noFill/>
        </p:spPr>
        <p:txBody>
          <a:bodyPr wrap="square" anchor="t" lIns="0" rIns="0" tIns="0" bIns="0">
            <a:spAutoFit/>
          </a:bodyPr>
          <a:lstStyle/>
          <a:p>
            <a:pPr algn="l"/>
            <a:r>
              <a:rPr sz="1400" b="0" i="0">
                <a:solidFill>
                  <a:srgbClr val="000000"/>
                </a:solidFill>
                <a:latin typeface="Nirmala UI"/>
              </a:rPr>
              <a:t>Top five products by line revenue from paid orders. Use each stage once. No MongoDB needed.</a:t>
            </a:r>
          </a:p>
        </p:txBody>
      </p:sp>
      <p:sp>
        <p:nvSpPr>
          <p:cNvPr id="11" name="Rounded Rectangle 10"/>
          <p:cNvSpPr/>
          <p:nvPr/>
        </p:nvSpPr>
        <p:spPr>
          <a:xfrm>
            <a:off x="566928" y="3229356"/>
            <a:ext cx="3621024" cy="67411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$limit    $unwind   $sort</a:t>
            </a:r>
          </a:p>
          <a:p>
            <a:pPr algn="l"/>
            <a:r>
              <a:rPr sz="1100" b="0" i="0">
                <a:solidFill>
                  <a:srgbClr val="000000"/>
                </a:solidFill>
                <a:latin typeface="Consolas"/>
              </a:rPr>
              <a:t>$match    $group    $set</a:t>
            </a:r>
          </a:p>
        </p:txBody>
      </p:sp>
      <p:sp>
        <p:nvSpPr>
          <p:cNvPr id="12" name="Rounded Rectangle 11"/>
          <p:cNvSpPr/>
          <p:nvPr/>
        </p:nvSpPr>
        <p:spPr>
          <a:xfrm>
            <a:off x="4526280" y="1865376"/>
            <a:ext cx="3886200" cy="319836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Propose an order for the six stages</a:t>
            </a:r>
          </a:p>
        </p:txBody>
      </p:sp>
      <p:sp>
        <p:nvSpPr>
          <p:cNvPr id="17" name="Oval 16"/>
          <p:cNvSpPr/>
          <p:nvPr/>
        </p:nvSpPr>
        <p:spPr>
          <a:xfrm>
            <a:off x="4663440" y="30490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994152"/>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Describe the documents after each one</a:t>
            </a:r>
          </a:p>
        </p:txBody>
      </p:sp>
      <p:sp>
        <p:nvSpPr>
          <p:cNvPr id="19" name="Oval 18"/>
          <p:cNvSpPr/>
          <p:nvPr/>
        </p:nvSpPr>
        <p:spPr>
          <a:xfrm>
            <a:off x="4663440" y="3647440"/>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592576"/>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Compare with the instructor's reveal</a:t>
            </a:r>
          </a:p>
        </p:txBody>
      </p:sp>
      <p:sp>
        <p:nvSpPr>
          <p:cNvPr id="21" name="Oval 20"/>
          <p:cNvSpPr/>
          <p:nvPr/>
        </p:nvSpPr>
        <p:spPr>
          <a:xfrm>
            <a:off x="4663440" y="4245864"/>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4191000"/>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Explain why $limit can't precede $sort</a:t>
            </a:r>
          </a:p>
        </p:txBody>
      </p:sp>
      <p:sp>
        <p:nvSpPr>
          <p:cNvPr id="23" name="Rounded Rectangle 22"/>
          <p:cNvSpPr/>
          <p:nvPr/>
        </p:nvSpPr>
        <p:spPr>
          <a:xfrm>
            <a:off x="8641080" y="1865376"/>
            <a:ext cx="3063240" cy="319836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Round Same Side Corner Rectangle 23"/>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TextBox 24"/>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SOLUTION (AFTER DEBRIEF)</a:t>
            </a:r>
          </a:p>
        </p:txBody>
      </p:sp>
      <p:sp>
        <p:nvSpPr>
          <p:cNvPr id="26" name="Oval 25"/>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39572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$match → $unwind → $set</a:t>
            </a:r>
          </a:p>
        </p:txBody>
      </p:sp>
      <p:sp>
        <p:nvSpPr>
          <p:cNvPr id="28" name="Oval 27"/>
          <p:cNvSpPr/>
          <p:nvPr/>
        </p:nvSpPr>
        <p:spPr>
          <a:xfrm>
            <a:off x="8778240" y="2871216"/>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816352"/>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 $group → $sort → $limit</a:t>
            </a:r>
          </a:p>
        </p:txBody>
      </p:sp>
      <p:sp>
        <p:nvSpPr>
          <p:cNvPr id="30" name="Oval 29"/>
          <p:cNvSpPr/>
          <p:nvPr/>
        </p:nvSpPr>
        <p:spPr>
          <a:xfrm>
            <a:off x="8778240" y="32918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3236976"/>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$unwind before grouping by SKU</a:t>
            </a:r>
          </a:p>
        </p:txBody>
      </p:sp>
      <p:sp>
        <p:nvSpPr>
          <p:cNvPr id="32" name="Oval 31"/>
          <p:cNvSpPr/>
          <p:nvPr/>
        </p:nvSpPr>
        <p:spPr>
          <a:xfrm>
            <a:off x="8778240" y="38409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3786124"/>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$match after $group filters groups</a:t>
            </a:r>
          </a:p>
        </p:txBody>
      </p:sp>
      <p:sp>
        <p:nvSpPr>
          <p:cNvPr id="34" name="Rounded Rectangle 3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The right order follows the data: filter, expand, compute, group, rank, cut.</a:t>
            </a:r>
          </a:p>
        </p:txBody>
      </p:sp>
      <p:sp>
        <p:nvSpPr>
          <p:cNvPr id="36" name="Rectangle 3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5.2 — BUILD A TOP-N REPORT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5 checkpoint B: four rankings, each sorted before it is limited.</a:t>
            </a:r>
          </a:p>
        </p:txBody>
      </p:sp>
      <p:sp>
        <p:nvSpPr>
          <p:cNvPr id="4" name="Rounded Rectangle 3"/>
          <p:cNvSpPr/>
          <p:nvPr/>
        </p:nvSpPr>
        <p:spPr>
          <a:xfrm>
            <a:off x="457200" y="1298448"/>
            <a:ext cx="2436876"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CHECKPOINT B</a:t>
            </a:r>
          </a:p>
        </p:txBody>
      </p:sp>
      <p:sp>
        <p:nvSpPr>
          <p:cNvPr id="5" name="Rounded Rectangle 4"/>
          <p:cNvSpPr/>
          <p:nvPr/>
        </p:nvSpPr>
        <p:spPr>
          <a:xfrm>
            <a:off x="3031236"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15 MIN</a:t>
            </a:r>
          </a:p>
        </p:txBody>
      </p:sp>
      <p:sp>
        <p:nvSpPr>
          <p:cNvPr id="6" name="Rounded Rectangle 5"/>
          <p:cNvSpPr/>
          <p:nvPr/>
        </p:nvSpPr>
        <p:spPr>
          <a:xfrm>
            <a:off x="6784848" y="1298448"/>
            <a:ext cx="4919472"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labs/day-02/exercises/exercise-5.2-build-a-top-n-report.md</a:t>
            </a:r>
          </a:p>
        </p:txBody>
      </p:sp>
      <p:sp>
        <p:nvSpPr>
          <p:cNvPr id="7" name="Rounded Rectangle 6"/>
          <p:cNvSpPr/>
          <p:nvPr/>
        </p:nvSpPr>
        <p:spPr>
          <a:xfrm>
            <a:off x="457200" y="1865376"/>
            <a:ext cx="3840480" cy="277469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543559"/>
          </a:xfrm>
          <a:prstGeom prst="rect">
            <a:avLst/>
          </a:prstGeom>
          <a:noFill/>
        </p:spPr>
        <p:txBody>
          <a:bodyPr wrap="square" anchor="t" lIns="0" rIns="0" tIns="0" bIns="0">
            <a:spAutoFit/>
          </a:bodyPr>
          <a:lstStyle/>
          <a:p>
            <a:pPr algn="l"/>
            <a:r>
              <a:rPr sz="1400" b="0" i="0">
                <a:solidFill>
                  <a:srgbClr val="000000"/>
                </a:solidFill>
                <a:latin typeface="Nirmala UI"/>
              </a:rPr>
              <a:t>Build four top-N reports from training_store.</a:t>
            </a:r>
          </a:p>
        </p:txBody>
      </p:sp>
      <p:sp>
        <p:nvSpPr>
          <p:cNvPr id="11" name="Rounded Rectangle 10"/>
          <p:cNvSpPr/>
          <p:nvPr/>
        </p:nvSpPr>
        <p:spPr>
          <a:xfrm>
            <a:off x="566928" y="3012440"/>
            <a:ext cx="3621024" cy="121894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1  Top 5 customers by paid spend</a:t>
            </a:r>
          </a:p>
          <a:p>
            <a:pPr algn="l"/>
            <a:r>
              <a:rPr sz="1100" b="0" i="0">
                <a:solidFill>
                  <a:srgbClr val="000000"/>
                </a:solidFill>
                <a:latin typeface="Consolas"/>
              </a:rPr>
              <a:t>2  Top 3 paid orders by total</a:t>
            </a:r>
          </a:p>
          <a:p>
            <a:pPr algn="l"/>
            <a:r>
              <a:rPr sz="1100" b="0" i="0">
                <a:solidFill>
                  <a:srgbClr val="000000"/>
                </a:solidFill>
                <a:latin typeface="Consolas"/>
              </a:rPr>
              <a:t>3  Top 3 SKUs by units sold</a:t>
            </a:r>
          </a:p>
          <a:p>
            <a:pPr algn="l"/>
            <a:r>
              <a:rPr sz="1100" b="0" i="0">
                <a:solidFill>
                  <a:srgbClr val="000000"/>
                </a:solidFill>
                <a:latin typeface="Consolas"/>
              </a:rPr>
              <a:t>4  Products per category</a:t>
            </a:r>
          </a:p>
          <a:p>
            <a:pPr algn="l"/>
            <a:r>
              <a:rPr sz="1100" b="0" i="0">
                <a:solidFill>
                  <a:srgbClr val="000000"/>
                </a:solidFill>
                <a:latin typeface="Consolas"/>
              </a:rPr>
              <a:t>   { $sortByCount: "$category" }</a:t>
            </a:r>
          </a:p>
        </p:txBody>
      </p:sp>
      <p:sp>
        <p:nvSpPr>
          <p:cNvPr id="12" name="Rounded Rectangle 11"/>
          <p:cNvSpPr/>
          <p:nvPr/>
        </p:nvSpPr>
        <p:spPr>
          <a:xfrm>
            <a:off x="4526280" y="1865376"/>
            <a:ext cx="3886200" cy="277469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Match PAID; group spend by customerId</a:t>
            </a:r>
          </a:p>
        </p:txBody>
      </p:sp>
      <p:sp>
        <p:nvSpPr>
          <p:cNvPr id="17" name="Oval 16"/>
          <p:cNvSpPr/>
          <p:nvPr/>
        </p:nvSpPr>
        <p:spPr>
          <a:xfrm>
            <a:off x="4663440" y="30490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9941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Sort total -1 with a tie-breaker</a:t>
            </a:r>
          </a:p>
        </p:txBody>
      </p:sp>
      <p:sp>
        <p:nvSpPr>
          <p:cNvPr id="19" name="Oval 18"/>
          <p:cNvSpPr/>
          <p:nvPr/>
        </p:nvSpPr>
        <p:spPr>
          <a:xfrm>
            <a:off x="4663440" y="35062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4513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Unwind items; sum quantity by SKU</a:t>
            </a:r>
          </a:p>
        </p:txBody>
      </p:sp>
      <p:sp>
        <p:nvSpPr>
          <p:cNvPr id="21" name="Oval 20"/>
          <p:cNvSpPr/>
          <p:nvPr/>
        </p:nvSpPr>
        <p:spPr>
          <a:xfrm>
            <a:off x="4663440" y="39634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39085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Rank categories with $sortByCount</a:t>
            </a:r>
          </a:p>
        </p:txBody>
      </p:sp>
      <p:sp>
        <p:nvSpPr>
          <p:cNvPr id="23" name="Rounded Rectangle 22"/>
          <p:cNvSpPr/>
          <p:nvPr/>
        </p:nvSpPr>
        <p:spPr>
          <a:xfrm>
            <a:off x="8641080" y="1865376"/>
            <a:ext cx="3063240" cy="277469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Round Same Side Corner Rectangle 23"/>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TextBox 24"/>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SOLUTION (AFTER DEBRIEF)</a:t>
            </a:r>
          </a:p>
        </p:txBody>
      </p:sp>
      <p:sp>
        <p:nvSpPr>
          <p:cNvPr id="26" name="Oval 25"/>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39572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C101 first: 3418.62</a:t>
            </a:r>
          </a:p>
        </p:txBody>
      </p:sp>
      <p:sp>
        <p:nvSpPr>
          <p:cNvPr id="28" name="Oval 27"/>
          <p:cNvSpPr/>
          <p:nvPr/>
        </p:nvSpPr>
        <p:spPr>
          <a:xfrm>
            <a:off x="8778240" y="2871216"/>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816352"/>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O6202, O6304 (2146.99), O6301</a:t>
            </a:r>
          </a:p>
        </p:txBody>
      </p:sp>
      <p:sp>
        <p:nvSpPr>
          <p:cNvPr id="30" name="Oval 29"/>
          <p:cNvSpPr/>
          <p:nvPr/>
        </p:nvSpPr>
        <p:spPr>
          <a:xfrm>
            <a:off x="8778240" y="3420364"/>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3365500"/>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A410 leads with 4 units</a:t>
            </a:r>
          </a:p>
        </p:txBody>
      </p:sp>
      <p:sp>
        <p:nvSpPr>
          <p:cNvPr id="32" name="Oval 31"/>
          <p:cNvSpPr/>
          <p:nvPr/>
        </p:nvSpPr>
        <p:spPr>
          <a:xfrm>
            <a:off x="8778240" y="38409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3786124"/>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ACCESSORY 5, LAPTOP 3, SHOE 3, BOOK 2</a:t>
            </a:r>
          </a:p>
        </p:txBody>
      </p:sp>
      <p:sp>
        <p:nvSpPr>
          <p:cNvPr id="34" name="Rounded Rectangle 3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Every top-N is $sort then $limit — add a tie-breaker whenever values can tie.</a:t>
            </a:r>
          </a:p>
        </p:txBody>
      </p:sp>
      <p:sp>
        <p:nvSpPr>
          <p:cNvPr id="36" name="Rectangle 3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5.3 — JOIN RELATED COLLECTIONS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5 checkpoint C: add customer names, keep the unmatched order.</a:t>
            </a:r>
          </a:p>
        </p:txBody>
      </p:sp>
      <p:sp>
        <p:nvSpPr>
          <p:cNvPr id="4" name="Rounded Rectangle 3"/>
          <p:cNvSpPr/>
          <p:nvPr/>
        </p:nvSpPr>
        <p:spPr>
          <a:xfrm>
            <a:off x="457200" y="1298448"/>
            <a:ext cx="2436876"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CHECKPOINT C</a:t>
            </a:r>
          </a:p>
        </p:txBody>
      </p:sp>
      <p:sp>
        <p:nvSpPr>
          <p:cNvPr id="5" name="Rounded Rectangle 4"/>
          <p:cNvSpPr/>
          <p:nvPr/>
        </p:nvSpPr>
        <p:spPr>
          <a:xfrm>
            <a:off x="3031236"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20 MIN</a:t>
            </a:r>
          </a:p>
        </p:txBody>
      </p:sp>
      <p:sp>
        <p:nvSpPr>
          <p:cNvPr id="6" name="Rounded Rectangle 5"/>
          <p:cNvSpPr/>
          <p:nvPr/>
        </p:nvSpPr>
        <p:spPr>
          <a:xfrm>
            <a:off x="6473952" y="1298448"/>
            <a:ext cx="5230368"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labs/day-02/exercises/exercise-5.3-join-related-collections.md</a:t>
            </a:r>
          </a:p>
        </p:txBody>
      </p:sp>
      <p:sp>
        <p:nvSpPr>
          <p:cNvPr id="7" name="Rounded Rectangle 6"/>
          <p:cNvSpPr/>
          <p:nvPr/>
        </p:nvSpPr>
        <p:spPr>
          <a:xfrm>
            <a:off x="457200" y="1865376"/>
            <a:ext cx="3840480" cy="340207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760476"/>
          </a:xfrm>
          <a:prstGeom prst="rect">
            <a:avLst/>
          </a:prstGeom>
          <a:noFill/>
        </p:spPr>
        <p:txBody>
          <a:bodyPr wrap="square" anchor="t" lIns="0" rIns="0" tIns="0" bIns="0">
            <a:spAutoFit/>
          </a:bodyPr>
          <a:lstStyle/>
          <a:p>
            <a:pPr algn="l"/>
            <a:r>
              <a:rPr sz="1400" b="0" i="0">
                <a:solidFill>
                  <a:srgbClr val="000000"/>
                </a:solidFill>
                <a:latin typeface="Nirmala UI"/>
              </a:rPr>
              <a:t>List every order with its customer number and full name, largest total first.</a:t>
            </a:r>
          </a:p>
        </p:txBody>
      </p:sp>
      <p:sp>
        <p:nvSpPr>
          <p:cNvPr id="11" name="Rounded Rectangle 10"/>
          <p:cNvSpPr/>
          <p:nvPr/>
        </p:nvSpPr>
        <p:spPr>
          <a:xfrm>
            <a:off x="566928" y="3229356"/>
            <a:ext cx="3621024" cy="176377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 $lookup: { from: "customers",</a:t>
            </a:r>
          </a:p>
          <a:p>
            <a:pPr algn="l"/>
            <a:r>
              <a:rPr sz="1100" b="0" i="0">
                <a:solidFill>
                  <a:srgbClr val="000000"/>
                </a:solidFill>
                <a:latin typeface="Consolas"/>
              </a:rPr>
              <a:t>    localField: "customerId",</a:t>
            </a:r>
          </a:p>
          <a:p>
            <a:pPr algn="l"/>
            <a:r>
              <a:rPr sz="1100" b="0" i="0">
                <a:solidFill>
                  <a:srgbClr val="000000"/>
                </a:solidFill>
                <a:latin typeface="Consolas"/>
              </a:rPr>
              <a:t>    foreignField: "_id",</a:t>
            </a:r>
          </a:p>
          <a:p>
            <a:pPr algn="l"/>
            <a:r>
              <a:rPr sz="1100" b="0" i="0">
                <a:solidFill>
                  <a:srgbClr val="000000"/>
                </a:solidFill>
                <a:latin typeface="Consolas"/>
              </a:rPr>
              <a:t>    as: "customer" } },</a:t>
            </a:r>
          </a:p>
          <a:p>
            <a:pPr algn="l"/>
            <a:r>
              <a:rPr sz="1100" b="0" i="0">
                <a:solidFill>
                  <a:srgbClr val="000000"/>
                </a:solidFill>
                <a:latin typeface="Consolas"/>
              </a:rPr>
              <a:t>{ $unwind: { path: "$customer",</a:t>
            </a:r>
          </a:p>
          <a:p>
            <a:pPr algn="l"/>
            <a:r>
              <a:rPr sz="1100" b="0" i="0">
                <a:solidFill>
                  <a:srgbClr val="000000"/>
                </a:solidFill>
                <a:latin typeface="Consolas"/>
              </a:rPr>
              <a:t>    preserveNullAndEmptyArrays:</a:t>
            </a:r>
          </a:p>
          <a:p>
            <a:pPr algn="l"/>
            <a:r>
              <a:rPr sz="1100" b="0" i="0">
                <a:solidFill>
                  <a:srgbClr val="000000"/>
                </a:solidFill>
                <a:latin typeface="Consolas"/>
              </a:rPr>
              <a:t>      true } },</a:t>
            </a:r>
          </a:p>
          <a:p>
            <a:pPr algn="l"/>
            <a:r>
              <a:rPr sz="1100" b="0" i="0">
                <a:solidFill>
                  <a:srgbClr val="000000"/>
                </a:solidFill>
                <a:latin typeface="Consolas"/>
              </a:rPr>
              <a:t>{ $project: … }, { $sort: … }</a:t>
            </a:r>
          </a:p>
        </p:txBody>
      </p:sp>
      <p:sp>
        <p:nvSpPr>
          <p:cNvPr id="12" name="Rounded Rectangle 11"/>
          <p:cNvSpPr/>
          <p:nvPr/>
        </p:nvSpPr>
        <p:spPr>
          <a:xfrm>
            <a:off x="4526280" y="1865376"/>
            <a:ext cx="3886200" cy="340207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Join orders to customers</a:t>
            </a:r>
          </a:p>
        </p:txBody>
      </p:sp>
      <p:sp>
        <p:nvSpPr>
          <p:cNvPr id="17" name="Oval 16"/>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8529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Unwind, keeping empty matches</a:t>
            </a:r>
          </a:p>
        </p:txBody>
      </p:sp>
      <p:sp>
        <p:nvSpPr>
          <p:cNvPr id="19" name="Oval 18"/>
          <p:cNvSpPr/>
          <p:nvPr/>
        </p:nvSpPr>
        <p:spPr>
          <a:xfrm>
            <a:off x="4663440" y="33649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3101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Project number and $concat name</a:t>
            </a:r>
          </a:p>
        </p:txBody>
      </p:sp>
      <p:sp>
        <p:nvSpPr>
          <p:cNvPr id="21" name="Oval 20"/>
          <p:cNvSpPr/>
          <p:nvPr/>
        </p:nvSpPr>
        <p:spPr>
          <a:xfrm>
            <a:off x="4663440" y="3822191"/>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37673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Find the order with no customer</a:t>
            </a:r>
          </a:p>
        </p:txBody>
      </p:sp>
      <p:sp>
        <p:nvSpPr>
          <p:cNvPr id="23" name="Rounded Rectangle 22"/>
          <p:cNvSpPr/>
          <p:nvPr/>
        </p:nvSpPr>
        <p:spPr>
          <a:xfrm>
            <a:off x="8641080" y="1865376"/>
            <a:ext cx="3063240" cy="340207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Round Same Side Corner Rectangle 23"/>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TextBox 24"/>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SOLUTION (AFTER DEBRIEF)</a:t>
            </a:r>
          </a:p>
        </p:txBody>
      </p:sp>
      <p:sp>
        <p:nvSpPr>
          <p:cNvPr id="26" name="Oval 25"/>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395728"/>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17 rows; O6401 first (2945.98)</a:t>
            </a:r>
          </a:p>
        </p:txBody>
      </p:sp>
      <p:sp>
        <p:nvSpPr>
          <p:cNvPr id="28" name="Oval 27"/>
          <p:cNvSpPr/>
          <p:nvPr/>
        </p:nvSpPr>
        <p:spPr>
          <a:xfrm>
            <a:off x="8778240" y="29997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944876"/>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Names such as Aisha Khan</a:t>
            </a:r>
          </a:p>
        </p:txBody>
      </p:sp>
      <p:sp>
        <p:nvSpPr>
          <p:cNvPr id="30" name="Oval 29"/>
          <p:cNvSpPr/>
          <p:nvPr/>
        </p:nvSpPr>
        <p:spPr>
          <a:xfrm>
            <a:off x="8778240" y="3420364"/>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3365500"/>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O6499: no customerNumber</a:t>
            </a:r>
          </a:p>
        </p:txBody>
      </p:sp>
      <p:sp>
        <p:nvSpPr>
          <p:cNvPr id="32" name="Oval 31"/>
          <p:cNvSpPr/>
          <p:nvPr/>
        </p:nvSpPr>
        <p:spPr>
          <a:xfrm>
            <a:off x="8778240" y="38409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3786124"/>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Kept by preserveNullAndEmptyArrays</a:t>
            </a:r>
          </a:p>
        </p:txBody>
      </p:sp>
      <p:sp>
        <p:nvSpPr>
          <p:cNvPr id="34" name="Rounded Rectangle 3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$lookup returns an array — decide deliberately what happens when it is empty.</a:t>
            </a:r>
          </a:p>
        </p:txBody>
      </p:sp>
      <p:sp>
        <p:nvSpPr>
          <p:cNvPr id="36" name="Rectangle 3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5.4 — CORRECT A BROKEN PIPELINE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5 checkpoint D: find the defects, then rewrite and run it.</a:t>
            </a:r>
          </a:p>
        </p:txBody>
      </p:sp>
      <p:sp>
        <p:nvSpPr>
          <p:cNvPr id="4" name="Rounded Rectangle 3"/>
          <p:cNvSpPr/>
          <p:nvPr/>
        </p:nvSpPr>
        <p:spPr>
          <a:xfrm>
            <a:off x="457200" y="1298448"/>
            <a:ext cx="2436876"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CHECKPOINT D</a:t>
            </a:r>
          </a:p>
        </p:txBody>
      </p:sp>
      <p:sp>
        <p:nvSpPr>
          <p:cNvPr id="5" name="Rounded Rectangle 4"/>
          <p:cNvSpPr/>
          <p:nvPr/>
        </p:nvSpPr>
        <p:spPr>
          <a:xfrm>
            <a:off x="3031236"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15 MIN</a:t>
            </a:r>
          </a:p>
        </p:txBody>
      </p:sp>
      <p:sp>
        <p:nvSpPr>
          <p:cNvPr id="6" name="Rounded Rectangle 5"/>
          <p:cNvSpPr/>
          <p:nvPr/>
        </p:nvSpPr>
        <p:spPr>
          <a:xfrm>
            <a:off x="6396228" y="1298448"/>
            <a:ext cx="5308092"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labs/day-02/exercises/exercise-5.4-correct-a-broken-pipeline.md</a:t>
            </a:r>
          </a:p>
        </p:txBody>
      </p:sp>
      <p:sp>
        <p:nvSpPr>
          <p:cNvPr id="7" name="Rounded Rectangle 6"/>
          <p:cNvSpPr/>
          <p:nvPr/>
        </p:nvSpPr>
        <p:spPr>
          <a:xfrm>
            <a:off x="457200" y="1865376"/>
            <a:ext cx="3840480" cy="342188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543559"/>
          </a:xfrm>
          <a:prstGeom prst="rect">
            <a:avLst/>
          </a:prstGeom>
          <a:noFill/>
        </p:spPr>
        <p:txBody>
          <a:bodyPr wrap="square" anchor="t" lIns="0" rIns="0" tIns="0" bIns="0">
            <a:spAutoFit/>
          </a:bodyPr>
          <a:lstStyle/>
          <a:p>
            <a:pPr algn="l"/>
            <a:r>
              <a:rPr sz="1400" b="0" i="0">
                <a:solidFill>
                  <a:srgbClr val="000000"/>
                </a:solidFill>
                <a:latin typeface="Nirmala UI"/>
              </a:rPr>
              <a:t>This pipeline should report product revenue.</a:t>
            </a:r>
          </a:p>
        </p:txBody>
      </p:sp>
      <p:sp>
        <p:nvSpPr>
          <p:cNvPr id="11" name="Rounded Rectangle 10"/>
          <p:cNvSpPr/>
          <p:nvPr/>
        </p:nvSpPr>
        <p:spPr>
          <a:xfrm>
            <a:off x="566928" y="3012440"/>
            <a:ext cx="3621024" cy="176377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 $limit: 3 },</a:t>
            </a:r>
          </a:p>
          <a:p>
            <a:pPr algn="l"/>
            <a:r>
              <a:rPr sz="1100" b="0" i="0">
                <a:solidFill>
                  <a:srgbClr val="000000"/>
                </a:solidFill>
                <a:latin typeface="Consolas"/>
              </a:rPr>
              <a:t>{ $group: { _id: "items.sku",</a:t>
            </a:r>
          </a:p>
          <a:p>
            <a:pPr algn="l"/>
            <a:r>
              <a:rPr sz="1100" b="0" i="0">
                <a:solidFill>
                  <a:srgbClr val="000000"/>
                </a:solidFill>
                <a:latin typeface="Consolas"/>
              </a:rPr>
              <a:t>    unitsSold: { $sum: "$quantity" },</a:t>
            </a:r>
          </a:p>
          <a:p>
            <a:pPr algn="l"/>
            <a:r>
              <a:rPr sz="1100" b="0" i="0">
                <a:solidFill>
                  <a:srgbClr val="000000"/>
                </a:solidFill>
                <a:latin typeface="Consolas"/>
              </a:rPr>
              <a:t>    revenue: { $sum: "$total" } } },</a:t>
            </a:r>
          </a:p>
          <a:p>
            <a:pPr algn="l"/>
            <a:r>
              <a:rPr sz="1100" b="0" i="0">
                <a:solidFill>
                  <a:srgbClr val="000000"/>
                </a:solidFill>
                <a:latin typeface="Consolas"/>
              </a:rPr>
              <a:t>{ $sort: { revenue: -1 } },</a:t>
            </a:r>
          </a:p>
          <a:p>
            <a:pPr algn="l"/>
            <a:r>
              <a:rPr sz="1100" b="0" i="0">
                <a:solidFill>
                  <a:srgbClr val="000000"/>
                </a:solidFill>
                <a:latin typeface="Consolas"/>
              </a:rPr>
              <a:t>{ $lookup: { from: "customers", … } },</a:t>
            </a:r>
          </a:p>
          <a:p>
            <a:pPr algn="l"/>
            <a:r>
              <a:rPr sz="1100" b="0" i="0">
                <a:solidFill>
                  <a:srgbClr val="000000"/>
                </a:solidFill>
                <a:latin typeface="Consolas"/>
              </a:rPr>
              <a:t>{ $project: { sku:</a:t>
            </a:r>
          </a:p>
          <a:p>
            <a:pPr algn="l"/>
            <a:r>
              <a:rPr sz="1100" b="0" i="0">
                <a:solidFill>
                  <a:srgbClr val="000000"/>
                </a:solidFill>
                <a:latin typeface="Consolas"/>
              </a:rPr>
              <a:t>    "$customer.customerNumber" } }</a:t>
            </a:r>
          </a:p>
        </p:txBody>
      </p:sp>
      <p:sp>
        <p:nvSpPr>
          <p:cNvPr id="12" name="Rounded Rectangle 11"/>
          <p:cNvSpPr/>
          <p:nvPr/>
        </p:nvSpPr>
        <p:spPr>
          <a:xfrm>
            <a:off x="4526280" y="1865376"/>
            <a:ext cx="3886200" cy="342188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List at least five defects</a:t>
            </a:r>
          </a:p>
        </p:txBody>
      </p:sp>
      <p:sp>
        <p:nvSpPr>
          <p:cNvPr id="17" name="Oval 16"/>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8529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Name the symptom each one causes</a:t>
            </a:r>
          </a:p>
        </p:txBody>
      </p:sp>
      <p:sp>
        <p:nvSpPr>
          <p:cNvPr id="19" name="Oval 18"/>
          <p:cNvSpPr/>
          <p:nvPr/>
        </p:nvSpPr>
        <p:spPr>
          <a:xfrm>
            <a:off x="4663440" y="33649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3101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Rewrite: match, unwind, set, group, sort, limit</a:t>
            </a:r>
          </a:p>
        </p:txBody>
      </p:sp>
      <p:sp>
        <p:nvSpPr>
          <p:cNvPr id="21" name="Oval 20"/>
          <p:cNvSpPr/>
          <p:nvPr/>
        </p:nvSpPr>
        <p:spPr>
          <a:xfrm>
            <a:off x="4663440" y="39634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39085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Run it and name the top SKU</a:t>
            </a:r>
          </a:p>
        </p:txBody>
      </p:sp>
      <p:sp>
        <p:nvSpPr>
          <p:cNvPr id="23" name="Rounded Rectangle 22"/>
          <p:cNvSpPr/>
          <p:nvPr/>
        </p:nvSpPr>
        <p:spPr>
          <a:xfrm>
            <a:off x="8641080" y="1865376"/>
            <a:ext cx="3063240" cy="342188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Round Same Side Corner Rectangle 23"/>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TextBox 24"/>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SOLUTION (AFTER DEBRIEF)</a:t>
            </a:r>
          </a:p>
        </p:txBody>
      </p:sp>
      <p:sp>
        <p:nvSpPr>
          <p:cNvPr id="26" name="Oval 25"/>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395728"/>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$limit first; no PAID filter</a:t>
            </a:r>
          </a:p>
        </p:txBody>
      </p:sp>
      <p:sp>
        <p:nvSpPr>
          <p:cNvPr id="28" name="Oval 27"/>
          <p:cNvSpPr/>
          <p:nvPr/>
        </p:nvSpPr>
        <p:spPr>
          <a:xfrm>
            <a:off x="8778240" y="29997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944876"/>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"items.sku" lacks $: one group</a:t>
            </a:r>
          </a:p>
        </p:txBody>
      </p:sp>
      <p:sp>
        <p:nvSpPr>
          <p:cNvPr id="30" name="Oval 29"/>
          <p:cNvSpPr/>
          <p:nvPr/>
        </p:nvSpPr>
        <p:spPr>
          <a:xfrm>
            <a:off x="8778240" y="35488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3494023"/>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No $unwind; quantity is under items</a:t>
            </a:r>
          </a:p>
        </p:txBody>
      </p:sp>
      <p:sp>
        <p:nvSpPr>
          <p:cNvPr id="32" name="Oval 31"/>
          <p:cNvSpPr/>
          <p:nvPr/>
        </p:nvSpPr>
        <p:spPr>
          <a:xfrm>
            <a:off x="8778240" y="4098035"/>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4043171"/>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total is not line revenue</a:t>
            </a:r>
          </a:p>
        </p:txBody>
      </p:sp>
      <p:sp>
        <p:nvSpPr>
          <p:cNvPr id="34" name="Oval 33"/>
          <p:cNvSpPr/>
          <p:nvPr/>
        </p:nvSpPr>
        <p:spPr>
          <a:xfrm>
            <a:off x="8778240" y="4518659"/>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5" name="TextBox 34"/>
          <p:cNvSpPr txBox="1"/>
          <p:nvPr/>
        </p:nvSpPr>
        <p:spPr>
          <a:xfrm>
            <a:off x="9116567" y="4463795"/>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No $lookup needed; L110 is first</a:t>
            </a:r>
          </a:p>
        </p:txBody>
      </p:sp>
      <p:sp>
        <p:nvSpPr>
          <p:cNvPr id="36" name="Rounded Rectangle 3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Debug a pipeline stage by stage: field paths first, then stage order.</a:t>
            </a:r>
          </a:p>
        </p:txBody>
      </p:sp>
      <p:sp>
        <p:nvSpPr>
          <p:cNvPr id="38" name="Rectangle 3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LAB 4 — AGGREGATION PIPELINE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Day 2 hands-on: top product categories for completed paid sales.</a:t>
            </a:r>
          </a:p>
        </p:txBody>
      </p:sp>
      <p:sp>
        <p:nvSpPr>
          <p:cNvPr id="4" name="Rounded Rectangle 3"/>
          <p:cNvSpPr/>
          <p:nvPr/>
        </p:nvSpPr>
        <p:spPr>
          <a:xfrm>
            <a:off x="457200" y="1298448"/>
            <a:ext cx="1490472"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LAB</a:t>
            </a:r>
          </a:p>
        </p:txBody>
      </p:sp>
      <p:sp>
        <p:nvSpPr>
          <p:cNvPr id="5" name="Rounded Rectangle 4"/>
          <p:cNvSpPr/>
          <p:nvPr/>
        </p:nvSpPr>
        <p:spPr>
          <a:xfrm>
            <a:off x="2084831"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60 MIN</a:t>
            </a:r>
          </a:p>
        </p:txBody>
      </p:sp>
      <p:sp>
        <p:nvSpPr>
          <p:cNvPr id="6" name="Rounded Rectangle 5"/>
          <p:cNvSpPr/>
          <p:nvPr/>
        </p:nvSpPr>
        <p:spPr>
          <a:xfrm>
            <a:off x="8883396" y="1298448"/>
            <a:ext cx="2820924"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labs/day-02/lab4/LAB-4-GUIDE.md</a:t>
            </a:r>
          </a:p>
        </p:txBody>
      </p:sp>
      <p:sp>
        <p:nvSpPr>
          <p:cNvPr id="7" name="Rounded Rectangle 6"/>
          <p:cNvSpPr/>
          <p:nvPr/>
        </p:nvSpPr>
        <p:spPr>
          <a:xfrm>
            <a:off x="457200" y="1865376"/>
            <a:ext cx="3840480" cy="329336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760476"/>
          </a:xfrm>
          <a:prstGeom prst="rect">
            <a:avLst/>
          </a:prstGeom>
          <a:noFill/>
        </p:spPr>
        <p:txBody>
          <a:bodyPr wrap="square" anchor="t" lIns="0" rIns="0" tIns="0" bIns="0">
            <a:spAutoFit/>
          </a:bodyPr>
          <a:lstStyle/>
          <a:p>
            <a:pPr algn="l"/>
            <a:r>
              <a:rPr sz="1400" b="0" i="0">
                <a:solidFill>
                  <a:srgbClr val="000000"/>
                </a:solidFill>
                <a:latin typeface="Nirmala UI"/>
              </a:rPr>
              <a:t>Rank categories for PAID orders that are SHIPPED or DELIVERED. Reload load.js first.</a:t>
            </a:r>
          </a:p>
        </p:txBody>
      </p:sp>
      <p:sp>
        <p:nvSpPr>
          <p:cNvPr id="11" name="Rounded Rectangle 10"/>
          <p:cNvSpPr/>
          <p:nvPr/>
        </p:nvSpPr>
        <p:spPr>
          <a:xfrm>
            <a:off x="566928" y="3229356"/>
            <a:ext cx="3621024" cy="103733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$match → $unwind → $set lineSales</a:t>
            </a:r>
          </a:p>
          <a:p>
            <a:pPr algn="l"/>
            <a:r>
              <a:rPr sz="1100" b="0" i="0">
                <a:solidFill>
                  <a:srgbClr val="000000"/>
                </a:solidFill>
                <a:latin typeface="Consolas"/>
              </a:rPr>
              <a:t>→ $lookup products → $unwind</a:t>
            </a:r>
          </a:p>
          <a:p>
            <a:pPr algn="l"/>
            <a:r>
              <a:rPr sz="1100" b="0" i="0">
                <a:solidFill>
                  <a:srgbClr val="000000"/>
                </a:solidFill>
                <a:latin typeface="Consolas"/>
              </a:rPr>
              <a:t>→ $group by category → $set</a:t>
            </a:r>
          </a:p>
          <a:p>
            <a:pPr algn="l"/>
            <a:r>
              <a:rPr sz="1100" b="0" i="0">
                <a:solidFill>
                  <a:srgbClr val="000000"/>
                </a:solidFill>
                <a:latin typeface="Consolas"/>
              </a:rPr>
              <a:t>→ $match ≥ 50 → $sort → $limit</a:t>
            </a:r>
          </a:p>
        </p:txBody>
      </p:sp>
      <p:sp>
        <p:nvSpPr>
          <p:cNvPr id="12" name="Rounded Rectangle 11"/>
          <p:cNvSpPr/>
          <p:nvPr/>
        </p:nvSpPr>
        <p:spPr>
          <a:xfrm>
            <a:off x="4526280" y="1865376"/>
            <a:ext cx="3886200" cy="329336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0 Reload; count the collections</a:t>
            </a:r>
          </a:p>
        </p:txBody>
      </p:sp>
      <p:sp>
        <p:nvSpPr>
          <p:cNvPr id="17" name="Oval 16"/>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8529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1 Count the completed paid orders</a:t>
            </a:r>
          </a:p>
        </p:txBody>
      </p:sp>
      <p:sp>
        <p:nvSpPr>
          <p:cNvPr id="19" name="Oval 18"/>
          <p:cNvSpPr/>
          <p:nvPr/>
        </p:nvSpPr>
        <p:spPr>
          <a:xfrm>
            <a:off x="4663440" y="33649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3101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2 Unwind; compute lineSales</a:t>
            </a:r>
          </a:p>
        </p:txBody>
      </p:sp>
      <p:sp>
        <p:nvSpPr>
          <p:cNvPr id="21" name="Oval 20"/>
          <p:cNvSpPr/>
          <p:nvPr/>
        </p:nvSpPr>
        <p:spPr>
          <a:xfrm>
            <a:off x="4663440" y="3822191"/>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37673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3 Join products; group by category</a:t>
            </a:r>
          </a:p>
        </p:txBody>
      </p:sp>
      <p:sp>
        <p:nvSpPr>
          <p:cNvPr id="23" name="Oval 22"/>
          <p:cNvSpPr/>
          <p:nvPr/>
        </p:nvSpPr>
        <p:spPr>
          <a:xfrm>
            <a:off x="4663440" y="42793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24" name="TextBox 23"/>
          <p:cNvSpPr txBox="1"/>
          <p:nvPr/>
        </p:nvSpPr>
        <p:spPr>
          <a:xfrm>
            <a:off x="5056632" y="42245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4 Prove one number; 5 explain</a:t>
            </a:r>
          </a:p>
        </p:txBody>
      </p:sp>
      <p:sp>
        <p:nvSpPr>
          <p:cNvPr id="25" name="Rounded Rectangle 24"/>
          <p:cNvSpPr/>
          <p:nvPr/>
        </p:nvSpPr>
        <p:spPr>
          <a:xfrm>
            <a:off x="8641080" y="1865376"/>
            <a:ext cx="3063240" cy="329336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Round Same Side Corner Rectangle 25"/>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7" name="TextBox 26"/>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EXPECTED RESULTS</a:t>
            </a:r>
          </a:p>
        </p:txBody>
      </p:sp>
      <p:sp>
        <p:nvSpPr>
          <p:cNvPr id="28" name="Oval 27"/>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39572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13 · 6 · 17 · 6; 13 PAID</a:t>
            </a:r>
          </a:p>
        </p:txBody>
      </p:sp>
      <p:sp>
        <p:nvSpPr>
          <p:cNvPr id="30" name="Oval 29"/>
          <p:cNvSpPr/>
          <p:nvPr/>
        </p:nvSpPr>
        <p:spPr>
          <a:xfrm>
            <a:off x="8778240" y="2871216"/>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2816352"/>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10 orders, 18 lines</a:t>
            </a:r>
          </a:p>
        </p:txBody>
      </p:sp>
      <p:sp>
        <p:nvSpPr>
          <p:cNvPr id="32" name="Oval 31"/>
          <p:cNvSpPr/>
          <p:nvPr/>
        </p:nvSpPr>
        <p:spPr>
          <a:xfrm>
            <a:off x="8778240" y="32918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3236976"/>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quantity × unitPrice, Decimal128</a:t>
            </a:r>
          </a:p>
        </p:txBody>
      </p:sp>
      <p:sp>
        <p:nvSpPr>
          <p:cNvPr id="34" name="Oval 33"/>
          <p:cNvSpPr/>
          <p:nvPr/>
        </p:nvSpPr>
        <p:spPr>
          <a:xfrm>
            <a:off x="8778240" y="38409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5" name="TextBox 34"/>
          <p:cNvSpPr txBox="1"/>
          <p:nvPr/>
        </p:nvSpPr>
        <p:spPr>
          <a:xfrm>
            <a:off x="9116567" y="3786124"/>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LAPTOP 4499.97; 4 categories</a:t>
            </a:r>
          </a:p>
        </p:txBody>
      </p:sp>
      <p:sp>
        <p:nvSpPr>
          <p:cNvPr id="36" name="Oval 35"/>
          <p:cNvSpPr/>
          <p:nvPr/>
        </p:nvSpPr>
        <p:spPr>
          <a:xfrm>
            <a:off x="8778240" y="4390135"/>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7" name="TextBox 36"/>
          <p:cNvSpPr txBox="1"/>
          <p:nvPr/>
        </p:nvSpPr>
        <p:spPr>
          <a:xfrm>
            <a:off x="9116567" y="4335272"/>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3 laptop units; $match first</a:t>
            </a:r>
          </a:p>
        </p:txBody>
      </p:sp>
      <p:sp>
        <p:nvSpPr>
          <p:cNvPr id="38" name="Rounded Rectangle 37"/>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One pipeline, built and checked stage by stage, turns 17 orders into a ranked category report.</a:t>
            </a:r>
          </a:p>
        </p:txBody>
      </p:sp>
      <p:sp>
        <p:nvSpPr>
          <p:cNvPr id="40" name="Rectangle 3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MODULE 5 SUMMARY AND WHAT'S NEXT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From one $match to a multi-metric sales report.</a:t>
            </a:r>
          </a:p>
        </p:txBody>
      </p:sp>
      <p:sp>
        <p:nvSpPr>
          <p:cNvPr id="4" name="Rounded Rectangle 3"/>
          <p:cNvSpPr/>
          <p:nvPr/>
        </p:nvSpPr>
        <p:spPr>
          <a:xfrm>
            <a:off x="457200" y="1298448"/>
            <a:ext cx="5577840" cy="453542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Round Same Side Corner Rectangle 4"/>
          <p:cNvSpPr/>
          <p:nvPr/>
        </p:nvSpPr>
        <p:spPr>
          <a:xfrm>
            <a:off x="457200" y="1298448"/>
            <a:ext cx="55778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6" name="TextBox 5"/>
          <p:cNvSpPr txBox="1"/>
          <p:nvPr/>
        </p:nvSpPr>
        <p:spPr>
          <a:xfrm>
            <a:off x="594360" y="1298448"/>
            <a:ext cx="5303520" cy="420624"/>
          </a:xfrm>
          <a:prstGeom prst="rect">
            <a:avLst/>
          </a:prstGeom>
          <a:noFill/>
        </p:spPr>
        <p:txBody>
          <a:bodyPr wrap="square" anchor="ctr" lIns="0" rIns="0" tIns="0" bIns="0">
            <a:spAutoFit/>
          </a:bodyPr>
          <a:lstStyle/>
          <a:p>
            <a:pPr algn="l"/>
            <a:r>
              <a:rPr sz="1400" b="1" i="0">
                <a:solidFill>
                  <a:srgbClr val="FFFFFF"/>
                </a:solidFill>
                <a:latin typeface="Nirmala UI"/>
              </a:rPr>
              <a:t>YOU CAN NOW</a:t>
            </a:r>
          </a:p>
        </p:txBody>
      </p:sp>
      <p:sp>
        <p:nvSpPr>
          <p:cNvPr id="7" name="Oval 6"/>
          <p:cNvSpPr/>
          <p:nvPr/>
        </p:nvSpPr>
        <p:spPr>
          <a:xfrm>
            <a:off x="640080" y="2029967"/>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8" name="TextBox 7"/>
          <p:cNvSpPr txBox="1"/>
          <p:nvPr/>
        </p:nvSpPr>
        <p:spPr>
          <a:xfrm>
            <a:off x="1051560" y="1874519"/>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Explain how documents flow through a pipeline</a:t>
            </a:r>
          </a:p>
        </p:txBody>
      </p:sp>
      <p:sp>
        <p:nvSpPr>
          <p:cNvPr id="9" name="Oval 8"/>
          <p:cNvSpPr/>
          <p:nvPr/>
        </p:nvSpPr>
        <p:spPr>
          <a:xfrm>
            <a:off x="640080" y="263347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0" name="TextBox 9"/>
          <p:cNvSpPr txBox="1"/>
          <p:nvPr/>
        </p:nvSpPr>
        <p:spPr>
          <a:xfrm>
            <a:off x="1051560" y="2478024"/>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Filter and shape with $match, $project, $set</a:t>
            </a:r>
          </a:p>
        </p:txBody>
      </p:sp>
      <p:sp>
        <p:nvSpPr>
          <p:cNvPr id="11" name="Oval 10"/>
          <p:cNvSpPr/>
          <p:nvPr/>
        </p:nvSpPr>
        <p:spPr>
          <a:xfrm>
            <a:off x="640080" y="3236976"/>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2" name="TextBox 11"/>
          <p:cNvSpPr txBox="1"/>
          <p:nvPr/>
        </p:nvSpPr>
        <p:spPr>
          <a:xfrm>
            <a:off x="1051560" y="3081528"/>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Summarize with $group and accumulators</a:t>
            </a:r>
          </a:p>
        </p:txBody>
      </p:sp>
      <p:sp>
        <p:nvSpPr>
          <p:cNvPr id="13" name="Oval 12"/>
          <p:cNvSpPr/>
          <p:nvPr/>
        </p:nvSpPr>
        <p:spPr>
          <a:xfrm>
            <a:off x="640080" y="3840479"/>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4" name="TextBox 13"/>
          <p:cNvSpPr txBox="1"/>
          <p:nvPr/>
        </p:nvSpPr>
        <p:spPr>
          <a:xfrm>
            <a:off x="1051560" y="3685031"/>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Expand items with $unwind; join with $lookup</a:t>
            </a:r>
          </a:p>
        </p:txBody>
      </p:sp>
      <p:sp>
        <p:nvSpPr>
          <p:cNvPr id="15" name="Oval 14"/>
          <p:cNvSpPr/>
          <p:nvPr/>
        </p:nvSpPr>
        <p:spPr>
          <a:xfrm>
            <a:off x="640080" y="4443983"/>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6" name="TextBox 15"/>
          <p:cNvSpPr txBox="1"/>
          <p:nvPr/>
        </p:nvSpPr>
        <p:spPr>
          <a:xfrm>
            <a:off x="1051560" y="4288536"/>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Build monthly, banded and $facet reports</a:t>
            </a:r>
          </a:p>
        </p:txBody>
      </p:sp>
      <p:sp>
        <p:nvSpPr>
          <p:cNvPr id="17" name="Oval 16"/>
          <p:cNvSpPr/>
          <p:nvPr/>
        </p:nvSpPr>
        <p:spPr>
          <a:xfrm>
            <a:off x="640080" y="50474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8" name="TextBox 17"/>
          <p:cNvSpPr txBox="1"/>
          <p:nvPr/>
        </p:nvSpPr>
        <p:spPr>
          <a:xfrm>
            <a:off x="1051560" y="4892040"/>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Order stages for correct, cheap pipelines</a:t>
            </a:r>
          </a:p>
        </p:txBody>
      </p:sp>
      <p:sp>
        <p:nvSpPr>
          <p:cNvPr id="19" name="Rounded Rectangle 18"/>
          <p:cNvSpPr/>
          <p:nvPr/>
        </p:nvSpPr>
        <p:spPr>
          <a:xfrm>
            <a:off x="6400800" y="1298448"/>
            <a:ext cx="5303520" cy="27889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0" name="Round Same Side Corner Rectangle 19"/>
          <p:cNvSpPr/>
          <p:nvPr/>
        </p:nvSpPr>
        <p:spPr>
          <a:xfrm>
            <a:off x="6400800" y="1298448"/>
            <a:ext cx="530352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1" name="TextBox 20"/>
          <p:cNvSpPr txBox="1"/>
          <p:nvPr/>
        </p:nvSpPr>
        <p:spPr>
          <a:xfrm>
            <a:off x="6537960" y="1298448"/>
            <a:ext cx="5029200" cy="420624"/>
          </a:xfrm>
          <a:prstGeom prst="rect">
            <a:avLst/>
          </a:prstGeom>
          <a:noFill/>
        </p:spPr>
        <p:txBody>
          <a:bodyPr wrap="square" anchor="ctr" lIns="0" rIns="0" tIns="0" bIns="0">
            <a:spAutoFit/>
          </a:bodyPr>
          <a:lstStyle/>
          <a:p>
            <a:pPr algn="l"/>
            <a:r>
              <a:rPr sz="1300" b="1" i="0">
                <a:solidFill>
                  <a:srgbClr val="FFFFFF"/>
                </a:solidFill>
                <a:latin typeface="Nirmala UI"/>
              </a:rPr>
              <a:t>NEXT: MODULE 6 — INDEXING AND QUERY PERFORMANCE</a:t>
            </a:r>
          </a:p>
        </p:txBody>
      </p:sp>
      <p:sp>
        <p:nvSpPr>
          <p:cNvPr id="22" name="Oval 21"/>
          <p:cNvSpPr/>
          <p:nvPr/>
        </p:nvSpPr>
        <p:spPr>
          <a:xfrm>
            <a:off x="6583680" y="1956816"/>
            <a:ext cx="347472" cy="34747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1</a:t>
            </a:r>
          </a:p>
        </p:txBody>
      </p:sp>
      <p:sp>
        <p:nvSpPr>
          <p:cNvPr id="23" name="TextBox 22"/>
          <p:cNvSpPr txBox="1"/>
          <p:nvPr/>
        </p:nvSpPr>
        <p:spPr>
          <a:xfrm>
            <a:off x="7059168" y="1847088"/>
            <a:ext cx="4480560" cy="566928"/>
          </a:xfrm>
          <a:prstGeom prst="rect">
            <a:avLst/>
          </a:prstGeom>
          <a:noFill/>
        </p:spPr>
        <p:txBody>
          <a:bodyPr wrap="square" anchor="ctr" lIns="0" rIns="0" tIns="0" bIns="0">
            <a:spAutoFit/>
          </a:bodyPr>
          <a:lstStyle/>
          <a:p>
            <a:pPr algn="l"/>
            <a:r>
              <a:rPr sz="1500" b="0" i="0">
                <a:solidFill>
                  <a:srgbClr val="000000"/>
                </a:solidFill>
                <a:latin typeface="Nirmala UI"/>
              </a:rPr>
              <a:t>Which index supports our first $match?</a:t>
            </a:r>
          </a:p>
        </p:txBody>
      </p:sp>
      <p:sp>
        <p:nvSpPr>
          <p:cNvPr id="24" name="Oval 23"/>
          <p:cNvSpPr/>
          <p:nvPr/>
        </p:nvSpPr>
        <p:spPr>
          <a:xfrm>
            <a:off x="6583680" y="2615184"/>
            <a:ext cx="347472" cy="34747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2</a:t>
            </a:r>
          </a:p>
        </p:txBody>
      </p:sp>
      <p:sp>
        <p:nvSpPr>
          <p:cNvPr id="25" name="TextBox 24"/>
          <p:cNvSpPr txBox="1"/>
          <p:nvPr/>
        </p:nvSpPr>
        <p:spPr>
          <a:xfrm>
            <a:off x="7059168" y="2505456"/>
            <a:ext cx="4480560" cy="566928"/>
          </a:xfrm>
          <a:prstGeom prst="rect">
            <a:avLst/>
          </a:prstGeom>
          <a:noFill/>
        </p:spPr>
        <p:txBody>
          <a:bodyPr wrap="square" anchor="ctr" lIns="0" rIns="0" tIns="0" bIns="0">
            <a:spAutoFit/>
          </a:bodyPr>
          <a:lstStyle/>
          <a:p>
            <a:pPr algn="l"/>
            <a:r>
              <a:rPr sz="1500" b="0" i="0">
                <a:solidFill>
                  <a:srgbClr val="000000"/>
                </a:solidFill>
                <a:latin typeface="Nirmala UI"/>
              </a:rPr>
              <a:t>How do I read explain("executionStats")?</a:t>
            </a:r>
          </a:p>
        </p:txBody>
      </p:sp>
      <p:sp>
        <p:nvSpPr>
          <p:cNvPr id="26" name="Oval 25"/>
          <p:cNvSpPr/>
          <p:nvPr/>
        </p:nvSpPr>
        <p:spPr>
          <a:xfrm>
            <a:off x="6583680" y="3273552"/>
            <a:ext cx="347472" cy="34747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3</a:t>
            </a:r>
          </a:p>
        </p:txBody>
      </p:sp>
      <p:sp>
        <p:nvSpPr>
          <p:cNvPr id="27" name="TextBox 26"/>
          <p:cNvSpPr txBox="1"/>
          <p:nvPr/>
        </p:nvSpPr>
        <p:spPr>
          <a:xfrm>
            <a:off x="7059168" y="3163824"/>
            <a:ext cx="4480560" cy="566928"/>
          </a:xfrm>
          <a:prstGeom prst="rect">
            <a:avLst/>
          </a:prstGeom>
          <a:noFill/>
        </p:spPr>
        <p:txBody>
          <a:bodyPr wrap="square" anchor="ctr" lIns="0" rIns="0" tIns="0" bIns="0">
            <a:spAutoFit/>
          </a:bodyPr>
          <a:lstStyle/>
          <a:p>
            <a:pPr algn="l"/>
            <a:r>
              <a:rPr sz="1500" b="0" i="0">
                <a:solidFill>
                  <a:srgbClr val="000000"/>
                </a:solidFill>
                <a:latin typeface="Nirmala UI"/>
              </a:rPr>
              <a:t>When is a query covered by an index?</a:t>
            </a:r>
          </a:p>
        </p:txBody>
      </p:sp>
      <p:sp>
        <p:nvSpPr>
          <p:cNvPr id="28" name="Rounded Rectangle 27"/>
          <p:cNvSpPr/>
          <p:nvPr/>
        </p:nvSpPr>
        <p:spPr>
          <a:xfrm>
            <a:off x="6400800" y="4270248"/>
            <a:ext cx="5303520" cy="156362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TextBox 28"/>
          <p:cNvSpPr txBox="1"/>
          <p:nvPr/>
        </p:nvSpPr>
        <p:spPr>
          <a:xfrm>
            <a:off x="6583680" y="4270248"/>
            <a:ext cx="4937760" cy="1563624"/>
          </a:xfrm>
          <a:prstGeom prst="rect">
            <a:avLst/>
          </a:prstGeom>
          <a:noFill/>
        </p:spPr>
        <p:txBody>
          <a:bodyPr wrap="square" anchor="ctr" lIns="0" rIns="0" tIns="0" bIns="0">
            <a:spAutoFit/>
          </a:bodyPr>
          <a:lstStyle/>
          <a:p>
            <a:pPr algn="l"/>
            <a:r>
              <a:rPr sz="1500" b="1" i="0">
                <a:solidFill>
                  <a:srgbClr val="D1282E"/>
                </a:solidFill>
                <a:latin typeface="Nirmala UI"/>
              </a:rPr>
              <a:t>BRING ALONG   </a:t>
            </a:r>
            <a:r>
              <a:rPr sz="1500" b="0" i="0">
                <a:solidFill>
                  <a:srgbClr val="000000"/>
                </a:solidFill>
                <a:latin typeface="Nirmala UI"/>
              </a:rPr>
              <a:t>Your Day 2 Lab 4 pipeline and the index you would add for its first $match.</a:t>
            </a:r>
          </a:p>
        </p:txBody>
      </p:sp>
      <p:sp>
        <p:nvSpPr>
          <p:cNvPr id="30" name="Rounded Rectangle 29"/>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Module 6 makes these pipelines fast: the first $match is where an index pays off.</a:t>
            </a:r>
          </a:p>
        </p:txBody>
      </p:sp>
      <p:sp>
        <p:nvSpPr>
          <p:cNvPr id="32" name="Rectangle 3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