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title is: MongoDB Installation and Setup.</a:t>
            </a:r>
          </a:p>
          <a:p/>
          <a:p>
            <a:r>
              <a:t>The slide says: Before documents and queries: a reliable environment and a verified client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Module Learning Objectives.</a:t>
            </a:r>
          </a:p>
          <a:p/>
          <a:p>
            <a:r>
              <a:t>The slide title is: Module Learning Objectives.</a:t>
            </a:r>
          </a:p>
          <a:p/>
          <a:p>
            <a:r>
              <a:t>The slide says: By the end of this module you will be able to:.</a:t>
            </a:r>
          </a:p>
          <a:p/>
          <a:p>
            <a:r>
              <a:t>Bullet 1 on the slide: Choose local, self-managed, container, or managed-cloud MongoDB.</a:t>
            </a:r>
          </a:p>
          <a:p/>
          <a:p>
            <a:r>
              <a:t>Bullet 2 on the slide: Identify server, clients, configuration, data, and logs.</a:t>
            </a:r>
          </a:p>
          <a:p/>
          <a:p>
            <a:r>
              <a:t>Bullet 3 on the slide: Install or provision an instance and verify it is running.</a:t>
            </a:r>
          </a:p>
          <a:p/>
          <a:p>
            <a:r>
              <a:t>Bullet 4 on the slide: Connect with mongosh and MongoDB Compass.</a:t>
            </a:r>
          </a:p>
          <a:p/>
          <a:p>
            <a:r>
              <a:t>Bullet 5 on the slide: Interpret a connection string.</a:t>
            </a:r>
          </a:p>
          <a:p/>
          <a:p>
            <a:r>
              <a:t>Bullet 6 on the slide: Create a database and collection; insert and retrieve a test document.</a:t>
            </a:r>
          </a:p>
          <a:p/>
          <a:p>
            <a:r>
              <a:t>Bullet 7 on the slide: Apply basic credential and network hygiene.</a:t>
            </a:r>
          </a:p>
          <a:p/>
          <a:p>
            <a:r>
              <a:t>Bullet 8 on the slide: Diagnose common install and connectivity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MongoDB Community Edition installed directly on the learner's machine -- best for classroom exercises and offline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Atlas is MongoDB's managed cloud platform -- good for team projects, remote access, and production-style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Side-by-side factors: internet requirement, who manages infrastructure, default address, and remote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local environment usually has the Community Server, mongosh, optionally Compass, and the optional Database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Download the MSI, choose Complete install, install as a Windows service, then optionally add Compass and mongosh.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the service from Windows Services or PowerShell's Get-Service / Start-Service MongoDB.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brew tap and install the Community Edition formula, then start it as a Homebrew service and verify with --version.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MongoDB's own repository for the distribution, then manage the service with systemctl start / status / 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mongod is the server that owns the data files; mongosh is just the client shell -- stopping the shell never stops the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local server commonly listens on localhost, port 27017, by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Nine-step Atlas flow: account, org, project, deployment, tier, provider, database user, IP access list, connection string.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Atlas login and the database user that authenticates the connection are two separate identities.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Atlas blocks unapproved network sources; 0.0.0.0/0 is convenient for a classroom but broad, and should pair with strong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Atlas URI follows mongodb+srv://&lt;user&gt;:&lt;password&gt;@&lt;cluster-host&gt;/ -- let mongosh prompt for the password instead of typing it inline.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mongosh is the interactive shell for creating databases and collections, running queries, indexes, and aggregations.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Plain mongosh connects to localhost:27017 by default; adding --username prompts for the matching password.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 the exact connect command from the Atlas Connect dialog -- the cluster hostname is deployment-specific.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shell prompt shows the current database; mongosh --version and db.version() confirm client and server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`db` shows the active database (test, initially); db.getMongo() reports the current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dbs and show collections only list databases/collections that already hold stored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`use training_store` switches context without creating anything physical until data is 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db.createCollection() creates one explicitly; MongoDB can also create a collection automatically on first insert.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insertOne() adds a product document; MongoDB generates an _id automatically when one isn't supplied.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find() returns everything in the collection; a filter narrows it to a specific category.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insertMany() adds several products at once; countDocuments() confirms the total in the collection.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dbs / show collections now surface training_store and products, holding the three inserted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updateOne() with $set changes one field; findOne() verifies the change took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deleteOne() removes a document by filter; countDocuments() confirms the remaining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CRUD verbs map directly to insertOne, find/findOne, updateOne, and deleteOne.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'command not found' usually means PATH or a fresh terminal; 'connection refused' usually means mongod isn't running or is on another 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Authentication failures point to the database user/password/auth DB; timeouts point to the IP access list or a blocking firewall.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the end of the module, learners install or provision MongoDB, connect, run CRUD, and confirm the environment with a successful 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2.1 — Select a Deployment Option.</a:t>
            </a:r>
          </a:p>
          <a:p/>
          <a:p>
            <a:r>
              <a:t>The slide title is: Exercise 2.1 — Select a Deployment Option.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Match each scenario to one option:.</a:t>
            </a:r>
          </a:p>
          <a:p/>
          <a:p>
            <a:r>
              <a:t>The slide says: Local · Self-managed · Container · Managed cloud.</a:t>
            </a:r>
          </a:p>
          <a:p/>
          <a:p>
            <a:r>
              <a:t>The slide says: Name the justification and the main risk.</a:t>
            </a:r>
          </a:p>
          <a:p/>
          <a:p>
            <a:r>
              <a:t>The slide says: Lab guide: [Exercise 2.1](../slide-exercises/module-02/exercise-2.1-select-a-deployment-option.md).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The figure on this slide is titled: Six deployment scenarios to classify.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2.1 — Select a Deployment Option. We have about 10 min for this lab.</a:t>
            </a:r>
          </a:p>
          <a:p/>
          <a:p>
            <a:r>
              <a:t>Choose local, containerized, self-managed, or managed-cloud MongoDB for six training and production scenarios.</a:t>
            </a:r>
          </a:p>
          <a:p/>
          <a:p>
            <a:r>
              <a:t>The full lab guide is in slide-exercises/module-02/exercise-2.1-select-a-deployment-option.md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Review the four deployment options.</a:t>
            </a:r>
          </a:p>
          <a:p/>
          <a:p>
            <a:r>
              <a:t>Step 2 — Classify scenarios 1–3.</a:t>
            </a:r>
          </a:p>
          <a:p/>
          <a:p>
            <a:r>
              <a:t>Step 3 — Classify scenarios 4–6.</a:t>
            </a:r>
          </a:p>
          <a:p/>
          <a:p>
            <a:r>
              <a:t>Step 1 — Review the four deployment options.</a:t>
            </a:r>
          </a:p>
          <a:p/>
          <a:p>
            <a:r>
              <a:t>Step 2 — Classify scenarios 1–3.</a:t>
            </a:r>
          </a:p>
          <a:p/>
          <a:p>
            <a:r>
              <a:t>Step 3 — Classify scenarios 4–6.</a:t>
            </a:r>
          </a:p>
          <a:p/>
          <a:p>
            <a:r>
              <a:t>Step 1 — Review the four deployment options.</a:t>
            </a:r>
          </a:p>
          <a:p/>
          <a:p>
            <a:r>
              <a:t>Step 2 — Classify scenarios 1–3.</a:t>
            </a:r>
          </a:p>
          <a:p/>
          <a:p>
            <a:r>
              <a:t>Step 3 — Classify scenarios 4–6.</a:t>
            </a:r>
          </a:p>
          <a:p/>
          <a:p>
            <a:r>
              <a:t>Step 1 — Review the four deployment options.</a:t>
            </a:r>
          </a:p>
          <a:p/>
          <a:p>
            <a:r>
              <a:t>Step 2 — Classify scenarios 1–3.</a:t>
            </a:r>
          </a:p>
          <a:p/>
          <a:p>
            <a:r>
              <a:t>Step 3 — Classify scenarios 4–6.</a:t>
            </a:r>
          </a:p>
          <a:p/>
          <a:p>
            <a:r>
              <a:t>Step 1 — Review the four deployment options.</a:t>
            </a:r>
          </a:p>
          <a:p/>
          <a:p>
            <a:r>
              <a:t>Step 2 — Classify scenarios 1–3.</a:t>
            </a:r>
          </a:p>
          <a:p/>
          <a:p>
            <a:r>
              <a:t>Step 3 — Classify scenarios 4–6.</a:t>
            </a:r>
          </a:p>
          <a:p/>
          <a:p>
            <a:r>
              <a:t>Step 1 — Review the four deployment options.</a:t>
            </a:r>
          </a:p>
          <a:p/>
          <a:p>
            <a:r>
              <a:t>Step 2 — Classify scenarios 1–3.</a:t>
            </a:r>
          </a:p>
          <a:p/>
          <a:p>
            <a:r>
              <a:t>Step 3 — Classify scenarios 4–6.</a:t>
            </a:r>
          </a:p>
          <a:p/>
          <a:p>
            <a:r>
              <a:t>Step 1 — Review the four deployment options.</a:t>
            </a:r>
          </a:p>
          <a:p/>
          <a:p>
            <a:r>
              <a:t>Step 2 — Classify scenarios 1–3.</a:t>
            </a:r>
          </a:p>
          <a:p/>
          <a:p>
            <a:r>
              <a:t>Step 3 — Classify scenarios 4–6.</a:t>
            </a:r>
          </a:p>
          <a:p/>
          <a:p>
            <a:r>
              <a:t>Step 1 — Review the four deployment options.</a:t>
            </a:r>
          </a:p>
          <a:p/>
          <a:p>
            <a:r>
              <a:t>Step 2 — Classify scenarios 1–3.</a:t>
            </a:r>
          </a:p>
          <a:p/>
          <a:p>
            <a:r>
              <a:t>Step 3 — Classify scenarios 4–6.</a:t>
            </a:r>
          </a:p>
          <a:p/>
          <a:p>
            <a:r>
              <a:t>Step 1 — Review the four deployment options.</a:t>
            </a:r>
          </a:p>
          <a:p/>
          <a:p>
            <a:r>
              <a:t>Step 2 — Classify scenarios 1–3.</a:t>
            </a:r>
          </a:p>
          <a:p/>
          <a:p>
            <a:r>
              <a:t>Step 3 — Classify scenarios 4–6.</a:t>
            </a:r>
          </a:p>
          <a:p/>
          <a:p>
            <a:r>
              <a:t>Step 1 — Review the four deployment options.</a:t>
            </a:r>
          </a:p>
          <a:p/>
          <a:p>
            <a:r>
              <a:t>Step 2 — Classify scenarios 1–3.</a:t>
            </a:r>
          </a:p>
          <a:p/>
          <a:p>
            <a:r>
              <a:t>Step 3 — Classify scenarios 4–6.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2.1 — Steps 1–2.</a:t>
            </a:r>
          </a:p>
          <a:p/>
          <a:p>
            <a:r>
              <a:t>The slide says: Lab guide: [Exercise 2.1](../slide-exercises/module-02/exercise-2.1-select-a-deployment-option.md).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Confirm the options you may choose from: local installation, self-managed server or VM, containerized MongoDB, and managed cloud. For each, write one sentence for when it is a good fit.</a:t>
            </a:r>
          </a:p>
          <a:p/>
          <a:p>
            <a:r>
              <a:t>Bullet 2 on the slide: Expected: The pair can name all four options and one typical use for each.</a:t>
            </a:r>
          </a:p>
          <a:p/>
          <a:p>
            <a:r>
              <a:t>Bullet 3 on the slide: Do: For each scenario, pick one deployment option, write a one-line justification, and name the main risk. | Scenario | Situation | |----------|-----------| | 1 | A developer needs an offline learning environment. | | 2 | A.</a:t>
            </a:r>
          </a:p>
          <a:p/>
          <a:p>
            <a:r>
              <a:t>Bullet 4 on the slide: Expected: Rows 1–3 of the deliverable table are filled. The justification mentions internet, persistence, or shared access — not only a product name.</a:t>
            </a:r>
          </a:p>
          <a:p/>
          <a:p>
            <a:r>
              <a:t>Bullet 5 on the slide: Do: Repeat for scenarios 4–6. | Scenario | Situation | |----------|-----------| | 4 | A regulated organization requires infrastructure under its direct control. | | 5 | A startup wants a database without managing servers. |.</a:t>
            </a:r>
          </a:p>
          <a:p/>
          <a:p>
            <a:r>
              <a:t>Bullet 6 on the slide: Expected: All six rows are filled. You can explain an alternative that might also work, and why your first choice still fits.</a:t>
            </a:r>
          </a:p>
          <a:p/>
          <a:p>
            <a:r>
              <a:t>Bullet 7 on the slide: Do: Confirm the options you may choose from: local installation, self-managed server or VM, containerized MongoDB, and managed cloud. For each, write one sentence for when it is a good fit.</a:t>
            </a:r>
          </a:p>
          <a:p/>
          <a:p>
            <a:r>
              <a:t>Bullet 8 on the slide: Expected: The pair can name all four options and one typical use for each.</a:t>
            </a:r>
          </a:p>
          <a:p/>
          <a:p>
            <a:r>
              <a:t>Bullet 9 on the slide: Do: For each scenario, pick one deployment option, write a one-line justification, and name the main risk. | Scenario | Situation | |----------|-----------| | 1 | A developer needs an offline learning environment. | | 2 | A.</a:t>
            </a:r>
          </a:p>
          <a:p/>
          <a:p>
            <a:r>
              <a:t>Bullet 10 on the slide: Expected: Rows 1–3 of the deliverable table are filled. The justification mentions internet, persistence, or shared access — not only a product name.</a:t>
            </a:r>
          </a:p>
          <a:p/>
          <a:p>
            <a:r>
              <a:t>Bullet 11 on the slide: Do: Repeat for scenarios 4–6. | Scenario | Situation | |----------|-----------| | 4 | A regulated organization requires infrastructure under its direct control. | | 5 | A startup wants a database without managing servers. |.</a:t>
            </a:r>
          </a:p>
          <a:p/>
          <a:p>
            <a:r>
              <a:t>Bullet 12 on the slide: Expected: All six rows are filled. You can explain an alternative that might also work, and why your first choice still fits.</a:t>
            </a:r>
          </a:p>
          <a:p/>
          <a:p>
            <a:r>
              <a:t>Bullet 13 on the slide: Do: Confirm the options you may choose from: local installation, self-managed server or VM, containerized MongoDB, and managed cloud. For each, write one sentence for when it is a good fit.</a:t>
            </a:r>
          </a:p>
          <a:p/>
          <a:p>
            <a:r>
              <a:t>Bullet 14 on the slide: Expected: The pair can name all four options and one typical use for each.</a:t>
            </a:r>
          </a:p>
          <a:p/>
          <a:p>
            <a:r>
              <a:t>Bullet 15 on the slide: Do: For each scenario, pick one deployment option, write a one-line justification, and name the main risk. | Scenario | Situation | |----------|-----------| | 1 | A developer needs an offline learning environment. | | 2 | A.</a:t>
            </a:r>
          </a:p>
          <a:p/>
          <a:p>
            <a:r>
              <a:t>Bullet 16 on the slide: Expected: Rows 1–3 of the deliverable table are filled. The justification mentions internet, persistence, or shared access — not only a product name.</a:t>
            </a:r>
          </a:p>
          <a:p/>
          <a:p>
            <a:r>
              <a:t>Bullet 17 on the slide: Do: Repeat for scenarios 4–6. | Scenario | Situation | |----------|-----------| | 4 | A regulated organization requires infrastructure under its direct control. | | 5 | A startup wants a database without managing servers. |.</a:t>
            </a:r>
          </a:p>
          <a:p/>
          <a:p>
            <a:r>
              <a:t>Bullet 18 on the slide: Expected: All six rows are filled. You can explain an alternative that might also work, and why your first choice still fits.</a:t>
            </a:r>
          </a:p>
          <a:p/>
          <a:p>
            <a:r>
              <a:t>Bullet 19 on the slide: Do: Confirm the options you may choose from: local installation, self-managed server or VM, containerized MongoDB, and managed cloud. For each, write one sentence for when it is a good fit.</a:t>
            </a:r>
          </a:p>
          <a:p/>
          <a:p>
            <a:r>
              <a:t>Bullet 20 on the slide: Expected: The pair can name all four options and one typical use for each.</a:t>
            </a:r>
          </a:p>
          <a:p/>
          <a:p>
            <a:r>
              <a:t>Bullet 21 on the slide: Do: For each scenario, pick one deployment option, write a one-line justification, and name the main risk. | Scenario | Situation | |----------|-----------| | 1 | A developer needs an offline learning environment. | | 2 | A.</a:t>
            </a:r>
          </a:p>
          <a:p/>
          <a:p>
            <a:r>
              <a:t>Bullet 22 on the slide: Expected: Rows 1–3 of the deliverable table are filled. The justification mentions internet, persistence, or shared access — not only a product name.</a:t>
            </a:r>
          </a:p>
          <a:p/>
          <a:p>
            <a:r>
              <a:t>Bullet 23 on the slide: Do: Repeat for scenarios 4–6. | Scenario | Situation | |----------|-----------| | 4 | A regulated organization requires infrastructure under its direct control. | | 5 | A startup wants a database without managing servers. |.</a:t>
            </a:r>
          </a:p>
          <a:p/>
          <a:p>
            <a:r>
              <a:t>Bullet 24 on the slide: Expected: All six rows are filled. You can explain an alternative that might also work, and why your first choice still fits.</a:t>
            </a:r>
          </a:p>
          <a:p/>
          <a:p>
            <a:r>
              <a:t>Bullet 25 on the slide: Do: Confirm the options you may choose from: local installation, self-managed server or VM, containerized MongoDB, and managed cloud. For each, write one sentence for when it is a good fit.</a:t>
            </a:r>
          </a:p>
          <a:p/>
          <a:p>
            <a:r>
              <a:t>Bullet 26 on the slide: Expected: The pair can name all four options and one typical use for each.</a:t>
            </a:r>
          </a:p>
          <a:p/>
          <a:p>
            <a:r>
              <a:t>Bullet 27 on the slide: Do: For each scenario, pick one deployment option, write a one-line justification, and name the main risk. | Scenario | Situation | |----------|-----------| | 1 | A developer needs an offline learning environment. | | 2 | A.</a:t>
            </a:r>
          </a:p>
          <a:p/>
          <a:p>
            <a:r>
              <a:t>Bullet 28 on the slide: Expected: Rows 1–3 of the deliverable table are filled. The justification mentions internet, persistence, or shared access — not only a product name.</a:t>
            </a:r>
          </a:p>
          <a:p/>
          <a:p>
            <a:r>
              <a:t>Bullet 29 on the slide: Do: Repeat for scenarios 4–6. | Scenario | Situation | |----------|-----------| | 4 | A regulated organization requires infrastructure under its direct control. | | 5 | A startup wants a database without managing servers. |.</a:t>
            </a:r>
          </a:p>
          <a:p/>
          <a:p>
            <a:r>
              <a:t>Bullet 30 on the slide: Expected: All six rows are filled. You can explain an alternative that might also work, and why your first choice still fits.</a:t>
            </a:r>
          </a:p>
          <a:p/>
          <a:p>
            <a:r>
              <a:t>Bullet 31 on the slide: Do: Confirm the options you may choose from: local installation, self-managed server or VM, containerized MongoDB, and managed cloud. For each, write one sentence for when it is a good fit.</a:t>
            </a:r>
          </a:p>
          <a:p/>
          <a:p>
            <a:r>
              <a:t>Bullet 32 on the slide: Expected: The pair can name all four options and one typical use for each.</a:t>
            </a:r>
          </a:p>
          <a:p/>
          <a:p>
            <a:r>
              <a:t>Bullet 33 on the slide: Do: For each scenario, pick one deployment option, write a one-line justification, and name the main risk. | Scenario | Situation | |----------|-----------| | 1 | A developer needs an offline learning environment. | | 2 | A.</a:t>
            </a:r>
          </a:p>
          <a:p/>
          <a:p>
            <a:r>
              <a:t>Bullet 34 on the slide: Expected: Rows 1–3 of the deliverable table are filled. The justification mentions internet, persistence, or shared access — not only a product name.</a:t>
            </a:r>
          </a:p>
          <a:p/>
          <a:p>
            <a:r>
              <a:t>Bullet 35 on the slide: Do: Repeat for scenarios 4–6. | Scenario | Situation | |----------|-----------| | 4 | A regulated organization requires infrastructure under its direct control. | | 5 | A startup wants a database without managing servers. |.</a:t>
            </a:r>
          </a:p>
          <a:p/>
          <a:p>
            <a:r>
              <a:t>Bullet 36 on the slide: Expected: All six rows are filled. You can explain an alternative that might also work, and why your first choice still fits.</a:t>
            </a:r>
          </a:p>
          <a:p/>
          <a:p>
            <a:r>
              <a:t>Bullet 37 on the slide: Do: Confirm the options you may choose from: local installation, self-managed server or VM, containerized MongoDB, and managed cloud. For each, write one sentence for when it is a good fit.</a:t>
            </a:r>
          </a:p>
          <a:p/>
          <a:p>
            <a:r>
              <a:t>Bullet 38 on the slide: Expected: The pair can name all four options and one typical use for each.</a:t>
            </a:r>
          </a:p>
          <a:p/>
          <a:p>
            <a:r>
              <a:t>Bullet 39 on the slide: Do: For each scenario, pick one deployment option, write a one-line justification, and name the main risk. | Scenario | Situation | |----------|-----------| | 1 | A developer needs an offline learning environment. | | 2 | A.</a:t>
            </a:r>
          </a:p>
          <a:p/>
          <a:p>
            <a:r>
              <a:t>Bullet 40 on the slide: Expected: Rows 1–3 of the deliverable table are filled. The justification mentions internet, persistence, or shared access — not only a product name.</a:t>
            </a:r>
          </a:p>
          <a:p/>
          <a:p>
            <a:r>
              <a:t>Bullet 41 on the slide: Do: Repeat for scenarios 4–6. | Scenario | Situation | |----------|-----------| | 4 | A regulated organization requires infrastructure under its direct control. | | 5 | A startup wants a database without managing servers. |.</a:t>
            </a:r>
          </a:p>
          <a:p/>
          <a:p>
            <a:r>
              <a:t>Bullet 42 on the slide: Expected: All six rows are filled. You can explain an alternative that might also work, and why your first choice still fits.</a:t>
            </a:r>
          </a:p>
          <a:p/>
          <a:p>
            <a:r>
              <a:t>Bullet 43 on the slide: Do: Confirm the options you may choose from: local installation, self-managed server or VM, containerized MongoDB, and managed cloud. For each, write one sentence for when it is a good fit.</a:t>
            </a:r>
          </a:p>
          <a:p/>
          <a:p>
            <a:r>
              <a:t>Bullet 44 on the slide: Expected: The pair can name all four options and one typical use for each.</a:t>
            </a:r>
          </a:p>
          <a:p/>
          <a:p>
            <a:r>
              <a:t>Bullet 45 on the slide: Do: For each scenario, pick one deployment option, write a one-line justification, and name the main risk. | Scenario | Situation | |----------|-----------| | 1 | A developer needs an offline learning environment. | | 2 | A.</a:t>
            </a:r>
          </a:p>
          <a:p/>
          <a:p>
            <a:r>
              <a:t>Bullet 46 on the slide: Expected: Rows 1–3 of the deliverable table are filled. The justification mentions internet, persistence, or shared access — not only a product name.</a:t>
            </a:r>
          </a:p>
          <a:p/>
          <a:p>
            <a:r>
              <a:t>Bullet 47 on the slide: Do: Repeat for scenarios 4–6. | Scenario | Situation | |----------|-----------| | 4 | A regulated organization requires infrastructure under its direct control. | | 5 | A startup wants a database without managing servers. |.</a:t>
            </a:r>
          </a:p>
          <a:p/>
          <a:p>
            <a:r>
              <a:t>Bullet 48 on the slide: Expected: All six rows are filled. You can explain an alternative that might also work, and why your first choice still fits.</a:t>
            </a:r>
          </a:p>
          <a:p/>
          <a:p>
            <a:r>
              <a:t>Bullet 49 on the slide: Do: Confirm the options you may choose from: local installation, self-managed server or VM, containerized MongoDB, and managed cloud. For each, write one sentence for when it is a good fit.</a:t>
            </a:r>
          </a:p>
          <a:p/>
          <a:p>
            <a:r>
              <a:t>Bullet 50 on the slide: Expected: The pair can name all four options and one typical use for each.</a:t>
            </a:r>
          </a:p>
          <a:p/>
          <a:p>
            <a:r>
              <a:t>Bullet 51 on the slide: Do: For each scenario, pick one deployment option, write a one-line justification, and name the main risk. | Scenario | Situation | |----------|-----------| | 1 | A developer needs an offline learning environment. | | 2 | A.</a:t>
            </a:r>
          </a:p>
          <a:p/>
          <a:p>
            <a:r>
              <a:t>Bullet 52 on the slide: Expected: Rows 1–3 of the deliverable table are filled. The justification mentions internet, persistence, or shared access — not only a product name.</a:t>
            </a:r>
          </a:p>
          <a:p/>
          <a:p>
            <a:r>
              <a:t>Bullet 53 on the slide: Do: Repeat for scenarios 4–6. | Scenario | Situation | |----------|-----------| | 4 | A regulated organization requires infrastructure under its direct control. | | 5 | A startup wants a database without managing servers. |.</a:t>
            </a:r>
          </a:p>
          <a:p/>
          <a:p>
            <a:r>
              <a:t>Bullet 54 on the slide: Expected: All six rows are filled. You can explain an alternative that might also work, and why your first choice still fits.</a:t>
            </a:r>
          </a:p>
          <a:p/>
          <a:p>
            <a:r>
              <a:t>Bullet 55 on the slide: Do: Confirm the options you may choose from: local installation, self-managed server or VM, containerized MongoDB, and managed cloud. For each, write one sentence for when it is a good fit.</a:t>
            </a:r>
          </a:p>
          <a:p/>
          <a:p>
            <a:r>
              <a:t>Bullet 56 on the slide: Expected: The pair can name all four options and one typical use for each.</a:t>
            </a:r>
          </a:p>
          <a:p/>
          <a:p>
            <a:r>
              <a:t>Bullet 57 on the slide: Do: For each scenario, pick one deployment option, write a one-line justification, and name the main risk.</a:t>
            </a:r>
          </a:p>
          <a:p/>
          <a:p>
            <a:r>
              <a:t>Bullet 58 on the slide: Expected: Rows 1–3 of the deliverable table are filled. The justification mentions internet, persistence, or shared access — not only a product name.</a:t>
            </a:r>
          </a:p>
          <a:p/>
          <a:p>
            <a:r>
              <a:t>Bullet 59 on the slide: Do: Repeat for scenarios 4–6.</a:t>
            </a:r>
          </a:p>
          <a:p/>
          <a:p>
            <a:r>
              <a:t>Bullet 60 on the slide: Expected: All six rows are filled. You can explain an alternative that might also work, and why your first choice still 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3–4.</a:t>
            </a:r>
          </a:p>
          <a:p/>
          <a:p>
            <a:r>
              <a:t>Step 3 — Classify scenarios 4–6.</a:t>
            </a:r>
          </a:p>
          <a:p/>
          <a:p>
            <a:r>
              <a:t>Step 4 — Compare with the instructor solution.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2.1 — Steps 3–4.</a:t>
            </a:r>
          </a:p>
          <a:p/>
          <a:p>
            <a:r>
              <a:t>The slide says: Lab guide: [Exercise 2.1](../slide-exercises/module-02/exercise-2.1-select-a-deployment-option.md).</a:t>
            </a:r>
          </a:p>
          <a:p/>
          <a:p>
            <a:r>
              <a:t>The slide says: Solution after debrief: 1 local · 2 container · 3 cloud · 4 self-managed · 5 cloud · 6 local.</a:t>
            </a:r>
          </a:p>
          <a:p/>
          <a:p>
            <a:r>
              <a:t>Bullet 1 on the slide: Do: Direct control, minimal ops, restricted internet. Fill all six rows.</a:t>
            </a:r>
          </a:p>
          <a:p/>
          <a:p>
            <a:r>
              <a:t>Bullet 2 on the slide: Expected: Every row has an option, a justification, and a risk.</a:t>
            </a:r>
          </a:p>
          <a:p/>
          <a:p>
            <a:r>
              <a:t>Bullet 3 on the slide: Do: Share one controversial row. Adjust the risk column if needed.</a:t>
            </a:r>
          </a:p>
          <a:p/>
          <a:p>
            <a:r>
              <a:t>Bullet 4 on the slide: Expected: You can use training vs production, internet, ops load, and control — not habit.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Demo 2.1 — Inspect the Environment.</a:t>
            </a:r>
          </a:p>
          <a:p/>
          <a:p>
            <a:r>
              <a:t>The slide title is: Demo 2.1 — Inspect the Environment.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5–10 minutes. Instructor machine.</a:t>
            </a:r>
          </a:p>
          <a:p/>
          <a:p>
            <a:r>
              <a:t>The slide says: Show:.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Server status.</a:t>
            </a:r>
          </a:p>
          <a:p/>
          <a:p>
            <a:r>
              <a:t>Bullet 2 on the slide: mongosh and Compass.</a:t>
            </a:r>
          </a:p>
          <a:p/>
          <a:p>
            <a:r>
              <a:t>Bullet 3 on the slide: Config, data, and log locations.</a:t>
            </a:r>
          </a:p>
          <a:p/>
          <a:p>
            <a:r>
              <a:t>Bullet 4 on the slide: Expected host and port.</a:t>
            </a:r>
          </a:p>
          <a:p/>
          <a:p>
            <a:r>
              <a:t>The figure on this slide is titled: File-system components of a local MongoDB.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2.2 — Interpret a Connection String.</a:t>
            </a:r>
          </a:p>
          <a:p/>
          <a:p>
            <a:r>
              <a:t>The slide title is: Exercise 2.2 — Interpret a Connection String.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Label protocol, username, password, host, port, and database.</a:t>
            </a:r>
          </a:p>
          <a:p/>
          <a:p>
            <a:r>
              <a:t>The slide says: Treat password as a placeholder.</a:t>
            </a:r>
          </a:p>
          <a:p/>
          <a:p>
            <a:r>
              <a:t>The slide says: Lab guide: [Exercise 2.2](../slide-exercises/module-02/exercise-2.2-interpret-a-connection-string.md).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The figure on this slide is titled: Unlabeled connection-string segments to identify.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2.2 — Interpret a Connection String. We have about 10 min for this lab.</a:t>
            </a:r>
          </a:p>
          <a:p/>
          <a:p>
            <a:r>
              <a:t>Label protocol, credentials, host, port, and database in a URI, and state how credentials should be stored.</a:t>
            </a:r>
          </a:p>
          <a:p/>
          <a:p>
            <a:r>
              <a:t>The full lab guide is in slide-exercises/module-02/exercise-2.2-interpret-a-connection-string.md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Label the connection-string parts.</a:t>
            </a:r>
          </a:p>
          <a:p/>
          <a:p>
            <a:r>
              <a:t>Step 2 — Answer the security questions.</a:t>
            </a:r>
          </a:p>
          <a:p/>
          <a:p>
            <a:r>
              <a:t>Step 3 — Compare mongodb:// and mongodb+srv://.</a:t>
            </a:r>
          </a:p>
          <a:p/>
          <a:p>
            <a:r>
              <a:t>Step 1 — Label the connection-string parts.</a:t>
            </a:r>
          </a:p>
          <a:p/>
          <a:p>
            <a:r>
              <a:t>Step 2 — Answer the security questions.</a:t>
            </a:r>
          </a:p>
          <a:p/>
          <a:p>
            <a:r>
              <a:t>Step 3 — Compare mongodb:// and mongodb+srv://.</a:t>
            </a:r>
          </a:p>
          <a:p/>
          <a:p>
            <a:r>
              <a:t>Step 1 — Label the connection-string parts.</a:t>
            </a:r>
          </a:p>
          <a:p/>
          <a:p>
            <a:r>
              <a:t>Step 2 — Answer the security questions.</a:t>
            </a:r>
          </a:p>
          <a:p/>
          <a:p>
            <a:r>
              <a:t>Step 3 — Compare mongodb:// and mongodb+srv://.</a:t>
            </a:r>
          </a:p>
          <a:p/>
          <a:p>
            <a:r>
              <a:t>Step 1 — Label the connection-string parts.</a:t>
            </a:r>
          </a:p>
          <a:p/>
          <a:p>
            <a:r>
              <a:t>Step 2 — Answer the security questions.</a:t>
            </a:r>
          </a:p>
          <a:p/>
          <a:p>
            <a:r>
              <a:t>Step 3 — Compare mongodb:// and mongodb+srv://.</a:t>
            </a:r>
          </a:p>
          <a:p/>
          <a:p>
            <a:r>
              <a:t>Step 1 — Label the connection-string parts.</a:t>
            </a:r>
          </a:p>
          <a:p/>
          <a:p>
            <a:r>
              <a:t>Step 2 — Answer the security questions.</a:t>
            </a:r>
          </a:p>
          <a:p/>
          <a:p>
            <a:r>
              <a:t>Step 3 — Compare mongodb:// and mongodb+srv://.</a:t>
            </a:r>
          </a:p>
          <a:p/>
          <a:p>
            <a:r>
              <a:t>Step 1 — Label the connection-string parts.</a:t>
            </a:r>
          </a:p>
          <a:p/>
          <a:p>
            <a:r>
              <a:t>Step 2 — Answer the security questions.</a:t>
            </a:r>
          </a:p>
          <a:p/>
          <a:p>
            <a:r>
              <a:t>Step 3 — Compare mongodb:// and mongodb+srv://.</a:t>
            </a:r>
          </a:p>
          <a:p/>
          <a:p>
            <a:r>
              <a:t>Step 1 — Label the connection-string parts.</a:t>
            </a:r>
          </a:p>
          <a:p/>
          <a:p>
            <a:r>
              <a:t>Step 2 — Answer the security questions.</a:t>
            </a:r>
          </a:p>
          <a:p/>
          <a:p>
            <a:r>
              <a:t>Step 3 — Compare mongodb:// and mongodb+srv://.</a:t>
            </a:r>
          </a:p>
          <a:p/>
          <a:p>
            <a:r>
              <a:t>Step 1 — Label the connection-string parts.</a:t>
            </a:r>
          </a:p>
          <a:p/>
          <a:p>
            <a:r>
              <a:t>Step 2 — Answer the security questions.</a:t>
            </a:r>
          </a:p>
          <a:p/>
          <a:p>
            <a:r>
              <a:t>Step 3 — Compare mongodb:// and mongodb+srv://.</a:t>
            </a:r>
          </a:p>
          <a:p/>
          <a:p>
            <a:r>
              <a:t>Step 1 — Label the connection-string parts.</a:t>
            </a:r>
          </a:p>
          <a:p/>
          <a:p>
            <a:r>
              <a:t>Step 2 — Answer the security questions.</a:t>
            </a:r>
          </a:p>
          <a:p/>
          <a:p>
            <a:r>
              <a:t>Step 3 — Compare mongodb:// and mongodb+srv://.</a:t>
            </a:r>
          </a:p>
          <a:p/>
          <a:p>
            <a:r>
              <a:t>Step 1 — Label the connection-string parts.</a:t>
            </a:r>
          </a:p>
          <a:p/>
          <a:p>
            <a:r>
              <a:t>Step 2 — Answer the security questions.</a:t>
            </a:r>
          </a:p>
          <a:p/>
          <a:p>
            <a:r>
              <a:t>Step 3 — Compare mongodb:// and mongodb+srv://.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2.2 — Steps 1–2.</a:t>
            </a:r>
          </a:p>
          <a:p/>
          <a:p>
            <a:r>
              <a:t>The slide says: Lab guide: [Exercise 2.2](../slide-exercises/module-02/exercise-2.2-interpret-a-connection-string.md).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Using this sample, identify protocol, username, password placeholder, host, port, and default database: text mongodb://trainingUser:password@db.example.net:27017/training.</a:t>
            </a:r>
          </a:p>
          <a:p/>
          <a:p>
            <a:r>
              <a:t>Bullet 2 on the slide: Expected: Your notes name all six parts. You can point to where each value sits in the URI.</a:t>
            </a:r>
          </a:p>
          <a:p/>
          <a:p>
            <a:r>
              <a:t>Bullet 3 on the slide: Do: Write a short answer for each: 1. Which part must not appear in a screenshot? 2. Which values should be stored securely? 3. What could cause this connection to fail? 4. How should the password be supplied in a real appli.</a:t>
            </a:r>
          </a:p>
          <a:p/>
          <a:p>
            <a:r>
              <a:t>Bullet 4 on the slide: Expected: You refuse to put the password in slides or source. You can name at least two failure causes (wrong password, host unreachable, port, DNS, TLS).</a:t>
            </a:r>
          </a:p>
          <a:p/>
          <a:p>
            <a:r>
              <a:t>Bullet 5 on the slide: Do: Write one sentence for each scheme. Note which form managed-cloud services commonly provide.</a:t>
            </a:r>
          </a:p>
          <a:p/>
          <a:p>
            <a:r>
              <a:t>Bullet 6 on the slide: Expected: You can say that mongodb:// lists hosts (and optional port) and mongodb+srv:// uses DNS to discover deployment information.</a:t>
            </a:r>
          </a:p>
          <a:p/>
          <a:p>
            <a:r>
              <a:t>Bullet 7 on the slide: Do: Using this sample, identify protocol, username, password placeholder, host, port, and default database: text mongodb://trainingUser:password@db.example.net:27017/training.</a:t>
            </a:r>
          </a:p>
          <a:p/>
          <a:p>
            <a:r>
              <a:t>Bullet 8 on the slide: Expected: Your notes name all six parts. You can point to where each value sits in the URI.</a:t>
            </a:r>
          </a:p>
          <a:p/>
          <a:p>
            <a:r>
              <a:t>Bullet 9 on the slide: Do: Write a short answer for each: 1. Which part must not appear in a screenshot? 2. Which values should be stored securely? 3. What could cause this connection to fail? 4. How should the password be supplied in a real appli.</a:t>
            </a:r>
          </a:p>
          <a:p/>
          <a:p>
            <a:r>
              <a:t>Bullet 10 on the slide: Expected: You refuse to put the password in slides or source. You can name at least two failure causes (wrong password, host unreachable, port, DNS, TLS).</a:t>
            </a:r>
          </a:p>
          <a:p/>
          <a:p>
            <a:r>
              <a:t>Bullet 11 on the slide: Do: Write one sentence for each scheme. Note which form managed-cloud services commonly provide.</a:t>
            </a:r>
          </a:p>
          <a:p/>
          <a:p>
            <a:r>
              <a:t>Bullet 12 on the slide: Expected: You can say that mongodb:// lists hosts (and optional port) and mongodb+srv:// uses DNS to discover deployment information.</a:t>
            </a:r>
          </a:p>
          <a:p/>
          <a:p>
            <a:r>
              <a:t>Bullet 13 on the slide: Do: Using this sample, identify protocol, username, password placeholder, host, port, and default database: text mongodb://trainingUser:password@db.example.net:27017/training.</a:t>
            </a:r>
          </a:p>
          <a:p/>
          <a:p>
            <a:r>
              <a:t>Bullet 14 on the slide: Expected: Your notes name all six parts. You can point to where each value sits in the URI.</a:t>
            </a:r>
          </a:p>
          <a:p/>
          <a:p>
            <a:r>
              <a:t>Bullet 15 on the slide: Do: Write a short answer for each: 1. Which part must not appear in a screenshot? 2. Which values should be stored securely? 3. What could cause this connection to fail? 4. How should the password be supplied in a real appli.</a:t>
            </a:r>
          </a:p>
          <a:p/>
          <a:p>
            <a:r>
              <a:t>Bullet 16 on the slide: Expected: You refuse to put the password in slides or source. You can name at least two failure causes (wrong password, host unreachable, port, DNS, TLS).</a:t>
            </a:r>
          </a:p>
          <a:p/>
          <a:p>
            <a:r>
              <a:t>Bullet 17 on the slide: Do: Write one sentence for each scheme. Note which form managed-cloud services commonly provide.</a:t>
            </a:r>
          </a:p>
          <a:p/>
          <a:p>
            <a:r>
              <a:t>Bullet 18 on the slide: Expected: You can say that mongodb:// lists hosts (and optional port) and mongodb+srv:// uses DNS to discover deployment information.</a:t>
            </a:r>
          </a:p>
          <a:p/>
          <a:p>
            <a:r>
              <a:t>Bullet 19 on the slide: Do: Using this sample, identify protocol, username, password placeholder, host, port, and default database: text mongodb://trainingUser:password@db.example.net:27017/training.</a:t>
            </a:r>
          </a:p>
          <a:p/>
          <a:p>
            <a:r>
              <a:t>Bullet 20 on the slide: Expected: Your notes name all six parts. You can point to where each value sits in the URI.</a:t>
            </a:r>
          </a:p>
          <a:p/>
          <a:p>
            <a:r>
              <a:t>Bullet 21 on the slide: Do: Write a short answer for each: 1. Which part must not appear in a screenshot? 2. Which values should be stored securely? 3. What could cause this connection to fail? 4. How should the password be supplied in a real appli.</a:t>
            </a:r>
          </a:p>
          <a:p/>
          <a:p>
            <a:r>
              <a:t>Bullet 22 on the slide: Expected: You refuse to put the password in slides or source. You can name at least two failure causes (wrong password, host unreachable, port, DNS, TLS).</a:t>
            </a:r>
          </a:p>
          <a:p/>
          <a:p>
            <a:r>
              <a:t>Bullet 23 on the slide: Do: Write one sentence for each scheme. Note which form managed-cloud services commonly provide.</a:t>
            </a:r>
          </a:p>
          <a:p/>
          <a:p>
            <a:r>
              <a:t>Bullet 24 on the slide: Expected: You can say that mongodb:// lists hosts (and optional port) and mongodb+srv:// uses DNS to discover deployment information.</a:t>
            </a:r>
          </a:p>
          <a:p/>
          <a:p>
            <a:r>
              <a:t>Bullet 25 on the slide: Do: Using this sample, identify protocol, username, password placeholder, host, port, and default database: text mongodb://trainingUser:password@db.example.net:27017/training.</a:t>
            </a:r>
          </a:p>
          <a:p/>
          <a:p>
            <a:r>
              <a:t>Bullet 26 on the slide: Expected: Your notes name all six parts. You can point to where each value sits in the URI.</a:t>
            </a:r>
          </a:p>
          <a:p/>
          <a:p>
            <a:r>
              <a:t>Bullet 27 on the slide: Do: Write a short answer for each: 1. Which part must not appear in a screenshot? 2. Which values should be stored securely? 3. What could cause this connection to fail? 4. How should the password be supplied in a real appli.</a:t>
            </a:r>
          </a:p>
          <a:p/>
          <a:p>
            <a:r>
              <a:t>Bullet 28 on the slide: Expected: You refuse to put the password in slides or source. You can name at least two failure causes (wrong password, host unreachable, port, DNS, TLS).</a:t>
            </a:r>
          </a:p>
          <a:p/>
          <a:p>
            <a:r>
              <a:t>Bullet 29 on the slide: Do: Write one sentence for each scheme. Note which form managed-cloud services commonly provide.</a:t>
            </a:r>
          </a:p>
          <a:p/>
          <a:p>
            <a:r>
              <a:t>Bullet 30 on the slide: Expected: You can say that mongodb:// lists hosts (and optional port) and mongodb+srv:// uses DNS to discover deployment information.</a:t>
            </a:r>
          </a:p>
          <a:p/>
          <a:p>
            <a:r>
              <a:t>Bullet 31 on the slide: Do: Using this sample, identify protocol, username, password placeholder, host, port, and default database: text mongodb://trainingUser:password@db.example.net:27017/training.</a:t>
            </a:r>
          </a:p>
          <a:p/>
          <a:p>
            <a:r>
              <a:t>Bullet 32 on the slide: Expected: Your notes name all six parts. You can point to where each value sits in the URI.</a:t>
            </a:r>
          </a:p>
          <a:p/>
          <a:p>
            <a:r>
              <a:t>Bullet 33 on the slide: Do: Write a short answer for each: 1. Which part must not appear in a screenshot? 2. Which values should be stored securely? 3. What could cause this connection to fail? 4. How should the password be supplied in a real appli.</a:t>
            </a:r>
          </a:p>
          <a:p/>
          <a:p>
            <a:r>
              <a:t>Bullet 34 on the slide: Expected: You refuse to put the password in slides or source. You can name at least two failure causes (wrong password, host unreachable, port, DNS, TLS).</a:t>
            </a:r>
          </a:p>
          <a:p/>
          <a:p>
            <a:r>
              <a:t>Bullet 35 on the slide: Do: Write one sentence for each scheme. Note which form managed-cloud services commonly provide.</a:t>
            </a:r>
          </a:p>
          <a:p/>
          <a:p>
            <a:r>
              <a:t>Bullet 36 on the slide: Expected: You can say that mongodb:// lists hosts (and optional port) and mongodb+srv:// uses DNS to discover deployment information.</a:t>
            </a:r>
          </a:p>
          <a:p/>
          <a:p>
            <a:r>
              <a:t>Bullet 37 on the slide: Do: Using this sample, identify protocol, username, password placeholder, host, port, and default database: text mongodb://trainingUser:password@db.example.net:27017/training.</a:t>
            </a:r>
          </a:p>
          <a:p/>
          <a:p>
            <a:r>
              <a:t>Bullet 38 on the slide: Expected: Your notes name all six parts. You can point to where each value sits in the URI.</a:t>
            </a:r>
          </a:p>
          <a:p/>
          <a:p>
            <a:r>
              <a:t>Bullet 39 on the slide: Do: Write a short answer for each: 1. Which part must not appear in a screenshot? 2. Which values should be stored securely? 3. What could cause this connection to fail? 4. How should the password be supplied in a real appli.</a:t>
            </a:r>
          </a:p>
          <a:p/>
          <a:p>
            <a:r>
              <a:t>Bullet 40 on the slide: Expected: You refuse to put the password in slides or source. You can name at least two failure causes (wrong password, host unreachable, port, DNS, TLS).</a:t>
            </a:r>
          </a:p>
          <a:p/>
          <a:p>
            <a:r>
              <a:t>Bullet 41 on the slide: Do: Write one sentence for each scheme. Note which form managed-cloud services commonly provide.</a:t>
            </a:r>
          </a:p>
          <a:p/>
          <a:p>
            <a:r>
              <a:t>Bullet 42 on the slide: Expected: You can say that mongodb:// lists hosts (and optional port) and mongodb+srv:// uses DNS to discover deployment information.</a:t>
            </a:r>
          </a:p>
          <a:p/>
          <a:p>
            <a:r>
              <a:t>Bullet 43 on the slide: Do: Using this sample, identify protocol, username, password placeholder, host, port, and default database: text mongodb://trainingUser:password@db.example.net:27017/training.</a:t>
            </a:r>
          </a:p>
          <a:p/>
          <a:p>
            <a:r>
              <a:t>Bullet 44 on the slide: Expected: Your notes name all six parts. You can point to where each value sits in the URI.</a:t>
            </a:r>
          </a:p>
          <a:p/>
          <a:p>
            <a:r>
              <a:t>Bullet 45 on the slide: Do: Write a short answer for each: 1. Which part must not appear in a screenshot? 2. Which values should be stored securely? 3. What could cause this connection to fail? 4. How should the password be supplied in a real appli.</a:t>
            </a:r>
          </a:p>
          <a:p/>
          <a:p>
            <a:r>
              <a:t>Bullet 46 on the slide: Expected: You refuse to put the password in slides or source. You can name at least two failure causes (wrong password, host unreachable, port, DNS, TLS).</a:t>
            </a:r>
          </a:p>
          <a:p/>
          <a:p>
            <a:r>
              <a:t>Bullet 47 on the slide: Do: Write one sentence for each scheme. Note which form managed-cloud services commonly provide.</a:t>
            </a:r>
          </a:p>
          <a:p/>
          <a:p>
            <a:r>
              <a:t>Bullet 48 on the slide: Expected: You can say that mongodb:// lists hosts (and optional port) and mongodb+srv:// uses DNS to discover deployment information.</a:t>
            </a:r>
          </a:p>
          <a:p/>
          <a:p>
            <a:r>
              <a:t>Bullet 49 on the slide: Do: Using this sample, identify protocol, username, password placeholder, host, port, and default database: text mongodb://trainingUser:password@db.example.net:27017/training.</a:t>
            </a:r>
          </a:p>
          <a:p/>
          <a:p>
            <a:r>
              <a:t>Bullet 50 on the slide: Expected: Your notes name all six parts. You can point to where each value sits in the URI.</a:t>
            </a:r>
          </a:p>
          <a:p/>
          <a:p>
            <a:r>
              <a:t>Bullet 51 on the slide: Do: Write a short answer for each: 1. Which part must not appear in a screenshot? 2. Which values should be stored securely? 3. What could cause this connection to fail? 4. How should the password be supplied in a real appli.</a:t>
            </a:r>
          </a:p>
          <a:p/>
          <a:p>
            <a:r>
              <a:t>Bullet 52 on the slide: Expected: You refuse to put the password in slides or source. You can name at least two failure causes (wrong password, host unreachable, port, DNS, TLS).</a:t>
            </a:r>
          </a:p>
          <a:p/>
          <a:p>
            <a:r>
              <a:t>Bullet 53 on the slide: Do: Write one sentence for each scheme. Note which form managed-cloud services commonly provide.</a:t>
            </a:r>
          </a:p>
          <a:p/>
          <a:p>
            <a:r>
              <a:t>Bullet 54 on the slide: Expected: You can say that mongodb:// lists hosts (and optional port) and mongodb+srv:// uses DNS to discover deployment information.</a:t>
            </a:r>
          </a:p>
          <a:p/>
          <a:p>
            <a:r>
              <a:t>Bullet 55 on the slide: Do: Using this sample, identify protocol, username, password placeholder, host, port, and default database: text mongodb://trainingUser:password@db.example.net:27017/training.</a:t>
            </a:r>
          </a:p>
          <a:p/>
          <a:p>
            <a:r>
              <a:t>Bullet 56 on the slide: Expected: Your notes name all six parts. You can point to where each value sits in the URI.</a:t>
            </a:r>
          </a:p>
          <a:p/>
          <a:p>
            <a:r>
              <a:t>Bullet 57 on the slide: Do: Write a short answer for each: 1. Which part must not appear in a screenshot? 2. Which values should be stored securely? 3. What could cause this connection to fail? 4. How should the password be supplied in a real appli.</a:t>
            </a:r>
          </a:p>
          <a:p/>
          <a:p>
            <a:r>
              <a:t>Bullet 58 on the slide: Expected: You refuse to put the password in slides or source. You can name at least two failure causes (wrong password, host unreachable, port, DNS, TLS).</a:t>
            </a:r>
          </a:p>
          <a:p/>
          <a:p>
            <a:r>
              <a:t>Bullet 59 on the slide: Do: Write one sentence for each scheme. Note which form managed-cloud services commonly provide.</a:t>
            </a:r>
          </a:p>
          <a:p/>
          <a:p>
            <a:r>
              <a:t>Bullet 60 on the slide: Expected: You can say that mongodb:// lists hosts (and optional port) and mongodb+srv:// uses DNS to discover deployment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3–4.</a:t>
            </a:r>
          </a:p>
          <a:p/>
          <a:p>
            <a:r>
              <a:t>Step 3 — Compare mongodb:// and mongodb+srv://.</a:t>
            </a:r>
          </a:p>
          <a:p/>
          <a:p>
            <a:r>
              <a:t>Step 4 — Compare with the instructor solution.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2.2 — Steps 3–4.</a:t>
            </a:r>
          </a:p>
          <a:p/>
          <a:p>
            <a:r>
              <a:t>The slide says: Lab guide: [Exercise 2.2](../slide-exercises/module-02/exercise-2.2-interpret-a-connection-string.md).</a:t>
            </a:r>
          </a:p>
          <a:p/>
          <a:p>
            <a:r>
              <a:t>Bullet 1 on the slide: Do: One sentence each. Which form do managed services commonly give you?.</a:t>
            </a:r>
          </a:p>
          <a:p/>
          <a:p>
            <a:r>
              <a:t>Bullet 2 on the slide: Expected: Standard lists host and port; +srv uses DNS discovery.</a:t>
            </a:r>
          </a:p>
          <a:p/>
          <a:p>
            <a:r>
              <a:t>Bullet 3 on the slide: Do: Check labels. Correct swapped host/database.</a:t>
            </a:r>
          </a:p>
          <a:p/>
          <a:p>
            <a:r>
              <a:t>Bullet 4 on the slide: Expected: You can parse a URI aloud without exposing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Demo 2.2 — Connect Using `mongosh`.</a:t>
            </a:r>
          </a:p>
          <a:p/>
          <a:p>
            <a:r>
              <a:t>The slide title is: Demo 2.2 — Connect Using `mongosh`.</a:t>
            </a:r>
          </a:p>
          <a:p/>
          <a:p>
            <a:r>
              <a:t>You will also see the heading: Demo 2.2 — Connect Using mongosh.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10 minutes.</a:t>
            </a:r>
          </a:p>
          <a:p/>
          <a:p>
            <a:r>
              <a:t>The slide says: Then ping, db, show dbs, show collections.</a:t>
            </a:r>
          </a:p>
          <a:p/>
          <a:p>
            <a:r>
              <a:t>The slide says: Outcome: Open a shell and confirm connectivity.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The figure on this slide is titled: User command through shell to server to terminal output.</a:t>
            </a:r>
          </a:p>
          <a:p/>
          <a:p>
            <a:r>
              <a:t>The code on the slide reads: mongosh "mongodb://localhost:27017".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Demo 2.3 — Connect Using Compass.</a:t>
            </a:r>
          </a:p>
          <a:p/>
          <a:p>
            <a:r>
              <a:t>The slide title is: Demo 2.3 — Connect Using Compass.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10 minutes.</a:t>
            </a:r>
          </a:p>
          <a:p/>
          <a:p>
            <a:r>
              <a:t>The slide says: Open Compass, paste the URI, connect, browse databases, open a collection, switch document views.</a:t>
            </a:r>
          </a:p>
          <a:p/>
          <a:p>
            <a:r>
              <a:t>The slide says: Outcome: Compass is a GUI for the same environment.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The figure on this slide is titled: mongosh and Compass accessing the same MongoDB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Demo 2.4 — Create and Verify a Test Database.</a:t>
            </a:r>
          </a:p>
          <a:p/>
          <a:p>
            <a:r>
              <a:t>The slide title is: Demo 2.4 — Create and Verify a Test Database.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10 minutes.</a:t>
            </a:r>
          </a:p>
          <a:p/>
          <a:p>
            <a:r>
              <a:t>The slide says: use training_store · createCollection("setup_test") · insertOne · findOne({ verified: true }).</a:t>
            </a:r>
          </a:p>
          <a:p/>
          <a:p>
            <a:r>
              <a:t>The slide says: Outcome: The environment supports write and read.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The figure on this slide is titled: Connect, ping, select database, create, insert, retrieve, validate.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Demo 2.5 — Diagnose a Failed Connection.</a:t>
            </a:r>
          </a:p>
          <a:p/>
          <a:p>
            <a:r>
              <a:t>The slide title is: Demo 2.5 — Diagnose a Failed Connection.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10 minutes. Controlled examples:.</a:t>
            </a:r>
          </a:p>
          <a:p/>
          <a:p>
            <a:r>
              <a:t>The slide says: For each: read the error → name the layer → fix → retest.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Wrong port.</a:t>
            </a:r>
          </a:p>
          <a:p/>
          <a:p>
            <a:r>
              <a:t>Bullet 2 on the slide: Stopped server.</a:t>
            </a:r>
          </a:p>
          <a:p/>
          <a:p>
            <a:r>
              <a:t>Bullet 3 on the slide: Invalid password.</a:t>
            </a:r>
          </a:p>
          <a:p/>
          <a:p>
            <a:r>
              <a:t>Bullet 4 on the slide: Bad hostname.</a:t>
            </a:r>
          </a:p>
          <a:p/>
          <a:p>
            <a:r>
              <a:t>Bullet 5 on the slide: Missing network permission.</a:t>
            </a:r>
          </a:p>
          <a:p/>
          <a:p>
            <a:r>
              <a:t>The figure on this slide is titled: Client through URI, DNS, network, server, auth, authorization, 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2.4 — Diagnose Connection Failures.</a:t>
            </a:r>
          </a:p>
          <a:p/>
          <a:p>
            <a:r>
              <a:t>The slide title is: Exercise 2.4 — Diagnose Connection Failures.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For each case: likely cause, first check, log or setting, fix, verification.</a:t>
            </a:r>
          </a:p>
          <a:p/>
          <a:p>
            <a:r>
              <a:t>The slide says: Lab guide: [Exercise 2.4](../slide-exercises/module-02/exercise-2.4-diagnose-connection-failures.md).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The figure on this slide is titled: Server, network, credential, and permission failure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2.4 — Diagnose Connection Failures. We have about 15 min for this lab.</a:t>
            </a:r>
          </a:p>
          <a:p/>
          <a:p>
            <a:r>
              <a:t>Map common MongoDB connection errors to a first diagnostic check, a setting or log, and a verification command.</a:t>
            </a:r>
          </a:p>
          <a:p/>
          <a:p>
            <a:r>
              <a:t>The full lab guide is in slide-exercises/module-02/exercise-2.4-diagnose-connection-failures.md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Diagnose ECONNREFUSED and authentication failure.</a:t>
            </a:r>
          </a:p>
          <a:p/>
          <a:p>
            <a:r>
              <a:t>Step 2 — Diagnose timeout and DNS failure.</a:t>
            </a:r>
          </a:p>
          <a:p/>
          <a:p>
            <a:r>
              <a:t>Step 3 — Diagnose unauthorized command and invalid URI.</a:t>
            </a:r>
          </a:p>
          <a:p/>
          <a:p>
            <a:r>
              <a:t>Step 1 — Diagnose ECONNREFUSED and authentication failure.</a:t>
            </a:r>
          </a:p>
          <a:p/>
          <a:p>
            <a:r>
              <a:t>Step 2 — Diagnose timeout and DNS failure.</a:t>
            </a:r>
          </a:p>
          <a:p/>
          <a:p>
            <a:r>
              <a:t>Step 3 — Diagnose unauthorized command and invalid URI.</a:t>
            </a:r>
          </a:p>
          <a:p/>
          <a:p>
            <a:r>
              <a:t>Step 1 — Diagnose ECONNREFUSED and authentication failure.</a:t>
            </a:r>
          </a:p>
          <a:p/>
          <a:p>
            <a:r>
              <a:t>Step 2 — Diagnose timeout and DNS failure.</a:t>
            </a:r>
          </a:p>
          <a:p/>
          <a:p>
            <a:r>
              <a:t>Step 3 — Diagnose unauthorized command and invalid URI.</a:t>
            </a:r>
          </a:p>
          <a:p/>
          <a:p>
            <a:r>
              <a:t>Step 1 — Diagnose ECONNREFUSED and authentication failure.</a:t>
            </a:r>
          </a:p>
          <a:p/>
          <a:p>
            <a:r>
              <a:t>Step 2 — Diagnose timeout and DNS failure.</a:t>
            </a:r>
          </a:p>
          <a:p/>
          <a:p>
            <a:r>
              <a:t>Step 3 — Diagnose unauthorized command and invalid URI.</a:t>
            </a:r>
          </a:p>
          <a:p/>
          <a:p>
            <a:r>
              <a:t>Step 1 — Diagnose ECONNREFUSED and authentication failure.</a:t>
            </a:r>
          </a:p>
          <a:p/>
          <a:p>
            <a:r>
              <a:t>Step 2 — Diagnose timeout and DNS failure.</a:t>
            </a:r>
          </a:p>
          <a:p/>
          <a:p>
            <a:r>
              <a:t>Step 3 — Diagnose unauthorized command and invalid URI.</a:t>
            </a:r>
          </a:p>
          <a:p/>
          <a:p>
            <a:r>
              <a:t>Step 1 — Diagnose ECONNREFUSED and authentication failure.</a:t>
            </a:r>
          </a:p>
          <a:p/>
          <a:p>
            <a:r>
              <a:t>Step 2 — Diagnose timeout and DNS failure.</a:t>
            </a:r>
          </a:p>
          <a:p/>
          <a:p>
            <a:r>
              <a:t>Step 3 — Diagnose unauthorized command and invalid URI.</a:t>
            </a:r>
          </a:p>
          <a:p/>
          <a:p>
            <a:r>
              <a:t>Step 1 — Diagnose ECONNREFUSED and authentication failure.</a:t>
            </a:r>
          </a:p>
          <a:p/>
          <a:p>
            <a:r>
              <a:t>Step 2 — Diagnose timeout and DNS failure.</a:t>
            </a:r>
          </a:p>
          <a:p/>
          <a:p>
            <a:r>
              <a:t>Step 3 — Diagnose unauthorized command and invalid URI.</a:t>
            </a:r>
          </a:p>
          <a:p/>
          <a:p>
            <a:r>
              <a:t>Step 1 — Diagnose ECONNREFUSED and authentication failure.</a:t>
            </a:r>
          </a:p>
          <a:p/>
          <a:p>
            <a:r>
              <a:t>Step 2 — Diagnose timeout and DNS failure.</a:t>
            </a:r>
          </a:p>
          <a:p/>
          <a:p>
            <a:r>
              <a:t>Step 3 — Diagnose unauthorized command and invalid URI.</a:t>
            </a:r>
          </a:p>
          <a:p/>
          <a:p>
            <a:r>
              <a:t>Step 1 — Diagnose ECONNREFUSED and authentication failure.</a:t>
            </a:r>
          </a:p>
          <a:p/>
          <a:p>
            <a:r>
              <a:t>Step 2 — Diagnose timeout and DNS failure.</a:t>
            </a:r>
          </a:p>
          <a:p/>
          <a:p>
            <a:r>
              <a:t>Step 3 — Diagnose unauthorized command and invalid URI.</a:t>
            </a:r>
          </a:p>
          <a:p/>
          <a:p>
            <a:r>
              <a:t>Step 1 — Diagnose ECONNREFUSED and authentication failure.</a:t>
            </a:r>
          </a:p>
          <a:p/>
          <a:p>
            <a:r>
              <a:t>Step 2 — Diagnose timeout and DNS failure.</a:t>
            </a:r>
          </a:p>
          <a:p/>
          <a:p>
            <a:r>
              <a:t>Step 3 — Diagnose unauthorized command and invalid URI.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2.4 — Steps 1–2.</a:t>
            </a:r>
          </a:p>
          <a:p/>
          <a:p>
            <a:r>
              <a:t>The slide says: Lab guide: [Exercise 2.4](../slide-exercises/module-02/exercise-2.4-diagnose-connection-failures.md).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For ECONNREFUSED and authentication failure, fill likely cause, first check, relevant log or setting, corrective action, and verification command.</a:t>
            </a:r>
          </a:p>
          <a:p/>
          <a:p>
            <a:r>
              <a:t>Bullet 2 on the slide: Expected: Refused connection points at a stopped server or wrong port. Authentication failure points at user, password, or authentication database — not at DNS.</a:t>
            </a:r>
          </a:p>
          <a:p/>
          <a:p>
            <a:r>
              <a:t>Bullet 3 on the slide: Do: Repeat for server-selection timeout and DNS lookup failure.</a:t>
            </a:r>
          </a:p>
          <a:p/>
          <a:p>
            <a:r>
              <a:t>Bullet 4 on the slide: Expected: Timeout points at firewall, routing, or network allowlist. DNS failure points at hostname or DNS, not at a missing role.</a:t>
            </a:r>
          </a:p>
          <a:p/>
          <a:p>
            <a:r>
              <a:t>Bullet 5 on the slide: Do: Repeat for unauthorized operation and invalid connection-string format.</a:t>
            </a:r>
          </a:p>
          <a:p/>
          <a:p>
            <a:r>
              <a:t>Bullet 6 on the slide: Expected: Unauthorized means the user authenticated but lacks the role. Invalid URI means syntax, unencoded special characters, or the wrong scheme.</a:t>
            </a:r>
          </a:p>
          <a:p/>
          <a:p>
            <a:r>
              <a:t>Bullet 7 on the slide: Do: For ECONNREFUSED and authentication failure, fill likely cause, first check, relevant log or setting, corrective action, and verification command.</a:t>
            </a:r>
          </a:p>
          <a:p/>
          <a:p>
            <a:r>
              <a:t>Bullet 8 on the slide: Expected: Refused connection points at a stopped server or wrong port. Authentication failure points at user, password, or authentication database — not at DNS.</a:t>
            </a:r>
          </a:p>
          <a:p/>
          <a:p>
            <a:r>
              <a:t>Bullet 9 on the slide: Do: Repeat for server-selection timeout and DNS lookup failure.</a:t>
            </a:r>
          </a:p>
          <a:p/>
          <a:p>
            <a:r>
              <a:t>Bullet 10 on the slide: Expected: Timeout points at firewall, routing, or network allowlist. DNS failure points at hostname or DNS, not at a missing role.</a:t>
            </a:r>
          </a:p>
          <a:p/>
          <a:p>
            <a:r>
              <a:t>Bullet 11 on the slide: Do: Repeat for unauthorized operation and invalid connection-string format.</a:t>
            </a:r>
          </a:p>
          <a:p/>
          <a:p>
            <a:r>
              <a:t>Bullet 12 on the slide: Expected: Unauthorized means the user authenticated but lacks the role. Invalid URI means syntax, unencoded special characters, or the wrong scheme.</a:t>
            </a:r>
          </a:p>
          <a:p/>
          <a:p>
            <a:r>
              <a:t>Bullet 13 on the slide: Do: For ECONNREFUSED and authentication failure, fill likely cause, first check, relevant log or setting, corrective action, and verification command.</a:t>
            </a:r>
          </a:p>
          <a:p/>
          <a:p>
            <a:r>
              <a:t>Bullet 14 on the slide: Expected: Refused connection points at a stopped server or wrong port. Authentication failure points at user, password, or authentication database — not at DNS.</a:t>
            </a:r>
          </a:p>
          <a:p/>
          <a:p>
            <a:r>
              <a:t>Bullet 15 on the slide: Do: Repeat for server-selection timeout and DNS lookup failure.</a:t>
            </a:r>
          </a:p>
          <a:p/>
          <a:p>
            <a:r>
              <a:t>Bullet 16 on the slide: Expected: Timeout points at firewall, routing, or network allowlist. DNS failure points at hostname or DNS, not at a missing role.</a:t>
            </a:r>
          </a:p>
          <a:p/>
          <a:p>
            <a:r>
              <a:t>Bullet 17 on the slide: Do: Repeat for unauthorized operation and invalid connection-string format.</a:t>
            </a:r>
          </a:p>
          <a:p/>
          <a:p>
            <a:r>
              <a:t>Bullet 18 on the slide: Expected: Unauthorized means the user authenticated but lacks the role. Invalid URI means syntax, unencoded special characters, or the wrong scheme.</a:t>
            </a:r>
          </a:p>
          <a:p/>
          <a:p>
            <a:r>
              <a:t>Bullet 19 on the slide: Do: For ECONNREFUSED and authentication failure, fill likely cause, first check, relevant log or setting, corrective action, and verification command.</a:t>
            </a:r>
          </a:p>
          <a:p/>
          <a:p>
            <a:r>
              <a:t>Bullet 20 on the slide: Expected: Refused connection points at a stopped server or wrong port. Authentication failure points at user, password, or authentication database — not at DNS.</a:t>
            </a:r>
          </a:p>
          <a:p/>
          <a:p>
            <a:r>
              <a:t>Bullet 21 on the slide: Do: Repeat for server-selection timeout and DNS lookup failure.</a:t>
            </a:r>
          </a:p>
          <a:p/>
          <a:p>
            <a:r>
              <a:t>Bullet 22 on the slide: Expected: Timeout points at firewall, routing, or network allowlist. DNS failure points at hostname or DNS, not at a missing role.</a:t>
            </a:r>
          </a:p>
          <a:p/>
          <a:p>
            <a:r>
              <a:t>Bullet 23 on the slide: Do: Repeat for unauthorized operation and invalid connection-string format.</a:t>
            </a:r>
          </a:p>
          <a:p/>
          <a:p>
            <a:r>
              <a:t>Bullet 24 on the slide: Expected: Unauthorized means the user authenticated but lacks the role. Invalid URI means syntax, unencoded special characters, or the wrong scheme.</a:t>
            </a:r>
          </a:p>
          <a:p/>
          <a:p>
            <a:r>
              <a:t>Bullet 25 on the slide: Do: For ECONNREFUSED and authentication failure, fill likely cause, first check, relevant log or setting, corrective action, and verification command.</a:t>
            </a:r>
          </a:p>
          <a:p/>
          <a:p>
            <a:r>
              <a:t>Bullet 26 on the slide: Expected: Refused connection points at a stopped server or wrong port. Authentication failure points at user, password, or authentication database — not at DNS.</a:t>
            </a:r>
          </a:p>
          <a:p/>
          <a:p>
            <a:r>
              <a:t>Bullet 27 on the slide: Do: Repeat for server-selection timeout and DNS lookup failure.</a:t>
            </a:r>
          </a:p>
          <a:p/>
          <a:p>
            <a:r>
              <a:t>Bullet 28 on the slide: Expected: Timeout points at firewall, routing, or network allowlist. DNS failure points at hostname or DNS, not at a missing role.</a:t>
            </a:r>
          </a:p>
          <a:p/>
          <a:p>
            <a:r>
              <a:t>Bullet 29 on the slide: Do: Repeat for unauthorized operation and invalid connection-string format.</a:t>
            </a:r>
          </a:p>
          <a:p/>
          <a:p>
            <a:r>
              <a:t>Bullet 30 on the slide: Expected: Unauthorized means the user authenticated but lacks the role. Invalid URI means syntax, unencoded special characters, or the wrong scheme.</a:t>
            </a:r>
          </a:p>
          <a:p/>
          <a:p>
            <a:r>
              <a:t>Bullet 31 on the slide: Do: For ECONNREFUSED and authentication failure, fill likely cause, first check, relevant log or setting, corrective action, and verification command.</a:t>
            </a:r>
          </a:p>
          <a:p/>
          <a:p>
            <a:r>
              <a:t>Bullet 32 on the slide: Expected: Refused connection points at a stopped server or wrong port. Authentication failure points at user, password, or authentication database — not at DNS.</a:t>
            </a:r>
          </a:p>
          <a:p/>
          <a:p>
            <a:r>
              <a:t>Bullet 33 on the slide: Do: Repeat for server-selection timeout and DNS lookup failure.</a:t>
            </a:r>
          </a:p>
          <a:p/>
          <a:p>
            <a:r>
              <a:t>Bullet 34 on the slide: Expected: Timeout points at firewall, routing, or network allowlist. DNS failure points at hostname or DNS, not at a missing role.</a:t>
            </a:r>
          </a:p>
          <a:p/>
          <a:p>
            <a:r>
              <a:t>Bullet 35 on the slide: Do: Repeat for unauthorized operation and invalid connection-string format.</a:t>
            </a:r>
          </a:p>
          <a:p/>
          <a:p>
            <a:r>
              <a:t>Bullet 36 on the slide: Expected: Unauthorized means the user authenticated but lacks the role. Invalid URI means syntax, unencoded special characters, or the wrong scheme.</a:t>
            </a:r>
          </a:p>
          <a:p/>
          <a:p>
            <a:r>
              <a:t>Bullet 37 on the slide: Do: For ECONNREFUSED and authentication failure, fill likely cause, first check, relevant log or setting, corrective action, and verification command.</a:t>
            </a:r>
          </a:p>
          <a:p/>
          <a:p>
            <a:r>
              <a:t>Bullet 38 on the slide: Expected: Refused connection points at a stopped server or wrong port. Authentication failure points at user, password, or authentication database — not at DNS.</a:t>
            </a:r>
          </a:p>
          <a:p/>
          <a:p>
            <a:r>
              <a:t>Bullet 39 on the slide: Do: Repeat for server-selection timeout and DNS lookup failure.</a:t>
            </a:r>
          </a:p>
          <a:p/>
          <a:p>
            <a:r>
              <a:t>Bullet 40 on the slide: Expected: Timeout points at firewall, routing, or network allowlist. DNS failure points at hostname or DNS, not at a missing role.</a:t>
            </a:r>
          </a:p>
          <a:p/>
          <a:p>
            <a:r>
              <a:t>Bullet 41 on the slide: Do: Repeat for unauthorized operation and invalid connection-string format.</a:t>
            </a:r>
          </a:p>
          <a:p/>
          <a:p>
            <a:r>
              <a:t>Bullet 42 on the slide: Expected: Unauthorized means the user authenticated but lacks the role. Invalid URI means syntax, unencoded special characters, or the wrong scheme.</a:t>
            </a:r>
          </a:p>
          <a:p/>
          <a:p>
            <a:r>
              <a:t>Bullet 43 on the slide: Do: For ECONNREFUSED and authentication failure, fill likely cause, first check, relevant log or setting, corrective action, and verification command.</a:t>
            </a:r>
          </a:p>
          <a:p/>
          <a:p>
            <a:r>
              <a:t>Bullet 44 on the slide: Expected: Refused connection points at a stopped server or wrong port. Authentication failure points at user, password, or authentication database — not at DNS.</a:t>
            </a:r>
          </a:p>
          <a:p/>
          <a:p>
            <a:r>
              <a:t>Bullet 45 on the slide: Do: Repeat for server-selection timeout and DNS lookup failure.</a:t>
            </a:r>
          </a:p>
          <a:p/>
          <a:p>
            <a:r>
              <a:t>Bullet 46 on the slide: Expected: Timeout points at firewall, routing, or network allowlist. DNS failure points at hostname or DNS, not at a missing role.</a:t>
            </a:r>
          </a:p>
          <a:p/>
          <a:p>
            <a:r>
              <a:t>Bullet 47 on the slide: Do: Repeat for unauthorized operation and invalid connection-string format.</a:t>
            </a:r>
          </a:p>
          <a:p/>
          <a:p>
            <a:r>
              <a:t>Bullet 48 on the slide: Expected: Unauthorized means the user authenticated but lacks the role. Invalid URI means syntax, unencoded special characters, or the wrong scheme.</a:t>
            </a:r>
          </a:p>
          <a:p/>
          <a:p>
            <a:r>
              <a:t>Bullet 49 on the slide: Do: For ECONNREFUSED and authentication failure, fill likely cause, first check, relevant log or setting, corrective action, and verification command.</a:t>
            </a:r>
          </a:p>
          <a:p/>
          <a:p>
            <a:r>
              <a:t>Bullet 50 on the slide: Expected: Refused connection points at a stopped server or wrong port. Authentication failure points at user, password, or authentication database — not at DNS.</a:t>
            </a:r>
          </a:p>
          <a:p/>
          <a:p>
            <a:r>
              <a:t>Bullet 51 on the slide: Do: Repeat for server-selection timeout and DNS lookup failure.</a:t>
            </a:r>
          </a:p>
          <a:p/>
          <a:p>
            <a:r>
              <a:t>Bullet 52 on the slide: Expected: Timeout points at firewall, routing, or network allowlist. DNS failure points at hostname or DNS, not at a missing role.</a:t>
            </a:r>
          </a:p>
          <a:p/>
          <a:p>
            <a:r>
              <a:t>Bullet 53 on the slide: Do: Repeat for unauthorized operation and invalid connection-string format.</a:t>
            </a:r>
          </a:p>
          <a:p/>
          <a:p>
            <a:r>
              <a:t>Bullet 54 on the slide: Expected: Unauthorized means the user authenticated but lacks the role. Invalid URI means syntax, unencoded special characters, or the wrong scheme.</a:t>
            </a:r>
          </a:p>
          <a:p/>
          <a:p>
            <a:r>
              <a:t>Bullet 55 on the slide: Do: For ECONNREFUSED and authentication failure, fill likely cause, first check, relevant log or setting, corrective action, and verification command.</a:t>
            </a:r>
          </a:p>
          <a:p/>
          <a:p>
            <a:r>
              <a:t>Bullet 56 on the slide: Expected: Refused connection points at a stopped server or wrong port. Authentication failure points at user, password, or authentication database — not at DNS.</a:t>
            </a:r>
          </a:p>
          <a:p/>
          <a:p>
            <a:r>
              <a:t>Bullet 57 on the slide: Do: Repeat for server-selection timeout and DNS lookup failure.</a:t>
            </a:r>
          </a:p>
          <a:p/>
          <a:p>
            <a:r>
              <a:t>Bullet 58 on the slide: Expected: Timeout points at firewall, routing, or network allowlist. DNS failure points at hostname or DNS, not at a missing role.</a:t>
            </a:r>
          </a:p>
          <a:p/>
          <a:p>
            <a:r>
              <a:t>Bullet 59 on the slide: Do: Repeat for unauthorized operation and invalid connection-string format.</a:t>
            </a:r>
          </a:p>
          <a:p/>
          <a:p>
            <a:r>
              <a:t>Bullet 60 on the slide: Expected: Unauthorized means the user authenticated but lacks the role. Invalid URI means syntax, unencoded special characters, or the wrong scheme.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3–4.</a:t>
            </a:r>
          </a:p>
          <a:p/>
          <a:p>
            <a:r>
              <a:t>Step 3 — Diagnose unauthorized command and invalid URI.</a:t>
            </a:r>
          </a:p>
          <a:p/>
          <a:p>
            <a:r>
              <a:t>Step 4 — Compare with the instructor solution.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2.4 — Steps 3–4.</a:t>
            </a:r>
          </a:p>
          <a:p/>
          <a:p>
            <a:r>
              <a:t>The slide says: Lab guide: [Exercise 2.4](../slide-exercises/module-02/exercise-2.4-diagnose-connection-failures.md).</a:t>
            </a:r>
          </a:p>
          <a:p/>
          <a:p>
            <a:r>
              <a:t>Bullet 1 on the slide: Do: Repeat for unauthorized operation and invalid connection-string format.</a:t>
            </a:r>
          </a:p>
          <a:p/>
          <a:p>
            <a:r>
              <a:t>Bullet 2 on the slide: Expected: Unauthorized = logged in, role too weak. Bad URI = syntax or encoding.</a:t>
            </a:r>
          </a:p>
          <a:p/>
          <a:p>
            <a:r>
              <a:t>Bullet 3 on the slide: Do: Share one case. Change one variable, then ping.</a:t>
            </a:r>
          </a:p>
          <a:p/>
          <a:p>
            <a:r>
              <a:t>Bullet 4 on the slide: Expected: A consistent diagnostic sequence, not three simultaneous guesses.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2.3 — Environment Readiness Checklist.</a:t>
            </a:r>
          </a:p>
          <a:p/>
          <a:p>
            <a:r>
              <a:t>The slide title is: Exercise 2.3 — Environment Readiness Checklist.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Complete during or right after the hands-on lab.</a:t>
            </a:r>
          </a:p>
          <a:p/>
          <a:p>
            <a:r>
              <a:t>The slide says: Tick only what you observed. No passwords on the page.</a:t>
            </a:r>
          </a:p>
          <a:p/>
          <a:p>
            <a:r>
              <a:t>The slide says: Lab guide: [Exercise 2.3](../slide-exercises/module-02/exercise-2.3-environment-readiness-checklist.md).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The figure on this slide is titled: Readiness flow from server running to read/write.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2.3 — Complete the Environment Readiness Checklist. We have about 10 min for this lab.</a:t>
            </a:r>
          </a:p>
          <a:p/>
          <a:p>
            <a:r>
              <a:t>Confirm the server, clients, connection string, ping, insert, and read before leaving Module 2.</a:t>
            </a:r>
          </a:p>
          <a:p/>
          <a:p>
            <a:r>
              <a:t>The full lab guide is in slide-exercises/module-02/exercise-2.3-environment-readiness-checklist.md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Record environment details.</a:t>
            </a:r>
          </a:p>
          <a:p/>
          <a:p>
            <a:r>
              <a:t>Step 2 — Confirm clients and connection information.</a:t>
            </a:r>
          </a:p>
          <a:p/>
          <a:p>
            <a:r>
              <a:t>Step 3 — Confirm ping, write, and read.</a:t>
            </a:r>
          </a:p>
          <a:p/>
          <a:p>
            <a:r>
              <a:t>Step 1 — Record environment details.</a:t>
            </a:r>
          </a:p>
          <a:p/>
          <a:p>
            <a:r>
              <a:t>Step 2 — Confirm clients and connection information.</a:t>
            </a:r>
          </a:p>
          <a:p/>
          <a:p>
            <a:r>
              <a:t>Step 3 — Confirm ping, write, and read.</a:t>
            </a:r>
          </a:p>
          <a:p/>
          <a:p>
            <a:r>
              <a:t>Step 1 — Record environment details.</a:t>
            </a:r>
          </a:p>
          <a:p/>
          <a:p>
            <a:r>
              <a:t>Step 2 — Confirm clients and connection information.</a:t>
            </a:r>
          </a:p>
          <a:p/>
          <a:p>
            <a:r>
              <a:t>Step 3 — Confirm ping, write, and read.</a:t>
            </a:r>
          </a:p>
          <a:p/>
          <a:p>
            <a:r>
              <a:t>Step 1 — Record environment details.</a:t>
            </a:r>
          </a:p>
          <a:p/>
          <a:p>
            <a:r>
              <a:t>Step 2 — Confirm clients and connection information.</a:t>
            </a:r>
          </a:p>
          <a:p/>
          <a:p>
            <a:r>
              <a:t>Step 3 — Confirm ping, write, and read.</a:t>
            </a:r>
          </a:p>
          <a:p/>
          <a:p>
            <a:r>
              <a:t>Step 1 — Record environment details.</a:t>
            </a:r>
          </a:p>
          <a:p/>
          <a:p>
            <a:r>
              <a:t>Step 2 — Confirm clients and connection information.</a:t>
            </a:r>
          </a:p>
          <a:p/>
          <a:p>
            <a:r>
              <a:t>Step 3 — Confirm ping, write, and read.</a:t>
            </a:r>
          </a:p>
          <a:p/>
          <a:p>
            <a:r>
              <a:t>Step 1 — Record environment details.</a:t>
            </a:r>
          </a:p>
          <a:p/>
          <a:p>
            <a:r>
              <a:t>Step 2 — Confirm clients and connection information.</a:t>
            </a:r>
          </a:p>
          <a:p/>
          <a:p>
            <a:r>
              <a:t>Step 3 — Confirm ping, write, and read.</a:t>
            </a:r>
          </a:p>
          <a:p/>
          <a:p>
            <a:r>
              <a:t>Step 1 — Record environment details.</a:t>
            </a:r>
          </a:p>
          <a:p/>
          <a:p>
            <a:r>
              <a:t>Step 2 — Confirm clients and connection information.</a:t>
            </a:r>
          </a:p>
          <a:p/>
          <a:p>
            <a:r>
              <a:t>Step 3 — Confirm ping, write, and read.</a:t>
            </a:r>
          </a:p>
          <a:p/>
          <a:p>
            <a:r>
              <a:t>Step 1 — Record environment details.</a:t>
            </a:r>
          </a:p>
          <a:p/>
          <a:p>
            <a:r>
              <a:t>Step 2 — Confirm clients and connection information.</a:t>
            </a:r>
          </a:p>
          <a:p/>
          <a:p>
            <a:r>
              <a:t>Step 3 — Confirm ping, write, and read.</a:t>
            </a:r>
          </a:p>
          <a:p/>
          <a:p>
            <a:r>
              <a:t>Step 1 — Record environment details.</a:t>
            </a:r>
          </a:p>
          <a:p/>
          <a:p>
            <a:r>
              <a:t>Step 2 — Confirm clients and connection information.</a:t>
            </a:r>
          </a:p>
          <a:p/>
          <a:p>
            <a:r>
              <a:t>Step 3 — Confirm ping, write, and read.</a:t>
            </a:r>
          </a:p>
          <a:p/>
          <a:p>
            <a:r>
              <a:t>Step 1 — Record environment details.</a:t>
            </a:r>
          </a:p>
          <a:p/>
          <a:p>
            <a:r>
              <a:t>Step 2 — Confirm clients and connection information.</a:t>
            </a:r>
          </a:p>
          <a:p/>
          <a:p>
            <a:r>
              <a:t>Step 3 — Confirm ping, write, and read.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2.3 — Steps 1–2.</a:t>
            </a:r>
          </a:p>
          <a:p/>
          <a:p>
            <a:r>
              <a:t>The slide says: Lab guide: [Exercise 2.3](../slide-exercises/module-02/exercise-2.3-environment-readiness-checklist.md).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Write down (without secrets) whether you are using local, container, managed cloud, or an instructor-provided instance. Note hostname or cluster name and port if it is not the default 27017.</a:t>
            </a:r>
          </a:p>
          <a:p/>
          <a:p>
            <a:r>
              <a:t>Bullet 2 on the slide: Expected: You can state your deployment path and how you reach the server, with no password on the page.</a:t>
            </a:r>
          </a:p>
          <a:p/>
          <a:p>
            <a:r>
              <a:t>Bullet 3 on the slide: Do: Check that mongosh is available (mongosh --version). If Compass is required, confirm it launches. Confirm you have a connection string stored securely (password manager, instructor handout, or environment variable) —.</a:t>
            </a:r>
          </a:p>
          <a:p/>
          <a:p>
            <a:r>
              <a:t>Bullet 4 on the slide: Expected: Shell version prints. Compass opens if required. You know where the URI lives without displaying the password.</a:t>
            </a:r>
          </a:p>
          <a:p/>
          <a:p>
            <a:r>
              <a:t>Bullet 5 on the slide: Do: In mongosh, run db.runCommand({ ping: 1 }). Then confirm you can insert and retrieve a document in training_store (Exercise 2.5 covers the commands). Tick ping, insert, and read only if you saw the results.</a:t>
            </a:r>
          </a:p>
          <a:p/>
          <a:p>
            <a:r>
              <a:t>Bullet 6 on the slide: Expected: Ping contains ok: 1. A test document can be inserted and found. You did not tick a box you did not prove.</a:t>
            </a:r>
          </a:p>
          <a:p/>
          <a:p>
            <a:r>
              <a:t>Bullet 7 on the slide: Do: Write down (without secrets) whether you are using local, container, managed cloud, or an instructor-provided instance. Note hostname or cluster name and port if it is not the default 27017.</a:t>
            </a:r>
          </a:p>
          <a:p/>
          <a:p>
            <a:r>
              <a:t>Bullet 8 on the slide: Expected: You can state your deployment path and how you reach the server, with no password on the page.</a:t>
            </a:r>
          </a:p>
          <a:p/>
          <a:p>
            <a:r>
              <a:t>Bullet 9 on the slide: Do: Check that mongosh is available (mongosh --version). If Compass is required, confirm it launches. Confirm you have a connection string stored securely (password manager, instructor handout, or environment variable) —.</a:t>
            </a:r>
          </a:p>
          <a:p/>
          <a:p>
            <a:r>
              <a:t>Bullet 10 on the slide: Expected: Shell version prints. Compass opens if required. You know where the URI lives without displaying the password.</a:t>
            </a:r>
          </a:p>
          <a:p/>
          <a:p>
            <a:r>
              <a:t>Bullet 11 on the slide: Do: In mongosh, run db.runCommand({ ping: 1 }). Then confirm you can insert and retrieve a document in training_store (Exercise 2.5 covers the commands). Tick ping, insert, and read only if you saw the results.</a:t>
            </a:r>
          </a:p>
          <a:p/>
          <a:p>
            <a:r>
              <a:t>Bullet 12 on the slide: Expected: Ping contains ok: 1. A test document can be inserted and found. You did not tick a box you did not prove.</a:t>
            </a:r>
          </a:p>
          <a:p/>
          <a:p>
            <a:r>
              <a:t>Bullet 13 on the slide: Do: Write down (without secrets) whether you are using local, container, managed cloud, or an instructor-provided instance. Note hostname or cluster name and port if it is not the default 27017.</a:t>
            </a:r>
          </a:p>
          <a:p/>
          <a:p>
            <a:r>
              <a:t>Bullet 14 on the slide: Expected: You can state your deployment path and how you reach the server, with no password on the page.</a:t>
            </a:r>
          </a:p>
          <a:p/>
          <a:p>
            <a:r>
              <a:t>Bullet 15 on the slide: Do: Check that mongosh is available (mongosh --version). If Compass is required, confirm it launches. Confirm you have a connection string stored securely (password manager, instructor handout, or environment variable) —.</a:t>
            </a:r>
          </a:p>
          <a:p/>
          <a:p>
            <a:r>
              <a:t>Bullet 16 on the slide: Expected: Shell version prints. Compass opens if required. You know where the URI lives without displaying the password.</a:t>
            </a:r>
          </a:p>
          <a:p/>
          <a:p>
            <a:r>
              <a:t>Bullet 17 on the slide: Do: In mongosh, run db.runCommand({ ping: 1 }). Then confirm you can insert and retrieve a document in training_store (Exercise 2.5 covers the commands). Tick ping, insert, and read only if you saw the results.</a:t>
            </a:r>
          </a:p>
          <a:p/>
          <a:p>
            <a:r>
              <a:t>Bullet 18 on the slide: Expected: Ping contains ok: 1. A test document can be inserted and found. You did not tick a box you did not prove.</a:t>
            </a:r>
          </a:p>
          <a:p/>
          <a:p>
            <a:r>
              <a:t>Bullet 19 on the slide: Do: Write down (without secrets) whether you are using local, container, managed cloud, or an instructor-provided instance. Note hostname or cluster name and port if it is not the default 27017.</a:t>
            </a:r>
          </a:p>
          <a:p/>
          <a:p>
            <a:r>
              <a:t>Bullet 20 on the slide: Expected: You can state your deployment path and how you reach the server, with no password on the page.</a:t>
            </a:r>
          </a:p>
          <a:p/>
          <a:p>
            <a:r>
              <a:t>Bullet 21 on the slide: Do: Check that mongosh is available (mongosh --version). If Compass is required, confirm it launches. Confirm you have a connection string stored securely (password manager, instructor handout, or environment variable) —.</a:t>
            </a:r>
          </a:p>
          <a:p/>
          <a:p>
            <a:r>
              <a:t>Bullet 22 on the slide: Expected: Shell version prints. Compass opens if required. You know where the URI lives without displaying the password.</a:t>
            </a:r>
          </a:p>
          <a:p/>
          <a:p>
            <a:r>
              <a:t>Bullet 23 on the slide: Do: In mongosh, run db.runCommand({ ping: 1 }). Then confirm you can insert and retrieve a document in training_store (Exercise 2.5 covers the commands). Tick ping, insert, and read only if you saw the results.</a:t>
            </a:r>
          </a:p>
          <a:p/>
          <a:p>
            <a:r>
              <a:t>Bullet 24 on the slide: Expected: Ping contains ok: 1. A test document can be inserted and found. You did not tick a box you did not prove.</a:t>
            </a:r>
          </a:p>
          <a:p/>
          <a:p>
            <a:r>
              <a:t>Bullet 25 on the slide: Do: Write down (without secrets) whether you are using local, container, managed cloud, or an instructor-provided instance. Note hostname or cluster name and port if it is not the default 27017.</a:t>
            </a:r>
          </a:p>
          <a:p/>
          <a:p>
            <a:r>
              <a:t>Bullet 26 on the slide: Expected: You can state your deployment path and how you reach the server, with no password on the page.</a:t>
            </a:r>
          </a:p>
          <a:p/>
          <a:p>
            <a:r>
              <a:t>Bullet 27 on the slide: Do: Check that mongosh is available (mongosh --version). If Compass is required, confirm it launches. Confirm you have a connection string stored securely (password manager, instructor handout, or environment variable) —.</a:t>
            </a:r>
          </a:p>
          <a:p/>
          <a:p>
            <a:r>
              <a:t>Bullet 28 on the slide: Expected: Shell version prints. Compass opens if required. You know where the URI lives without displaying the password.</a:t>
            </a:r>
          </a:p>
          <a:p/>
          <a:p>
            <a:r>
              <a:t>Bullet 29 on the slide: Do: In mongosh, run db.runCommand({ ping: 1 }). Then confirm you can insert and retrieve a document in training_store (Exercise 2.5 covers the commands). Tick ping, insert, and read only if you saw the results.</a:t>
            </a:r>
          </a:p>
          <a:p/>
          <a:p>
            <a:r>
              <a:t>Bullet 30 on the slide: Expected: Ping contains ok: 1. A test document can be inserted and found. You did not tick a box you did not prove.</a:t>
            </a:r>
          </a:p>
          <a:p/>
          <a:p>
            <a:r>
              <a:t>Bullet 31 on the slide: Do: Write down (without secrets) whether you are using local, container, managed cloud, or an instructor-provided instance. Note hostname or cluster name and port if it is not the default 27017.</a:t>
            </a:r>
          </a:p>
          <a:p/>
          <a:p>
            <a:r>
              <a:t>Bullet 32 on the slide: Expected: You can state your deployment path and how you reach the server, with no password on the page.</a:t>
            </a:r>
          </a:p>
          <a:p/>
          <a:p>
            <a:r>
              <a:t>Bullet 33 on the slide: Do: Check that mongosh is available (mongosh --version). If Compass is required, confirm it launches. Confirm you have a connection string stored securely (password manager, instructor handout, or environment variable) —.</a:t>
            </a:r>
          </a:p>
          <a:p/>
          <a:p>
            <a:r>
              <a:t>Bullet 34 on the slide: Expected: Shell version prints. Compass opens if required. You know where the URI lives without displaying the password.</a:t>
            </a:r>
          </a:p>
          <a:p/>
          <a:p>
            <a:r>
              <a:t>Bullet 35 on the slide: Do: In mongosh, run db.runCommand({ ping: 1 }). Then confirm you can insert and retrieve a document in training_store (Exercise 2.5 covers the commands). Tick ping, insert, and read only if you saw the results.</a:t>
            </a:r>
          </a:p>
          <a:p/>
          <a:p>
            <a:r>
              <a:t>Bullet 36 on the slide: Expected: Ping contains ok: 1. A test document can be inserted and found. You did not tick a box you did not prove.</a:t>
            </a:r>
          </a:p>
          <a:p/>
          <a:p>
            <a:r>
              <a:t>Bullet 37 on the slide: Do: Write down (without secrets) whether you are using local, container, managed cloud, or an instructor-provided instance. Note hostname or cluster name and port if it is not the default 27017.</a:t>
            </a:r>
          </a:p>
          <a:p/>
          <a:p>
            <a:r>
              <a:t>Bullet 38 on the slide: Expected: You can state your deployment path and how you reach the server, with no password on the page.</a:t>
            </a:r>
          </a:p>
          <a:p/>
          <a:p>
            <a:r>
              <a:t>Bullet 39 on the slide: Do: Check that mongosh is available (mongosh --version). If Compass is required, confirm it launches. Confirm you have a connection string stored securely (password manager, instructor handout, or environment variable) —.</a:t>
            </a:r>
          </a:p>
          <a:p/>
          <a:p>
            <a:r>
              <a:t>Bullet 40 on the slide: Expected: Shell version prints. Compass opens if required. You know where the URI lives without displaying the password.</a:t>
            </a:r>
          </a:p>
          <a:p/>
          <a:p>
            <a:r>
              <a:t>Bullet 41 on the slide: Do: In mongosh, run db.runCommand({ ping: 1 }). Then confirm you can insert and retrieve a document in training_store (Exercise 2.5 covers the commands). Tick ping, insert, and read only if you saw the results.</a:t>
            </a:r>
          </a:p>
          <a:p/>
          <a:p>
            <a:r>
              <a:t>Bullet 42 on the slide: Expected: Ping contains ok: 1. A test document can be inserted and found. You did not tick a box you did not prove.</a:t>
            </a:r>
          </a:p>
          <a:p/>
          <a:p>
            <a:r>
              <a:t>Bullet 43 on the slide: Do: Write down (without secrets) whether you are using local, container, managed cloud, or an instructor-provided instance. Note hostname or cluster name and port if it is not the default 27017.</a:t>
            </a:r>
          </a:p>
          <a:p/>
          <a:p>
            <a:r>
              <a:t>Bullet 44 on the slide: Expected: You can state your deployment path and how you reach the server, with no password on the page.</a:t>
            </a:r>
          </a:p>
          <a:p/>
          <a:p>
            <a:r>
              <a:t>Bullet 45 on the slide: Do: Check that mongosh is available (mongosh --version). If Compass is required, confirm it launches. Confirm you have a connection string stored securely (password manager, instructor handout, or environment variable) —.</a:t>
            </a:r>
          </a:p>
          <a:p/>
          <a:p>
            <a:r>
              <a:t>Bullet 46 on the slide: Expected: Shell version prints. Compass opens if required. You know where the URI lives without displaying the password.</a:t>
            </a:r>
          </a:p>
          <a:p/>
          <a:p>
            <a:r>
              <a:t>Bullet 47 on the slide: Do: In mongosh, run db.runCommand({ ping: 1 }). Then confirm you can insert and retrieve a document in training_store (Exercise 2.5 covers the commands). Tick ping, insert, and read only if you saw the results.</a:t>
            </a:r>
          </a:p>
          <a:p/>
          <a:p>
            <a:r>
              <a:t>Bullet 48 on the slide: Expected: Ping contains ok: 1. A test document can be inserted and found. You did not tick a box you did not prove.</a:t>
            </a:r>
          </a:p>
          <a:p/>
          <a:p>
            <a:r>
              <a:t>Bullet 49 on the slide: Do: Write down (without secrets) whether you are using local, container, managed cloud, or an instructor-provided instance. Note hostname or cluster name and port if it is not the default 27017.</a:t>
            </a:r>
          </a:p>
          <a:p/>
          <a:p>
            <a:r>
              <a:t>Bullet 50 on the slide: Expected: You can state your deployment path and how you reach the server, with no password on the page.</a:t>
            </a:r>
          </a:p>
          <a:p/>
          <a:p>
            <a:r>
              <a:t>Bullet 51 on the slide: Do: Check that mongosh is available (mongosh --version). If Compass is required, confirm it launches. Confirm you have a connection string stored securely (password manager, instructor handout, or environment variable) —.</a:t>
            </a:r>
          </a:p>
          <a:p/>
          <a:p>
            <a:r>
              <a:t>Bullet 52 on the slide: Expected: Shell version prints. Compass opens if required. You know where the URI lives without displaying the password.</a:t>
            </a:r>
          </a:p>
          <a:p/>
          <a:p>
            <a:r>
              <a:t>Bullet 53 on the slide: Do: In mongosh, run db.runCommand({ ping: 1 }). Then confirm you can insert and retrieve a document in training_store (Exercise 2.5 covers the commands). Tick ping, insert, and read only if you saw the results.</a:t>
            </a:r>
          </a:p>
          <a:p/>
          <a:p>
            <a:r>
              <a:t>Bullet 54 on the slide: Expected: Ping contains ok: 1. A test document can be inserted and found. You did not tick a box you did not prove.</a:t>
            </a:r>
          </a:p>
          <a:p/>
          <a:p>
            <a:r>
              <a:t>Bullet 55 on the slide: Do: Write down (without secrets) whether you are using local, container, managed cloud, or an instructor-provided instance. Note hostname or cluster name and port if it is not the default 27017.</a:t>
            </a:r>
          </a:p>
          <a:p/>
          <a:p>
            <a:r>
              <a:t>Bullet 56 on the slide: Expected: You can state your deployment path and how you reach the server, with no password on the page.</a:t>
            </a:r>
          </a:p>
          <a:p/>
          <a:p>
            <a:r>
              <a:t>Bullet 57 on the slide: Do: Check that mongosh is available (mongosh --version). If Compass is required, confirm it launches. Confirm you have a connection string stored securely (password manager, instructor handout, or environment variable) —.</a:t>
            </a:r>
          </a:p>
          <a:p/>
          <a:p>
            <a:r>
              <a:t>Bullet 58 on the slide: Expected: Shell version prints. Compass opens if required. You know where the URI lives without displaying the password.</a:t>
            </a:r>
          </a:p>
          <a:p/>
          <a:p>
            <a:r>
              <a:t>Bullet 59 on the slide: Do: In mongosh, run db.runCommand({ ping: 1 }). Then confirm you can insert and retrieve a document in training_store (Exercise 2.5 covers the commands). Tick ping, insert, and read only if you saw the results.</a:t>
            </a:r>
          </a:p>
          <a:p/>
          <a:p>
            <a:r>
              <a:t>Bullet 60 on the slide: Expected: Ping contains ok: 1. A test document can be inserted and found. You did not tick a box you did not prove.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3–4.</a:t>
            </a:r>
          </a:p>
          <a:p/>
          <a:p>
            <a:r>
              <a:t>Step 3 — Confirm ping, write, and read.</a:t>
            </a:r>
          </a:p>
          <a:p/>
          <a:p>
            <a:r>
              <a:t>Step 4 — List unresolved problems.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2.3 — Steps 3–4.</a:t>
            </a:r>
          </a:p>
          <a:p/>
          <a:p>
            <a:r>
              <a:t>The slide says: Lab guide: [Exercise 2.3](../slide-exercises/module-02/exercise-2.3-environment-readiness-checklist.md).</a:t>
            </a:r>
          </a:p>
          <a:p/>
          <a:p>
            <a:r>
              <a:t>Bullet 1 on the slide: Do: Ping, then insert and find in training_store (Exercise 2.5 has the commands).</a:t>
            </a:r>
          </a:p>
          <a:p/>
          <a:p>
            <a:r>
              <a:t>Bullet 2 on the slide: Expected: Boxes ticked only if observed. Ping contains ok: 1.</a:t>
            </a:r>
          </a:p>
          <a:p/>
          <a:p>
            <a:r>
              <a:t>Bullet 3 on the slide: Do: Symptom, likely layer, next check. Report without exposing credentials.</a:t>
            </a:r>
          </a:p>
          <a:p/>
          <a:p>
            <a:r>
              <a:t>Bullet 4 on the slide: Expected: Either every required box is checked, or every gap has a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Module Summary.</a:t>
            </a:r>
          </a:p>
          <a:p/>
          <a:p>
            <a:r>
              <a:t>The slide title is: Module Summary.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MongoDB may run locally, in a container, on a server, or as a managed service.</a:t>
            </a:r>
          </a:p>
          <a:p/>
          <a:p>
            <a:r>
              <a:t>Bullet 2 on the slide: mongod is the server; mongosh and Compass are clients.</a:t>
            </a:r>
          </a:p>
          <a:p/>
          <a:p>
            <a:r>
              <a:t>Bullet 3 on the slide: Connection strings describe how clients reach MongoDB.</a:t>
            </a:r>
          </a:p>
          <a:p/>
          <a:p>
            <a:r>
              <a:t>Bullet 4 on the slide: Ping verifies connectivity; write-and-read verifies usable access.</a:t>
            </a:r>
          </a:p>
          <a:p/>
          <a:p>
            <a:r>
              <a:t>Bullet 5 on the slide: Protect credentials and network access.</a:t>
            </a:r>
          </a:p>
          <a:p/>
          <a:p>
            <a:r>
              <a:t>The figure on this slide is titled: Three clients converging on one MongoDB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look at Knowledge Check.</a:t>
            </a:r>
          </a:p>
          <a:p/>
          <a:p>
            <a:r>
              <a:t>The slide title is: Knowledge Check.</a:t>
            </a:r>
          </a:p>
          <a:p/>
          <a:p>
            <a:r>
              <a:t>The slide says: 1. Role of mongod?.</a:t>
            </a:r>
          </a:p>
          <a:p/>
          <a:p>
            <a:r>
              <a:t>The slide says: 2. Role of mongosh?.</a:t>
            </a:r>
          </a:p>
          <a:p/>
          <a:p>
            <a:r>
              <a:t>The slide says: 3. What is Compass?.</a:t>
            </a:r>
          </a:p>
          <a:p/>
          <a:p>
            <a:r>
              <a:t>The slide says: 4. Default MongoDB port?.</a:t>
            </a:r>
          </a:p>
          <a:p/>
          <a:p>
            <a:r>
              <a:t>The slide says: 5. mongodb:// vs mongodb+srv://?.</a:t>
            </a:r>
          </a:p>
          <a:p/>
          <a:p>
            <a:r>
              <a:t>The slide says: 6. What does db.runCommand({ ping: 1 }) verify?.</a:t>
            </a:r>
          </a:p>
          <a:p/>
          <a:p>
            <a:r>
              <a:t>The slide says: 7. Why might show dbs omit a newly selected database?.</a:t>
            </a:r>
          </a:p>
          <a:p/>
          <a:p>
            <a:r>
              <a:t>The slide says: 8. Common cause of connection refused?.</a:t>
            </a:r>
          </a:p>
          <a:p/>
          <a:p>
            <a:r>
              <a:t>The slide says: 9. Common cause of authentication failed?.</a:t>
            </a:r>
          </a:p>
          <a:p/>
          <a:p>
            <a:r>
              <a:t>The slide says: 10. Why not embed credentials in source code?.</a:t>
            </a:r>
          </a:p>
          <a:p/>
          <a:p>
            <a:r>
              <a:t>Number 1 on the slide: Role of mongod?.</a:t>
            </a:r>
          </a:p>
          <a:p/>
          <a:p>
            <a:r>
              <a:t>Number 2 on the slide: Role of mongosh?.</a:t>
            </a:r>
          </a:p>
          <a:p/>
          <a:p>
            <a:r>
              <a:t>Number 3 on the slide: What is Compass?.</a:t>
            </a:r>
          </a:p>
          <a:p/>
          <a:p>
            <a:r>
              <a:t>Number 4 on the slide: Default MongoDB port?.</a:t>
            </a:r>
          </a:p>
          <a:p/>
          <a:p>
            <a:r>
              <a:t>Number 5 on the slide: mongodb:// vs mongodb+srv://?.</a:t>
            </a:r>
          </a:p>
          <a:p/>
          <a:p>
            <a:r>
              <a:t>Number 6 on the slide: What does db.runCommand({ ping: 1 }) verify?.</a:t>
            </a:r>
          </a:p>
          <a:p/>
          <a:p>
            <a:r>
              <a:t>Number 7 on the slide: Why might show dbs omit a newly selected database?.</a:t>
            </a:r>
          </a:p>
          <a:p/>
          <a:p>
            <a:r>
              <a:t>Number 8 on the slide: Common cause of connection refused?.</a:t>
            </a:r>
          </a:p>
          <a:p/>
          <a:p>
            <a:r>
              <a:t>Number 9 on the slide: Common cause of authentication failed?.</a:t>
            </a:r>
          </a:p>
          <a:p/>
          <a:p>
            <a:r>
              <a:t>Number 10 on the slide: Why not embed credentials in source code?.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2.5 — Install, Connect, and Verify.</a:t>
            </a:r>
          </a:p>
          <a:p/>
          <a:p>
            <a:r>
              <a:t>The slide title is: Exercise 2.5 — Install, Connect, and Verify.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40 minutes. One path: local, managed cloud, or instructor URI.</a:t>
            </a:r>
          </a:p>
          <a:p/>
          <a:p>
            <a:r>
              <a:t>The slide says: Then: mongosh → ping → training_store → insert/find → Compass.</a:t>
            </a:r>
          </a:p>
          <a:p/>
          <a:p>
            <a:r>
              <a:t>The slide says: Lab guide: [Exercise 2.5](../slide-exercises/module-02/exercise-2.5-install-connect-and-verify.md).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The figure on this slide is titled: Mixed setup steps to put in the correct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2.1 — Install or Provision.</a:t>
            </a:r>
          </a:p>
          <a:p/>
          <a:p>
            <a:r>
              <a:t>The slide title is: Lab 2.1 — Install or Provision.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Path A Local Community Edition.</a:t>
            </a:r>
          </a:p>
          <a:p/>
          <a:p>
            <a:r>
              <a:t>The slide says: Path B Managed cloud: user + network + URI.</a:t>
            </a:r>
          </a:p>
          <a:p/>
          <a:p>
            <a:r>
              <a:t>The slide says: Path C Instructor-provided connection string.</a:t>
            </a:r>
          </a:p>
          <a:p/>
          <a:p>
            <a:r>
              <a:t>The slide says: Complete one path. Do not share passwords.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The figure on this slide is titled: Three branches for local, cloud, and instructor-provided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2.5 — Install, Connect, and Verify. We have about 40 min for this lab.</a:t>
            </a:r>
          </a:p>
          <a:p/>
          <a:p>
            <a:r>
              <a:t>Install or provision MongoDB, connect with mongosh and Compass, and prove the environment with a write-and-read test.</a:t>
            </a:r>
          </a:p>
          <a:p/>
          <a:p>
            <a:r>
              <a:t>The full lab guide is in slide-exercises/module-02/exercise-2.5-install-connect-and-verify.md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Choose your deployment path.</a:t>
            </a:r>
          </a:p>
          <a:p/>
          <a:p>
            <a:r>
              <a:t>Step 2 — Install or provision MongoDB.</a:t>
            </a:r>
          </a:p>
          <a:p/>
          <a:p>
            <a:r>
              <a:t>Step 3 — Confirm the server is reachable.</a:t>
            </a:r>
          </a:p>
          <a:p/>
          <a:p>
            <a:r>
              <a:t>Step 1 — Choose your deployment path.</a:t>
            </a:r>
          </a:p>
          <a:p/>
          <a:p>
            <a:r>
              <a:t>Step 2 — Install or provision MongoDB.</a:t>
            </a:r>
          </a:p>
          <a:p/>
          <a:p>
            <a:r>
              <a:t>Step 3 — Confirm the server is reachable.</a:t>
            </a:r>
          </a:p>
          <a:p/>
          <a:p>
            <a:r>
              <a:t>Step 1 — Choose your deployment path.</a:t>
            </a:r>
          </a:p>
          <a:p/>
          <a:p>
            <a:r>
              <a:t>Step 2 — Install or provision MongoDB.</a:t>
            </a:r>
          </a:p>
          <a:p/>
          <a:p>
            <a:r>
              <a:t>Step 3 — Confirm the server is reachable.</a:t>
            </a:r>
          </a:p>
          <a:p/>
          <a:p>
            <a:r>
              <a:t>Step 1 — Choose your deployment path.</a:t>
            </a:r>
          </a:p>
          <a:p/>
          <a:p>
            <a:r>
              <a:t>Step 2 — Install or provision MongoDB.</a:t>
            </a:r>
          </a:p>
          <a:p/>
          <a:p>
            <a:r>
              <a:t>Step 3 — Confirm the server is reachable.</a:t>
            </a:r>
          </a:p>
          <a:p/>
          <a:p>
            <a:r>
              <a:t>Step 1 — Choose your deployment path.</a:t>
            </a:r>
          </a:p>
          <a:p/>
          <a:p>
            <a:r>
              <a:t>Step 2 — Install or provision MongoDB.</a:t>
            </a:r>
          </a:p>
          <a:p/>
          <a:p>
            <a:r>
              <a:t>Step 3 — Confirm the server is reachable.</a:t>
            </a:r>
          </a:p>
          <a:p/>
          <a:p>
            <a:r>
              <a:t>Step 1 — Choose your deployment path.</a:t>
            </a:r>
          </a:p>
          <a:p/>
          <a:p>
            <a:r>
              <a:t>Step 2 — Install or provision MongoDB.</a:t>
            </a:r>
          </a:p>
          <a:p/>
          <a:p>
            <a:r>
              <a:t>Step 3 — Confirm the server is reachable.</a:t>
            </a:r>
          </a:p>
          <a:p/>
          <a:p>
            <a:r>
              <a:t>Step 1 — Choose your deployment path.</a:t>
            </a:r>
          </a:p>
          <a:p/>
          <a:p>
            <a:r>
              <a:t>Step 2 — Install or provision MongoDB.</a:t>
            </a:r>
          </a:p>
          <a:p/>
          <a:p>
            <a:r>
              <a:t>Step 3 — Confirm the server is reachable.</a:t>
            </a:r>
          </a:p>
          <a:p/>
          <a:p>
            <a:r>
              <a:t>Step 1 — Choose your deployment path.</a:t>
            </a:r>
          </a:p>
          <a:p/>
          <a:p>
            <a:r>
              <a:t>Step 2 — Install or provision MongoDB.</a:t>
            </a:r>
          </a:p>
          <a:p/>
          <a:p>
            <a:r>
              <a:t>Step 3 — Confirm the server is reachable.</a:t>
            </a:r>
          </a:p>
          <a:p/>
          <a:p>
            <a:r>
              <a:t>Step 1 — Choose your deployment path.</a:t>
            </a:r>
          </a:p>
          <a:p/>
          <a:p>
            <a:r>
              <a:t>Step 2 — Install or provision MongoDB.</a:t>
            </a:r>
          </a:p>
          <a:p/>
          <a:p>
            <a:r>
              <a:t>Step 3 — Confirm the server is reachable.</a:t>
            </a:r>
          </a:p>
          <a:p/>
          <a:p>
            <a:r>
              <a:t>Step 1 — Choose your deployment path.</a:t>
            </a:r>
          </a:p>
          <a:p/>
          <a:p>
            <a:r>
              <a:t>Step 2 — Install or provision MongoDB.</a:t>
            </a:r>
          </a:p>
          <a:p/>
          <a:p>
            <a:r>
              <a:t>Step 3 — Confirm the server is reachable.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2.5 — Steps 1–2.</a:t>
            </a:r>
          </a:p>
          <a:p/>
          <a:p>
            <a:r>
              <a:t>The slide says: Lab guide: [Exercise 2.5](../slide-exercises/module-02/exercise-2.5-install-connect-and-verify.md).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Confirm with the instructor whether you will use Path A (local Community Edition), Path B (managed cloud / Atlas-style), or Path C (instructor-provided connection string). Write the path on your readiness checklist.</a:t>
            </a:r>
          </a:p>
          <a:p/>
          <a:p>
            <a:r>
              <a:t>Bullet 2 on the slide: Expected: You know which path you will complete. Neighbors may use a different path; the later mongosh commands are the same.</a:t>
            </a:r>
          </a:p>
          <a:p/>
          <a:p>
            <a:r>
              <a:t>Bullet 3 on the slide: Do: Complete only the path you chose. Path A — Local installation 1. Confirm OS requirements using the instructor install sheet. 2. Install MongoDB Community (server). Note the configuration file location. 3. Start the M.</a:t>
            </a:r>
          </a:p>
          <a:p/>
          <a:p>
            <a:r>
              <a:t>Bullet 4 on the slide: Expected: A MongoDB server or cluster exists that you are allowed to use. You have not written a password into a shared file.</a:t>
            </a:r>
          </a:p>
          <a:p/>
          <a:p>
            <a:r>
              <a:t>Bullet 5 on the slide: Do: For Path A, confirm the MongoDB Windows service is Running (or that mongod is listening on 27017). For Path B or C, confirm the portal or instructor shows the deployment as available. Record host and port (default `l.</a:t>
            </a:r>
          </a:p>
          <a:p/>
          <a:p>
            <a:r>
              <a:t>Bullet 6 on the slide: Expected: You can state that the server process or cluster is up, and you know the host and port you will put in the URI.</a:t>
            </a:r>
          </a:p>
          <a:p/>
          <a:p>
            <a:r>
              <a:t>Bullet 7 on the slide: Do: Confirm with the instructor whether you will use Path A (local Community Edition), Path B (managed cloud / Atlas-style), or Path C (instructor-provided connection string). Write the path on your readiness checklist.</a:t>
            </a:r>
          </a:p>
          <a:p/>
          <a:p>
            <a:r>
              <a:t>Bullet 8 on the slide: Expected: You know which path you will complete. Neighbors may use a different path; the later mongosh commands are the same.</a:t>
            </a:r>
          </a:p>
          <a:p/>
          <a:p>
            <a:r>
              <a:t>Bullet 9 on the slide: Do: Complete only the path you chose. Path A — Local installation 1. Confirm OS requirements using the instructor install sheet. 2. Install MongoDB Community (server). Note the configuration file location. 3. Start the M.</a:t>
            </a:r>
          </a:p>
          <a:p/>
          <a:p>
            <a:r>
              <a:t>Bullet 10 on the slide: Expected: A MongoDB server or cluster exists that you are allowed to use. You have not written a password into a shared file.</a:t>
            </a:r>
          </a:p>
          <a:p/>
          <a:p>
            <a:r>
              <a:t>Bullet 11 on the slide: Do: For Path A, confirm the MongoDB Windows service is Running (or that mongod is listening on 27017). For Path B or C, confirm the portal or instructor shows the deployment as available. Record host and port (default `l.</a:t>
            </a:r>
          </a:p>
          <a:p/>
          <a:p>
            <a:r>
              <a:t>Bullet 12 on the slide: Expected: You can state that the server process or cluster is up, and you know the host and port you will put in the URI.</a:t>
            </a:r>
          </a:p>
          <a:p/>
          <a:p>
            <a:r>
              <a:t>Bullet 13 on the slide: Do: Confirm with the instructor whether you will use Path A (local Community Edition), Path B (managed cloud / Atlas-style), or Path C (instructor-provided connection string). Write the path on your readiness checklist.</a:t>
            </a:r>
          </a:p>
          <a:p/>
          <a:p>
            <a:r>
              <a:t>Bullet 14 on the slide: Expected: You know which path you will complete. Neighbors may use a different path; the later mongosh commands are the same.</a:t>
            </a:r>
          </a:p>
          <a:p/>
          <a:p>
            <a:r>
              <a:t>Bullet 15 on the slide: Do: Complete only the path you chose. Path A — Local installation 1. Confirm OS requirements using the instructor install sheet. 2. Install MongoDB Community (server). Note the configuration file location. 3. Start the M.</a:t>
            </a:r>
          </a:p>
          <a:p/>
          <a:p>
            <a:r>
              <a:t>Bullet 16 on the slide: Expected: A MongoDB server or cluster exists that you are allowed to use. You have not written a password into a shared file.</a:t>
            </a:r>
          </a:p>
          <a:p/>
          <a:p>
            <a:r>
              <a:t>Bullet 17 on the slide: Do: For Path A, confirm the MongoDB Windows service is Running (or that mongod is listening on 27017). For Path B or C, confirm the portal or instructor shows the deployment as available. Record host and port (default `l.</a:t>
            </a:r>
          </a:p>
          <a:p/>
          <a:p>
            <a:r>
              <a:t>Bullet 18 on the slide: Expected: You can state that the server process or cluster is up, and you know the host and port you will put in the URI.</a:t>
            </a:r>
          </a:p>
          <a:p/>
          <a:p>
            <a:r>
              <a:t>Bullet 19 on the slide: Do: Confirm with the instructor whether you will use Path A (local Community Edition), Path B (managed cloud / Atlas-style), or Path C (instructor-provided connection string). Write the path on your readiness checklist.</a:t>
            </a:r>
          </a:p>
          <a:p/>
          <a:p>
            <a:r>
              <a:t>Bullet 20 on the slide: Expected: You know which path you will complete. Neighbors may use a different path; the later mongosh commands are the same.</a:t>
            </a:r>
          </a:p>
          <a:p/>
          <a:p>
            <a:r>
              <a:t>Bullet 21 on the slide: Do: Complete only the path you chose. Path A — Local installation 1. Confirm OS requirements using the instructor install sheet. 2. Install MongoDB Community (server). Note the configuration file location. 3. Start the M.</a:t>
            </a:r>
          </a:p>
          <a:p/>
          <a:p>
            <a:r>
              <a:t>Bullet 22 on the slide: Expected: A MongoDB server or cluster exists that you are allowed to use. You have not written a password into a shared file.</a:t>
            </a:r>
          </a:p>
          <a:p/>
          <a:p>
            <a:r>
              <a:t>Bullet 23 on the slide: Do: For Path A, confirm the MongoDB Windows service is Running (or that mongod is listening on 27017). For Path B or C, confirm the portal or instructor shows the deployment as available. Record host and port (default `l.</a:t>
            </a:r>
          </a:p>
          <a:p/>
          <a:p>
            <a:r>
              <a:t>Bullet 24 on the slide: Expected: You can state that the server process or cluster is up, and you know the host and port you will put in the URI.</a:t>
            </a:r>
          </a:p>
          <a:p/>
          <a:p>
            <a:r>
              <a:t>Bullet 25 on the slide: Do: Confirm with the instructor whether you will use Path A (local Community Edition), Path B (managed cloud / Atlas-style), or Path C (instructor-provided connection string). Write the path on your readiness checklist.</a:t>
            </a:r>
          </a:p>
          <a:p/>
          <a:p>
            <a:r>
              <a:t>Bullet 26 on the slide: Expected: You know which path you will complete. Neighbors may use a different path; the later mongosh commands are the same.</a:t>
            </a:r>
          </a:p>
          <a:p/>
          <a:p>
            <a:r>
              <a:t>Bullet 27 on the slide: Do: Complete only the path you chose. Path A — Local installation 1. Confirm OS requirements using the instructor install sheet. 2. Install MongoDB Community (server). Note the configuration file location. 3. Start the M.</a:t>
            </a:r>
          </a:p>
          <a:p/>
          <a:p>
            <a:r>
              <a:t>Bullet 28 on the slide: Expected: A MongoDB server or cluster exists that you are allowed to use. You have not written a password into a shared file.</a:t>
            </a:r>
          </a:p>
          <a:p/>
          <a:p>
            <a:r>
              <a:t>Bullet 29 on the slide: Do: For Path A, confirm the MongoDB Windows service is Running (or that mongod is listening on 27017). For Path B or C, confirm the portal or instructor shows the deployment as available. Record host and port (default `l.</a:t>
            </a:r>
          </a:p>
          <a:p/>
          <a:p>
            <a:r>
              <a:t>Bullet 30 on the slide: Expected: You can state that the server process or cluster is up, and you know the host and port you will put in the URI.</a:t>
            </a:r>
          </a:p>
          <a:p/>
          <a:p>
            <a:r>
              <a:t>Bullet 31 on the slide: Do: Confirm with the instructor whether you will use Path A (local Community Edition), Path B (managed cloud / Atlas-style), or Path C (instructor-provided connection string). Write the path on your readiness checklist.</a:t>
            </a:r>
          </a:p>
          <a:p/>
          <a:p>
            <a:r>
              <a:t>Bullet 32 on the slide: Expected: You know which path you will complete. Neighbors may use a different path; the later mongosh commands are the same.</a:t>
            </a:r>
          </a:p>
          <a:p/>
          <a:p>
            <a:r>
              <a:t>Bullet 33 on the slide: Do: Complete only the path you chose. Path A — Local installation 1. Confirm OS requirements using the instructor install sheet. 2. Install MongoDB Community (server). Note the configuration file location. 3. Start the M.</a:t>
            </a:r>
          </a:p>
          <a:p/>
          <a:p>
            <a:r>
              <a:t>Bullet 34 on the slide: Expected: A MongoDB server or cluster exists that you are allowed to use. You have not written a password into a shared file.</a:t>
            </a:r>
          </a:p>
          <a:p/>
          <a:p>
            <a:r>
              <a:t>Bullet 35 on the slide: Do: For Path A, confirm the MongoDB Windows service is Running (or that mongod is listening on 27017). For Path B or C, confirm the portal or instructor shows the deployment as available. Record host and port (default `l.</a:t>
            </a:r>
          </a:p>
          <a:p/>
          <a:p>
            <a:r>
              <a:t>Bullet 36 on the slide: Expected: You can state that the server process or cluster is up, and you know the host and port you will put in the URI.</a:t>
            </a:r>
          </a:p>
          <a:p/>
          <a:p>
            <a:r>
              <a:t>Bullet 37 on the slide: Do: Confirm with the instructor whether you will use Path A (local Community Edition), Path B (managed cloud / Atlas-style), or Path C (instructor-provided connection string). Write the path on your readiness checklist.</a:t>
            </a:r>
          </a:p>
          <a:p/>
          <a:p>
            <a:r>
              <a:t>Bullet 38 on the slide: Expected: You know which path you will complete. Neighbors may use a different path; the later mongosh commands are the same.</a:t>
            </a:r>
          </a:p>
          <a:p/>
          <a:p>
            <a:r>
              <a:t>Bullet 39 on the slide: Do: Complete only the path you chose. Path A — Local installation 1. Confirm OS requirements using the instructor install sheet. 2. Install MongoDB Community (server). Note the configuration file location. 3. Start the M.</a:t>
            </a:r>
          </a:p>
          <a:p/>
          <a:p>
            <a:r>
              <a:t>Bullet 40 on the slide: Expected: A MongoDB server or cluster exists that you are allowed to use. You have not written a password into a shared file.</a:t>
            </a:r>
          </a:p>
          <a:p/>
          <a:p>
            <a:r>
              <a:t>Bullet 41 on the slide: Do: For Path A, confirm the MongoDB Windows service is Running (or that mongod is listening on 27017). For Path B or C, confirm the portal or instructor shows the deployment as available. Record host and port (default `l.</a:t>
            </a:r>
          </a:p>
          <a:p/>
          <a:p>
            <a:r>
              <a:t>Bullet 42 on the slide: Expected: You can state that the server process or cluster is up, and you know the host and port you will put in the URI.</a:t>
            </a:r>
          </a:p>
          <a:p/>
          <a:p>
            <a:r>
              <a:t>Bullet 43 on the slide: Do: Confirm with the instructor whether you will use Path A (local Community Edition), Path B (managed cloud / Atlas-style), or Path C (instructor-provided connection string). Write the path on your readiness checklist.</a:t>
            </a:r>
          </a:p>
          <a:p/>
          <a:p>
            <a:r>
              <a:t>Bullet 44 on the slide: Expected: You know which path you will complete. Neighbors may use a different path; the later mongosh commands are the same.</a:t>
            </a:r>
          </a:p>
          <a:p/>
          <a:p>
            <a:r>
              <a:t>Bullet 45 on the slide: Do: Complete only the path you chose. Path A — Local installation 1. Confirm OS requirements using the instructor install sheet. 2. Install MongoDB Community (server). Note the configuration file location. 3. Start the M.</a:t>
            </a:r>
          </a:p>
          <a:p/>
          <a:p>
            <a:r>
              <a:t>Bullet 46 on the slide: Expected: A MongoDB server or cluster exists that you are allowed to use. You have not written a password into a shared file.</a:t>
            </a:r>
          </a:p>
          <a:p/>
          <a:p>
            <a:r>
              <a:t>Bullet 47 on the slide: Do: For Path A, confirm the MongoDB Windows service is Running (or that mongod is listening on 27017). For Path B or C, confirm the portal or instructor shows the deployment as available. Record host and port (default `l.</a:t>
            </a:r>
          </a:p>
          <a:p/>
          <a:p>
            <a:r>
              <a:t>Bullet 48 on the slide: Expected: You can state that the server process or cluster is up, and you know the host and port you will put in the URI.</a:t>
            </a:r>
          </a:p>
          <a:p/>
          <a:p>
            <a:r>
              <a:t>Bullet 49 on the slide: Do: Confirm with the instructor whether you will use Path A (local Community Edition), Path B (managed cloud / Atlas-style), or Path C (instructor-provided connection string). Write the path on your readiness checklist.</a:t>
            </a:r>
          </a:p>
          <a:p/>
          <a:p>
            <a:r>
              <a:t>Bullet 50 on the slide: Expected: You know which path you will complete. Neighbors may use a different path; the later mongosh commands are the same.</a:t>
            </a:r>
          </a:p>
          <a:p/>
          <a:p>
            <a:r>
              <a:t>Bullet 51 on the slide: Do: Complete only the path you chose. Path A — Local installation 1. Confirm OS requirements using the instructor install sheet. 2. Install MongoDB Community (server). Note the configuration file location. 3. Start the M.</a:t>
            </a:r>
          </a:p>
          <a:p/>
          <a:p>
            <a:r>
              <a:t>Bullet 52 on the slide: Expected: A MongoDB server or cluster exists that you are allowed to use. You have not written a password into a shared file.</a:t>
            </a:r>
          </a:p>
          <a:p/>
          <a:p>
            <a:r>
              <a:t>Bullet 53 on the slide: Do: For Path A, confirm the MongoDB Windows service is Running (or that mongod is listening on 27017). For Path B or C, confirm the portal or instructor shows the deployment as available. Record host and port (default `l.</a:t>
            </a:r>
          </a:p>
          <a:p/>
          <a:p>
            <a:r>
              <a:t>Bullet 54 on the slide: Expected: You can state that the server process or cluster is up, and you know the host and port you will put in the URI.</a:t>
            </a:r>
          </a:p>
          <a:p/>
          <a:p>
            <a:r>
              <a:t>Bullet 55 on the slide: Do: Confirm with the instructor whether you will use Path A (local Community Edition), Path B (managed cloud / Atlas-style), or Path C (instructor-provided connection string). Write the path on your readiness checklist.</a:t>
            </a:r>
          </a:p>
          <a:p/>
          <a:p>
            <a:r>
              <a:t>Bullet 56 on the slide: Expected: You know which path you will complete. Neighbors may use a different path; the later mongosh commands are the same.</a:t>
            </a:r>
          </a:p>
          <a:p/>
          <a:p>
            <a:r>
              <a:t>Bullet 57 on the slide: Do: Complete only the path you chose. Path A — Local installation 1. Confirm OS requirements using the instructor install sheet. 2. Install MongoDB Community (server). Note the configuration file location. 3. Start the M.</a:t>
            </a:r>
          </a:p>
          <a:p/>
          <a:p>
            <a:r>
              <a:t>Bullet 58 on the slide: Expected: A MongoDB server or cluster exists that you are allowed to use. You have not written a password into a shared file.</a:t>
            </a:r>
          </a:p>
          <a:p/>
          <a:p>
            <a:r>
              <a:t>Bullet 59 on the slide: Do: For Path A, confirm the MongoDB Windows service is Running (or that mongod is listening on 27017). For Path B or C, confirm the portal or instructor shows the deployment as available. Record host and port (default `l.</a:t>
            </a:r>
          </a:p>
          <a:p/>
          <a:p>
            <a:r>
              <a:t>Bullet 60 on the slide: Expected: You can state that the server process or cluster is up, and you know the host and port you will put in the URI.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3–4.</a:t>
            </a:r>
          </a:p>
          <a:p/>
          <a:p>
            <a:r>
              <a:t>Step 3 — Confirm the server is reachable.</a:t>
            </a:r>
          </a:p>
          <a:p/>
          <a:p>
            <a:r>
              <a:t>Step 4 — Connect using mongosh.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2.5 — Steps 3–4.</a:t>
            </a:r>
          </a:p>
          <a:p/>
          <a:p>
            <a:r>
              <a:t>The slide says: Lab guide: [Exercise 2.5](../slide-exercises/module-02/exercise-2.5-install-connect-and-verify.md).</a:t>
            </a:r>
          </a:p>
          <a:p/>
          <a:p>
            <a:r>
              <a:t>Bullet 1 on the slide: Do: Path A: service Running or port 27017. Path B/C: deployment available. Record host and port.</a:t>
            </a:r>
          </a:p>
          <a:p/>
          <a:p>
            <a:r>
              <a:t>Bullet 2 on the slide: Expected: You can state that the server is up and which host:port you will use.</a:t>
            </a:r>
          </a:p>
          <a:p/>
          <a:p>
            <a:r>
              <a:t>Bullet 3 on the slide: Do: mongosh "&lt;connection-string&gt;" — local example mongodb://localhost:27017.</a:t>
            </a:r>
          </a:p>
          <a:p/>
          <a:p>
            <a:r>
              <a:t>Bullet 4 on the slide: Expected: Shell prompt appears. Not connection refused.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2.2 — Connect and Verify.</a:t>
            </a:r>
          </a:p>
          <a:p/>
          <a:p>
            <a:r>
              <a:t>The slide title is: Lab 2.2 — Connect and Verify.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Success: shell opens, auth works, ping ok: 1.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The figure on this slide is titled: Open terminal, mongosh, authenticate, ping, list databases.</a:t>
            </a:r>
          </a:p>
          <a:p/>
          <a:p>
            <a:r>
              <a:t>The code on the slide reads: db.runCommand({ ping: 1 }) db show dbs show collections.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5–6.</a:t>
            </a:r>
          </a:p>
          <a:p/>
          <a:p>
            <a:r>
              <a:t>Step 5 — Ping and inspect the environment.</a:t>
            </a:r>
          </a:p>
          <a:p/>
          <a:p>
            <a:r>
              <a:t>Step 6 — Select training_store and create a collection.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2.5 — Steps 5–6.</a:t>
            </a:r>
          </a:p>
          <a:p/>
          <a:p>
            <a:r>
              <a:t>The slide says: Lab guide: [Exercise 2.5](../slide-exercises/module-02/exercise-2.5-install-connect-and-verify.md).</a:t>
            </a:r>
          </a:p>
          <a:p/>
          <a:p>
            <a:r>
              <a:t>Bullet 1 on the slide: Do: db.runCommand({ ping: 1 }), db, show dbs, show collections.</a:t>
            </a:r>
          </a:p>
          <a:p/>
          <a:p>
            <a:r>
              <a:t>Bullet 2 on the slide: Expected: Ping contains ok: 1. You can see permitted databases.</a:t>
            </a:r>
          </a:p>
          <a:p/>
          <a:p>
            <a:r>
              <a:t>Bullet 3 on the slide: Do: use training_store then db.createCollection("environment_check").</a:t>
            </a:r>
          </a:p>
          <a:p/>
          <a:p>
            <a:r>
              <a:t>Bullet 4 on the slide: Expected: db shows training_store. Collections include environment_check.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2.3 — Create the Training Database.</a:t>
            </a:r>
          </a:p>
          <a:p/>
          <a:p>
            <a:r>
              <a:t>The slide title is: Lab 2.3 — Create the Training Database.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Module 3 will add customers, products, and orders.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The figure on this slide is titled: Select database, create collection, verify collection.</a:t>
            </a:r>
          </a:p>
          <a:p/>
          <a:p>
            <a:r>
              <a:t>The code on the slide reads: use training_store db.createCollection("environment_check") show collections 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2.4 — Insert and Retrieve.</a:t>
            </a:r>
          </a:p>
          <a:p/>
          <a:p>
            <a:r>
              <a:t>The slide title is: Lab 2.4 — Insert and Retrieve.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insertOne with status: "READY" → findOne → insertMany components → countDocuments → updateOne participant name.</a:t>
            </a:r>
          </a:p>
          <a:p/>
          <a:p>
            <a:r>
              <a:t>The slide says: Prove write, read, and update.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The figure on this slide is titled: Create, insert, retrieve, update, 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7–8.</a:t>
            </a:r>
          </a:p>
          <a:p/>
          <a:p>
            <a:r>
              <a:t>Step 7 — Insert and retrieve a test document.</a:t>
            </a:r>
          </a:p>
          <a:p/>
          <a:p>
            <a:r>
              <a:t>Step 8 — Insert multiple documents, count, and update.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2.5 — Steps 7–8.</a:t>
            </a:r>
          </a:p>
          <a:p/>
          <a:p>
            <a:r>
              <a:t>The slide says: Lab guide: [Exercise 2.5](../slide-exercises/module-02/exercise-2.5-install-connect-and-verify.md).</a:t>
            </a:r>
          </a:p>
          <a:p/>
          <a:p>
            <a:r>
              <a:t>Bullet 1 on the slide: Do: insertOne with status: "READY" and findOne on that status.</a:t>
            </a:r>
          </a:p>
          <a:p/>
          <a:p>
            <a:r>
              <a:t>Bullet 2 on the slide: Expected: Acknowledged insert, _id assigned, document returned with a date.</a:t>
            </a:r>
          </a:p>
          <a:p/>
          <a:p>
            <a:r>
              <a:t>Bullet 3 on the slide: Do: insertMany for server/shell/Compass, countDocuments, updateOne your name.</a:t>
            </a:r>
          </a:p>
          <a:p/>
          <a:p>
            <a:r>
              <a:t>Bullet 4 on the slide: Expected: Count at least 4. READY document shows your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2.5 — Validate the Complete Environment.</a:t>
            </a:r>
          </a:p>
          <a:p/>
          <a:p>
            <a:r>
              <a:t>The slide title is: Lab 2.5 — Validate the Complete Environment.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Confirm mongosh and Compass, database and collection visibility, insert/read/update, dates, _id, and reconnection.</a:t>
            </a:r>
          </a:p>
          <a:p/>
          <a:p>
            <a:r>
              <a:t>The slide says: Insert { module: 2, validation: "COMPLETE" }.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The figure on this slide is titled: Server, mongosh, Compass, database, collection, and test document marked operational.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9–10.</a:t>
            </a:r>
          </a:p>
          <a:p/>
          <a:p>
            <a:r>
              <a:t>Step 9 — Connect with Compass and confirm the same data.</a:t>
            </a:r>
          </a:p>
          <a:p/>
          <a:p>
            <a:r>
              <a:t>Step 10 — Record environment validation.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2.5 — Steps 9–10.</a:t>
            </a:r>
          </a:p>
          <a:p/>
          <a:p>
            <a:r>
              <a:t>The slide says: Lab guide: [Exercise 2.5](../slide-exercises/module-02/exercise-2.5-install-connect-and-verify.md).</a:t>
            </a:r>
          </a:p>
          <a:p/>
          <a:p>
            <a:r>
              <a:t>Bullet 1 on the slide: Do: Paste the same URI. Open training_store.environment_check and the READY document.</a:t>
            </a:r>
          </a:p>
          <a:p/>
          <a:p>
            <a:r>
              <a:t>Bullet 2 on the slide: Expected: Compass shows the same document as mongosh.</a:t>
            </a:r>
          </a:p>
          <a:p/>
          <a:p>
            <a:r>
              <a:t>Bullet 3 on the slide: Do: Insert the COMPLETE document. Finish Exercise 2.3. Note any gaps.</a:t>
            </a:r>
          </a:p>
          <a:p/>
          <a:p>
            <a:r>
              <a:t>Bullet 4 on the slide: Expected: Checklist matches what you observed. You can reconnect after closing the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Practical Challenge — New Developer Environment.</a:t>
            </a:r>
          </a:p>
          <a:p/>
          <a:p>
            <a:r>
              <a:t>The slide title is: Practical Challenge — New Developer Environment.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15–20 minutes if time remains.</a:t>
            </a:r>
          </a:p>
          <a:p/>
          <a:p>
            <a:r>
              <a:t>The slide says: Parse the URI · mongosh · ping · training_store · developer_checks · insert READY · find it in Compass.</a:t>
            </a:r>
          </a:p>
          <a:p/>
          <a:p>
            <a:r>
              <a:t>The slide says: Lab guide: challenge section in [Exercise 2.5](../slide-exercises/module-02/exercise-2.5-install-connect-and-verify.md).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The figure on this slide is titled: New developer through URI, shell, write/read, Compass,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look at Exit Ticket.</a:t>
            </a:r>
          </a:p>
          <a:p/>
          <a:p>
            <a:r>
              <a:t>The slide title is: Exit Ticket.</a:t>
            </a:r>
          </a:p>
          <a:p/>
          <a:p>
            <a:r>
              <a:t>The slide says: 1. Difference between mongod and mongosh?.</a:t>
            </a:r>
          </a:p>
          <a:p/>
          <a:p>
            <a:r>
              <a:t>The slide says: 2. What does a connection string provide?.</a:t>
            </a:r>
          </a:p>
          <a:p/>
          <a:p>
            <a:r>
              <a:t>The slide says: 3. Default port?.</a:t>
            </a:r>
          </a:p>
          <a:p/>
          <a:p>
            <a:r>
              <a:t>The slide says: 4. Why might a database not appear after use?.</a:t>
            </a:r>
          </a:p>
          <a:p/>
          <a:p>
            <a:r>
              <a:t>The slide says: 5. What does a successful ping prove?.</a:t>
            </a:r>
          </a:p>
          <a:p/>
          <a:p>
            <a:r>
              <a:t>The slide says: 6. Why also do a write-and-read?.</a:t>
            </a:r>
          </a:p>
          <a:p/>
          <a:p>
            <a:r>
              <a:t>The slide says: 7. Two causes of a connection timeout?.</a:t>
            </a:r>
          </a:p>
          <a:p/>
          <a:p>
            <a:r>
              <a:t>The slide says: 8. Safest way to manage application credentials?.</a:t>
            </a:r>
          </a:p>
          <a:p/>
          <a:p>
            <a:r>
              <a:t>The slide says: 9. Where to look when MongoDB fails to start?.</a:t>
            </a:r>
          </a:p>
          <a:p/>
          <a:p>
            <a:r>
              <a:t>The slide says: 10. Authentication vs authorization?.</a:t>
            </a:r>
          </a:p>
          <a:p/>
          <a:p>
            <a:r>
              <a:t>Number 1 on the slide: Difference between mongod and mongosh?.</a:t>
            </a:r>
          </a:p>
          <a:p/>
          <a:p>
            <a:r>
              <a:t>Number 2 on the slide: What does a connection string provide?.</a:t>
            </a:r>
          </a:p>
          <a:p/>
          <a:p>
            <a:r>
              <a:t>Number 3 on the slide: Default port?.</a:t>
            </a:r>
          </a:p>
          <a:p/>
          <a:p>
            <a:r>
              <a:t>Number 4 on the slide: Why might a database not appear after use?.</a:t>
            </a:r>
          </a:p>
          <a:p/>
          <a:p>
            <a:r>
              <a:t>Number 5 on the slide: What does a successful ping prove?.</a:t>
            </a:r>
          </a:p>
          <a:p/>
          <a:p>
            <a:r>
              <a:t>Number 6 on the slide: Why also do a write-and-read?.</a:t>
            </a:r>
          </a:p>
          <a:p/>
          <a:p>
            <a:r>
              <a:t>Number 7 on the slide: Two causes of a connection timeout?.</a:t>
            </a:r>
          </a:p>
          <a:p/>
          <a:p>
            <a:r>
              <a:t>Number 8 on the slide: Safest way to manage application credentials?.</a:t>
            </a:r>
          </a:p>
          <a:p/>
          <a:p>
            <a:r>
              <a:t>Number 9 on the slide: Where to look when MongoDB fails to start?.</a:t>
            </a:r>
          </a:p>
          <a:p/>
          <a:p>
            <a:r>
              <a:t>Number 10 on the slide: Authentication vs authorization?.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Questions and Answers.</a:t>
            </a:r>
          </a:p>
          <a:p/>
          <a:p>
            <a:r>
              <a:t>The slide title is: Questions and Answers.</a:t>
            </a:r>
          </a:p>
          <a:p/>
          <a:p>
            <a:r>
              <a:t>The slide says: Bring:.</a:t>
            </a:r>
          </a:p>
          <a:p/>
          <a:p>
            <a:r>
              <a:t>The slide says: Do not paste passwords into chat or onto a shared screen.</a:t>
            </a:r>
          </a:p>
          <a:p/>
          <a:p>
            <a:r>
              <a:t>Bullet 1 on the slide: A connection error you actually saw.</a:t>
            </a:r>
          </a:p>
          <a:p/>
          <a:p>
            <a:r>
              <a:t>Bullet 2 on the slide: Whether you are on local, container, or cloud.</a:t>
            </a:r>
          </a:p>
          <a:p/>
          <a:p>
            <a:r>
              <a:t>Bullet 3 on the slide: What you already tried (one change at a time).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Transition to Module 3.</a:t>
            </a:r>
          </a:p>
          <a:p/>
          <a:p>
            <a:r>
              <a:t>The slide title is: Transition to Module 3.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The environment is ready. Next: document design.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Databases, collections, documents.</a:t>
            </a:r>
          </a:p>
          <a:p/>
          <a:p>
            <a:r>
              <a:t>Bullet 2 on the slide: BSON types.</a:t>
            </a:r>
          </a:p>
          <a:p/>
          <a:p>
            <a:r>
              <a:t>Bullet 3 on the slide: Schema design and access patterns.</a:t>
            </a:r>
          </a:p>
          <a:p/>
          <a:p>
            <a:r>
              <a:t>Bullet 4 on the slide: Embedding versus referencing.</a:t>
            </a:r>
          </a:p>
          <a:p/>
          <a:p>
            <a:r>
              <a:t>Bullet 5 on the slide: Building the training_store dataset.</a:t>
            </a:r>
          </a:p>
          <a:p/>
          <a:p>
            <a:r>
              <a:t>The figure on this slide is titled: training_store with environment_check, customers, products, orders.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02060"/>
                </a:solidFill>
                <a:latin typeface="Leelawadee"/>
              </a:rP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47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MongoDB Installation and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862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2060"/>
                </a:solidFill>
                <a:latin typeface="Nirmala UI"/>
              </a:rPr>
              <a:t>Before documents and queries: a reliable environment and a verified client connection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709160"/>
            <a:ext cx="2139696" cy="82296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4709160"/>
            <a:ext cx="2029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Choosing a Deployment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34056" y="4709160"/>
            <a:ext cx="2139696" cy="8229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4709160"/>
            <a:ext cx="2029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Installing MongoDB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10912" y="4709160"/>
            <a:ext cx="2139696" cy="822960"/>
          </a:xfrm>
          <a:prstGeom prst="roundRect">
            <a:avLst>
              <a:gd name="adj" fmla="val 12000"/>
            </a:avLst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65776" y="4709160"/>
            <a:ext cx="2029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Connecting with mongosh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7768" y="4709160"/>
            <a:ext cx="2139696" cy="822960"/>
          </a:xfrm>
          <a:prstGeom prst="roundRect">
            <a:avLst>
              <a:gd name="adj" fmla="val 12000"/>
            </a:avLst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632" y="4709160"/>
            <a:ext cx="2029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First MongoDB Commands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64624" y="4709160"/>
            <a:ext cx="2139696" cy="82296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19488" y="4709160"/>
            <a:ext cx="2029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Troubleshooting Connections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72200"/>
            <a:ext cx="7525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Nirmala UI"/>
              </a:rPr>
              <a:t>MASTERING MONGODB  •  MODULE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MODULE 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7366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736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5538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YOU WILL BE ABLE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57716"/>
            <a:ext cx="11247120" cy="350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Choose local, self-managed, container, or managed-cloud MongoDB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Identify server, clients, configuration, data, and logs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Install or provision an instance and verify it is running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Connect with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mongosh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and MongoDB Compass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Interpret a connection string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Create a database and collection; insert and retrieve a test document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Apply basic credential and network hygiene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Diagnose common install and connectivity failures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LOCAL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35452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354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17164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19500"/>
            <a:ext cx="3840480" cy="583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MongoDB can be installed in two main ways: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4436"/>
            <a:ext cx="3840480" cy="583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MongoDB Community Edition runs directly on the learner’s computer.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69372"/>
            <a:ext cx="384048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Best for: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09612"/>
            <a:ext cx="3840480" cy="1795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Classroom exercises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Offline development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Learning administration commands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Testing applications locally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Understanding the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mongod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server process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71035" y="1898493"/>
            <a:ext cx="7242810" cy="3317045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908018"/>
            <a:ext cx="7223760" cy="329799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CLOUD DEPLOYMENT (MONGODB ATLAS)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53740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374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5452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37788"/>
            <a:ext cx="3840480" cy="1196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MongoDB Atlas is MongoDB’s managed cloud platform. Atlas handles much of the infrastructure, maintenance and configuration.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25997"/>
            <a:ext cx="384048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Best for: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09534"/>
            <a:ext cx="3840480" cy="17776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Team projects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Remote access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Cloud application development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High availability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Production-style practice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71035" y="1878599"/>
            <a:ext cx="7242810" cy="3356833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888124"/>
            <a:ext cx="7223760" cy="333778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LOCAL VS. MONGODB ATLAS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89411"/>
          <a:ext cx="3840480" cy="3443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765"/>
                <a:gridCol w="1361089"/>
                <a:gridCol w="1320626"/>
              </a:tblGrid>
              <a:tr h="303862">
                <a:tc>
                  <a:txBody>
                    <a:bodyPr/>
                    <a:lstStyle/>
                    <a:p>
                      <a:pPr algn="l"/>
                      <a:r>
                        <a:rPr sz="1107" b="1">
                          <a:solidFill>
                            <a:srgbClr val="FFFFFF"/>
                          </a:solidFill>
                          <a:latin typeface="Nirmala UI"/>
                        </a:rPr>
                        <a:t>Factor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7" b="1">
                          <a:solidFill>
                            <a:srgbClr val="FFFFFF"/>
                          </a:solidFill>
                          <a:latin typeface="Nirmala UI"/>
                        </a:rPr>
                        <a:t>Local MongoDB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7" b="1">
                          <a:solidFill>
                            <a:srgbClr val="FFFFFF"/>
                          </a:solidFill>
                          <a:latin typeface="Nirmala UI"/>
                        </a:rPr>
                        <a:t>MongoDB Atlas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523318">
                <a:tc>
                  <a:txBody>
                    <a:bodyPr/>
                    <a:lstStyle/>
                    <a:p>
                      <a:r>
                        <a:rPr sz="1107" b="1">
                          <a:solidFill>
                            <a:srgbClr val="000000"/>
                          </a:solidFill>
                          <a:latin typeface="Nirmala UI"/>
                        </a:rPr>
                        <a:t>Internet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No, after installation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3318">
                <a:tc>
                  <a:txBody>
                    <a:bodyPr/>
                    <a:lstStyle/>
                    <a:p>
                      <a:r>
                        <a:rPr sz="1107" b="1">
                          <a:solidFill>
                            <a:srgbClr val="000000"/>
                          </a:solidFill>
                          <a:latin typeface="Nirmala UI"/>
                        </a:rPr>
                        <a:t>Infrastructure management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Learner manages 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Atlas manages 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23318">
                <a:tc>
                  <a:txBody>
                    <a:bodyPr/>
                    <a:lstStyle/>
                    <a:p>
                      <a:r>
                        <a:rPr sz="1107" b="1">
                          <a:solidFill>
                            <a:srgbClr val="000000"/>
                          </a:solidFill>
                          <a:latin typeface="Nirmala UI"/>
                        </a:rPr>
                        <a:t>Initial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Software installation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Cloud account and cluster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3318">
                <a:tc>
                  <a:txBody>
                    <a:bodyPr/>
                    <a:lstStyle/>
                    <a:p>
                      <a:r>
                        <a:rPr sz="1107" b="1">
                          <a:solidFill>
                            <a:srgbClr val="000000"/>
                          </a:solidFill>
                          <a:latin typeface="Nirmala UI"/>
                        </a:rPr>
                        <a:t>Default address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localhost:27017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Atlas connection URI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23318">
                <a:tc>
                  <a:txBody>
                    <a:bodyPr/>
                    <a:lstStyle/>
                    <a:p>
                      <a:r>
                        <a:rPr sz="1107" b="1">
                          <a:solidFill>
                            <a:srgbClr val="000000"/>
                          </a:solidFill>
                          <a:latin typeface="Nirmala UI"/>
                        </a:rPr>
                        <a:t>Remote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Requires configuration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Built in with access controls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3318">
                <a:tc>
                  <a:txBody>
                    <a:bodyPr/>
                    <a:lstStyle/>
                    <a:p>
                      <a:r>
                        <a:rPr sz="1107" b="1">
                          <a:solidFill>
                            <a:srgbClr val="000000"/>
                          </a:solidFill>
                          <a:latin typeface="Nirmala UI"/>
                        </a:rPr>
                        <a:t>Best use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Learning and local development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Cloud and team projects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471035" y="1388856"/>
            <a:ext cx="7242809" cy="4336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398381"/>
            <a:ext cx="7223759" cy="431727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LOCAL MONGODB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0372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037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02084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04420"/>
            <a:ext cx="3840480" cy="583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A local MongoDB environment normally contains: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9356"/>
            <a:ext cx="3840480" cy="24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1" i="0">
                <a:solidFill>
                  <a:srgbClr val="000000"/>
                </a:solidFill>
                <a:latin typeface="Nirmala UI"/>
              </a:rPr>
              <a:t>MongoDB Community Server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– runs the database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1" i="0">
                <a:solidFill>
                  <a:srgbClr val="000000"/>
                </a:solidFill>
                <a:latin typeface="Nirmala UI"/>
              </a:rPr>
              <a:t>MongoDB Shell (mongosh)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– command-line client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1" i="0">
                <a:solidFill>
                  <a:srgbClr val="000000"/>
                </a:solidFill>
                <a:latin typeface="Nirmala UI"/>
              </a:rPr>
              <a:t>MongoDB Compass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– optional graphical interface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1" i="0">
                <a:solidFill>
                  <a:srgbClr val="000000"/>
                </a:solidFill>
                <a:latin typeface="Nirmala UI"/>
              </a:rPr>
              <a:t>MongoDB Database Tools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– optional import, export and backup utilities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02316"/>
            <a:ext cx="3840480" cy="818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MongoDB provides operating-system-specific Community Edition installation instructions.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71035" y="1216913"/>
            <a:ext cx="7242810" cy="4680205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226438"/>
            <a:ext cx="7223760" cy="466115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WINDOWS INSTALLATION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58036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5803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39748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42084"/>
            <a:ext cx="3840480" cy="3340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Download MongoDB Community Server from the official MongoDB website.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Run the MSI installer.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Select </a:t>
            </a:r>
            <a:r>
              <a:rPr sz="1400" b="1" i="0">
                <a:solidFill>
                  <a:srgbClr val="000000"/>
                </a:solidFill>
                <a:latin typeface="Nirmala UI"/>
              </a:rPr>
              <a:t>Complete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installation.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Install MongoDB as a Windows service.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Optionally install MongoDB Compass.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Install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mongosh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if it is not included in the selected package.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7.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Verify that the MongoDB service is running.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71035" y="2712969"/>
            <a:ext cx="7242810" cy="1688093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722494"/>
            <a:ext cx="7223760" cy="166904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VERIFYING THE MONGODB SERVICE (WINDOWS)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1784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84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99560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1896"/>
            <a:ext cx="384048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The service can be checked from: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07308"/>
            <a:ext cx="384048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It can also be checked from PowerShell: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2720"/>
            <a:ext cx="384048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Start it if necessary: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82852"/>
            <a:ext cx="3840480" cy="4572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274292"/>
            <a:ext cx="35844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Windows Services → MongoDB 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731492"/>
            <a:ext cx="3840480" cy="4572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822932"/>
            <a:ext cx="35844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Get-Service MongoDB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80132"/>
            <a:ext cx="3840480" cy="4572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5371572"/>
            <a:ext cx="35844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Start-Service MongoDB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71035" y="2809151"/>
            <a:ext cx="7242810" cy="149573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818676"/>
            <a:ext cx="7223760" cy="14766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MACOS INSTALLATION WITH HOMEBREW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23232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32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80494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07280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The precise formula can depend on the current MongoDB tap and version, so learners should follow MongoDB’s current macOS installation page.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1269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The general process is: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8282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Verify the installed tools: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52956"/>
            <a:ext cx="5550408" cy="80467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344396"/>
            <a:ext cx="52943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brew tap mongodb/brew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brew install mongodb-community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brew services start mongodb-community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4252956"/>
            <a:ext cx="5550408" cy="80467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4344396"/>
            <a:ext cx="52943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mongod --version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mongosh --version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LINUX INSTALLATION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94938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9493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87665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78986"/>
            <a:ext cx="11247120" cy="11492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On Linux, use MongoDB’s official repository for the specific distribution instead of assuming that the distribution’s default repository contains the appropriate package.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1967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After installation, the service is normally managed with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systemctl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89810"/>
            <a:ext cx="11247120" cy="105613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4181250"/>
            <a:ext cx="10991088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sudo systemctl start mongod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sudo systemctl status mongod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sudo systemctl enable mongod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MONGOD VS. MONGOSH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88578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8857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70290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2626"/>
            <a:ext cx="3840480" cy="1962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mongod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is the database server.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mongosh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is the interactive shell.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Stopping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mongosh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does not stop the database.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If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mongod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is not running, the shell cannot connect.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26194"/>
            <a:ext cx="3840480" cy="16261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4017634"/>
            <a:ext cx="3584448" cy="14615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mongosh ──connection──&gt; mongod ──reads/writes──&gt; data files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Client                  Server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71035" y="1534713"/>
            <a:ext cx="7242809" cy="4044605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544238"/>
            <a:ext cx="7223759" cy="402555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DEFAULT HOST AND 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22498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2249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04210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6546"/>
            <a:ext cx="3840480" cy="11492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By default, a local MongoDB server commonly listens 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47238"/>
            <a:ext cx="3840480" cy="77114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4038678"/>
            <a:ext cx="3584448" cy="606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Host: localhost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Port: 27017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71035" y="2323930"/>
            <a:ext cx="7242810" cy="24661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333455"/>
            <a:ext cx="7223760" cy="244712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ATLAS PROVISIONING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26263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26263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07975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10311"/>
            <a:ext cx="3840480" cy="4298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MongoDB Atlas provides managed database deployments in the cloud.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31597"/>
            <a:ext cx="3840480" cy="19940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Create or sign in to a MongoDB Atlas account.</a:t>
            </a:r>
          </a:p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Create an organization or use an existing one.</a:t>
            </a:r>
          </a:p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Create a project.</a:t>
            </a:r>
          </a:p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Create a database deployment.</a:t>
            </a:r>
          </a:p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Select the available free or paid configuration.</a:t>
            </a:r>
          </a:p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Select a cloud provider and region.</a:t>
            </a:r>
          </a:p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1" i="0">
                <a:solidFill>
                  <a:srgbClr val="D1282E"/>
                </a:solidFill>
                <a:latin typeface="Nirmala UI"/>
              </a:rPr>
              <a:t>7. 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Create a database user.</a:t>
            </a:r>
          </a:p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1" i="0">
                <a:solidFill>
                  <a:srgbClr val="D1282E"/>
                </a:solidFill>
                <a:latin typeface="Nirmala UI"/>
              </a:rPr>
              <a:t>8. 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Add your current IP address to the IP access list.</a:t>
            </a:r>
          </a:p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1" i="0">
                <a:solidFill>
                  <a:srgbClr val="D1282E"/>
                </a:solidFill>
                <a:latin typeface="Nirmala UI"/>
              </a:rPr>
              <a:t>9. 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Obtain the deployment’s connection string.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17131"/>
            <a:ext cx="3840480" cy="597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Atlas requires an appropriate database user and an allowed client IP address before the client can connect.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71035" y="2752215"/>
            <a:ext cx="7242810" cy="160960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761740"/>
            <a:ext cx="7223760" cy="1590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ATLAS USER VS. DATABASE USER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134812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3481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11652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886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These are separate identities: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88992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Atlas user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signs in to the Atlas website.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Database user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authenticates when connecting to MongoDB.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92096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Creating an Atlas account does not automatically mean the same credentials should be placed in the database connection string.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ATLAS NETWORK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144209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44209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125921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28257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Atlas blocks unapproved network locations. Add only the IP addresses that need access.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55092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For a temporary learning environment, users sometimes allow access from anywhere: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81927"/>
            <a:ext cx="11247120" cy="7371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That setting is convenient but broad. It should be combined with strong credentials and should generally be avoided for production deployments.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10514"/>
            <a:ext cx="11247120" cy="4861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501954"/>
            <a:ext cx="10991088" cy="321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0.0.0.0/0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ATLAS CONNECTION STRING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48680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4868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30392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32728"/>
            <a:ext cx="3840480" cy="506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An Atlas URI normally follows this pattern: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30839"/>
            <a:ext cx="384048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Example: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27782"/>
            <a:ext cx="3840480" cy="707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It is safer to let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mongosh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prompt for the password instead of placing the password directly in the command or shell history.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27061"/>
            <a:ext cx="3840480" cy="506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Atlas supports connecting through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mongosh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, application drivers and MongoDB Compass.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25172"/>
            <a:ext cx="1847088" cy="73761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316612"/>
            <a:ext cx="1591056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mongodb+srv://&lt;username&gt;:&lt;password&gt;@&lt;cluster-host&gt;/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50592" y="4225172"/>
            <a:ext cx="1847088" cy="73761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8608" y="4316612"/>
            <a:ext cx="1591056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mongosh "mongodb+srv://cluster0.example.mongodb.net/"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--username trainingUser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71035" y="2346464"/>
            <a:ext cx="7242810" cy="242110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355989"/>
            <a:ext cx="7223760" cy="240205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THE MONGODB SHELL (MONGOSH)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21380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2138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03092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5428"/>
            <a:ext cx="3840480" cy="583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Consolas"/>
              </a:rPr>
              <a:t>mongosh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is MongoDB’s interactive command-line shell.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0364"/>
            <a:ext cx="3840480" cy="583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It allows developers and administrators to: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55300"/>
            <a:ext cx="3840480" cy="186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Create databases and collections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Insert and query documents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Create indexes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Run aggregation pipelines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Inspect server information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Perform administrative operations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71035" y="2631209"/>
            <a:ext cx="7242810" cy="1851613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640734"/>
            <a:ext cx="7223760" cy="183256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CONNECTING TO LOCAL MONGODB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35692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569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1740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19740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If MongoDB is running locally on the standard port, enter: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9980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This is equivalent to connecting to: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0220"/>
            <a:ext cx="11247120" cy="583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MongoDB’s documentation confirms that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mongosh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without additional options connects to a local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mongod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using the default 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75156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To connect directly to a database: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15396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The shell prompts for the password.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55636"/>
            <a:ext cx="11247120" cy="4572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147076"/>
            <a:ext cx="10991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mongosh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604276"/>
            <a:ext cx="11247120" cy="4572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4695716"/>
            <a:ext cx="10991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mongosh "mongodb://localhost:27017"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152916"/>
            <a:ext cx="11247120" cy="4572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5244356"/>
            <a:ext cx="10991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mongosh "mongodb://localhost:27017/training_store"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701556"/>
            <a:ext cx="11247120" cy="46939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5792996"/>
            <a:ext cx="10991088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mongosh "mongodb://localhost:27017/training_store"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--username trainingUser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CONNECTING TO ATLAS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70078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7007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51790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54126"/>
            <a:ext cx="384048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From the Atlas interface: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64474"/>
            <a:ext cx="3840480" cy="1084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Open the database deployment.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Select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Connect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Choose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Shell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Copy the generated command.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Replace or enter the required username.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Enter the password when prompted.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40762"/>
            <a:ext cx="384048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Example: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1110"/>
            <a:ext cx="3840480" cy="4871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The exact Atlas connection command should be copied from the Atlas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Connect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dialog because the cluster hostname is deployment-specific.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29682"/>
            <a:ext cx="3840480" cy="13411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321122"/>
            <a:ext cx="3584448" cy="1176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mongosh "mongodb+srv://cluster0.example.mongodb.net/"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--username trainingUser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71035" y="2789845"/>
            <a:ext cx="7242810" cy="1534341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799370"/>
            <a:ext cx="7223760" cy="1515291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VERIFYING YOUR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6747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6747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4919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5152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After connecting, the shell displays a prompt similar to: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2165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The word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test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represents the currently selected database.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9179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Run this from the operating-system terminal: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6192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Run this inside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mongosh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32054"/>
            <a:ext cx="11247120" cy="4861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123494"/>
            <a:ext cx="10991088" cy="321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test&gt;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609650"/>
            <a:ext cx="11247120" cy="4861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4701090"/>
            <a:ext cx="10991088" cy="321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mongosh --version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187246"/>
            <a:ext cx="11247120" cy="4861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5278686"/>
            <a:ext cx="10991088" cy="321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db.version()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CHECKING THE CURRENT DATABASE AND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937610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3761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1932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2165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Expected initial result: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9179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This displays information about the current MongoDB connection.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61922"/>
            <a:ext cx="11247120" cy="4861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553362"/>
            <a:ext cx="10991088" cy="321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39518"/>
            <a:ext cx="11247120" cy="4861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130958"/>
            <a:ext cx="10991088" cy="321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617114"/>
            <a:ext cx="11247120" cy="4861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4708554"/>
            <a:ext cx="10991088" cy="321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db.getMongo()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EXPLORING DATABASES AND COLLECTIONS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111073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11073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92785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95121"/>
            <a:ext cx="3840480" cy="9285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A newly selected database does not appear in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show dbs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until it contains stored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15106"/>
            <a:ext cx="3840480" cy="9285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If the current database is empty, no collections will be displayed.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35091"/>
            <a:ext cx="1847088" cy="548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4626531"/>
            <a:ext cx="15910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show dbs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50592" y="4535091"/>
            <a:ext cx="1847088" cy="548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8608" y="4626531"/>
            <a:ext cx="15910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show collections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10061" y="1160907"/>
            <a:ext cx="5364757" cy="479221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9586" y="1170432"/>
            <a:ext cx="5345707" cy="477316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CREATING YOUR FIRST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75218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752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56930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59266"/>
            <a:ext cx="3840480" cy="583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We will use the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training_store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e-commerce case study.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4202"/>
            <a:ext cx="3840480" cy="818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This switches the current database context. It does not immediately create physical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43834"/>
            <a:ext cx="384048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Verify it: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84074"/>
            <a:ext cx="384048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Expected output: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24314"/>
            <a:ext cx="3840480" cy="4861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215754"/>
            <a:ext cx="3584448" cy="321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use training_store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01910"/>
            <a:ext cx="3840480" cy="4861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4793350"/>
            <a:ext cx="3584448" cy="321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279506"/>
            <a:ext cx="3840480" cy="4861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5370946"/>
            <a:ext cx="3584448" cy="321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training_store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71035" y="1808355"/>
            <a:ext cx="7242810" cy="3497321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817880"/>
            <a:ext cx="7223760" cy="3478271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CREATING YOUR FIRST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60922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6092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842634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4970"/>
            <a:ext cx="3840480" cy="6603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A collection can be created explicitly: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96731"/>
            <a:ext cx="384048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Expected result: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80268"/>
            <a:ext cx="3840480" cy="9285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MongoDB can also create a collection automatically when the first document is inserted.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500253"/>
            <a:ext cx="1847088" cy="70408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591693"/>
            <a:ext cx="1591056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db.createCollection("products")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50592" y="4500253"/>
            <a:ext cx="1847088" cy="70408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78608" y="4591693"/>
            <a:ext cx="1591056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{ ok: 1 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71035" y="2158993"/>
            <a:ext cx="7242810" cy="2796045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168518"/>
            <a:ext cx="7223760" cy="277699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INSERTING YOUR FIRST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72512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7251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54224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6560"/>
            <a:ext cx="3840480" cy="11492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MongoDB adds an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field if one is not supplied: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97252"/>
            <a:ext cx="1847088" cy="10058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388692"/>
            <a:ext cx="159105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db.products.insertOne({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name: "Wireless Mouse",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category: "Electronics",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price: 39.99,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stock: 120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0592" y="3297252"/>
            <a:ext cx="1847088" cy="10058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8608" y="3388692"/>
            <a:ext cx="159105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acknowledged: true,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insertedId: ObjectId("...")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1035" y="2232856"/>
            <a:ext cx="7242809" cy="2648319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242381"/>
            <a:ext cx="7223759" cy="262926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RETRIEVING 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250870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5087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232582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34918"/>
            <a:ext cx="384048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 more targeted query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40330"/>
            <a:ext cx="1847088" cy="107289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631770"/>
            <a:ext cx="1591056" cy="908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db.products.find()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0592" y="3540330"/>
            <a:ext cx="1847088" cy="107289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8608" y="3631770"/>
            <a:ext cx="1591056" cy="908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category: "Electronics"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1035" y="1726002"/>
            <a:ext cx="7242809" cy="366202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35527"/>
            <a:ext cx="7223759" cy="364297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INSERTING MULTIPLE DOCUMENTS AND 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45486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4548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82719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2953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Expected result: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99666"/>
            <a:ext cx="11247120" cy="160934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2891106"/>
            <a:ext cx="10991088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db.products.insertMany([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name: "Mechanical Keyboard",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category: "Electronics",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price: 89.99,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stock: 45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name: "MongoDB Fundamentals",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category: "Books",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price: 49.99,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stock: 75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500450"/>
            <a:ext cx="11247120" cy="4572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591890"/>
            <a:ext cx="10991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db.products.countDocuments()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049090"/>
            <a:ext cx="11247120" cy="4572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5140530"/>
            <a:ext cx="10991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VERIFYING THE DATABASE AND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276016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760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25772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6006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The environment should now contain: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30196"/>
            <a:ext cx="5550408" cy="129082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321636"/>
            <a:ext cx="5294376" cy="1126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show dbs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show collections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3230196"/>
            <a:ext cx="5550408" cy="129082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3321636"/>
            <a:ext cx="5294376" cy="1126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training_store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└── products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      ├── Wireless Mouse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      ├── Mechanical Keyboard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      └── MongoDB Fundamentals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UPDATING A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18510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1851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0022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0255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Verify the change: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372690"/>
            <a:ext cx="5550408" cy="12070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464130"/>
            <a:ext cx="5294376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db.products.updateOne(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{ name: "Wireless Mouse"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{ $set: { stock: 110 }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3372690"/>
            <a:ext cx="5550408" cy="12070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3464130"/>
            <a:ext cx="5294376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db.products.findOne({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name: "Wireless Mouse"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DELETING A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561004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10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54271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4505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Confirm the number of remaining documents: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15184"/>
            <a:ext cx="5550408" cy="105613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606624"/>
            <a:ext cx="5294376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db.products.deleteOne({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name: "MongoDB Fundamentals"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3515184"/>
            <a:ext cx="5550408" cy="105613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3606624"/>
            <a:ext cx="5294376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db.products.countDocuments()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CRUD OPERATIONS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08910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0891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9062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295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These commands verify the four basic CRUD operations: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76309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6524"/>
                <a:gridCol w="9340596"/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irmala UI"/>
                        </a:rPr>
                        <a:t>Operation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irmala UI"/>
                        </a:rPr>
                        <a:t>MongoDB command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Nirmala UI"/>
                        </a:rPr>
                        <a:t>Create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Nirmala UI"/>
                        </a:rPr>
                        <a:t>insertOne()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Nirmala UI"/>
                        </a:rPr>
                        <a:t>Read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Nirmala UI"/>
                        </a:rPr>
                        <a:t>find() or findOne()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Nirmala UI"/>
                        </a:rPr>
                        <a:t>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Nirmala UI"/>
                        </a:rPr>
                        <a:t>updateOne()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Nirmala UI"/>
                        </a:rPr>
                        <a:t>Delete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Nirmala UI"/>
                        </a:rPr>
                        <a:t>deleteOne()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LOCAL CONNECTION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69336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6933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51048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53384"/>
            <a:ext cx="384048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Possible causes: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3624"/>
            <a:ext cx="3840480" cy="1424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mongosh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is not installed.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Its executable directory is not in the system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PATH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The terminal was not reopened after installation.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09416"/>
            <a:ext cx="3840480" cy="1962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The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mongod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service is stopped.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MongoDB is listening on a different port.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Its configuration file contains a different network binding.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Another program or security setting is blocking the 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71035" y="1515668"/>
            <a:ext cx="7242810" cy="4082695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525193"/>
            <a:ext cx="7223760" cy="406364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ATLAS CONNECTION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01456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145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8316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85504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Check: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25744"/>
            <a:ext cx="11247120" cy="1561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Database username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Database password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Authentication database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User permissions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Special characters in credentials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78304"/>
            <a:ext cx="11247120" cy="1561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The current IP is in the Atlas IP access list.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The deployment is available.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The internet connection is active.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A corporate firewall is not blocking the connection.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The correct connection string was copied.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PRACTICAL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89767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89767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71479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73815"/>
            <a:ext cx="384048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By the end of this module, learners should be able to: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05812"/>
            <a:ext cx="3840480" cy="14095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Install MongoDB locally or create an Atlas deployment.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Verify that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mongod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is running.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Connect using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mongosh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Create the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training_store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database.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Create the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products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collection.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Insert, retrieve, update and delete documents.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D1282E"/>
                </a:solidFill>
                <a:latin typeface="Nirmala UI"/>
              </a:rPr>
              <a:t>7.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Diagnose basic installation and connection errors.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06831"/>
            <a:ext cx="384048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The successful final check is: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38828"/>
            <a:ext cx="384048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A successful ping returns a result containing: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70825"/>
            <a:ext cx="1847088" cy="70408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662265"/>
            <a:ext cx="1591056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use training_store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db.products.find()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db.runCommand({ ping: 1 })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50592" y="4570825"/>
            <a:ext cx="1847088" cy="70408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8608" y="4662265"/>
            <a:ext cx="1591056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{ ok: 1 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71035" y="2391066"/>
            <a:ext cx="7242810" cy="23319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400591"/>
            <a:ext cx="7223760" cy="23128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2.1 — SELECT A DEPLOYMENT 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195850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9585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17756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7989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Match each scenario to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one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option: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003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Local · Self-managed · Container · Managed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2016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Name the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justification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and the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main risk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90294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290294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2.1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2.1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2.1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1894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2929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Review the four deployment options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9640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Confirm the options you may choose from: local installation, self-managed server or VM, containerized MongoDB, and managed cloud. For each, write one sentence for when it is a good fit.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The pair can name all four options and one typical use for each.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23176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Classify scenarios 1–3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33524"/>
            <a:ext cx="11247120" cy="526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For each scenario, pick one deployment option, write a one-line justification, and name the main risk. | Scenario | Situation | |----------|-----------| | 1 | A developer needs an offline learning environment. | | 2 | A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Rows 1–3 of the deliverable table are filled. The justification mentions internet, persistence, or shared access — not only a product name.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5117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3 — Classify scenarios 4–6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61520"/>
            <a:ext cx="11247120" cy="526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Repeat for scenarios 4–6. | Scenario | Situation | |----------|-----------| | 4 | A regulated organization requires infrastructure under its direct control. | | 5 | A startup wants a database without managing servers. |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All six rows are filled. You can explain an alternative that might also work, and why your first choice still fits.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79168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89516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For each scenario, pick one deployment option, write a one-line justification, and name the main risk.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Rows 1–3 of the deliverable table are filled. The justification mentions internet, persistence, or shared access — not only a product name.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73052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Repeat for scenarios 4–6.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All six rows are filled. You can explain an alternative that might also work, and why your first choice still fits.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2.1 — STEPS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49597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49597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1309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33645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933645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2.1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Step 3 — Classify scenarios 4–6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79821"/>
            <a:ext cx="11247120" cy="7384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Direct control, minimal ops, restricted internet. Fill all six rows.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Every row has an option, a justification, and a risk.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09735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000000"/>
                </a:solidFill>
                <a:latin typeface="Nirmala UI"/>
              </a:rPr>
              <a:t>Step 4 — Compare with the instructor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93272"/>
            <a:ext cx="11247120" cy="7384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Share one controversial row. Adjust the risk column if needed.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You can use training vs production, internet, ops load, and control — not habit.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723186"/>
            <a:ext cx="11247120" cy="76809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4768906"/>
            <a:ext cx="110276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SOLUTION AFTER DEBRIEF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107234"/>
            <a:ext cx="681228" cy="274320"/>
          </a:xfrm>
          <a:prstGeom prst="roundRect">
            <a:avLst>
              <a:gd name="adj" fmla="val 50000"/>
            </a:avLst>
          </a:prstGeom>
          <a:solidFill>
            <a:srgbClr val="D5E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107234"/>
            <a:ext cx="6812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Nirmala UI"/>
              </a:rPr>
              <a:t>1 local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39596" y="5107234"/>
            <a:ext cx="882396" cy="274320"/>
          </a:xfrm>
          <a:prstGeom prst="roundRect">
            <a:avLst>
              <a:gd name="adj" fmla="val 50000"/>
            </a:avLst>
          </a:prstGeom>
          <a:solidFill>
            <a:srgbClr val="F4E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39596" y="5107234"/>
            <a:ext cx="8823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C9690C"/>
                </a:solidFill>
                <a:latin typeface="Nirmala UI"/>
              </a:rPr>
              <a:t>2 container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13432" y="5107234"/>
            <a:ext cx="681228" cy="274320"/>
          </a:xfrm>
          <a:prstGeom prst="roundRect">
            <a:avLst>
              <a:gd name="adj" fmla="val 50000"/>
            </a:avLst>
          </a:prstGeom>
          <a:solidFill>
            <a:srgbClr val="DED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13432" y="5107234"/>
            <a:ext cx="6812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B3A9E"/>
                </a:solidFill>
                <a:latin typeface="Nirmala UI"/>
              </a:rPr>
              <a:t>3 cloud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86100" y="5107234"/>
            <a:ext cx="1033271" cy="274320"/>
          </a:xfrm>
          <a:prstGeom prst="roundRect">
            <a:avLst>
              <a:gd name="adj" fmla="val 50000"/>
            </a:avLst>
          </a:prstGeom>
          <a:solidFill>
            <a:srgbClr val="CE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86100" y="5107234"/>
            <a:ext cx="103327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E7C7B"/>
                </a:solidFill>
                <a:latin typeface="Nirmala UI"/>
              </a:rPr>
              <a:t>4 self-managed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10811" y="5107234"/>
            <a:ext cx="681228" cy="274320"/>
          </a:xfrm>
          <a:prstGeom prst="roundRect">
            <a:avLst>
              <a:gd name="adj" fmla="val 50000"/>
            </a:avLst>
          </a:prstGeom>
          <a:solidFill>
            <a:srgbClr val="F5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10811" y="5107234"/>
            <a:ext cx="6812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D1282E"/>
                </a:solidFill>
                <a:latin typeface="Nirmala UI"/>
              </a:rPr>
              <a:t>5 cloud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79" y="5107234"/>
            <a:ext cx="681228" cy="274320"/>
          </a:xfrm>
          <a:prstGeom prst="roundRect">
            <a:avLst>
              <a:gd name="adj" fmla="val 50000"/>
            </a:avLst>
          </a:prstGeom>
          <a:solidFill>
            <a:srgbClr val="CC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79" y="5107234"/>
            <a:ext cx="6812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02060"/>
                </a:solidFill>
                <a:latin typeface="Nirmala UI"/>
              </a:rPr>
              <a:t>6 local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2.1 — INSPECT THE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69480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6948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85119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5352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5–10 minutes.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Instructor machine.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2366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Show: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93792"/>
            <a:ext cx="11247120" cy="177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Server status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mongosh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and Compass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Config, data, and log locations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Expected host and 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2.2 — INTERPRET A CONNECTION STRING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0916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09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6262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6496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Label protocol, username, password, host, port, and database.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3509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Treat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password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as a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placeholder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0522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00522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2.2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2.2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55366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5536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3707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9414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39414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2.2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85590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17587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1 — Label the connection-string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49584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Using this sample, identify protocol, username, password placeholder, host, port, and default database: text mongodb://trainingUser:password@db.example.net:27017/training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Your notes name all six parts. You can point to where each value sits in the URI.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76418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2 — Answer the security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08415"/>
            <a:ext cx="11247120" cy="586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Write a short answer for each: 1. Which part must not appear in a screenshot? 2. Which values should be stored securely? 3. What could cause this connection to fail? 4. How should the password be supplied in a real appli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You refuse to put the password in slides or source. You can name at least two failure causes (wrong password, host unreachable, port, DNS, TLS).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86125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3 — Compare mongodb:// and mongodb+srv://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18122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Write one sentence for each scheme. Note which form managed-cloud services commonly provide.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You can say that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mongodb://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lists hosts (and optional port) and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mongodb+srv://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uses DNS to discover deployment information.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44956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2.2 — STEPS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62878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6287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4459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46926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146926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2.2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Step 3 — Compare mongodb:// and mongodb+srv://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93102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One sentence each. Which form do managed services commonly give you?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Standard lists host and port;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+srv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uses DNS discovery.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9620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4 — Compare with the instructor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66338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Check labels. Correct swapped host/database.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You can parse a URI aloud without exposing credentials.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2.2 — CONNECT USING MONGOSH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192118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921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17383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7616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10 minutes.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4629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Then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ping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db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show dbs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show collections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16430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716430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OUTCOME 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Open a shell and confirm connectivity.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62606"/>
            <a:ext cx="11247120" cy="4861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454046"/>
            <a:ext cx="10991088" cy="321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mongosh "mongodb://localhost:27017"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2.3 — CONNECT USING COMPASS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13276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132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29498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32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10 minutes.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67456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Open Compass, paste the URI, connect, browse databases, open a collection, switch document views.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7286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17286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OUTCOME 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Compass is a GUI for the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same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environment.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2.4 — CREATE AND VERIFY A TEST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13276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132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29498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32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10 minutes.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67456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use training_store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·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createCollection("setup_test")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·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insertOne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·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findOne({ verified: true })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7286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17286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OUTCOME 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The environment supports write and read.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2.5 — DIAGNOSE A FAILED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52994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5299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3470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3704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10 minutes.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Controlled examples: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7174"/>
            <a:ext cx="11247120" cy="2210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Wrong port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Stopped server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Invalid password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Bad hostname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Missing network permission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0919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For each: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read the error → name the layer → fix → retest.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2.4 — DIAGNOSE CONNECTION FAILURES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765982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6598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74769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5003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For each case: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likely cause, first check, log or setting, fix,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20162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720162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2.4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2.4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30804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308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1251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14852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14852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2.4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1028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93025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1 — Diagnose ECONNREFUSED and authentication failure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5022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For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ECONNREFUSED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and authentication failure, fill likely cause, first check, relevant log or setting, corrective action, and verification command.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Refused connection points at a stopped server or wrong port. Authentication failure points at user, password, or authentication database — not at DNS.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1856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2 — Diagnose timeout and DNS failure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83853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Repeat for server-selection timeout and DNS lookup failure.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Timeout points at firewall, routing, or network allowlist. DNS failure points at hostname or DNS, not at a missing role.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10687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3 — Diagnose unauthorized command and invalid URI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2684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Repeat for unauthorized operation and invalid connection-string format.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Unauthorized means the user authenticated but lacks the role. Invalid URI means syntax, unencoded special characters, or the wrong scheme.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69518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2.4 — STEPS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95238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9523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7695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79286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979286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2.4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Step 3 — Diagnose unauthorized command and invalid URI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5462"/>
            <a:ext cx="11247120" cy="1246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Repeat for unauthorized operation and invalid connection-string format.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Unauthorized = logged in, role too weak. Bad URI = syntax or encoding.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6384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4 — Compare with the instructor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33978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Share one case. Change one variable, then ping.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 consistent diagnostic sequence, not three simultaneous guesses.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2.3 — ENVIRONMENT READINESS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0916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09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6262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6496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Complete during or right after the hands-on lab.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3509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Tick only what you observed. No passwords on the page.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0522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00522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2.3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2.3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15762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576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9747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99810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99810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2.3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45986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5633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Record environment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6682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Write down (without secrets) whether you are using local, container, managed cloud, or an instructor-provided instance. Note hostname or cluster name and port if it is not the default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27017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You can state your deployment path and how you reach the server, with no password on the page.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50218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Confirm clients and connection information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60566"/>
            <a:ext cx="11247120" cy="526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Check that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mongosh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is available (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mongosh --version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). If Compass is required, confirm it launches. Confirm you have a connection string stored securely (password manager, instructor handout, or environment variable) —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Shell version prints. Compass opens if required. You know where the URI lives without displaying the password.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7821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3 — Confirm ping, write, and 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88562"/>
            <a:ext cx="11247120" cy="526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In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mongosh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run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db.runCommand({ ping: 1 })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 Then confirm you can insert and retrieve a document in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training_store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(Exercise 2.5 covers the commands). Tick ping, insert, and read only if you saw the results.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Ping contains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ok: 1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 A test document can be inserted and found. You did not tick a box you did not prove.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06210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2.3 — STEPS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27598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2759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0931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11646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11646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2.3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Step 3 — Confirm ping, write, and 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57822"/>
            <a:ext cx="11247120" cy="1246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Ping, then insert and find in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training_store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(Exercise 2.5 has the commands).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Boxes ticked only if observed. Ping contains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ok: 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9620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4 — List unresolved problems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66338"/>
            <a:ext cx="11247120" cy="1246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Symptom, likely layer, next check. Report without exposing credentials.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Either every required box is checked, or every gap has a next step.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MODULE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00829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0829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82541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84877"/>
            <a:ext cx="3840480" cy="36551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MongoDB may run locally, in a container, on a server, or as a managed service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mongod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is the server;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mongosh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and Compass are clients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Connection strings describe how clients reach MongoDB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Ping verifies connectivity; write-and-read verifies usable access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Protect credentials and network access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71035" y="2039943"/>
            <a:ext cx="7242810" cy="3034145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049468"/>
            <a:ext cx="7223760" cy="301509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57181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5718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3889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41229"/>
            <a:ext cx="11247120" cy="39424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Role of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mongod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Role of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mongosh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What is Compass?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Default MongoDB port?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mongodb://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vs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mongodb+srv://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What does `db.runCommand({ ping: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1 })` verify?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7.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Why might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show dbs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omit a newly selected database?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8.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Common cause of connection refused?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9.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Common cause of authentication failed?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10.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Why not embed credentials in source code?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2.5 — INSTALL, CONNECT, AND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0916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09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6262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6496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**40 minutes.** One path: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local, managed cloud, or instructor URI.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3509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Then: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mongosh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→ ping →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training_store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→ insert/find → Compass.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0522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00522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2.5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2.1 — INSTALL OR PROVISION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636364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3636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61807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20412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**Path A** Local Community Edition **Path B** Managed cloud: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user + network + URI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Path C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Instructor-provided connection string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2582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Complete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one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path. Do not share passwords.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2.5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48706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870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3041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2754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32754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2.5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8930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89278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Choose your deployment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99626"/>
            <a:ext cx="11247120" cy="526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Confirm with the instructor whether you will use Path A (local Community Edition), Path B (managed cloud / Atlas-style), or Path C (instructor-provided connection string). Write the path on your readiness checklist.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You know which path you will complete. Neighbors may use a different path; the later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mongosh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commands are the same.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1727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Install or provision MongoDB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27622"/>
            <a:ext cx="11247120" cy="526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Complete only the path you chose.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Path A — Local installation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1. Confirm OS requirements using the instructor install sheet. 2. Install MongoDB Community (server). Note the configuration file location. 3. Start the M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 MongoDB server or cluster exists that you are allowed to use. You have not written a password into a shared file.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45270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3 — Confirm the server is reachable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55618"/>
            <a:ext cx="11247120" cy="526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For Path A, confirm the MongoDB Windows service is Running (or that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mongod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is listening on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27017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). For Path B or C, confirm the portal or instructor shows the deployment as available. Record host and port (default `l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You can state that the server process or cluster is up, and you know the host and port you will put in the URI.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73266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2.5 — STEPS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20244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2024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0195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4292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104292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2.5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Step 3 — Confirm the server is reachable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50468"/>
            <a:ext cx="11247120" cy="11268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Path A: service Running or port 27017. Path B/C: deployment available. Record host and port.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You can state that the server is up and which host:port you will 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68730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4 — Connect using mongosh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95565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mongosh "&lt;connection-string&gt;"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— local example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mongodb://localhost:27017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Shell prompt appears. Not connection refused.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2.2 — CONNECT AND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72790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279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5450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5683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Success: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shell opens, auth works, ping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ok: 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326970"/>
            <a:ext cx="11247120" cy="13411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418410"/>
            <a:ext cx="10991088" cy="1176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db.runCommand({ ping: 1 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show dbs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show collections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2.5 — STEPS 5–6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95238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9523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7695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79286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979286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2.5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Step 5 — Ping and inspect the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5462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db.runCommand({ ping: 1 })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db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show dbs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show collections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Ping contains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ok: 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 You can see permitted databases.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2856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6 — Select training_store and create a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98698"/>
            <a:ext cx="11247120" cy="1246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use training_store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then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db.createCollection("environment_check")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db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shows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training_store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 Collections include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environment_check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2.3 — CREATE THE TRAINING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72790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279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5450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5683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Module 3 will add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customers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products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and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orders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326970"/>
            <a:ext cx="11247120" cy="13411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418410"/>
            <a:ext cx="10991088" cy="1176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use training_store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db.createCollection("environment_check")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show collections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2.4 — INSERT AND RETRIEVE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636364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3636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61807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20412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`insertOne` with `status: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"READY"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 →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findOne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 →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insertMany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 components →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countDocuments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 →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updateOne` participant name.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2582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Prove write, read, and update.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2.5 — STEPS 7–8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2759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2759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0931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11646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11646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2.5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Step 7 — Insert and retrieve a test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57822"/>
            <a:ext cx="11247120" cy="1246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insertOne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with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status: "READY"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findOne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on that status.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Acknowledged insert,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assigned, document returned with a date.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9620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8 — Insert multiple documents, count, and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66338"/>
            <a:ext cx="11247120" cy="1246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insertMany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for server/shell/Compass,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countDocuments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updateOne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your name.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Count at least 4. READY document shows your name.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2.5 — VALIDATE THE COMPLETE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636364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3636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61807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20412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Confirm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mongosh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and Compass, database and collection visibility, insert/read/update, dates,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and reconnection.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2582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Insert `{ module: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2, validation: "COMPLETE" }`.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2.5 — STEPS 9–10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27598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2759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0931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11646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11646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2.5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Step 9 — Connect with Compass and confirm the same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57822"/>
            <a:ext cx="11247120" cy="1246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Paste the same URI. Open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training_store.environment_check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and the READY document.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Compass shows the same document as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mongosh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9620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10 — Record environment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66338"/>
            <a:ext cx="11247120" cy="1246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Insert the COMPLETE document. Finish Exercise 2.3. Note any gaps.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Checklist matches what you observed. You can reconnect after closing the client.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PRACTICAL CHALLENGE — NEW DEVELOPER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13276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132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29498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32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15–20 minutes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if time remains.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67456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Parse the URI ·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mongosh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· ping ·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training_store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·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developer_checks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· insert READY · find it in Compass.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7286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17286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challenge section in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2.5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57181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5718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3889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41229"/>
            <a:ext cx="11247120" cy="39424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Difference between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mongod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mongosh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What does a connection string provide?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Default port?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Why might a database not appear after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use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What does a successful ping prove?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Why also do a write-and-read?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7.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Two causes of a connection timeout?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8.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Safest way to manage application credentials?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9.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Where to look when MongoDB fails to start?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10.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Authentication vs authorization?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QUESTIONS AND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085966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8596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6767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7001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Bring: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40146"/>
            <a:ext cx="11247120" cy="13446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A connection error you actually saw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Whether you are on local, container, or cloud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What you already tried (one change at a time)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7622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Do not paste passwords into chat or onto a shared screen.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TRANSITION TO 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938060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380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1977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2210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The environment is ready. Next: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document design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92240"/>
            <a:ext cx="11247120" cy="2210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Databases, collections, documents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BSON types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Schema design and access patterns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Embedding versus referencing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Building the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training_store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dataset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68</Slides>
  <Notes>68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6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