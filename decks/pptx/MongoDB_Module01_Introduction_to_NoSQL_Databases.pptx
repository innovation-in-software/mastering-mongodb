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slide title is: Introduction to NoSQL Databases.</a:t>
            </a:r>
          </a:p>
          <a:p/>
          <a:p>
            <a:r>
              <a:t>The slide says: MongoDB is one member of a broader family of non-relational database technologies.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lists key points under Module Learning Objectives.</a:t>
            </a:r>
          </a:p>
          <a:p/>
          <a:p>
            <a:r>
              <a:t>The slide title is: Module Learning Objectives.</a:t>
            </a:r>
          </a:p>
          <a:p/>
          <a:p>
            <a:r>
              <a:t>The slide says: By the end of this module you will be able to:.</a:t>
            </a:r>
          </a:p>
          <a:p/>
          <a:p>
            <a:r>
              <a:t>Bullet 1 on the slide: Define NoSQL as a category, not one product.</a:t>
            </a:r>
          </a:p>
          <a:p/>
          <a:p>
            <a:r>
              <a:t>Bullet 2 on the slide: Compare document, key-value, column-family, and graph models.</a:t>
            </a:r>
          </a:p>
          <a:p/>
          <a:p>
            <a:r>
              <a:t>Bullet 3 on the slide: Explain MongoDB documents, collections, and BSON.</a:t>
            </a:r>
          </a:p>
          <a:p/>
          <a:p>
            <a:r>
              <a:t>Bullet 4 on the slide: Describe the basic MongoDB architecture.</a:t>
            </a:r>
          </a:p>
          <a:p/>
          <a:p>
            <a:r>
              <a:t>Bullet 5 on the slide: Select workloads that are — and are not — good MongoDB candidates.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NoSQL means 'Not Only SQL': databases built for data models other than relational tables, addressing changing structures, scale, and speed.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JSON examples (a laptop, a book) show how a document can carry only the fields that product needs, instead of many optional relational columns.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Document databases (MongoDB, Couchbase) store self-contained JSON-like documents -- one order example shown.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Document databases suit catalogues, profiles, CMS, and order management -- an application object often maps to one document.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Key-value stores (Redis, DynamoDB) map a unique key straight to a value for very fast lookups.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Best for caching, sessions, carts, and counters -- fast by key, but weaker for complex relationship queries.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Graph databases (Neo4j, Neptune) model nodes, edges, and properties -- relationships are first-class data.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Graph databases shine for social networks, recommendations, fraud detection, and access relationships.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Side-by-side comparison: data model, main strength, and typical use for each of the three store types.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MongoDB is a document-oriented database storing BSON; deployment -&gt; database -&gt; collection -&gt; document -&gt; field.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full example document for a wireless mouse product, including nested specifications and a tags array.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Clients (drivers, mongosh, Compass) talk to the mongod server process, which owns storage, queries, indexes, auth, and replication.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replica set keeps copies of the same data on multiple servers; the primary takes writes and an eligible secondary can be elected if it fails.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Sharding spreads data across shards, config servers, and mongos routers so one server doesn't have to hold the whole dataset.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Documents in the same collection don't need identical fields -- a physical and a digital product example side by side.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order document embeds its line items and shipping address, cutting the joins needed to read one business object.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MongoDB's query language covers filtering, sorting, projection, updates, geospatial and text search, and aggregation.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Indexes let MongoDB find documents without scanning the whole collection; design them around real query patterns.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Aggregation pipelines chain stages like $match, $group, and $sort for reporting and analytics.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Replica sets give high availability, sharding gives horizontal scale, and MongoDB still supports schema validation and multi-document transactions.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MongoDB's benefits add up to faster development and natural object mapping -- design around how the application actually reads and writes data.</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includes a diagram — Module Summary.</a:t>
            </a:r>
          </a:p>
          <a:p/>
          <a:p>
            <a:r>
              <a:t>The slide title is: Module Summary.</a:t>
            </a:r>
          </a:p>
          <a:p/>
          <a:p>
            <a:r>
              <a:t>The slide says: &lt;div class="cols"&gt;.</a:t>
            </a:r>
          </a:p>
          <a:p/>
          <a:p>
            <a:r>
              <a:t>The slide says: &lt;div class="col-text"&gt;.</a:t>
            </a:r>
          </a:p>
          <a:p/>
          <a:p>
            <a:r>
              <a:t>The slide says: &lt;/div&gt;.</a:t>
            </a:r>
          </a:p>
          <a:p/>
          <a:p>
            <a:r>
              <a:t>The slide says: &lt;div class="col-visual"&gt;.</a:t>
            </a:r>
          </a:p>
          <a:p/>
          <a:p>
            <a:r>
              <a:t>Bullet 1 on the slide: NoSQL is more than one model.</a:t>
            </a:r>
          </a:p>
          <a:p/>
          <a:p>
            <a:r>
              <a:t>Bullet 2 on the slide: MongoDB stores BSON documents.</a:t>
            </a:r>
          </a:p>
          <a:p/>
          <a:p>
            <a:r>
              <a:t>Bullet 3 on the slide: Flexible schema still needs design.</a:t>
            </a:r>
          </a:p>
          <a:p/>
          <a:p>
            <a:r>
              <a:t>Bullet 4 on the slide: Choose from the access pattern.</a:t>
            </a:r>
          </a:p>
          <a:p/>
          <a:p>
            <a:r>
              <a:t>The figure on this slide is titled: Concept map from NoSQL through MongoDB to BSON collections and documents.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Knowledge Check.</a:t>
            </a:r>
          </a:p>
          <a:p/>
          <a:p>
            <a:r>
              <a:t>The slide title is: Knowledge Check.</a:t>
            </a:r>
          </a:p>
          <a:p/>
          <a:p>
            <a:r>
              <a:t>The slide says: 1. What does “Not Only SQL” communicate?.</a:t>
            </a:r>
          </a:p>
          <a:p/>
          <a:p>
            <a:r>
              <a:t>The slide says: 2. Which NoSQL model fits highly connected data?.</a:t>
            </a:r>
          </a:p>
          <a:p/>
          <a:p>
            <a:r>
              <a:t>The slide says: 3. MongoDB equivalent of a relational row?.</a:t>
            </a:r>
          </a:p>
          <a:p/>
          <a:p>
            <a:r>
              <a:t>The slide says: 4. MongoDB equivalent of a table?.</a:t>
            </a:r>
          </a:p>
          <a:p/>
          <a:p>
            <a:r>
              <a:t>The slide says: 5. Which field uniquely identifies a document?.</a:t>
            </a:r>
          </a:p>
          <a:p/>
          <a:p>
            <a:r>
              <a:t>The slide says: 6. What is BSON?.</a:t>
            </a:r>
          </a:p>
          <a:p/>
          <a:p>
            <a:r>
              <a:t>The slide says: 7. Why might a product catalog fit a document database?.</a:t>
            </a:r>
          </a:p>
          <a:p/>
          <a:p>
            <a:r>
              <a:t>The slide says: 8. Does flexible schema mean schema design is unnecessary?.</a:t>
            </a:r>
          </a:p>
          <a:p/>
          <a:p>
            <a:r>
              <a:t>Number 1 on the slide: What does “Not Only SQL” communicate?.</a:t>
            </a:r>
          </a:p>
          <a:p/>
          <a:p>
            <a:r>
              <a:t>Number 2 on the slide: Which NoSQL model fits highly connected data?.</a:t>
            </a:r>
          </a:p>
          <a:p/>
          <a:p>
            <a:r>
              <a:t>Number 3 on the slide: MongoDB equivalent of a relational row?.</a:t>
            </a:r>
          </a:p>
          <a:p/>
          <a:p>
            <a:r>
              <a:t>Number 4 on the slide: MongoDB equivalent of a table?.</a:t>
            </a:r>
          </a:p>
          <a:p/>
          <a:p>
            <a:r>
              <a:t>Number 5 on the slide: Which field uniquely identifies a document?.</a:t>
            </a:r>
          </a:p>
          <a:p/>
          <a:p>
            <a:r>
              <a:t>Number 6 on the slide: What is BSON?.</a:t>
            </a:r>
          </a:p>
          <a:p/>
          <a:p>
            <a:r>
              <a:t>Number 7 on the slide: Why might a product catalog fit a document database?.</a:t>
            </a:r>
          </a:p>
          <a:p/>
          <a:p>
            <a:r>
              <a:t>Number 8 on the slide: Does flexible schema mean schema design is unnecessary?.</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includes a diagram — Exercise 1.1 — Choose the Data Model.</a:t>
            </a:r>
          </a:p>
          <a:p/>
          <a:p>
            <a:r>
              <a:t>The slide title is: Exercise 1.1 — Choose the Data Model.</a:t>
            </a:r>
          </a:p>
          <a:p/>
          <a:p>
            <a:r>
              <a:t>The slide says: &lt;div class="cols"&gt;.</a:t>
            </a:r>
          </a:p>
          <a:p/>
          <a:p>
            <a:r>
              <a:t>The slide says: &lt;div class="col-text"&gt;.</a:t>
            </a:r>
          </a:p>
          <a:p/>
          <a:p>
            <a:r>
              <a:t>The slide says: Match each scenario to one model:.</a:t>
            </a:r>
          </a:p>
          <a:p/>
          <a:p>
            <a:r>
              <a:t>The slide says: Relational · Document · Key-value · Column-family · Graph.</a:t>
            </a:r>
          </a:p>
          <a:p/>
          <a:p>
            <a:r>
              <a:t>The slide says: The justification matters more than the product name.</a:t>
            </a:r>
          </a:p>
          <a:p/>
          <a:p>
            <a:r>
              <a:t>The slide says: Lab guide: [Exercise 1.1](../slide-exercises/module-01/exercise-1.1-choose-the-data-model.md).</a:t>
            </a:r>
          </a:p>
          <a:p/>
          <a:p>
            <a:r>
              <a:t>The slide says: &lt;/div&gt;.</a:t>
            </a:r>
          </a:p>
          <a:p/>
          <a:p>
            <a:r>
              <a:t>The slide says: &lt;div class="col-visual"&gt;.</a:t>
            </a:r>
          </a:p>
          <a:p/>
          <a:p>
            <a:r>
              <a:t>The figure on this slide is titled: Six scenario cards to map to database models.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are starting Exercise 1.1 — Choose the Appropriate Data Model. We have about 15 min for this lab.</a:t>
            </a:r>
          </a:p>
          <a:p/>
          <a:p>
            <a:r>
              <a:t>Match application requirements to relational, document, key-value, column-family, or graph models.</a:t>
            </a:r>
          </a:p>
          <a:p/>
          <a:p>
            <a:r>
              <a:t>The full lab guide is in slide-exercises/module-01/exercise-1.1-choose-the-data-model.md if you need extra detail.</a:t>
            </a:r>
          </a:p>
          <a:p/>
          <a:p>
            <a:r>
              <a:t>On Windows: PowerShell in the integrated terminal — Ctrl+backtick — and the Agent panel — Ctrl+I. Open the repo folder with File → Open Folder.</a:t>
            </a:r>
          </a:p>
          <a:p/>
          <a:p>
            <a:r>
              <a:t>Step 1 — Review the five database models.</a:t>
            </a:r>
          </a:p>
          <a:p/>
          <a:p>
            <a:r>
              <a:t>Step 2 — Classify scenarios A–C.</a:t>
            </a:r>
          </a:p>
          <a:p/>
          <a:p>
            <a:r>
              <a:t>Step 3 — Classify scenarios D–F.</a:t>
            </a:r>
          </a:p>
          <a:p/>
          <a:p>
            <a:r>
              <a:t>Step 1 — Review the five database models.</a:t>
            </a:r>
          </a:p>
          <a:p/>
          <a:p>
            <a:r>
              <a:t>Step 2 — Classify scenarios A–C.</a:t>
            </a:r>
          </a:p>
          <a:p/>
          <a:p>
            <a:r>
              <a:t>Step 3 — Classify scenarios D–F.</a:t>
            </a:r>
          </a:p>
          <a:p/>
          <a:p>
            <a:r>
              <a:t>Step 1 — Review the five database models.</a:t>
            </a:r>
          </a:p>
          <a:p/>
          <a:p>
            <a:r>
              <a:t>Step 2 — Classify scenarios A–C.</a:t>
            </a:r>
          </a:p>
          <a:p/>
          <a:p>
            <a:r>
              <a:t>Step 3 — Classify scenarios D–F.</a:t>
            </a:r>
          </a:p>
          <a:p/>
          <a:p>
            <a:r>
              <a:t>Step 1 — Review the five database models.</a:t>
            </a:r>
          </a:p>
          <a:p/>
          <a:p>
            <a:r>
              <a:t>Step 2 — Classify scenarios A–C.</a:t>
            </a:r>
          </a:p>
          <a:p/>
          <a:p>
            <a:r>
              <a:t>Step 3 — Classify scenarios D–F.</a:t>
            </a:r>
          </a:p>
          <a:p/>
          <a:p>
            <a:r>
              <a:t>Step 1 — Review the five database models.</a:t>
            </a:r>
          </a:p>
          <a:p/>
          <a:p>
            <a:r>
              <a:t>Step 2 — Classify scenarios A–C.</a:t>
            </a:r>
          </a:p>
          <a:p/>
          <a:p>
            <a:r>
              <a:t>Step 3 — Classify scenarios D–F.</a:t>
            </a:r>
          </a:p>
          <a:p/>
          <a:p>
            <a:r>
              <a:t>Step 1 — Review the five database models.</a:t>
            </a:r>
          </a:p>
          <a:p/>
          <a:p>
            <a:r>
              <a:t>Step 2 — Classify scenarios A–C.</a:t>
            </a:r>
          </a:p>
          <a:p/>
          <a:p>
            <a:r>
              <a:t>Step 3 — Classify scenarios D–F.</a:t>
            </a:r>
          </a:p>
          <a:p/>
          <a:p>
            <a:r>
              <a:t>Step 1 — Review the five database models.</a:t>
            </a:r>
          </a:p>
          <a:p/>
          <a:p>
            <a:r>
              <a:t>Step 2 — Classify scenarios A–C.</a:t>
            </a:r>
          </a:p>
          <a:p/>
          <a:p>
            <a:r>
              <a:t>Step 3 — Classify scenarios D–F.</a:t>
            </a:r>
          </a:p>
          <a:p/>
          <a:p>
            <a:r>
              <a:t>Step 1 — Review the five database models.</a:t>
            </a:r>
          </a:p>
          <a:p/>
          <a:p>
            <a:r>
              <a:t>Step 2 — Classify scenarios A–C.</a:t>
            </a:r>
          </a:p>
          <a:p/>
          <a:p>
            <a:r>
              <a:t>Step 3 — Classify scenarios D–F.</a:t>
            </a:r>
          </a:p>
          <a:p/>
          <a:p>
            <a:r>
              <a:t>Step 1 — Review the five database models.</a:t>
            </a:r>
          </a:p>
          <a:p/>
          <a:p>
            <a:r>
              <a:t>Step 2 — Classify scenarios A–C.</a:t>
            </a:r>
          </a:p>
          <a:p/>
          <a:p>
            <a:r>
              <a:t>Step 3 — Classify scenarios D–F.</a:t>
            </a:r>
          </a:p>
          <a:p/>
          <a:p>
            <a:r>
              <a:t>Step 1 — Review the five database models.</a:t>
            </a:r>
          </a:p>
          <a:p/>
          <a:p>
            <a:r>
              <a:t>Step 2 — Classify scenarios A–C.</a:t>
            </a:r>
          </a:p>
          <a:p/>
          <a:p>
            <a:r>
              <a:t>Step 3 — Classify scenarios D–F.</a:t>
            </a:r>
          </a:p>
          <a:p/>
          <a:p>
            <a:r>
              <a:t>I'll give you a few minutes to work — raise your hand if you get stuck.</a:t>
            </a:r>
          </a:p>
          <a:p/>
          <a:p>
            <a:r>
              <a:t>The slide title is: Exercise 1.1 — Steps 1–2.</a:t>
            </a:r>
          </a:p>
          <a:p/>
          <a:p>
            <a:r>
              <a:t>The slide says: Lab guide: [Exercise 1.1](../slide-exercises/module-01/exercise-1.1-choose-the-data-model.md).</a:t>
            </a:r>
          </a:p>
          <a:p/>
          <a:p>
            <a:r>
              <a:t>The slide says: Follow along (Windows) — key steps:.</a:t>
            </a:r>
          </a:p>
          <a:p/>
          <a:p>
            <a:r>
              <a:t>The slide says: _Full lab guide with every command: see Lab guide on the lesson divider slide._.</a:t>
            </a:r>
          </a:p>
          <a:p/>
          <a:p>
            <a:r>
              <a:t>Bullet 1 on the slide: Do: Confirm the models you may choose from: Relational, Document, Key-value, Column-family, Graph. For each, name the primary structure (tables, JSON-like documents, key→value, column families, nodes and edges).</a:t>
            </a:r>
          </a:p>
          <a:p/>
          <a:p>
            <a:r>
              <a:t>Bullet 2 on the slide: Expected: The group can name all five models and one sentence for what each optimizes.</a:t>
            </a:r>
          </a:p>
          <a:p/>
          <a:p>
            <a:r>
              <a:t>Bullet 3 on the slide: Do: For A, B, and C, pick one initial model and write a one-line justification. | Scenario | Key requirement | |----------|-----------------| | A. Online shopping sessions | Retrieve session data by a unique session ID | | B.</a:t>
            </a:r>
          </a:p>
          <a:p/>
          <a:p>
            <a:r>
              <a:t>Bullet 4 on the slide: Expected: Your table has a model and a justification for A, B, and C. The justification mentions the access pattern (lookup by key, varied attributes, or relationship tra.</a:t>
            </a:r>
          </a:p>
          <a:p/>
          <a:p>
            <a:r>
              <a:t>Bullet 5 on the slide: Do: Repeat for D, E, and F. | Scenario | Key requirement | |----------|-----------------| | D. Banking ledger | Preserve strongly structured financial transactions | | E. Sensor platform | Accept large volumes of distributed.</a:t>
            </a:r>
          </a:p>
          <a:p/>
          <a:p>
            <a:r>
              <a:t>Bullet 6 on the slide: Expected: All six rows of the deliverable table are filled. You can explain why another technology might also work, and why your first choice still fits.</a:t>
            </a:r>
          </a:p>
          <a:p/>
          <a:p>
            <a:r>
              <a:t>Bullet 7 on the slide: Do: Confirm the models you may choose from: Relational, Document, Key-value, Column-family, Graph. For each, name the primary structure (tables, JSON-like documents, key→value, column families, nodes and edges).</a:t>
            </a:r>
          </a:p>
          <a:p/>
          <a:p>
            <a:r>
              <a:t>Bullet 8 on the slide: Expected: The group can name all five models and one sentence for what each optimizes.</a:t>
            </a:r>
          </a:p>
          <a:p/>
          <a:p>
            <a:r>
              <a:t>Bullet 9 on the slide: Do: For A, B, and C, pick one initial model and write a one-line justification. | Scenario | Key requirement | |----------|-----------------| | A. Online shopping sessions | Retrieve session data by a unique session ID | | B.</a:t>
            </a:r>
          </a:p>
          <a:p/>
          <a:p>
            <a:r>
              <a:t>Bullet 10 on the slide: Expected: Your table has a model and a justification for A, B, and C. The justification mentions the access pattern (lookup by key, varied attributes, or relationship tra.</a:t>
            </a:r>
          </a:p>
          <a:p/>
          <a:p>
            <a:r>
              <a:t>Bullet 11 on the slide: Do: Repeat for D, E, and F. | Scenario | Key requirement | |----------|-----------------| | D. Banking ledger | Preserve strongly structured financial transactions | | E. Sensor platform | Accept large volumes of distributed.</a:t>
            </a:r>
          </a:p>
          <a:p/>
          <a:p>
            <a:r>
              <a:t>Bullet 12 on the slide: Expected: All six rows of the deliverable table are filled. You can explain why another technology might also work, and why your first choice still fits.</a:t>
            </a:r>
          </a:p>
          <a:p/>
          <a:p>
            <a:r>
              <a:t>Bullet 13 on the slide: Do: Confirm the models you may choose from: Relational, Document, Key-value, Column-family, Graph. For each, name the primary structure (tables, JSON-like documents, key→value, column families, nodes and edges).</a:t>
            </a:r>
          </a:p>
          <a:p/>
          <a:p>
            <a:r>
              <a:t>Bullet 14 on the slide: Expected: The group can name all five models and one sentence for what each optimizes.</a:t>
            </a:r>
          </a:p>
          <a:p/>
          <a:p>
            <a:r>
              <a:t>Bullet 15 on the slide: Do: For A, B, and C, pick one initial model and write a one-line justification. | Scenario | Key requirement | |----------|-----------------| | A. Online shopping sessions | Retrieve session data by a unique session ID | | B.</a:t>
            </a:r>
          </a:p>
          <a:p/>
          <a:p>
            <a:r>
              <a:t>Bullet 16 on the slide: Expected: Your table has a model and a justification for A, B, and C. The justification mentions the access pattern (lookup by key, varied attributes, or relationship tra.</a:t>
            </a:r>
          </a:p>
          <a:p/>
          <a:p>
            <a:r>
              <a:t>Bullet 17 on the slide: Do: Repeat for D, E, and F. | Scenario | Key requirement | |----------|-----------------| | D. Banking ledger | Preserve strongly structured financial transactions | | E. Sensor platform | Accept large volumes of distributed.</a:t>
            </a:r>
          </a:p>
          <a:p/>
          <a:p>
            <a:r>
              <a:t>Bullet 18 on the slide: Expected: All six rows of the deliverable table are filled. You can explain why another technology might also work, and why your first choice still fits.</a:t>
            </a:r>
          </a:p>
          <a:p/>
          <a:p>
            <a:r>
              <a:t>Bullet 19 on the slide: Do: Confirm the models you may choose from: Relational, Document, Key-value, Column-family, Graph. For each, name the primary structure (tables, JSON-like documents, key→value, column families, nodes and edges).</a:t>
            </a:r>
          </a:p>
          <a:p/>
          <a:p>
            <a:r>
              <a:t>Bullet 20 on the slide: Expected: The group can name all five models and one sentence for what each optimizes.</a:t>
            </a:r>
          </a:p>
          <a:p/>
          <a:p>
            <a:r>
              <a:t>Bullet 21 on the slide: Do: For A, B, and C, pick one initial model and write a one-line justification. | Scenario | Key requirement | |----------|-----------------| | A. Online shopping sessions | Retrieve session data by a unique session ID | | B.</a:t>
            </a:r>
          </a:p>
          <a:p/>
          <a:p>
            <a:r>
              <a:t>Bullet 22 on the slide: Expected: Your table has a model and a justification for A, B, and C. The justification mentions the access pattern (lookup by key, varied attributes, or relationship tra.</a:t>
            </a:r>
          </a:p>
          <a:p/>
          <a:p>
            <a:r>
              <a:t>Bullet 23 on the slide: Do: Repeat for D, E, and F. | Scenario | Key requirement | |----------|-----------------| | D. Banking ledger | Preserve strongly structured financial transactions | | E. Sensor platform | Accept large volumes of distributed.</a:t>
            </a:r>
          </a:p>
          <a:p/>
          <a:p>
            <a:r>
              <a:t>Bullet 24 on the slide: Expected: All six rows of the deliverable table are filled. You can explain why another technology might also work, and why your first choice still fits.</a:t>
            </a:r>
          </a:p>
          <a:p/>
          <a:p>
            <a:r>
              <a:t>Bullet 25 on the slide: Do: Confirm the models you may choose from: Relational, Document, Key-value, Column-family, Graph. For each, name the primary structure (tables, JSON-like documents, key→value, column families, nodes and edges).</a:t>
            </a:r>
          </a:p>
          <a:p/>
          <a:p>
            <a:r>
              <a:t>Bullet 26 on the slide: Expected: The group can name all five models and one sentence for what each optimizes.</a:t>
            </a:r>
          </a:p>
          <a:p/>
          <a:p>
            <a:r>
              <a:t>Bullet 27 on the slide: Do: For A, B, and C, pick one initial model and write a one-line justification. | Scenario | Key requirement | |----------|-----------------| | A. Online shopping sessions | Retrieve session data by a unique session ID | | B.</a:t>
            </a:r>
          </a:p>
          <a:p/>
          <a:p>
            <a:r>
              <a:t>Bullet 28 on the slide: Expected: Your table has a model and a justification for A, B, and C. The justification mentions the access pattern (lookup by key, varied attributes, or relationship tra.</a:t>
            </a:r>
          </a:p>
          <a:p/>
          <a:p>
            <a:r>
              <a:t>Bullet 29 on the slide: Do: Repeat for D, E, and F. | Scenario | Key requirement | |----------|-----------------| | D. Banking ledger | Preserve strongly structured financial transactions | | E. Sensor platform | Accept large volumes of distributed.</a:t>
            </a:r>
          </a:p>
          <a:p/>
          <a:p>
            <a:r>
              <a:t>Bullet 30 on the slide: Expected: All six rows of the deliverable table are filled. You can explain why another technology might also work, and why your first choice still fits.</a:t>
            </a:r>
          </a:p>
          <a:p/>
          <a:p>
            <a:r>
              <a:t>Bullet 31 on the slide: Do: Confirm the models you may choose from: Relational, Document, Key-value, Column-family, Graph. For each, name the primary structure (tables, JSON-like documents, key→value, column families, nodes and edges).</a:t>
            </a:r>
          </a:p>
          <a:p/>
          <a:p>
            <a:r>
              <a:t>Bullet 32 on the slide: Expected: The group can name all five models and one sentence for what each optimizes.</a:t>
            </a:r>
          </a:p>
          <a:p/>
          <a:p>
            <a:r>
              <a:t>Bullet 33 on the slide: Do: For A, B, and C, pick one initial model and write a one-line justification. | Scenario | Key requirement | |----------|-----------------| | A. Online shopping sessions | Retrieve session data by a unique session ID | | B.</a:t>
            </a:r>
          </a:p>
          <a:p/>
          <a:p>
            <a:r>
              <a:t>Bullet 34 on the slide: Expected: Your table has a model and a justification for A, B, and C. The justification mentions the access pattern (lookup by key, varied attributes, or relationship tra.</a:t>
            </a:r>
          </a:p>
          <a:p/>
          <a:p>
            <a:r>
              <a:t>Bullet 35 on the slide: Do: Repeat for D, E, and F. | Scenario | Key requirement | |----------|-----------------| | D. Banking ledger | Preserve strongly structured financial transactions | | E. Sensor platform | Accept large volumes of distributed.</a:t>
            </a:r>
          </a:p>
          <a:p/>
          <a:p>
            <a:r>
              <a:t>Bullet 36 on the slide: Expected: All six rows of the deliverable table are filled. You can explain why another technology might also work, and why your first choice still fits.</a:t>
            </a:r>
          </a:p>
          <a:p/>
          <a:p>
            <a:r>
              <a:t>Bullet 37 on the slide: Do: Confirm the models you may choose from: Relational, Document, Key-value, Column-family, Graph. For each, name the primary structure (tables, JSON-like documents, key→value, column families, nodes and edges).</a:t>
            </a:r>
          </a:p>
          <a:p/>
          <a:p>
            <a:r>
              <a:t>Bullet 38 on the slide: Expected: The group can name all five models and one sentence for what each optimizes.</a:t>
            </a:r>
          </a:p>
          <a:p/>
          <a:p>
            <a:r>
              <a:t>Bullet 39 on the slide: Do: For A, B, and C, pick one initial model and write a one-line justification. | Scenario | Key requirement | |----------|-----------------| | A. Online shopping sessions | Retrieve session data by a unique session ID | | B.</a:t>
            </a:r>
          </a:p>
          <a:p/>
          <a:p>
            <a:r>
              <a:t>Bullet 40 on the slide: Expected: Your table has a model and a justification for A, B, and C. The justification mentions the access pattern (lookup by key, varied attributes, or relationship tra.</a:t>
            </a:r>
          </a:p>
          <a:p/>
          <a:p>
            <a:r>
              <a:t>Bullet 41 on the slide: Do: Repeat for D, E, and F. | Scenario | Key requirement | |----------|-----------------| | D. Banking ledger | Preserve strongly structured financial transactions | | E. Sensor platform | Accept large volumes of distributed.</a:t>
            </a:r>
          </a:p>
          <a:p/>
          <a:p>
            <a:r>
              <a:t>Bullet 42 on the slide: Expected: All six rows of the deliverable table are filled. You can explain why another technology might also work, and why your first choice still fits.</a:t>
            </a:r>
          </a:p>
          <a:p/>
          <a:p>
            <a:r>
              <a:t>Bullet 43 on the slide: Do: Confirm the models you may choose from: Relational, Document, Key-value, Column-family, Graph. For each, name the primary structure (tables, JSON-like documents, key→value, column families, nodes and edges).</a:t>
            </a:r>
          </a:p>
          <a:p/>
          <a:p>
            <a:r>
              <a:t>Bullet 44 on the slide: Expected: The group can name all five models and one sentence for what each optimizes.</a:t>
            </a:r>
          </a:p>
          <a:p/>
          <a:p>
            <a:r>
              <a:t>Bullet 45 on the slide: Do: For A, B, and C, pick one initial model and write a one-line justification. | Scenario | Key requirement | |----------|-----------------| | A. Online shopping sessions | Retrieve session data by a unique session ID | | B.</a:t>
            </a:r>
          </a:p>
          <a:p/>
          <a:p>
            <a:r>
              <a:t>Bullet 46 on the slide: Expected: Your table has a model and a justification for A, B, and C. The justification mentions the access pattern (lookup by key, varied attributes, or relationship tra.</a:t>
            </a:r>
          </a:p>
          <a:p/>
          <a:p>
            <a:r>
              <a:t>Bullet 47 on the slide: Do: Repeat for D, E, and F. | Scenario | Key requirement | |----------|-----------------| | D. Banking ledger | Preserve strongly structured financial transactions | | E. Sensor platform | Accept large volumes of distributed.</a:t>
            </a:r>
          </a:p>
          <a:p/>
          <a:p>
            <a:r>
              <a:t>Bullet 48 on the slide: Expected: All six rows of the deliverable table are filled. You can explain why another technology might also work, and why your first choice still fits.</a:t>
            </a:r>
          </a:p>
          <a:p/>
          <a:p>
            <a:r>
              <a:t>Bullet 49 on the slide: Do: Confirm the models you may choose from: Relational, Document, Key-value, Column-family, Graph. For each, name the primary structure (tables, JSON-like documents, key→value, column families, nodes and edges).</a:t>
            </a:r>
          </a:p>
          <a:p/>
          <a:p>
            <a:r>
              <a:t>Bullet 50 on the slide: Expected: The group can name all five models and one sentence for what each optimizes.</a:t>
            </a:r>
          </a:p>
          <a:p/>
          <a:p>
            <a:r>
              <a:t>Bullet 51 on the slide: Do: For A, B, and C, pick one initial model and write a one-line justification. | Scenario | Key requirement | |----------|-----------------| | A. Online shopping sessions | Retrieve session data by a unique session ID | | B.</a:t>
            </a:r>
          </a:p>
          <a:p/>
          <a:p>
            <a:r>
              <a:t>Bullet 52 on the slide: Expected: Your table has a model and a justification for A, B, and C. The justification mentions the access pattern (lookup by key, varied attributes, or relationship tra.</a:t>
            </a:r>
          </a:p>
          <a:p/>
          <a:p>
            <a:r>
              <a:t>Bullet 53 on the slide: Do: Repeat for D, E, and F. | Scenario | Key requirement | |----------|-----------------| | D. Banking ledger | Preserve strongly structured financial transactions | | E. Sensor platform | Accept large volumes of distributed.</a:t>
            </a:r>
          </a:p>
          <a:p/>
          <a:p>
            <a:r>
              <a:t>Bullet 54 on the slide: Expected: All six rows of the deliverable table are filled. You can explain why another technology might also work, and why your first choice still fits.</a:t>
            </a:r>
          </a:p>
          <a:p/>
          <a:p>
            <a:r>
              <a:t>Bullet 55 on the slide: Do: Confirm the models you may choose from: Relational, Document, Key-value, Column-family, Graph. For each, name the primary structure (tables, JSON-like documents, key→value, column families, nodes and edges).</a:t>
            </a:r>
          </a:p>
          <a:p/>
          <a:p>
            <a:r>
              <a:t>Bullet 56 on the slide: Expected: The group can name all five models and one sentence for what each optimizes.</a:t>
            </a:r>
          </a:p>
          <a:p/>
          <a:p>
            <a:r>
              <a:t>Bullet 57 on the slide: Do: For A, B, and C, pick one initial model and write a one-line justification.</a:t>
            </a:r>
          </a:p>
          <a:p/>
          <a:p>
            <a:r>
              <a:t>Bullet 58 on the slide: Expected: Your table has a model and a justification for A, B, and C. The justification mentions the access pattern (lookup by key, varied attributes, or relationship tra.</a:t>
            </a:r>
          </a:p>
          <a:p/>
          <a:p>
            <a:r>
              <a:t>Bullet 59 on the slide: Do: Repeat for D, E, and F.</a:t>
            </a:r>
          </a:p>
          <a:p/>
          <a:p>
            <a:r>
              <a:t>Bullet 60 on the slide: Expected: All six rows of the deliverable table are filled. You can explain why another technology might also work, and why your first choice still fits.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for Steps 3–4.</a:t>
            </a:r>
          </a:p>
          <a:p/>
          <a:p>
            <a:r>
              <a:t>Step 3 — Classify scenarios D–F.</a:t>
            </a:r>
          </a:p>
          <a:p/>
          <a:p>
            <a:r>
              <a:t>Step 4 — Compare with the instructor solution.</a:t>
            </a:r>
          </a:p>
          <a:p/>
          <a:p>
            <a:r>
              <a:t>I'll give you a few minutes to work — raise your hand if you get stuck.</a:t>
            </a:r>
          </a:p>
          <a:p/>
          <a:p>
            <a:r>
              <a:t>The slide title is: Exercise 1.1 — Steps 3–4.</a:t>
            </a:r>
          </a:p>
          <a:p/>
          <a:p>
            <a:r>
              <a:t>The slide says: Lab guide: [Exercise 1.1](../slide-exercises/module-01/exercise-1.1-choose-the-data-model.md).</a:t>
            </a:r>
          </a:p>
          <a:p/>
          <a:p>
            <a:r>
              <a:t>The slide says: Solution after debrief: A key-value · B document · C graph · D relational · E column-family or time-series · F document.</a:t>
            </a:r>
          </a:p>
          <a:p/>
          <a:p>
            <a:r>
              <a:t>Bullet 1 on the slide: Do: Classify banking ledger, sensor platform, and CMS. Fill all six rows of the deliverable table.</a:t>
            </a:r>
          </a:p>
          <a:p/>
          <a:p>
            <a:r>
              <a:t>Bullet 2 on the slide: Expected: Every row has a model and a justification you can defend.</a:t>
            </a:r>
          </a:p>
          <a:p/>
          <a:p>
            <a:r>
              <a:t>Bullet 3 on the slide: Do: Share one controversial row. Adjust if the class discussion changes your reasoning.</a:t>
            </a:r>
          </a:p>
          <a:p/>
          <a:p>
            <a:r>
              <a:t>Bullet 4 on the slide: Expected: You can use access pattern, consistency, relationships, and scale — not popularity.</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includes a diagram — Exercise 1.1 — Suitability thinking.</a:t>
            </a:r>
          </a:p>
          <a:p/>
          <a:p>
            <a:r>
              <a:t>The slide title is: Exercise 1.1 — Suitability thinking.</a:t>
            </a:r>
          </a:p>
          <a:p/>
          <a:p>
            <a:r>
              <a:t>The slide says: &lt;div class="cols"&gt;.</a:t>
            </a:r>
          </a:p>
          <a:p/>
          <a:p>
            <a:r>
              <a:t>The slide says: &lt;div class="col-text"&gt;.</a:t>
            </a:r>
          </a:p>
          <a:p/>
          <a:p>
            <a:r>
              <a:t>The slide says: After you pick a model, ask:.</a:t>
            </a:r>
          </a:p>
          <a:p/>
          <a:p>
            <a:r>
              <a:t>The slide says: Use this matrix in the debrief — not as a product ranking.</a:t>
            </a:r>
          </a:p>
          <a:p/>
          <a:p>
            <a:r>
              <a:t>The slide says: &lt;/div&gt;.</a:t>
            </a:r>
          </a:p>
          <a:p/>
          <a:p>
            <a:r>
              <a:t>The slide says: &lt;div class="col-visual"&gt;.</a:t>
            </a:r>
          </a:p>
          <a:p/>
          <a:p>
            <a:r>
              <a:t>Bullet 1 on the slide: What is MongoDB strong at?.</a:t>
            </a:r>
          </a:p>
          <a:p/>
          <a:p>
            <a:r>
              <a:t>Bullet 2 on the slide: What should stay relational or graph?.</a:t>
            </a:r>
          </a:p>
          <a:p/>
          <a:p>
            <a:r>
              <a:t>The figure on this slide is titled: Requirements evaluated against MongoDB strengths and limits.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includes a diagram — Exercise 1.2 — Relational starting point.</a:t>
            </a:r>
          </a:p>
          <a:p/>
          <a:p>
            <a:r>
              <a:t>The slide title is: Exercise 1.2 — Relational starting point.</a:t>
            </a:r>
          </a:p>
          <a:p/>
          <a:p>
            <a:r>
              <a:t>The slide says: &lt;div class="cols"&gt;.</a:t>
            </a:r>
          </a:p>
          <a:p/>
          <a:p>
            <a:r>
              <a:t>The slide says: &lt;div class="col-text"&gt;.</a:t>
            </a:r>
          </a:p>
          <a:p/>
          <a:p>
            <a:r>
              <a:t>The slide says: Order O5001 lives in four tables.</a:t>
            </a:r>
          </a:p>
          <a:p/>
          <a:p>
            <a:r>
              <a:t>The slide says: Your job: one document that the application can read without joining.</a:t>
            </a:r>
          </a:p>
          <a:p/>
          <a:p>
            <a:r>
              <a:t>The slide says: Lab guide: [Exercise 1.2](../slide-exercises/module-01/exercise-1.2-rows-to-documents.md).</a:t>
            </a:r>
          </a:p>
          <a:p/>
          <a:p>
            <a:r>
              <a:t>The slide says: &lt;/div&gt;.</a:t>
            </a:r>
          </a:p>
          <a:p/>
          <a:p>
            <a:r>
              <a:t>The slide says: &lt;div class="col-visual"&gt;.</a:t>
            </a:r>
          </a:p>
          <a:p/>
          <a:p>
            <a:r>
              <a:t>The figure on this slide is titled: Customer, order, order-item, and product tables with relationships.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are starting Exercise 1.2 — Convert Relational Rows into a Document. We have about 20 min for this lab.</a:t>
            </a:r>
          </a:p>
          <a:p/>
          <a:p>
            <a:r>
              <a:t>Represent related rows as one MongoDB document and decide what to embed versus snapshot.</a:t>
            </a:r>
          </a:p>
          <a:p/>
          <a:p>
            <a:r>
              <a:t>The full lab guide is in slide-exercises/module-01/exercise-1.2-rows-to-documents.md if you need extra detail.</a:t>
            </a:r>
          </a:p>
          <a:p/>
          <a:p>
            <a:r>
              <a:t>On Windows: PowerShell in the integrated terminal — Ctrl+backtick — and the Agent panel — Ctrl+I. Open the repo folder with File → Open Folder.</a:t>
            </a:r>
          </a:p>
          <a:p/>
          <a:p>
            <a:r>
              <a:t>Step 1 — Read the three relational tables.</a:t>
            </a:r>
          </a:p>
          <a:p/>
          <a:p>
            <a:r>
              <a:t>Step 2 — Draft one JSON-like order document.</a:t>
            </a:r>
          </a:p>
          <a:p/>
          <a:p>
            <a:r>
              <a:t>Step 3 — Embed items, customer, and _id.</a:t>
            </a:r>
          </a:p>
          <a:p/>
          <a:p>
            <a:r>
              <a:t>Step 1 — Read the three relational tables.</a:t>
            </a:r>
          </a:p>
          <a:p/>
          <a:p>
            <a:r>
              <a:t>Step 2 — Draft one JSON-like order document.</a:t>
            </a:r>
          </a:p>
          <a:p/>
          <a:p>
            <a:r>
              <a:t>Step 3 — Embed items, customer, and _id.</a:t>
            </a:r>
          </a:p>
          <a:p/>
          <a:p>
            <a:r>
              <a:t>Step 1 — Read the three relational tables.</a:t>
            </a:r>
          </a:p>
          <a:p/>
          <a:p>
            <a:r>
              <a:t>Step 2 — Draft one JSON-like order document.</a:t>
            </a:r>
          </a:p>
          <a:p/>
          <a:p>
            <a:r>
              <a:t>Step 3 — Embed items, customer, and _id.</a:t>
            </a:r>
          </a:p>
          <a:p/>
          <a:p>
            <a:r>
              <a:t>Step 1 — Read the three relational tables.</a:t>
            </a:r>
          </a:p>
          <a:p/>
          <a:p>
            <a:r>
              <a:t>Step 2 — Draft one JSON-like order document.</a:t>
            </a:r>
          </a:p>
          <a:p/>
          <a:p>
            <a:r>
              <a:t>Step 3 — Embed items, customer, and _id.</a:t>
            </a:r>
          </a:p>
          <a:p/>
          <a:p>
            <a:r>
              <a:t>Step 1 — Read the three relational tables.</a:t>
            </a:r>
          </a:p>
          <a:p/>
          <a:p>
            <a:r>
              <a:t>Step 2 — Draft one JSON-like order document.</a:t>
            </a:r>
          </a:p>
          <a:p/>
          <a:p>
            <a:r>
              <a:t>Step 3 — Embed items, customer, and _id.</a:t>
            </a:r>
          </a:p>
          <a:p/>
          <a:p>
            <a:r>
              <a:t>Step 1 — Read the three relational tables.</a:t>
            </a:r>
          </a:p>
          <a:p/>
          <a:p>
            <a:r>
              <a:t>Step 2 — Draft one JSON-like order document.</a:t>
            </a:r>
          </a:p>
          <a:p/>
          <a:p>
            <a:r>
              <a:t>Step 3 — Embed items, customer, and _id.</a:t>
            </a:r>
          </a:p>
          <a:p/>
          <a:p>
            <a:r>
              <a:t>Step 1 — Read the three relational tables.</a:t>
            </a:r>
          </a:p>
          <a:p/>
          <a:p>
            <a:r>
              <a:t>Step 2 — Draft one JSON-like order document.</a:t>
            </a:r>
          </a:p>
          <a:p/>
          <a:p>
            <a:r>
              <a:t>Step 3 — Embed items, customer, and _id.</a:t>
            </a:r>
          </a:p>
          <a:p/>
          <a:p>
            <a:r>
              <a:t>Step 1 — Read the three relational tables.</a:t>
            </a:r>
          </a:p>
          <a:p/>
          <a:p>
            <a:r>
              <a:t>Step 2 — Draft one JSON-like order document.</a:t>
            </a:r>
          </a:p>
          <a:p/>
          <a:p>
            <a:r>
              <a:t>Step 3 — Embed items, customer, and _id.</a:t>
            </a:r>
          </a:p>
          <a:p/>
          <a:p>
            <a:r>
              <a:t>Step 1 — Read the three relational tables.</a:t>
            </a:r>
          </a:p>
          <a:p/>
          <a:p>
            <a:r>
              <a:t>Step 2 — Draft one JSON-like order document.</a:t>
            </a:r>
          </a:p>
          <a:p/>
          <a:p>
            <a:r>
              <a:t>Step 3 — Embed items, customer, and _id.</a:t>
            </a:r>
          </a:p>
          <a:p/>
          <a:p>
            <a:r>
              <a:t>Step 1 — Read the three relational tables.</a:t>
            </a:r>
          </a:p>
          <a:p/>
          <a:p>
            <a:r>
              <a:t>Step 2 — Draft one JSON-like order document.</a:t>
            </a:r>
          </a:p>
          <a:p/>
          <a:p>
            <a:r>
              <a:t>Step 3 — Embed items, customer, and _id.</a:t>
            </a:r>
          </a:p>
          <a:p/>
          <a:p>
            <a:r>
              <a:t>I'll give you a few minutes to work — raise your hand if you get stuck.</a:t>
            </a:r>
          </a:p>
          <a:p/>
          <a:p>
            <a:r>
              <a:t>The slide title is: Exercise 1.2 — Steps 1–2.</a:t>
            </a:r>
          </a:p>
          <a:p/>
          <a:p>
            <a:r>
              <a:t>The slide says: Lab guide: [Exercise 1.2](../slide-exercises/module-01/exercise-1.2-rows-to-documents.md).</a:t>
            </a:r>
          </a:p>
          <a:p/>
          <a:p>
            <a:r>
              <a:t>The slide says: Follow along (Windows) — key steps:.</a:t>
            </a:r>
          </a:p>
          <a:p/>
          <a:p>
            <a:r>
              <a:t>The slide says: _Full lab guide with every command: see Lab guide on the lesson divider slide._.</a:t>
            </a:r>
          </a:p>
          <a:p/>
          <a:p>
            <a:r>
              <a:t>Bullet 1 on the slide: Do: Identify how you would reconstruct one complete order in SQL: join Customer to Order on customer_id, then join Order items on order_id. List every field the application needs for “show order O5001.”.</a:t>
            </a:r>
          </a:p>
          <a:p/>
          <a:p>
            <a:r>
              <a:t>Bullet 2 on the slide: Expected: You can name the three tables and the join keys. You know the order total is 110.00 and there are two line items.</a:t>
            </a:r>
          </a:p>
          <a:p/>
          <a:p>
            <a:r>
              <a:t>Bullet 3 on the slide: Do: Create a single document that holds the order header. Do not worry about _id or nesting yet — get status and total on the page.</a:t>
            </a:r>
          </a:p>
          <a:p/>
          <a:p>
            <a:r>
              <a:t>Bullet 4 on the slide: Expected: A starting object exists, for example { orderId: "O5001", status: "PLACED", total: 110.00 }.</a:t>
            </a:r>
          </a:p>
          <a:p/>
          <a:p>
            <a:r>
              <a:t>Bullet 5 on the slide: Do: Embed the two order items as an array. Include essential customer information (id, name, email). Set _id to "O5001" (or an ObjectId if you prefer). Keep purchase-time price on each item.</a:t>
            </a:r>
          </a:p>
          <a:p/>
          <a:p>
            <a:r>
              <a:t>Bullet 6 on the slide: Expected: One document that looks like the solution below: _id, nested customer, items array, status, and total. You did not leave items in a separate table.</a:t>
            </a:r>
          </a:p>
          <a:p/>
          <a:p>
            <a:r>
              <a:t>Bullet 7 on the slide: Do: Identify how you would reconstruct one complete order in SQL: join Customer to Order on customer_id, then join Order items on order_id. List every field the application needs for “show order O5001.”.</a:t>
            </a:r>
          </a:p>
          <a:p/>
          <a:p>
            <a:r>
              <a:t>Bullet 8 on the slide: Expected: You can name the three tables and the join keys. You know the order total is 110.00 and there are two line items.</a:t>
            </a:r>
          </a:p>
          <a:p/>
          <a:p>
            <a:r>
              <a:t>Bullet 9 on the slide: Do: Create a single document that holds the order header. Do not worry about _id or nesting yet — get status and total on the page.</a:t>
            </a:r>
          </a:p>
          <a:p/>
          <a:p>
            <a:r>
              <a:t>Bullet 10 on the slide: Expected: A starting object exists, for example { orderId: "O5001", status: "PLACED", total: 110.00 }.</a:t>
            </a:r>
          </a:p>
          <a:p/>
          <a:p>
            <a:r>
              <a:t>Bullet 11 on the slide: Do: Embed the two order items as an array. Include essential customer information (id, name, email). Set _id to "O5001" (or an ObjectId if you prefer). Keep purchase-time price on each item.</a:t>
            </a:r>
          </a:p>
          <a:p/>
          <a:p>
            <a:r>
              <a:t>Bullet 12 on the slide: Expected: One document that looks like the solution below: _id, nested customer, items array, status, and total. You did not leave items in a separate table.</a:t>
            </a:r>
          </a:p>
          <a:p/>
          <a:p>
            <a:r>
              <a:t>Bullet 13 on the slide: Do: Identify how you would reconstruct one complete order in SQL: join Customer to Order on customer_id, then join Order items on order_id. List every field the application needs for “show order O5001.”.</a:t>
            </a:r>
          </a:p>
          <a:p/>
          <a:p>
            <a:r>
              <a:t>Bullet 14 on the slide: Expected: You can name the three tables and the join keys. You know the order total is 110.00 and there are two line items.</a:t>
            </a:r>
          </a:p>
          <a:p/>
          <a:p>
            <a:r>
              <a:t>Bullet 15 on the slide: Do: Create a single document that holds the order header. Do not worry about _id or nesting yet — get status and total on the page.</a:t>
            </a:r>
          </a:p>
          <a:p/>
          <a:p>
            <a:r>
              <a:t>Bullet 16 on the slide: Expected: A starting object exists, for example { orderId: "O5001", status: "PLACED", total: 110.00 }.</a:t>
            </a:r>
          </a:p>
          <a:p/>
          <a:p>
            <a:r>
              <a:t>Bullet 17 on the slide: Do: Embed the two order items as an array. Include essential customer information (id, name, email). Set _id to "O5001" (or an ObjectId if you prefer). Keep purchase-time price on each item.</a:t>
            </a:r>
          </a:p>
          <a:p/>
          <a:p>
            <a:r>
              <a:t>Bullet 18 on the slide: Expected: One document that looks like the solution below: _id, nested customer, items array, status, and total. You did not leave items in a separate table.</a:t>
            </a:r>
          </a:p>
          <a:p/>
          <a:p>
            <a:r>
              <a:t>Bullet 19 on the slide: Do: Identify how you would reconstruct one complete order in SQL: join Customer to Order on customer_id, then join Order items on order_id. List every field the application needs for “show order O5001.”.</a:t>
            </a:r>
          </a:p>
          <a:p/>
          <a:p>
            <a:r>
              <a:t>Bullet 20 on the slide: Expected: You can name the three tables and the join keys. You know the order total is 110.00 and there are two line items.</a:t>
            </a:r>
          </a:p>
          <a:p/>
          <a:p>
            <a:r>
              <a:t>Bullet 21 on the slide: Do: Create a single document that holds the order header. Do not worry about _id or nesting yet — get status and total on the page.</a:t>
            </a:r>
          </a:p>
          <a:p/>
          <a:p>
            <a:r>
              <a:t>Bullet 22 on the slide: Expected: A starting object exists, for example { orderId: "O5001", status: "PLACED", total: 110.00 }.</a:t>
            </a:r>
          </a:p>
          <a:p/>
          <a:p>
            <a:r>
              <a:t>Bullet 23 on the slide: Do: Embed the two order items as an array. Include essential customer information (id, name, email). Set _id to "O5001" (or an ObjectId if you prefer). Keep purchase-time price on each item.</a:t>
            </a:r>
          </a:p>
          <a:p/>
          <a:p>
            <a:r>
              <a:t>Bullet 24 on the slide: Expected: One document that looks like the solution below: _id, nested customer, items array, status, and total. You did not leave items in a separate table.</a:t>
            </a:r>
          </a:p>
          <a:p/>
          <a:p>
            <a:r>
              <a:t>Bullet 25 on the slide: Do: Identify how you would reconstruct one complete order in SQL: join Customer to Order on customer_id, then join Order items on order_id. List every field the application needs for “show order O5001.”.</a:t>
            </a:r>
          </a:p>
          <a:p/>
          <a:p>
            <a:r>
              <a:t>Bullet 26 on the slide: Expected: You can name the three tables and the join keys. You know the order total is 110.00 and there are two line items.</a:t>
            </a:r>
          </a:p>
          <a:p/>
          <a:p>
            <a:r>
              <a:t>Bullet 27 on the slide: Do: Create a single document that holds the order header. Do not worry about _id or nesting yet — get status and total on the page.</a:t>
            </a:r>
          </a:p>
          <a:p/>
          <a:p>
            <a:r>
              <a:t>Bullet 28 on the slide: Expected: A starting object exists, for example { orderId: "O5001", status: "PLACED", total: 110.00 }.</a:t>
            </a:r>
          </a:p>
          <a:p/>
          <a:p>
            <a:r>
              <a:t>Bullet 29 on the slide: Do: Embed the two order items as an array. Include essential customer information (id, name, email). Set _id to "O5001" (or an ObjectId if you prefer). Keep purchase-time price on each item.</a:t>
            </a:r>
          </a:p>
          <a:p/>
          <a:p>
            <a:r>
              <a:t>Bullet 30 on the slide: Expected: One document that looks like the solution below: _id, nested customer, items array, status, and total. You did not leave items in a separate table.</a:t>
            </a:r>
          </a:p>
          <a:p/>
          <a:p>
            <a:r>
              <a:t>Bullet 31 on the slide: Do: Identify how you would reconstruct one complete order in SQL: join Customer to Order on customer_id, then join Order items on order_id. List every field the application needs for “show order O5001.”.</a:t>
            </a:r>
          </a:p>
          <a:p/>
          <a:p>
            <a:r>
              <a:t>Bullet 32 on the slide: Expected: You can name the three tables and the join keys. You know the order total is 110.00 and there are two line items.</a:t>
            </a:r>
          </a:p>
          <a:p/>
          <a:p>
            <a:r>
              <a:t>Bullet 33 on the slide: Do: Create a single document that holds the order header. Do not worry about _id or nesting yet — get status and total on the page.</a:t>
            </a:r>
          </a:p>
          <a:p/>
          <a:p>
            <a:r>
              <a:t>Bullet 34 on the slide: Expected: A starting object exists, for example { orderId: "O5001", status: "PLACED", total: 110.00 }.</a:t>
            </a:r>
          </a:p>
          <a:p/>
          <a:p>
            <a:r>
              <a:t>Bullet 35 on the slide: Do: Embed the two order items as an array. Include essential customer information (id, name, email). Set _id to "O5001" (or an ObjectId if you prefer). Keep purchase-time price on each item.</a:t>
            </a:r>
          </a:p>
          <a:p/>
          <a:p>
            <a:r>
              <a:t>Bullet 36 on the slide: Expected: One document that looks like the solution below: _id, nested customer, items array, status, and total. You did not leave items in a separate table.</a:t>
            </a:r>
          </a:p>
          <a:p/>
          <a:p>
            <a:r>
              <a:t>Bullet 37 on the slide: Do: Identify how you would reconstruct one complete order in SQL: join Customer to Order on customer_id, then join Order items on order_id. List every field the application needs for “show order O5001.”.</a:t>
            </a:r>
          </a:p>
          <a:p/>
          <a:p>
            <a:r>
              <a:t>Bullet 38 on the slide: Expected: You can name the three tables and the join keys. You know the order total is 110.00 and there are two line items.</a:t>
            </a:r>
          </a:p>
          <a:p/>
          <a:p>
            <a:r>
              <a:t>Bullet 39 on the slide: Do: Create a single document that holds the order header. Do not worry about _id or nesting yet — get status and total on the page.</a:t>
            </a:r>
          </a:p>
          <a:p/>
          <a:p>
            <a:r>
              <a:t>Bullet 40 on the slide: Expected: A starting object exists, for example { orderId: "O5001", status: "PLACED", total: 110.00 }.</a:t>
            </a:r>
          </a:p>
          <a:p/>
          <a:p>
            <a:r>
              <a:t>Bullet 41 on the slide: Do: Embed the two order items as an array. Include essential customer information (id, name, email). Set _id to "O5001" (or an ObjectId if you prefer). Keep purchase-time price on each item.</a:t>
            </a:r>
          </a:p>
          <a:p/>
          <a:p>
            <a:r>
              <a:t>Bullet 42 on the slide: Expected: One document that looks like the solution below: _id, nested customer, items array, status, and total. You did not leave items in a separate table.</a:t>
            </a:r>
          </a:p>
          <a:p/>
          <a:p>
            <a:r>
              <a:t>Bullet 43 on the slide: Do: Identify how you would reconstruct one complete order in SQL: join Customer to Order on customer_id, then join Order items on order_id. List every field the application needs for “show order O5001.”.</a:t>
            </a:r>
          </a:p>
          <a:p/>
          <a:p>
            <a:r>
              <a:t>Bullet 44 on the slide: Expected: You can name the three tables and the join keys. You know the order total is 110.00 and there are two line items.</a:t>
            </a:r>
          </a:p>
          <a:p/>
          <a:p>
            <a:r>
              <a:t>Bullet 45 on the slide: Do: Create a single document that holds the order header. Do not worry about _id or nesting yet — get status and total on the page.</a:t>
            </a:r>
          </a:p>
          <a:p/>
          <a:p>
            <a:r>
              <a:t>Bullet 46 on the slide: Expected: A starting object exists, for example { orderId: "O5001", status: "PLACED", total: 110.00 }.</a:t>
            </a:r>
          </a:p>
          <a:p/>
          <a:p>
            <a:r>
              <a:t>Bullet 47 on the slide: Do: Embed the two order items as an array. Include essential customer information (id, name, email). Set _id to "O5001" (or an ObjectId if you prefer). Keep purchase-time price on each item.</a:t>
            </a:r>
          </a:p>
          <a:p/>
          <a:p>
            <a:r>
              <a:t>Bullet 48 on the slide: Expected: One document that looks like the solution below: _id, nested customer, items array, status, and total. You did not leave items in a separate table.</a:t>
            </a:r>
          </a:p>
          <a:p/>
          <a:p>
            <a:r>
              <a:t>Bullet 49 on the slide: Do: Identify how you would reconstruct one complete order in SQL: join Customer to Order on customer_id, then join Order items on order_id. List every field the application needs for “show order O5001.”.</a:t>
            </a:r>
          </a:p>
          <a:p/>
          <a:p>
            <a:r>
              <a:t>Bullet 50 on the slide: Expected: You can name the three tables and the join keys. You know the order total is 110.00 and there are two line items.</a:t>
            </a:r>
          </a:p>
          <a:p/>
          <a:p>
            <a:r>
              <a:t>Bullet 51 on the slide: Do: Create a single document that holds the order header. Do not worry about _id or nesting yet — get status and total on the page.</a:t>
            </a:r>
          </a:p>
          <a:p/>
          <a:p>
            <a:r>
              <a:t>Bullet 52 on the slide: Expected: A starting object exists, for example { orderId: "O5001", status: "PLACED", total: 110.00 }.</a:t>
            </a:r>
          </a:p>
          <a:p/>
          <a:p>
            <a:r>
              <a:t>Bullet 53 on the slide: Do: Embed the two order items as an array. Include essential customer information (id, name, email). Set _id to "O5001" (or an ObjectId if you prefer). Keep purchase-time price on each item.</a:t>
            </a:r>
          </a:p>
          <a:p/>
          <a:p>
            <a:r>
              <a:t>Bullet 54 on the slide: Expected: One document that looks like the solution below: _id, nested customer, items array, status, and total. You did not leave items in a separate table.</a:t>
            </a:r>
          </a:p>
          <a:p/>
          <a:p>
            <a:r>
              <a:t>Bullet 55 on the slide: Do: Identify how you would reconstruct one complete order in SQL: join Customer to Order on customer_id, then join Order items on order_id. List every field the application needs for “show order O5001.”.</a:t>
            </a:r>
          </a:p>
          <a:p/>
          <a:p>
            <a:r>
              <a:t>Bullet 56 on the slide: Expected: You can name the three tables and the join keys. You know the order total is 110.00 and there are two line items.</a:t>
            </a:r>
          </a:p>
          <a:p/>
          <a:p>
            <a:r>
              <a:t>Bullet 57 on the slide: Do: Create a single document that holds the order header. Do not worry about _id or nesting yet — get status and total on the page.</a:t>
            </a:r>
          </a:p>
          <a:p/>
          <a:p>
            <a:r>
              <a:t>Bullet 58 on the slide: Expected: A starting object exists, for example { orderId: "O5001", status: "PLACED", total: 110.00 }.</a:t>
            </a:r>
          </a:p>
          <a:p/>
          <a:p>
            <a:r>
              <a:t>Bullet 59 on the slide: Do: Embed the two order items as an array. Include essential customer information (id, name, email). Set _id to "O5001" (or an ObjectId if you prefer). Keep purchase-time price on each item.</a:t>
            </a:r>
          </a:p>
          <a:p/>
          <a:p>
            <a:r>
              <a:t>Bullet 60 on the slide: Expected: One document that looks like the solution below: _id, nested customer, items array, status, and total. You did not leave items in a separate table.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for Steps 3–4.</a:t>
            </a:r>
          </a:p>
          <a:p/>
          <a:p>
            <a:r>
              <a:t>Step 3 — Embed items, customer, and _id.</a:t>
            </a:r>
          </a:p>
          <a:p/>
          <a:p>
            <a:r>
              <a:t>Step 4 — Identify snapshot versus stale fields.</a:t>
            </a:r>
          </a:p>
          <a:p/>
          <a:p>
            <a:r>
              <a:t>I'll give you a few minutes to work — raise your hand if you get stuck.</a:t>
            </a:r>
          </a:p>
          <a:p/>
          <a:p>
            <a:r>
              <a:t>The slide title is: Exercise 1.2 — Steps 3–4.</a:t>
            </a:r>
          </a:p>
          <a:p/>
          <a:p>
            <a:r>
              <a:t>The slide says: Lab guide: [Exercise 1.2](../slide-exercises/module-01/exercise-1.2-rows-to-documents.md).</a:t>
            </a:r>
          </a:p>
          <a:p/>
          <a:p>
            <a:r>
              <a:t>Bullet 1 on the slide: Do: Embed two items as an array, include customer id/name/email, set _id to "O5001", keep purchase-time price on each item.</a:t>
            </a:r>
          </a:p>
          <a:p/>
          <a:p>
            <a:r>
              <a:t>Bullet 2 on the slide: Expected: One document — not a document per line item.</a:t>
            </a:r>
          </a:p>
          <a:p/>
          <a:p>
            <a:r>
              <a:t>Bullet 3 on the slide: Do: Decide email embed vs reference, purchase-time vs current price, and the main query this document supports.</a:t>
            </a:r>
          </a:p>
          <a:p/>
          <a:p>
            <a:r>
              <a:t>Bullet 4 on the slide: Expected: Price is a snapshot; email can go stale; the shape serves “get order O5001 in one read.”.</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includes a diagram — Exercise 1.2 — Target document.</a:t>
            </a:r>
          </a:p>
          <a:p/>
          <a:p>
            <a:r>
              <a:t>The slide title is: Exercise 1.2 — Target document.</a:t>
            </a:r>
          </a:p>
          <a:p/>
          <a:p>
            <a:r>
              <a:t>The slide says: &lt;div class="cols"&gt;.</a:t>
            </a:r>
          </a:p>
          <a:p/>
          <a:p>
            <a:r>
              <a:t>The slide says: &lt;div class="col-text"&gt;.</a:t>
            </a:r>
          </a:p>
          <a:p/>
          <a:p>
            <a:r>
              <a:t>The slide says: Compare your draft with this shape:.</a:t>
            </a:r>
          </a:p>
          <a:p/>
          <a:p>
            <a:r>
              <a:t>The slide says: &lt;/div&gt;.</a:t>
            </a:r>
          </a:p>
          <a:p/>
          <a:p>
            <a:r>
              <a:t>The slide says: &lt;div class="col-visual"&gt;.</a:t>
            </a:r>
          </a:p>
          <a:p/>
          <a:p>
            <a:r>
              <a:t>Bullet 1 on the slide: _id = order id.</a:t>
            </a:r>
          </a:p>
          <a:p/>
          <a:p>
            <a:r>
              <a:t>Bullet 2 on the slide: Nested customer.</a:t>
            </a:r>
          </a:p>
          <a:p/>
          <a:p>
            <a:r>
              <a:t>Bullet 3 on the slide: items array.</a:t>
            </a:r>
          </a:p>
          <a:p/>
          <a:p>
            <a:r>
              <a:t>Bullet 4 on the slide: Snapshot price on each line.</a:t>
            </a:r>
          </a:p>
          <a:p/>
          <a:p>
            <a:r>
              <a:t>The figure on this slide is titled: Order represented as one document with embedded customer and items array.</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includes a diagram — Exercise 1.3 — Training dataset.</a:t>
            </a:r>
          </a:p>
          <a:p/>
          <a:p>
            <a:r>
              <a:t>The slide title is: Exercise 1.3 — Training dataset.</a:t>
            </a:r>
          </a:p>
          <a:p/>
          <a:p>
            <a:r>
              <a:t>The slide says: &lt;div class="cols"&gt;.</a:t>
            </a:r>
          </a:p>
          <a:p/>
          <a:p>
            <a:r>
              <a:t>The slide says: &lt;div class="col-text"&gt;.</a:t>
            </a:r>
          </a:p>
          <a:p/>
          <a:p>
            <a:r>
              <a:t>The slide says: Instructor loads training_store before class.</a:t>
            </a:r>
          </a:p>
          <a:p/>
          <a:p>
            <a:r>
              <a:t>The slide says: Collections: customers · products · orders.</a:t>
            </a:r>
          </a:p>
          <a:p/>
          <a:p>
            <a:r>
              <a:t>The slide says: Lab guide: [Exercise 1.3](../slide-exercises/module-01/exercise-1.3-explore-a-mongodb-dataset.md).</a:t>
            </a:r>
          </a:p>
          <a:p/>
          <a:p>
            <a:r>
              <a:t>The slide says: &lt;/div&gt;.</a:t>
            </a:r>
          </a:p>
          <a:p/>
          <a:p>
            <a:r>
              <a:t>The slide says: &lt;div class="col-visual"&gt;.</a:t>
            </a:r>
          </a:p>
          <a:p/>
          <a:p>
            <a:r>
              <a:t>The figure on this slide is titled: training_store database with customers, products, and orders.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includes a diagram — Exercise 1.3 — Navigation flow.</a:t>
            </a:r>
          </a:p>
          <a:p/>
          <a:p>
            <a:r>
              <a:t>The slide title is: Exercise 1.3 — Navigation flow.</a:t>
            </a:r>
          </a:p>
          <a:p/>
          <a:p>
            <a:r>
              <a:t>The slide says: &lt;div class="cols"&gt;.</a:t>
            </a:r>
          </a:p>
          <a:p/>
          <a:p>
            <a:r>
              <a:t>The slide says: &lt;div class="col-text"&gt;.</a:t>
            </a:r>
          </a:p>
          <a:p/>
          <a:p>
            <a:r>
              <a:t>The slide says: Memorize this path:.</a:t>
            </a:r>
          </a:p>
          <a:p/>
          <a:p>
            <a:r>
              <a:t>The slide says: show dbs → use training_store → show collections → findOne().</a:t>
            </a:r>
          </a:p>
          <a:p/>
          <a:p>
            <a:r>
              <a:t>The slide says: &lt;/div&gt;.</a:t>
            </a:r>
          </a:p>
          <a:p/>
          <a:p>
            <a:r>
              <a:t>The slide says: &lt;div class="col-visual"&gt;.</a:t>
            </a:r>
          </a:p>
          <a:p/>
          <a:p>
            <a:r>
              <a:t>The figure on this slide is titled: Connect, list databases, select, list collections, retrieve document.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are starting Exercise 1.3 — Explore a MongoDB Dataset. We have about 25 min for this lab.</a:t>
            </a:r>
          </a:p>
          <a:p/>
          <a:p>
            <a:r>
              <a:t>Identify databases, collections, documents, fields, arrays, and embedded objects in training_store.</a:t>
            </a:r>
          </a:p>
          <a:p/>
          <a:p>
            <a:r>
              <a:t>The full lab guide is in slide-exercises/module-01/exercise-1.3-explore-a-mongodb-dataset.md if you need extra detail.</a:t>
            </a:r>
          </a:p>
          <a:p/>
          <a:p>
            <a:r>
              <a:t>On Windows: PowerShell in the integrated terminal — Ctrl+backtick — and the Agent panel — Ctrl+I. Open the repo folder with File → Open Folder.</a:t>
            </a:r>
          </a:p>
          <a:p/>
          <a:p>
            <a:r>
              <a:t>Step 1 — View available databases.</a:t>
            </a:r>
          </a:p>
          <a:p/>
          <a:p>
            <a:r>
              <a:t>Step 2 — Select the training database and list collections.</a:t>
            </a:r>
          </a:p>
          <a:p/>
          <a:p>
            <a:r>
              <a:t>Step 3 — Retrieve one product document.</a:t>
            </a:r>
          </a:p>
          <a:p/>
          <a:p>
            <a:r>
              <a:t>Step 1 — View available databases.</a:t>
            </a:r>
          </a:p>
          <a:p/>
          <a:p>
            <a:r>
              <a:t>Step 2 — Select the training database and list collections.</a:t>
            </a:r>
          </a:p>
          <a:p/>
          <a:p>
            <a:r>
              <a:t>Step 3 — Retrieve one product document.</a:t>
            </a:r>
          </a:p>
          <a:p/>
          <a:p>
            <a:r>
              <a:t>Step 1 — View available databases.</a:t>
            </a:r>
          </a:p>
          <a:p/>
          <a:p>
            <a:r>
              <a:t>Step 2 — Select the training database and list collections.</a:t>
            </a:r>
          </a:p>
          <a:p/>
          <a:p>
            <a:r>
              <a:t>Step 3 — Retrieve one product document.</a:t>
            </a:r>
          </a:p>
          <a:p/>
          <a:p>
            <a:r>
              <a:t>Step 1 — View available databases.</a:t>
            </a:r>
          </a:p>
          <a:p/>
          <a:p>
            <a:r>
              <a:t>Step 2 — Select the training database and list collections.</a:t>
            </a:r>
          </a:p>
          <a:p/>
          <a:p>
            <a:r>
              <a:t>Step 3 — Retrieve one product document.</a:t>
            </a:r>
          </a:p>
          <a:p/>
          <a:p>
            <a:r>
              <a:t>Step 1 — View available databases.</a:t>
            </a:r>
          </a:p>
          <a:p/>
          <a:p>
            <a:r>
              <a:t>Step 2 — Select the training database and list collections.</a:t>
            </a:r>
          </a:p>
          <a:p/>
          <a:p>
            <a:r>
              <a:t>Step 3 — Retrieve one product document.</a:t>
            </a:r>
          </a:p>
          <a:p/>
          <a:p>
            <a:r>
              <a:t>Step 1 — View available databases.</a:t>
            </a:r>
          </a:p>
          <a:p/>
          <a:p>
            <a:r>
              <a:t>Step 2 — Select the training database and list collections.</a:t>
            </a:r>
          </a:p>
          <a:p/>
          <a:p>
            <a:r>
              <a:t>Step 3 — Retrieve one product document.</a:t>
            </a:r>
          </a:p>
          <a:p/>
          <a:p>
            <a:r>
              <a:t>Step 1 — View available databases.</a:t>
            </a:r>
          </a:p>
          <a:p/>
          <a:p>
            <a:r>
              <a:t>Step 2 — Select the training database and list collections.</a:t>
            </a:r>
          </a:p>
          <a:p/>
          <a:p>
            <a:r>
              <a:t>Step 3 — Retrieve one product document.</a:t>
            </a:r>
          </a:p>
          <a:p/>
          <a:p>
            <a:r>
              <a:t>Step 1 — View available databases.</a:t>
            </a:r>
          </a:p>
          <a:p/>
          <a:p>
            <a:r>
              <a:t>Step 2 — Select the training database and list collections.</a:t>
            </a:r>
          </a:p>
          <a:p/>
          <a:p>
            <a:r>
              <a:t>Step 3 — Retrieve one product document.</a:t>
            </a:r>
          </a:p>
          <a:p/>
          <a:p>
            <a:r>
              <a:t>Step 1 — View available databases.</a:t>
            </a:r>
          </a:p>
          <a:p/>
          <a:p>
            <a:r>
              <a:t>Step 2 — Select the training database and list collections.</a:t>
            </a:r>
          </a:p>
          <a:p/>
          <a:p>
            <a:r>
              <a:t>Step 3 — Retrieve one product document.</a:t>
            </a:r>
          </a:p>
          <a:p/>
          <a:p>
            <a:r>
              <a:t>Step 1 — View available databases.</a:t>
            </a:r>
          </a:p>
          <a:p/>
          <a:p>
            <a:r>
              <a:t>Step 2 — Select the training database and list collections.</a:t>
            </a:r>
          </a:p>
          <a:p/>
          <a:p>
            <a:r>
              <a:t>Step 3 — Retrieve one product document.</a:t>
            </a:r>
          </a:p>
          <a:p/>
          <a:p>
            <a:r>
              <a:t>I'll give you a few minutes to work — raise your hand if you get stuck.</a:t>
            </a:r>
          </a:p>
          <a:p/>
          <a:p>
            <a:r>
              <a:t>The slide title is: Exercise 1.3 — Steps 1–2.</a:t>
            </a:r>
          </a:p>
          <a:p/>
          <a:p>
            <a:r>
              <a:t>The slide says: Lab guide: [Exercise 1.3](../slide-exercises/module-01/exercise-1.3-explore-a-mongodb-dataset.md).</a:t>
            </a:r>
          </a:p>
          <a:p/>
          <a:p>
            <a:r>
              <a:t>The slide says: Follow along (Windows) — key steps:.</a:t>
            </a:r>
          </a:p>
          <a:p/>
          <a:p>
            <a:r>
              <a:t>The slide says: _Full lab guide with every command: see Lab guide on the lesson divider slide._.</a:t>
            </a:r>
          </a:p>
          <a:p/>
          <a:p>
            <a:r>
              <a:t>Bullet 1 on the slide: Do: In mongosh, run: javascript show dbs.</a:t>
            </a:r>
          </a:p>
          <a:p/>
          <a:p>
            <a:r>
              <a:t>Bullet 2 on the slide: Expected: The database list includes training_store (and usually admin, config, and local).</a:t>
            </a:r>
          </a:p>
          <a:p/>
          <a:p>
            <a:r>
              <a:t>Bullet 3 on the slide: Do: Run: javascript use training_store show collections.</a:t>
            </a:r>
          </a:p>
          <a:p/>
          <a:p>
            <a:r>
              <a:t>Bullet 4 on the slide: Expected: The prompt shows training_store. Collections include customers, products, and orders.</a:t>
            </a:r>
          </a:p>
          <a:p/>
          <a:p>
            <a:r>
              <a:t>Bullet 5 on the slide: Do: Run: javascript db.products.findOne().</a:t>
            </a:r>
          </a:p>
          <a:p/>
          <a:p>
            <a:r>
              <a:t>Bullet 6 on the slide: Expected: One product document prints. You can see _id, scalar fields such as name and price, and at least one nested or category-specific field.</a:t>
            </a:r>
          </a:p>
          <a:p/>
          <a:p>
            <a:r>
              <a:t>Bullet 7 on the slide: Do: In mongosh, run: javascript show dbs.</a:t>
            </a:r>
          </a:p>
          <a:p/>
          <a:p>
            <a:r>
              <a:t>Bullet 8 on the slide: Expected: The database list includes training_store (and usually admin, config, and local).</a:t>
            </a:r>
          </a:p>
          <a:p/>
          <a:p>
            <a:r>
              <a:t>Bullet 9 on the slide: Do: Run: javascript use training_store show collections.</a:t>
            </a:r>
          </a:p>
          <a:p/>
          <a:p>
            <a:r>
              <a:t>Bullet 10 on the slide: Expected: The prompt shows training_store. Collections include customers, products, and orders.</a:t>
            </a:r>
          </a:p>
          <a:p/>
          <a:p>
            <a:r>
              <a:t>Bullet 11 on the slide: Do: Run: javascript db.products.findOne().</a:t>
            </a:r>
          </a:p>
          <a:p/>
          <a:p>
            <a:r>
              <a:t>Bullet 12 on the slide: Expected: One product document prints. You can see _id, scalar fields such as name and price, and at least one nested or category-specific field.</a:t>
            </a:r>
          </a:p>
          <a:p/>
          <a:p>
            <a:r>
              <a:t>Bullet 13 on the slide: Do: In mongosh, run: javascript show dbs.</a:t>
            </a:r>
          </a:p>
          <a:p/>
          <a:p>
            <a:r>
              <a:t>Bullet 14 on the slide: Expected: The database list includes training_store (and usually admin, config, and local).</a:t>
            </a:r>
          </a:p>
          <a:p/>
          <a:p>
            <a:r>
              <a:t>Bullet 15 on the slide: Do: Run: javascript use training_store show collections.</a:t>
            </a:r>
          </a:p>
          <a:p/>
          <a:p>
            <a:r>
              <a:t>Bullet 16 on the slide: Expected: The prompt shows training_store. Collections include customers, products, and orders.</a:t>
            </a:r>
          </a:p>
          <a:p/>
          <a:p>
            <a:r>
              <a:t>Bullet 17 on the slide: Do: Run: javascript db.products.findOne().</a:t>
            </a:r>
          </a:p>
          <a:p/>
          <a:p>
            <a:r>
              <a:t>Bullet 18 on the slide: Expected: One product document prints. You can see _id, scalar fields such as name and price, and at least one nested or category-specific field.</a:t>
            </a:r>
          </a:p>
          <a:p/>
          <a:p>
            <a:r>
              <a:t>Bullet 19 on the slide: Do: In mongosh, run: javascript show dbs.</a:t>
            </a:r>
          </a:p>
          <a:p/>
          <a:p>
            <a:r>
              <a:t>Bullet 20 on the slide: Expected: The database list includes training_store (and usually admin, config, and local).</a:t>
            </a:r>
          </a:p>
          <a:p/>
          <a:p>
            <a:r>
              <a:t>Bullet 21 on the slide: Do: Run: javascript use training_store show collections.</a:t>
            </a:r>
          </a:p>
          <a:p/>
          <a:p>
            <a:r>
              <a:t>Bullet 22 on the slide: Expected: The prompt shows training_store. Collections include customers, products, and orders.</a:t>
            </a:r>
          </a:p>
          <a:p/>
          <a:p>
            <a:r>
              <a:t>Bullet 23 on the slide: Do: Run: javascript db.products.findOne().</a:t>
            </a:r>
          </a:p>
          <a:p/>
          <a:p>
            <a:r>
              <a:t>Bullet 24 on the slide: Expected: One product document prints. You can see _id, scalar fields such as name and price, and at least one nested or category-specific field.</a:t>
            </a:r>
          </a:p>
          <a:p/>
          <a:p>
            <a:r>
              <a:t>Bullet 25 on the slide: Do: In mongosh, run: javascript show dbs.</a:t>
            </a:r>
          </a:p>
          <a:p/>
          <a:p>
            <a:r>
              <a:t>Bullet 26 on the slide: Expected: The database list includes training_store (and usually admin, config, and local).</a:t>
            </a:r>
          </a:p>
          <a:p/>
          <a:p>
            <a:r>
              <a:t>Bullet 27 on the slide: Do: Run: javascript use training_store show collections.</a:t>
            </a:r>
          </a:p>
          <a:p/>
          <a:p>
            <a:r>
              <a:t>Bullet 28 on the slide: Expected: The prompt shows training_store. Collections include customers, products, and orders.</a:t>
            </a:r>
          </a:p>
          <a:p/>
          <a:p>
            <a:r>
              <a:t>Bullet 29 on the slide: Do: Run: javascript db.products.findOne().</a:t>
            </a:r>
          </a:p>
          <a:p/>
          <a:p>
            <a:r>
              <a:t>Bullet 30 on the slide: Expected: One product document prints. You can see _id, scalar fields such as name and price, and at least one nested or category-specific field.</a:t>
            </a:r>
          </a:p>
          <a:p/>
          <a:p>
            <a:r>
              <a:t>Bullet 31 on the slide: Do: In mongosh, run: javascript show dbs.</a:t>
            </a:r>
          </a:p>
          <a:p/>
          <a:p>
            <a:r>
              <a:t>Bullet 32 on the slide: Expected: The database list includes training_store (and usually admin, config, and local).</a:t>
            </a:r>
          </a:p>
          <a:p/>
          <a:p>
            <a:r>
              <a:t>Bullet 33 on the slide: Do: Run: javascript use training_store show collections.</a:t>
            </a:r>
          </a:p>
          <a:p/>
          <a:p>
            <a:r>
              <a:t>Bullet 34 on the slide: Expected: The prompt shows training_store. Collections include customers, products, and orders.</a:t>
            </a:r>
          </a:p>
          <a:p/>
          <a:p>
            <a:r>
              <a:t>Bullet 35 on the slide: Do: Run: javascript db.products.findOne().</a:t>
            </a:r>
          </a:p>
          <a:p/>
          <a:p>
            <a:r>
              <a:t>Bullet 36 on the slide: Expected: One product document prints. You can see _id, scalar fields such as name and price, and at least one nested or category-specific field.</a:t>
            </a:r>
          </a:p>
          <a:p/>
          <a:p>
            <a:r>
              <a:t>Bullet 37 on the slide: Do: In mongosh, run: javascript show dbs.</a:t>
            </a:r>
          </a:p>
          <a:p/>
          <a:p>
            <a:r>
              <a:t>Bullet 38 on the slide: Expected: The database list includes training_store (and usually admin, config, and local).</a:t>
            </a:r>
          </a:p>
          <a:p/>
          <a:p>
            <a:r>
              <a:t>Bullet 39 on the slide: Do: Run: javascript use training_store show collections.</a:t>
            </a:r>
          </a:p>
          <a:p/>
          <a:p>
            <a:r>
              <a:t>Bullet 40 on the slide: Expected: The prompt shows training_store. Collections include customers, products, and orders.</a:t>
            </a:r>
          </a:p>
          <a:p/>
          <a:p>
            <a:r>
              <a:t>Bullet 41 on the slide: Do: Run: javascript db.products.findOne().</a:t>
            </a:r>
          </a:p>
          <a:p/>
          <a:p>
            <a:r>
              <a:t>Bullet 42 on the slide: Expected: One product document prints. You can see _id, scalar fields such as name and price, and at least one nested or category-specific field.</a:t>
            </a:r>
          </a:p>
          <a:p/>
          <a:p>
            <a:r>
              <a:t>Bullet 43 on the slide: Do: In mongosh, run: javascript show dbs.</a:t>
            </a:r>
          </a:p>
          <a:p/>
          <a:p>
            <a:r>
              <a:t>Bullet 44 on the slide: Expected: The database list includes training_store (and usually admin, config, and local).</a:t>
            </a:r>
          </a:p>
          <a:p/>
          <a:p>
            <a:r>
              <a:t>Bullet 45 on the slide: Do: Run: javascript use training_store show collections.</a:t>
            </a:r>
          </a:p>
          <a:p/>
          <a:p>
            <a:r>
              <a:t>Bullet 46 on the slide: Expected: The prompt shows training_store. Collections include customers, products, and orders.</a:t>
            </a:r>
          </a:p>
          <a:p/>
          <a:p>
            <a:r>
              <a:t>Bullet 47 on the slide: Do: Run: javascript db.products.findOne().</a:t>
            </a:r>
          </a:p>
          <a:p/>
          <a:p>
            <a:r>
              <a:t>Bullet 48 on the slide: Expected: One product document prints. You can see _id, scalar fields such as name and price, and at least one nested or category-specific field.</a:t>
            </a:r>
          </a:p>
          <a:p/>
          <a:p>
            <a:r>
              <a:t>Bullet 49 on the slide: Do: In mongosh, run: javascript show dbs.</a:t>
            </a:r>
          </a:p>
          <a:p/>
          <a:p>
            <a:r>
              <a:t>Bullet 50 on the slide: Expected: The database list includes training_store (and usually admin, config, and local).</a:t>
            </a:r>
          </a:p>
          <a:p/>
          <a:p>
            <a:r>
              <a:t>Bullet 51 on the slide: Do: Run: javascript use training_store show collections.</a:t>
            </a:r>
          </a:p>
          <a:p/>
          <a:p>
            <a:r>
              <a:t>Bullet 52 on the slide: Expected: The prompt shows training_store. Collections include customers, products, and orders.</a:t>
            </a:r>
          </a:p>
          <a:p/>
          <a:p>
            <a:r>
              <a:t>Bullet 53 on the slide: Do: Run: javascript db.products.findOne().</a:t>
            </a:r>
          </a:p>
          <a:p/>
          <a:p>
            <a:r>
              <a:t>Bullet 54 on the slide: Expected: One product document prints. You can see _id, scalar fields such as name and price, and at least one nested or category-specific field.</a:t>
            </a:r>
          </a:p>
          <a:p/>
          <a:p>
            <a:r>
              <a:t>Bullet 55 on the slide: Do: In mongosh, run: javascript show dbs.</a:t>
            </a:r>
          </a:p>
          <a:p/>
          <a:p>
            <a:r>
              <a:t>Bullet 56 on the slide: Expected: The database list includes training_store (and usually admin, config, and local).</a:t>
            </a:r>
          </a:p>
          <a:p/>
          <a:p>
            <a:r>
              <a:t>Bullet 57 on the slide: Do: Run: javascript use training_store show collections.</a:t>
            </a:r>
          </a:p>
          <a:p/>
          <a:p>
            <a:r>
              <a:t>Bullet 58 on the slide: Expected: The prompt shows training_store. Collections include customers, products, and orders.</a:t>
            </a:r>
          </a:p>
          <a:p/>
          <a:p>
            <a:r>
              <a:t>Bullet 59 on the slide: Do: Run: javascript db.products.findOne().</a:t>
            </a:r>
          </a:p>
          <a:p/>
          <a:p>
            <a:r>
              <a:t>Bullet 60 on the slide: Expected: One product document prints. You can see _id, scalar fields such as name and price, and at least one nested or category-specific field.</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for Steps 3–4.</a:t>
            </a:r>
          </a:p>
          <a:p/>
          <a:p>
            <a:r>
              <a:t>Step 3 — Retrieve one product document.</a:t>
            </a:r>
          </a:p>
          <a:p/>
          <a:p>
            <a:r>
              <a:t>Step 4 — Retrieve one order document.</a:t>
            </a:r>
          </a:p>
          <a:p/>
          <a:p>
            <a:r>
              <a:t>I'll give you a few minutes to work — raise your hand if you get stuck.</a:t>
            </a:r>
          </a:p>
          <a:p/>
          <a:p>
            <a:r>
              <a:t>The slide title is: Exercise 1.3 — Steps 3–4.</a:t>
            </a:r>
          </a:p>
          <a:p/>
          <a:p>
            <a:r>
              <a:t>The slide says: Lab guide: [Exercise 1.3](../slide-exercises/module-01/exercise-1.3-explore-a-mongodb-dataset.md).</a:t>
            </a:r>
          </a:p>
          <a:p/>
          <a:p>
            <a:r>
              <a:t>Bullet 1 on the slide: Do: Run db.products.findOne().</a:t>
            </a:r>
          </a:p>
          <a:p/>
          <a:p>
            <a:r>
              <a:t>Bullet 2 on the slide: Expected: One product with _id, scalars, and at least one nested or category-specific field.</a:t>
            </a:r>
          </a:p>
          <a:p/>
          <a:p>
            <a:r>
              <a:t>Bullet 3 on the slide: Do: Run db.orders.findOne().</a:t>
            </a:r>
          </a:p>
          <a:p/>
          <a:p>
            <a:r>
              <a:t>Bullet 4 on the slide: Expected: You can point to an embedded object (customer or shippingAddress) and an array (items).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includes a diagram — Exercise 1.3 — Label the document.</a:t>
            </a:r>
          </a:p>
          <a:p/>
          <a:p>
            <a:r>
              <a:t>The slide title is: Exercise 1.3 — Label the document.</a:t>
            </a:r>
          </a:p>
          <a:p/>
          <a:p>
            <a:r>
              <a:t>The slide says: &lt;div class="cols"&gt;.</a:t>
            </a:r>
          </a:p>
          <a:p/>
          <a:p>
            <a:r>
              <a:t>The slide says: &lt;div class="col-text"&gt;.</a:t>
            </a:r>
          </a:p>
          <a:p/>
          <a:p>
            <a:r>
              <a:t>The slide says: Fill the callouts: _id, scalar, Boolean, date, nested object, array.</a:t>
            </a:r>
          </a:p>
          <a:p/>
          <a:p>
            <a:r>
              <a:t>The slide says: Use the order or product from findOne().</a:t>
            </a:r>
          </a:p>
          <a:p/>
          <a:p>
            <a:r>
              <a:t>The slide says: &lt;/div&gt;.</a:t>
            </a:r>
          </a:p>
          <a:p/>
          <a:p>
            <a:r>
              <a:t>The slide says: &lt;div class="col-visual"&gt;.</a:t>
            </a:r>
          </a:p>
          <a:p/>
          <a:p>
            <a:r>
              <a:t>The figure on this slide is titled: Sample document with blank callouts to label components.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includes a diagram — Exercise 1.3 — BSON types (answer key).</a:t>
            </a:r>
          </a:p>
          <a:p/>
          <a:p>
            <a:r>
              <a:t>The slide title is: Exercise 1.3 — BSON types (answer key).</a:t>
            </a:r>
          </a:p>
          <a:p/>
          <a:p>
            <a:r>
              <a:t>The slide says: &lt;div class="cols"&gt;.</a:t>
            </a:r>
          </a:p>
          <a:p/>
          <a:p>
            <a:r>
              <a:t>The slide says: &lt;div class="col-text"&gt;.</a:t>
            </a:r>
          </a:p>
          <a:p/>
          <a:p>
            <a:r>
              <a:t>The slide says: After they label, reveal:.</a:t>
            </a:r>
          </a:p>
          <a:p/>
          <a:p>
            <a:r>
              <a:t>The slide says: ObjectId · string · number · Boolean · date · array · embedded document.</a:t>
            </a:r>
          </a:p>
          <a:p/>
          <a:p>
            <a:r>
              <a:t>The slide says: &lt;/div&gt;.</a:t>
            </a:r>
          </a:p>
          <a:p/>
          <a:p>
            <a:r>
              <a:t>The slide says: &lt;div class="col-visual"&gt;.</a:t>
            </a:r>
          </a:p>
          <a:p/>
          <a:p>
            <a:r>
              <a:t>The figure on this slide is titled: Document annotated with ObjectId, string, number, Boolean, date, array, embedded document.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includes a diagram — Exercise 1.3 — Flexible products.</a:t>
            </a:r>
          </a:p>
          <a:p/>
          <a:p>
            <a:r>
              <a:t>The slide title is: Exercise 1.3 — Flexible products.</a:t>
            </a:r>
          </a:p>
          <a:p/>
          <a:p>
            <a:r>
              <a:t>The slide says: &lt;div class="cols"&gt;.</a:t>
            </a:r>
          </a:p>
          <a:p/>
          <a:p>
            <a:r>
              <a:t>The slide says: &lt;div class="col-text"&gt;.</a:t>
            </a:r>
          </a:p>
          <a:p/>
          <a:p>
            <a:r>
              <a:t>The slide says: Run db.products.find().limit(2) and list fields that differ.</a:t>
            </a:r>
          </a:p>
          <a:p/>
          <a:p>
            <a:r>
              <a:t>The slide says: Laptop processor vs book isbn is the point.</a:t>
            </a:r>
          </a:p>
          <a:p/>
          <a:p>
            <a:r>
              <a:t>The slide says: &lt;/div&gt;.</a:t>
            </a:r>
          </a:p>
          <a:p/>
          <a:p>
            <a:r>
              <a:t>The slide says: &lt;div class="col-visual"&gt;.</a:t>
            </a:r>
          </a:p>
          <a:p/>
          <a:p>
            <a:r>
              <a:t>The figure on this slide is titled: Laptop, shoe, and book documents with common and category-specific fields.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for Steps 5–6.</a:t>
            </a:r>
          </a:p>
          <a:p/>
          <a:p>
            <a:r>
              <a:t>Step 5 — Identify document structures.</a:t>
            </a:r>
          </a:p>
          <a:p/>
          <a:p>
            <a:r>
              <a:t>Step 6 — Compare two product documents.</a:t>
            </a:r>
          </a:p>
          <a:p/>
          <a:p>
            <a:r>
              <a:t>I'll give you a few minutes to work — raise your hand if you get stuck.</a:t>
            </a:r>
          </a:p>
          <a:p/>
          <a:p>
            <a:r>
              <a:t>The slide title is: Exercise 1.3 — Steps 5–6.</a:t>
            </a:r>
          </a:p>
          <a:p/>
          <a:p>
            <a:r>
              <a:t>The slide says: Lab guide: [Exercise 1.3](../slide-exercises/module-01/exercise-1.3-explore-a-mongodb-dataset.md).</a:t>
            </a:r>
          </a:p>
          <a:p/>
          <a:p>
            <a:r>
              <a:t>Bullet 1 on the slide: Do: Label _id, scalars, embedded documents, arrays, dates, numbers, and booleans on the observation sheet.</a:t>
            </a:r>
          </a:p>
          <a:p/>
          <a:p>
            <a:r>
              <a:t>Bullet 2 on the slide: Expected: At least one example of each; _id is the unique identifier.</a:t>
            </a:r>
          </a:p>
          <a:p/>
          <a:p>
            <a:r>
              <a:t>Bullet 3 on the slide: Do: Run db.products.find().limit(2) and list fields that differ.</a:t>
            </a:r>
          </a:p>
          <a:p/>
          <a:p>
            <a:r>
              <a:t>Bullet 4 on the slide: Expected: You can explain that documents in one collection may have different category-specific fields.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for Step 7.</a:t>
            </a:r>
          </a:p>
          <a:p/>
          <a:p>
            <a:r>
              <a:t>Step 7 — Complete the observation sheet.</a:t>
            </a:r>
          </a:p>
          <a:p/>
          <a:p>
            <a:r>
              <a:t>I'll give you a few minutes to work — raise your hand if you get stuck.</a:t>
            </a:r>
          </a:p>
          <a:p/>
          <a:p>
            <a:r>
              <a:t>The slide title is: Exercise 1.3 — Step 7.</a:t>
            </a:r>
          </a:p>
          <a:p/>
          <a:p>
            <a:r>
              <a:t>The slide says: Lab guide: [Exercise 1.3](../slide-exercises/module-01/exercise-1.3-explore-a-mongodb-dataset.md).</a:t>
            </a:r>
          </a:p>
          <a:p/>
          <a:p>
            <a:r>
              <a:t>The slide says: Exit ticket (before Module 2): one strong MongoDB candidate · one better relational case · collection vs document · one benefit and one tradeoff of flexible schema · the access pattern of the Exercise 1.2 document.</a:t>
            </a:r>
          </a:p>
          <a:p/>
          <a:p>
            <a:r>
              <a:t>Bullet 1 on the slide: Do: Answer the six questions in the lab guide. Be ready to share how a document resembles an application object.</a:t>
            </a:r>
          </a:p>
          <a:p/>
          <a:p>
            <a:r>
              <a:t>Bullet 2 on the slide: Expected: You can navigate a database, list collections, read a document, and state one difference between a table row and a document.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includes a diagram — Module 1 Practical Path.</a:t>
            </a:r>
          </a:p>
          <a:p/>
          <a:p>
            <a:r>
              <a:t>The slide title is: Module 1 Practical Path.</a:t>
            </a:r>
          </a:p>
          <a:p/>
          <a:p>
            <a:r>
              <a:t>The slide says: &lt;div class="cols"&gt;.</a:t>
            </a:r>
          </a:p>
          <a:p/>
          <a:p>
            <a:r>
              <a:t>The slide says: &lt;div class="col-text"&gt;.</a:t>
            </a:r>
          </a:p>
          <a:p/>
          <a:p>
            <a:r>
              <a:t>The slide says: Carry this into Module 2:.</a:t>
            </a:r>
          </a:p>
          <a:p/>
          <a:p>
            <a:r>
              <a:t>The slide says: 1. Business need.</a:t>
            </a:r>
          </a:p>
          <a:p/>
          <a:p>
            <a:r>
              <a:t>The slide says: 2. Access pattern.</a:t>
            </a:r>
          </a:p>
          <a:p/>
          <a:p>
            <a:r>
              <a:t>The slide says: 3. Database model.</a:t>
            </a:r>
          </a:p>
          <a:p/>
          <a:p>
            <a:r>
              <a:t>The slide says: 4. Sample document.</a:t>
            </a:r>
          </a:p>
          <a:p/>
          <a:p>
            <a:r>
              <a:t>The slide says: &lt;/div&gt;.</a:t>
            </a:r>
          </a:p>
          <a:p/>
          <a:p>
            <a:r>
              <a:t>The slide says: &lt;div class="col-visual"&gt;.</a:t>
            </a:r>
          </a:p>
          <a:p/>
          <a:p>
            <a:r>
              <a:t>Number 1 on the slide: Business need.</a:t>
            </a:r>
          </a:p>
          <a:p/>
          <a:p>
            <a:r>
              <a:t>Number 2 on the slide: Access pattern.</a:t>
            </a:r>
          </a:p>
          <a:p/>
          <a:p>
            <a:r>
              <a:t>Number 3 on the slide: Database model.</a:t>
            </a:r>
          </a:p>
          <a:p/>
          <a:p>
            <a:r>
              <a:t>Number 4 on the slide: Sample document.</a:t>
            </a:r>
          </a:p>
          <a:p/>
          <a:p>
            <a:r>
              <a:t>The figure on this slide is titled: Requirements to access patterns to model decision to sample document.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384048"/>
            <a:ext cx="10332720" cy="548640"/>
          </a:xfrm>
          <a:prstGeom prst="rect">
            <a:avLst/>
          </a:prstGeom>
          <a:noFill/>
        </p:spPr>
        <p:txBody>
          <a:bodyPr wrap="square" anchor="ctr" lIns="0" rIns="0" tIns="0" bIns="0">
            <a:spAutoFit/>
          </a:bodyPr>
          <a:lstStyle/>
          <a:p>
            <a:pPr algn="l"/>
            <a:r>
              <a:rPr sz="2300" b="0" i="0">
                <a:solidFill>
                  <a:srgbClr val="002060"/>
                </a:solidFill>
                <a:latin typeface="Leelawadee"/>
              </a:rPr>
              <a:t>MODULE 1</a:t>
            </a:r>
          </a:p>
        </p:txBody>
      </p:sp>
      <p:sp>
        <p:nvSpPr>
          <p:cNvPr id="5" name="TextBox 4"/>
          <p:cNvSpPr txBox="1"/>
          <p:nvPr/>
        </p:nvSpPr>
        <p:spPr>
          <a:xfrm>
            <a:off x="457200" y="1965960"/>
            <a:ext cx="11247120" cy="1737360"/>
          </a:xfrm>
          <a:prstGeom prst="rect">
            <a:avLst/>
          </a:prstGeom>
          <a:noFill/>
        </p:spPr>
        <p:txBody>
          <a:bodyPr wrap="square" anchor="t" lIns="0" rIns="0" tIns="0" bIns="0">
            <a:spAutoFit/>
          </a:bodyPr>
          <a:lstStyle/>
          <a:p>
            <a:pPr algn="l"/>
            <a:r>
              <a:rPr sz="4000" b="1" i="0">
                <a:solidFill>
                  <a:srgbClr val="D1282E"/>
                </a:solidFill>
                <a:latin typeface="Leelawadee"/>
              </a:rPr>
              <a:t>Introduction to NoSQL Databases</a:t>
            </a:r>
          </a:p>
        </p:txBody>
      </p:sp>
      <p:sp>
        <p:nvSpPr>
          <p:cNvPr id="6" name="TextBox 5"/>
          <p:cNvSpPr txBox="1"/>
          <p:nvPr/>
        </p:nvSpPr>
        <p:spPr>
          <a:xfrm>
            <a:off x="457200" y="3886200"/>
            <a:ext cx="10058400" cy="777240"/>
          </a:xfrm>
          <a:prstGeom prst="rect">
            <a:avLst/>
          </a:prstGeom>
          <a:noFill/>
        </p:spPr>
        <p:txBody>
          <a:bodyPr wrap="square" anchor="t" lIns="0" rIns="0" tIns="0" bIns="0">
            <a:spAutoFit/>
          </a:bodyPr>
          <a:lstStyle/>
          <a:p>
            <a:pPr algn="l"/>
            <a:r>
              <a:rPr sz="1800" b="0" i="0">
                <a:solidFill>
                  <a:srgbClr val="002060"/>
                </a:solidFill>
                <a:latin typeface="Nirmala UI"/>
              </a:rPr>
              <a:t>MongoDB is one member of a broader family of non-relational database technologies</a:t>
            </a:r>
          </a:p>
        </p:txBody>
      </p:sp>
      <p:sp>
        <p:nvSpPr>
          <p:cNvPr id="7" name="Rounded Rectangle 6"/>
          <p:cNvSpPr/>
          <p:nvPr/>
        </p:nvSpPr>
        <p:spPr>
          <a:xfrm>
            <a:off x="457200" y="4709160"/>
            <a:ext cx="2139696" cy="822960"/>
          </a:xfrm>
          <a:prstGeom prst="roundRect">
            <a:avLst>
              <a:gd name="adj" fmla="val 12000"/>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12064" y="4709160"/>
            <a:ext cx="2029968" cy="822960"/>
          </a:xfrm>
          <a:prstGeom prst="rect">
            <a:avLst/>
          </a:prstGeom>
          <a:noFill/>
        </p:spPr>
        <p:txBody>
          <a:bodyPr wrap="square" anchor="ctr" lIns="0" rIns="0" tIns="0" bIns="0">
            <a:spAutoFit/>
          </a:bodyPr>
          <a:lstStyle/>
          <a:p>
            <a:pPr algn="ctr"/>
            <a:r>
              <a:rPr sz="1500" b="1" i="0">
                <a:solidFill>
                  <a:srgbClr val="FFFFFF"/>
                </a:solidFill>
                <a:latin typeface="Nirmala UI"/>
              </a:rPr>
              <a:t>Defining NoSQL</a:t>
            </a:r>
          </a:p>
        </p:txBody>
      </p:sp>
      <p:sp>
        <p:nvSpPr>
          <p:cNvPr id="9" name="Rounded Rectangle 8"/>
          <p:cNvSpPr/>
          <p:nvPr/>
        </p:nvSpPr>
        <p:spPr>
          <a:xfrm>
            <a:off x="2734056" y="4709160"/>
            <a:ext cx="2139696" cy="822960"/>
          </a:xfrm>
          <a:prstGeom prst="roundRect">
            <a:avLst>
              <a:gd name="adj" fmla="val 12000"/>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88920" y="4709160"/>
            <a:ext cx="2029968" cy="822960"/>
          </a:xfrm>
          <a:prstGeom prst="rect">
            <a:avLst/>
          </a:prstGeom>
          <a:noFill/>
        </p:spPr>
        <p:txBody>
          <a:bodyPr wrap="square" anchor="ctr" lIns="0" rIns="0" tIns="0" bIns="0">
            <a:spAutoFit/>
          </a:bodyPr>
          <a:lstStyle/>
          <a:p>
            <a:pPr algn="ctr"/>
            <a:r>
              <a:rPr sz="1500" b="1" i="0">
                <a:solidFill>
                  <a:srgbClr val="FFFFFF"/>
                </a:solidFill>
                <a:latin typeface="Nirmala UI"/>
              </a:rPr>
              <a:t>Document, KV &amp; Graph Stores</a:t>
            </a:r>
          </a:p>
        </p:txBody>
      </p:sp>
      <p:sp>
        <p:nvSpPr>
          <p:cNvPr id="11" name="Rounded Rectangle 10"/>
          <p:cNvSpPr/>
          <p:nvPr/>
        </p:nvSpPr>
        <p:spPr>
          <a:xfrm>
            <a:off x="5010912" y="4709160"/>
            <a:ext cx="2139696" cy="822960"/>
          </a:xfrm>
          <a:prstGeom prst="roundRect">
            <a:avLst>
              <a:gd name="adj" fmla="val 12000"/>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65776" y="4709160"/>
            <a:ext cx="2029968" cy="822960"/>
          </a:xfrm>
          <a:prstGeom prst="rect">
            <a:avLst/>
          </a:prstGeom>
          <a:noFill/>
        </p:spPr>
        <p:txBody>
          <a:bodyPr wrap="square" anchor="ctr" lIns="0" rIns="0" tIns="0" bIns="0">
            <a:spAutoFit/>
          </a:bodyPr>
          <a:lstStyle/>
          <a:p>
            <a:pPr algn="ctr"/>
            <a:r>
              <a:rPr sz="1500" b="1" i="0">
                <a:solidFill>
                  <a:srgbClr val="FFFFFF"/>
                </a:solidFill>
                <a:latin typeface="Nirmala UI"/>
              </a:rPr>
              <a:t>MongoDB Architecture</a:t>
            </a:r>
          </a:p>
        </p:txBody>
      </p:sp>
      <p:sp>
        <p:nvSpPr>
          <p:cNvPr id="13" name="Rounded Rectangle 12"/>
          <p:cNvSpPr/>
          <p:nvPr/>
        </p:nvSpPr>
        <p:spPr>
          <a:xfrm>
            <a:off x="7287768" y="4709160"/>
            <a:ext cx="2139696" cy="822960"/>
          </a:xfrm>
          <a:prstGeom prst="roundRect">
            <a:avLst>
              <a:gd name="adj" fmla="val 12000"/>
            </a:avLst>
          </a:prstGeom>
          <a:solidFill>
            <a:srgbClr val="5B3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42632" y="4709160"/>
            <a:ext cx="2029968" cy="822960"/>
          </a:xfrm>
          <a:prstGeom prst="rect">
            <a:avLst/>
          </a:prstGeom>
          <a:noFill/>
        </p:spPr>
        <p:txBody>
          <a:bodyPr wrap="square" anchor="ctr" lIns="0" rIns="0" tIns="0" bIns="0">
            <a:spAutoFit/>
          </a:bodyPr>
          <a:lstStyle/>
          <a:p>
            <a:pPr algn="ctr"/>
            <a:r>
              <a:rPr sz="1500" b="1" i="0">
                <a:solidFill>
                  <a:srgbClr val="FFFFFF"/>
                </a:solidFill>
                <a:latin typeface="Nirmala UI"/>
              </a:rPr>
              <a:t>Core Features</a:t>
            </a:r>
          </a:p>
        </p:txBody>
      </p:sp>
      <p:sp>
        <p:nvSpPr>
          <p:cNvPr id="15" name="Rounded Rectangle 14"/>
          <p:cNvSpPr/>
          <p:nvPr/>
        </p:nvSpPr>
        <p:spPr>
          <a:xfrm>
            <a:off x="9564624" y="4709160"/>
            <a:ext cx="2139696" cy="822960"/>
          </a:xfrm>
          <a:prstGeom prst="roundRect">
            <a:avLst>
              <a:gd name="adj" fmla="val 12000"/>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19488" y="4709160"/>
            <a:ext cx="2029968" cy="822960"/>
          </a:xfrm>
          <a:prstGeom prst="rect">
            <a:avLst/>
          </a:prstGeom>
          <a:noFill/>
        </p:spPr>
        <p:txBody>
          <a:bodyPr wrap="square" anchor="ctr" lIns="0" rIns="0" tIns="0" bIns="0">
            <a:spAutoFit/>
          </a:bodyPr>
          <a:lstStyle/>
          <a:p>
            <a:pPr algn="ctr"/>
            <a:r>
              <a:rPr sz="1500" b="1" i="0">
                <a:solidFill>
                  <a:srgbClr val="FFFFFF"/>
                </a:solidFill>
                <a:latin typeface="Nirmala UI"/>
              </a:rPr>
              <a:t>Practical Benefits</a:t>
            </a:r>
          </a:p>
        </p:txBody>
      </p:sp>
      <p:sp>
        <p:nvSpPr>
          <p:cNvPr id="17" name="TextBox 16"/>
          <p:cNvSpPr txBox="1"/>
          <p:nvPr/>
        </p:nvSpPr>
        <p:spPr>
          <a:xfrm>
            <a:off x="457200" y="6172200"/>
            <a:ext cx="7525512" cy="365760"/>
          </a:xfrm>
          <a:prstGeom prst="rect">
            <a:avLst/>
          </a:prstGeom>
          <a:noFill/>
        </p:spPr>
        <p:txBody>
          <a:bodyPr wrap="square" anchor="ctr" lIns="0" rIns="0" tIns="0" bIns="0">
            <a:spAutoFit/>
          </a:bodyPr>
          <a:lstStyle/>
          <a:p>
            <a:pPr algn="l"/>
            <a:r>
              <a:rPr sz="1400" b="0" i="0">
                <a:solidFill>
                  <a:srgbClr val="595959"/>
                </a:solidFill>
                <a:latin typeface="Nirmala UI"/>
              </a:rPr>
              <a:t>MASTERING MONGODB  •  MODULE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MODULE LEARNING OBJECTIVES</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1</a:t>
            </a:r>
          </a:p>
        </p:txBody>
      </p:sp>
      <p:sp>
        <p:nvSpPr>
          <p:cNvPr id="4" name="Oval 3"/>
          <p:cNvSpPr/>
          <p:nvPr/>
        </p:nvSpPr>
        <p:spPr>
          <a:xfrm>
            <a:off x="457200" y="2223126"/>
            <a:ext cx="237744" cy="237744"/>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223126"/>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2204838"/>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YOU WILL BE ABLE TO</a:t>
            </a:r>
          </a:p>
        </p:txBody>
      </p:sp>
      <p:sp>
        <p:nvSpPr>
          <p:cNvPr id="7" name="TextBox 6"/>
          <p:cNvSpPr txBox="1"/>
          <p:nvPr/>
        </p:nvSpPr>
        <p:spPr>
          <a:xfrm>
            <a:off x="457200" y="2607174"/>
            <a:ext cx="11247120" cy="2210580"/>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  </a:t>
            </a:r>
            <a:r>
              <a:rPr sz="2000" b="0" i="0">
                <a:solidFill>
                  <a:srgbClr val="000000"/>
                </a:solidFill>
                <a:latin typeface="Nirmala UI"/>
              </a:rPr>
              <a:t>Define NoSQL as a category, not one product</a:t>
            </a:r>
          </a:p>
          <a:p>
            <a:pPr>
              <a:spcBef>
                <a:spcPts val="0"/>
              </a:spcBef>
              <a:spcAft>
                <a:spcPts val="769"/>
              </a:spcAft>
            </a:pPr>
            <a:r>
              <a:rPr sz="2000" b="0" i="0">
                <a:solidFill>
                  <a:srgbClr val="000000"/>
                </a:solidFill>
                <a:latin typeface="Nirmala UI"/>
              </a:rPr>
              <a:t>•  </a:t>
            </a:r>
            <a:r>
              <a:rPr sz="2000" b="0" i="0">
                <a:solidFill>
                  <a:srgbClr val="000000"/>
                </a:solidFill>
                <a:latin typeface="Nirmala UI"/>
              </a:rPr>
              <a:t>Compare document, key-value, column-family, and graph models</a:t>
            </a:r>
          </a:p>
          <a:p>
            <a:pPr>
              <a:spcBef>
                <a:spcPts val="0"/>
              </a:spcBef>
              <a:spcAft>
                <a:spcPts val="769"/>
              </a:spcAft>
            </a:pPr>
            <a:r>
              <a:rPr sz="2000" b="0" i="0">
                <a:solidFill>
                  <a:srgbClr val="000000"/>
                </a:solidFill>
                <a:latin typeface="Nirmala UI"/>
              </a:rPr>
              <a:t>•  </a:t>
            </a:r>
            <a:r>
              <a:rPr sz="2000" b="0" i="0">
                <a:solidFill>
                  <a:srgbClr val="000000"/>
                </a:solidFill>
                <a:latin typeface="Nirmala UI"/>
              </a:rPr>
              <a:t>Explain MongoDB documents, collections, and BSON</a:t>
            </a:r>
          </a:p>
          <a:p>
            <a:pPr>
              <a:spcBef>
                <a:spcPts val="0"/>
              </a:spcBef>
              <a:spcAft>
                <a:spcPts val="769"/>
              </a:spcAft>
            </a:pPr>
            <a:r>
              <a:rPr sz="2000" b="0" i="0">
                <a:solidFill>
                  <a:srgbClr val="000000"/>
                </a:solidFill>
                <a:latin typeface="Nirmala UI"/>
              </a:rPr>
              <a:t>•  </a:t>
            </a:r>
            <a:r>
              <a:rPr sz="2000" b="0" i="0">
                <a:solidFill>
                  <a:srgbClr val="000000"/>
                </a:solidFill>
                <a:latin typeface="Nirmala UI"/>
              </a:rPr>
              <a:t>Describe the basic MongoDB architecture</a:t>
            </a:r>
          </a:p>
          <a:p>
            <a:pPr>
              <a:spcBef>
                <a:spcPts val="0"/>
              </a:spcBef>
              <a:spcAft>
                <a:spcPts val="769"/>
              </a:spcAft>
            </a:pPr>
            <a:r>
              <a:rPr sz="2000" b="0" i="0">
                <a:solidFill>
                  <a:srgbClr val="000000"/>
                </a:solidFill>
                <a:latin typeface="Nirmala UI"/>
              </a:rPr>
              <a:t>•  </a:t>
            </a:r>
            <a:r>
              <a:rPr sz="2000" b="0" i="0">
                <a:solidFill>
                  <a:srgbClr val="000000"/>
                </a:solidFill>
                <a:latin typeface="Nirmala UI"/>
              </a:rPr>
              <a:t>Select workloads that are — and are not — good MongoDB candidates</a:t>
            </a:r>
          </a:p>
        </p:txBody>
      </p:sp>
      <p:sp>
        <p:nvSpPr>
          <p:cNvPr id="8" name="Rectangle 7"/>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1"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DEFINING NOSQL</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1</a:t>
            </a:r>
          </a:p>
        </p:txBody>
      </p:sp>
      <p:sp>
        <p:nvSpPr>
          <p:cNvPr id="4" name="Oval 3"/>
          <p:cNvSpPr/>
          <p:nvPr/>
        </p:nvSpPr>
        <p:spPr>
          <a:xfrm>
            <a:off x="457200" y="1430646"/>
            <a:ext cx="237744" cy="237744"/>
          </a:xfrm>
          <a:prstGeom prst="ellipse">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430646"/>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412358"/>
            <a:ext cx="351129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1814694"/>
            <a:ext cx="3840480" cy="597486"/>
          </a:xfrm>
          <a:prstGeom prst="rect">
            <a:avLst/>
          </a:prstGeom>
          <a:noFill/>
        </p:spPr>
        <p:txBody>
          <a:bodyPr wrap="square" anchor="t" lIns="0" rIns="0" tIns="0" bIns="0">
            <a:spAutoFit/>
          </a:bodyPr>
          <a:lstStyle/>
          <a:p>
            <a:pPr>
              <a:spcBef>
                <a:spcPts val="0"/>
              </a:spcBef>
              <a:spcAft>
                <a:spcPts val="384"/>
              </a:spcAft>
            </a:pPr>
            <a:r>
              <a:rPr sz="1000" b="0" i="0">
                <a:solidFill>
                  <a:srgbClr val="000000"/>
                </a:solidFill>
                <a:latin typeface="Nirmala UI"/>
              </a:rPr>
              <a:t>NoSQL means “Not Only SQL.” It refers to databases designed to store and retrieve data using models other than traditional relational tables.</a:t>
            </a:r>
          </a:p>
        </p:txBody>
      </p:sp>
      <p:sp>
        <p:nvSpPr>
          <p:cNvPr id="8" name="TextBox 7"/>
          <p:cNvSpPr txBox="1"/>
          <p:nvPr/>
        </p:nvSpPr>
        <p:spPr>
          <a:xfrm>
            <a:off x="457200" y="2503620"/>
            <a:ext cx="3840480" cy="1100406"/>
          </a:xfrm>
          <a:prstGeom prst="rect">
            <a:avLst/>
          </a:prstGeom>
          <a:noFill/>
        </p:spPr>
        <p:txBody>
          <a:bodyPr wrap="square" anchor="t" lIns="0" rIns="0" tIns="0" bIns="0">
            <a:spAutoFit/>
          </a:bodyPr>
          <a:lstStyle/>
          <a:p>
            <a:pPr>
              <a:spcBef>
                <a:spcPts val="0"/>
              </a:spcBef>
              <a:spcAft>
                <a:spcPts val="384"/>
              </a:spcAft>
            </a:pPr>
            <a:r>
              <a:rPr sz="1000" b="0" i="0">
                <a:solidFill>
                  <a:srgbClr val="000000"/>
                </a:solidFill>
                <a:latin typeface="Nirmala UI"/>
              </a:rPr>
              <a:t>Relational databases organize data into fixed tables containing rows and columns. They work well when the data structure is stable and relationships must be strictly enforced. However, modern applications often produce large volumes of rapidly changing or semi-structured data.</a:t>
            </a:r>
          </a:p>
        </p:txBody>
      </p:sp>
      <p:sp>
        <p:nvSpPr>
          <p:cNvPr id="9" name="TextBox 8"/>
          <p:cNvSpPr txBox="1"/>
          <p:nvPr/>
        </p:nvSpPr>
        <p:spPr>
          <a:xfrm>
            <a:off x="457200" y="3695466"/>
            <a:ext cx="3840480" cy="262206"/>
          </a:xfrm>
          <a:prstGeom prst="rect">
            <a:avLst/>
          </a:prstGeom>
          <a:noFill/>
        </p:spPr>
        <p:txBody>
          <a:bodyPr wrap="square" anchor="t" lIns="0" rIns="0" tIns="0" bIns="0">
            <a:spAutoFit/>
          </a:bodyPr>
          <a:lstStyle/>
          <a:p>
            <a:pPr>
              <a:spcBef>
                <a:spcPts val="0"/>
              </a:spcBef>
              <a:spcAft>
                <a:spcPts val="384"/>
              </a:spcAft>
            </a:pPr>
            <a:r>
              <a:rPr sz="1000" b="0" i="0">
                <a:solidFill>
                  <a:srgbClr val="000000"/>
                </a:solidFill>
                <a:latin typeface="Nirmala UI"/>
              </a:rPr>
              <a:t>NoSQL databases address challenges such as:</a:t>
            </a:r>
          </a:p>
        </p:txBody>
      </p:sp>
      <p:sp>
        <p:nvSpPr>
          <p:cNvPr id="10" name="TextBox 9"/>
          <p:cNvSpPr txBox="1"/>
          <p:nvPr/>
        </p:nvSpPr>
        <p:spPr>
          <a:xfrm>
            <a:off x="457200" y="4049112"/>
            <a:ext cx="3840480" cy="1561122"/>
          </a:xfrm>
          <a:prstGeom prst="rect">
            <a:avLst/>
          </a:prstGeom>
          <a:noFill/>
        </p:spPr>
        <p:txBody>
          <a:bodyPr wrap="square" anchor="t" lIns="0" rIns="0" tIns="0" bIns="0">
            <a:spAutoFit/>
          </a:bodyPr>
          <a:lstStyle/>
          <a:p>
            <a:pPr>
              <a:spcBef>
                <a:spcPts val="0"/>
              </a:spcBef>
              <a:spcAft>
                <a:spcPts val="384"/>
              </a:spcAft>
            </a:pPr>
            <a:r>
              <a:rPr sz="1000" b="0" i="0">
                <a:solidFill>
                  <a:srgbClr val="000000"/>
                </a:solidFill>
                <a:latin typeface="Nirmala UI"/>
              </a:rPr>
              <a:t>•  </a:t>
            </a:r>
            <a:r>
              <a:rPr sz="1000" b="0" i="0">
                <a:solidFill>
                  <a:srgbClr val="000000"/>
                </a:solidFill>
                <a:latin typeface="Nirmala UI"/>
              </a:rPr>
              <a:t>Frequently changing data structures</a:t>
            </a:r>
          </a:p>
          <a:p>
            <a:pPr>
              <a:spcBef>
                <a:spcPts val="0"/>
              </a:spcBef>
              <a:spcAft>
                <a:spcPts val="384"/>
              </a:spcAft>
            </a:pPr>
            <a:r>
              <a:rPr sz="1000" b="0" i="0">
                <a:solidFill>
                  <a:srgbClr val="000000"/>
                </a:solidFill>
                <a:latin typeface="Nirmala UI"/>
              </a:rPr>
              <a:t>•  </a:t>
            </a:r>
            <a:r>
              <a:rPr sz="1000" b="0" i="0">
                <a:solidFill>
                  <a:srgbClr val="000000"/>
                </a:solidFill>
                <a:latin typeface="Nirmala UI"/>
              </a:rPr>
              <a:t>Large volumes of data</a:t>
            </a:r>
          </a:p>
          <a:p>
            <a:pPr>
              <a:spcBef>
                <a:spcPts val="0"/>
              </a:spcBef>
              <a:spcAft>
                <a:spcPts val="384"/>
              </a:spcAft>
            </a:pPr>
            <a:r>
              <a:rPr sz="1000" b="0" i="0">
                <a:solidFill>
                  <a:srgbClr val="000000"/>
                </a:solidFill>
                <a:latin typeface="Nirmala UI"/>
              </a:rPr>
              <a:t>•  </a:t>
            </a:r>
            <a:r>
              <a:rPr sz="1000" b="0" i="0">
                <a:solidFill>
                  <a:srgbClr val="000000"/>
                </a:solidFill>
                <a:latin typeface="Nirmala UI"/>
              </a:rPr>
              <a:t>High-speed reads and writes</a:t>
            </a:r>
          </a:p>
          <a:p>
            <a:pPr>
              <a:spcBef>
                <a:spcPts val="0"/>
              </a:spcBef>
              <a:spcAft>
                <a:spcPts val="384"/>
              </a:spcAft>
            </a:pPr>
            <a:r>
              <a:rPr sz="1000" b="0" i="0">
                <a:solidFill>
                  <a:srgbClr val="000000"/>
                </a:solidFill>
                <a:latin typeface="Nirmala UI"/>
              </a:rPr>
              <a:t>•  </a:t>
            </a:r>
            <a:r>
              <a:rPr sz="1000" b="0" i="0">
                <a:solidFill>
                  <a:srgbClr val="000000"/>
                </a:solidFill>
                <a:latin typeface="Nirmala UI"/>
              </a:rPr>
              <a:t>Distributed applications</a:t>
            </a:r>
          </a:p>
          <a:p>
            <a:pPr>
              <a:spcBef>
                <a:spcPts val="0"/>
              </a:spcBef>
              <a:spcAft>
                <a:spcPts val="384"/>
              </a:spcAft>
            </a:pPr>
            <a:r>
              <a:rPr sz="1000" b="0" i="0">
                <a:solidFill>
                  <a:srgbClr val="000000"/>
                </a:solidFill>
                <a:latin typeface="Nirmala UI"/>
              </a:rPr>
              <a:t>•  </a:t>
            </a:r>
            <a:r>
              <a:rPr sz="1000" b="0" i="0">
                <a:solidFill>
                  <a:srgbClr val="000000"/>
                </a:solidFill>
                <a:latin typeface="Nirmala UI"/>
              </a:rPr>
              <a:t>Horizontal scaling across multiple servers</a:t>
            </a:r>
          </a:p>
          <a:p>
            <a:pPr>
              <a:spcBef>
                <a:spcPts val="0"/>
              </a:spcBef>
              <a:spcAft>
                <a:spcPts val="384"/>
              </a:spcAft>
            </a:pPr>
            <a:r>
              <a:rPr sz="1000" b="0" i="0">
                <a:solidFill>
                  <a:srgbClr val="000000"/>
                </a:solidFill>
                <a:latin typeface="Nirmala UI"/>
              </a:rPr>
              <a:t>•  </a:t>
            </a:r>
            <a:r>
              <a:rPr sz="1000" b="0" i="0">
                <a:solidFill>
                  <a:srgbClr val="000000"/>
                </a:solidFill>
                <a:latin typeface="Nirmala UI"/>
              </a:rPr>
              <a:t>Data that does not fit naturally into tables</a:t>
            </a:r>
          </a:p>
          <a:p>
            <a:pPr>
              <a:spcBef>
                <a:spcPts val="0"/>
              </a:spcBef>
              <a:spcAft>
                <a:spcPts val="384"/>
              </a:spcAft>
            </a:pPr>
            <a:r>
              <a:rPr sz="1000" b="0" i="0">
                <a:solidFill>
                  <a:srgbClr val="000000"/>
                </a:solidFill>
                <a:latin typeface="Nirmala UI"/>
              </a:rPr>
              <a:t>•  </a:t>
            </a:r>
            <a:r>
              <a:rPr sz="1000" b="0" i="0">
                <a:solidFill>
                  <a:srgbClr val="000000"/>
                </a:solidFill>
                <a:latin typeface="Nirmala UI"/>
              </a:rPr>
              <a:t>Rapid application development</a:t>
            </a:r>
          </a:p>
        </p:txBody>
      </p:sp>
      <p:sp>
        <p:nvSpPr>
          <p:cNvPr id="11" name="Rectangle 10"/>
          <p:cNvSpPr/>
          <p:nvPr/>
        </p:nvSpPr>
        <p:spPr>
          <a:xfrm>
            <a:off x="4471035" y="1948790"/>
            <a:ext cx="7242810" cy="3216451"/>
          </a:xfrm>
          <a:prstGeom prst="rect">
            <a:avLst/>
          </a:prstGeom>
          <a:solidFill>
            <a:srgbClr val="FFFFFF"/>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image.png"/>
          <p:cNvPicPr>
            <a:picLocks noChangeAspect="1"/>
          </p:cNvPicPr>
          <p:nvPr/>
        </p:nvPicPr>
        <p:blipFill>
          <a:blip r:embed="rId2"/>
          <a:stretch>
            <a:fillRect/>
          </a:stretch>
        </p:blipFill>
        <p:spPr>
          <a:xfrm>
            <a:off x="4480560" y="1958315"/>
            <a:ext cx="7223760" cy="3197401"/>
          </a:xfrm>
          <a:prstGeom prst="rect">
            <a:avLst/>
          </a:prstGeom>
        </p:spPr>
      </p:pic>
      <p:sp>
        <p:nvSpPr>
          <p:cNvPr id="13" name="Rectangle 12"/>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6"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NOSQL IN PRACTICE: FLEXIBLE PRODUCT RECORDS</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1</a:t>
            </a:r>
          </a:p>
        </p:txBody>
      </p:sp>
      <p:sp>
        <p:nvSpPr>
          <p:cNvPr id="4" name="Oval 3"/>
          <p:cNvSpPr/>
          <p:nvPr/>
        </p:nvSpPr>
        <p:spPr>
          <a:xfrm>
            <a:off x="457200" y="1686210"/>
            <a:ext cx="237744" cy="237744"/>
          </a:xfrm>
          <a:prstGeom prst="ellipse">
            <a:avLst/>
          </a:prstGeom>
          <a:solidFill>
            <a:srgbClr val="5B3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686210"/>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667922"/>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2070258"/>
            <a:ext cx="11247120" cy="392097"/>
          </a:xfrm>
          <a:prstGeom prst="rect">
            <a:avLst/>
          </a:prstGeom>
          <a:noFill/>
        </p:spPr>
        <p:txBody>
          <a:bodyPr wrap="square" anchor="t" lIns="0" rIns="0" tIns="0" bIns="0">
            <a:spAutoFit/>
          </a:bodyPr>
          <a:lstStyle/>
          <a:p>
            <a:pPr>
              <a:spcBef>
                <a:spcPts val="0"/>
              </a:spcBef>
              <a:spcAft>
                <a:spcPts val="615"/>
              </a:spcAft>
            </a:pPr>
            <a:r>
              <a:rPr sz="1600" b="0" i="0">
                <a:solidFill>
                  <a:srgbClr val="000000"/>
                </a:solidFill>
                <a:latin typeface="Nirmala UI"/>
              </a:rPr>
              <a:t>For example, an e-commerce product may contain different attributes depending on its category:</a:t>
            </a:r>
          </a:p>
        </p:txBody>
      </p:sp>
      <p:sp>
        <p:nvSpPr>
          <p:cNvPr id="8" name="TextBox 7"/>
          <p:cNvSpPr txBox="1"/>
          <p:nvPr/>
        </p:nvSpPr>
        <p:spPr>
          <a:xfrm>
            <a:off x="457200" y="2553795"/>
            <a:ext cx="11247120" cy="392097"/>
          </a:xfrm>
          <a:prstGeom prst="rect">
            <a:avLst/>
          </a:prstGeom>
          <a:noFill/>
        </p:spPr>
        <p:txBody>
          <a:bodyPr wrap="square" anchor="t" lIns="0" rIns="0" tIns="0" bIns="0">
            <a:spAutoFit/>
          </a:bodyPr>
          <a:lstStyle/>
          <a:p>
            <a:pPr>
              <a:spcBef>
                <a:spcPts val="0"/>
              </a:spcBef>
              <a:spcAft>
                <a:spcPts val="615"/>
              </a:spcAft>
            </a:pPr>
            <a:r>
              <a:rPr sz="1600" b="0" i="0">
                <a:solidFill>
                  <a:srgbClr val="000000"/>
                </a:solidFill>
                <a:latin typeface="Nirmala UI"/>
              </a:rPr>
              <a:t>A book might require different fields:</a:t>
            </a:r>
          </a:p>
        </p:txBody>
      </p:sp>
      <p:sp>
        <p:nvSpPr>
          <p:cNvPr id="9" name="TextBox 8"/>
          <p:cNvSpPr txBox="1"/>
          <p:nvPr/>
        </p:nvSpPr>
        <p:spPr>
          <a:xfrm>
            <a:off x="457200" y="3037332"/>
            <a:ext cx="11247120" cy="660321"/>
          </a:xfrm>
          <a:prstGeom prst="rect">
            <a:avLst/>
          </a:prstGeom>
          <a:noFill/>
        </p:spPr>
        <p:txBody>
          <a:bodyPr wrap="square" anchor="t" lIns="0" rIns="0" tIns="0" bIns="0">
            <a:spAutoFit/>
          </a:bodyPr>
          <a:lstStyle/>
          <a:p>
            <a:pPr>
              <a:spcBef>
                <a:spcPts val="0"/>
              </a:spcBef>
              <a:spcAft>
                <a:spcPts val="615"/>
              </a:spcAft>
            </a:pPr>
            <a:r>
              <a:rPr sz="1600" b="0" i="0">
                <a:solidFill>
                  <a:srgbClr val="000000"/>
                </a:solidFill>
                <a:latin typeface="Nirmala UI"/>
              </a:rPr>
              <a:t>A relational system may require several tables or many optional columns. A document database can store each product with the fields appropriate to it.</a:t>
            </a:r>
          </a:p>
        </p:txBody>
      </p:sp>
      <p:sp>
        <p:nvSpPr>
          <p:cNvPr id="10" name="TextBox 9"/>
          <p:cNvSpPr txBox="1"/>
          <p:nvPr/>
        </p:nvSpPr>
        <p:spPr>
          <a:xfrm>
            <a:off x="457200" y="3789093"/>
            <a:ext cx="11247120" cy="660321"/>
          </a:xfrm>
          <a:prstGeom prst="rect">
            <a:avLst/>
          </a:prstGeom>
          <a:noFill/>
        </p:spPr>
        <p:txBody>
          <a:bodyPr wrap="square" anchor="t" lIns="0" rIns="0" tIns="0" bIns="0">
            <a:spAutoFit/>
          </a:bodyPr>
          <a:lstStyle/>
          <a:p>
            <a:pPr>
              <a:spcBef>
                <a:spcPts val="0"/>
              </a:spcBef>
              <a:spcAft>
                <a:spcPts val="615"/>
              </a:spcAft>
            </a:pPr>
            <a:r>
              <a:rPr sz="1600" b="0" i="0">
                <a:solidFill>
                  <a:srgbClr val="000000"/>
                </a:solidFill>
                <a:latin typeface="Nirmala UI"/>
              </a:rPr>
              <a:t>NoSQL does not mean that SQL databases are obsolete. The appropriate database depends on the application’s data, access patterns, consistency requirements and scale.</a:t>
            </a:r>
          </a:p>
        </p:txBody>
      </p:sp>
      <p:sp>
        <p:nvSpPr>
          <p:cNvPr id="11" name="Rounded Rectangle 10"/>
          <p:cNvSpPr/>
          <p:nvPr/>
        </p:nvSpPr>
        <p:spPr>
          <a:xfrm>
            <a:off x="457200" y="4540854"/>
            <a:ext cx="5550408" cy="804672"/>
          </a:xfrm>
          <a:prstGeom prst="roundRect">
            <a:avLst>
              <a:gd name="adj" fmla="val 4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85216" y="4632294"/>
            <a:ext cx="5294376" cy="640080"/>
          </a:xfrm>
          <a:prstGeom prst="rect">
            <a:avLst/>
          </a:prstGeom>
          <a:noFill/>
        </p:spPr>
        <p:txBody>
          <a:bodyPr wrap="square" anchor="t" lIns="0" rIns="0" tIns="0" bIns="0">
            <a:spAutoFit/>
          </a:bodyPr>
          <a:lstStyle/>
          <a:p>
            <a:pPr>
              <a:spcBef>
                <a:spcPts val="0"/>
              </a:spcBef>
              <a:spcAft>
                <a:spcPts val="0"/>
              </a:spcAft>
            </a:pPr>
            <a:r>
              <a:rPr sz="600" b="0" i="0">
                <a:solidFill>
                  <a:srgbClr val="000000"/>
                </a:solidFill>
                <a:latin typeface="Consolas"/>
              </a:rPr>
              <a:t>{</a:t>
            </a:r>
          </a:p>
          <a:p>
            <a:pPr>
              <a:spcBef>
                <a:spcPts val="0"/>
              </a:spcBef>
              <a:spcAft>
                <a:spcPts val="0"/>
              </a:spcAft>
            </a:pPr>
            <a:r>
              <a:rPr sz="600" b="0" i="0">
                <a:solidFill>
                  <a:srgbClr val="000000"/>
                </a:solidFill>
                <a:latin typeface="Consolas"/>
              </a:rPr>
              <a:t>  "name": "Laptop",</a:t>
            </a:r>
          </a:p>
          <a:p>
            <a:pPr>
              <a:spcBef>
                <a:spcPts val="0"/>
              </a:spcBef>
              <a:spcAft>
                <a:spcPts val="0"/>
              </a:spcAft>
            </a:pPr>
            <a:r>
              <a:rPr sz="600" b="0" i="0">
                <a:solidFill>
                  <a:srgbClr val="000000"/>
                </a:solidFill>
                <a:latin typeface="Consolas"/>
              </a:rPr>
              <a:t>  "brand": "Lenovo",</a:t>
            </a:r>
          </a:p>
          <a:p>
            <a:pPr>
              <a:spcBef>
                <a:spcPts val="0"/>
              </a:spcBef>
              <a:spcAft>
                <a:spcPts val="0"/>
              </a:spcAft>
            </a:pPr>
            <a:r>
              <a:rPr sz="600" b="0" i="0">
                <a:solidFill>
                  <a:srgbClr val="000000"/>
                </a:solidFill>
                <a:latin typeface="Consolas"/>
              </a:rPr>
              <a:t>  "ram": "16 GB",</a:t>
            </a:r>
          </a:p>
          <a:p>
            <a:pPr>
              <a:spcBef>
                <a:spcPts val="0"/>
              </a:spcBef>
              <a:spcAft>
                <a:spcPts val="0"/>
              </a:spcAft>
            </a:pPr>
            <a:r>
              <a:rPr sz="600" b="0" i="0">
                <a:solidFill>
                  <a:srgbClr val="000000"/>
                </a:solidFill>
                <a:latin typeface="Consolas"/>
              </a:rPr>
              <a:t>  "processor": "Intel Core i7"</a:t>
            </a:r>
          </a:p>
          <a:p>
            <a:pPr>
              <a:spcBef>
                <a:spcPts val="0"/>
              </a:spcBef>
              <a:spcAft>
                <a:spcPts val="0"/>
              </a:spcAft>
            </a:pPr>
            <a:r>
              <a:rPr sz="600" b="0" i="0">
                <a:solidFill>
                  <a:srgbClr val="000000"/>
                </a:solidFill>
                <a:latin typeface="Consolas"/>
              </a:rPr>
              <a:t>}</a:t>
            </a:r>
          </a:p>
        </p:txBody>
      </p:sp>
      <p:sp>
        <p:nvSpPr>
          <p:cNvPr id="13" name="Rounded Rectangle 12"/>
          <p:cNvSpPr/>
          <p:nvPr/>
        </p:nvSpPr>
        <p:spPr>
          <a:xfrm>
            <a:off x="6153912" y="4540854"/>
            <a:ext cx="5550408" cy="804672"/>
          </a:xfrm>
          <a:prstGeom prst="roundRect">
            <a:avLst>
              <a:gd name="adj" fmla="val 4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81928" y="4632294"/>
            <a:ext cx="5294376" cy="640080"/>
          </a:xfrm>
          <a:prstGeom prst="rect">
            <a:avLst/>
          </a:prstGeom>
          <a:noFill/>
        </p:spPr>
        <p:txBody>
          <a:bodyPr wrap="square" anchor="t" lIns="0" rIns="0" tIns="0" bIns="0">
            <a:spAutoFit/>
          </a:bodyPr>
          <a:lstStyle/>
          <a:p>
            <a:pPr>
              <a:spcBef>
                <a:spcPts val="0"/>
              </a:spcBef>
              <a:spcAft>
                <a:spcPts val="0"/>
              </a:spcAft>
            </a:pPr>
            <a:r>
              <a:rPr sz="600" b="0" i="0">
                <a:solidFill>
                  <a:srgbClr val="000000"/>
                </a:solidFill>
                <a:latin typeface="Consolas"/>
              </a:rPr>
              <a:t>{</a:t>
            </a:r>
          </a:p>
          <a:p>
            <a:pPr>
              <a:spcBef>
                <a:spcPts val="0"/>
              </a:spcBef>
              <a:spcAft>
                <a:spcPts val="0"/>
              </a:spcAft>
            </a:pPr>
            <a:r>
              <a:rPr sz="600" b="0" i="0">
                <a:solidFill>
                  <a:srgbClr val="000000"/>
                </a:solidFill>
                <a:latin typeface="Consolas"/>
              </a:rPr>
              <a:t>  "name": "MongoDB Fundamentals",</a:t>
            </a:r>
          </a:p>
          <a:p>
            <a:pPr>
              <a:spcBef>
                <a:spcPts val="0"/>
              </a:spcBef>
              <a:spcAft>
                <a:spcPts val="0"/>
              </a:spcAft>
            </a:pPr>
            <a:r>
              <a:rPr sz="600" b="0" i="0">
                <a:solidFill>
                  <a:srgbClr val="000000"/>
                </a:solidFill>
                <a:latin typeface="Consolas"/>
              </a:rPr>
              <a:t>  "author": "A. Singh",</a:t>
            </a:r>
          </a:p>
          <a:p>
            <a:pPr>
              <a:spcBef>
                <a:spcPts val="0"/>
              </a:spcBef>
              <a:spcAft>
                <a:spcPts val="0"/>
              </a:spcAft>
            </a:pPr>
            <a:r>
              <a:rPr sz="600" b="0" i="0">
                <a:solidFill>
                  <a:srgbClr val="000000"/>
                </a:solidFill>
                <a:latin typeface="Consolas"/>
              </a:rPr>
              <a:t>  "isbn": "978-1234567890"</a:t>
            </a:r>
          </a:p>
          <a:p>
            <a:pPr>
              <a:spcBef>
                <a:spcPts val="0"/>
              </a:spcBef>
              <a:spcAft>
                <a:spcPts val="0"/>
              </a:spcAft>
            </a:pPr>
            <a:r>
              <a:rPr sz="600" b="0" i="0">
                <a:solidFill>
                  <a:srgbClr val="000000"/>
                </a:solidFill>
                <a:latin typeface="Consolas"/>
              </a:rPr>
              <a:t>}</a:t>
            </a:r>
          </a:p>
        </p:txBody>
      </p:sp>
      <p:sp>
        <p:nvSpPr>
          <p:cNvPr id="15" name="Rectangle 14"/>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8"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DOCUMENT DATABASES</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1</a:t>
            </a:r>
          </a:p>
        </p:txBody>
      </p:sp>
      <p:sp>
        <p:nvSpPr>
          <p:cNvPr id="4" name="Oval 3"/>
          <p:cNvSpPr/>
          <p:nvPr/>
        </p:nvSpPr>
        <p:spPr>
          <a:xfrm>
            <a:off x="457200" y="1220080"/>
            <a:ext cx="237744" cy="237744"/>
          </a:xfrm>
          <a:prstGeom prst="ellipse">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20080"/>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201792"/>
            <a:ext cx="351129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1604128"/>
            <a:ext cx="3840480" cy="928545"/>
          </a:xfrm>
          <a:prstGeom prst="rect">
            <a:avLst/>
          </a:prstGeom>
          <a:noFill/>
        </p:spPr>
        <p:txBody>
          <a:bodyPr wrap="square" anchor="t" lIns="0" rIns="0" tIns="0" bIns="0">
            <a:spAutoFit/>
          </a:bodyPr>
          <a:lstStyle/>
          <a:p>
            <a:pPr>
              <a:spcBef>
                <a:spcPts val="0"/>
              </a:spcBef>
              <a:spcAft>
                <a:spcPts val="615"/>
              </a:spcAft>
            </a:pPr>
            <a:r>
              <a:rPr sz="1600" b="0" i="0">
                <a:solidFill>
                  <a:srgbClr val="000000"/>
                </a:solidFill>
                <a:latin typeface="Nirmala UI"/>
              </a:rPr>
              <a:t>Document databases store information as self-contained documents, usually in a JSON-like format.</a:t>
            </a:r>
          </a:p>
        </p:txBody>
      </p:sp>
      <p:sp>
        <p:nvSpPr>
          <p:cNvPr id="8" name="TextBox 7"/>
          <p:cNvSpPr txBox="1"/>
          <p:nvPr/>
        </p:nvSpPr>
        <p:spPr>
          <a:xfrm>
            <a:off x="457200" y="2624113"/>
            <a:ext cx="3840480" cy="392097"/>
          </a:xfrm>
          <a:prstGeom prst="rect">
            <a:avLst/>
          </a:prstGeom>
          <a:noFill/>
        </p:spPr>
        <p:txBody>
          <a:bodyPr wrap="square" anchor="t" lIns="0" rIns="0" tIns="0" bIns="0">
            <a:spAutoFit/>
          </a:bodyPr>
          <a:lstStyle/>
          <a:p>
            <a:pPr>
              <a:spcBef>
                <a:spcPts val="0"/>
              </a:spcBef>
              <a:spcAft>
                <a:spcPts val="615"/>
              </a:spcAft>
            </a:pPr>
            <a:r>
              <a:rPr sz="1600" b="0" i="0">
                <a:solidFill>
                  <a:srgbClr val="000000"/>
                </a:solidFill>
                <a:latin typeface="Nirmala UI"/>
              </a:rPr>
              <a:t>Example:</a:t>
            </a:r>
          </a:p>
        </p:txBody>
      </p:sp>
      <p:sp>
        <p:nvSpPr>
          <p:cNvPr id="9" name="TextBox 8"/>
          <p:cNvSpPr txBox="1"/>
          <p:nvPr/>
        </p:nvSpPr>
        <p:spPr>
          <a:xfrm>
            <a:off x="457200" y="3107650"/>
            <a:ext cx="3840480" cy="660321"/>
          </a:xfrm>
          <a:prstGeom prst="rect">
            <a:avLst/>
          </a:prstGeom>
          <a:noFill/>
        </p:spPr>
        <p:txBody>
          <a:bodyPr wrap="square" anchor="t" lIns="0" rIns="0" tIns="0" bIns="0">
            <a:spAutoFit/>
          </a:bodyPr>
          <a:lstStyle/>
          <a:p>
            <a:pPr>
              <a:spcBef>
                <a:spcPts val="0"/>
              </a:spcBef>
              <a:spcAft>
                <a:spcPts val="615"/>
              </a:spcAft>
            </a:pPr>
            <a:r>
              <a:rPr sz="1600" b="0" i="0">
                <a:solidFill>
                  <a:srgbClr val="000000"/>
                </a:solidFill>
                <a:latin typeface="Nirmala UI"/>
              </a:rPr>
              <a:t>Common products include MongoDB and Couchbase.</a:t>
            </a:r>
          </a:p>
        </p:txBody>
      </p:sp>
      <p:sp>
        <p:nvSpPr>
          <p:cNvPr id="10" name="Rounded Rectangle 9"/>
          <p:cNvSpPr/>
          <p:nvPr/>
        </p:nvSpPr>
        <p:spPr>
          <a:xfrm>
            <a:off x="457200" y="3859411"/>
            <a:ext cx="3840480" cy="1961388"/>
          </a:xfrm>
          <a:prstGeom prst="roundRect">
            <a:avLst>
              <a:gd name="adj" fmla="val 4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 y="3950851"/>
            <a:ext cx="3584448" cy="1796796"/>
          </a:xfrm>
          <a:prstGeom prst="rect">
            <a:avLst/>
          </a:prstGeom>
          <a:noFill/>
        </p:spPr>
        <p:txBody>
          <a:bodyPr wrap="square" anchor="t" lIns="0" rIns="0" tIns="0" bIns="0">
            <a:spAutoFit/>
          </a:bodyPr>
          <a:lstStyle/>
          <a:p>
            <a:pPr>
              <a:spcBef>
                <a:spcPts val="0"/>
              </a:spcBef>
              <a:spcAft>
                <a:spcPts val="0"/>
              </a:spcAft>
            </a:pPr>
            <a:r>
              <a:rPr sz="700" b="0" i="0">
                <a:solidFill>
                  <a:srgbClr val="000000"/>
                </a:solidFill>
                <a:latin typeface="Consolas"/>
              </a:rPr>
              <a:t>{</a:t>
            </a:r>
          </a:p>
          <a:p>
            <a:pPr>
              <a:spcBef>
                <a:spcPts val="0"/>
              </a:spcBef>
              <a:spcAft>
                <a:spcPts val="0"/>
              </a:spcAft>
            </a:pPr>
            <a:r>
              <a:rPr sz="700" b="0" i="0">
                <a:solidFill>
                  <a:srgbClr val="000000"/>
                </a:solidFill>
                <a:latin typeface="Consolas"/>
              </a:rPr>
              <a:t>  "_id": 1001,</a:t>
            </a:r>
          </a:p>
          <a:p>
            <a:pPr>
              <a:spcBef>
                <a:spcPts val="0"/>
              </a:spcBef>
              <a:spcAft>
                <a:spcPts val="0"/>
              </a:spcAft>
            </a:pPr>
            <a:r>
              <a:rPr sz="700" b="0" i="0">
                <a:solidFill>
                  <a:srgbClr val="000000"/>
                </a:solidFill>
                <a:latin typeface="Consolas"/>
              </a:rPr>
              <a:t>  "customer": {</a:t>
            </a:r>
          </a:p>
          <a:p>
            <a:pPr>
              <a:spcBef>
                <a:spcPts val="0"/>
              </a:spcBef>
              <a:spcAft>
                <a:spcPts val="0"/>
              </a:spcAft>
            </a:pPr>
            <a:r>
              <a:rPr sz="700" b="0" i="0">
                <a:solidFill>
                  <a:srgbClr val="000000"/>
                </a:solidFill>
                <a:latin typeface="Consolas"/>
              </a:rPr>
              <a:t>    "name": "Aman",</a:t>
            </a:r>
          </a:p>
          <a:p>
            <a:pPr>
              <a:spcBef>
                <a:spcPts val="0"/>
              </a:spcBef>
              <a:spcAft>
                <a:spcPts val="0"/>
              </a:spcAft>
            </a:pPr>
            <a:r>
              <a:rPr sz="700" b="0" i="0">
                <a:solidFill>
                  <a:srgbClr val="000000"/>
                </a:solidFill>
                <a:latin typeface="Consolas"/>
              </a:rPr>
              <a:t>    "email": "aman@example.com"</a:t>
            </a:r>
          </a:p>
          <a:p>
            <a:pPr>
              <a:spcBef>
                <a:spcPts val="0"/>
              </a:spcBef>
              <a:spcAft>
                <a:spcPts val="0"/>
              </a:spcAft>
            </a:pPr>
            <a:r>
              <a:rPr sz="700" b="0" i="0">
                <a:solidFill>
                  <a:srgbClr val="000000"/>
                </a:solidFill>
                <a:latin typeface="Consolas"/>
              </a:rPr>
              <a:t>  },</a:t>
            </a:r>
          </a:p>
          <a:p>
            <a:pPr>
              <a:spcBef>
                <a:spcPts val="0"/>
              </a:spcBef>
              <a:spcAft>
                <a:spcPts val="0"/>
              </a:spcAft>
            </a:pPr>
            <a:r>
              <a:rPr sz="700" b="0" i="0">
                <a:solidFill>
                  <a:srgbClr val="000000"/>
                </a:solidFill>
                <a:latin typeface="Consolas"/>
              </a:rPr>
              <a:t>  "items": [</a:t>
            </a:r>
          </a:p>
          <a:p>
            <a:pPr>
              <a:spcBef>
                <a:spcPts val="0"/>
              </a:spcBef>
              <a:spcAft>
                <a:spcPts val="0"/>
              </a:spcAft>
            </a:pPr>
            <a:r>
              <a:rPr sz="700" b="0" i="0">
                <a:solidFill>
                  <a:srgbClr val="000000"/>
                </a:solidFill>
                <a:latin typeface="Consolas"/>
              </a:rPr>
              <a:t>    {</a:t>
            </a:r>
          </a:p>
          <a:p>
            <a:pPr>
              <a:spcBef>
                <a:spcPts val="0"/>
              </a:spcBef>
              <a:spcAft>
                <a:spcPts val="0"/>
              </a:spcAft>
            </a:pPr>
            <a:r>
              <a:rPr sz="700" b="0" i="0">
                <a:solidFill>
                  <a:srgbClr val="000000"/>
                </a:solidFill>
                <a:latin typeface="Consolas"/>
              </a:rPr>
              <a:t>      "product": "Keyboard",</a:t>
            </a:r>
          </a:p>
          <a:p>
            <a:pPr>
              <a:spcBef>
                <a:spcPts val="0"/>
              </a:spcBef>
              <a:spcAft>
                <a:spcPts val="0"/>
              </a:spcAft>
            </a:pPr>
            <a:r>
              <a:rPr sz="700" b="0" i="0">
                <a:solidFill>
                  <a:srgbClr val="000000"/>
                </a:solidFill>
                <a:latin typeface="Consolas"/>
              </a:rPr>
              <a:t>      "quantity": 2,</a:t>
            </a:r>
          </a:p>
          <a:p>
            <a:pPr>
              <a:spcBef>
                <a:spcPts val="0"/>
              </a:spcBef>
              <a:spcAft>
                <a:spcPts val="0"/>
              </a:spcAft>
            </a:pPr>
            <a:r>
              <a:rPr sz="700" b="0" i="0">
                <a:solidFill>
                  <a:srgbClr val="000000"/>
                </a:solidFill>
                <a:latin typeface="Consolas"/>
              </a:rPr>
              <a:t>      "price": 49.99</a:t>
            </a:r>
          </a:p>
          <a:p>
            <a:pPr>
              <a:spcBef>
                <a:spcPts val="0"/>
              </a:spcBef>
              <a:spcAft>
                <a:spcPts val="0"/>
              </a:spcAft>
            </a:pPr>
            <a:r>
              <a:rPr sz="700" b="0" i="0">
                <a:solidFill>
                  <a:srgbClr val="000000"/>
                </a:solidFill>
                <a:latin typeface="Consolas"/>
              </a:rPr>
              <a:t>    }</a:t>
            </a:r>
          </a:p>
          <a:p>
            <a:pPr>
              <a:spcBef>
                <a:spcPts val="0"/>
              </a:spcBef>
              <a:spcAft>
                <a:spcPts val="0"/>
              </a:spcAft>
            </a:pPr>
            <a:r>
              <a:rPr sz="700" b="0" i="0">
                <a:solidFill>
                  <a:srgbClr val="000000"/>
                </a:solidFill>
                <a:latin typeface="Consolas"/>
              </a:rPr>
              <a:t>  ],</a:t>
            </a:r>
          </a:p>
          <a:p>
            <a:pPr>
              <a:spcBef>
                <a:spcPts val="0"/>
              </a:spcBef>
              <a:spcAft>
                <a:spcPts val="0"/>
              </a:spcAft>
            </a:pPr>
            <a:r>
              <a:rPr sz="700" b="0" i="0">
                <a:solidFill>
                  <a:srgbClr val="000000"/>
                </a:solidFill>
                <a:latin typeface="Consolas"/>
              </a:rPr>
              <a:t>  "status": "Shipped"</a:t>
            </a:r>
          </a:p>
          <a:p>
            <a:pPr>
              <a:spcBef>
                <a:spcPts val="0"/>
              </a:spcBef>
              <a:spcAft>
                <a:spcPts val="0"/>
              </a:spcAft>
            </a:pPr>
            <a:r>
              <a:rPr sz="700" b="0" i="0">
                <a:solidFill>
                  <a:srgbClr val="000000"/>
                </a:solidFill>
                <a:latin typeface="Consolas"/>
              </a:rPr>
              <a:t>}</a:t>
            </a:r>
          </a:p>
        </p:txBody>
      </p:sp>
      <p:sp>
        <p:nvSpPr>
          <p:cNvPr id="12" name="Rectangle 11"/>
          <p:cNvSpPr/>
          <p:nvPr/>
        </p:nvSpPr>
        <p:spPr>
          <a:xfrm>
            <a:off x="4471035" y="1516954"/>
            <a:ext cx="7242810" cy="4080123"/>
          </a:xfrm>
          <a:prstGeom prst="rect">
            <a:avLst/>
          </a:prstGeom>
          <a:solidFill>
            <a:srgbClr val="FFFFFF"/>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image.png"/>
          <p:cNvPicPr>
            <a:picLocks noChangeAspect="1"/>
          </p:cNvPicPr>
          <p:nvPr/>
        </p:nvPicPr>
        <p:blipFill>
          <a:blip r:embed="rId2"/>
          <a:stretch>
            <a:fillRect/>
          </a:stretch>
        </p:blipFill>
        <p:spPr>
          <a:xfrm>
            <a:off x="4480560" y="1526479"/>
            <a:ext cx="7223760" cy="4061073"/>
          </a:xfrm>
          <a:prstGeom prst="rect">
            <a:avLst/>
          </a:prstGeom>
        </p:spPr>
      </p:pic>
      <p:sp>
        <p:nvSpPr>
          <p:cNvPr id="14" name="Rectangle 13"/>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7"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DOCUMENT DATABASES — USE CASES</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1</a:t>
            </a:r>
          </a:p>
        </p:txBody>
      </p:sp>
      <p:sp>
        <p:nvSpPr>
          <p:cNvPr id="4" name="Oval 3"/>
          <p:cNvSpPr/>
          <p:nvPr/>
        </p:nvSpPr>
        <p:spPr>
          <a:xfrm>
            <a:off x="457200" y="1485354"/>
            <a:ext cx="237744" cy="237744"/>
          </a:xfrm>
          <a:prstGeom prst="ellipse">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485354"/>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467066"/>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1869402"/>
            <a:ext cx="11247120" cy="47869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Document databases are suitable for:</a:t>
            </a:r>
          </a:p>
        </p:txBody>
      </p:sp>
      <p:sp>
        <p:nvSpPr>
          <p:cNvPr id="8" name="TextBox 7"/>
          <p:cNvSpPr txBox="1"/>
          <p:nvPr/>
        </p:nvSpPr>
        <p:spPr>
          <a:xfrm>
            <a:off x="457200" y="2439534"/>
            <a:ext cx="11247120" cy="2210580"/>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  </a:t>
            </a:r>
            <a:r>
              <a:rPr sz="2000" b="0" i="0">
                <a:solidFill>
                  <a:srgbClr val="000000"/>
                </a:solidFill>
                <a:latin typeface="Nirmala UI"/>
              </a:rPr>
              <a:t>Product catalogues</a:t>
            </a:r>
          </a:p>
          <a:p>
            <a:pPr>
              <a:spcBef>
                <a:spcPts val="0"/>
              </a:spcBef>
              <a:spcAft>
                <a:spcPts val="769"/>
              </a:spcAft>
            </a:pPr>
            <a:r>
              <a:rPr sz="2000" b="0" i="0">
                <a:solidFill>
                  <a:srgbClr val="000000"/>
                </a:solidFill>
                <a:latin typeface="Nirmala UI"/>
              </a:rPr>
              <a:t>•  </a:t>
            </a:r>
            <a:r>
              <a:rPr sz="2000" b="0" i="0">
                <a:solidFill>
                  <a:srgbClr val="000000"/>
                </a:solidFill>
                <a:latin typeface="Nirmala UI"/>
              </a:rPr>
              <a:t>Customer profiles</a:t>
            </a:r>
          </a:p>
          <a:p>
            <a:pPr>
              <a:spcBef>
                <a:spcPts val="0"/>
              </a:spcBef>
              <a:spcAft>
                <a:spcPts val="769"/>
              </a:spcAft>
            </a:pPr>
            <a:r>
              <a:rPr sz="2000" b="0" i="0">
                <a:solidFill>
                  <a:srgbClr val="000000"/>
                </a:solidFill>
                <a:latin typeface="Nirmala UI"/>
              </a:rPr>
              <a:t>•  </a:t>
            </a:r>
            <a:r>
              <a:rPr sz="2000" b="0" i="0">
                <a:solidFill>
                  <a:srgbClr val="000000"/>
                </a:solidFill>
                <a:latin typeface="Nirmala UI"/>
              </a:rPr>
              <a:t>Content-management systems</a:t>
            </a:r>
          </a:p>
          <a:p>
            <a:pPr>
              <a:spcBef>
                <a:spcPts val="0"/>
              </a:spcBef>
              <a:spcAft>
                <a:spcPts val="769"/>
              </a:spcAft>
            </a:pPr>
            <a:r>
              <a:rPr sz="2000" b="0" i="0">
                <a:solidFill>
                  <a:srgbClr val="000000"/>
                </a:solidFill>
                <a:latin typeface="Nirmala UI"/>
              </a:rPr>
              <a:t>•  </a:t>
            </a:r>
            <a:r>
              <a:rPr sz="2000" b="0" i="0">
                <a:solidFill>
                  <a:srgbClr val="000000"/>
                </a:solidFill>
                <a:latin typeface="Nirmala UI"/>
              </a:rPr>
              <a:t>Mobile and web applications</a:t>
            </a:r>
          </a:p>
          <a:p>
            <a:pPr>
              <a:spcBef>
                <a:spcPts val="0"/>
              </a:spcBef>
              <a:spcAft>
                <a:spcPts val="769"/>
              </a:spcAft>
            </a:pPr>
            <a:r>
              <a:rPr sz="2000" b="0" i="0">
                <a:solidFill>
                  <a:srgbClr val="000000"/>
                </a:solidFill>
                <a:latin typeface="Nirmala UI"/>
              </a:rPr>
              <a:t>•  </a:t>
            </a:r>
            <a:r>
              <a:rPr sz="2000" b="0" i="0">
                <a:solidFill>
                  <a:srgbClr val="000000"/>
                </a:solidFill>
                <a:latin typeface="Nirmala UI"/>
              </a:rPr>
              <a:t>Order-management systems</a:t>
            </a:r>
          </a:p>
        </p:txBody>
      </p:sp>
      <p:sp>
        <p:nvSpPr>
          <p:cNvPr id="9" name="TextBox 8"/>
          <p:cNvSpPr txBox="1"/>
          <p:nvPr/>
        </p:nvSpPr>
        <p:spPr>
          <a:xfrm>
            <a:off x="457200" y="4741554"/>
            <a:ext cx="11247120" cy="81397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Their main advantage is that an application object can often be stored as one document without splitting it across many tables.</a:t>
            </a:r>
          </a:p>
        </p:txBody>
      </p:sp>
      <p:sp>
        <p:nvSpPr>
          <p:cNvPr id="10" name="Rectangle 9"/>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3"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KEY-VALUE DATABASES</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1</a:t>
            </a:r>
          </a:p>
        </p:txBody>
      </p:sp>
      <p:sp>
        <p:nvSpPr>
          <p:cNvPr id="4" name="Oval 3"/>
          <p:cNvSpPr/>
          <p:nvPr/>
        </p:nvSpPr>
        <p:spPr>
          <a:xfrm>
            <a:off x="457200" y="1538596"/>
            <a:ext cx="237744" cy="237744"/>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538596"/>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520308"/>
            <a:ext cx="351129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1922644"/>
            <a:ext cx="3840480" cy="660321"/>
          </a:xfrm>
          <a:prstGeom prst="rect">
            <a:avLst/>
          </a:prstGeom>
          <a:noFill/>
        </p:spPr>
        <p:txBody>
          <a:bodyPr wrap="square" anchor="t" lIns="0" rIns="0" tIns="0" bIns="0">
            <a:spAutoFit/>
          </a:bodyPr>
          <a:lstStyle/>
          <a:p>
            <a:pPr>
              <a:spcBef>
                <a:spcPts val="0"/>
              </a:spcBef>
              <a:spcAft>
                <a:spcPts val="615"/>
              </a:spcAft>
            </a:pPr>
            <a:r>
              <a:rPr sz="1600" b="0" i="0">
                <a:solidFill>
                  <a:srgbClr val="000000"/>
                </a:solidFill>
                <a:latin typeface="Nirmala UI"/>
              </a:rPr>
              <a:t>Key-value databases store each value under a unique key.</a:t>
            </a:r>
          </a:p>
        </p:txBody>
      </p:sp>
      <p:sp>
        <p:nvSpPr>
          <p:cNvPr id="8" name="TextBox 7"/>
          <p:cNvSpPr txBox="1"/>
          <p:nvPr/>
        </p:nvSpPr>
        <p:spPr>
          <a:xfrm>
            <a:off x="457200" y="2674405"/>
            <a:ext cx="3840480" cy="928545"/>
          </a:xfrm>
          <a:prstGeom prst="rect">
            <a:avLst/>
          </a:prstGeom>
          <a:noFill/>
        </p:spPr>
        <p:txBody>
          <a:bodyPr wrap="square" anchor="t" lIns="0" rIns="0" tIns="0" bIns="0">
            <a:spAutoFit/>
          </a:bodyPr>
          <a:lstStyle/>
          <a:p>
            <a:pPr>
              <a:spcBef>
                <a:spcPts val="0"/>
              </a:spcBef>
              <a:spcAft>
                <a:spcPts val="615"/>
              </a:spcAft>
            </a:pPr>
            <a:r>
              <a:rPr sz="1600" b="0" i="0">
                <a:solidFill>
                  <a:srgbClr val="000000"/>
                </a:solidFill>
                <a:latin typeface="Nirmala UI"/>
              </a:rPr>
              <a:t>The application provides the key, and the database returns the associated value.</a:t>
            </a:r>
          </a:p>
        </p:txBody>
      </p:sp>
      <p:sp>
        <p:nvSpPr>
          <p:cNvPr id="9" name="TextBox 8"/>
          <p:cNvSpPr txBox="1"/>
          <p:nvPr/>
        </p:nvSpPr>
        <p:spPr>
          <a:xfrm>
            <a:off x="457200" y="3694390"/>
            <a:ext cx="3840480" cy="660321"/>
          </a:xfrm>
          <a:prstGeom prst="rect">
            <a:avLst/>
          </a:prstGeom>
          <a:noFill/>
        </p:spPr>
        <p:txBody>
          <a:bodyPr wrap="square" anchor="t" lIns="0" rIns="0" tIns="0" bIns="0">
            <a:spAutoFit/>
          </a:bodyPr>
          <a:lstStyle/>
          <a:p>
            <a:pPr>
              <a:spcBef>
                <a:spcPts val="0"/>
              </a:spcBef>
              <a:spcAft>
                <a:spcPts val="615"/>
              </a:spcAft>
            </a:pPr>
            <a:r>
              <a:rPr sz="1600" b="0" i="0">
                <a:solidFill>
                  <a:srgbClr val="000000"/>
                </a:solidFill>
                <a:latin typeface="Nirmala UI"/>
              </a:rPr>
              <a:t>Common products include Redis and Amazon DynamoDB.</a:t>
            </a:r>
          </a:p>
        </p:txBody>
      </p:sp>
      <p:sp>
        <p:nvSpPr>
          <p:cNvPr id="10" name="Rounded Rectangle 9"/>
          <p:cNvSpPr/>
          <p:nvPr/>
        </p:nvSpPr>
        <p:spPr>
          <a:xfrm>
            <a:off x="457200" y="4446151"/>
            <a:ext cx="3840480" cy="1056132"/>
          </a:xfrm>
          <a:prstGeom prst="roundRect">
            <a:avLst>
              <a:gd name="adj" fmla="val 4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 y="4537591"/>
            <a:ext cx="3584448" cy="891540"/>
          </a:xfrm>
          <a:prstGeom prst="rect">
            <a:avLst/>
          </a:prstGeom>
          <a:noFill/>
        </p:spPr>
        <p:txBody>
          <a:bodyPr wrap="square" anchor="t" lIns="0" rIns="0" tIns="0" bIns="0">
            <a:spAutoFit/>
          </a:bodyPr>
          <a:lstStyle/>
          <a:p>
            <a:pPr>
              <a:spcBef>
                <a:spcPts val="0"/>
              </a:spcBef>
              <a:spcAft>
                <a:spcPts val="0"/>
              </a:spcAft>
            </a:pPr>
            <a:r>
              <a:rPr sz="1700" b="0" i="0">
                <a:solidFill>
                  <a:srgbClr val="000000"/>
                </a:solidFill>
                <a:latin typeface="Consolas"/>
              </a:rPr>
              <a:t>Key:   session:78421</a:t>
            </a:r>
          </a:p>
          <a:p>
            <a:pPr>
              <a:spcBef>
                <a:spcPts val="0"/>
              </a:spcBef>
              <a:spcAft>
                <a:spcPts val="0"/>
              </a:spcAft>
            </a:pPr>
            <a:r>
              <a:rPr sz="1700" b="0" i="0">
                <a:solidFill>
                  <a:srgbClr val="000000"/>
                </a:solidFill>
                <a:latin typeface="Consolas"/>
              </a:rPr>
              <a:t>Value: {"customerId": 1001, "cartItems": 4}</a:t>
            </a:r>
          </a:p>
        </p:txBody>
      </p:sp>
      <p:sp>
        <p:nvSpPr>
          <p:cNvPr id="12" name="Rectangle 11"/>
          <p:cNvSpPr/>
          <p:nvPr/>
        </p:nvSpPr>
        <p:spPr>
          <a:xfrm>
            <a:off x="4471035" y="2212325"/>
            <a:ext cx="7242810" cy="2689381"/>
          </a:xfrm>
          <a:prstGeom prst="rect">
            <a:avLst/>
          </a:prstGeom>
          <a:solidFill>
            <a:srgbClr val="FFFFFF"/>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image.png"/>
          <p:cNvPicPr>
            <a:picLocks noChangeAspect="1"/>
          </p:cNvPicPr>
          <p:nvPr/>
        </p:nvPicPr>
        <p:blipFill>
          <a:blip r:embed="rId2"/>
          <a:stretch>
            <a:fillRect/>
          </a:stretch>
        </p:blipFill>
        <p:spPr>
          <a:xfrm>
            <a:off x="4480560" y="2221850"/>
            <a:ext cx="7223760" cy="2670331"/>
          </a:xfrm>
          <a:prstGeom prst="rect">
            <a:avLst/>
          </a:prstGeom>
        </p:spPr>
      </p:pic>
      <p:sp>
        <p:nvSpPr>
          <p:cNvPr id="14" name="Rectangle 13"/>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7"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KEY-VALUE DATABASES — USE CASES</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1</a:t>
            </a:r>
          </a:p>
        </p:txBody>
      </p:sp>
      <p:sp>
        <p:nvSpPr>
          <p:cNvPr id="4" name="Oval 3"/>
          <p:cNvSpPr/>
          <p:nvPr/>
        </p:nvSpPr>
        <p:spPr>
          <a:xfrm>
            <a:off x="457200" y="1485354"/>
            <a:ext cx="237744" cy="237744"/>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485354"/>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467066"/>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1869402"/>
            <a:ext cx="11247120" cy="47869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Key-value databases are suitable for:</a:t>
            </a:r>
          </a:p>
        </p:txBody>
      </p:sp>
      <p:sp>
        <p:nvSpPr>
          <p:cNvPr id="8" name="TextBox 7"/>
          <p:cNvSpPr txBox="1"/>
          <p:nvPr/>
        </p:nvSpPr>
        <p:spPr>
          <a:xfrm>
            <a:off x="457200" y="2439534"/>
            <a:ext cx="11247120" cy="2210580"/>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  </a:t>
            </a:r>
            <a:r>
              <a:rPr sz="2000" b="0" i="0">
                <a:solidFill>
                  <a:srgbClr val="000000"/>
                </a:solidFill>
                <a:latin typeface="Nirmala UI"/>
              </a:rPr>
              <a:t>Caching</a:t>
            </a:r>
          </a:p>
          <a:p>
            <a:pPr>
              <a:spcBef>
                <a:spcPts val="0"/>
              </a:spcBef>
              <a:spcAft>
                <a:spcPts val="769"/>
              </a:spcAft>
            </a:pPr>
            <a:r>
              <a:rPr sz="2000" b="0" i="0">
                <a:solidFill>
                  <a:srgbClr val="000000"/>
                </a:solidFill>
                <a:latin typeface="Nirmala UI"/>
              </a:rPr>
              <a:t>•  </a:t>
            </a:r>
            <a:r>
              <a:rPr sz="2000" b="0" i="0">
                <a:solidFill>
                  <a:srgbClr val="000000"/>
                </a:solidFill>
                <a:latin typeface="Nirmala UI"/>
              </a:rPr>
              <a:t>User sessions</a:t>
            </a:r>
          </a:p>
          <a:p>
            <a:pPr>
              <a:spcBef>
                <a:spcPts val="0"/>
              </a:spcBef>
              <a:spcAft>
                <a:spcPts val="769"/>
              </a:spcAft>
            </a:pPr>
            <a:r>
              <a:rPr sz="2000" b="0" i="0">
                <a:solidFill>
                  <a:srgbClr val="000000"/>
                </a:solidFill>
                <a:latin typeface="Nirmala UI"/>
              </a:rPr>
              <a:t>•  </a:t>
            </a:r>
            <a:r>
              <a:rPr sz="2000" b="0" i="0">
                <a:solidFill>
                  <a:srgbClr val="000000"/>
                </a:solidFill>
                <a:latin typeface="Nirmala UI"/>
              </a:rPr>
              <a:t>Shopping carts</a:t>
            </a:r>
          </a:p>
          <a:p>
            <a:pPr>
              <a:spcBef>
                <a:spcPts val="0"/>
              </a:spcBef>
              <a:spcAft>
                <a:spcPts val="769"/>
              </a:spcAft>
            </a:pPr>
            <a:r>
              <a:rPr sz="2000" b="0" i="0">
                <a:solidFill>
                  <a:srgbClr val="000000"/>
                </a:solidFill>
                <a:latin typeface="Nirmala UI"/>
              </a:rPr>
              <a:t>•  </a:t>
            </a:r>
            <a:r>
              <a:rPr sz="2000" b="0" i="0">
                <a:solidFill>
                  <a:srgbClr val="000000"/>
                </a:solidFill>
                <a:latin typeface="Nirmala UI"/>
              </a:rPr>
              <a:t>Application preferences</a:t>
            </a:r>
          </a:p>
          <a:p>
            <a:pPr>
              <a:spcBef>
                <a:spcPts val="0"/>
              </a:spcBef>
              <a:spcAft>
                <a:spcPts val="769"/>
              </a:spcAft>
            </a:pPr>
            <a:r>
              <a:rPr sz="2000" b="0" i="0">
                <a:solidFill>
                  <a:srgbClr val="000000"/>
                </a:solidFill>
                <a:latin typeface="Nirmala UI"/>
              </a:rPr>
              <a:t>•  </a:t>
            </a:r>
            <a:r>
              <a:rPr sz="2000" b="0" i="0">
                <a:solidFill>
                  <a:srgbClr val="000000"/>
                </a:solidFill>
                <a:latin typeface="Nirmala UI"/>
              </a:rPr>
              <a:t>Real-time counters</a:t>
            </a:r>
          </a:p>
        </p:txBody>
      </p:sp>
      <p:sp>
        <p:nvSpPr>
          <p:cNvPr id="9" name="TextBox 8"/>
          <p:cNvSpPr txBox="1"/>
          <p:nvPr/>
        </p:nvSpPr>
        <p:spPr>
          <a:xfrm>
            <a:off x="457200" y="4741554"/>
            <a:ext cx="11247120" cy="81397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They provide very fast access when the application knows the required key. However, complex relationship-based queries may be difficult.</a:t>
            </a:r>
          </a:p>
        </p:txBody>
      </p:sp>
      <p:sp>
        <p:nvSpPr>
          <p:cNvPr id="10" name="Rectangle 9"/>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3"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GRAPH DATABASES</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1</a:t>
            </a:r>
          </a:p>
        </p:txBody>
      </p:sp>
      <p:sp>
        <p:nvSpPr>
          <p:cNvPr id="4" name="Oval 3"/>
          <p:cNvSpPr/>
          <p:nvPr/>
        </p:nvSpPr>
        <p:spPr>
          <a:xfrm>
            <a:off x="457200" y="1484730"/>
            <a:ext cx="237744" cy="237744"/>
          </a:xfrm>
          <a:prstGeom prst="ellipse">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484730"/>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466442"/>
            <a:ext cx="351129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1868778"/>
            <a:ext cx="3840480" cy="283854"/>
          </a:xfrm>
          <a:prstGeom prst="rect">
            <a:avLst/>
          </a:prstGeom>
          <a:noFill/>
        </p:spPr>
        <p:txBody>
          <a:bodyPr wrap="square" anchor="t" lIns="0" rIns="0" tIns="0" bIns="0">
            <a:spAutoFit/>
          </a:bodyPr>
          <a:lstStyle/>
          <a:p>
            <a:pPr>
              <a:spcBef>
                <a:spcPts val="0"/>
              </a:spcBef>
              <a:spcAft>
                <a:spcPts val="423"/>
              </a:spcAft>
            </a:pPr>
            <a:r>
              <a:rPr sz="1100" b="0" i="0">
                <a:solidFill>
                  <a:srgbClr val="000000"/>
                </a:solidFill>
                <a:latin typeface="Nirmala UI"/>
              </a:rPr>
              <a:t>Graph databases represent data using:</a:t>
            </a:r>
          </a:p>
        </p:txBody>
      </p:sp>
      <p:sp>
        <p:nvSpPr>
          <p:cNvPr id="8" name="TextBox 7"/>
          <p:cNvSpPr txBox="1"/>
          <p:nvPr/>
        </p:nvSpPr>
        <p:spPr>
          <a:xfrm>
            <a:off x="457200" y="2244072"/>
            <a:ext cx="3840480" cy="944526"/>
          </a:xfrm>
          <a:prstGeom prst="rect">
            <a:avLst/>
          </a:prstGeom>
          <a:noFill/>
        </p:spPr>
        <p:txBody>
          <a:bodyPr wrap="square" anchor="t" lIns="0" rIns="0" tIns="0" bIns="0">
            <a:spAutoFit/>
          </a:bodyPr>
          <a:lstStyle/>
          <a:p>
            <a:pPr>
              <a:spcBef>
                <a:spcPts val="0"/>
              </a:spcBef>
              <a:spcAft>
                <a:spcPts val="423"/>
              </a:spcAft>
            </a:pPr>
            <a:r>
              <a:rPr sz="1100" b="0" i="0">
                <a:solidFill>
                  <a:srgbClr val="000000"/>
                </a:solidFill>
                <a:latin typeface="Nirmala UI"/>
              </a:rPr>
              <a:t>•  </a:t>
            </a:r>
            <a:r>
              <a:rPr sz="1100" b="1" i="0">
                <a:solidFill>
                  <a:srgbClr val="000000"/>
                </a:solidFill>
                <a:latin typeface="Nirmala UI"/>
              </a:rPr>
              <a:t>Nodes: </a:t>
            </a:r>
            <a:r>
              <a:rPr sz="1100" b="0" i="0">
                <a:solidFill>
                  <a:srgbClr val="000000"/>
                </a:solidFill>
                <a:latin typeface="Nirmala UI"/>
              </a:rPr>
              <a:t>entities such as customers or products</a:t>
            </a:r>
          </a:p>
          <a:p>
            <a:pPr>
              <a:spcBef>
                <a:spcPts val="0"/>
              </a:spcBef>
              <a:spcAft>
                <a:spcPts val="423"/>
              </a:spcAft>
            </a:pPr>
            <a:r>
              <a:rPr sz="1100" b="0" i="0">
                <a:solidFill>
                  <a:srgbClr val="000000"/>
                </a:solidFill>
                <a:latin typeface="Nirmala UI"/>
              </a:rPr>
              <a:t>•  </a:t>
            </a:r>
            <a:r>
              <a:rPr sz="1100" b="1" i="0">
                <a:solidFill>
                  <a:srgbClr val="000000"/>
                </a:solidFill>
                <a:latin typeface="Nirmala UI"/>
              </a:rPr>
              <a:t>Edges: </a:t>
            </a:r>
            <a:r>
              <a:rPr sz="1100" b="0" i="0">
                <a:solidFill>
                  <a:srgbClr val="000000"/>
                </a:solidFill>
                <a:latin typeface="Nirmala UI"/>
              </a:rPr>
              <a:t>relationships between entities</a:t>
            </a:r>
          </a:p>
          <a:p>
            <a:pPr>
              <a:spcBef>
                <a:spcPts val="0"/>
              </a:spcBef>
              <a:spcAft>
                <a:spcPts val="423"/>
              </a:spcAft>
            </a:pPr>
            <a:r>
              <a:rPr sz="1100" b="0" i="0">
                <a:solidFill>
                  <a:srgbClr val="000000"/>
                </a:solidFill>
                <a:latin typeface="Nirmala UI"/>
              </a:rPr>
              <a:t>•  </a:t>
            </a:r>
            <a:r>
              <a:rPr sz="1100" b="1" i="0">
                <a:solidFill>
                  <a:srgbClr val="000000"/>
                </a:solidFill>
                <a:latin typeface="Nirmala UI"/>
              </a:rPr>
              <a:t>Properties: </a:t>
            </a:r>
            <a:r>
              <a:rPr sz="1100" b="0" i="0">
                <a:solidFill>
                  <a:srgbClr val="000000"/>
                </a:solidFill>
                <a:latin typeface="Nirmala UI"/>
              </a:rPr>
              <a:t>information about nodes and relationships</a:t>
            </a:r>
          </a:p>
        </p:txBody>
      </p:sp>
      <p:sp>
        <p:nvSpPr>
          <p:cNvPr id="9" name="TextBox 8"/>
          <p:cNvSpPr txBox="1"/>
          <p:nvPr/>
        </p:nvSpPr>
        <p:spPr>
          <a:xfrm>
            <a:off x="457200" y="3280038"/>
            <a:ext cx="3840480" cy="283854"/>
          </a:xfrm>
          <a:prstGeom prst="rect">
            <a:avLst/>
          </a:prstGeom>
          <a:noFill/>
        </p:spPr>
        <p:txBody>
          <a:bodyPr wrap="square" anchor="t" lIns="0" rIns="0" tIns="0" bIns="0">
            <a:spAutoFit/>
          </a:bodyPr>
          <a:lstStyle/>
          <a:p>
            <a:pPr>
              <a:spcBef>
                <a:spcPts val="0"/>
              </a:spcBef>
              <a:spcAft>
                <a:spcPts val="423"/>
              </a:spcAft>
            </a:pPr>
            <a:r>
              <a:rPr sz="1100" b="0" i="0">
                <a:solidFill>
                  <a:srgbClr val="000000"/>
                </a:solidFill>
                <a:latin typeface="Nirmala UI"/>
              </a:rPr>
              <a:t>Example:</a:t>
            </a:r>
          </a:p>
        </p:txBody>
      </p:sp>
      <p:sp>
        <p:nvSpPr>
          <p:cNvPr id="10" name="TextBox 9"/>
          <p:cNvSpPr txBox="1"/>
          <p:nvPr/>
        </p:nvSpPr>
        <p:spPr>
          <a:xfrm>
            <a:off x="457200" y="3655332"/>
            <a:ext cx="3840480" cy="468258"/>
          </a:xfrm>
          <a:prstGeom prst="rect">
            <a:avLst/>
          </a:prstGeom>
          <a:noFill/>
        </p:spPr>
        <p:txBody>
          <a:bodyPr wrap="square" anchor="t" lIns="0" rIns="0" tIns="0" bIns="0">
            <a:spAutoFit/>
          </a:bodyPr>
          <a:lstStyle/>
          <a:p>
            <a:pPr>
              <a:spcBef>
                <a:spcPts val="0"/>
              </a:spcBef>
              <a:spcAft>
                <a:spcPts val="423"/>
              </a:spcAft>
            </a:pPr>
            <a:r>
              <a:rPr sz="1100" b="0" i="0">
                <a:solidFill>
                  <a:srgbClr val="000000"/>
                </a:solidFill>
                <a:latin typeface="Nirmala UI"/>
              </a:rPr>
              <a:t>Common products include Neo4j and Amazon Neptune.</a:t>
            </a:r>
          </a:p>
        </p:txBody>
      </p:sp>
      <p:sp>
        <p:nvSpPr>
          <p:cNvPr id="11" name="Rounded Rectangle 10"/>
          <p:cNvSpPr/>
          <p:nvPr/>
        </p:nvSpPr>
        <p:spPr>
          <a:xfrm>
            <a:off x="457200" y="4215030"/>
            <a:ext cx="3840480" cy="1341120"/>
          </a:xfrm>
          <a:prstGeom prst="roundRect">
            <a:avLst>
              <a:gd name="adj" fmla="val 4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85216" y="4306470"/>
            <a:ext cx="3584448" cy="1176528"/>
          </a:xfrm>
          <a:prstGeom prst="rect">
            <a:avLst/>
          </a:prstGeom>
          <a:noFill/>
        </p:spPr>
        <p:txBody>
          <a:bodyPr wrap="square" anchor="t" lIns="0" rIns="0" tIns="0" bIns="0">
            <a:spAutoFit/>
          </a:bodyPr>
          <a:lstStyle/>
          <a:p>
            <a:pPr>
              <a:spcBef>
                <a:spcPts val="0"/>
              </a:spcBef>
              <a:spcAft>
                <a:spcPts val="0"/>
              </a:spcAft>
            </a:pPr>
            <a:r>
              <a:rPr sz="1700" b="0" i="0">
                <a:solidFill>
                  <a:srgbClr val="000000"/>
                </a:solidFill>
                <a:latin typeface="Consolas"/>
              </a:rPr>
              <a:t>(Customer: Asha) ──PURCHASED──&gt; (Product: Laptop)</a:t>
            </a:r>
          </a:p>
          <a:p>
            <a:pPr>
              <a:spcBef>
                <a:spcPts val="0"/>
              </a:spcBef>
              <a:spcAft>
                <a:spcPts val="0"/>
              </a:spcAft>
            </a:pPr>
            <a:r>
              <a:rPr sz="1700" b="0" i="0">
                <a:solidFill>
                  <a:srgbClr val="000000"/>
                </a:solidFill>
                <a:latin typeface="Consolas"/>
              </a:rPr>
              <a:t>(Customer: Asha) ──KNOWS──────&gt; (Customer: Ravi)</a:t>
            </a:r>
          </a:p>
        </p:txBody>
      </p:sp>
      <p:sp>
        <p:nvSpPr>
          <p:cNvPr id="13" name="Rectangle 12"/>
          <p:cNvSpPr/>
          <p:nvPr/>
        </p:nvSpPr>
        <p:spPr>
          <a:xfrm>
            <a:off x="4471035" y="1811739"/>
            <a:ext cx="7242810" cy="3490554"/>
          </a:xfrm>
          <a:prstGeom prst="rect">
            <a:avLst/>
          </a:prstGeom>
          <a:solidFill>
            <a:srgbClr val="FFFFFF"/>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2"/>
          <a:stretch>
            <a:fillRect/>
          </a:stretch>
        </p:blipFill>
        <p:spPr>
          <a:xfrm>
            <a:off x="4480560" y="1821264"/>
            <a:ext cx="7223760" cy="3471504"/>
          </a:xfrm>
          <a:prstGeom prst="rect">
            <a:avLst/>
          </a:prstGeom>
        </p:spPr>
      </p:pic>
      <p:sp>
        <p:nvSpPr>
          <p:cNvPr id="15" name="Rectangle 14"/>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8"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GRAPH DATABASES — USE CASES</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1</a:t>
            </a:r>
          </a:p>
        </p:txBody>
      </p:sp>
      <p:sp>
        <p:nvSpPr>
          <p:cNvPr id="4" name="Oval 3"/>
          <p:cNvSpPr/>
          <p:nvPr/>
        </p:nvSpPr>
        <p:spPr>
          <a:xfrm>
            <a:off x="457200" y="1485354"/>
            <a:ext cx="237744" cy="237744"/>
          </a:xfrm>
          <a:prstGeom prst="ellipse">
            <a:avLst/>
          </a:prstGeom>
          <a:solidFill>
            <a:srgbClr val="5B3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485354"/>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467066"/>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1869402"/>
            <a:ext cx="11247120" cy="47869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Graph databases are suitable for:</a:t>
            </a:r>
          </a:p>
        </p:txBody>
      </p:sp>
      <p:sp>
        <p:nvSpPr>
          <p:cNvPr id="8" name="TextBox 7"/>
          <p:cNvSpPr txBox="1"/>
          <p:nvPr/>
        </p:nvSpPr>
        <p:spPr>
          <a:xfrm>
            <a:off x="457200" y="2439534"/>
            <a:ext cx="11247120" cy="2210580"/>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  </a:t>
            </a:r>
            <a:r>
              <a:rPr sz="2000" b="0" i="0">
                <a:solidFill>
                  <a:srgbClr val="000000"/>
                </a:solidFill>
                <a:latin typeface="Nirmala UI"/>
              </a:rPr>
              <a:t>Social networks</a:t>
            </a:r>
          </a:p>
          <a:p>
            <a:pPr>
              <a:spcBef>
                <a:spcPts val="0"/>
              </a:spcBef>
              <a:spcAft>
                <a:spcPts val="769"/>
              </a:spcAft>
            </a:pPr>
            <a:r>
              <a:rPr sz="2000" b="0" i="0">
                <a:solidFill>
                  <a:srgbClr val="000000"/>
                </a:solidFill>
                <a:latin typeface="Nirmala UI"/>
              </a:rPr>
              <a:t>•  </a:t>
            </a:r>
            <a:r>
              <a:rPr sz="2000" b="0" i="0">
                <a:solidFill>
                  <a:srgbClr val="000000"/>
                </a:solidFill>
                <a:latin typeface="Nirmala UI"/>
              </a:rPr>
              <a:t>Recommendation engines</a:t>
            </a:r>
          </a:p>
          <a:p>
            <a:pPr>
              <a:spcBef>
                <a:spcPts val="0"/>
              </a:spcBef>
              <a:spcAft>
                <a:spcPts val="769"/>
              </a:spcAft>
            </a:pPr>
            <a:r>
              <a:rPr sz="2000" b="0" i="0">
                <a:solidFill>
                  <a:srgbClr val="000000"/>
                </a:solidFill>
                <a:latin typeface="Nirmala UI"/>
              </a:rPr>
              <a:t>•  </a:t>
            </a:r>
            <a:r>
              <a:rPr sz="2000" b="0" i="0">
                <a:solidFill>
                  <a:srgbClr val="000000"/>
                </a:solidFill>
                <a:latin typeface="Nirmala UI"/>
              </a:rPr>
              <a:t>Fraud detection</a:t>
            </a:r>
          </a:p>
          <a:p>
            <a:pPr>
              <a:spcBef>
                <a:spcPts val="0"/>
              </a:spcBef>
              <a:spcAft>
                <a:spcPts val="769"/>
              </a:spcAft>
            </a:pPr>
            <a:r>
              <a:rPr sz="2000" b="0" i="0">
                <a:solidFill>
                  <a:srgbClr val="000000"/>
                </a:solidFill>
                <a:latin typeface="Nirmala UI"/>
              </a:rPr>
              <a:t>•  </a:t>
            </a:r>
            <a:r>
              <a:rPr sz="2000" b="0" i="0">
                <a:solidFill>
                  <a:srgbClr val="000000"/>
                </a:solidFill>
                <a:latin typeface="Nirmala UI"/>
              </a:rPr>
              <a:t>Network analysis</a:t>
            </a:r>
          </a:p>
          <a:p>
            <a:pPr>
              <a:spcBef>
                <a:spcPts val="0"/>
              </a:spcBef>
              <a:spcAft>
                <a:spcPts val="769"/>
              </a:spcAft>
            </a:pPr>
            <a:r>
              <a:rPr sz="2000" b="0" i="0">
                <a:solidFill>
                  <a:srgbClr val="000000"/>
                </a:solidFill>
                <a:latin typeface="Nirmala UI"/>
              </a:rPr>
              <a:t>•  </a:t>
            </a:r>
            <a:r>
              <a:rPr sz="2000" b="0" i="0">
                <a:solidFill>
                  <a:srgbClr val="000000"/>
                </a:solidFill>
                <a:latin typeface="Nirmala UI"/>
              </a:rPr>
              <a:t>Identity and access relationships</a:t>
            </a:r>
          </a:p>
        </p:txBody>
      </p:sp>
      <p:sp>
        <p:nvSpPr>
          <p:cNvPr id="9" name="TextBox 8"/>
          <p:cNvSpPr txBox="1"/>
          <p:nvPr/>
        </p:nvSpPr>
        <p:spPr>
          <a:xfrm>
            <a:off x="457200" y="4741554"/>
            <a:ext cx="11247120" cy="81397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They are particularly effective when relationships are as important as the entities themselves.</a:t>
            </a:r>
          </a:p>
        </p:txBody>
      </p:sp>
      <p:sp>
        <p:nvSpPr>
          <p:cNvPr id="10" name="Rectangle 9"/>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3"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COMPARING DOCUMENT, KEY-VALUE, AND GRAPH STORES</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1</a:t>
            </a:r>
          </a:p>
        </p:txBody>
      </p:sp>
      <p:graphicFrame>
        <p:nvGraphicFramePr>
          <p:cNvPr id="4" name="Table 3"/>
          <p:cNvGraphicFramePr>
            <a:graphicFrameLocks noGrp="1"/>
          </p:cNvGraphicFramePr>
          <p:nvPr/>
        </p:nvGraphicFramePr>
        <p:xfrm>
          <a:off x="457200" y="2345436"/>
          <a:ext cx="11247120" cy="2331720"/>
        </p:xfrm>
        <a:graphic>
          <a:graphicData uri="http://schemas.openxmlformats.org/drawingml/2006/table">
            <a:tbl>
              <a:tblPr firstRow="1" bandRow="1">
                <a:tableStyleId>{5C22544A-7EE6-4342-B048-85BDC9FD1C3A}</a:tableStyleId>
              </a:tblPr>
              <a:tblGrid>
                <a:gridCol w="1534702"/>
                <a:gridCol w="3235018"/>
                <a:gridCol w="3238699"/>
                <a:gridCol w="3238701"/>
              </a:tblGrid>
              <a:tr h="493776">
                <a:tc>
                  <a:txBody>
                    <a:bodyPr/>
                    <a:lstStyle/>
                    <a:p>
                      <a:pPr algn="l"/>
                      <a:r>
                        <a:rPr sz="1800" b="1">
                          <a:solidFill>
                            <a:srgbClr val="FFFFFF"/>
                          </a:solidFill>
                          <a:latin typeface="Nirmala UI"/>
                        </a:rPr>
                        <a:t>Type</a:t>
                      </a:r>
                    </a:p>
                  </a:txBody>
                  <a:tcPr>
                    <a:solidFill>
                      <a:srgbClr val="002060"/>
                    </a:solidFill>
                  </a:tcPr>
                </a:tc>
                <a:tc>
                  <a:txBody>
                    <a:bodyPr/>
                    <a:lstStyle/>
                    <a:p>
                      <a:pPr algn="l"/>
                      <a:r>
                        <a:rPr sz="1800" b="1">
                          <a:solidFill>
                            <a:srgbClr val="FFFFFF"/>
                          </a:solidFill>
                          <a:latin typeface="Nirmala UI"/>
                        </a:rPr>
                        <a:t>Data model</a:t>
                      </a:r>
                    </a:p>
                  </a:txBody>
                  <a:tcPr>
                    <a:solidFill>
                      <a:srgbClr val="002060"/>
                    </a:solidFill>
                  </a:tcPr>
                </a:tc>
                <a:tc>
                  <a:txBody>
                    <a:bodyPr/>
                    <a:lstStyle/>
                    <a:p>
                      <a:pPr algn="l"/>
                      <a:r>
                        <a:rPr sz="1800" b="1">
                          <a:solidFill>
                            <a:srgbClr val="FFFFFF"/>
                          </a:solidFill>
                          <a:latin typeface="Nirmala UI"/>
                        </a:rPr>
                        <a:t>Main strength</a:t>
                      </a:r>
                    </a:p>
                  </a:txBody>
                  <a:tcPr>
                    <a:solidFill>
                      <a:srgbClr val="002060"/>
                    </a:solidFill>
                  </a:tcPr>
                </a:tc>
                <a:tc>
                  <a:txBody>
                    <a:bodyPr/>
                    <a:lstStyle/>
                    <a:p>
                      <a:pPr algn="l"/>
                      <a:r>
                        <a:rPr sz="1800" b="1">
                          <a:solidFill>
                            <a:srgbClr val="FFFFFF"/>
                          </a:solidFill>
                          <a:latin typeface="Nirmala UI"/>
                        </a:rPr>
                        <a:t>Typical use</a:t>
                      </a:r>
                    </a:p>
                  </a:txBody>
                  <a:tcPr>
                    <a:solidFill>
                      <a:srgbClr val="002060"/>
                    </a:solidFill>
                  </a:tcPr>
                </a:tc>
              </a:tr>
              <a:tr h="850392">
                <a:tc>
                  <a:txBody>
                    <a:bodyPr/>
                    <a:lstStyle/>
                    <a:p>
                      <a:r>
                        <a:rPr sz="1800" b="1">
                          <a:solidFill>
                            <a:srgbClr val="000000"/>
                          </a:solidFill>
                          <a:latin typeface="Nirmala UI"/>
                        </a:rPr>
                        <a:t>Document</a:t>
                      </a:r>
                    </a:p>
                  </a:txBody>
                  <a:tcPr>
                    <a:solidFill>
                      <a:srgbClr val="FFFFFF"/>
                    </a:solidFill>
                  </a:tcPr>
                </a:tc>
                <a:tc>
                  <a:txBody>
                    <a:bodyPr/>
                    <a:lstStyle/>
                    <a:p>
                      <a:r>
                        <a:rPr sz="1800" b="0">
                          <a:solidFill>
                            <a:srgbClr val="000000"/>
                          </a:solidFill>
                          <a:latin typeface="Nirmala UI"/>
                        </a:rPr>
                        <a:t>JSON-like documents</a:t>
                      </a:r>
                    </a:p>
                  </a:txBody>
                  <a:tcPr>
                    <a:solidFill>
                      <a:srgbClr val="FFFFFF"/>
                    </a:solidFill>
                  </a:tcPr>
                </a:tc>
                <a:tc>
                  <a:txBody>
                    <a:bodyPr/>
                    <a:lstStyle/>
                    <a:p>
                      <a:r>
                        <a:rPr sz="1800" b="0">
                          <a:solidFill>
                            <a:srgbClr val="000000"/>
                          </a:solidFill>
                          <a:latin typeface="Nirmala UI"/>
                        </a:rPr>
                        <a:t>Flexible, application-friendly records</a:t>
                      </a:r>
                    </a:p>
                  </a:txBody>
                  <a:tcPr>
                    <a:solidFill>
                      <a:srgbClr val="FFFFFF"/>
                    </a:solidFill>
                  </a:tcPr>
                </a:tc>
                <a:tc>
                  <a:txBody>
                    <a:bodyPr/>
                    <a:lstStyle/>
                    <a:p>
                      <a:r>
                        <a:rPr sz="1800" b="0">
                          <a:solidFill>
                            <a:srgbClr val="000000"/>
                          </a:solidFill>
                          <a:latin typeface="Nirmala UI"/>
                        </a:rPr>
                        <a:t>Catalogues and profiles</a:t>
                      </a:r>
                    </a:p>
                  </a:txBody>
                  <a:tcPr>
                    <a:solidFill>
                      <a:srgbClr val="FFFFFF"/>
                    </a:solidFill>
                  </a:tcPr>
                </a:tc>
              </a:tr>
              <a:tr h="493776">
                <a:tc>
                  <a:txBody>
                    <a:bodyPr/>
                    <a:lstStyle/>
                    <a:p>
                      <a:r>
                        <a:rPr sz="1800" b="1">
                          <a:solidFill>
                            <a:srgbClr val="000000"/>
                          </a:solidFill>
                          <a:latin typeface="Nirmala UI"/>
                        </a:rPr>
                        <a:t>Key-value</a:t>
                      </a:r>
                    </a:p>
                  </a:txBody>
                  <a:tcPr>
                    <a:solidFill>
                      <a:srgbClr val="F5F5F5"/>
                    </a:solidFill>
                  </a:tcPr>
                </a:tc>
                <a:tc>
                  <a:txBody>
                    <a:bodyPr/>
                    <a:lstStyle/>
                    <a:p>
                      <a:r>
                        <a:rPr sz="1800" b="0">
                          <a:solidFill>
                            <a:srgbClr val="000000"/>
                          </a:solidFill>
                          <a:latin typeface="Nirmala UI"/>
                        </a:rPr>
                        <a:t>Key mapped to a value</a:t>
                      </a:r>
                    </a:p>
                  </a:txBody>
                  <a:tcPr>
                    <a:solidFill>
                      <a:srgbClr val="F5F5F5"/>
                    </a:solidFill>
                  </a:tcPr>
                </a:tc>
                <a:tc>
                  <a:txBody>
                    <a:bodyPr/>
                    <a:lstStyle/>
                    <a:p>
                      <a:r>
                        <a:rPr sz="1800" b="0">
                          <a:solidFill>
                            <a:srgbClr val="000000"/>
                          </a:solidFill>
                          <a:latin typeface="Nirmala UI"/>
                        </a:rPr>
                        <a:t>Extremely fast lookup</a:t>
                      </a:r>
                    </a:p>
                  </a:txBody>
                  <a:tcPr>
                    <a:solidFill>
                      <a:srgbClr val="F5F5F5"/>
                    </a:solidFill>
                  </a:tcPr>
                </a:tc>
                <a:tc>
                  <a:txBody>
                    <a:bodyPr/>
                    <a:lstStyle/>
                    <a:p>
                      <a:r>
                        <a:rPr sz="1800" b="0">
                          <a:solidFill>
                            <a:srgbClr val="000000"/>
                          </a:solidFill>
                          <a:latin typeface="Nirmala UI"/>
                        </a:rPr>
                        <a:t>Caching and sessions</a:t>
                      </a:r>
                    </a:p>
                  </a:txBody>
                  <a:tcPr>
                    <a:solidFill>
                      <a:srgbClr val="F5F5F5"/>
                    </a:solidFill>
                  </a:tcPr>
                </a:tc>
              </a:tr>
              <a:tr h="493776">
                <a:tc>
                  <a:txBody>
                    <a:bodyPr/>
                    <a:lstStyle/>
                    <a:p>
                      <a:r>
                        <a:rPr sz="1800" b="1">
                          <a:solidFill>
                            <a:srgbClr val="000000"/>
                          </a:solidFill>
                          <a:latin typeface="Nirmala UI"/>
                        </a:rPr>
                        <a:t>Graph</a:t>
                      </a:r>
                    </a:p>
                  </a:txBody>
                  <a:tcPr>
                    <a:solidFill>
                      <a:srgbClr val="FFFFFF"/>
                    </a:solidFill>
                  </a:tcPr>
                </a:tc>
                <a:tc>
                  <a:txBody>
                    <a:bodyPr/>
                    <a:lstStyle/>
                    <a:p>
                      <a:r>
                        <a:rPr sz="1800" b="0">
                          <a:solidFill>
                            <a:srgbClr val="000000"/>
                          </a:solidFill>
                          <a:latin typeface="Nirmala UI"/>
                        </a:rPr>
                        <a:t>Nodes and relationships</a:t>
                      </a:r>
                    </a:p>
                  </a:txBody>
                  <a:tcPr>
                    <a:solidFill>
                      <a:srgbClr val="FFFFFF"/>
                    </a:solidFill>
                  </a:tcPr>
                </a:tc>
                <a:tc>
                  <a:txBody>
                    <a:bodyPr/>
                    <a:lstStyle/>
                    <a:p>
                      <a:r>
                        <a:rPr sz="1800" b="0">
                          <a:solidFill>
                            <a:srgbClr val="000000"/>
                          </a:solidFill>
                          <a:latin typeface="Nirmala UI"/>
                        </a:rPr>
                        <a:t>Relationship traversal</a:t>
                      </a:r>
                    </a:p>
                  </a:txBody>
                  <a:tcPr>
                    <a:solidFill>
                      <a:srgbClr val="FFFFFF"/>
                    </a:solidFill>
                  </a:tcPr>
                </a:tc>
                <a:tc>
                  <a:txBody>
                    <a:bodyPr/>
                    <a:lstStyle/>
                    <a:p>
                      <a:r>
                        <a:rPr sz="1800" b="0">
                          <a:solidFill>
                            <a:srgbClr val="000000"/>
                          </a:solidFill>
                          <a:latin typeface="Nirmala UI"/>
                        </a:rPr>
                        <a:t>Fraud and recommendations</a:t>
                      </a:r>
                    </a:p>
                  </a:txBody>
                  <a:tcPr>
                    <a:solidFill>
                      <a:srgbClr val="FFFFFF"/>
                    </a:solidFill>
                  </a:tcPr>
                </a:tc>
              </a:tr>
            </a:tbl>
          </a:graphicData>
        </a:graphic>
      </p:graphicFrame>
      <p:sp>
        <p:nvSpPr>
          <p:cNvPr id="5" name="Rectangle 4"/>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8"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INTRODUCING MONGODB</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1</a:t>
            </a:r>
          </a:p>
        </p:txBody>
      </p:sp>
      <p:sp>
        <p:nvSpPr>
          <p:cNvPr id="4" name="Oval 3"/>
          <p:cNvSpPr/>
          <p:nvPr/>
        </p:nvSpPr>
        <p:spPr>
          <a:xfrm>
            <a:off x="457200" y="1416754"/>
            <a:ext cx="237744" cy="237744"/>
          </a:xfrm>
          <a:prstGeom prst="ellipse">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416754"/>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398466"/>
            <a:ext cx="351129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1800802"/>
            <a:ext cx="3840480" cy="1522280"/>
          </a:xfrm>
          <a:prstGeom prst="rect">
            <a:avLst/>
          </a:prstGeom>
          <a:noFill/>
        </p:spPr>
        <p:txBody>
          <a:bodyPr wrap="square" anchor="t" lIns="0" rIns="0" tIns="0" bIns="0">
            <a:spAutoFit/>
          </a:bodyPr>
          <a:lstStyle/>
          <a:p>
            <a:pPr>
              <a:spcBef>
                <a:spcPts val="0"/>
              </a:spcBef>
              <a:spcAft>
                <a:spcPts val="538"/>
              </a:spcAft>
            </a:pPr>
            <a:r>
              <a:rPr sz="1400" b="0" i="0">
                <a:solidFill>
                  <a:srgbClr val="000000"/>
                </a:solidFill>
                <a:latin typeface="Nirmala UI"/>
              </a:rPr>
              <a:t>MongoDB is a document-oriented NoSQL database. It stores data as BSON documents. BSON is a binary representation of JSON-like data that supports additional types such as dates, decimals and ObjectIds.</a:t>
            </a:r>
          </a:p>
        </p:txBody>
      </p:sp>
      <p:sp>
        <p:nvSpPr>
          <p:cNvPr id="8" name="TextBox 7"/>
          <p:cNvSpPr txBox="1"/>
          <p:nvPr/>
        </p:nvSpPr>
        <p:spPr>
          <a:xfrm>
            <a:off x="457200" y="3414522"/>
            <a:ext cx="3840480" cy="348800"/>
          </a:xfrm>
          <a:prstGeom prst="rect">
            <a:avLst/>
          </a:prstGeom>
          <a:noFill/>
        </p:spPr>
        <p:txBody>
          <a:bodyPr wrap="square" anchor="t" lIns="0" rIns="0" tIns="0" bIns="0">
            <a:spAutoFit/>
          </a:bodyPr>
          <a:lstStyle/>
          <a:p>
            <a:pPr>
              <a:spcBef>
                <a:spcPts val="0"/>
              </a:spcBef>
              <a:spcAft>
                <a:spcPts val="538"/>
              </a:spcAft>
            </a:pPr>
            <a:r>
              <a:rPr sz="1400" b="0" i="0">
                <a:solidFill>
                  <a:srgbClr val="000000"/>
                </a:solidFill>
                <a:latin typeface="Nirmala UI"/>
              </a:rPr>
              <a:t>Using an e-commerce example:</a:t>
            </a:r>
          </a:p>
        </p:txBody>
      </p:sp>
      <p:sp>
        <p:nvSpPr>
          <p:cNvPr id="9" name="Rounded Rectangle 8"/>
          <p:cNvSpPr/>
          <p:nvPr/>
        </p:nvSpPr>
        <p:spPr>
          <a:xfrm>
            <a:off x="457200" y="3854762"/>
            <a:ext cx="1847088" cy="787908"/>
          </a:xfrm>
          <a:prstGeom prst="roundRect">
            <a:avLst>
              <a:gd name="adj" fmla="val 4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 y="3946202"/>
            <a:ext cx="1591056" cy="623316"/>
          </a:xfrm>
          <a:prstGeom prst="rect">
            <a:avLst/>
          </a:prstGeom>
          <a:noFill/>
        </p:spPr>
        <p:txBody>
          <a:bodyPr wrap="square" anchor="t" lIns="0" rIns="0" tIns="0" bIns="0">
            <a:spAutoFit/>
          </a:bodyPr>
          <a:lstStyle/>
          <a:p>
            <a:pPr>
              <a:spcBef>
                <a:spcPts val="0"/>
              </a:spcBef>
              <a:spcAft>
                <a:spcPts val="0"/>
              </a:spcAft>
            </a:pPr>
            <a:r>
              <a:rPr sz="700" b="0" i="0">
                <a:solidFill>
                  <a:srgbClr val="000000"/>
                </a:solidFill>
                <a:latin typeface="Consolas"/>
              </a:rPr>
              <a:t>MongoDB deployment</a:t>
            </a:r>
          </a:p>
          <a:p>
            <a:pPr>
              <a:spcBef>
                <a:spcPts val="0"/>
              </a:spcBef>
              <a:spcAft>
                <a:spcPts val="0"/>
              </a:spcAft>
            </a:pPr>
            <a:r>
              <a:rPr sz="700" b="0" i="0">
                <a:solidFill>
                  <a:srgbClr val="000000"/>
                </a:solidFill>
                <a:latin typeface="Consolas"/>
              </a:rPr>
              <a:t>    └── Database</a:t>
            </a:r>
          </a:p>
          <a:p>
            <a:pPr>
              <a:spcBef>
                <a:spcPts val="0"/>
              </a:spcBef>
              <a:spcAft>
                <a:spcPts val="0"/>
              </a:spcAft>
            </a:pPr>
            <a:r>
              <a:rPr sz="700" b="0" i="0">
                <a:solidFill>
                  <a:srgbClr val="000000"/>
                </a:solidFill>
                <a:latin typeface="Consolas"/>
              </a:rPr>
              <a:t>          └── Collection</a:t>
            </a:r>
          </a:p>
          <a:p>
            <a:pPr>
              <a:spcBef>
                <a:spcPts val="0"/>
              </a:spcBef>
              <a:spcAft>
                <a:spcPts val="0"/>
              </a:spcAft>
            </a:pPr>
            <a:r>
              <a:rPr sz="700" b="0" i="0">
                <a:solidFill>
                  <a:srgbClr val="000000"/>
                </a:solidFill>
                <a:latin typeface="Consolas"/>
              </a:rPr>
              <a:t>                └── Document</a:t>
            </a:r>
          </a:p>
          <a:p>
            <a:pPr>
              <a:spcBef>
                <a:spcPts val="0"/>
              </a:spcBef>
              <a:spcAft>
                <a:spcPts val="0"/>
              </a:spcAft>
            </a:pPr>
            <a:r>
              <a:rPr sz="700" b="0" i="0">
                <a:solidFill>
                  <a:srgbClr val="000000"/>
                </a:solidFill>
                <a:latin typeface="Consolas"/>
              </a:rPr>
              <a:t>                      └── Field</a:t>
            </a:r>
          </a:p>
        </p:txBody>
      </p:sp>
      <p:sp>
        <p:nvSpPr>
          <p:cNvPr id="11" name="Rounded Rectangle 10"/>
          <p:cNvSpPr/>
          <p:nvPr/>
        </p:nvSpPr>
        <p:spPr>
          <a:xfrm>
            <a:off x="2450592" y="3854762"/>
            <a:ext cx="1847088" cy="787908"/>
          </a:xfrm>
          <a:prstGeom prst="roundRect">
            <a:avLst>
              <a:gd name="adj" fmla="val 4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78608" y="3946202"/>
            <a:ext cx="1591056" cy="623316"/>
          </a:xfrm>
          <a:prstGeom prst="rect">
            <a:avLst/>
          </a:prstGeom>
          <a:noFill/>
        </p:spPr>
        <p:txBody>
          <a:bodyPr wrap="square" anchor="t" lIns="0" rIns="0" tIns="0" bIns="0">
            <a:spAutoFit/>
          </a:bodyPr>
          <a:lstStyle/>
          <a:p>
            <a:pPr>
              <a:spcBef>
                <a:spcPts val="0"/>
              </a:spcBef>
              <a:spcAft>
                <a:spcPts val="0"/>
              </a:spcAft>
            </a:pPr>
            <a:r>
              <a:rPr sz="700" b="0" i="0">
                <a:solidFill>
                  <a:srgbClr val="000000"/>
                </a:solidFill>
                <a:latin typeface="Consolas"/>
              </a:rPr>
              <a:t>Database:    training_store</a:t>
            </a:r>
          </a:p>
          <a:p>
            <a:pPr>
              <a:spcBef>
                <a:spcPts val="0"/>
              </a:spcBef>
              <a:spcAft>
                <a:spcPts val="0"/>
              </a:spcAft>
            </a:pPr>
            <a:r>
              <a:rPr sz="700" b="0" i="0">
                <a:solidFill>
                  <a:srgbClr val="000000"/>
                </a:solidFill>
                <a:latin typeface="Consolas"/>
              </a:rPr>
              <a:t>Collection:  products</a:t>
            </a:r>
          </a:p>
          <a:p>
            <a:pPr>
              <a:spcBef>
                <a:spcPts val="0"/>
              </a:spcBef>
              <a:spcAft>
                <a:spcPts val="0"/>
              </a:spcAft>
            </a:pPr>
            <a:r>
              <a:rPr sz="700" b="0" i="0">
                <a:solidFill>
                  <a:srgbClr val="000000"/>
                </a:solidFill>
                <a:latin typeface="Consolas"/>
              </a:rPr>
              <a:t>Document:    One product</a:t>
            </a:r>
          </a:p>
          <a:p>
            <a:pPr>
              <a:spcBef>
                <a:spcPts val="0"/>
              </a:spcBef>
              <a:spcAft>
                <a:spcPts val="0"/>
              </a:spcAft>
            </a:pPr>
            <a:r>
              <a:rPr sz="700" b="0" i="0">
                <a:solidFill>
                  <a:srgbClr val="000000"/>
                </a:solidFill>
                <a:latin typeface="Consolas"/>
              </a:rPr>
              <a:t>Fields:      name, category, price, stock</a:t>
            </a:r>
          </a:p>
        </p:txBody>
      </p:sp>
      <p:sp>
        <p:nvSpPr>
          <p:cNvPr id="13" name="Rectangle 12"/>
          <p:cNvSpPr/>
          <p:nvPr/>
        </p:nvSpPr>
        <p:spPr>
          <a:xfrm>
            <a:off x="6089753" y="1160907"/>
            <a:ext cx="4005374" cy="4792218"/>
          </a:xfrm>
          <a:prstGeom prst="rect">
            <a:avLst/>
          </a:prstGeom>
          <a:solidFill>
            <a:srgbClr val="FFFFFF"/>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mage.png"/>
          <p:cNvPicPr>
            <a:picLocks noChangeAspect="1"/>
          </p:cNvPicPr>
          <p:nvPr/>
        </p:nvPicPr>
        <p:blipFill>
          <a:blip r:embed="rId2"/>
          <a:stretch>
            <a:fillRect/>
          </a:stretch>
        </p:blipFill>
        <p:spPr>
          <a:xfrm>
            <a:off x="6099278" y="1170432"/>
            <a:ext cx="3986324" cy="4773168"/>
          </a:xfrm>
          <a:prstGeom prst="rect">
            <a:avLst/>
          </a:prstGeom>
        </p:spPr>
      </p:pic>
      <p:sp>
        <p:nvSpPr>
          <p:cNvPr id="15" name="Rectangle 14"/>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8"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ANATOMY OF A MONGODB DOCUMENT</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1</a:t>
            </a:r>
          </a:p>
        </p:txBody>
      </p:sp>
      <p:sp>
        <p:nvSpPr>
          <p:cNvPr id="4" name="Oval 3"/>
          <p:cNvSpPr/>
          <p:nvPr/>
        </p:nvSpPr>
        <p:spPr>
          <a:xfrm>
            <a:off x="457200" y="1308276"/>
            <a:ext cx="237744" cy="237744"/>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08276"/>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289988"/>
            <a:ext cx="351129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1692324"/>
            <a:ext cx="3840480" cy="47869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Example document:</a:t>
            </a:r>
          </a:p>
        </p:txBody>
      </p:sp>
      <p:sp>
        <p:nvSpPr>
          <p:cNvPr id="8" name="Rounded Rectangle 7"/>
          <p:cNvSpPr/>
          <p:nvPr/>
        </p:nvSpPr>
        <p:spPr>
          <a:xfrm>
            <a:off x="457200" y="2262456"/>
            <a:ext cx="3840480" cy="3470148"/>
          </a:xfrm>
          <a:prstGeom prst="roundRect">
            <a:avLst>
              <a:gd name="adj" fmla="val 4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85216" y="2353896"/>
            <a:ext cx="3584448" cy="3305556"/>
          </a:xfrm>
          <a:prstGeom prst="rect">
            <a:avLst/>
          </a:prstGeom>
          <a:noFill/>
        </p:spPr>
        <p:txBody>
          <a:bodyPr wrap="square" anchor="t" lIns="0" rIns="0" tIns="0" bIns="0">
            <a:spAutoFit/>
          </a:bodyPr>
          <a:lstStyle/>
          <a:p>
            <a:pPr>
              <a:spcBef>
                <a:spcPts val="0"/>
              </a:spcBef>
              <a:spcAft>
                <a:spcPts val="0"/>
              </a:spcAft>
            </a:pPr>
            <a:r>
              <a:rPr sz="1500" b="0" i="0">
                <a:solidFill>
                  <a:srgbClr val="000000"/>
                </a:solidFill>
                <a:latin typeface="Consolas"/>
              </a:rPr>
              <a:t>{</a:t>
            </a:r>
          </a:p>
          <a:p>
            <a:pPr>
              <a:spcBef>
                <a:spcPts val="0"/>
              </a:spcBef>
              <a:spcAft>
                <a:spcPts val="0"/>
              </a:spcAft>
            </a:pPr>
            <a:r>
              <a:rPr sz="1500" b="0" i="0">
                <a:solidFill>
                  <a:srgbClr val="000000"/>
                </a:solidFill>
                <a:latin typeface="Consolas"/>
              </a:rPr>
              <a:t>  _id: ObjectId("..."),</a:t>
            </a:r>
          </a:p>
          <a:p>
            <a:pPr>
              <a:spcBef>
                <a:spcPts val="0"/>
              </a:spcBef>
              <a:spcAft>
                <a:spcPts val="0"/>
              </a:spcAft>
            </a:pPr>
            <a:r>
              <a:rPr sz="1500" b="0" i="0">
                <a:solidFill>
                  <a:srgbClr val="000000"/>
                </a:solidFill>
                <a:latin typeface="Consolas"/>
              </a:rPr>
              <a:t>  name: "Wireless Mouse",</a:t>
            </a:r>
          </a:p>
          <a:p>
            <a:pPr>
              <a:spcBef>
                <a:spcPts val="0"/>
              </a:spcBef>
              <a:spcAft>
                <a:spcPts val="0"/>
              </a:spcAft>
            </a:pPr>
            <a:r>
              <a:rPr sz="1500" b="0" i="0">
                <a:solidFill>
                  <a:srgbClr val="000000"/>
                </a:solidFill>
                <a:latin typeface="Consolas"/>
              </a:rPr>
              <a:t>  category: "Electronics",</a:t>
            </a:r>
          </a:p>
          <a:p>
            <a:pPr>
              <a:spcBef>
                <a:spcPts val="0"/>
              </a:spcBef>
              <a:spcAft>
                <a:spcPts val="0"/>
              </a:spcAft>
            </a:pPr>
            <a:r>
              <a:rPr sz="1500" b="0" i="0">
                <a:solidFill>
                  <a:srgbClr val="000000"/>
                </a:solidFill>
                <a:latin typeface="Consolas"/>
              </a:rPr>
              <a:t>  price: 39.99,</a:t>
            </a:r>
          </a:p>
          <a:p>
            <a:pPr>
              <a:spcBef>
                <a:spcPts val="0"/>
              </a:spcBef>
              <a:spcAft>
                <a:spcPts val="0"/>
              </a:spcAft>
            </a:pPr>
            <a:r>
              <a:rPr sz="1500" b="0" i="0">
                <a:solidFill>
                  <a:srgbClr val="000000"/>
                </a:solidFill>
                <a:latin typeface="Consolas"/>
              </a:rPr>
              <a:t>  stock: 120,</a:t>
            </a:r>
          </a:p>
          <a:p>
            <a:pPr>
              <a:spcBef>
                <a:spcPts val="0"/>
              </a:spcBef>
              <a:spcAft>
                <a:spcPts val="0"/>
              </a:spcAft>
            </a:pPr>
            <a:r>
              <a:rPr sz="1500" b="0" i="0">
                <a:solidFill>
                  <a:srgbClr val="000000"/>
                </a:solidFill>
                <a:latin typeface="Consolas"/>
              </a:rPr>
              <a:t>  specifications: {</a:t>
            </a:r>
          </a:p>
          <a:p>
            <a:pPr>
              <a:spcBef>
                <a:spcPts val="0"/>
              </a:spcBef>
              <a:spcAft>
                <a:spcPts val="0"/>
              </a:spcAft>
            </a:pPr>
            <a:r>
              <a:rPr sz="1500" b="0" i="0">
                <a:solidFill>
                  <a:srgbClr val="000000"/>
                </a:solidFill>
                <a:latin typeface="Consolas"/>
              </a:rPr>
              <a:t>    connection: "Bluetooth",</a:t>
            </a:r>
          </a:p>
          <a:p>
            <a:pPr>
              <a:spcBef>
                <a:spcPts val="0"/>
              </a:spcBef>
              <a:spcAft>
                <a:spcPts val="0"/>
              </a:spcAft>
            </a:pPr>
            <a:r>
              <a:rPr sz="1500" b="0" i="0">
                <a:solidFill>
                  <a:srgbClr val="000000"/>
                </a:solidFill>
                <a:latin typeface="Consolas"/>
              </a:rPr>
              <a:t>    colour: "Black"</a:t>
            </a:r>
          </a:p>
          <a:p>
            <a:pPr>
              <a:spcBef>
                <a:spcPts val="0"/>
              </a:spcBef>
              <a:spcAft>
                <a:spcPts val="0"/>
              </a:spcAft>
            </a:pPr>
            <a:r>
              <a:rPr sz="1500" b="0" i="0">
                <a:solidFill>
                  <a:srgbClr val="000000"/>
                </a:solidFill>
                <a:latin typeface="Consolas"/>
              </a:rPr>
              <a:t>  },</a:t>
            </a:r>
          </a:p>
          <a:p>
            <a:pPr>
              <a:spcBef>
                <a:spcPts val="0"/>
              </a:spcBef>
              <a:spcAft>
                <a:spcPts val="0"/>
              </a:spcAft>
            </a:pPr>
            <a:r>
              <a:rPr sz="1500" b="0" i="0">
                <a:solidFill>
                  <a:srgbClr val="000000"/>
                </a:solidFill>
                <a:latin typeface="Consolas"/>
              </a:rPr>
              <a:t>  tags: ["wireless", "accessory"]</a:t>
            </a:r>
          </a:p>
          <a:p>
            <a:pPr>
              <a:spcBef>
                <a:spcPts val="0"/>
              </a:spcBef>
              <a:spcAft>
                <a:spcPts val="0"/>
              </a:spcAft>
            </a:pPr>
            <a:r>
              <a:rPr sz="1500" b="0" i="0">
                <a:solidFill>
                  <a:srgbClr val="000000"/>
                </a:solidFill>
                <a:latin typeface="Consolas"/>
              </a:rPr>
              <a:t>}</a:t>
            </a:r>
          </a:p>
        </p:txBody>
      </p:sp>
      <p:sp>
        <p:nvSpPr>
          <p:cNvPr id="10" name="Rectangle 9"/>
          <p:cNvSpPr/>
          <p:nvPr/>
        </p:nvSpPr>
        <p:spPr>
          <a:xfrm>
            <a:off x="4471035" y="1781683"/>
            <a:ext cx="7242810" cy="3550666"/>
          </a:xfrm>
          <a:prstGeom prst="rect">
            <a:avLst/>
          </a:prstGeom>
          <a:solidFill>
            <a:srgbClr val="FFFFFF"/>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png"/>
          <p:cNvPicPr>
            <a:picLocks noChangeAspect="1"/>
          </p:cNvPicPr>
          <p:nvPr/>
        </p:nvPicPr>
        <p:blipFill>
          <a:blip r:embed="rId2"/>
          <a:stretch>
            <a:fillRect/>
          </a:stretch>
        </p:blipFill>
        <p:spPr>
          <a:xfrm>
            <a:off x="4480560" y="1791208"/>
            <a:ext cx="7223760" cy="3531616"/>
          </a:xfrm>
          <a:prstGeom prst="rect">
            <a:avLst/>
          </a:prstGeom>
        </p:spPr>
      </p:pic>
      <p:sp>
        <p:nvSpPr>
          <p:cNvPr id="12" name="Rectangle 11"/>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5"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MONGODB ARCHITECTURE OVERVIEW</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1</a:t>
            </a:r>
          </a:p>
        </p:txBody>
      </p:sp>
      <p:sp>
        <p:nvSpPr>
          <p:cNvPr id="4" name="Oval 3"/>
          <p:cNvSpPr/>
          <p:nvPr/>
        </p:nvSpPr>
        <p:spPr>
          <a:xfrm>
            <a:off x="457200" y="1329985"/>
            <a:ext cx="237744" cy="237744"/>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29985"/>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311697"/>
            <a:ext cx="351129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1714033"/>
            <a:ext cx="3840480" cy="305503"/>
          </a:xfrm>
          <a:prstGeom prst="rect">
            <a:avLst/>
          </a:prstGeom>
          <a:noFill/>
        </p:spPr>
        <p:txBody>
          <a:bodyPr wrap="square" anchor="t" lIns="0" rIns="0" tIns="0" bIns="0">
            <a:spAutoFit/>
          </a:bodyPr>
          <a:lstStyle/>
          <a:p>
            <a:pPr>
              <a:spcBef>
                <a:spcPts val="0"/>
              </a:spcBef>
              <a:spcAft>
                <a:spcPts val="461"/>
              </a:spcAft>
            </a:pPr>
            <a:r>
              <a:rPr sz="1200" b="1" i="0">
                <a:solidFill>
                  <a:srgbClr val="000000"/>
                </a:solidFill>
                <a:latin typeface="Nirmala UI"/>
              </a:rPr>
              <a:t>MongoDB client</a:t>
            </a:r>
          </a:p>
        </p:txBody>
      </p:sp>
      <p:sp>
        <p:nvSpPr>
          <p:cNvPr id="8" name="TextBox 7"/>
          <p:cNvSpPr txBox="1"/>
          <p:nvPr/>
        </p:nvSpPr>
        <p:spPr>
          <a:xfrm>
            <a:off x="457200" y="2110976"/>
            <a:ext cx="3840480" cy="909007"/>
          </a:xfrm>
          <a:prstGeom prst="rect">
            <a:avLst/>
          </a:prstGeom>
          <a:noFill/>
        </p:spPr>
        <p:txBody>
          <a:bodyPr wrap="square" anchor="t" lIns="0" rIns="0" tIns="0" bIns="0">
            <a:spAutoFit/>
          </a:bodyPr>
          <a:lstStyle/>
          <a:p>
            <a:pPr>
              <a:spcBef>
                <a:spcPts val="0"/>
              </a:spcBef>
              <a:spcAft>
                <a:spcPts val="461"/>
              </a:spcAft>
            </a:pPr>
            <a:r>
              <a:rPr sz="1200" b="0" i="0">
                <a:solidFill>
                  <a:srgbClr val="000000"/>
                </a:solidFill>
                <a:latin typeface="Nirmala UI"/>
              </a:rPr>
              <a:t>Applications communicate with MongoDB through language-specific drivers. Administrators and developers can also use tools such as </a:t>
            </a:r>
            <a:r>
              <a:rPr sz="1200" b="0" i="0">
                <a:solidFill>
                  <a:srgbClr val="000000"/>
                </a:solidFill>
                <a:latin typeface="Consolas"/>
              </a:rPr>
              <a:t>mongosh</a:t>
            </a:r>
            <a:r>
              <a:rPr sz="1200" b="0" i="0">
                <a:solidFill>
                  <a:srgbClr val="000000"/>
                </a:solidFill>
                <a:latin typeface="Nirmala UI"/>
              </a:rPr>
              <a:t> and MongoDB Compass.</a:t>
            </a:r>
          </a:p>
        </p:txBody>
      </p:sp>
      <p:sp>
        <p:nvSpPr>
          <p:cNvPr id="9" name="TextBox 8"/>
          <p:cNvSpPr txBox="1"/>
          <p:nvPr/>
        </p:nvSpPr>
        <p:spPr>
          <a:xfrm>
            <a:off x="457200" y="3111423"/>
            <a:ext cx="3840480" cy="305503"/>
          </a:xfrm>
          <a:prstGeom prst="rect">
            <a:avLst/>
          </a:prstGeom>
          <a:noFill/>
        </p:spPr>
        <p:txBody>
          <a:bodyPr wrap="square" anchor="t" lIns="0" rIns="0" tIns="0" bIns="0">
            <a:spAutoFit/>
          </a:bodyPr>
          <a:lstStyle/>
          <a:p>
            <a:pPr>
              <a:spcBef>
                <a:spcPts val="0"/>
              </a:spcBef>
              <a:spcAft>
                <a:spcPts val="461"/>
              </a:spcAft>
            </a:pPr>
            <a:r>
              <a:rPr sz="1200" b="1" i="0">
                <a:solidFill>
                  <a:srgbClr val="000000"/>
                </a:solidFill>
                <a:latin typeface="Nirmala UI"/>
              </a:rPr>
              <a:t>mongod process</a:t>
            </a:r>
          </a:p>
        </p:txBody>
      </p:sp>
      <p:sp>
        <p:nvSpPr>
          <p:cNvPr id="10" name="TextBox 9"/>
          <p:cNvSpPr txBox="1"/>
          <p:nvPr/>
        </p:nvSpPr>
        <p:spPr>
          <a:xfrm>
            <a:off x="457200" y="3508366"/>
            <a:ext cx="3840480" cy="506671"/>
          </a:xfrm>
          <a:prstGeom prst="rect">
            <a:avLst/>
          </a:prstGeom>
          <a:noFill/>
        </p:spPr>
        <p:txBody>
          <a:bodyPr wrap="square" anchor="t" lIns="0" rIns="0" tIns="0" bIns="0">
            <a:spAutoFit/>
          </a:bodyPr>
          <a:lstStyle/>
          <a:p>
            <a:pPr>
              <a:spcBef>
                <a:spcPts val="0"/>
              </a:spcBef>
              <a:spcAft>
                <a:spcPts val="461"/>
              </a:spcAft>
            </a:pPr>
            <a:r>
              <a:rPr sz="1200" b="0" i="0">
                <a:solidFill>
                  <a:srgbClr val="000000"/>
                </a:solidFill>
                <a:latin typeface="Consolas"/>
              </a:rPr>
              <a:t>mongod</a:t>
            </a:r>
            <a:r>
              <a:rPr sz="1200" b="0" i="0">
                <a:solidFill>
                  <a:srgbClr val="000000"/>
                </a:solidFill>
                <a:latin typeface="Nirmala UI"/>
              </a:rPr>
              <a:t> is the primary MongoDB server process. It manages:</a:t>
            </a:r>
          </a:p>
        </p:txBody>
      </p:sp>
      <p:sp>
        <p:nvSpPr>
          <p:cNvPr id="11" name="TextBox 10"/>
          <p:cNvSpPr txBox="1"/>
          <p:nvPr/>
        </p:nvSpPr>
        <p:spPr>
          <a:xfrm>
            <a:off x="457200" y="4106477"/>
            <a:ext cx="3840480" cy="1604418"/>
          </a:xfrm>
          <a:prstGeom prst="rect">
            <a:avLst/>
          </a:prstGeom>
          <a:noFill/>
        </p:spPr>
        <p:txBody>
          <a:bodyPr wrap="square" anchor="t" lIns="0" rIns="0" tIns="0" bIns="0">
            <a:spAutoFit/>
          </a:bodyPr>
          <a:lstStyle/>
          <a:p>
            <a:pPr>
              <a:spcBef>
                <a:spcPts val="0"/>
              </a:spcBef>
              <a:spcAft>
                <a:spcPts val="461"/>
              </a:spcAft>
            </a:pPr>
            <a:r>
              <a:rPr sz="1200" b="0" i="0">
                <a:solidFill>
                  <a:srgbClr val="000000"/>
                </a:solidFill>
                <a:latin typeface="Nirmala UI"/>
              </a:rPr>
              <a:t>•  </a:t>
            </a:r>
            <a:r>
              <a:rPr sz="1200" b="0" i="0">
                <a:solidFill>
                  <a:srgbClr val="000000"/>
                </a:solidFill>
                <a:latin typeface="Nirmala UI"/>
              </a:rPr>
              <a:t>Data storage</a:t>
            </a:r>
          </a:p>
          <a:p>
            <a:pPr>
              <a:spcBef>
                <a:spcPts val="0"/>
              </a:spcBef>
              <a:spcAft>
                <a:spcPts val="461"/>
              </a:spcAft>
            </a:pPr>
            <a:r>
              <a:rPr sz="1200" b="0" i="0">
                <a:solidFill>
                  <a:srgbClr val="000000"/>
                </a:solidFill>
                <a:latin typeface="Nirmala UI"/>
              </a:rPr>
              <a:t>•  </a:t>
            </a:r>
            <a:r>
              <a:rPr sz="1200" b="0" i="0">
                <a:solidFill>
                  <a:srgbClr val="000000"/>
                </a:solidFill>
                <a:latin typeface="Nirmala UI"/>
              </a:rPr>
              <a:t>Queries</a:t>
            </a:r>
          </a:p>
          <a:p>
            <a:pPr>
              <a:spcBef>
                <a:spcPts val="0"/>
              </a:spcBef>
              <a:spcAft>
                <a:spcPts val="461"/>
              </a:spcAft>
            </a:pPr>
            <a:r>
              <a:rPr sz="1200" b="0" i="0">
                <a:solidFill>
                  <a:srgbClr val="000000"/>
                </a:solidFill>
                <a:latin typeface="Nirmala UI"/>
              </a:rPr>
              <a:t>•  </a:t>
            </a:r>
            <a:r>
              <a:rPr sz="1200" b="0" i="0">
                <a:solidFill>
                  <a:srgbClr val="000000"/>
                </a:solidFill>
                <a:latin typeface="Nirmala UI"/>
              </a:rPr>
              <a:t>Indexes</a:t>
            </a:r>
          </a:p>
          <a:p>
            <a:pPr>
              <a:spcBef>
                <a:spcPts val="0"/>
              </a:spcBef>
              <a:spcAft>
                <a:spcPts val="461"/>
              </a:spcAft>
            </a:pPr>
            <a:r>
              <a:rPr sz="1200" b="0" i="0">
                <a:solidFill>
                  <a:srgbClr val="000000"/>
                </a:solidFill>
                <a:latin typeface="Nirmala UI"/>
              </a:rPr>
              <a:t>•  </a:t>
            </a:r>
            <a:r>
              <a:rPr sz="1200" b="0" i="0">
                <a:solidFill>
                  <a:srgbClr val="000000"/>
                </a:solidFill>
                <a:latin typeface="Nirmala UI"/>
              </a:rPr>
              <a:t>Authentication</a:t>
            </a:r>
          </a:p>
          <a:p>
            <a:pPr>
              <a:spcBef>
                <a:spcPts val="0"/>
              </a:spcBef>
              <a:spcAft>
                <a:spcPts val="461"/>
              </a:spcAft>
            </a:pPr>
            <a:r>
              <a:rPr sz="1200" b="0" i="0">
                <a:solidFill>
                  <a:srgbClr val="000000"/>
                </a:solidFill>
                <a:latin typeface="Nirmala UI"/>
              </a:rPr>
              <a:t>•  </a:t>
            </a:r>
            <a:r>
              <a:rPr sz="1200" b="0" i="0">
                <a:solidFill>
                  <a:srgbClr val="000000"/>
                </a:solidFill>
                <a:latin typeface="Nirmala UI"/>
              </a:rPr>
              <a:t>Replication</a:t>
            </a:r>
          </a:p>
          <a:p>
            <a:pPr>
              <a:spcBef>
                <a:spcPts val="0"/>
              </a:spcBef>
              <a:spcAft>
                <a:spcPts val="461"/>
              </a:spcAft>
            </a:pPr>
            <a:r>
              <a:rPr sz="1200" b="0" i="0">
                <a:solidFill>
                  <a:srgbClr val="000000"/>
                </a:solidFill>
                <a:latin typeface="Nirmala UI"/>
              </a:rPr>
              <a:t>•  </a:t>
            </a:r>
            <a:r>
              <a:rPr sz="1200" b="0" i="0">
                <a:solidFill>
                  <a:srgbClr val="000000"/>
                </a:solidFill>
                <a:latin typeface="Nirmala UI"/>
              </a:rPr>
              <a:t>Database operations</a:t>
            </a:r>
          </a:p>
        </p:txBody>
      </p:sp>
      <p:sp>
        <p:nvSpPr>
          <p:cNvPr id="12" name="Rectangle 11"/>
          <p:cNvSpPr/>
          <p:nvPr/>
        </p:nvSpPr>
        <p:spPr>
          <a:xfrm>
            <a:off x="4471035" y="2186654"/>
            <a:ext cx="7242810" cy="2740724"/>
          </a:xfrm>
          <a:prstGeom prst="rect">
            <a:avLst/>
          </a:prstGeom>
          <a:solidFill>
            <a:srgbClr val="FFFFFF"/>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image.png"/>
          <p:cNvPicPr>
            <a:picLocks noChangeAspect="1"/>
          </p:cNvPicPr>
          <p:nvPr/>
        </p:nvPicPr>
        <p:blipFill>
          <a:blip r:embed="rId2"/>
          <a:stretch>
            <a:fillRect/>
          </a:stretch>
        </p:blipFill>
        <p:spPr>
          <a:xfrm>
            <a:off x="4480560" y="2196179"/>
            <a:ext cx="7223760" cy="2721674"/>
          </a:xfrm>
          <a:prstGeom prst="rect">
            <a:avLst/>
          </a:prstGeom>
        </p:spPr>
      </p:pic>
      <p:sp>
        <p:nvSpPr>
          <p:cNvPr id="14" name="Rectangle 13"/>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7"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REPLICA SETS</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1</a:t>
            </a:r>
          </a:p>
        </p:txBody>
      </p:sp>
      <p:sp>
        <p:nvSpPr>
          <p:cNvPr id="4" name="Oval 3"/>
          <p:cNvSpPr/>
          <p:nvPr/>
        </p:nvSpPr>
        <p:spPr>
          <a:xfrm>
            <a:off x="457200" y="1633260"/>
            <a:ext cx="237744" cy="237744"/>
          </a:xfrm>
          <a:prstGeom prst="ellipse">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633260"/>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614972"/>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2017308"/>
            <a:ext cx="11247120" cy="478692"/>
          </a:xfrm>
          <a:prstGeom prst="rect">
            <a:avLst/>
          </a:prstGeom>
          <a:noFill/>
        </p:spPr>
        <p:txBody>
          <a:bodyPr wrap="square" anchor="t" lIns="0" rIns="0" tIns="0" bIns="0">
            <a:spAutoFit/>
          </a:bodyPr>
          <a:lstStyle/>
          <a:p>
            <a:pPr>
              <a:spcBef>
                <a:spcPts val="0"/>
              </a:spcBef>
              <a:spcAft>
                <a:spcPts val="769"/>
              </a:spcAft>
            </a:pPr>
            <a:r>
              <a:rPr sz="2000" b="1" i="0">
                <a:solidFill>
                  <a:srgbClr val="000000"/>
                </a:solidFill>
                <a:latin typeface="Nirmala UI"/>
              </a:rPr>
              <a:t>Replica set</a:t>
            </a:r>
          </a:p>
        </p:txBody>
      </p:sp>
      <p:sp>
        <p:nvSpPr>
          <p:cNvPr id="8" name="TextBox 7"/>
          <p:cNvSpPr txBox="1"/>
          <p:nvPr/>
        </p:nvSpPr>
        <p:spPr>
          <a:xfrm>
            <a:off x="457200" y="2587440"/>
            <a:ext cx="11247120" cy="81397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A replica set is a group of MongoDB servers that maintain copies of the same data.</a:t>
            </a:r>
          </a:p>
        </p:txBody>
      </p:sp>
      <p:sp>
        <p:nvSpPr>
          <p:cNvPr id="9" name="TextBox 8"/>
          <p:cNvSpPr txBox="1"/>
          <p:nvPr/>
        </p:nvSpPr>
        <p:spPr>
          <a:xfrm>
            <a:off x="457200" y="3492852"/>
            <a:ext cx="11247120" cy="1344636"/>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  </a:t>
            </a:r>
            <a:r>
              <a:rPr sz="2000" b="0" i="0">
                <a:solidFill>
                  <a:srgbClr val="000000"/>
                </a:solidFill>
                <a:latin typeface="Nirmala UI"/>
              </a:rPr>
              <a:t>The primary node accepts writes.</a:t>
            </a:r>
          </a:p>
          <a:p>
            <a:pPr>
              <a:spcBef>
                <a:spcPts val="0"/>
              </a:spcBef>
              <a:spcAft>
                <a:spcPts val="769"/>
              </a:spcAft>
            </a:pPr>
            <a:r>
              <a:rPr sz="2000" b="0" i="0">
                <a:solidFill>
                  <a:srgbClr val="000000"/>
                </a:solidFill>
                <a:latin typeface="Nirmala UI"/>
              </a:rPr>
              <a:t>•  </a:t>
            </a:r>
            <a:r>
              <a:rPr sz="2000" b="0" i="0">
                <a:solidFill>
                  <a:srgbClr val="000000"/>
                </a:solidFill>
                <a:latin typeface="Nirmala UI"/>
              </a:rPr>
              <a:t>Secondary nodes replicate the primary’s data.</a:t>
            </a:r>
          </a:p>
          <a:p>
            <a:pPr>
              <a:spcBef>
                <a:spcPts val="0"/>
              </a:spcBef>
              <a:spcAft>
                <a:spcPts val="769"/>
              </a:spcAft>
            </a:pPr>
            <a:r>
              <a:rPr sz="2000" b="0" i="0">
                <a:solidFill>
                  <a:srgbClr val="000000"/>
                </a:solidFill>
                <a:latin typeface="Nirmala UI"/>
              </a:rPr>
              <a:t>•  </a:t>
            </a:r>
            <a:r>
              <a:rPr sz="2000" b="0" i="0">
                <a:solidFill>
                  <a:srgbClr val="000000"/>
                </a:solidFill>
                <a:latin typeface="Nirmala UI"/>
              </a:rPr>
              <a:t>If the primary fails, an eligible secondary can become the new primary.</a:t>
            </a:r>
          </a:p>
        </p:txBody>
      </p:sp>
      <p:sp>
        <p:nvSpPr>
          <p:cNvPr id="10" name="TextBox 9"/>
          <p:cNvSpPr txBox="1"/>
          <p:nvPr/>
        </p:nvSpPr>
        <p:spPr>
          <a:xfrm>
            <a:off x="457200" y="4928928"/>
            <a:ext cx="11247120" cy="47869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Replica sets provide redundancy and high availability.</a:t>
            </a:r>
          </a:p>
        </p:txBody>
      </p:sp>
      <p:sp>
        <p:nvSpPr>
          <p:cNvPr id="11" name="Rectangle 10"/>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4"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SHARDED CLUSTERS</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1</a:t>
            </a:r>
          </a:p>
        </p:txBody>
      </p:sp>
      <p:sp>
        <p:nvSpPr>
          <p:cNvPr id="4" name="Oval 3"/>
          <p:cNvSpPr/>
          <p:nvPr/>
        </p:nvSpPr>
        <p:spPr>
          <a:xfrm>
            <a:off x="457200" y="1348194"/>
            <a:ext cx="237744" cy="237744"/>
          </a:xfrm>
          <a:prstGeom prst="ellipse">
            <a:avLst/>
          </a:prstGeom>
          <a:solidFill>
            <a:srgbClr val="5B3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48194"/>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329906"/>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1732242"/>
            <a:ext cx="11247120" cy="478692"/>
          </a:xfrm>
          <a:prstGeom prst="rect">
            <a:avLst/>
          </a:prstGeom>
          <a:noFill/>
        </p:spPr>
        <p:txBody>
          <a:bodyPr wrap="square" anchor="t" lIns="0" rIns="0" tIns="0" bIns="0">
            <a:spAutoFit/>
          </a:bodyPr>
          <a:lstStyle/>
          <a:p>
            <a:pPr>
              <a:spcBef>
                <a:spcPts val="0"/>
              </a:spcBef>
              <a:spcAft>
                <a:spcPts val="769"/>
              </a:spcAft>
            </a:pPr>
            <a:r>
              <a:rPr sz="2000" b="1" i="0">
                <a:solidFill>
                  <a:srgbClr val="000000"/>
                </a:solidFill>
                <a:latin typeface="Nirmala UI"/>
              </a:rPr>
              <a:t>Sharded cluster</a:t>
            </a:r>
          </a:p>
        </p:txBody>
      </p:sp>
      <p:sp>
        <p:nvSpPr>
          <p:cNvPr id="8" name="TextBox 7"/>
          <p:cNvSpPr txBox="1"/>
          <p:nvPr/>
        </p:nvSpPr>
        <p:spPr>
          <a:xfrm>
            <a:off x="457200" y="2302374"/>
            <a:ext cx="11247120" cy="47869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Sharding distributes a large dataset across multiple servers called shards.</a:t>
            </a:r>
          </a:p>
        </p:txBody>
      </p:sp>
      <p:sp>
        <p:nvSpPr>
          <p:cNvPr id="9" name="TextBox 8"/>
          <p:cNvSpPr txBox="1"/>
          <p:nvPr/>
        </p:nvSpPr>
        <p:spPr>
          <a:xfrm>
            <a:off x="457200" y="2872506"/>
            <a:ext cx="11247120" cy="47869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A sharded cluster typically includes:</a:t>
            </a:r>
          </a:p>
        </p:txBody>
      </p:sp>
      <p:sp>
        <p:nvSpPr>
          <p:cNvPr id="10" name="TextBox 9"/>
          <p:cNvSpPr txBox="1"/>
          <p:nvPr/>
        </p:nvSpPr>
        <p:spPr>
          <a:xfrm>
            <a:off x="457200" y="3442638"/>
            <a:ext cx="11247120" cy="1344636"/>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  </a:t>
            </a:r>
            <a:r>
              <a:rPr sz="2000" b="0" i="0">
                <a:solidFill>
                  <a:srgbClr val="000000"/>
                </a:solidFill>
                <a:latin typeface="Nirmala UI"/>
              </a:rPr>
              <a:t>Shards that store the data</a:t>
            </a:r>
          </a:p>
          <a:p>
            <a:pPr>
              <a:spcBef>
                <a:spcPts val="0"/>
              </a:spcBef>
              <a:spcAft>
                <a:spcPts val="769"/>
              </a:spcAft>
            </a:pPr>
            <a:r>
              <a:rPr sz="2000" b="0" i="0">
                <a:solidFill>
                  <a:srgbClr val="000000"/>
                </a:solidFill>
                <a:latin typeface="Nirmala UI"/>
              </a:rPr>
              <a:t>•  </a:t>
            </a:r>
            <a:r>
              <a:rPr sz="2000" b="0" i="0">
                <a:solidFill>
                  <a:srgbClr val="000000"/>
                </a:solidFill>
                <a:latin typeface="Nirmala UI"/>
              </a:rPr>
              <a:t>Configuration servers that store cluster metadata</a:t>
            </a:r>
          </a:p>
          <a:p>
            <a:pPr>
              <a:spcBef>
                <a:spcPts val="0"/>
              </a:spcBef>
              <a:spcAft>
                <a:spcPts val="769"/>
              </a:spcAft>
            </a:pPr>
            <a:r>
              <a:rPr sz="2000" b="0" i="0">
                <a:solidFill>
                  <a:srgbClr val="000000"/>
                </a:solidFill>
                <a:latin typeface="Nirmala UI"/>
              </a:rPr>
              <a:t>•  </a:t>
            </a:r>
            <a:r>
              <a:rPr sz="2000" b="0" i="0">
                <a:solidFill>
                  <a:srgbClr val="000000"/>
                </a:solidFill>
                <a:latin typeface="Consolas"/>
              </a:rPr>
              <a:t>mongos</a:t>
            </a:r>
            <a:r>
              <a:rPr sz="2000" b="0" i="0">
                <a:solidFill>
                  <a:srgbClr val="000000"/>
                </a:solidFill>
                <a:latin typeface="Nirmala UI"/>
              </a:rPr>
              <a:t> query routers that direct requests to appropriate shards</a:t>
            </a:r>
          </a:p>
        </p:txBody>
      </p:sp>
      <p:sp>
        <p:nvSpPr>
          <p:cNvPr id="11" name="TextBox 10"/>
          <p:cNvSpPr txBox="1"/>
          <p:nvPr/>
        </p:nvSpPr>
        <p:spPr>
          <a:xfrm>
            <a:off x="457200" y="4878714"/>
            <a:ext cx="11247120" cy="81397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Sharding supports horizontal scaling when one server cannot efficiently handle the complete dataset or workload.</a:t>
            </a:r>
          </a:p>
        </p:txBody>
      </p:sp>
      <p:sp>
        <p:nvSpPr>
          <p:cNvPr id="12" name="Rectangle 11"/>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5"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FLEXIBLE DOCUMENT MODEL</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1</a:t>
            </a:r>
          </a:p>
        </p:txBody>
      </p:sp>
      <p:sp>
        <p:nvSpPr>
          <p:cNvPr id="4" name="Oval 3"/>
          <p:cNvSpPr/>
          <p:nvPr/>
        </p:nvSpPr>
        <p:spPr>
          <a:xfrm>
            <a:off x="457200" y="1227153"/>
            <a:ext cx="237744" cy="237744"/>
          </a:xfrm>
          <a:prstGeom prst="ellipse">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27153"/>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208865"/>
            <a:ext cx="351129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1611201"/>
            <a:ext cx="3840480" cy="928545"/>
          </a:xfrm>
          <a:prstGeom prst="rect">
            <a:avLst/>
          </a:prstGeom>
          <a:noFill/>
        </p:spPr>
        <p:txBody>
          <a:bodyPr wrap="square" anchor="t" lIns="0" rIns="0" tIns="0" bIns="0">
            <a:spAutoFit/>
          </a:bodyPr>
          <a:lstStyle/>
          <a:p>
            <a:pPr>
              <a:spcBef>
                <a:spcPts val="0"/>
              </a:spcBef>
              <a:spcAft>
                <a:spcPts val="615"/>
              </a:spcAft>
            </a:pPr>
            <a:r>
              <a:rPr sz="1600" b="0" i="0">
                <a:solidFill>
                  <a:srgbClr val="000000"/>
                </a:solidFill>
                <a:latin typeface="Nirmala UI"/>
              </a:rPr>
              <a:t>Documents in the same collection do not always need identical fields.</a:t>
            </a:r>
          </a:p>
        </p:txBody>
      </p:sp>
      <p:sp>
        <p:nvSpPr>
          <p:cNvPr id="8" name="TextBox 7"/>
          <p:cNvSpPr txBox="1"/>
          <p:nvPr/>
        </p:nvSpPr>
        <p:spPr>
          <a:xfrm>
            <a:off x="457200" y="2631186"/>
            <a:ext cx="3840480" cy="928545"/>
          </a:xfrm>
          <a:prstGeom prst="rect">
            <a:avLst/>
          </a:prstGeom>
          <a:noFill/>
        </p:spPr>
        <p:txBody>
          <a:bodyPr wrap="square" anchor="t" lIns="0" rIns="0" tIns="0" bIns="0">
            <a:spAutoFit/>
          </a:bodyPr>
          <a:lstStyle/>
          <a:p>
            <a:pPr>
              <a:spcBef>
                <a:spcPts val="0"/>
              </a:spcBef>
              <a:spcAft>
                <a:spcPts val="615"/>
              </a:spcAft>
            </a:pPr>
            <a:r>
              <a:rPr sz="1600" b="0" i="0">
                <a:solidFill>
                  <a:srgbClr val="000000"/>
                </a:solidFill>
                <a:latin typeface="Nirmala UI"/>
              </a:rPr>
              <a:t>This flexibility helps applications evolve without requiring constant table redesign.</a:t>
            </a:r>
          </a:p>
        </p:txBody>
      </p:sp>
      <p:sp>
        <p:nvSpPr>
          <p:cNvPr id="9" name="Rounded Rectangle 8"/>
          <p:cNvSpPr/>
          <p:nvPr/>
        </p:nvSpPr>
        <p:spPr>
          <a:xfrm>
            <a:off x="457200" y="3651171"/>
            <a:ext cx="3840480" cy="2162556"/>
          </a:xfrm>
          <a:prstGeom prst="roundRect">
            <a:avLst>
              <a:gd name="adj" fmla="val 4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 y="3742611"/>
            <a:ext cx="3584448" cy="1997964"/>
          </a:xfrm>
          <a:prstGeom prst="rect">
            <a:avLst/>
          </a:prstGeom>
          <a:noFill/>
        </p:spPr>
        <p:txBody>
          <a:bodyPr wrap="square" anchor="t" lIns="0" rIns="0" tIns="0" bIns="0">
            <a:spAutoFit/>
          </a:bodyPr>
          <a:lstStyle/>
          <a:p>
            <a:pPr>
              <a:spcBef>
                <a:spcPts val="0"/>
              </a:spcBef>
              <a:spcAft>
                <a:spcPts val="0"/>
              </a:spcAft>
            </a:pPr>
            <a:r>
              <a:rPr sz="900" b="0" i="0">
                <a:solidFill>
                  <a:srgbClr val="000000"/>
                </a:solidFill>
                <a:latin typeface="Consolas"/>
              </a:rPr>
              <a:t>// Physical product</a:t>
            </a:r>
          </a:p>
          <a:p>
            <a:pPr>
              <a:spcBef>
                <a:spcPts val="0"/>
              </a:spcBef>
              <a:spcAft>
                <a:spcPts val="0"/>
              </a:spcAft>
            </a:pPr>
            <a:r>
              <a:rPr sz="900" b="0" i="0">
                <a:solidFill>
                  <a:srgbClr val="000000"/>
                </a:solidFill>
                <a:latin typeface="Consolas"/>
              </a:rPr>
              <a:t>{</a:t>
            </a:r>
          </a:p>
          <a:p>
            <a:pPr>
              <a:spcBef>
                <a:spcPts val="0"/>
              </a:spcBef>
              <a:spcAft>
                <a:spcPts val="0"/>
              </a:spcAft>
            </a:pPr>
            <a:r>
              <a:rPr sz="900" b="0" i="0">
                <a:solidFill>
                  <a:srgbClr val="000000"/>
                </a:solidFill>
                <a:latin typeface="Consolas"/>
              </a:rPr>
              <a:t>  name: "Laptop",</a:t>
            </a:r>
          </a:p>
          <a:p>
            <a:pPr>
              <a:spcBef>
                <a:spcPts val="0"/>
              </a:spcBef>
              <a:spcAft>
                <a:spcPts val="0"/>
              </a:spcAft>
            </a:pPr>
            <a:r>
              <a:rPr sz="900" b="0" i="0">
                <a:solidFill>
                  <a:srgbClr val="000000"/>
                </a:solidFill>
                <a:latin typeface="Consolas"/>
              </a:rPr>
              <a:t>  price: 1200,</a:t>
            </a:r>
          </a:p>
          <a:p>
            <a:pPr>
              <a:spcBef>
                <a:spcPts val="0"/>
              </a:spcBef>
              <a:spcAft>
                <a:spcPts val="0"/>
              </a:spcAft>
            </a:pPr>
            <a:r>
              <a:rPr sz="900" b="0" i="0">
                <a:solidFill>
                  <a:srgbClr val="000000"/>
                </a:solidFill>
                <a:latin typeface="Consolas"/>
              </a:rPr>
              <a:t>  weight: 1.8</a:t>
            </a:r>
          </a:p>
          <a:p>
            <a:pPr>
              <a:spcBef>
                <a:spcPts val="0"/>
              </a:spcBef>
              <a:spcAft>
                <a:spcPts val="0"/>
              </a:spcAft>
            </a:pPr>
            <a:r>
              <a:rPr sz="900" b="0" i="0">
                <a:solidFill>
                  <a:srgbClr val="000000"/>
                </a:solidFill>
                <a:latin typeface="Consolas"/>
              </a:rPr>
              <a:t>}</a:t>
            </a:r>
          </a:p>
          <a:p>
            <a:pPr>
              <a:spcBef>
                <a:spcPts val="0"/>
              </a:spcBef>
              <a:spcAft>
                <a:spcPts val="0"/>
              </a:spcAft>
            </a:pPr>
            <a:r>
              <a:rPr sz="900" b="0" i="0">
                <a:solidFill>
                  <a:srgbClr val="000000"/>
                </a:solidFill>
                <a:latin typeface="Consolas"/>
              </a:rPr>
              <a:t> </a:t>
            </a:r>
          </a:p>
          <a:p>
            <a:pPr>
              <a:spcBef>
                <a:spcPts val="0"/>
              </a:spcBef>
              <a:spcAft>
                <a:spcPts val="0"/>
              </a:spcAft>
            </a:pPr>
            <a:r>
              <a:rPr sz="900" b="0" i="0">
                <a:solidFill>
                  <a:srgbClr val="000000"/>
                </a:solidFill>
                <a:latin typeface="Consolas"/>
              </a:rPr>
              <a:t>// Digital product</a:t>
            </a:r>
          </a:p>
          <a:p>
            <a:pPr>
              <a:spcBef>
                <a:spcPts val="0"/>
              </a:spcBef>
              <a:spcAft>
                <a:spcPts val="0"/>
              </a:spcAft>
            </a:pPr>
            <a:r>
              <a:rPr sz="900" b="0" i="0">
                <a:solidFill>
                  <a:srgbClr val="000000"/>
                </a:solidFill>
                <a:latin typeface="Consolas"/>
              </a:rPr>
              <a:t>{</a:t>
            </a:r>
          </a:p>
          <a:p>
            <a:pPr>
              <a:spcBef>
                <a:spcPts val="0"/>
              </a:spcBef>
              <a:spcAft>
                <a:spcPts val="0"/>
              </a:spcAft>
            </a:pPr>
            <a:r>
              <a:rPr sz="900" b="0" i="0">
                <a:solidFill>
                  <a:srgbClr val="000000"/>
                </a:solidFill>
                <a:latin typeface="Consolas"/>
              </a:rPr>
              <a:t>  name: "Python Course",</a:t>
            </a:r>
          </a:p>
          <a:p>
            <a:pPr>
              <a:spcBef>
                <a:spcPts val="0"/>
              </a:spcBef>
              <a:spcAft>
                <a:spcPts val="0"/>
              </a:spcAft>
            </a:pPr>
            <a:r>
              <a:rPr sz="900" b="0" i="0">
                <a:solidFill>
                  <a:srgbClr val="000000"/>
                </a:solidFill>
                <a:latin typeface="Consolas"/>
              </a:rPr>
              <a:t>  price: 99,</a:t>
            </a:r>
          </a:p>
          <a:p>
            <a:pPr>
              <a:spcBef>
                <a:spcPts val="0"/>
              </a:spcBef>
              <a:spcAft>
                <a:spcPts val="0"/>
              </a:spcAft>
            </a:pPr>
            <a:r>
              <a:rPr sz="900" b="0" i="0">
                <a:solidFill>
                  <a:srgbClr val="000000"/>
                </a:solidFill>
                <a:latin typeface="Consolas"/>
              </a:rPr>
              <a:t>  durationHours: 30</a:t>
            </a:r>
          </a:p>
          <a:p>
            <a:pPr>
              <a:spcBef>
                <a:spcPts val="0"/>
              </a:spcBef>
              <a:spcAft>
                <a:spcPts val="0"/>
              </a:spcAft>
            </a:pPr>
            <a:r>
              <a:rPr sz="900" b="0" i="0">
                <a:solidFill>
                  <a:srgbClr val="000000"/>
                </a:solidFill>
                <a:latin typeface="Consolas"/>
              </a:rPr>
              <a:t>}</a:t>
            </a:r>
          </a:p>
        </p:txBody>
      </p:sp>
      <p:sp>
        <p:nvSpPr>
          <p:cNvPr id="11" name="Rectangle 10"/>
          <p:cNvSpPr/>
          <p:nvPr/>
        </p:nvSpPr>
        <p:spPr>
          <a:xfrm>
            <a:off x="4471035" y="1775972"/>
            <a:ext cx="7242810" cy="3562088"/>
          </a:xfrm>
          <a:prstGeom prst="rect">
            <a:avLst/>
          </a:prstGeom>
          <a:solidFill>
            <a:srgbClr val="FFFFFF"/>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image.png"/>
          <p:cNvPicPr>
            <a:picLocks noChangeAspect="1"/>
          </p:cNvPicPr>
          <p:nvPr/>
        </p:nvPicPr>
        <p:blipFill>
          <a:blip r:embed="rId2"/>
          <a:stretch>
            <a:fillRect/>
          </a:stretch>
        </p:blipFill>
        <p:spPr>
          <a:xfrm>
            <a:off x="4480560" y="1785497"/>
            <a:ext cx="7223760" cy="3543038"/>
          </a:xfrm>
          <a:prstGeom prst="rect">
            <a:avLst/>
          </a:prstGeom>
        </p:spPr>
      </p:pic>
      <p:sp>
        <p:nvSpPr>
          <p:cNvPr id="13" name="Rectangle 12"/>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6"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EMBEDDED DOCUMENTS AND ARRAYS</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1</a:t>
            </a:r>
          </a:p>
        </p:txBody>
      </p:sp>
      <p:sp>
        <p:nvSpPr>
          <p:cNvPr id="4" name="Oval 3"/>
          <p:cNvSpPr/>
          <p:nvPr/>
        </p:nvSpPr>
        <p:spPr>
          <a:xfrm>
            <a:off x="457200" y="1188720"/>
            <a:ext cx="237744" cy="237744"/>
          </a:xfrm>
          <a:prstGeom prst="ellipse">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88720"/>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170432"/>
            <a:ext cx="351129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1572768"/>
            <a:ext cx="3840480" cy="81397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MongoDB can store related information together:</a:t>
            </a:r>
          </a:p>
        </p:txBody>
      </p:sp>
      <p:sp>
        <p:nvSpPr>
          <p:cNvPr id="8" name="TextBox 7"/>
          <p:cNvSpPr txBox="1"/>
          <p:nvPr/>
        </p:nvSpPr>
        <p:spPr>
          <a:xfrm>
            <a:off x="457200" y="2478180"/>
            <a:ext cx="3840480" cy="148453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This can reduce the number of joins and queries required to retrieve complete business objects.</a:t>
            </a:r>
          </a:p>
        </p:txBody>
      </p:sp>
      <p:sp>
        <p:nvSpPr>
          <p:cNvPr id="9" name="Rounded Rectangle 8"/>
          <p:cNvSpPr/>
          <p:nvPr/>
        </p:nvSpPr>
        <p:spPr>
          <a:xfrm>
            <a:off x="457200" y="4054152"/>
            <a:ext cx="3840480" cy="1810512"/>
          </a:xfrm>
          <a:prstGeom prst="roundRect">
            <a:avLst>
              <a:gd name="adj" fmla="val 4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 y="4145592"/>
            <a:ext cx="3584448" cy="1645920"/>
          </a:xfrm>
          <a:prstGeom prst="rect">
            <a:avLst/>
          </a:prstGeom>
          <a:noFill/>
        </p:spPr>
        <p:txBody>
          <a:bodyPr wrap="square" anchor="t" lIns="0" rIns="0" tIns="0" bIns="0">
            <a:spAutoFit/>
          </a:bodyPr>
          <a:lstStyle/>
          <a:p>
            <a:pPr>
              <a:spcBef>
                <a:spcPts val="0"/>
              </a:spcBef>
              <a:spcAft>
                <a:spcPts val="0"/>
              </a:spcAft>
            </a:pPr>
            <a:r>
              <a:rPr sz="800" b="0" i="0">
                <a:solidFill>
                  <a:srgbClr val="000000"/>
                </a:solidFill>
                <a:latin typeface="Consolas"/>
              </a:rPr>
              <a:t>{</a:t>
            </a:r>
          </a:p>
          <a:p>
            <a:pPr>
              <a:spcBef>
                <a:spcPts val="0"/>
              </a:spcBef>
              <a:spcAft>
                <a:spcPts val="0"/>
              </a:spcAft>
            </a:pPr>
            <a:r>
              <a:rPr sz="800" b="0" i="0">
                <a:solidFill>
                  <a:srgbClr val="000000"/>
                </a:solidFill>
                <a:latin typeface="Consolas"/>
              </a:rPr>
              <a:t>  orderId: 5001,</a:t>
            </a:r>
          </a:p>
          <a:p>
            <a:pPr>
              <a:spcBef>
                <a:spcPts val="0"/>
              </a:spcBef>
              <a:spcAft>
                <a:spcPts val="0"/>
              </a:spcAft>
            </a:pPr>
            <a:r>
              <a:rPr sz="800" b="0" i="0">
                <a:solidFill>
                  <a:srgbClr val="000000"/>
                </a:solidFill>
                <a:latin typeface="Consolas"/>
              </a:rPr>
              <a:t>  customerId: 101,</a:t>
            </a:r>
          </a:p>
          <a:p>
            <a:pPr>
              <a:spcBef>
                <a:spcPts val="0"/>
              </a:spcBef>
              <a:spcAft>
                <a:spcPts val="0"/>
              </a:spcAft>
            </a:pPr>
            <a:r>
              <a:rPr sz="800" b="0" i="0">
                <a:solidFill>
                  <a:srgbClr val="000000"/>
                </a:solidFill>
                <a:latin typeface="Consolas"/>
              </a:rPr>
              <a:t>  items: [</a:t>
            </a:r>
          </a:p>
          <a:p>
            <a:pPr>
              <a:spcBef>
                <a:spcPts val="0"/>
              </a:spcBef>
              <a:spcAft>
                <a:spcPts val="0"/>
              </a:spcAft>
            </a:pPr>
            <a:r>
              <a:rPr sz="800" b="0" i="0">
                <a:solidFill>
                  <a:srgbClr val="000000"/>
                </a:solidFill>
                <a:latin typeface="Consolas"/>
              </a:rPr>
              <a:t>    { productId: 10, quantity: 2 },</a:t>
            </a:r>
          </a:p>
          <a:p>
            <a:pPr>
              <a:spcBef>
                <a:spcPts val="0"/>
              </a:spcBef>
              <a:spcAft>
                <a:spcPts val="0"/>
              </a:spcAft>
            </a:pPr>
            <a:r>
              <a:rPr sz="800" b="0" i="0">
                <a:solidFill>
                  <a:srgbClr val="000000"/>
                </a:solidFill>
                <a:latin typeface="Consolas"/>
              </a:rPr>
              <a:t>    { productId: 24, quantity: 1 }</a:t>
            </a:r>
          </a:p>
          <a:p>
            <a:pPr>
              <a:spcBef>
                <a:spcPts val="0"/>
              </a:spcBef>
              <a:spcAft>
                <a:spcPts val="0"/>
              </a:spcAft>
            </a:pPr>
            <a:r>
              <a:rPr sz="800" b="0" i="0">
                <a:solidFill>
                  <a:srgbClr val="000000"/>
                </a:solidFill>
                <a:latin typeface="Consolas"/>
              </a:rPr>
              <a:t>  ],</a:t>
            </a:r>
          </a:p>
          <a:p>
            <a:pPr>
              <a:spcBef>
                <a:spcPts val="0"/>
              </a:spcBef>
              <a:spcAft>
                <a:spcPts val="0"/>
              </a:spcAft>
            </a:pPr>
            <a:r>
              <a:rPr sz="800" b="0" i="0">
                <a:solidFill>
                  <a:srgbClr val="000000"/>
                </a:solidFill>
                <a:latin typeface="Consolas"/>
              </a:rPr>
              <a:t>  shippingAddress: {</a:t>
            </a:r>
          </a:p>
          <a:p>
            <a:pPr>
              <a:spcBef>
                <a:spcPts val="0"/>
              </a:spcBef>
              <a:spcAft>
                <a:spcPts val="0"/>
              </a:spcAft>
            </a:pPr>
            <a:r>
              <a:rPr sz="800" b="0" i="0">
                <a:solidFill>
                  <a:srgbClr val="000000"/>
                </a:solidFill>
                <a:latin typeface="Consolas"/>
              </a:rPr>
              <a:t>    city: "Brampton",</a:t>
            </a:r>
          </a:p>
          <a:p>
            <a:pPr>
              <a:spcBef>
                <a:spcPts val="0"/>
              </a:spcBef>
              <a:spcAft>
                <a:spcPts val="0"/>
              </a:spcAft>
            </a:pPr>
            <a:r>
              <a:rPr sz="800" b="0" i="0">
                <a:solidFill>
                  <a:srgbClr val="000000"/>
                </a:solidFill>
                <a:latin typeface="Consolas"/>
              </a:rPr>
              <a:t>    province: "Ontario"</a:t>
            </a:r>
          </a:p>
          <a:p>
            <a:pPr>
              <a:spcBef>
                <a:spcPts val="0"/>
              </a:spcBef>
              <a:spcAft>
                <a:spcPts val="0"/>
              </a:spcAft>
            </a:pPr>
            <a:r>
              <a:rPr sz="800" b="0" i="0">
                <a:solidFill>
                  <a:srgbClr val="000000"/>
                </a:solidFill>
                <a:latin typeface="Consolas"/>
              </a:rPr>
              <a:t>  }</a:t>
            </a:r>
          </a:p>
          <a:p>
            <a:pPr>
              <a:spcBef>
                <a:spcPts val="0"/>
              </a:spcBef>
              <a:spcAft>
                <a:spcPts val="0"/>
              </a:spcAft>
            </a:pPr>
            <a:r>
              <a:rPr sz="800" b="0" i="0">
                <a:solidFill>
                  <a:srgbClr val="000000"/>
                </a:solidFill>
                <a:latin typeface="Consolas"/>
              </a:rPr>
              <a:t>}</a:t>
            </a:r>
          </a:p>
        </p:txBody>
      </p:sp>
      <p:sp>
        <p:nvSpPr>
          <p:cNvPr id="11" name="Rectangle 10"/>
          <p:cNvSpPr/>
          <p:nvPr/>
        </p:nvSpPr>
        <p:spPr>
          <a:xfrm>
            <a:off x="4471035" y="1509060"/>
            <a:ext cx="7242809" cy="4095912"/>
          </a:xfrm>
          <a:prstGeom prst="rect">
            <a:avLst/>
          </a:prstGeom>
          <a:solidFill>
            <a:srgbClr val="FFFFFF"/>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image.png"/>
          <p:cNvPicPr>
            <a:picLocks noChangeAspect="1"/>
          </p:cNvPicPr>
          <p:nvPr/>
        </p:nvPicPr>
        <p:blipFill>
          <a:blip r:embed="rId2"/>
          <a:stretch>
            <a:fillRect/>
          </a:stretch>
        </p:blipFill>
        <p:spPr>
          <a:xfrm>
            <a:off x="4480560" y="1518585"/>
            <a:ext cx="7223759" cy="4076862"/>
          </a:xfrm>
          <a:prstGeom prst="rect">
            <a:avLst/>
          </a:prstGeom>
        </p:spPr>
      </p:pic>
      <p:sp>
        <p:nvSpPr>
          <p:cNvPr id="13" name="Rectangle 12"/>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6"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RICH QUERY LANGUAGE</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1</a:t>
            </a:r>
          </a:p>
        </p:txBody>
      </p:sp>
      <p:sp>
        <p:nvSpPr>
          <p:cNvPr id="4" name="Oval 3"/>
          <p:cNvSpPr/>
          <p:nvPr/>
        </p:nvSpPr>
        <p:spPr>
          <a:xfrm>
            <a:off x="457200" y="1209707"/>
            <a:ext cx="237744" cy="237744"/>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09707"/>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191419"/>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1593755"/>
            <a:ext cx="11247120" cy="240557"/>
          </a:xfrm>
          <a:prstGeom prst="rect">
            <a:avLst/>
          </a:prstGeom>
          <a:noFill/>
        </p:spPr>
        <p:txBody>
          <a:bodyPr wrap="square" anchor="t" lIns="0" rIns="0" tIns="0" bIns="0">
            <a:spAutoFit/>
          </a:bodyPr>
          <a:lstStyle/>
          <a:p>
            <a:pPr>
              <a:spcBef>
                <a:spcPts val="0"/>
              </a:spcBef>
              <a:spcAft>
                <a:spcPts val="346"/>
              </a:spcAft>
            </a:pPr>
            <a:r>
              <a:rPr sz="900" b="0" i="0">
                <a:solidFill>
                  <a:srgbClr val="000000"/>
                </a:solidFill>
                <a:latin typeface="Nirmala UI"/>
              </a:rPr>
              <a:t>MongoDB supports:</a:t>
            </a:r>
          </a:p>
        </p:txBody>
      </p:sp>
      <p:sp>
        <p:nvSpPr>
          <p:cNvPr id="8" name="TextBox 7"/>
          <p:cNvSpPr txBox="1"/>
          <p:nvPr/>
        </p:nvSpPr>
        <p:spPr>
          <a:xfrm>
            <a:off x="457200" y="1925752"/>
            <a:ext cx="11247120" cy="1604416"/>
          </a:xfrm>
          <a:prstGeom prst="rect">
            <a:avLst/>
          </a:prstGeom>
          <a:noFill/>
        </p:spPr>
        <p:txBody>
          <a:bodyPr wrap="square" anchor="t" lIns="0" rIns="0" tIns="0" bIns="0">
            <a:spAutoFit/>
          </a:bodyPr>
          <a:lstStyle/>
          <a:p>
            <a:pPr>
              <a:spcBef>
                <a:spcPts val="0"/>
              </a:spcBef>
              <a:spcAft>
                <a:spcPts val="346"/>
              </a:spcAft>
            </a:pPr>
            <a:r>
              <a:rPr sz="900" b="0" i="0">
                <a:solidFill>
                  <a:srgbClr val="000000"/>
                </a:solidFill>
                <a:latin typeface="Nirmala UI"/>
              </a:rPr>
              <a:t>•  </a:t>
            </a:r>
            <a:r>
              <a:rPr sz="900" b="0" i="0">
                <a:solidFill>
                  <a:srgbClr val="000000"/>
                </a:solidFill>
                <a:latin typeface="Nirmala UI"/>
              </a:rPr>
              <a:t>Filtering</a:t>
            </a:r>
          </a:p>
          <a:p>
            <a:pPr>
              <a:spcBef>
                <a:spcPts val="0"/>
              </a:spcBef>
              <a:spcAft>
                <a:spcPts val="346"/>
              </a:spcAft>
            </a:pPr>
            <a:r>
              <a:rPr sz="900" b="0" i="0">
                <a:solidFill>
                  <a:srgbClr val="000000"/>
                </a:solidFill>
                <a:latin typeface="Nirmala UI"/>
              </a:rPr>
              <a:t>•  </a:t>
            </a:r>
            <a:r>
              <a:rPr sz="900" b="0" i="0">
                <a:solidFill>
                  <a:srgbClr val="000000"/>
                </a:solidFill>
                <a:latin typeface="Nirmala UI"/>
              </a:rPr>
              <a:t>Sorting</a:t>
            </a:r>
          </a:p>
          <a:p>
            <a:pPr>
              <a:spcBef>
                <a:spcPts val="0"/>
              </a:spcBef>
              <a:spcAft>
                <a:spcPts val="346"/>
              </a:spcAft>
            </a:pPr>
            <a:r>
              <a:rPr sz="900" b="0" i="0">
                <a:solidFill>
                  <a:srgbClr val="000000"/>
                </a:solidFill>
                <a:latin typeface="Nirmala UI"/>
              </a:rPr>
              <a:t>•  </a:t>
            </a:r>
            <a:r>
              <a:rPr sz="900" b="0" i="0">
                <a:solidFill>
                  <a:srgbClr val="000000"/>
                </a:solidFill>
                <a:latin typeface="Nirmala UI"/>
              </a:rPr>
              <a:t>Projection</a:t>
            </a:r>
          </a:p>
          <a:p>
            <a:pPr>
              <a:spcBef>
                <a:spcPts val="0"/>
              </a:spcBef>
              <a:spcAft>
                <a:spcPts val="346"/>
              </a:spcAft>
            </a:pPr>
            <a:r>
              <a:rPr sz="900" b="0" i="0">
                <a:solidFill>
                  <a:srgbClr val="000000"/>
                </a:solidFill>
                <a:latin typeface="Nirmala UI"/>
              </a:rPr>
              <a:t>•  </a:t>
            </a:r>
            <a:r>
              <a:rPr sz="900" b="0" i="0">
                <a:solidFill>
                  <a:srgbClr val="000000"/>
                </a:solidFill>
                <a:latin typeface="Nirmala UI"/>
              </a:rPr>
              <a:t>Updates</a:t>
            </a:r>
          </a:p>
          <a:p>
            <a:pPr>
              <a:spcBef>
                <a:spcPts val="0"/>
              </a:spcBef>
              <a:spcAft>
                <a:spcPts val="346"/>
              </a:spcAft>
            </a:pPr>
            <a:r>
              <a:rPr sz="900" b="0" i="0">
                <a:solidFill>
                  <a:srgbClr val="000000"/>
                </a:solidFill>
                <a:latin typeface="Nirmala UI"/>
              </a:rPr>
              <a:t>•  </a:t>
            </a:r>
            <a:r>
              <a:rPr sz="900" b="0" i="0">
                <a:solidFill>
                  <a:srgbClr val="000000"/>
                </a:solidFill>
                <a:latin typeface="Nirmala UI"/>
              </a:rPr>
              <a:t>Array queries</a:t>
            </a:r>
          </a:p>
          <a:p>
            <a:pPr>
              <a:spcBef>
                <a:spcPts val="0"/>
              </a:spcBef>
              <a:spcAft>
                <a:spcPts val="346"/>
              </a:spcAft>
            </a:pPr>
            <a:r>
              <a:rPr sz="900" b="0" i="0">
                <a:solidFill>
                  <a:srgbClr val="000000"/>
                </a:solidFill>
                <a:latin typeface="Nirmala UI"/>
              </a:rPr>
              <a:t>•  </a:t>
            </a:r>
            <a:r>
              <a:rPr sz="900" b="0" i="0">
                <a:solidFill>
                  <a:srgbClr val="000000"/>
                </a:solidFill>
                <a:latin typeface="Nirmala UI"/>
              </a:rPr>
              <a:t>Geospatial queries</a:t>
            </a:r>
          </a:p>
          <a:p>
            <a:pPr>
              <a:spcBef>
                <a:spcPts val="0"/>
              </a:spcBef>
              <a:spcAft>
                <a:spcPts val="346"/>
              </a:spcAft>
            </a:pPr>
            <a:r>
              <a:rPr sz="900" b="0" i="0">
                <a:solidFill>
                  <a:srgbClr val="000000"/>
                </a:solidFill>
                <a:latin typeface="Nirmala UI"/>
              </a:rPr>
              <a:t>•  </a:t>
            </a:r>
            <a:r>
              <a:rPr sz="900" b="0" i="0">
                <a:solidFill>
                  <a:srgbClr val="000000"/>
                </a:solidFill>
                <a:latin typeface="Nirmala UI"/>
              </a:rPr>
              <a:t>Text and search capabilities</a:t>
            </a:r>
          </a:p>
          <a:p>
            <a:pPr>
              <a:spcBef>
                <a:spcPts val="0"/>
              </a:spcBef>
              <a:spcAft>
                <a:spcPts val="346"/>
              </a:spcAft>
            </a:pPr>
            <a:r>
              <a:rPr sz="900" b="0" i="0">
                <a:solidFill>
                  <a:srgbClr val="000000"/>
                </a:solidFill>
                <a:latin typeface="Nirmala UI"/>
              </a:rPr>
              <a:t>•  </a:t>
            </a:r>
            <a:r>
              <a:rPr sz="900" b="0" i="0">
                <a:solidFill>
                  <a:srgbClr val="000000"/>
                </a:solidFill>
                <a:latin typeface="Nirmala UI"/>
              </a:rPr>
              <a:t>Aggregation pipelines</a:t>
            </a:r>
          </a:p>
        </p:txBody>
      </p:sp>
      <p:sp>
        <p:nvSpPr>
          <p:cNvPr id="9" name="TextBox 8"/>
          <p:cNvSpPr txBox="1"/>
          <p:nvPr/>
        </p:nvSpPr>
        <p:spPr>
          <a:xfrm>
            <a:off x="457200" y="3621608"/>
            <a:ext cx="11247120" cy="240557"/>
          </a:xfrm>
          <a:prstGeom prst="rect">
            <a:avLst/>
          </a:prstGeom>
          <a:noFill/>
        </p:spPr>
        <p:txBody>
          <a:bodyPr wrap="square" anchor="t" lIns="0" rIns="0" tIns="0" bIns="0">
            <a:spAutoFit/>
          </a:bodyPr>
          <a:lstStyle/>
          <a:p>
            <a:pPr>
              <a:spcBef>
                <a:spcPts val="0"/>
              </a:spcBef>
              <a:spcAft>
                <a:spcPts val="346"/>
              </a:spcAft>
            </a:pPr>
            <a:r>
              <a:rPr sz="900" b="0" i="0">
                <a:solidFill>
                  <a:srgbClr val="000000"/>
                </a:solidFill>
                <a:latin typeface="Nirmala UI"/>
              </a:rPr>
              <a:t>Example:</a:t>
            </a:r>
          </a:p>
        </p:txBody>
      </p:sp>
      <p:sp>
        <p:nvSpPr>
          <p:cNvPr id="10" name="Rounded Rectangle 9"/>
          <p:cNvSpPr/>
          <p:nvPr/>
        </p:nvSpPr>
        <p:spPr>
          <a:xfrm>
            <a:off x="457200" y="3953605"/>
            <a:ext cx="11247120" cy="1877568"/>
          </a:xfrm>
          <a:prstGeom prst="roundRect">
            <a:avLst>
              <a:gd name="adj" fmla="val 4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6" y="4045045"/>
            <a:ext cx="10991088" cy="1712976"/>
          </a:xfrm>
          <a:prstGeom prst="rect">
            <a:avLst/>
          </a:prstGeom>
          <a:noFill/>
        </p:spPr>
        <p:txBody>
          <a:bodyPr wrap="square" anchor="t" lIns="0" rIns="0" tIns="0" bIns="0">
            <a:spAutoFit/>
          </a:bodyPr>
          <a:lstStyle/>
          <a:p>
            <a:pPr>
              <a:spcBef>
                <a:spcPts val="0"/>
              </a:spcBef>
              <a:spcAft>
                <a:spcPts val="0"/>
              </a:spcAft>
            </a:pPr>
            <a:r>
              <a:rPr sz="1000" b="0" i="0">
                <a:solidFill>
                  <a:srgbClr val="000000"/>
                </a:solidFill>
                <a:latin typeface="Consolas"/>
              </a:rPr>
              <a:t>db.products.find(</a:t>
            </a:r>
          </a:p>
          <a:p>
            <a:pPr>
              <a:spcBef>
                <a:spcPts val="0"/>
              </a:spcBef>
              <a:spcAft>
                <a:spcPts val="0"/>
              </a:spcAft>
            </a:pPr>
            <a:r>
              <a:rPr sz="1000" b="0" i="0">
                <a:solidFill>
                  <a:srgbClr val="000000"/>
                </a:solidFill>
                <a:latin typeface="Consolas"/>
              </a:rPr>
              <a:t>  {</a:t>
            </a:r>
          </a:p>
          <a:p>
            <a:pPr>
              <a:spcBef>
                <a:spcPts val="0"/>
              </a:spcBef>
              <a:spcAft>
                <a:spcPts val="0"/>
              </a:spcAft>
            </a:pPr>
            <a:r>
              <a:rPr sz="1000" b="0" i="0">
                <a:solidFill>
                  <a:srgbClr val="000000"/>
                </a:solidFill>
                <a:latin typeface="Consolas"/>
              </a:rPr>
              <a:t>    category: "Electronics",</a:t>
            </a:r>
          </a:p>
          <a:p>
            <a:pPr>
              <a:spcBef>
                <a:spcPts val="0"/>
              </a:spcBef>
              <a:spcAft>
                <a:spcPts val="0"/>
              </a:spcAft>
            </a:pPr>
            <a:r>
              <a:rPr sz="1000" b="0" i="0">
                <a:solidFill>
                  <a:srgbClr val="000000"/>
                </a:solidFill>
                <a:latin typeface="Consolas"/>
              </a:rPr>
              <a:t>    price: { $lt: 100 }</a:t>
            </a:r>
          </a:p>
          <a:p>
            <a:pPr>
              <a:spcBef>
                <a:spcPts val="0"/>
              </a:spcBef>
              <a:spcAft>
                <a:spcPts val="0"/>
              </a:spcAft>
            </a:pPr>
            <a:r>
              <a:rPr sz="1000" b="0" i="0">
                <a:solidFill>
                  <a:srgbClr val="000000"/>
                </a:solidFill>
                <a:latin typeface="Consolas"/>
              </a:rPr>
              <a:t>  },</a:t>
            </a:r>
          </a:p>
          <a:p>
            <a:pPr>
              <a:spcBef>
                <a:spcPts val="0"/>
              </a:spcBef>
              <a:spcAft>
                <a:spcPts val="0"/>
              </a:spcAft>
            </a:pPr>
            <a:r>
              <a:rPr sz="1000" b="0" i="0">
                <a:solidFill>
                  <a:srgbClr val="000000"/>
                </a:solidFill>
                <a:latin typeface="Consolas"/>
              </a:rPr>
              <a:t>  {</a:t>
            </a:r>
          </a:p>
          <a:p>
            <a:pPr>
              <a:spcBef>
                <a:spcPts val="0"/>
              </a:spcBef>
              <a:spcAft>
                <a:spcPts val="0"/>
              </a:spcAft>
            </a:pPr>
            <a:r>
              <a:rPr sz="1000" b="0" i="0">
                <a:solidFill>
                  <a:srgbClr val="000000"/>
                </a:solidFill>
                <a:latin typeface="Consolas"/>
              </a:rPr>
              <a:t>    name: 1,</a:t>
            </a:r>
          </a:p>
          <a:p>
            <a:pPr>
              <a:spcBef>
                <a:spcPts val="0"/>
              </a:spcBef>
              <a:spcAft>
                <a:spcPts val="0"/>
              </a:spcAft>
            </a:pPr>
            <a:r>
              <a:rPr sz="1000" b="0" i="0">
                <a:solidFill>
                  <a:srgbClr val="000000"/>
                </a:solidFill>
                <a:latin typeface="Consolas"/>
              </a:rPr>
              <a:t>    price: 1</a:t>
            </a:r>
          </a:p>
          <a:p>
            <a:pPr>
              <a:spcBef>
                <a:spcPts val="0"/>
              </a:spcBef>
              <a:spcAft>
                <a:spcPts val="0"/>
              </a:spcAft>
            </a:pPr>
            <a:r>
              <a:rPr sz="1000" b="0" i="0">
                <a:solidFill>
                  <a:srgbClr val="000000"/>
                </a:solidFill>
                <a:latin typeface="Consolas"/>
              </a:rPr>
              <a:t>  }</a:t>
            </a:r>
          </a:p>
          <a:p>
            <a:pPr>
              <a:spcBef>
                <a:spcPts val="0"/>
              </a:spcBef>
              <a:spcAft>
                <a:spcPts val="0"/>
              </a:spcAft>
            </a:pPr>
            <a:r>
              <a:rPr sz="1000" b="0" i="0">
                <a:solidFill>
                  <a:srgbClr val="000000"/>
                </a:solidFill>
                <a:latin typeface="Consolas"/>
              </a:rPr>
              <a:t>)</a:t>
            </a:r>
          </a:p>
        </p:txBody>
      </p:sp>
      <p:sp>
        <p:nvSpPr>
          <p:cNvPr id="12" name="Rectangle 11"/>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5"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INDEXING</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1</a:t>
            </a:r>
          </a:p>
        </p:txBody>
      </p:sp>
      <p:sp>
        <p:nvSpPr>
          <p:cNvPr id="4" name="Oval 3"/>
          <p:cNvSpPr/>
          <p:nvPr/>
        </p:nvSpPr>
        <p:spPr>
          <a:xfrm>
            <a:off x="457200" y="2347566"/>
            <a:ext cx="237744" cy="237744"/>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347566"/>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2329278"/>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2731614"/>
            <a:ext cx="11247120" cy="81397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Indexes improve query performance by helping MongoDB locate documents without scanning the entire collection.</a:t>
            </a:r>
          </a:p>
        </p:txBody>
      </p:sp>
      <p:sp>
        <p:nvSpPr>
          <p:cNvPr id="8" name="TextBox 7"/>
          <p:cNvSpPr txBox="1"/>
          <p:nvPr/>
        </p:nvSpPr>
        <p:spPr>
          <a:xfrm>
            <a:off x="457200" y="3637026"/>
            <a:ext cx="11247120" cy="47869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Indexes should be designed around the application’s common query patterns.</a:t>
            </a:r>
          </a:p>
        </p:txBody>
      </p:sp>
      <p:sp>
        <p:nvSpPr>
          <p:cNvPr id="9" name="Rounded Rectangle 8"/>
          <p:cNvSpPr/>
          <p:nvPr/>
        </p:nvSpPr>
        <p:spPr>
          <a:xfrm>
            <a:off x="457200" y="4207158"/>
            <a:ext cx="11247120" cy="486156"/>
          </a:xfrm>
          <a:prstGeom prst="roundRect">
            <a:avLst>
              <a:gd name="adj" fmla="val 4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 y="4298598"/>
            <a:ext cx="10991088" cy="321564"/>
          </a:xfrm>
          <a:prstGeom prst="rect">
            <a:avLst/>
          </a:prstGeom>
          <a:noFill/>
        </p:spPr>
        <p:txBody>
          <a:bodyPr wrap="square" anchor="t" lIns="0" rIns="0" tIns="0" bIns="0">
            <a:spAutoFit/>
          </a:bodyPr>
          <a:lstStyle/>
          <a:p>
            <a:pPr>
              <a:spcBef>
                <a:spcPts val="0"/>
              </a:spcBef>
              <a:spcAft>
                <a:spcPts val="0"/>
              </a:spcAft>
            </a:pPr>
            <a:r>
              <a:rPr sz="1700" b="0" i="0">
                <a:solidFill>
                  <a:srgbClr val="000000"/>
                </a:solidFill>
                <a:latin typeface="Consolas"/>
              </a:rPr>
              <a:t>db.products.createIndex({ category: 1, price: 1 })</a:t>
            </a:r>
          </a:p>
        </p:txBody>
      </p:sp>
      <p:sp>
        <p:nvSpPr>
          <p:cNvPr id="11" name="Rectangle 10"/>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4"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AGGREGATION FRAMEWORK</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1</a:t>
            </a:r>
          </a:p>
        </p:txBody>
      </p:sp>
      <p:sp>
        <p:nvSpPr>
          <p:cNvPr id="4" name="Oval 3"/>
          <p:cNvSpPr/>
          <p:nvPr/>
        </p:nvSpPr>
        <p:spPr>
          <a:xfrm>
            <a:off x="457200" y="1188720"/>
            <a:ext cx="237744" cy="237744"/>
          </a:xfrm>
          <a:prstGeom prst="ellipse">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88720"/>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170432"/>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1572768"/>
            <a:ext cx="11247120" cy="47869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Aggregation pipelines process documents through a sequence of stages:</a:t>
            </a:r>
          </a:p>
        </p:txBody>
      </p:sp>
      <p:sp>
        <p:nvSpPr>
          <p:cNvPr id="8" name="TextBox 7"/>
          <p:cNvSpPr txBox="1"/>
          <p:nvPr/>
        </p:nvSpPr>
        <p:spPr>
          <a:xfrm>
            <a:off x="457200" y="2142900"/>
            <a:ext cx="11247120" cy="47869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This can be used for reporting, transformation and analytical processing.</a:t>
            </a:r>
          </a:p>
        </p:txBody>
      </p:sp>
      <p:sp>
        <p:nvSpPr>
          <p:cNvPr id="9" name="Rounded Rectangle 8"/>
          <p:cNvSpPr/>
          <p:nvPr/>
        </p:nvSpPr>
        <p:spPr>
          <a:xfrm>
            <a:off x="457200" y="2713032"/>
            <a:ext cx="11247120" cy="3218688"/>
          </a:xfrm>
          <a:prstGeom prst="roundRect">
            <a:avLst>
              <a:gd name="adj" fmla="val 4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 y="2804472"/>
            <a:ext cx="10991088" cy="3054096"/>
          </a:xfrm>
          <a:prstGeom prst="rect">
            <a:avLst/>
          </a:prstGeom>
          <a:noFill/>
        </p:spPr>
        <p:txBody>
          <a:bodyPr wrap="square" anchor="t" lIns="0" rIns="0" tIns="0" bIns="0">
            <a:spAutoFit/>
          </a:bodyPr>
          <a:lstStyle/>
          <a:p>
            <a:pPr>
              <a:spcBef>
                <a:spcPts val="0"/>
              </a:spcBef>
              <a:spcAft>
                <a:spcPts val="0"/>
              </a:spcAft>
            </a:pPr>
            <a:r>
              <a:rPr sz="1000" b="0" i="0">
                <a:solidFill>
                  <a:srgbClr val="000000"/>
                </a:solidFill>
                <a:latin typeface="Consolas"/>
              </a:rPr>
              <a:t>db.orders.aggregate([</a:t>
            </a:r>
          </a:p>
          <a:p>
            <a:pPr>
              <a:spcBef>
                <a:spcPts val="0"/>
              </a:spcBef>
              <a:spcAft>
                <a:spcPts val="0"/>
              </a:spcAft>
            </a:pPr>
            <a:r>
              <a:rPr sz="1000" b="0" i="0">
                <a:solidFill>
                  <a:srgbClr val="000000"/>
                </a:solidFill>
                <a:latin typeface="Consolas"/>
              </a:rPr>
              <a:t>  {</a:t>
            </a:r>
          </a:p>
          <a:p>
            <a:pPr>
              <a:spcBef>
                <a:spcPts val="0"/>
              </a:spcBef>
              <a:spcAft>
                <a:spcPts val="0"/>
              </a:spcAft>
            </a:pPr>
            <a:r>
              <a:rPr sz="1000" b="0" i="0">
                <a:solidFill>
                  <a:srgbClr val="000000"/>
                </a:solidFill>
                <a:latin typeface="Consolas"/>
              </a:rPr>
              <a:t>    $match: {</a:t>
            </a:r>
          </a:p>
          <a:p>
            <a:pPr>
              <a:spcBef>
                <a:spcPts val="0"/>
              </a:spcBef>
              <a:spcAft>
                <a:spcPts val="0"/>
              </a:spcAft>
            </a:pPr>
            <a:r>
              <a:rPr sz="1000" b="0" i="0">
                <a:solidFill>
                  <a:srgbClr val="000000"/>
                </a:solidFill>
                <a:latin typeface="Consolas"/>
              </a:rPr>
              <a:t>      status: "Completed"</a:t>
            </a:r>
          </a:p>
          <a:p>
            <a:pPr>
              <a:spcBef>
                <a:spcPts val="0"/>
              </a:spcBef>
              <a:spcAft>
                <a:spcPts val="0"/>
              </a:spcAft>
            </a:pPr>
            <a:r>
              <a:rPr sz="1000" b="0" i="0">
                <a:solidFill>
                  <a:srgbClr val="000000"/>
                </a:solidFill>
                <a:latin typeface="Consolas"/>
              </a:rPr>
              <a:t>    }</a:t>
            </a:r>
          </a:p>
          <a:p>
            <a:pPr>
              <a:spcBef>
                <a:spcPts val="0"/>
              </a:spcBef>
              <a:spcAft>
                <a:spcPts val="0"/>
              </a:spcAft>
            </a:pPr>
            <a:r>
              <a:rPr sz="1000" b="0" i="0">
                <a:solidFill>
                  <a:srgbClr val="000000"/>
                </a:solidFill>
                <a:latin typeface="Consolas"/>
              </a:rPr>
              <a:t>  },</a:t>
            </a:r>
          </a:p>
          <a:p>
            <a:pPr>
              <a:spcBef>
                <a:spcPts val="0"/>
              </a:spcBef>
              <a:spcAft>
                <a:spcPts val="0"/>
              </a:spcAft>
            </a:pPr>
            <a:r>
              <a:rPr sz="1000" b="0" i="0">
                <a:solidFill>
                  <a:srgbClr val="000000"/>
                </a:solidFill>
                <a:latin typeface="Consolas"/>
              </a:rPr>
              <a:t>  {</a:t>
            </a:r>
          </a:p>
          <a:p>
            <a:pPr>
              <a:spcBef>
                <a:spcPts val="0"/>
              </a:spcBef>
              <a:spcAft>
                <a:spcPts val="0"/>
              </a:spcAft>
            </a:pPr>
            <a:r>
              <a:rPr sz="1000" b="0" i="0">
                <a:solidFill>
                  <a:srgbClr val="000000"/>
                </a:solidFill>
                <a:latin typeface="Consolas"/>
              </a:rPr>
              <a:t>    $group: {</a:t>
            </a:r>
          </a:p>
          <a:p>
            <a:pPr>
              <a:spcBef>
                <a:spcPts val="0"/>
              </a:spcBef>
              <a:spcAft>
                <a:spcPts val="0"/>
              </a:spcAft>
            </a:pPr>
            <a:r>
              <a:rPr sz="1000" b="0" i="0">
                <a:solidFill>
                  <a:srgbClr val="000000"/>
                </a:solidFill>
                <a:latin typeface="Consolas"/>
              </a:rPr>
              <a:t>      _id: "$customerId",</a:t>
            </a:r>
          </a:p>
          <a:p>
            <a:pPr>
              <a:spcBef>
                <a:spcPts val="0"/>
              </a:spcBef>
              <a:spcAft>
                <a:spcPts val="0"/>
              </a:spcAft>
            </a:pPr>
            <a:r>
              <a:rPr sz="1000" b="0" i="0">
                <a:solidFill>
                  <a:srgbClr val="000000"/>
                </a:solidFill>
                <a:latin typeface="Consolas"/>
              </a:rPr>
              <a:t>      totalSpent: { $sum: "$total" }</a:t>
            </a:r>
          </a:p>
          <a:p>
            <a:pPr>
              <a:spcBef>
                <a:spcPts val="0"/>
              </a:spcBef>
              <a:spcAft>
                <a:spcPts val="0"/>
              </a:spcAft>
            </a:pPr>
            <a:r>
              <a:rPr sz="1000" b="0" i="0">
                <a:solidFill>
                  <a:srgbClr val="000000"/>
                </a:solidFill>
                <a:latin typeface="Consolas"/>
              </a:rPr>
              <a:t>    }</a:t>
            </a:r>
          </a:p>
          <a:p>
            <a:pPr>
              <a:spcBef>
                <a:spcPts val="0"/>
              </a:spcBef>
              <a:spcAft>
                <a:spcPts val="0"/>
              </a:spcAft>
            </a:pPr>
            <a:r>
              <a:rPr sz="1000" b="0" i="0">
                <a:solidFill>
                  <a:srgbClr val="000000"/>
                </a:solidFill>
                <a:latin typeface="Consolas"/>
              </a:rPr>
              <a:t>  },</a:t>
            </a:r>
          </a:p>
          <a:p>
            <a:pPr>
              <a:spcBef>
                <a:spcPts val="0"/>
              </a:spcBef>
              <a:spcAft>
                <a:spcPts val="0"/>
              </a:spcAft>
            </a:pPr>
            <a:r>
              <a:rPr sz="1000" b="0" i="0">
                <a:solidFill>
                  <a:srgbClr val="000000"/>
                </a:solidFill>
                <a:latin typeface="Consolas"/>
              </a:rPr>
              <a:t>  {</a:t>
            </a:r>
          </a:p>
          <a:p>
            <a:pPr>
              <a:spcBef>
                <a:spcPts val="0"/>
              </a:spcBef>
              <a:spcAft>
                <a:spcPts val="0"/>
              </a:spcAft>
            </a:pPr>
            <a:r>
              <a:rPr sz="1000" b="0" i="0">
                <a:solidFill>
                  <a:srgbClr val="000000"/>
                </a:solidFill>
                <a:latin typeface="Consolas"/>
              </a:rPr>
              <a:t>    $sort: {</a:t>
            </a:r>
          </a:p>
          <a:p>
            <a:pPr>
              <a:spcBef>
                <a:spcPts val="0"/>
              </a:spcBef>
              <a:spcAft>
                <a:spcPts val="0"/>
              </a:spcAft>
            </a:pPr>
            <a:r>
              <a:rPr sz="1000" b="0" i="0">
                <a:solidFill>
                  <a:srgbClr val="000000"/>
                </a:solidFill>
                <a:latin typeface="Consolas"/>
              </a:rPr>
              <a:t>      totalSpent: -1</a:t>
            </a:r>
          </a:p>
          <a:p>
            <a:pPr>
              <a:spcBef>
                <a:spcPts val="0"/>
              </a:spcBef>
              <a:spcAft>
                <a:spcPts val="0"/>
              </a:spcAft>
            </a:pPr>
            <a:r>
              <a:rPr sz="1000" b="0" i="0">
                <a:solidFill>
                  <a:srgbClr val="000000"/>
                </a:solidFill>
                <a:latin typeface="Consolas"/>
              </a:rPr>
              <a:t>    }</a:t>
            </a:r>
          </a:p>
          <a:p>
            <a:pPr>
              <a:spcBef>
                <a:spcPts val="0"/>
              </a:spcBef>
              <a:spcAft>
                <a:spcPts val="0"/>
              </a:spcAft>
            </a:pPr>
            <a:r>
              <a:rPr sz="1000" b="0" i="0">
                <a:solidFill>
                  <a:srgbClr val="000000"/>
                </a:solidFill>
                <a:latin typeface="Consolas"/>
              </a:rPr>
              <a:t>  }</a:t>
            </a:r>
          </a:p>
          <a:p>
            <a:pPr>
              <a:spcBef>
                <a:spcPts val="0"/>
              </a:spcBef>
              <a:spcAft>
                <a:spcPts val="0"/>
              </a:spcAft>
            </a:pPr>
            <a:r>
              <a:rPr sz="1000" b="0" i="0">
                <a:solidFill>
                  <a:srgbClr val="000000"/>
                </a:solidFill>
                <a:latin typeface="Consolas"/>
              </a:rPr>
              <a:t>])</a:t>
            </a:r>
          </a:p>
        </p:txBody>
      </p:sp>
      <p:sp>
        <p:nvSpPr>
          <p:cNvPr id="11" name="Rectangle 10"/>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4"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REPLICATION, SCALING, AND TRANSACTIONS</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1</a:t>
            </a:r>
          </a:p>
        </p:txBody>
      </p:sp>
      <p:sp>
        <p:nvSpPr>
          <p:cNvPr id="4" name="Oval 3"/>
          <p:cNvSpPr/>
          <p:nvPr/>
        </p:nvSpPr>
        <p:spPr>
          <a:xfrm>
            <a:off x="457200" y="1848378"/>
            <a:ext cx="237744" cy="237744"/>
          </a:xfrm>
          <a:prstGeom prst="ellipse">
            <a:avLst/>
          </a:prstGeom>
          <a:solidFill>
            <a:srgbClr val="5B3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848378"/>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830090"/>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2232426"/>
            <a:ext cx="11247120" cy="81397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Replica sets protect applications from individual server failures by maintaining multiple copies of the data and supporting automatic election of a new primary.</a:t>
            </a:r>
          </a:p>
        </p:txBody>
      </p:sp>
      <p:sp>
        <p:nvSpPr>
          <p:cNvPr id="8" name="TextBox 7"/>
          <p:cNvSpPr txBox="1"/>
          <p:nvPr/>
        </p:nvSpPr>
        <p:spPr>
          <a:xfrm>
            <a:off x="457200" y="3137838"/>
            <a:ext cx="11247120" cy="81397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MongoDB can distribute data across multiple shards. New servers can be added as the dataset and workload grow.</a:t>
            </a:r>
          </a:p>
        </p:txBody>
      </p:sp>
      <p:sp>
        <p:nvSpPr>
          <p:cNvPr id="9" name="TextBox 8"/>
          <p:cNvSpPr txBox="1"/>
          <p:nvPr/>
        </p:nvSpPr>
        <p:spPr>
          <a:xfrm>
            <a:off x="457200" y="4043250"/>
            <a:ext cx="11247120" cy="114925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Although MongoDB has a flexible schema, it can still enforce document rules using schema validation. It also supports atomic operations and multi-document transactions when a business process requires them.</a:t>
            </a:r>
          </a:p>
        </p:txBody>
      </p:sp>
      <p:sp>
        <p:nvSpPr>
          <p:cNvPr id="10" name="Rectangle 9"/>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3"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PRACTICAL BENEFITS</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1</a:t>
            </a:r>
          </a:p>
        </p:txBody>
      </p:sp>
      <p:sp>
        <p:nvSpPr>
          <p:cNvPr id="4" name="Oval 3"/>
          <p:cNvSpPr/>
          <p:nvPr/>
        </p:nvSpPr>
        <p:spPr>
          <a:xfrm>
            <a:off x="457200" y="1448136"/>
            <a:ext cx="237744" cy="237744"/>
          </a:xfrm>
          <a:prstGeom prst="ellipse">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448136"/>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429848"/>
            <a:ext cx="351129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1832184"/>
            <a:ext cx="3840480" cy="283854"/>
          </a:xfrm>
          <a:prstGeom prst="rect">
            <a:avLst/>
          </a:prstGeom>
          <a:noFill/>
        </p:spPr>
        <p:txBody>
          <a:bodyPr wrap="square" anchor="t" lIns="0" rIns="0" tIns="0" bIns="0">
            <a:spAutoFit/>
          </a:bodyPr>
          <a:lstStyle/>
          <a:p>
            <a:pPr>
              <a:spcBef>
                <a:spcPts val="0"/>
              </a:spcBef>
              <a:spcAft>
                <a:spcPts val="423"/>
              </a:spcAft>
            </a:pPr>
            <a:r>
              <a:rPr sz="1100" b="0" i="0">
                <a:solidFill>
                  <a:srgbClr val="000000"/>
                </a:solidFill>
                <a:latin typeface="Nirmala UI"/>
              </a:rPr>
              <a:t>MongoDB can provide:</a:t>
            </a:r>
          </a:p>
        </p:txBody>
      </p:sp>
      <p:sp>
        <p:nvSpPr>
          <p:cNvPr id="8" name="TextBox 7"/>
          <p:cNvSpPr txBox="1"/>
          <p:nvPr/>
        </p:nvSpPr>
        <p:spPr>
          <a:xfrm>
            <a:off x="457200" y="2207478"/>
            <a:ext cx="3840480" cy="2081466"/>
          </a:xfrm>
          <a:prstGeom prst="rect">
            <a:avLst/>
          </a:prstGeom>
          <a:noFill/>
        </p:spPr>
        <p:txBody>
          <a:bodyPr wrap="square" anchor="t" lIns="0" rIns="0" tIns="0" bIns="0">
            <a:spAutoFit/>
          </a:bodyPr>
          <a:lstStyle/>
          <a:p>
            <a:pPr>
              <a:spcBef>
                <a:spcPts val="0"/>
              </a:spcBef>
              <a:spcAft>
                <a:spcPts val="423"/>
              </a:spcAft>
            </a:pPr>
            <a:r>
              <a:rPr sz="1100" b="0" i="0">
                <a:solidFill>
                  <a:srgbClr val="000000"/>
                </a:solidFill>
                <a:latin typeface="Nirmala UI"/>
              </a:rPr>
              <a:t>•  </a:t>
            </a:r>
            <a:r>
              <a:rPr sz="1100" b="0" i="0">
                <a:solidFill>
                  <a:srgbClr val="000000"/>
                </a:solidFill>
                <a:latin typeface="Nirmala UI"/>
              </a:rPr>
              <a:t>Faster development with JSON-like documents</a:t>
            </a:r>
          </a:p>
          <a:p>
            <a:pPr>
              <a:spcBef>
                <a:spcPts val="0"/>
              </a:spcBef>
              <a:spcAft>
                <a:spcPts val="423"/>
              </a:spcAft>
            </a:pPr>
            <a:r>
              <a:rPr sz="1100" b="0" i="0">
                <a:solidFill>
                  <a:srgbClr val="000000"/>
                </a:solidFill>
                <a:latin typeface="Nirmala UI"/>
              </a:rPr>
              <a:t>•  </a:t>
            </a:r>
            <a:r>
              <a:rPr sz="1100" b="0" i="0">
                <a:solidFill>
                  <a:srgbClr val="000000"/>
                </a:solidFill>
                <a:latin typeface="Nirmala UI"/>
              </a:rPr>
              <a:t>Natural mapping between application objects and stored data</a:t>
            </a:r>
          </a:p>
          <a:p>
            <a:pPr>
              <a:spcBef>
                <a:spcPts val="0"/>
              </a:spcBef>
              <a:spcAft>
                <a:spcPts val="423"/>
              </a:spcAft>
            </a:pPr>
            <a:r>
              <a:rPr sz="1100" b="0" i="0">
                <a:solidFill>
                  <a:srgbClr val="000000"/>
                </a:solidFill>
                <a:latin typeface="Nirmala UI"/>
              </a:rPr>
              <a:t>•  </a:t>
            </a:r>
            <a:r>
              <a:rPr sz="1100" b="0" i="0">
                <a:solidFill>
                  <a:srgbClr val="000000"/>
                </a:solidFill>
                <a:latin typeface="Nirmala UI"/>
              </a:rPr>
              <a:t>Support for changing business requirements</a:t>
            </a:r>
          </a:p>
          <a:p>
            <a:pPr>
              <a:spcBef>
                <a:spcPts val="0"/>
              </a:spcBef>
              <a:spcAft>
                <a:spcPts val="423"/>
              </a:spcAft>
            </a:pPr>
            <a:r>
              <a:rPr sz="1100" b="0" i="0">
                <a:solidFill>
                  <a:srgbClr val="000000"/>
                </a:solidFill>
                <a:latin typeface="Nirmala UI"/>
              </a:rPr>
              <a:t>•  </a:t>
            </a:r>
            <a:r>
              <a:rPr sz="1100" b="0" i="0">
                <a:solidFill>
                  <a:srgbClr val="000000"/>
                </a:solidFill>
                <a:latin typeface="Nirmala UI"/>
              </a:rPr>
              <a:t>Efficient storage of nested and hierarchical information</a:t>
            </a:r>
          </a:p>
          <a:p>
            <a:pPr>
              <a:spcBef>
                <a:spcPts val="0"/>
              </a:spcBef>
              <a:spcAft>
                <a:spcPts val="423"/>
              </a:spcAft>
            </a:pPr>
            <a:r>
              <a:rPr sz="1100" b="0" i="0">
                <a:solidFill>
                  <a:srgbClr val="000000"/>
                </a:solidFill>
                <a:latin typeface="Nirmala UI"/>
              </a:rPr>
              <a:t>•  </a:t>
            </a:r>
            <a:r>
              <a:rPr sz="1100" b="0" i="0">
                <a:solidFill>
                  <a:srgbClr val="000000"/>
                </a:solidFill>
                <a:latin typeface="Nirmala UI"/>
              </a:rPr>
              <a:t>High availability through replication</a:t>
            </a:r>
          </a:p>
          <a:p>
            <a:pPr>
              <a:spcBef>
                <a:spcPts val="0"/>
              </a:spcBef>
              <a:spcAft>
                <a:spcPts val="423"/>
              </a:spcAft>
            </a:pPr>
            <a:r>
              <a:rPr sz="1100" b="0" i="0">
                <a:solidFill>
                  <a:srgbClr val="000000"/>
                </a:solidFill>
                <a:latin typeface="Nirmala UI"/>
              </a:rPr>
              <a:t>•  </a:t>
            </a:r>
            <a:r>
              <a:rPr sz="1100" b="0" i="0">
                <a:solidFill>
                  <a:srgbClr val="000000"/>
                </a:solidFill>
                <a:latin typeface="Nirmala UI"/>
              </a:rPr>
              <a:t>Horizontal scaling through sharding</a:t>
            </a:r>
          </a:p>
          <a:p>
            <a:pPr>
              <a:spcBef>
                <a:spcPts val="0"/>
              </a:spcBef>
              <a:spcAft>
                <a:spcPts val="423"/>
              </a:spcAft>
            </a:pPr>
            <a:r>
              <a:rPr sz="1100" b="0" i="0">
                <a:solidFill>
                  <a:srgbClr val="000000"/>
                </a:solidFill>
                <a:latin typeface="Nirmala UI"/>
              </a:rPr>
              <a:t>•  </a:t>
            </a:r>
            <a:r>
              <a:rPr sz="1100" b="0" i="0">
                <a:solidFill>
                  <a:srgbClr val="000000"/>
                </a:solidFill>
                <a:latin typeface="Nirmala UI"/>
              </a:rPr>
              <a:t>Powerful operational and analytical queries</a:t>
            </a:r>
          </a:p>
        </p:txBody>
      </p:sp>
      <p:sp>
        <p:nvSpPr>
          <p:cNvPr id="9" name="TextBox 8"/>
          <p:cNvSpPr txBox="1"/>
          <p:nvPr/>
        </p:nvSpPr>
        <p:spPr>
          <a:xfrm>
            <a:off x="457200" y="4380384"/>
            <a:ext cx="3840480" cy="837066"/>
          </a:xfrm>
          <a:prstGeom prst="rect">
            <a:avLst/>
          </a:prstGeom>
          <a:noFill/>
        </p:spPr>
        <p:txBody>
          <a:bodyPr wrap="square" anchor="t" lIns="0" rIns="0" tIns="0" bIns="0">
            <a:spAutoFit/>
          </a:bodyPr>
          <a:lstStyle/>
          <a:p>
            <a:pPr>
              <a:spcBef>
                <a:spcPts val="0"/>
              </a:spcBef>
              <a:spcAft>
                <a:spcPts val="423"/>
              </a:spcAft>
            </a:pPr>
            <a:r>
              <a:rPr sz="1100" b="0" i="0">
                <a:solidFill>
                  <a:srgbClr val="000000"/>
                </a:solidFill>
                <a:latin typeface="Nirmala UI"/>
              </a:rPr>
              <a:t>A good MongoDB design does not simply move relational tables into collections. It models documents around how the application reads, writes and updates its data.</a:t>
            </a:r>
          </a:p>
        </p:txBody>
      </p:sp>
      <p:sp>
        <p:nvSpPr>
          <p:cNvPr id="10" name="TextBox 9"/>
          <p:cNvSpPr txBox="1"/>
          <p:nvPr/>
        </p:nvSpPr>
        <p:spPr>
          <a:xfrm>
            <a:off x="457200" y="5308890"/>
            <a:ext cx="3840480" cy="283854"/>
          </a:xfrm>
          <a:prstGeom prst="rect">
            <a:avLst/>
          </a:prstGeom>
          <a:noFill/>
        </p:spPr>
        <p:txBody>
          <a:bodyPr wrap="square" anchor="t" lIns="0" rIns="0" tIns="0" bIns="0">
            <a:spAutoFit/>
          </a:bodyPr>
          <a:lstStyle/>
          <a:p>
            <a:pPr>
              <a:spcBef>
                <a:spcPts val="0"/>
              </a:spcBef>
              <a:spcAft>
                <a:spcPts val="423"/>
              </a:spcAft>
            </a:pPr>
            <a:r>
              <a:rPr sz="1100" b="0" i="0">
                <a:solidFill>
                  <a:srgbClr val="000000"/>
                </a:solidFill>
                <a:latin typeface="Nirmala UI"/>
              </a:rPr>
              <a:t>The central principle is:</a:t>
            </a:r>
          </a:p>
        </p:txBody>
      </p:sp>
      <p:sp>
        <p:nvSpPr>
          <p:cNvPr id="11" name="Rectangle 10"/>
          <p:cNvSpPr/>
          <p:nvPr/>
        </p:nvSpPr>
        <p:spPr>
          <a:xfrm>
            <a:off x="4471035" y="1371660"/>
            <a:ext cx="7242810" cy="4370712"/>
          </a:xfrm>
          <a:prstGeom prst="rect">
            <a:avLst/>
          </a:prstGeom>
          <a:solidFill>
            <a:srgbClr val="FFFFFF"/>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image.png"/>
          <p:cNvPicPr>
            <a:picLocks noChangeAspect="1"/>
          </p:cNvPicPr>
          <p:nvPr/>
        </p:nvPicPr>
        <p:blipFill>
          <a:blip r:embed="rId2"/>
          <a:stretch>
            <a:fillRect/>
          </a:stretch>
        </p:blipFill>
        <p:spPr>
          <a:xfrm>
            <a:off x="4480560" y="1381185"/>
            <a:ext cx="7223760" cy="4351662"/>
          </a:xfrm>
          <a:prstGeom prst="rect">
            <a:avLst/>
          </a:prstGeom>
        </p:spPr>
      </p:pic>
      <p:sp>
        <p:nvSpPr>
          <p:cNvPr id="13" name="Rounded Rectangle 12"/>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Store information together when the application commonly accesses it together.</a:t>
            </a:r>
          </a:p>
        </p:txBody>
      </p:sp>
      <p:sp>
        <p:nvSpPr>
          <p:cNvPr id="15" name="Rectangle 14"/>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8"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MODULE SUMMARY</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1</a:t>
            </a:r>
          </a:p>
        </p:txBody>
      </p:sp>
      <p:sp>
        <p:nvSpPr>
          <p:cNvPr id="4" name="Oval 3"/>
          <p:cNvSpPr/>
          <p:nvPr/>
        </p:nvSpPr>
        <p:spPr>
          <a:xfrm>
            <a:off x="457200" y="1769052"/>
            <a:ext cx="237744" cy="237744"/>
          </a:xfrm>
          <a:prstGeom prst="ellipse">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769052"/>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750764"/>
            <a:ext cx="351129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2153100"/>
            <a:ext cx="3840480" cy="3118728"/>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  </a:t>
            </a:r>
            <a:r>
              <a:rPr sz="2000" b="0" i="0">
                <a:solidFill>
                  <a:srgbClr val="000000"/>
                </a:solidFill>
                <a:latin typeface="Nirmala UI"/>
              </a:rPr>
              <a:t>NoSQL is more than one model</a:t>
            </a:r>
          </a:p>
          <a:p>
            <a:pPr>
              <a:spcBef>
                <a:spcPts val="0"/>
              </a:spcBef>
              <a:spcAft>
                <a:spcPts val="769"/>
              </a:spcAft>
            </a:pPr>
            <a:r>
              <a:rPr sz="2000" b="0" i="0">
                <a:solidFill>
                  <a:srgbClr val="000000"/>
                </a:solidFill>
                <a:latin typeface="Nirmala UI"/>
              </a:rPr>
              <a:t>•  </a:t>
            </a:r>
            <a:r>
              <a:rPr sz="2000" b="0" i="0">
                <a:solidFill>
                  <a:srgbClr val="000000"/>
                </a:solidFill>
                <a:latin typeface="Nirmala UI"/>
              </a:rPr>
              <a:t>MongoDB stores BSON documents</a:t>
            </a:r>
          </a:p>
          <a:p>
            <a:pPr>
              <a:spcBef>
                <a:spcPts val="0"/>
              </a:spcBef>
              <a:spcAft>
                <a:spcPts val="769"/>
              </a:spcAft>
            </a:pPr>
            <a:r>
              <a:rPr sz="2000" b="0" i="0">
                <a:solidFill>
                  <a:srgbClr val="000000"/>
                </a:solidFill>
                <a:latin typeface="Nirmala UI"/>
              </a:rPr>
              <a:t>•  </a:t>
            </a:r>
            <a:r>
              <a:rPr sz="2000" b="0" i="0">
                <a:solidFill>
                  <a:srgbClr val="000000"/>
                </a:solidFill>
                <a:latin typeface="Nirmala UI"/>
              </a:rPr>
              <a:t>Flexible schema still needs design</a:t>
            </a:r>
          </a:p>
          <a:p>
            <a:pPr>
              <a:spcBef>
                <a:spcPts val="0"/>
              </a:spcBef>
              <a:spcAft>
                <a:spcPts val="769"/>
              </a:spcAft>
            </a:pPr>
            <a:r>
              <a:rPr sz="2000" b="0" i="0">
                <a:solidFill>
                  <a:srgbClr val="000000"/>
                </a:solidFill>
                <a:latin typeface="Nirmala UI"/>
              </a:rPr>
              <a:t>•  </a:t>
            </a:r>
            <a:r>
              <a:rPr sz="2000" b="0" i="0">
                <a:solidFill>
                  <a:srgbClr val="000000"/>
                </a:solidFill>
                <a:latin typeface="Nirmala UI"/>
              </a:rPr>
              <a:t>Choose from the </a:t>
            </a:r>
            <a:r>
              <a:rPr sz="2000" b="1" i="0">
                <a:solidFill>
                  <a:srgbClr val="000000"/>
                </a:solidFill>
                <a:latin typeface="Nirmala UI"/>
              </a:rPr>
              <a:t>access pattern</a:t>
            </a:r>
          </a:p>
        </p:txBody>
      </p:sp>
      <p:sp>
        <p:nvSpPr>
          <p:cNvPr id="8" name="Rectangle 7"/>
          <p:cNvSpPr/>
          <p:nvPr/>
        </p:nvSpPr>
        <p:spPr>
          <a:xfrm>
            <a:off x="4471035" y="1541141"/>
            <a:ext cx="7242810" cy="4031749"/>
          </a:xfrm>
          <a:prstGeom prst="rect">
            <a:avLst/>
          </a:prstGeom>
          <a:solidFill>
            <a:srgbClr val="FFFFFF"/>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image.png"/>
          <p:cNvPicPr>
            <a:picLocks noChangeAspect="1"/>
          </p:cNvPicPr>
          <p:nvPr/>
        </p:nvPicPr>
        <p:blipFill>
          <a:blip r:embed="rId2"/>
          <a:stretch>
            <a:fillRect/>
          </a:stretch>
        </p:blipFill>
        <p:spPr>
          <a:xfrm>
            <a:off x="4480560" y="1550666"/>
            <a:ext cx="7223760" cy="4012699"/>
          </a:xfrm>
          <a:prstGeom prst="rect">
            <a:avLst/>
          </a:prstGeom>
        </p:spPr>
      </p:pic>
      <p:sp>
        <p:nvSpPr>
          <p:cNvPr id="10" name="Rectangle 9"/>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3"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KNOWLEDGE CHECK</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1</a:t>
            </a:r>
          </a:p>
        </p:txBody>
      </p:sp>
      <p:sp>
        <p:nvSpPr>
          <p:cNvPr id="4" name="Oval 3"/>
          <p:cNvSpPr/>
          <p:nvPr/>
        </p:nvSpPr>
        <p:spPr>
          <a:xfrm>
            <a:off x="457200" y="1573668"/>
            <a:ext cx="237744" cy="237744"/>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573668"/>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555380"/>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1957716"/>
            <a:ext cx="11247120" cy="3509496"/>
          </a:xfrm>
          <a:prstGeom prst="rect">
            <a:avLst/>
          </a:prstGeom>
          <a:noFill/>
        </p:spPr>
        <p:txBody>
          <a:bodyPr wrap="square" anchor="t" lIns="0" rIns="0" tIns="0" bIns="0">
            <a:spAutoFit/>
          </a:bodyPr>
          <a:lstStyle/>
          <a:p>
            <a:pPr>
              <a:spcBef>
                <a:spcPts val="0"/>
              </a:spcBef>
              <a:spcAft>
                <a:spcPts val="769"/>
              </a:spcAft>
            </a:pPr>
            <a:r>
              <a:rPr sz="2000" b="1" i="0">
                <a:solidFill>
                  <a:srgbClr val="D1282E"/>
                </a:solidFill>
                <a:latin typeface="Nirmala UI"/>
              </a:rPr>
              <a:t>1. </a:t>
            </a:r>
            <a:r>
              <a:rPr sz="2000" b="0" i="0">
                <a:solidFill>
                  <a:srgbClr val="000000"/>
                </a:solidFill>
                <a:latin typeface="Nirmala UI"/>
              </a:rPr>
              <a:t>What does “Not Only SQL” communicate?</a:t>
            </a:r>
          </a:p>
          <a:p>
            <a:pPr>
              <a:spcBef>
                <a:spcPts val="0"/>
              </a:spcBef>
              <a:spcAft>
                <a:spcPts val="769"/>
              </a:spcAft>
            </a:pPr>
            <a:r>
              <a:rPr sz="2000" b="1" i="0">
                <a:solidFill>
                  <a:srgbClr val="D1282E"/>
                </a:solidFill>
                <a:latin typeface="Nirmala UI"/>
              </a:rPr>
              <a:t>2. </a:t>
            </a:r>
            <a:r>
              <a:rPr sz="2000" b="0" i="0">
                <a:solidFill>
                  <a:srgbClr val="000000"/>
                </a:solidFill>
                <a:latin typeface="Nirmala UI"/>
              </a:rPr>
              <a:t>Which NoSQL model fits highly connected data?</a:t>
            </a:r>
          </a:p>
          <a:p>
            <a:pPr>
              <a:spcBef>
                <a:spcPts val="0"/>
              </a:spcBef>
              <a:spcAft>
                <a:spcPts val="769"/>
              </a:spcAft>
            </a:pPr>
            <a:r>
              <a:rPr sz="2000" b="1" i="0">
                <a:solidFill>
                  <a:srgbClr val="D1282E"/>
                </a:solidFill>
                <a:latin typeface="Nirmala UI"/>
              </a:rPr>
              <a:t>3. </a:t>
            </a:r>
            <a:r>
              <a:rPr sz="2000" b="0" i="0">
                <a:solidFill>
                  <a:srgbClr val="000000"/>
                </a:solidFill>
                <a:latin typeface="Nirmala UI"/>
              </a:rPr>
              <a:t>MongoDB equivalent of a relational </a:t>
            </a:r>
            <a:r>
              <a:rPr sz="2000" b="1" i="0">
                <a:solidFill>
                  <a:srgbClr val="000000"/>
                </a:solidFill>
                <a:latin typeface="Nirmala UI"/>
              </a:rPr>
              <a:t>row</a:t>
            </a:r>
            <a:r>
              <a:rPr sz="2000" b="0" i="0">
                <a:solidFill>
                  <a:srgbClr val="000000"/>
                </a:solidFill>
                <a:latin typeface="Nirmala UI"/>
              </a:rPr>
              <a:t>?</a:t>
            </a:r>
          </a:p>
          <a:p>
            <a:pPr>
              <a:spcBef>
                <a:spcPts val="0"/>
              </a:spcBef>
              <a:spcAft>
                <a:spcPts val="769"/>
              </a:spcAft>
            </a:pPr>
            <a:r>
              <a:rPr sz="2000" b="1" i="0">
                <a:solidFill>
                  <a:srgbClr val="D1282E"/>
                </a:solidFill>
                <a:latin typeface="Nirmala UI"/>
              </a:rPr>
              <a:t>4. </a:t>
            </a:r>
            <a:r>
              <a:rPr sz="2000" b="0" i="0">
                <a:solidFill>
                  <a:srgbClr val="000000"/>
                </a:solidFill>
                <a:latin typeface="Nirmala UI"/>
              </a:rPr>
              <a:t>MongoDB equivalent of a </a:t>
            </a:r>
            <a:r>
              <a:rPr sz="2000" b="1" i="0">
                <a:solidFill>
                  <a:srgbClr val="000000"/>
                </a:solidFill>
                <a:latin typeface="Nirmala UI"/>
              </a:rPr>
              <a:t>table</a:t>
            </a:r>
            <a:r>
              <a:rPr sz="2000" b="0" i="0">
                <a:solidFill>
                  <a:srgbClr val="000000"/>
                </a:solidFill>
                <a:latin typeface="Nirmala UI"/>
              </a:rPr>
              <a:t>?</a:t>
            </a:r>
          </a:p>
          <a:p>
            <a:pPr>
              <a:spcBef>
                <a:spcPts val="0"/>
              </a:spcBef>
              <a:spcAft>
                <a:spcPts val="769"/>
              </a:spcAft>
            </a:pPr>
            <a:r>
              <a:rPr sz="2000" b="1" i="0">
                <a:solidFill>
                  <a:srgbClr val="D1282E"/>
                </a:solidFill>
                <a:latin typeface="Nirmala UI"/>
              </a:rPr>
              <a:t>5. </a:t>
            </a:r>
            <a:r>
              <a:rPr sz="2000" b="0" i="0">
                <a:solidFill>
                  <a:srgbClr val="000000"/>
                </a:solidFill>
                <a:latin typeface="Nirmala UI"/>
              </a:rPr>
              <a:t>Which field uniquely identifies a document?</a:t>
            </a:r>
          </a:p>
          <a:p>
            <a:pPr>
              <a:spcBef>
                <a:spcPts val="0"/>
              </a:spcBef>
              <a:spcAft>
                <a:spcPts val="769"/>
              </a:spcAft>
            </a:pPr>
            <a:r>
              <a:rPr sz="2000" b="1" i="0">
                <a:solidFill>
                  <a:srgbClr val="D1282E"/>
                </a:solidFill>
                <a:latin typeface="Nirmala UI"/>
              </a:rPr>
              <a:t>6. </a:t>
            </a:r>
            <a:r>
              <a:rPr sz="2000" b="0" i="0">
                <a:solidFill>
                  <a:srgbClr val="000000"/>
                </a:solidFill>
                <a:latin typeface="Nirmala UI"/>
              </a:rPr>
              <a:t>What is BSON?</a:t>
            </a:r>
          </a:p>
          <a:p>
            <a:pPr>
              <a:spcBef>
                <a:spcPts val="0"/>
              </a:spcBef>
              <a:spcAft>
                <a:spcPts val="769"/>
              </a:spcAft>
            </a:pPr>
            <a:r>
              <a:rPr sz="2000" b="1" i="0">
                <a:solidFill>
                  <a:srgbClr val="D1282E"/>
                </a:solidFill>
                <a:latin typeface="Nirmala UI"/>
              </a:rPr>
              <a:t>7. </a:t>
            </a:r>
            <a:r>
              <a:rPr sz="2000" b="0" i="0">
                <a:solidFill>
                  <a:srgbClr val="000000"/>
                </a:solidFill>
                <a:latin typeface="Nirmala UI"/>
              </a:rPr>
              <a:t>Why might a product catalog fit a document database?</a:t>
            </a:r>
          </a:p>
          <a:p>
            <a:pPr>
              <a:spcBef>
                <a:spcPts val="0"/>
              </a:spcBef>
              <a:spcAft>
                <a:spcPts val="769"/>
              </a:spcAft>
            </a:pPr>
            <a:r>
              <a:rPr sz="2000" b="1" i="0">
                <a:solidFill>
                  <a:srgbClr val="D1282E"/>
                </a:solidFill>
                <a:latin typeface="Nirmala UI"/>
              </a:rPr>
              <a:t>8. </a:t>
            </a:r>
            <a:r>
              <a:rPr sz="2000" b="0" i="0">
                <a:solidFill>
                  <a:srgbClr val="000000"/>
                </a:solidFill>
                <a:latin typeface="Nirmala UI"/>
              </a:rPr>
              <a:t>Does flexible schema mean schema design is unnecessary?</a:t>
            </a:r>
          </a:p>
        </p:txBody>
      </p:sp>
      <p:sp>
        <p:nvSpPr>
          <p:cNvPr id="8" name="Rectangle 7"/>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1"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EXERCISE 1.1 — CHOOSE THE DATA MODEL</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1</a:t>
            </a:r>
          </a:p>
        </p:txBody>
      </p:sp>
      <p:sp>
        <p:nvSpPr>
          <p:cNvPr id="4" name="Oval 3"/>
          <p:cNvSpPr/>
          <p:nvPr/>
        </p:nvSpPr>
        <p:spPr>
          <a:xfrm>
            <a:off x="457200" y="2195850"/>
            <a:ext cx="237744" cy="237744"/>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195850"/>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2177562"/>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2579898"/>
            <a:ext cx="11247120" cy="47869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Match each scenario to </a:t>
            </a:r>
            <a:r>
              <a:rPr sz="2000" b="1" i="0">
                <a:solidFill>
                  <a:srgbClr val="000000"/>
                </a:solidFill>
                <a:latin typeface="Nirmala UI"/>
              </a:rPr>
              <a:t>one</a:t>
            </a:r>
            <a:r>
              <a:rPr sz="2000" b="0" i="0">
                <a:solidFill>
                  <a:srgbClr val="000000"/>
                </a:solidFill>
                <a:latin typeface="Nirmala UI"/>
              </a:rPr>
              <a:t> model:</a:t>
            </a:r>
          </a:p>
        </p:txBody>
      </p:sp>
      <p:sp>
        <p:nvSpPr>
          <p:cNvPr id="8" name="TextBox 7"/>
          <p:cNvSpPr txBox="1"/>
          <p:nvPr/>
        </p:nvSpPr>
        <p:spPr>
          <a:xfrm>
            <a:off x="457200" y="3150030"/>
            <a:ext cx="11247120" cy="47869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Relational · Document · Key-value · Column-family · Graph</a:t>
            </a:r>
          </a:p>
        </p:txBody>
      </p:sp>
      <p:sp>
        <p:nvSpPr>
          <p:cNvPr id="9" name="TextBox 8"/>
          <p:cNvSpPr txBox="1"/>
          <p:nvPr/>
        </p:nvSpPr>
        <p:spPr>
          <a:xfrm>
            <a:off x="457200" y="3720162"/>
            <a:ext cx="11247120" cy="47869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The </a:t>
            </a:r>
            <a:r>
              <a:rPr sz="2000" b="1" i="0">
                <a:solidFill>
                  <a:srgbClr val="000000"/>
                </a:solidFill>
                <a:latin typeface="Nirmala UI"/>
              </a:rPr>
              <a:t>justification</a:t>
            </a:r>
            <a:r>
              <a:rPr sz="2000" b="0" i="0">
                <a:solidFill>
                  <a:srgbClr val="000000"/>
                </a:solidFill>
                <a:latin typeface="Nirmala UI"/>
              </a:rPr>
              <a:t> matters more than the product name.</a:t>
            </a:r>
          </a:p>
        </p:txBody>
      </p:sp>
      <p:sp>
        <p:nvSpPr>
          <p:cNvPr id="10" name="Rounded Rectangle 9"/>
          <p:cNvSpPr/>
          <p:nvPr/>
        </p:nvSpPr>
        <p:spPr>
          <a:xfrm>
            <a:off x="457200" y="4290294"/>
            <a:ext cx="11247120" cy="554736"/>
          </a:xfrm>
          <a:prstGeom prst="roundRect">
            <a:avLst>
              <a:gd name="adj" fmla="val 6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4290294"/>
            <a:ext cx="11027664" cy="554736"/>
          </a:xfrm>
          <a:prstGeom prst="rect">
            <a:avLst/>
          </a:prstGeom>
          <a:noFill/>
        </p:spPr>
        <p:txBody>
          <a:bodyPr wrap="square" anchor="ctr" lIns="0" rIns="0" tIns="0" bIns="0">
            <a:spAutoFit/>
          </a:bodyPr>
          <a:lstStyle/>
          <a:p>
            <a:r>
              <a:rPr sz="1200" b="1" i="0">
                <a:solidFill>
                  <a:srgbClr val="D1282E"/>
                </a:solidFill>
                <a:latin typeface="Nirmala UI"/>
              </a:rPr>
              <a:t>LAB GUIDE   </a:t>
            </a:r>
            <a:r>
              <a:rPr sz="2000" b="0" i="0">
                <a:solidFill>
                  <a:srgbClr val="000000"/>
                </a:solidFill>
                <a:latin typeface="Consolas"/>
              </a:rPr>
              <a:t>Exercise 1.1</a:t>
            </a:r>
          </a:p>
        </p:txBody>
      </p:sp>
      <p:sp>
        <p:nvSpPr>
          <p:cNvPr id="12" name="Rectangle 11"/>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5"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25</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EXERCISE 1.1 — STEPS 1–2</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1</a:t>
            </a:r>
          </a:p>
        </p:txBody>
      </p:sp>
      <p:sp>
        <p:nvSpPr>
          <p:cNvPr id="4" name="Oval 3"/>
          <p:cNvSpPr/>
          <p:nvPr/>
        </p:nvSpPr>
        <p:spPr>
          <a:xfrm>
            <a:off x="457200" y="1188720"/>
            <a:ext cx="237744" cy="237744"/>
          </a:xfrm>
          <a:prstGeom prst="ellipse">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88720"/>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170432"/>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Rounded Rectangle 6"/>
          <p:cNvSpPr/>
          <p:nvPr/>
        </p:nvSpPr>
        <p:spPr>
          <a:xfrm>
            <a:off x="457200" y="1572768"/>
            <a:ext cx="11247120" cy="554736"/>
          </a:xfrm>
          <a:prstGeom prst="roundRect">
            <a:avLst>
              <a:gd name="adj" fmla="val 6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1572768"/>
            <a:ext cx="11027664" cy="554736"/>
          </a:xfrm>
          <a:prstGeom prst="rect">
            <a:avLst/>
          </a:prstGeom>
          <a:noFill/>
        </p:spPr>
        <p:txBody>
          <a:bodyPr wrap="square" anchor="ctr" lIns="0" rIns="0" tIns="0" bIns="0">
            <a:spAutoFit/>
          </a:bodyPr>
          <a:lstStyle/>
          <a:p>
            <a:r>
              <a:rPr sz="1200" b="1" i="0">
                <a:solidFill>
                  <a:srgbClr val="D1282E"/>
                </a:solidFill>
                <a:latin typeface="Nirmala UI"/>
              </a:rPr>
              <a:t>LAB GUIDE   </a:t>
            </a:r>
            <a:r>
              <a:rPr sz="2000" b="0" i="0">
                <a:solidFill>
                  <a:srgbClr val="000000"/>
                </a:solidFill>
                <a:latin typeface="Consolas"/>
              </a:rPr>
              <a:t>Exercise 1.1</a:t>
            </a:r>
          </a:p>
        </p:txBody>
      </p:sp>
      <p:sp>
        <p:nvSpPr>
          <p:cNvPr id="9" name="TextBox 8"/>
          <p:cNvSpPr txBox="1"/>
          <p:nvPr/>
        </p:nvSpPr>
        <p:spPr>
          <a:xfrm>
            <a:off x="457200" y="2218944"/>
            <a:ext cx="11247120" cy="218908"/>
          </a:xfrm>
          <a:prstGeom prst="rect">
            <a:avLst/>
          </a:prstGeom>
          <a:noFill/>
        </p:spPr>
        <p:txBody>
          <a:bodyPr wrap="square" anchor="t" lIns="0" rIns="0" tIns="0" bIns="0">
            <a:spAutoFit/>
          </a:bodyPr>
          <a:lstStyle/>
          <a:p>
            <a:pPr>
              <a:spcBef>
                <a:spcPts val="0"/>
              </a:spcBef>
              <a:spcAft>
                <a:spcPts val="307"/>
              </a:spcAft>
            </a:pPr>
            <a:r>
              <a:rPr sz="800" b="1" i="0">
                <a:solidFill>
                  <a:srgbClr val="000000"/>
                </a:solidFill>
                <a:latin typeface="Nirmala UI"/>
              </a:rPr>
              <a:t>Follow along (Windows) — key steps:</a:t>
            </a:r>
          </a:p>
        </p:txBody>
      </p:sp>
      <p:sp>
        <p:nvSpPr>
          <p:cNvPr id="10" name="TextBox 9"/>
          <p:cNvSpPr txBox="1"/>
          <p:nvPr/>
        </p:nvSpPr>
        <p:spPr>
          <a:xfrm>
            <a:off x="457200" y="2529292"/>
            <a:ext cx="11247120" cy="218908"/>
          </a:xfrm>
          <a:prstGeom prst="rect">
            <a:avLst/>
          </a:prstGeom>
          <a:noFill/>
        </p:spPr>
        <p:txBody>
          <a:bodyPr wrap="square" anchor="t" lIns="0" rIns="0" tIns="0" bIns="0">
            <a:spAutoFit/>
          </a:bodyPr>
          <a:lstStyle/>
          <a:p>
            <a:pPr>
              <a:spcBef>
                <a:spcPts val="0"/>
              </a:spcBef>
              <a:spcAft>
                <a:spcPts val="307"/>
              </a:spcAft>
            </a:pPr>
            <a:r>
              <a:rPr sz="800" b="1" i="0">
                <a:solidFill>
                  <a:srgbClr val="000000"/>
                </a:solidFill>
                <a:latin typeface="Nirmala UI"/>
              </a:rPr>
              <a:t>Step 1 — Review the five database models</a:t>
            </a:r>
          </a:p>
        </p:txBody>
      </p:sp>
      <p:sp>
        <p:nvSpPr>
          <p:cNvPr id="11" name="TextBox 10"/>
          <p:cNvSpPr txBox="1"/>
          <p:nvPr/>
        </p:nvSpPr>
        <p:spPr>
          <a:xfrm>
            <a:off x="457200" y="2839640"/>
            <a:ext cx="11247120" cy="526208"/>
          </a:xfrm>
          <a:prstGeom prst="rect">
            <a:avLst/>
          </a:prstGeom>
          <a:noFill/>
        </p:spPr>
        <p:txBody>
          <a:bodyPr wrap="square" anchor="t" lIns="0" rIns="0" tIns="0" bIns="0">
            <a:spAutoFit/>
          </a:bodyPr>
          <a:lstStyle/>
          <a:p>
            <a:pPr>
              <a:spcBef>
                <a:spcPts val="0"/>
              </a:spcBef>
              <a:spcAft>
                <a:spcPts val="307"/>
              </a:spcAft>
            </a:pPr>
            <a:r>
              <a:rPr sz="800" b="0" i="0">
                <a:solidFill>
                  <a:srgbClr val="000000"/>
                </a:solidFill>
                <a:latin typeface="Nirmala UI"/>
              </a:rPr>
              <a:t>•  </a:t>
            </a:r>
            <a:r>
              <a:rPr sz="800" b="1" i="0">
                <a:solidFill>
                  <a:srgbClr val="000000"/>
                </a:solidFill>
                <a:latin typeface="Nirmala UI"/>
              </a:rPr>
              <a:t>Do:</a:t>
            </a:r>
            <a:r>
              <a:rPr sz="800" b="0" i="0">
                <a:solidFill>
                  <a:srgbClr val="000000"/>
                </a:solidFill>
                <a:latin typeface="Nirmala UI"/>
              </a:rPr>
              <a:t> Confirm the models you may choose from: Relational, Document, Key-value, Column-family, Graph. For each, name the primary structure (tables, JSON-like documents, key→value, column families, nodes and edges).</a:t>
            </a:r>
          </a:p>
          <a:p>
            <a:pPr>
              <a:spcBef>
                <a:spcPts val="0"/>
              </a:spcBef>
              <a:spcAft>
                <a:spcPts val="307"/>
              </a:spcAft>
            </a:pPr>
            <a:r>
              <a:rPr sz="800" b="0" i="0">
                <a:solidFill>
                  <a:srgbClr val="000000"/>
                </a:solidFill>
                <a:latin typeface="Nirmala UI"/>
              </a:rPr>
              <a:t>•  </a:t>
            </a:r>
            <a:r>
              <a:rPr sz="800" b="1" i="0">
                <a:solidFill>
                  <a:srgbClr val="000000"/>
                </a:solidFill>
                <a:latin typeface="Nirmala UI"/>
              </a:rPr>
              <a:t>Expected:</a:t>
            </a:r>
            <a:r>
              <a:rPr sz="800" b="0" i="0">
                <a:solidFill>
                  <a:srgbClr val="000000"/>
                </a:solidFill>
                <a:latin typeface="Nirmala UI"/>
              </a:rPr>
              <a:t> The group can name all five models and one sentence for what each optimizes.</a:t>
            </a:r>
          </a:p>
        </p:txBody>
      </p:sp>
      <p:sp>
        <p:nvSpPr>
          <p:cNvPr id="12" name="TextBox 11"/>
          <p:cNvSpPr txBox="1"/>
          <p:nvPr/>
        </p:nvSpPr>
        <p:spPr>
          <a:xfrm>
            <a:off x="457200" y="3457288"/>
            <a:ext cx="11247120" cy="218908"/>
          </a:xfrm>
          <a:prstGeom prst="rect">
            <a:avLst/>
          </a:prstGeom>
          <a:noFill/>
        </p:spPr>
        <p:txBody>
          <a:bodyPr wrap="square" anchor="t" lIns="0" rIns="0" tIns="0" bIns="0">
            <a:spAutoFit/>
          </a:bodyPr>
          <a:lstStyle/>
          <a:p>
            <a:pPr>
              <a:spcBef>
                <a:spcPts val="0"/>
              </a:spcBef>
              <a:spcAft>
                <a:spcPts val="307"/>
              </a:spcAft>
            </a:pPr>
            <a:r>
              <a:rPr sz="800" b="1" i="0">
                <a:solidFill>
                  <a:srgbClr val="000000"/>
                </a:solidFill>
                <a:latin typeface="Nirmala UI"/>
              </a:rPr>
              <a:t>Step 2 — Classify scenarios A–C</a:t>
            </a:r>
          </a:p>
        </p:txBody>
      </p:sp>
      <p:sp>
        <p:nvSpPr>
          <p:cNvPr id="13" name="TextBox 12"/>
          <p:cNvSpPr txBox="1"/>
          <p:nvPr/>
        </p:nvSpPr>
        <p:spPr>
          <a:xfrm>
            <a:off x="457200" y="3767636"/>
            <a:ext cx="11247120" cy="526208"/>
          </a:xfrm>
          <a:prstGeom prst="rect">
            <a:avLst/>
          </a:prstGeom>
          <a:noFill/>
        </p:spPr>
        <p:txBody>
          <a:bodyPr wrap="square" anchor="t" lIns="0" rIns="0" tIns="0" bIns="0">
            <a:spAutoFit/>
          </a:bodyPr>
          <a:lstStyle/>
          <a:p>
            <a:pPr>
              <a:spcBef>
                <a:spcPts val="0"/>
              </a:spcBef>
              <a:spcAft>
                <a:spcPts val="307"/>
              </a:spcAft>
            </a:pPr>
            <a:r>
              <a:rPr sz="800" b="0" i="0">
                <a:solidFill>
                  <a:srgbClr val="000000"/>
                </a:solidFill>
                <a:latin typeface="Nirmala UI"/>
              </a:rPr>
              <a:t>•  </a:t>
            </a:r>
            <a:r>
              <a:rPr sz="800" b="1" i="0">
                <a:solidFill>
                  <a:srgbClr val="000000"/>
                </a:solidFill>
                <a:latin typeface="Nirmala UI"/>
              </a:rPr>
              <a:t>Do:</a:t>
            </a:r>
            <a:r>
              <a:rPr sz="800" b="0" i="0">
                <a:solidFill>
                  <a:srgbClr val="000000"/>
                </a:solidFill>
                <a:latin typeface="Nirmala UI"/>
              </a:rPr>
              <a:t> For A, B, and C, pick one initial model and write a one-line justification. | Scenario | Key requirement | |----------|-----------------| | A. Online shopping sessions | Retrieve session data by a unique session ID | | B</a:t>
            </a:r>
          </a:p>
          <a:p>
            <a:pPr>
              <a:spcBef>
                <a:spcPts val="0"/>
              </a:spcBef>
              <a:spcAft>
                <a:spcPts val="307"/>
              </a:spcAft>
            </a:pPr>
            <a:r>
              <a:rPr sz="800" b="0" i="0">
                <a:solidFill>
                  <a:srgbClr val="000000"/>
                </a:solidFill>
                <a:latin typeface="Nirmala UI"/>
              </a:rPr>
              <a:t>•  </a:t>
            </a:r>
            <a:r>
              <a:rPr sz="800" b="1" i="0">
                <a:solidFill>
                  <a:srgbClr val="000000"/>
                </a:solidFill>
                <a:latin typeface="Nirmala UI"/>
              </a:rPr>
              <a:t>Expected:</a:t>
            </a:r>
            <a:r>
              <a:rPr sz="800" b="0" i="0">
                <a:solidFill>
                  <a:srgbClr val="000000"/>
                </a:solidFill>
                <a:latin typeface="Nirmala UI"/>
              </a:rPr>
              <a:t> Your table has a model and a justification for A, B, and C. The justification mentions the access pattern (lookup by key, varied attributes, or relationship tra</a:t>
            </a:r>
          </a:p>
        </p:txBody>
      </p:sp>
      <p:sp>
        <p:nvSpPr>
          <p:cNvPr id="14" name="TextBox 13"/>
          <p:cNvSpPr txBox="1"/>
          <p:nvPr/>
        </p:nvSpPr>
        <p:spPr>
          <a:xfrm>
            <a:off x="457200" y="4385284"/>
            <a:ext cx="11247120" cy="218908"/>
          </a:xfrm>
          <a:prstGeom prst="rect">
            <a:avLst/>
          </a:prstGeom>
          <a:noFill/>
        </p:spPr>
        <p:txBody>
          <a:bodyPr wrap="square" anchor="t" lIns="0" rIns="0" tIns="0" bIns="0">
            <a:spAutoFit/>
          </a:bodyPr>
          <a:lstStyle/>
          <a:p>
            <a:pPr>
              <a:spcBef>
                <a:spcPts val="0"/>
              </a:spcBef>
              <a:spcAft>
                <a:spcPts val="307"/>
              </a:spcAft>
            </a:pPr>
            <a:r>
              <a:rPr sz="800" b="1" i="0">
                <a:solidFill>
                  <a:srgbClr val="000000"/>
                </a:solidFill>
                <a:latin typeface="Nirmala UI"/>
              </a:rPr>
              <a:t>Step 3 — Classify scenarios D–F</a:t>
            </a:r>
          </a:p>
        </p:txBody>
      </p:sp>
      <p:sp>
        <p:nvSpPr>
          <p:cNvPr id="15" name="TextBox 14"/>
          <p:cNvSpPr txBox="1"/>
          <p:nvPr/>
        </p:nvSpPr>
        <p:spPr>
          <a:xfrm>
            <a:off x="457200" y="4695632"/>
            <a:ext cx="11247120" cy="526208"/>
          </a:xfrm>
          <a:prstGeom prst="rect">
            <a:avLst/>
          </a:prstGeom>
          <a:noFill/>
        </p:spPr>
        <p:txBody>
          <a:bodyPr wrap="square" anchor="t" lIns="0" rIns="0" tIns="0" bIns="0">
            <a:spAutoFit/>
          </a:bodyPr>
          <a:lstStyle/>
          <a:p>
            <a:pPr>
              <a:spcBef>
                <a:spcPts val="0"/>
              </a:spcBef>
              <a:spcAft>
                <a:spcPts val="307"/>
              </a:spcAft>
            </a:pPr>
            <a:r>
              <a:rPr sz="800" b="0" i="0">
                <a:solidFill>
                  <a:srgbClr val="000000"/>
                </a:solidFill>
                <a:latin typeface="Nirmala UI"/>
              </a:rPr>
              <a:t>•  </a:t>
            </a:r>
            <a:r>
              <a:rPr sz="800" b="1" i="0">
                <a:solidFill>
                  <a:srgbClr val="000000"/>
                </a:solidFill>
                <a:latin typeface="Nirmala UI"/>
              </a:rPr>
              <a:t>Do:</a:t>
            </a:r>
            <a:r>
              <a:rPr sz="800" b="0" i="0">
                <a:solidFill>
                  <a:srgbClr val="000000"/>
                </a:solidFill>
                <a:latin typeface="Nirmala UI"/>
              </a:rPr>
              <a:t> Repeat for D, E, and F. | Scenario | Key requirement | |----------|-----------------| | D. Banking ledger | Preserve strongly structured financial transactions | | E. Sensor platform | Accept large volumes of distributed</a:t>
            </a:r>
          </a:p>
          <a:p>
            <a:pPr>
              <a:spcBef>
                <a:spcPts val="0"/>
              </a:spcBef>
              <a:spcAft>
                <a:spcPts val="307"/>
              </a:spcAft>
            </a:pPr>
            <a:r>
              <a:rPr sz="800" b="0" i="0">
                <a:solidFill>
                  <a:srgbClr val="000000"/>
                </a:solidFill>
                <a:latin typeface="Nirmala UI"/>
              </a:rPr>
              <a:t>•  </a:t>
            </a:r>
            <a:r>
              <a:rPr sz="800" b="1" i="0">
                <a:solidFill>
                  <a:srgbClr val="000000"/>
                </a:solidFill>
                <a:latin typeface="Nirmala UI"/>
              </a:rPr>
              <a:t>Expected:</a:t>
            </a:r>
            <a:r>
              <a:rPr sz="800" b="0" i="0">
                <a:solidFill>
                  <a:srgbClr val="000000"/>
                </a:solidFill>
                <a:latin typeface="Nirmala UI"/>
              </a:rPr>
              <a:t> All six rows of the deliverable table are filled. You can explain why another technology might also work, and why your first choice still fits.</a:t>
            </a:r>
          </a:p>
        </p:txBody>
      </p:sp>
      <p:sp>
        <p:nvSpPr>
          <p:cNvPr id="16" name="TextBox 15"/>
          <p:cNvSpPr txBox="1"/>
          <p:nvPr/>
        </p:nvSpPr>
        <p:spPr>
          <a:xfrm>
            <a:off x="457200" y="5313280"/>
            <a:ext cx="11247120" cy="218908"/>
          </a:xfrm>
          <a:prstGeom prst="rect">
            <a:avLst/>
          </a:prstGeom>
          <a:noFill/>
        </p:spPr>
        <p:txBody>
          <a:bodyPr wrap="square" anchor="t" lIns="0" rIns="0" tIns="0" bIns="0">
            <a:spAutoFit/>
          </a:bodyPr>
          <a:lstStyle/>
          <a:p>
            <a:pPr>
              <a:spcBef>
                <a:spcPts val="0"/>
              </a:spcBef>
              <a:spcAft>
                <a:spcPts val="307"/>
              </a:spcAft>
            </a:pPr>
            <a:r>
              <a:rPr sz="800" b="1" i="0">
                <a:solidFill>
                  <a:srgbClr val="000000"/>
                </a:solidFill>
                <a:latin typeface="Nirmala UI"/>
              </a:rPr>
              <a:t>_Full lab guide with every command: </a:t>
            </a:r>
            <a:r>
              <a:rPr sz="800" b="0" i="0">
                <a:solidFill>
                  <a:srgbClr val="000000"/>
                </a:solidFill>
                <a:latin typeface="Nirmala UI"/>
              </a:rPr>
              <a:t>see </a:t>
            </a:r>
            <a:r>
              <a:rPr sz="800" b="1" i="0">
                <a:solidFill>
                  <a:srgbClr val="000000"/>
                </a:solidFill>
                <a:latin typeface="Nirmala UI"/>
              </a:rPr>
              <a:t>Lab guide</a:t>
            </a:r>
            <a:r>
              <a:rPr sz="800" b="0" i="0">
                <a:solidFill>
                  <a:srgbClr val="000000"/>
                </a:solidFill>
                <a:latin typeface="Nirmala UI"/>
              </a:rPr>
              <a:t> on the lesson divider slide._</a:t>
            </a:r>
          </a:p>
        </p:txBody>
      </p:sp>
      <p:sp>
        <p:nvSpPr>
          <p:cNvPr id="17" name="TextBox 16"/>
          <p:cNvSpPr txBox="1"/>
          <p:nvPr/>
        </p:nvSpPr>
        <p:spPr>
          <a:xfrm>
            <a:off x="457200" y="5623628"/>
            <a:ext cx="11247120" cy="392096"/>
          </a:xfrm>
          <a:prstGeom prst="rect">
            <a:avLst/>
          </a:prstGeom>
          <a:noFill/>
        </p:spPr>
        <p:txBody>
          <a:bodyPr wrap="square" anchor="t" lIns="0" rIns="0" tIns="0" bIns="0">
            <a:spAutoFit/>
          </a:bodyPr>
          <a:lstStyle/>
          <a:p>
            <a:pPr>
              <a:spcBef>
                <a:spcPts val="0"/>
              </a:spcBef>
              <a:spcAft>
                <a:spcPts val="307"/>
              </a:spcAft>
            </a:pPr>
            <a:r>
              <a:rPr sz="800" b="0" i="0">
                <a:solidFill>
                  <a:srgbClr val="000000"/>
                </a:solidFill>
                <a:latin typeface="Nirmala UI"/>
              </a:rPr>
              <a:t>•  </a:t>
            </a:r>
            <a:r>
              <a:rPr sz="800" b="1" i="0">
                <a:solidFill>
                  <a:srgbClr val="000000"/>
                </a:solidFill>
                <a:latin typeface="Nirmala UI"/>
              </a:rPr>
              <a:t>Do:</a:t>
            </a:r>
            <a:r>
              <a:rPr sz="800" b="0" i="0">
                <a:solidFill>
                  <a:srgbClr val="000000"/>
                </a:solidFill>
                <a:latin typeface="Nirmala UI"/>
              </a:rPr>
              <a:t> For A, B, and C, pick one initial model and write a one-line justification.</a:t>
            </a:r>
          </a:p>
          <a:p>
            <a:pPr>
              <a:spcBef>
                <a:spcPts val="0"/>
              </a:spcBef>
              <a:spcAft>
                <a:spcPts val="307"/>
              </a:spcAft>
            </a:pPr>
            <a:r>
              <a:rPr sz="800" b="0" i="0">
                <a:solidFill>
                  <a:srgbClr val="000000"/>
                </a:solidFill>
                <a:latin typeface="Nirmala UI"/>
              </a:rPr>
              <a:t>•  </a:t>
            </a:r>
            <a:r>
              <a:rPr sz="800" b="1" i="0">
                <a:solidFill>
                  <a:srgbClr val="000000"/>
                </a:solidFill>
                <a:latin typeface="Nirmala UI"/>
              </a:rPr>
              <a:t>Expected:</a:t>
            </a:r>
            <a:r>
              <a:rPr sz="800" b="0" i="0">
                <a:solidFill>
                  <a:srgbClr val="000000"/>
                </a:solidFill>
                <a:latin typeface="Nirmala UI"/>
              </a:rPr>
              <a:t> Your table has a model and a justification for A, B, and C. The justification mentions the access pattern (lookup by key, varied attributes, or relationship tra</a:t>
            </a:r>
          </a:p>
        </p:txBody>
      </p:sp>
      <p:sp>
        <p:nvSpPr>
          <p:cNvPr id="18" name="TextBox 17"/>
          <p:cNvSpPr txBox="1"/>
          <p:nvPr/>
        </p:nvSpPr>
        <p:spPr>
          <a:xfrm>
            <a:off x="457200" y="6107164"/>
            <a:ext cx="11247120" cy="392096"/>
          </a:xfrm>
          <a:prstGeom prst="rect">
            <a:avLst/>
          </a:prstGeom>
          <a:noFill/>
        </p:spPr>
        <p:txBody>
          <a:bodyPr wrap="square" anchor="t" lIns="0" rIns="0" tIns="0" bIns="0">
            <a:spAutoFit/>
          </a:bodyPr>
          <a:lstStyle/>
          <a:p>
            <a:pPr>
              <a:spcBef>
                <a:spcPts val="0"/>
              </a:spcBef>
              <a:spcAft>
                <a:spcPts val="307"/>
              </a:spcAft>
            </a:pPr>
            <a:r>
              <a:rPr sz="800" b="0" i="0">
                <a:solidFill>
                  <a:srgbClr val="000000"/>
                </a:solidFill>
                <a:latin typeface="Nirmala UI"/>
              </a:rPr>
              <a:t>•  </a:t>
            </a:r>
            <a:r>
              <a:rPr sz="800" b="1" i="0">
                <a:solidFill>
                  <a:srgbClr val="000000"/>
                </a:solidFill>
                <a:latin typeface="Nirmala UI"/>
              </a:rPr>
              <a:t>Do:</a:t>
            </a:r>
            <a:r>
              <a:rPr sz="800" b="0" i="0">
                <a:solidFill>
                  <a:srgbClr val="000000"/>
                </a:solidFill>
                <a:latin typeface="Nirmala UI"/>
              </a:rPr>
              <a:t> Repeat for D, E, and F.</a:t>
            </a:r>
          </a:p>
          <a:p>
            <a:pPr>
              <a:spcBef>
                <a:spcPts val="0"/>
              </a:spcBef>
              <a:spcAft>
                <a:spcPts val="307"/>
              </a:spcAft>
            </a:pPr>
            <a:r>
              <a:rPr sz="800" b="0" i="0">
                <a:solidFill>
                  <a:srgbClr val="000000"/>
                </a:solidFill>
                <a:latin typeface="Nirmala UI"/>
              </a:rPr>
              <a:t>•  </a:t>
            </a:r>
            <a:r>
              <a:rPr sz="800" b="1" i="0">
                <a:solidFill>
                  <a:srgbClr val="000000"/>
                </a:solidFill>
                <a:latin typeface="Nirmala UI"/>
              </a:rPr>
              <a:t>Expected:</a:t>
            </a:r>
            <a:r>
              <a:rPr sz="800" b="0" i="0">
                <a:solidFill>
                  <a:srgbClr val="000000"/>
                </a:solidFill>
                <a:latin typeface="Nirmala UI"/>
              </a:rPr>
              <a:t> All six rows of the deliverable table are filled. You can explain why another technology might also work, and why your first choice still fits.</a:t>
            </a:r>
          </a:p>
        </p:txBody>
      </p:sp>
      <p:sp>
        <p:nvSpPr>
          <p:cNvPr id="19" name="Rectangle 18"/>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2"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EXERCISE 1.1 — STEPS 3–4</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1</a:t>
            </a:r>
          </a:p>
        </p:txBody>
      </p:sp>
      <p:sp>
        <p:nvSpPr>
          <p:cNvPr id="4" name="Oval 3"/>
          <p:cNvSpPr/>
          <p:nvPr/>
        </p:nvSpPr>
        <p:spPr>
          <a:xfrm>
            <a:off x="457200" y="1415485"/>
            <a:ext cx="237744" cy="237744"/>
          </a:xfrm>
          <a:prstGeom prst="ellipse">
            <a:avLst/>
          </a:prstGeom>
          <a:solidFill>
            <a:srgbClr val="5B3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415485"/>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397197"/>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Rounded Rectangle 6"/>
          <p:cNvSpPr/>
          <p:nvPr/>
        </p:nvSpPr>
        <p:spPr>
          <a:xfrm>
            <a:off x="457200" y="1799533"/>
            <a:ext cx="11247120" cy="554736"/>
          </a:xfrm>
          <a:prstGeom prst="roundRect">
            <a:avLst>
              <a:gd name="adj" fmla="val 6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1799533"/>
            <a:ext cx="11027664" cy="554736"/>
          </a:xfrm>
          <a:prstGeom prst="rect">
            <a:avLst/>
          </a:prstGeom>
          <a:noFill/>
        </p:spPr>
        <p:txBody>
          <a:bodyPr wrap="square" anchor="ctr" lIns="0" rIns="0" tIns="0" bIns="0">
            <a:spAutoFit/>
          </a:bodyPr>
          <a:lstStyle/>
          <a:p>
            <a:r>
              <a:rPr sz="1200" b="1" i="0">
                <a:solidFill>
                  <a:srgbClr val="D1282E"/>
                </a:solidFill>
                <a:latin typeface="Nirmala UI"/>
              </a:rPr>
              <a:t>LAB GUIDE   </a:t>
            </a:r>
            <a:r>
              <a:rPr sz="2000" b="0" i="0">
                <a:solidFill>
                  <a:srgbClr val="000000"/>
                </a:solidFill>
                <a:latin typeface="Consolas"/>
              </a:rPr>
              <a:t>Exercise 1.1</a:t>
            </a:r>
            <a:r>
              <a:rPr sz="2000" b="0" i="0">
                <a:solidFill>
                  <a:srgbClr val="000000"/>
                </a:solidFill>
                <a:latin typeface="Nirmala UI"/>
              </a:rPr>
              <a:t> </a:t>
            </a:r>
            <a:r>
              <a:rPr sz="2000" b="1" i="0">
                <a:solidFill>
                  <a:srgbClr val="000000"/>
                </a:solidFill>
                <a:latin typeface="Nirmala UI"/>
              </a:rPr>
              <a:t>Step 3 — Classify scenarios D–F</a:t>
            </a:r>
          </a:p>
        </p:txBody>
      </p:sp>
      <p:sp>
        <p:nvSpPr>
          <p:cNvPr id="9" name="TextBox 8"/>
          <p:cNvSpPr txBox="1"/>
          <p:nvPr/>
        </p:nvSpPr>
        <p:spPr>
          <a:xfrm>
            <a:off x="457200" y="2445709"/>
            <a:ext cx="11247120" cy="1006698"/>
          </a:xfrm>
          <a:prstGeom prst="rect">
            <a:avLst/>
          </a:prstGeom>
          <a:noFill/>
        </p:spPr>
        <p:txBody>
          <a:bodyPr wrap="square" anchor="t" lIns="0" rIns="0" tIns="0" bIns="0">
            <a:spAutoFit/>
          </a:bodyPr>
          <a:lstStyle/>
          <a:p>
            <a:pPr>
              <a:spcBef>
                <a:spcPts val="0"/>
              </a:spcBef>
              <a:spcAft>
                <a:spcPts val="615"/>
              </a:spcAft>
            </a:pPr>
            <a:r>
              <a:rPr sz="1600" b="0" i="0">
                <a:solidFill>
                  <a:srgbClr val="000000"/>
                </a:solidFill>
                <a:latin typeface="Nirmala UI"/>
              </a:rPr>
              <a:t>•  </a:t>
            </a:r>
            <a:r>
              <a:rPr sz="1600" b="1" i="0">
                <a:solidFill>
                  <a:srgbClr val="000000"/>
                </a:solidFill>
                <a:latin typeface="Nirmala UI"/>
              </a:rPr>
              <a:t>Do:</a:t>
            </a:r>
            <a:r>
              <a:rPr sz="1600" b="0" i="0">
                <a:solidFill>
                  <a:srgbClr val="000000"/>
                </a:solidFill>
                <a:latin typeface="Nirmala UI"/>
              </a:rPr>
              <a:t> Classify banking ledger, sensor platform, and CMS. Fill all six rows of the deliverable table.</a:t>
            </a:r>
          </a:p>
          <a:p>
            <a:pPr>
              <a:spcBef>
                <a:spcPts val="0"/>
              </a:spcBef>
              <a:spcAft>
                <a:spcPts val="615"/>
              </a:spcAft>
            </a:pPr>
            <a:r>
              <a:rPr sz="1600" b="0" i="0">
                <a:solidFill>
                  <a:srgbClr val="000000"/>
                </a:solidFill>
                <a:latin typeface="Nirmala UI"/>
              </a:rPr>
              <a:t>•  </a:t>
            </a:r>
            <a:r>
              <a:rPr sz="1600" b="1" i="0">
                <a:solidFill>
                  <a:srgbClr val="000000"/>
                </a:solidFill>
                <a:latin typeface="Nirmala UI"/>
              </a:rPr>
              <a:t>Expected:</a:t>
            </a:r>
            <a:r>
              <a:rPr sz="1600" b="0" i="0">
                <a:solidFill>
                  <a:srgbClr val="000000"/>
                </a:solidFill>
                <a:latin typeface="Nirmala UI"/>
              </a:rPr>
              <a:t> Every row has a model and a justification you can defend.</a:t>
            </a:r>
          </a:p>
        </p:txBody>
      </p:sp>
      <p:sp>
        <p:nvSpPr>
          <p:cNvPr id="10" name="TextBox 9"/>
          <p:cNvSpPr txBox="1"/>
          <p:nvPr/>
        </p:nvSpPr>
        <p:spPr>
          <a:xfrm>
            <a:off x="457200" y="3543847"/>
            <a:ext cx="11247120" cy="392097"/>
          </a:xfrm>
          <a:prstGeom prst="rect">
            <a:avLst/>
          </a:prstGeom>
          <a:noFill/>
        </p:spPr>
        <p:txBody>
          <a:bodyPr wrap="square" anchor="t" lIns="0" rIns="0" tIns="0" bIns="0">
            <a:spAutoFit/>
          </a:bodyPr>
          <a:lstStyle/>
          <a:p>
            <a:pPr>
              <a:spcBef>
                <a:spcPts val="0"/>
              </a:spcBef>
              <a:spcAft>
                <a:spcPts val="615"/>
              </a:spcAft>
            </a:pPr>
            <a:r>
              <a:rPr sz="1600" b="1" i="0">
                <a:solidFill>
                  <a:srgbClr val="000000"/>
                </a:solidFill>
                <a:latin typeface="Nirmala UI"/>
              </a:rPr>
              <a:t>Step 4 — Compare with the instructor solution</a:t>
            </a:r>
          </a:p>
        </p:txBody>
      </p:sp>
      <p:sp>
        <p:nvSpPr>
          <p:cNvPr id="11" name="TextBox 10"/>
          <p:cNvSpPr txBox="1"/>
          <p:nvPr/>
        </p:nvSpPr>
        <p:spPr>
          <a:xfrm>
            <a:off x="457200" y="4027384"/>
            <a:ext cx="11247120" cy="738474"/>
          </a:xfrm>
          <a:prstGeom prst="rect">
            <a:avLst/>
          </a:prstGeom>
          <a:noFill/>
        </p:spPr>
        <p:txBody>
          <a:bodyPr wrap="square" anchor="t" lIns="0" rIns="0" tIns="0" bIns="0">
            <a:spAutoFit/>
          </a:bodyPr>
          <a:lstStyle/>
          <a:p>
            <a:pPr>
              <a:spcBef>
                <a:spcPts val="0"/>
              </a:spcBef>
              <a:spcAft>
                <a:spcPts val="615"/>
              </a:spcAft>
            </a:pPr>
            <a:r>
              <a:rPr sz="1600" b="0" i="0">
                <a:solidFill>
                  <a:srgbClr val="000000"/>
                </a:solidFill>
                <a:latin typeface="Nirmala UI"/>
              </a:rPr>
              <a:t>•  </a:t>
            </a:r>
            <a:r>
              <a:rPr sz="1600" b="1" i="0">
                <a:solidFill>
                  <a:srgbClr val="000000"/>
                </a:solidFill>
                <a:latin typeface="Nirmala UI"/>
              </a:rPr>
              <a:t>Do:</a:t>
            </a:r>
            <a:r>
              <a:rPr sz="1600" b="0" i="0">
                <a:solidFill>
                  <a:srgbClr val="000000"/>
                </a:solidFill>
                <a:latin typeface="Nirmala UI"/>
              </a:rPr>
              <a:t> Share one controversial row. Adjust if the class discussion changes your reasoning.</a:t>
            </a:r>
          </a:p>
          <a:p>
            <a:pPr>
              <a:spcBef>
                <a:spcPts val="0"/>
              </a:spcBef>
              <a:spcAft>
                <a:spcPts val="615"/>
              </a:spcAft>
            </a:pPr>
            <a:r>
              <a:rPr sz="1600" b="0" i="0">
                <a:solidFill>
                  <a:srgbClr val="000000"/>
                </a:solidFill>
                <a:latin typeface="Nirmala UI"/>
              </a:rPr>
              <a:t>•  </a:t>
            </a:r>
            <a:r>
              <a:rPr sz="1600" b="1" i="0">
                <a:solidFill>
                  <a:srgbClr val="000000"/>
                </a:solidFill>
                <a:latin typeface="Nirmala UI"/>
              </a:rPr>
              <a:t>Expected:</a:t>
            </a:r>
            <a:r>
              <a:rPr sz="1600" b="0" i="0">
                <a:solidFill>
                  <a:srgbClr val="000000"/>
                </a:solidFill>
                <a:latin typeface="Nirmala UI"/>
              </a:rPr>
              <a:t> You can use access pattern, consistency, relationships, and scale — not popularity.</a:t>
            </a:r>
          </a:p>
        </p:txBody>
      </p:sp>
      <p:sp>
        <p:nvSpPr>
          <p:cNvPr id="12" name="Rounded Rectangle 11"/>
          <p:cNvSpPr/>
          <p:nvPr/>
        </p:nvSpPr>
        <p:spPr>
          <a:xfrm>
            <a:off x="457200" y="4857298"/>
            <a:ext cx="11247120" cy="768096"/>
          </a:xfrm>
          <a:prstGeom prst="roundRect">
            <a:avLst>
              <a:gd name="adj" fmla="val 6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6928" y="4903018"/>
            <a:ext cx="11027664" cy="219456"/>
          </a:xfrm>
          <a:prstGeom prst="rect">
            <a:avLst/>
          </a:prstGeom>
          <a:noFill/>
        </p:spPr>
        <p:txBody>
          <a:bodyPr wrap="square" anchor="t" lIns="0" rIns="0" tIns="0" bIns="0">
            <a:spAutoFit/>
          </a:bodyPr>
          <a:lstStyle/>
          <a:p>
            <a:pPr algn="l"/>
            <a:r>
              <a:rPr sz="1200" b="1" i="0">
                <a:solidFill>
                  <a:srgbClr val="D1282E"/>
                </a:solidFill>
                <a:latin typeface="Nirmala UI"/>
              </a:rPr>
              <a:t>SOLUTION AFTER DEBRIEF</a:t>
            </a:r>
          </a:p>
        </p:txBody>
      </p:sp>
      <p:sp>
        <p:nvSpPr>
          <p:cNvPr id="14" name="Rounded Rectangle 13"/>
          <p:cNvSpPr/>
          <p:nvPr/>
        </p:nvSpPr>
        <p:spPr>
          <a:xfrm>
            <a:off x="566928" y="5241346"/>
            <a:ext cx="882396" cy="274320"/>
          </a:xfrm>
          <a:prstGeom prst="roundRect">
            <a:avLst>
              <a:gd name="adj" fmla="val 50000"/>
            </a:avLst>
          </a:prstGeom>
          <a:solidFill>
            <a:srgbClr val="CE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5241346"/>
            <a:ext cx="882396" cy="274320"/>
          </a:xfrm>
          <a:prstGeom prst="rect">
            <a:avLst/>
          </a:prstGeom>
          <a:noFill/>
        </p:spPr>
        <p:txBody>
          <a:bodyPr wrap="square" anchor="ctr" lIns="0" rIns="0" tIns="0" bIns="0">
            <a:spAutoFit/>
          </a:bodyPr>
          <a:lstStyle/>
          <a:p>
            <a:pPr algn="ctr"/>
            <a:r>
              <a:rPr sz="1100" b="1" i="0">
                <a:solidFill>
                  <a:srgbClr val="0E7C7B"/>
                </a:solidFill>
                <a:latin typeface="Nirmala UI"/>
              </a:rPr>
              <a:t>A key-value</a:t>
            </a:r>
          </a:p>
        </p:txBody>
      </p:sp>
      <p:sp>
        <p:nvSpPr>
          <p:cNvPr id="16" name="Rounded Rectangle 15"/>
          <p:cNvSpPr/>
          <p:nvPr/>
        </p:nvSpPr>
        <p:spPr>
          <a:xfrm>
            <a:off x="1540764" y="5241346"/>
            <a:ext cx="832104" cy="274320"/>
          </a:xfrm>
          <a:prstGeom prst="roundRect">
            <a:avLst>
              <a:gd name="adj" fmla="val 50000"/>
            </a:avLst>
          </a:prstGeom>
          <a:solidFill>
            <a:srgbClr val="F5D4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40764" y="5241346"/>
            <a:ext cx="832104" cy="274320"/>
          </a:xfrm>
          <a:prstGeom prst="rect">
            <a:avLst/>
          </a:prstGeom>
          <a:noFill/>
        </p:spPr>
        <p:txBody>
          <a:bodyPr wrap="square" anchor="ctr" lIns="0" rIns="0" tIns="0" bIns="0">
            <a:spAutoFit/>
          </a:bodyPr>
          <a:lstStyle/>
          <a:p>
            <a:pPr algn="ctr"/>
            <a:r>
              <a:rPr sz="1100" b="1" i="0">
                <a:solidFill>
                  <a:srgbClr val="D1282E"/>
                </a:solidFill>
                <a:latin typeface="Nirmala UI"/>
              </a:rPr>
              <a:t>B document</a:t>
            </a:r>
          </a:p>
        </p:txBody>
      </p:sp>
      <p:sp>
        <p:nvSpPr>
          <p:cNvPr id="18" name="Rounded Rectangle 17"/>
          <p:cNvSpPr/>
          <p:nvPr/>
        </p:nvSpPr>
        <p:spPr>
          <a:xfrm>
            <a:off x="2464308" y="5241346"/>
            <a:ext cx="681228" cy="274320"/>
          </a:xfrm>
          <a:prstGeom prst="roundRect">
            <a:avLst>
              <a:gd name="adj" fmla="val 50000"/>
            </a:avLst>
          </a:prstGeom>
          <a:solidFill>
            <a:srgbClr val="CCD2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464308" y="5241346"/>
            <a:ext cx="681228" cy="274320"/>
          </a:xfrm>
          <a:prstGeom prst="rect">
            <a:avLst/>
          </a:prstGeom>
          <a:noFill/>
        </p:spPr>
        <p:txBody>
          <a:bodyPr wrap="square" anchor="ctr" lIns="0" rIns="0" tIns="0" bIns="0">
            <a:spAutoFit/>
          </a:bodyPr>
          <a:lstStyle/>
          <a:p>
            <a:pPr algn="ctr"/>
            <a:r>
              <a:rPr sz="1100" b="1" i="0">
                <a:solidFill>
                  <a:srgbClr val="002060"/>
                </a:solidFill>
                <a:latin typeface="Nirmala UI"/>
              </a:rPr>
              <a:t>C graph</a:t>
            </a:r>
          </a:p>
        </p:txBody>
      </p:sp>
      <p:sp>
        <p:nvSpPr>
          <p:cNvPr id="20" name="Rounded Rectangle 19"/>
          <p:cNvSpPr/>
          <p:nvPr/>
        </p:nvSpPr>
        <p:spPr>
          <a:xfrm>
            <a:off x="3236976" y="5241346"/>
            <a:ext cx="932688" cy="274320"/>
          </a:xfrm>
          <a:prstGeom prst="roundRect">
            <a:avLst>
              <a:gd name="adj" fmla="val 50000"/>
            </a:avLst>
          </a:prstGeom>
          <a:solidFill>
            <a:srgbClr val="D5E5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36976" y="5241346"/>
            <a:ext cx="932688" cy="274320"/>
          </a:xfrm>
          <a:prstGeom prst="rect">
            <a:avLst/>
          </a:prstGeom>
          <a:noFill/>
        </p:spPr>
        <p:txBody>
          <a:bodyPr wrap="square" anchor="ctr" lIns="0" rIns="0" tIns="0" bIns="0">
            <a:spAutoFit/>
          </a:bodyPr>
          <a:lstStyle/>
          <a:p>
            <a:pPr algn="ctr"/>
            <a:r>
              <a:rPr sz="1100" b="1" i="0">
                <a:solidFill>
                  <a:srgbClr val="2E7D32"/>
                </a:solidFill>
                <a:latin typeface="Nirmala UI"/>
              </a:rPr>
              <a:t>D relational</a:t>
            </a:r>
          </a:p>
        </p:txBody>
      </p:sp>
      <p:sp>
        <p:nvSpPr>
          <p:cNvPr id="22" name="Rounded Rectangle 21"/>
          <p:cNvSpPr/>
          <p:nvPr/>
        </p:nvSpPr>
        <p:spPr>
          <a:xfrm>
            <a:off x="4261104" y="5241346"/>
            <a:ext cx="1837943" cy="274320"/>
          </a:xfrm>
          <a:prstGeom prst="roundRect">
            <a:avLst>
              <a:gd name="adj" fmla="val 50000"/>
            </a:avLst>
          </a:prstGeom>
          <a:solidFill>
            <a:srgbClr val="F4E1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261104" y="5241346"/>
            <a:ext cx="1837943" cy="274320"/>
          </a:xfrm>
          <a:prstGeom prst="rect">
            <a:avLst/>
          </a:prstGeom>
          <a:noFill/>
        </p:spPr>
        <p:txBody>
          <a:bodyPr wrap="square" anchor="ctr" lIns="0" rIns="0" tIns="0" bIns="0">
            <a:spAutoFit/>
          </a:bodyPr>
          <a:lstStyle/>
          <a:p>
            <a:pPr algn="ctr"/>
            <a:r>
              <a:rPr sz="1100" b="1" i="0">
                <a:solidFill>
                  <a:srgbClr val="C9690C"/>
                </a:solidFill>
                <a:latin typeface="Nirmala UI"/>
              </a:rPr>
              <a:t>E column-family or time-series</a:t>
            </a:r>
          </a:p>
        </p:txBody>
      </p:sp>
      <p:sp>
        <p:nvSpPr>
          <p:cNvPr id="24" name="Rounded Rectangle 23"/>
          <p:cNvSpPr/>
          <p:nvPr/>
        </p:nvSpPr>
        <p:spPr>
          <a:xfrm>
            <a:off x="6190487" y="5241346"/>
            <a:ext cx="832104" cy="274320"/>
          </a:xfrm>
          <a:prstGeom prst="roundRect">
            <a:avLst>
              <a:gd name="adj" fmla="val 50000"/>
            </a:avLst>
          </a:prstGeom>
          <a:solidFill>
            <a:srgbClr val="DED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190487" y="5241346"/>
            <a:ext cx="832104" cy="274320"/>
          </a:xfrm>
          <a:prstGeom prst="rect">
            <a:avLst/>
          </a:prstGeom>
          <a:noFill/>
        </p:spPr>
        <p:txBody>
          <a:bodyPr wrap="square" anchor="ctr" lIns="0" rIns="0" tIns="0" bIns="0">
            <a:spAutoFit/>
          </a:bodyPr>
          <a:lstStyle/>
          <a:p>
            <a:pPr algn="ctr"/>
            <a:r>
              <a:rPr sz="1100" b="1" i="0">
                <a:solidFill>
                  <a:srgbClr val="5B3A9E"/>
                </a:solidFill>
                <a:latin typeface="Nirmala UI"/>
              </a:rPr>
              <a:t>F document</a:t>
            </a:r>
          </a:p>
        </p:txBody>
      </p:sp>
      <p:sp>
        <p:nvSpPr>
          <p:cNvPr id="26" name="Rectangle 25"/>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9"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27</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EXERCISE 1.1 — SUITABILITY THINKING</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1</a:t>
            </a:r>
          </a:p>
        </p:txBody>
      </p:sp>
      <p:sp>
        <p:nvSpPr>
          <p:cNvPr id="4" name="Oval 3"/>
          <p:cNvSpPr/>
          <p:nvPr/>
        </p:nvSpPr>
        <p:spPr>
          <a:xfrm>
            <a:off x="457200" y="2302452"/>
            <a:ext cx="237744" cy="237744"/>
          </a:xfrm>
          <a:prstGeom prst="ellipse">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302452"/>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2284164"/>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2686500"/>
            <a:ext cx="11247120" cy="47869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After you pick a model, ask:</a:t>
            </a:r>
          </a:p>
        </p:txBody>
      </p:sp>
      <p:sp>
        <p:nvSpPr>
          <p:cNvPr id="8" name="TextBox 7"/>
          <p:cNvSpPr txBox="1"/>
          <p:nvPr/>
        </p:nvSpPr>
        <p:spPr>
          <a:xfrm>
            <a:off x="457200" y="3256632"/>
            <a:ext cx="11247120" cy="911664"/>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  </a:t>
            </a:r>
            <a:r>
              <a:rPr sz="2000" b="0" i="0">
                <a:solidFill>
                  <a:srgbClr val="000000"/>
                </a:solidFill>
                <a:latin typeface="Nirmala UI"/>
              </a:rPr>
              <a:t>What is MongoDB </a:t>
            </a:r>
            <a:r>
              <a:rPr sz="2000" b="1" i="0">
                <a:solidFill>
                  <a:srgbClr val="000000"/>
                </a:solidFill>
                <a:latin typeface="Nirmala UI"/>
              </a:rPr>
              <a:t>strong</a:t>
            </a:r>
            <a:r>
              <a:rPr sz="2000" b="0" i="0">
                <a:solidFill>
                  <a:srgbClr val="000000"/>
                </a:solidFill>
                <a:latin typeface="Nirmala UI"/>
              </a:rPr>
              <a:t> at?</a:t>
            </a:r>
          </a:p>
          <a:p>
            <a:pPr>
              <a:spcBef>
                <a:spcPts val="0"/>
              </a:spcBef>
              <a:spcAft>
                <a:spcPts val="769"/>
              </a:spcAft>
            </a:pPr>
            <a:r>
              <a:rPr sz="2000" b="0" i="0">
                <a:solidFill>
                  <a:srgbClr val="000000"/>
                </a:solidFill>
                <a:latin typeface="Nirmala UI"/>
              </a:rPr>
              <a:t>•  </a:t>
            </a:r>
            <a:r>
              <a:rPr sz="2000" b="0" i="0">
                <a:solidFill>
                  <a:srgbClr val="000000"/>
                </a:solidFill>
                <a:latin typeface="Nirmala UI"/>
              </a:rPr>
              <a:t>What should stay </a:t>
            </a:r>
            <a:r>
              <a:rPr sz="2000" b="1" i="0">
                <a:solidFill>
                  <a:srgbClr val="000000"/>
                </a:solidFill>
                <a:latin typeface="Nirmala UI"/>
              </a:rPr>
              <a:t>relational</a:t>
            </a:r>
            <a:r>
              <a:rPr sz="2000" b="0" i="0">
                <a:solidFill>
                  <a:srgbClr val="000000"/>
                </a:solidFill>
                <a:latin typeface="Nirmala UI"/>
              </a:rPr>
              <a:t> or </a:t>
            </a:r>
            <a:r>
              <a:rPr sz="2000" b="1" i="0">
                <a:solidFill>
                  <a:srgbClr val="000000"/>
                </a:solidFill>
                <a:latin typeface="Nirmala UI"/>
              </a:rPr>
              <a:t>graph</a:t>
            </a:r>
            <a:r>
              <a:rPr sz="2000" b="0" i="0">
                <a:solidFill>
                  <a:srgbClr val="000000"/>
                </a:solidFill>
                <a:latin typeface="Nirmala UI"/>
              </a:rPr>
              <a:t>?</a:t>
            </a:r>
          </a:p>
        </p:txBody>
      </p:sp>
      <p:sp>
        <p:nvSpPr>
          <p:cNvPr id="9" name="TextBox 8"/>
          <p:cNvSpPr txBox="1"/>
          <p:nvPr/>
        </p:nvSpPr>
        <p:spPr>
          <a:xfrm>
            <a:off x="457200" y="4259736"/>
            <a:ext cx="11247120" cy="47869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Use this matrix in the debrief — not as a product ranking.</a:t>
            </a:r>
          </a:p>
        </p:txBody>
      </p:sp>
      <p:sp>
        <p:nvSpPr>
          <p:cNvPr id="10" name="Rectangle 9"/>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3"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28</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EXERCISE 1.2 — RELATIONAL STARTING POINT</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1</a:t>
            </a:r>
          </a:p>
        </p:txBody>
      </p:sp>
      <p:sp>
        <p:nvSpPr>
          <p:cNvPr id="4" name="Oval 3"/>
          <p:cNvSpPr/>
          <p:nvPr/>
        </p:nvSpPr>
        <p:spPr>
          <a:xfrm>
            <a:off x="457200" y="2480916"/>
            <a:ext cx="237744" cy="237744"/>
          </a:xfrm>
          <a:prstGeom prst="ellipse">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480916"/>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2462628"/>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2864964"/>
            <a:ext cx="11247120" cy="47869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Order </a:t>
            </a:r>
            <a:r>
              <a:rPr sz="2000" b="1" i="0">
                <a:solidFill>
                  <a:srgbClr val="000000"/>
                </a:solidFill>
                <a:latin typeface="Nirmala UI"/>
              </a:rPr>
              <a:t>O5001</a:t>
            </a:r>
            <a:r>
              <a:rPr sz="2000" b="0" i="0">
                <a:solidFill>
                  <a:srgbClr val="000000"/>
                </a:solidFill>
                <a:latin typeface="Nirmala UI"/>
              </a:rPr>
              <a:t> lives in four tables.</a:t>
            </a:r>
          </a:p>
        </p:txBody>
      </p:sp>
      <p:sp>
        <p:nvSpPr>
          <p:cNvPr id="8" name="TextBox 7"/>
          <p:cNvSpPr txBox="1"/>
          <p:nvPr/>
        </p:nvSpPr>
        <p:spPr>
          <a:xfrm>
            <a:off x="457200" y="3435096"/>
            <a:ext cx="11247120" cy="478692"/>
          </a:xfrm>
          <a:prstGeom prst="rect">
            <a:avLst/>
          </a:prstGeom>
          <a:noFill/>
        </p:spPr>
        <p:txBody>
          <a:bodyPr wrap="square" anchor="t" lIns="0" rIns="0" tIns="0" bIns="0">
            <a:spAutoFit/>
          </a:bodyPr>
          <a:lstStyle/>
          <a:p>
            <a:pPr>
              <a:spcBef>
                <a:spcPts val="0"/>
              </a:spcBef>
              <a:spcAft>
                <a:spcPts val="769"/>
              </a:spcAft>
            </a:pPr>
            <a:r>
              <a:rPr sz="2000" b="1" i="0">
                <a:solidFill>
                  <a:srgbClr val="000000"/>
                </a:solidFill>
                <a:latin typeface="Nirmala UI"/>
              </a:rPr>
              <a:t>Your job: </a:t>
            </a:r>
            <a:r>
              <a:rPr sz="2000" b="0" i="0">
                <a:solidFill>
                  <a:srgbClr val="000000"/>
                </a:solidFill>
                <a:latin typeface="Nirmala UI"/>
              </a:rPr>
              <a:t>one document that the application can read without joining.</a:t>
            </a:r>
          </a:p>
        </p:txBody>
      </p:sp>
      <p:sp>
        <p:nvSpPr>
          <p:cNvPr id="9" name="Rounded Rectangle 8"/>
          <p:cNvSpPr/>
          <p:nvPr/>
        </p:nvSpPr>
        <p:spPr>
          <a:xfrm>
            <a:off x="457200" y="4005228"/>
            <a:ext cx="11247120" cy="554736"/>
          </a:xfrm>
          <a:prstGeom prst="roundRect">
            <a:avLst>
              <a:gd name="adj" fmla="val 6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4005228"/>
            <a:ext cx="11027664" cy="554736"/>
          </a:xfrm>
          <a:prstGeom prst="rect">
            <a:avLst/>
          </a:prstGeom>
          <a:noFill/>
        </p:spPr>
        <p:txBody>
          <a:bodyPr wrap="square" anchor="ctr" lIns="0" rIns="0" tIns="0" bIns="0">
            <a:spAutoFit/>
          </a:bodyPr>
          <a:lstStyle/>
          <a:p>
            <a:r>
              <a:rPr sz="1200" b="1" i="0">
                <a:solidFill>
                  <a:srgbClr val="D1282E"/>
                </a:solidFill>
                <a:latin typeface="Nirmala UI"/>
              </a:rPr>
              <a:t>LAB GUIDE   </a:t>
            </a:r>
            <a:r>
              <a:rPr sz="2000" b="0" i="0">
                <a:solidFill>
                  <a:srgbClr val="000000"/>
                </a:solidFill>
                <a:latin typeface="Consolas"/>
              </a:rPr>
              <a:t>Exercise 1.2</a:t>
            </a:r>
          </a:p>
        </p:txBody>
      </p:sp>
      <p:sp>
        <p:nvSpPr>
          <p:cNvPr id="11" name="Rectangle 10"/>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4"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29</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EXERCISE 1.2 — STEPS 1–2</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1</a:t>
            </a:r>
          </a:p>
        </p:txBody>
      </p:sp>
      <p:sp>
        <p:nvSpPr>
          <p:cNvPr id="4" name="Oval 3"/>
          <p:cNvSpPr/>
          <p:nvPr/>
        </p:nvSpPr>
        <p:spPr>
          <a:xfrm>
            <a:off x="457200" y="1482818"/>
            <a:ext cx="237744" cy="237744"/>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482818"/>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464530"/>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Rounded Rectangle 6"/>
          <p:cNvSpPr/>
          <p:nvPr/>
        </p:nvSpPr>
        <p:spPr>
          <a:xfrm>
            <a:off x="457200" y="1866866"/>
            <a:ext cx="11247120" cy="554736"/>
          </a:xfrm>
          <a:prstGeom prst="roundRect">
            <a:avLst>
              <a:gd name="adj" fmla="val 6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1866866"/>
            <a:ext cx="11027664" cy="554736"/>
          </a:xfrm>
          <a:prstGeom prst="rect">
            <a:avLst/>
          </a:prstGeom>
          <a:noFill/>
        </p:spPr>
        <p:txBody>
          <a:bodyPr wrap="square" anchor="ctr" lIns="0" rIns="0" tIns="0" bIns="0">
            <a:spAutoFit/>
          </a:bodyPr>
          <a:lstStyle/>
          <a:p>
            <a:r>
              <a:rPr sz="1200" b="1" i="0">
                <a:solidFill>
                  <a:srgbClr val="D1282E"/>
                </a:solidFill>
                <a:latin typeface="Nirmala UI"/>
              </a:rPr>
              <a:t>LAB GUIDE   </a:t>
            </a:r>
            <a:r>
              <a:rPr sz="2000" b="0" i="0">
                <a:solidFill>
                  <a:srgbClr val="000000"/>
                </a:solidFill>
                <a:latin typeface="Consolas"/>
              </a:rPr>
              <a:t>Exercise 1.2</a:t>
            </a:r>
          </a:p>
        </p:txBody>
      </p:sp>
      <p:sp>
        <p:nvSpPr>
          <p:cNvPr id="9" name="TextBox 8"/>
          <p:cNvSpPr txBox="1"/>
          <p:nvPr/>
        </p:nvSpPr>
        <p:spPr>
          <a:xfrm>
            <a:off x="457200" y="2513042"/>
            <a:ext cx="11247120" cy="218908"/>
          </a:xfrm>
          <a:prstGeom prst="rect">
            <a:avLst/>
          </a:prstGeom>
          <a:noFill/>
        </p:spPr>
        <p:txBody>
          <a:bodyPr wrap="square" anchor="t" lIns="0" rIns="0" tIns="0" bIns="0">
            <a:spAutoFit/>
          </a:bodyPr>
          <a:lstStyle/>
          <a:p>
            <a:pPr>
              <a:spcBef>
                <a:spcPts val="0"/>
              </a:spcBef>
              <a:spcAft>
                <a:spcPts val="307"/>
              </a:spcAft>
            </a:pPr>
            <a:r>
              <a:rPr sz="800" b="1" i="0">
                <a:solidFill>
                  <a:srgbClr val="000000"/>
                </a:solidFill>
                <a:latin typeface="Nirmala UI"/>
              </a:rPr>
              <a:t>Follow along (Windows) — key steps:</a:t>
            </a:r>
          </a:p>
        </p:txBody>
      </p:sp>
      <p:sp>
        <p:nvSpPr>
          <p:cNvPr id="10" name="TextBox 9"/>
          <p:cNvSpPr txBox="1"/>
          <p:nvPr/>
        </p:nvSpPr>
        <p:spPr>
          <a:xfrm>
            <a:off x="457200" y="2823390"/>
            <a:ext cx="11247120" cy="218908"/>
          </a:xfrm>
          <a:prstGeom prst="rect">
            <a:avLst/>
          </a:prstGeom>
          <a:noFill/>
        </p:spPr>
        <p:txBody>
          <a:bodyPr wrap="square" anchor="t" lIns="0" rIns="0" tIns="0" bIns="0">
            <a:spAutoFit/>
          </a:bodyPr>
          <a:lstStyle/>
          <a:p>
            <a:pPr>
              <a:spcBef>
                <a:spcPts val="0"/>
              </a:spcBef>
              <a:spcAft>
                <a:spcPts val="307"/>
              </a:spcAft>
            </a:pPr>
            <a:r>
              <a:rPr sz="800" b="1" i="0">
                <a:solidFill>
                  <a:srgbClr val="000000"/>
                </a:solidFill>
                <a:latin typeface="Nirmala UI"/>
              </a:rPr>
              <a:t>Step 1 — Read the three relational tables</a:t>
            </a:r>
          </a:p>
        </p:txBody>
      </p:sp>
      <p:sp>
        <p:nvSpPr>
          <p:cNvPr id="11" name="TextBox 10"/>
          <p:cNvSpPr txBox="1"/>
          <p:nvPr/>
        </p:nvSpPr>
        <p:spPr>
          <a:xfrm>
            <a:off x="457200" y="3133738"/>
            <a:ext cx="11247120" cy="526208"/>
          </a:xfrm>
          <a:prstGeom prst="rect">
            <a:avLst/>
          </a:prstGeom>
          <a:noFill/>
        </p:spPr>
        <p:txBody>
          <a:bodyPr wrap="square" anchor="t" lIns="0" rIns="0" tIns="0" bIns="0">
            <a:spAutoFit/>
          </a:bodyPr>
          <a:lstStyle/>
          <a:p>
            <a:pPr>
              <a:spcBef>
                <a:spcPts val="0"/>
              </a:spcBef>
              <a:spcAft>
                <a:spcPts val="307"/>
              </a:spcAft>
            </a:pPr>
            <a:r>
              <a:rPr sz="800" b="0" i="0">
                <a:solidFill>
                  <a:srgbClr val="000000"/>
                </a:solidFill>
                <a:latin typeface="Nirmala UI"/>
              </a:rPr>
              <a:t>•  </a:t>
            </a:r>
            <a:r>
              <a:rPr sz="800" b="1" i="0">
                <a:solidFill>
                  <a:srgbClr val="000000"/>
                </a:solidFill>
                <a:latin typeface="Nirmala UI"/>
              </a:rPr>
              <a:t>Do:</a:t>
            </a:r>
            <a:r>
              <a:rPr sz="800" b="0" i="0">
                <a:solidFill>
                  <a:srgbClr val="000000"/>
                </a:solidFill>
                <a:latin typeface="Nirmala UI"/>
              </a:rPr>
              <a:t> Identify how you would reconstruct one complete order in SQL: join </a:t>
            </a:r>
            <a:r>
              <a:rPr sz="800" b="0" i="0">
                <a:solidFill>
                  <a:srgbClr val="000000"/>
                </a:solidFill>
                <a:latin typeface="Consolas"/>
              </a:rPr>
              <a:t>Customer</a:t>
            </a:r>
            <a:r>
              <a:rPr sz="800" b="0" i="0">
                <a:solidFill>
                  <a:srgbClr val="000000"/>
                </a:solidFill>
                <a:latin typeface="Nirmala UI"/>
              </a:rPr>
              <a:t> to </a:t>
            </a:r>
            <a:r>
              <a:rPr sz="800" b="0" i="0">
                <a:solidFill>
                  <a:srgbClr val="000000"/>
                </a:solidFill>
                <a:latin typeface="Consolas"/>
              </a:rPr>
              <a:t>Order</a:t>
            </a:r>
            <a:r>
              <a:rPr sz="800" b="0" i="0">
                <a:solidFill>
                  <a:srgbClr val="000000"/>
                </a:solidFill>
                <a:latin typeface="Nirmala UI"/>
              </a:rPr>
              <a:t> on </a:t>
            </a:r>
            <a:r>
              <a:rPr sz="800" b="0" i="0">
                <a:solidFill>
                  <a:srgbClr val="000000"/>
                </a:solidFill>
                <a:latin typeface="Consolas"/>
              </a:rPr>
              <a:t>customer_id</a:t>
            </a:r>
            <a:r>
              <a:rPr sz="800" b="0" i="0">
                <a:solidFill>
                  <a:srgbClr val="000000"/>
                </a:solidFill>
                <a:latin typeface="Nirmala UI"/>
              </a:rPr>
              <a:t>, then join </a:t>
            </a:r>
            <a:r>
              <a:rPr sz="800" b="0" i="0">
                <a:solidFill>
                  <a:srgbClr val="000000"/>
                </a:solidFill>
                <a:latin typeface="Consolas"/>
              </a:rPr>
              <a:t>Order items</a:t>
            </a:r>
            <a:r>
              <a:rPr sz="800" b="0" i="0">
                <a:solidFill>
                  <a:srgbClr val="000000"/>
                </a:solidFill>
                <a:latin typeface="Nirmala UI"/>
              </a:rPr>
              <a:t> on </a:t>
            </a:r>
            <a:r>
              <a:rPr sz="800" b="0" i="0">
                <a:solidFill>
                  <a:srgbClr val="000000"/>
                </a:solidFill>
                <a:latin typeface="Consolas"/>
              </a:rPr>
              <a:t>order_id</a:t>
            </a:r>
            <a:r>
              <a:rPr sz="800" b="0" i="0">
                <a:solidFill>
                  <a:srgbClr val="000000"/>
                </a:solidFill>
                <a:latin typeface="Nirmala UI"/>
              </a:rPr>
              <a:t>. List every field the application needs for “show order O5001.”</a:t>
            </a:r>
          </a:p>
          <a:p>
            <a:pPr>
              <a:spcBef>
                <a:spcPts val="0"/>
              </a:spcBef>
              <a:spcAft>
                <a:spcPts val="307"/>
              </a:spcAft>
            </a:pPr>
            <a:r>
              <a:rPr sz="800" b="0" i="0">
                <a:solidFill>
                  <a:srgbClr val="000000"/>
                </a:solidFill>
                <a:latin typeface="Nirmala UI"/>
              </a:rPr>
              <a:t>•  </a:t>
            </a:r>
            <a:r>
              <a:rPr sz="800" b="1" i="0">
                <a:solidFill>
                  <a:srgbClr val="000000"/>
                </a:solidFill>
                <a:latin typeface="Nirmala UI"/>
              </a:rPr>
              <a:t>Expected:</a:t>
            </a:r>
            <a:r>
              <a:rPr sz="800" b="0" i="0">
                <a:solidFill>
                  <a:srgbClr val="000000"/>
                </a:solidFill>
                <a:latin typeface="Nirmala UI"/>
              </a:rPr>
              <a:t> You can name the three tables and the join keys. You know the order total is 110.00 and there are two line items.</a:t>
            </a:r>
          </a:p>
        </p:txBody>
      </p:sp>
      <p:sp>
        <p:nvSpPr>
          <p:cNvPr id="12" name="TextBox 11"/>
          <p:cNvSpPr txBox="1"/>
          <p:nvPr/>
        </p:nvSpPr>
        <p:spPr>
          <a:xfrm>
            <a:off x="457200" y="3751386"/>
            <a:ext cx="11247120" cy="218908"/>
          </a:xfrm>
          <a:prstGeom prst="rect">
            <a:avLst/>
          </a:prstGeom>
          <a:noFill/>
        </p:spPr>
        <p:txBody>
          <a:bodyPr wrap="square" anchor="t" lIns="0" rIns="0" tIns="0" bIns="0">
            <a:spAutoFit/>
          </a:bodyPr>
          <a:lstStyle/>
          <a:p>
            <a:pPr>
              <a:spcBef>
                <a:spcPts val="0"/>
              </a:spcBef>
              <a:spcAft>
                <a:spcPts val="307"/>
              </a:spcAft>
            </a:pPr>
            <a:r>
              <a:rPr sz="800" b="1" i="0">
                <a:solidFill>
                  <a:srgbClr val="000000"/>
                </a:solidFill>
                <a:latin typeface="Nirmala UI"/>
              </a:rPr>
              <a:t>Step 2 — Draft one JSON-like order document</a:t>
            </a:r>
          </a:p>
        </p:txBody>
      </p:sp>
      <p:sp>
        <p:nvSpPr>
          <p:cNvPr id="13" name="TextBox 12"/>
          <p:cNvSpPr txBox="1"/>
          <p:nvPr/>
        </p:nvSpPr>
        <p:spPr>
          <a:xfrm>
            <a:off x="457200" y="4061734"/>
            <a:ext cx="11247120" cy="392096"/>
          </a:xfrm>
          <a:prstGeom prst="rect">
            <a:avLst/>
          </a:prstGeom>
          <a:noFill/>
        </p:spPr>
        <p:txBody>
          <a:bodyPr wrap="square" anchor="t" lIns="0" rIns="0" tIns="0" bIns="0">
            <a:spAutoFit/>
          </a:bodyPr>
          <a:lstStyle/>
          <a:p>
            <a:pPr>
              <a:spcBef>
                <a:spcPts val="0"/>
              </a:spcBef>
              <a:spcAft>
                <a:spcPts val="307"/>
              </a:spcAft>
            </a:pPr>
            <a:r>
              <a:rPr sz="800" b="0" i="0">
                <a:solidFill>
                  <a:srgbClr val="000000"/>
                </a:solidFill>
                <a:latin typeface="Nirmala UI"/>
              </a:rPr>
              <a:t>•  </a:t>
            </a:r>
            <a:r>
              <a:rPr sz="800" b="1" i="0">
                <a:solidFill>
                  <a:srgbClr val="000000"/>
                </a:solidFill>
                <a:latin typeface="Nirmala UI"/>
              </a:rPr>
              <a:t>Do:</a:t>
            </a:r>
            <a:r>
              <a:rPr sz="800" b="0" i="0">
                <a:solidFill>
                  <a:srgbClr val="000000"/>
                </a:solidFill>
                <a:latin typeface="Nirmala UI"/>
              </a:rPr>
              <a:t> Create a single document that holds the order header. Do not worry about </a:t>
            </a:r>
            <a:r>
              <a:rPr sz="800" b="0" i="0">
                <a:solidFill>
                  <a:srgbClr val="000000"/>
                </a:solidFill>
                <a:latin typeface="Consolas"/>
              </a:rPr>
              <a:t>_id</a:t>
            </a:r>
            <a:r>
              <a:rPr sz="800" b="0" i="0">
                <a:solidFill>
                  <a:srgbClr val="000000"/>
                </a:solidFill>
                <a:latin typeface="Nirmala UI"/>
              </a:rPr>
              <a:t> or nesting yet — get </a:t>
            </a:r>
            <a:r>
              <a:rPr sz="800" b="0" i="0">
                <a:solidFill>
                  <a:srgbClr val="000000"/>
                </a:solidFill>
                <a:latin typeface="Consolas"/>
              </a:rPr>
              <a:t>status</a:t>
            </a:r>
            <a:r>
              <a:rPr sz="800" b="0" i="0">
                <a:solidFill>
                  <a:srgbClr val="000000"/>
                </a:solidFill>
                <a:latin typeface="Nirmala UI"/>
              </a:rPr>
              <a:t> and </a:t>
            </a:r>
            <a:r>
              <a:rPr sz="800" b="0" i="0">
                <a:solidFill>
                  <a:srgbClr val="000000"/>
                </a:solidFill>
                <a:latin typeface="Consolas"/>
              </a:rPr>
              <a:t>total</a:t>
            </a:r>
            <a:r>
              <a:rPr sz="800" b="0" i="0">
                <a:solidFill>
                  <a:srgbClr val="000000"/>
                </a:solidFill>
                <a:latin typeface="Nirmala UI"/>
              </a:rPr>
              <a:t> on the page.</a:t>
            </a:r>
          </a:p>
          <a:p>
            <a:pPr>
              <a:spcBef>
                <a:spcPts val="0"/>
              </a:spcBef>
              <a:spcAft>
                <a:spcPts val="307"/>
              </a:spcAft>
            </a:pPr>
            <a:r>
              <a:rPr sz="800" b="0" i="0">
                <a:solidFill>
                  <a:srgbClr val="000000"/>
                </a:solidFill>
                <a:latin typeface="Nirmala UI"/>
              </a:rPr>
              <a:t>•  </a:t>
            </a:r>
            <a:r>
              <a:rPr sz="800" b="1" i="0">
                <a:solidFill>
                  <a:srgbClr val="000000"/>
                </a:solidFill>
                <a:latin typeface="Nirmala UI"/>
              </a:rPr>
              <a:t>Expected:</a:t>
            </a:r>
            <a:r>
              <a:rPr sz="800" b="0" i="0">
                <a:solidFill>
                  <a:srgbClr val="000000"/>
                </a:solidFill>
                <a:latin typeface="Nirmala UI"/>
              </a:rPr>
              <a:t> A starting object exists, for example </a:t>
            </a:r>
            <a:r>
              <a:rPr sz="800" b="0" i="0">
                <a:solidFill>
                  <a:srgbClr val="000000"/>
                </a:solidFill>
                <a:latin typeface="Consolas"/>
              </a:rPr>
              <a:t>{ orderId: "O5001", status: "PLACED", total: 110.00 }</a:t>
            </a:r>
            <a:r>
              <a:rPr sz="800" b="0" i="0">
                <a:solidFill>
                  <a:srgbClr val="000000"/>
                </a:solidFill>
                <a:latin typeface="Nirmala UI"/>
              </a:rPr>
              <a:t>.</a:t>
            </a:r>
          </a:p>
        </p:txBody>
      </p:sp>
      <p:sp>
        <p:nvSpPr>
          <p:cNvPr id="14" name="TextBox 13"/>
          <p:cNvSpPr txBox="1"/>
          <p:nvPr/>
        </p:nvSpPr>
        <p:spPr>
          <a:xfrm>
            <a:off x="457200" y="4545270"/>
            <a:ext cx="11247120" cy="218908"/>
          </a:xfrm>
          <a:prstGeom prst="rect">
            <a:avLst/>
          </a:prstGeom>
          <a:noFill/>
        </p:spPr>
        <p:txBody>
          <a:bodyPr wrap="square" anchor="t" lIns="0" rIns="0" tIns="0" bIns="0">
            <a:spAutoFit/>
          </a:bodyPr>
          <a:lstStyle/>
          <a:p>
            <a:pPr>
              <a:spcBef>
                <a:spcPts val="0"/>
              </a:spcBef>
              <a:spcAft>
                <a:spcPts val="307"/>
              </a:spcAft>
            </a:pPr>
            <a:r>
              <a:rPr sz="800" b="1" i="0">
                <a:solidFill>
                  <a:srgbClr val="000000"/>
                </a:solidFill>
                <a:latin typeface="Nirmala UI"/>
              </a:rPr>
              <a:t>Step 3 — Embed items, customer, and _id</a:t>
            </a:r>
          </a:p>
        </p:txBody>
      </p:sp>
      <p:sp>
        <p:nvSpPr>
          <p:cNvPr id="15" name="TextBox 14"/>
          <p:cNvSpPr txBox="1"/>
          <p:nvPr/>
        </p:nvSpPr>
        <p:spPr>
          <a:xfrm>
            <a:off x="457200" y="4855618"/>
            <a:ext cx="11247120" cy="392096"/>
          </a:xfrm>
          <a:prstGeom prst="rect">
            <a:avLst/>
          </a:prstGeom>
          <a:noFill/>
        </p:spPr>
        <p:txBody>
          <a:bodyPr wrap="square" anchor="t" lIns="0" rIns="0" tIns="0" bIns="0">
            <a:spAutoFit/>
          </a:bodyPr>
          <a:lstStyle/>
          <a:p>
            <a:pPr>
              <a:spcBef>
                <a:spcPts val="0"/>
              </a:spcBef>
              <a:spcAft>
                <a:spcPts val="307"/>
              </a:spcAft>
            </a:pPr>
            <a:r>
              <a:rPr sz="800" b="0" i="0">
                <a:solidFill>
                  <a:srgbClr val="000000"/>
                </a:solidFill>
                <a:latin typeface="Nirmala UI"/>
              </a:rPr>
              <a:t>•  </a:t>
            </a:r>
            <a:r>
              <a:rPr sz="800" b="1" i="0">
                <a:solidFill>
                  <a:srgbClr val="000000"/>
                </a:solidFill>
                <a:latin typeface="Nirmala UI"/>
              </a:rPr>
              <a:t>Do:</a:t>
            </a:r>
            <a:r>
              <a:rPr sz="800" b="0" i="0">
                <a:solidFill>
                  <a:srgbClr val="000000"/>
                </a:solidFill>
                <a:latin typeface="Nirmala UI"/>
              </a:rPr>
              <a:t> Embed the two order items as an array. Include essential customer information (id, name, email). Set </a:t>
            </a:r>
            <a:r>
              <a:rPr sz="800" b="0" i="0">
                <a:solidFill>
                  <a:srgbClr val="000000"/>
                </a:solidFill>
                <a:latin typeface="Consolas"/>
              </a:rPr>
              <a:t>_id</a:t>
            </a:r>
            <a:r>
              <a:rPr sz="800" b="0" i="0">
                <a:solidFill>
                  <a:srgbClr val="000000"/>
                </a:solidFill>
                <a:latin typeface="Nirmala UI"/>
              </a:rPr>
              <a:t> to </a:t>
            </a:r>
            <a:r>
              <a:rPr sz="800" b="0" i="0">
                <a:solidFill>
                  <a:srgbClr val="000000"/>
                </a:solidFill>
                <a:latin typeface="Consolas"/>
              </a:rPr>
              <a:t>"O5001"</a:t>
            </a:r>
            <a:r>
              <a:rPr sz="800" b="0" i="0">
                <a:solidFill>
                  <a:srgbClr val="000000"/>
                </a:solidFill>
                <a:latin typeface="Nirmala UI"/>
              </a:rPr>
              <a:t> (or an ObjectId if you prefer). Keep purchase-time </a:t>
            </a:r>
            <a:r>
              <a:rPr sz="800" b="0" i="0">
                <a:solidFill>
                  <a:srgbClr val="000000"/>
                </a:solidFill>
                <a:latin typeface="Consolas"/>
              </a:rPr>
              <a:t>price</a:t>
            </a:r>
            <a:r>
              <a:rPr sz="800" b="0" i="0">
                <a:solidFill>
                  <a:srgbClr val="000000"/>
                </a:solidFill>
                <a:latin typeface="Nirmala UI"/>
              </a:rPr>
              <a:t> on each item.</a:t>
            </a:r>
          </a:p>
          <a:p>
            <a:pPr>
              <a:spcBef>
                <a:spcPts val="0"/>
              </a:spcBef>
              <a:spcAft>
                <a:spcPts val="307"/>
              </a:spcAft>
            </a:pPr>
            <a:r>
              <a:rPr sz="800" b="0" i="0">
                <a:solidFill>
                  <a:srgbClr val="000000"/>
                </a:solidFill>
                <a:latin typeface="Nirmala UI"/>
              </a:rPr>
              <a:t>•  </a:t>
            </a:r>
            <a:r>
              <a:rPr sz="800" b="1" i="0">
                <a:solidFill>
                  <a:srgbClr val="000000"/>
                </a:solidFill>
                <a:latin typeface="Nirmala UI"/>
              </a:rPr>
              <a:t>Expected:</a:t>
            </a:r>
            <a:r>
              <a:rPr sz="800" b="0" i="0">
                <a:solidFill>
                  <a:srgbClr val="000000"/>
                </a:solidFill>
                <a:latin typeface="Nirmala UI"/>
              </a:rPr>
              <a:t> One document that looks like the solution below: </a:t>
            </a:r>
            <a:r>
              <a:rPr sz="800" b="0" i="0">
                <a:solidFill>
                  <a:srgbClr val="000000"/>
                </a:solidFill>
                <a:latin typeface="Consolas"/>
              </a:rPr>
              <a:t>_id</a:t>
            </a:r>
            <a:r>
              <a:rPr sz="800" b="0" i="0">
                <a:solidFill>
                  <a:srgbClr val="000000"/>
                </a:solidFill>
                <a:latin typeface="Nirmala UI"/>
              </a:rPr>
              <a:t>, nested </a:t>
            </a:r>
            <a:r>
              <a:rPr sz="800" b="0" i="0">
                <a:solidFill>
                  <a:srgbClr val="000000"/>
                </a:solidFill>
                <a:latin typeface="Consolas"/>
              </a:rPr>
              <a:t>customer</a:t>
            </a:r>
            <a:r>
              <a:rPr sz="800" b="0" i="0">
                <a:solidFill>
                  <a:srgbClr val="000000"/>
                </a:solidFill>
                <a:latin typeface="Nirmala UI"/>
              </a:rPr>
              <a:t>, </a:t>
            </a:r>
            <a:r>
              <a:rPr sz="800" b="0" i="0">
                <a:solidFill>
                  <a:srgbClr val="000000"/>
                </a:solidFill>
                <a:latin typeface="Consolas"/>
              </a:rPr>
              <a:t>items</a:t>
            </a:r>
            <a:r>
              <a:rPr sz="800" b="0" i="0">
                <a:solidFill>
                  <a:srgbClr val="000000"/>
                </a:solidFill>
                <a:latin typeface="Nirmala UI"/>
              </a:rPr>
              <a:t> array, </a:t>
            </a:r>
            <a:r>
              <a:rPr sz="800" b="0" i="0">
                <a:solidFill>
                  <a:srgbClr val="000000"/>
                </a:solidFill>
                <a:latin typeface="Consolas"/>
              </a:rPr>
              <a:t>status</a:t>
            </a:r>
            <a:r>
              <a:rPr sz="800" b="0" i="0">
                <a:solidFill>
                  <a:srgbClr val="000000"/>
                </a:solidFill>
                <a:latin typeface="Nirmala UI"/>
              </a:rPr>
              <a:t>, and </a:t>
            </a:r>
            <a:r>
              <a:rPr sz="800" b="0" i="0">
                <a:solidFill>
                  <a:srgbClr val="000000"/>
                </a:solidFill>
                <a:latin typeface="Consolas"/>
              </a:rPr>
              <a:t>total</a:t>
            </a:r>
            <a:r>
              <a:rPr sz="800" b="0" i="0">
                <a:solidFill>
                  <a:srgbClr val="000000"/>
                </a:solidFill>
                <a:latin typeface="Nirmala UI"/>
              </a:rPr>
              <a:t>. You did not leave items in a separate table.</a:t>
            </a:r>
          </a:p>
        </p:txBody>
      </p:sp>
      <p:sp>
        <p:nvSpPr>
          <p:cNvPr id="16" name="TextBox 15"/>
          <p:cNvSpPr txBox="1"/>
          <p:nvPr/>
        </p:nvSpPr>
        <p:spPr>
          <a:xfrm>
            <a:off x="457200" y="5339154"/>
            <a:ext cx="11247120" cy="218908"/>
          </a:xfrm>
          <a:prstGeom prst="rect">
            <a:avLst/>
          </a:prstGeom>
          <a:noFill/>
        </p:spPr>
        <p:txBody>
          <a:bodyPr wrap="square" anchor="t" lIns="0" rIns="0" tIns="0" bIns="0">
            <a:spAutoFit/>
          </a:bodyPr>
          <a:lstStyle/>
          <a:p>
            <a:pPr>
              <a:spcBef>
                <a:spcPts val="0"/>
              </a:spcBef>
              <a:spcAft>
                <a:spcPts val="307"/>
              </a:spcAft>
            </a:pPr>
            <a:r>
              <a:rPr sz="800" b="1" i="0">
                <a:solidFill>
                  <a:srgbClr val="000000"/>
                </a:solidFill>
                <a:latin typeface="Nirmala UI"/>
              </a:rPr>
              <a:t>_Full lab guide with every command: </a:t>
            </a:r>
            <a:r>
              <a:rPr sz="800" b="0" i="0">
                <a:solidFill>
                  <a:srgbClr val="000000"/>
                </a:solidFill>
                <a:latin typeface="Nirmala UI"/>
              </a:rPr>
              <a:t>see </a:t>
            </a:r>
            <a:r>
              <a:rPr sz="800" b="1" i="0">
                <a:solidFill>
                  <a:srgbClr val="000000"/>
                </a:solidFill>
                <a:latin typeface="Nirmala UI"/>
              </a:rPr>
              <a:t>Lab guide</a:t>
            </a:r>
            <a:r>
              <a:rPr sz="800" b="0" i="0">
                <a:solidFill>
                  <a:srgbClr val="000000"/>
                </a:solidFill>
                <a:latin typeface="Nirmala UI"/>
              </a:rPr>
              <a:t> on the lesson divider slide._</a:t>
            </a:r>
          </a:p>
        </p:txBody>
      </p:sp>
      <p:sp>
        <p:nvSpPr>
          <p:cNvPr id="17" name="Rectangle 16"/>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0"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30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EXERCISE 1.2 — STEPS 3–4</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1</a:t>
            </a:r>
          </a:p>
        </p:txBody>
      </p:sp>
      <p:sp>
        <p:nvSpPr>
          <p:cNvPr id="4" name="Oval 3"/>
          <p:cNvSpPr/>
          <p:nvPr/>
        </p:nvSpPr>
        <p:spPr>
          <a:xfrm>
            <a:off x="457200" y="1418492"/>
            <a:ext cx="237744" cy="237744"/>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418492"/>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400204"/>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Rounded Rectangle 6"/>
          <p:cNvSpPr/>
          <p:nvPr/>
        </p:nvSpPr>
        <p:spPr>
          <a:xfrm>
            <a:off x="457200" y="1802540"/>
            <a:ext cx="11247120" cy="554736"/>
          </a:xfrm>
          <a:prstGeom prst="roundRect">
            <a:avLst>
              <a:gd name="adj" fmla="val 6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1802540"/>
            <a:ext cx="11027664" cy="554736"/>
          </a:xfrm>
          <a:prstGeom prst="rect">
            <a:avLst/>
          </a:prstGeom>
          <a:noFill/>
        </p:spPr>
        <p:txBody>
          <a:bodyPr wrap="square" anchor="ctr" lIns="0" rIns="0" tIns="0" bIns="0">
            <a:spAutoFit/>
          </a:bodyPr>
          <a:lstStyle/>
          <a:p>
            <a:r>
              <a:rPr sz="1200" b="1" i="0">
                <a:solidFill>
                  <a:srgbClr val="D1282E"/>
                </a:solidFill>
                <a:latin typeface="Nirmala UI"/>
              </a:rPr>
              <a:t>LAB GUIDE   </a:t>
            </a:r>
            <a:r>
              <a:rPr sz="2000" b="0" i="0">
                <a:solidFill>
                  <a:srgbClr val="000000"/>
                </a:solidFill>
                <a:latin typeface="Consolas"/>
              </a:rPr>
              <a:t>Exercise 1.2</a:t>
            </a:r>
            <a:r>
              <a:rPr sz="2000" b="0" i="0">
                <a:solidFill>
                  <a:srgbClr val="000000"/>
                </a:solidFill>
                <a:latin typeface="Nirmala UI"/>
              </a:rPr>
              <a:t> </a:t>
            </a:r>
            <a:r>
              <a:rPr sz="2000" b="1" i="0">
                <a:solidFill>
                  <a:srgbClr val="000000"/>
                </a:solidFill>
                <a:latin typeface="Nirmala UI"/>
              </a:rPr>
              <a:t>Step 3 — Embed items, customer, and _id</a:t>
            </a:r>
          </a:p>
        </p:txBody>
      </p:sp>
      <p:sp>
        <p:nvSpPr>
          <p:cNvPr id="9" name="TextBox 8"/>
          <p:cNvSpPr txBox="1"/>
          <p:nvPr/>
        </p:nvSpPr>
        <p:spPr>
          <a:xfrm>
            <a:off x="457200" y="2448716"/>
            <a:ext cx="11247120" cy="1126822"/>
          </a:xfrm>
          <a:prstGeom prst="rect">
            <a:avLst/>
          </a:prstGeom>
          <a:noFill/>
        </p:spPr>
        <p:txBody>
          <a:bodyPr wrap="square" anchor="t" lIns="0" rIns="0" tIns="0" bIns="0">
            <a:spAutoFit/>
          </a:bodyPr>
          <a:lstStyle/>
          <a:p>
            <a:pPr>
              <a:spcBef>
                <a:spcPts val="0"/>
              </a:spcBef>
              <a:spcAft>
                <a:spcPts val="692"/>
              </a:spcAft>
            </a:pPr>
            <a:r>
              <a:rPr sz="1800" b="0" i="0">
                <a:solidFill>
                  <a:srgbClr val="000000"/>
                </a:solidFill>
                <a:latin typeface="Nirmala UI"/>
              </a:rPr>
              <a:t>•  </a:t>
            </a:r>
            <a:r>
              <a:rPr sz="1800" b="1" i="0">
                <a:solidFill>
                  <a:srgbClr val="000000"/>
                </a:solidFill>
                <a:latin typeface="Nirmala UI"/>
              </a:rPr>
              <a:t>Do:</a:t>
            </a:r>
            <a:r>
              <a:rPr sz="1800" b="0" i="0">
                <a:solidFill>
                  <a:srgbClr val="000000"/>
                </a:solidFill>
                <a:latin typeface="Nirmala UI"/>
              </a:rPr>
              <a:t> Embed two items as an array, include customer id/name/email, set </a:t>
            </a:r>
            <a:r>
              <a:rPr sz="1800" b="0" i="0">
                <a:solidFill>
                  <a:srgbClr val="000000"/>
                </a:solidFill>
                <a:latin typeface="Consolas"/>
              </a:rPr>
              <a:t>_id</a:t>
            </a:r>
            <a:r>
              <a:rPr sz="1800" b="0" i="0">
                <a:solidFill>
                  <a:srgbClr val="000000"/>
                </a:solidFill>
                <a:latin typeface="Nirmala UI"/>
              </a:rPr>
              <a:t> to </a:t>
            </a:r>
            <a:r>
              <a:rPr sz="1800" b="0" i="0">
                <a:solidFill>
                  <a:srgbClr val="000000"/>
                </a:solidFill>
                <a:latin typeface="Consolas"/>
              </a:rPr>
              <a:t>"O5001"</a:t>
            </a:r>
            <a:r>
              <a:rPr sz="1800" b="0" i="0">
                <a:solidFill>
                  <a:srgbClr val="000000"/>
                </a:solidFill>
                <a:latin typeface="Nirmala UI"/>
              </a:rPr>
              <a:t>, keep purchase-time price on each item.</a:t>
            </a:r>
          </a:p>
          <a:p>
            <a:pPr>
              <a:spcBef>
                <a:spcPts val="0"/>
              </a:spcBef>
              <a:spcAft>
                <a:spcPts val="692"/>
              </a:spcAft>
            </a:pPr>
            <a:r>
              <a:rPr sz="1800" b="0" i="0">
                <a:solidFill>
                  <a:srgbClr val="000000"/>
                </a:solidFill>
                <a:latin typeface="Nirmala UI"/>
              </a:rPr>
              <a:t>•  </a:t>
            </a:r>
            <a:r>
              <a:rPr sz="1800" b="1" i="0">
                <a:solidFill>
                  <a:srgbClr val="000000"/>
                </a:solidFill>
                <a:latin typeface="Nirmala UI"/>
              </a:rPr>
              <a:t>Expected:</a:t>
            </a:r>
            <a:r>
              <a:rPr sz="1800" b="0" i="0">
                <a:solidFill>
                  <a:srgbClr val="000000"/>
                </a:solidFill>
                <a:latin typeface="Nirmala UI"/>
              </a:rPr>
              <a:t> One document — not a document per line item.</a:t>
            </a:r>
          </a:p>
        </p:txBody>
      </p:sp>
      <p:sp>
        <p:nvSpPr>
          <p:cNvPr id="10" name="TextBox 9"/>
          <p:cNvSpPr txBox="1"/>
          <p:nvPr/>
        </p:nvSpPr>
        <p:spPr>
          <a:xfrm>
            <a:off x="457200" y="3666978"/>
            <a:ext cx="11247120" cy="435395"/>
          </a:xfrm>
          <a:prstGeom prst="rect">
            <a:avLst/>
          </a:prstGeom>
          <a:noFill/>
        </p:spPr>
        <p:txBody>
          <a:bodyPr wrap="square" anchor="t" lIns="0" rIns="0" tIns="0" bIns="0">
            <a:spAutoFit/>
          </a:bodyPr>
          <a:lstStyle/>
          <a:p>
            <a:pPr>
              <a:spcBef>
                <a:spcPts val="0"/>
              </a:spcBef>
              <a:spcAft>
                <a:spcPts val="692"/>
              </a:spcAft>
            </a:pPr>
            <a:r>
              <a:rPr sz="1800" b="1" i="0">
                <a:solidFill>
                  <a:srgbClr val="000000"/>
                </a:solidFill>
                <a:latin typeface="Nirmala UI"/>
              </a:rPr>
              <a:t>Step 4 — Identify snapshot versus stale fields</a:t>
            </a:r>
          </a:p>
        </p:txBody>
      </p:sp>
      <p:sp>
        <p:nvSpPr>
          <p:cNvPr id="11" name="TextBox 10"/>
          <p:cNvSpPr txBox="1"/>
          <p:nvPr/>
        </p:nvSpPr>
        <p:spPr>
          <a:xfrm>
            <a:off x="457200" y="4193813"/>
            <a:ext cx="11247120" cy="1428574"/>
          </a:xfrm>
          <a:prstGeom prst="rect">
            <a:avLst/>
          </a:prstGeom>
          <a:noFill/>
        </p:spPr>
        <p:txBody>
          <a:bodyPr wrap="square" anchor="t" lIns="0" rIns="0" tIns="0" bIns="0">
            <a:spAutoFit/>
          </a:bodyPr>
          <a:lstStyle/>
          <a:p>
            <a:pPr>
              <a:spcBef>
                <a:spcPts val="0"/>
              </a:spcBef>
              <a:spcAft>
                <a:spcPts val="692"/>
              </a:spcAft>
            </a:pPr>
            <a:r>
              <a:rPr sz="1800" b="0" i="0">
                <a:solidFill>
                  <a:srgbClr val="000000"/>
                </a:solidFill>
                <a:latin typeface="Nirmala UI"/>
              </a:rPr>
              <a:t>•  </a:t>
            </a:r>
            <a:r>
              <a:rPr sz="1800" b="1" i="0">
                <a:solidFill>
                  <a:srgbClr val="000000"/>
                </a:solidFill>
                <a:latin typeface="Nirmala UI"/>
              </a:rPr>
              <a:t>Do:</a:t>
            </a:r>
            <a:r>
              <a:rPr sz="1800" b="0" i="0">
                <a:solidFill>
                  <a:srgbClr val="000000"/>
                </a:solidFill>
                <a:latin typeface="Nirmala UI"/>
              </a:rPr>
              <a:t> Decide email embed vs reference, purchase-time vs current price, and the main query this document supports.</a:t>
            </a:r>
          </a:p>
          <a:p>
            <a:pPr>
              <a:spcBef>
                <a:spcPts val="0"/>
              </a:spcBef>
              <a:spcAft>
                <a:spcPts val="692"/>
              </a:spcAft>
            </a:pPr>
            <a:r>
              <a:rPr sz="1800" b="0" i="0">
                <a:solidFill>
                  <a:srgbClr val="000000"/>
                </a:solidFill>
                <a:latin typeface="Nirmala UI"/>
              </a:rPr>
              <a:t>•  </a:t>
            </a:r>
            <a:r>
              <a:rPr sz="1800" b="1" i="0">
                <a:solidFill>
                  <a:srgbClr val="000000"/>
                </a:solidFill>
                <a:latin typeface="Nirmala UI"/>
              </a:rPr>
              <a:t>Expected:</a:t>
            </a:r>
            <a:r>
              <a:rPr sz="1800" b="0" i="0">
                <a:solidFill>
                  <a:srgbClr val="000000"/>
                </a:solidFill>
                <a:latin typeface="Nirmala UI"/>
              </a:rPr>
              <a:t> Price is a snapshot; email can go stale; the shape serves “get order O5001 in one read.”</a:t>
            </a:r>
          </a:p>
        </p:txBody>
      </p:sp>
      <p:sp>
        <p:nvSpPr>
          <p:cNvPr id="12" name="Rectangle 11"/>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5"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31</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EXERCISE 1.2 — TARGET DOCUMENT</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1</a:t>
            </a:r>
          </a:p>
        </p:txBody>
      </p:sp>
      <p:sp>
        <p:nvSpPr>
          <p:cNvPr id="4" name="Oval 3"/>
          <p:cNvSpPr/>
          <p:nvPr/>
        </p:nvSpPr>
        <p:spPr>
          <a:xfrm>
            <a:off x="457200" y="2154546"/>
            <a:ext cx="237744" cy="237744"/>
          </a:xfrm>
          <a:prstGeom prst="ellipse">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154546"/>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2136258"/>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2538594"/>
            <a:ext cx="11247120" cy="47869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Compare your draft with this shape:</a:t>
            </a:r>
          </a:p>
        </p:txBody>
      </p:sp>
      <p:sp>
        <p:nvSpPr>
          <p:cNvPr id="8" name="TextBox 7"/>
          <p:cNvSpPr txBox="1"/>
          <p:nvPr/>
        </p:nvSpPr>
        <p:spPr>
          <a:xfrm>
            <a:off x="457200" y="3108726"/>
            <a:ext cx="11247120" cy="1777608"/>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  </a:t>
            </a:r>
            <a:r>
              <a:rPr sz="2000" b="0" i="0">
                <a:solidFill>
                  <a:srgbClr val="000000"/>
                </a:solidFill>
                <a:latin typeface="Consolas"/>
              </a:rPr>
              <a:t>_id</a:t>
            </a:r>
            <a:r>
              <a:rPr sz="2000" b="0" i="0">
                <a:solidFill>
                  <a:srgbClr val="000000"/>
                </a:solidFill>
                <a:latin typeface="Nirmala UI"/>
              </a:rPr>
              <a:t> = order id</a:t>
            </a:r>
          </a:p>
          <a:p>
            <a:pPr>
              <a:spcBef>
                <a:spcPts val="0"/>
              </a:spcBef>
              <a:spcAft>
                <a:spcPts val="769"/>
              </a:spcAft>
            </a:pPr>
            <a:r>
              <a:rPr sz="2000" b="0" i="0">
                <a:solidFill>
                  <a:srgbClr val="000000"/>
                </a:solidFill>
                <a:latin typeface="Nirmala UI"/>
              </a:rPr>
              <a:t>•  </a:t>
            </a:r>
            <a:r>
              <a:rPr sz="2000" b="0" i="0">
                <a:solidFill>
                  <a:srgbClr val="000000"/>
                </a:solidFill>
                <a:latin typeface="Nirmala UI"/>
              </a:rPr>
              <a:t>Nested </a:t>
            </a:r>
            <a:r>
              <a:rPr sz="2000" b="0" i="0">
                <a:solidFill>
                  <a:srgbClr val="000000"/>
                </a:solidFill>
                <a:latin typeface="Consolas"/>
              </a:rPr>
              <a:t>customer</a:t>
            </a:r>
          </a:p>
          <a:p>
            <a:pPr>
              <a:spcBef>
                <a:spcPts val="0"/>
              </a:spcBef>
              <a:spcAft>
                <a:spcPts val="769"/>
              </a:spcAft>
            </a:pPr>
            <a:r>
              <a:rPr sz="2000" b="0" i="0">
                <a:solidFill>
                  <a:srgbClr val="000000"/>
                </a:solidFill>
                <a:latin typeface="Nirmala UI"/>
              </a:rPr>
              <a:t>•  </a:t>
            </a:r>
            <a:r>
              <a:rPr sz="2000" b="0" i="0">
                <a:solidFill>
                  <a:srgbClr val="000000"/>
                </a:solidFill>
                <a:latin typeface="Consolas"/>
              </a:rPr>
              <a:t>items</a:t>
            </a:r>
            <a:r>
              <a:rPr sz="2000" b="0" i="0">
                <a:solidFill>
                  <a:srgbClr val="000000"/>
                </a:solidFill>
                <a:latin typeface="Nirmala UI"/>
              </a:rPr>
              <a:t> array</a:t>
            </a:r>
          </a:p>
          <a:p>
            <a:pPr>
              <a:spcBef>
                <a:spcPts val="0"/>
              </a:spcBef>
              <a:spcAft>
                <a:spcPts val="769"/>
              </a:spcAft>
            </a:pPr>
            <a:r>
              <a:rPr sz="2000" b="0" i="0">
                <a:solidFill>
                  <a:srgbClr val="000000"/>
                </a:solidFill>
                <a:latin typeface="Nirmala UI"/>
              </a:rPr>
              <a:t>•  </a:t>
            </a:r>
            <a:r>
              <a:rPr sz="2000" b="0" i="0">
                <a:solidFill>
                  <a:srgbClr val="000000"/>
                </a:solidFill>
                <a:latin typeface="Nirmala UI"/>
              </a:rPr>
              <a:t>Snapshot </a:t>
            </a:r>
            <a:r>
              <a:rPr sz="2000" b="0" i="0">
                <a:solidFill>
                  <a:srgbClr val="000000"/>
                </a:solidFill>
                <a:latin typeface="Consolas"/>
              </a:rPr>
              <a:t>price</a:t>
            </a:r>
            <a:r>
              <a:rPr sz="2000" b="0" i="0">
                <a:solidFill>
                  <a:srgbClr val="000000"/>
                </a:solidFill>
                <a:latin typeface="Nirmala UI"/>
              </a:rPr>
              <a:t> on each line</a:t>
            </a:r>
          </a:p>
        </p:txBody>
      </p:sp>
      <p:sp>
        <p:nvSpPr>
          <p:cNvPr id="9" name="Rectangle 8"/>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2"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32</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EXERCISE 1.3 — TRAINING DATASET</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1</a:t>
            </a:r>
          </a:p>
        </p:txBody>
      </p:sp>
      <p:sp>
        <p:nvSpPr>
          <p:cNvPr id="4" name="Oval 3"/>
          <p:cNvSpPr/>
          <p:nvPr/>
        </p:nvSpPr>
        <p:spPr>
          <a:xfrm>
            <a:off x="457200" y="2480916"/>
            <a:ext cx="237744" cy="237744"/>
          </a:xfrm>
          <a:prstGeom prst="ellipse">
            <a:avLst/>
          </a:prstGeom>
          <a:solidFill>
            <a:srgbClr val="5B3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480916"/>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2462628"/>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2864964"/>
            <a:ext cx="11247120" cy="47869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Instructor loads </a:t>
            </a:r>
            <a:r>
              <a:rPr sz="2000" b="0" i="0">
                <a:solidFill>
                  <a:srgbClr val="000000"/>
                </a:solidFill>
                <a:latin typeface="Consolas"/>
              </a:rPr>
              <a:t>training_store</a:t>
            </a:r>
            <a:r>
              <a:rPr sz="2000" b="0" i="0">
                <a:solidFill>
                  <a:srgbClr val="000000"/>
                </a:solidFill>
                <a:latin typeface="Nirmala UI"/>
              </a:rPr>
              <a:t> before class.</a:t>
            </a:r>
          </a:p>
        </p:txBody>
      </p:sp>
      <p:sp>
        <p:nvSpPr>
          <p:cNvPr id="8" name="TextBox 7"/>
          <p:cNvSpPr txBox="1"/>
          <p:nvPr/>
        </p:nvSpPr>
        <p:spPr>
          <a:xfrm>
            <a:off x="457200" y="3435096"/>
            <a:ext cx="11247120" cy="478692"/>
          </a:xfrm>
          <a:prstGeom prst="rect">
            <a:avLst/>
          </a:prstGeom>
          <a:noFill/>
        </p:spPr>
        <p:txBody>
          <a:bodyPr wrap="square" anchor="t" lIns="0" rIns="0" tIns="0" bIns="0">
            <a:spAutoFit/>
          </a:bodyPr>
          <a:lstStyle/>
          <a:p>
            <a:pPr>
              <a:spcBef>
                <a:spcPts val="0"/>
              </a:spcBef>
              <a:spcAft>
                <a:spcPts val="769"/>
              </a:spcAft>
            </a:pPr>
            <a:r>
              <a:rPr sz="2000" b="1" i="0">
                <a:solidFill>
                  <a:srgbClr val="000000"/>
                </a:solidFill>
                <a:latin typeface="Nirmala UI"/>
              </a:rPr>
              <a:t>Collections: </a:t>
            </a:r>
            <a:r>
              <a:rPr sz="2000" b="0" i="0">
                <a:solidFill>
                  <a:srgbClr val="000000"/>
                </a:solidFill>
                <a:latin typeface="Consolas"/>
              </a:rPr>
              <a:t>customers</a:t>
            </a:r>
            <a:r>
              <a:rPr sz="2000" b="0" i="0">
                <a:solidFill>
                  <a:srgbClr val="000000"/>
                </a:solidFill>
                <a:latin typeface="Nirmala UI"/>
              </a:rPr>
              <a:t> · </a:t>
            </a:r>
            <a:r>
              <a:rPr sz="2000" b="0" i="0">
                <a:solidFill>
                  <a:srgbClr val="000000"/>
                </a:solidFill>
                <a:latin typeface="Consolas"/>
              </a:rPr>
              <a:t>products</a:t>
            </a:r>
            <a:r>
              <a:rPr sz="2000" b="0" i="0">
                <a:solidFill>
                  <a:srgbClr val="000000"/>
                </a:solidFill>
                <a:latin typeface="Nirmala UI"/>
              </a:rPr>
              <a:t> · </a:t>
            </a:r>
            <a:r>
              <a:rPr sz="2000" b="0" i="0">
                <a:solidFill>
                  <a:srgbClr val="000000"/>
                </a:solidFill>
                <a:latin typeface="Consolas"/>
              </a:rPr>
              <a:t>orders</a:t>
            </a:r>
          </a:p>
        </p:txBody>
      </p:sp>
      <p:sp>
        <p:nvSpPr>
          <p:cNvPr id="9" name="Rounded Rectangle 8"/>
          <p:cNvSpPr/>
          <p:nvPr/>
        </p:nvSpPr>
        <p:spPr>
          <a:xfrm>
            <a:off x="457200" y="4005228"/>
            <a:ext cx="11247120" cy="554736"/>
          </a:xfrm>
          <a:prstGeom prst="roundRect">
            <a:avLst>
              <a:gd name="adj" fmla="val 6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4005228"/>
            <a:ext cx="11027664" cy="554736"/>
          </a:xfrm>
          <a:prstGeom prst="rect">
            <a:avLst/>
          </a:prstGeom>
          <a:noFill/>
        </p:spPr>
        <p:txBody>
          <a:bodyPr wrap="square" anchor="ctr" lIns="0" rIns="0" tIns="0" bIns="0">
            <a:spAutoFit/>
          </a:bodyPr>
          <a:lstStyle/>
          <a:p>
            <a:r>
              <a:rPr sz="1200" b="1" i="0">
                <a:solidFill>
                  <a:srgbClr val="D1282E"/>
                </a:solidFill>
                <a:latin typeface="Nirmala UI"/>
              </a:rPr>
              <a:t>LAB GUIDE   </a:t>
            </a:r>
            <a:r>
              <a:rPr sz="2000" b="0" i="0">
                <a:solidFill>
                  <a:srgbClr val="000000"/>
                </a:solidFill>
                <a:latin typeface="Consolas"/>
              </a:rPr>
              <a:t>Exercise 1.3</a:t>
            </a:r>
          </a:p>
        </p:txBody>
      </p:sp>
      <p:sp>
        <p:nvSpPr>
          <p:cNvPr id="11" name="Rectangle 10"/>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4"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33</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EXERCISE 1.3 — NAVIGATION FLOW</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1</a:t>
            </a:r>
          </a:p>
        </p:txBody>
      </p:sp>
      <p:sp>
        <p:nvSpPr>
          <p:cNvPr id="4" name="Oval 3"/>
          <p:cNvSpPr/>
          <p:nvPr/>
        </p:nvSpPr>
        <p:spPr>
          <a:xfrm>
            <a:off x="457200" y="2804004"/>
            <a:ext cx="237744" cy="237744"/>
          </a:xfrm>
          <a:prstGeom prst="ellipse">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804004"/>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2785716"/>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3188052"/>
            <a:ext cx="11247120" cy="47869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Memorize this path:</a:t>
            </a:r>
          </a:p>
        </p:txBody>
      </p:sp>
      <p:sp>
        <p:nvSpPr>
          <p:cNvPr id="8" name="TextBox 7"/>
          <p:cNvSpPr txBox="1"/>
          <p:nvPr/>
        </p:nvSpPr>
        <p:spPr>
          <a:xfrm>
            <a:off x="457200" y="3758184"/>
            <a:ext cx="11247120" cy="47869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Consolas"/>
              </a:rPr>
              <a:t>show dbs</a:t>
            </a:r>
            <a:r>
              <a:rPr sz="2000" b="0" i="0">
                <a:solidFill>
                  <a:srgbClr val="000000"/>
                </a:solidFill>
                <a:latin typeface="Nirmala UI"/>
              </a:rPr>
              <a:t> → </a:t>
            </a:r>
            <a:r>
              <a:rPr sz="2000" b="0" i="0">
                <a:solidFill>
                  <a:srgbClr val="000000"/>
                </a:solidFill>
                <a:latin typeface="Consolas"/>
              </a:rPr>
              <a:t>use training_store</a:t>
            </a:r>
            <a:r>
              <a:rPr sz="2000" b="0" i="0">
                <a:solidFill>
                  <a:srgbClr val="000000"/>
                </a:solidFill>
                <a:latin typeface="Nirmala UI"/>
              </a:rPr>
              <a:t> → </a:t>
            </a:r>
            <a:r>
              <a:rPr sz="2000" b="0" i="0">
                <a:solidFill>
                  <a:srgbClr val="000000"/>
                </a:solidFill>
                <a:latin typeface="Consolas"/>
              </a:rPr>
              <a:t>show collections</a:t>
            </a:r>
            <a:r>
              <a:rPr sz="2000" b="0" i="0">
                <a:solidFill>
                  <a:srgbClr val="000000"/>
                </a:solidFill>
                <a:latin typeface="Nirmala UI"/>
              </a:rPr>
              <a:t> → </a:t>
            </a:r>
            <a:r>
              <a:rPr sz="2000" b="0" i="0">
                <a:solidFill>
                  <a:srgbClr val="000000"/>
                </a:solidFill>
                <a:latin typeface="Consolas"/>
              </a:rPr>
              <a:t>findOne()</a:t>
            </a:r>
          </a:p>
        </p:txBody>
      </p:sp>
      <p:sp>
        <p:nvSpPr>
          <p:cNvPr id="9" name="Rectangle 8"/>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2"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34</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EXERCISE 1.3 — STEPS 1–2</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1</a:t>
            </a:r>
          </a:p>
        </p:txBody>
      </p:sp>
      <p:sp>
        <p:nvSpPr>
          <p:cNvPr id="4" name="Oval 3"/>
          <p:cNvSpPr/>
          <p:nvPr/>
        </p:nvSpPr>
        <p:spPr>
          <a:xfrm>
            <a:off x="457200" y="1430804"/>
            <a:ext cx="237744" cy="237744"/>
          </a:xfrm>
          <a:prstGeom prst="ellipse">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430804"/>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412516"/>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Rounded Rectangle 6"/>
          <p:cNvSpPr/>
          <p:nvPr/>
        </p:nvSpPr>
        <p:spPr>
          <a:xfrm>
            <a:off x="457200" y="1814852"/>
            <a:ext cx="11247120" cy="554736"/>
          </a:xfrm>
          <a:prstGeom prst="roundRect">
            <a:avLst>
              <a:gd name="adj" fmla="val 6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1814852"/>
            <a:ext cx="11027664" cy="554736"/>
          </a:xfrm>
          <a:prstGeom prst="rect">
            <a:avLst/>
          </a:prstGeom>
          <a:noFill/>
        </p:spPr>
        <p:txBody>
          <a:bodyPr wrap="square" anchor="ctr" lIns="0" rIns="0" tIns="0" bIns="0">
            <a:spAutoFit/>
          </a:bodyPr>
          <a:lstStyle/>
          <a:p>
            <a:r>
              <a:rPr sz="1200" b="1" i="0">
                <a:solidFill>
                  <a:srgbClr val="D1282E"/>
                </a:solidFill>
                <a:latin typeface="Nirmala UI"/>
              </a:rPr>
              <a:t>LAB GUIDE   </a:t>
            </a:r>
            <a:r>
              <a:rPr sz="2000" b="0" i="0">
                <a:solidFill>
                  <a:srgbClr val="000000"/>
                </a:solidFill>
                <a:latin typeface="Consolas"/>
              </a:rPr>
              <a:t>Exercise 1.3</a:t>
            </a:r>
          </a:p>
        </p:txBody>
      </p:sp>
      <p:sp>
        <p:nvSpPr>
          <p:cNvPr id="9" name="TextBox 8"/>
          <p:cNvSpPr txBox="1"/>
          <p:nvPr/>
        </p:nvSpPr>
        <p:spPr>
          <a:xfrm>
            <a:off x="457200" y="2461028"/>
            <a:ext cx="11247120" cy="240557"/>
          </a:xfrm>
          <a:prstGeom prst="rect">
            <a:avLst/>
          </a:prstGeom>
          <a:noFill/>
        </p:spPr>
        <p:txBody>
          <a:bodyPr wrap="square" anchor="t" lIns="0" rIns="0" tIns="0" bIns="0">
            <a:spAutoFit/>
          </a:bodyPr>
          <a:lstStyle/>
          <a:p>
            <a:pPr>
              <a:spcBef>
                <a:spcPts val="0"/>
              </a:spcBef>
              <a:spcAft>
                <a:spcPts val="346"/>
              </a:spcAft>
            </a:pPr>
            <a:r>
              <a:rPr sz="900" b="1" i="0">
                <a:solidFill>
                  <a:srgbClr val="000000"/>
                </a:solidFill>
                <a:latin typeface="Nirmala UI"/>
              </a:rPr>
              <a:t>Follow along (Windows) — key steps:</a:t>
            </a:r>
          </a:p>
        </p:txBody>
      </p:sp>
      <p:sp>
        <p:nvSpPr>
          <p:cNvPr id="10" name="TextBox 9"/>
          <p:cNvSpPr txBox="1"/>
          <p:nvPr/>
        </p:nvSpPr>
        <p:spPr>
          <a:xfrm>
            <a:off x="457200" y="2793025"/>
            <a:ext cx="11247120" cy="240557"/>
          </a:xfrm>
          <a:prstGeom prst="rect">
            <a:avLst/>
          </a:prstGeom>
          <a:noFill/>
        </p:spPr>
        <p:txBody>
          <a:bodyPr wrap="square" anchor="t" lIns="0" rIns="0" tIns="0" bIns="0">
            <a:spAutoFit/>
          </a:bodyPr>
          <a:lstStyle/>
          <a:p>
            <a:pPr>
              <a:spcBef>
                <a:spcPts val="0"/>
              </a:spcBef>
              <a:spcAft>
                <a:spcPts val="346"/>
              </a:spcAft>
            </a:pPr>
            <a:r>
              <a:rPr sz="900" b="1" i="0">
                <a:solidFill>
                  <a:srgbClr val="000000"/>
                </a:solidFill>
                <a:latin typeface="Nirmala UI"/>
              </a:rPr>
              <a:t>Step 1 — View available databases</a:t>
            </a:r>
          </a:p>
        </p:txBody>
      </p:sp>
      <p:sp>
        <p:nvSpPr>
          <p:cNvPr id="11" name="TextBox 10"/>
          <p:cNvSpPr txBox="1"/>
          <p:nvPr/>
        </p:nvSpPr>
        <p:spPr>
          <a:xfrm>
            <a:off x="457200" y="3125022"/>
            <a:ext cx="11247120" cy="435394"/>
          </a:xfrm>
          <a:prstGeom prst="rect">
            <a:avLst/>
          </a:prstGeom>
          <a:noFill/>
        </p:spPr>
        <p:txBody>
          <a:bodyPr wrap="square" anchor="t" lIns="0" rIns="0" tIns="0" bIns="0">
            <a:spAutoFit/>
          </a:bodyPr>
          <a:lstStyle/>
          <a:p>
            <a:pPr>
              <a:spcBef>
                <a:spcPts val="0"/>
              </a:spcBef>
              <a:spcAft>
                <a:spcPts val="346"/>
              </a:spcAft>
            </a:pPr>
            <a:r>
              <a:rPr sz="900" b="0" i="0">
                <a:solidFill>
                  <a:srgbClr val="000000"/>
                </a:solidFill>
                <a:latin typeface="Nirmala UI"/>
              </a:rPr>
              <a:t>•  </a:t>
            </a:r>
            <a:r>
              <a:rPr sz="900" b="1" i="0">
                <a:solidFill>
                  <a:srgbClr val="000000"/>
                </a:solidFill>
                <a:latin typeface="Nirmala UI"/>
              </a:rPr>
              <a:t>Do:</a:t>
            </a:r>
            <a:r>
              <a:rPr sz="900" b="0" i="0">
                <a:solidFill>
                  <a:srgbClr val="000000"/>
                </a:solidFill>
                <a:latin typeface="Nirmala UI"/>
              </a:rPr>
              <a:t> In </a:t>
            </a:r>
            <a:r>
              <a:rPr sz="900" b="0" i="0">
                <a:solidFill>
                  <a:srgbClr val="000000"/>
                </a:solidFill>
                <a:latin typeface="Consolas"/>
              </a:rPr>
              <a:t>mongosh</a:t>
            </a:r>
            <a:r>
              <a:rPr sz="900" b="0" i="0">
                <a:solidFill>
                  <a:srgbClr val="000000"/>
                </a:solidFill>
                <a:latin typeface="Nirmala UI"/>
              </a:rPr>
              <a:t>, run: javascript show dbs</a:t>
            </a:r>
          </a:p>
          <a:p>
            <a:pPr>
              <a:spcBef>
                <a:spcPts val="0"/>
              </a:spcBef>
              <a:spcAft>
                <a:spcPts val="346"/>
              </a:spcAft>
            </a:pPr>
            <a:r>
              <a:rPr sz="900" b="0" i="0">
                <a:solidFill>
                  <a:srgbClr val="000000"/>
                </a:solidFill>
                <a:latin typeface="Nirmala UI"/>
              </a:rPr>
              <a:t>•  </a:t>
            </a:r>
            <a:r>
              <a:rPr sz="900" b="1" i="0">
                <a:solidFill>
                  <a:srgbClr val="000000"/>
                </a:solidFill>
                <a:latin typeface="Nirmala UI"/>
              </a:rPr>
              <a:t>Expected:</a:t>
            </a:r>
            <a:r>
              <a:rPr sz="900" b="0" i="0">
                <a:solidFill>
                  <a:srgbClr val="000000"/>
                </a:solidFill>
                <a:latin typeface="Nirmala UI"/>
              </a:rPr>
              <a:t> The database list includes </a:t>
            </a:r>
            <a:r>
              <a:rPr sz="900" b="0" i="0">
                <a:solidFill>
                  <a:srgbClr val="000000"/>
                </a:solidFill>
                <a:latin typeface="Consolas"/>
              </a:rPr>
              <a:t>training_store</a:t>
            </a:r>
            <a:r>
              <a:rPr sz="900" b="0" i="0">
                <a:solidFill>
                  <a:srgbClr val="000000"/>
                </a:solidFill>
                <a:latin typeface="Nirmala UI"/>
              </a:rPr>
              <a:t> (and usually </a:t>
            </a:r>
            <a:r>
              <a:rPr sz="900" b="0" i="0">
                <a:solidFill>
                  <a:srgbClr val="000000"/>
                </a:solidFill>
                <a:latin typeface="Consolas"/>
              </a:rPr>
              <a:t>admin</a:t>
            </a:r>
            <a:r>
              <a:rPr sz="900" b="0" i="0">
                <a:solidFill>
                  <a:srgbClr val="000000"/>
                </a:solidFill>
                <a:latin typeface="Nirmala UI"/>
              </a:rPr>
              <a:t>, </a:t>
            </a:r>
            <a:r>
              <a:rPr sz="900" b="0" i="0">
                <a:solidFill>
                  <a:srgbClr val="000000"/>
                </a:solidFill>
                <a:latin typeface="Consolas"/>
              </a:rPr>
              <a:t>config</a:t>
            </a:r>
            <a:r>
              <a:rPr sz="900" b="0" i="0">
                <a:solidFill>
                  <a:srgbClr val="000000"/>
                </a:solidFill>
                <a:latin typeface="Nirmala UI"/>
              </a:rPr>
              <a:t>, and </a:t>
            </a:r>
            <a:r>
              <a:rPr sz="900" b="0" i="0">
                <a:solidFill>
                  <a:srgbClr val="000000"/>
                </a:solidFill>
                <a:latin typeface="Consolas"/>
              </a:rPr>
              <a:t>local</a:t>
            </a:r>
            <a:r>
              <a:rPr sz="900" b="0" i="0">
                <a:solidFill>
                  <a:srgbClr val="000000"/>
                </a:solidFill>
                <a:latin typeface="Nirmala UI"/>
              </a:rPr>
              <a:t>).</a:t>
            </a:r>
          </a:p>
        </p:txBody>
      </p:sp>
      <p:sp>
        <p:nvSpPr>
          <p:cNvPr id="12" name="TextBox 11"/>
          <p:cNvSpPr txBox="1"/>
          <p:nvPr/>
        </p:nvSpPr>
        <p:spPr>
          <a:xfrm>
            <a:off x="457200" y="3651856"/>
            <a:ext cx="11247120" cy="240557"/>
          </a:xfrm>
          <a:prstGeom prst="rect">
            <a:avLst/>
          </a:prstGeom>
          <a:noFill/>
        </p:spPr>
        <p:txBody>
          <a:bodyPr wrap="square" anchor="t" lIns="0" rIns="0" tIns="0" bIns="0">
            <a:spAutoFit/>
          </a:bodyPr>
          <a:lstStyle/>
          <a:p>
            <a:pPr>
              <a:spcBef>
                <a:spcPts val="0"/>
              </a:spcBef>
              <a:spcAft>
                <a:spcPts val="346"/>
              </a:spcAft>
            </a:pPr>
            <a:r>
              <a:rPr sz="900" b="1" i="0">
                <a:solidFill>
                  <a:srgbClr val="000000"/>
                </a:solidFill>
                <a:latin typeface="Nirmala UI"/>
              </a:rPr>
              <a:t>Step 2 — Select the training database and list collections</a:t>
            </a:r>
          </a:p>
        </p:txBody>
      </p:sp>
      <p:sp>
        <p:nvSpPr>
          <p:cNvPr id="13" name="TextBox 12"/>
          <p:cNvSpPr txBox="1"/>
          <p:nvPr/>
        </p:nvSpPr>
        <p:spPr>
          <a:xfrm>
            <a:off x="457200" y="3983853"/>
            <a:ext cx="11247120" cy="435394"/>
          </a:xfrm>
          <a:prstGeom prst="rect">
            <a:avLst/>
          </a:prstGeom>
          <a:noFill/>
        </p:spPr>
        <p:txBody>
          <a:bodyPr wrap="square" anchor="t" lIns="0" rIns="0" tIns="0" bIns="0">
            <a:spAutoFit/>
          </a:bodyPr>
          <a:lstStyle/>
          <a:p>
            <a:pPr>
              <a:spcBef>
                <a:spcPts val="0"/>
              </a:spcBef>
              <a:spcAft>
                <a:spcPts val="346"/>
              </a:spcAft>
            </a:pPr>
            <a:r>
              <a:rPr sz="900" b="0" i="0">
                <a:solidFill>
                  <a:srgbClr val="000000"/>
                </a:solidFill>
                <a:latin typeface="Nirmala UI"/>
              </a:rPr>
              <a:t>•  </a:t>
            </a:r>
            <a:r>
              <a:rPr sz="900" b="1" i="0">
                <a:solidFill>
                  <a:srgbClr val="000000"/>
                </a:solidFill>
                <a:latin typeface="Nirmala UI"/>
              </a:rPr>
              <a:t>Do:</a:t>
            </a:r>
            <a:r>
              <a:rPr sz="900" b="0" i="0">
                <a:solidFill>
                  <a:srgbClr val="000000"/>
                </a:solidFill>
                <a:latin typeface="Nirmala UI"/>
              </a:rPr>
              <a:t> Run: javascript use training_store show collections</a:t>
            </a:r>
          </a:p>
          <a:p>
            <a:pPr>
              <a:spcBef>
                <a:spcPts val="0"/>
              </a:spcBef>
              <a:spcAft>
                <a:spcPts val="346"/>
              </a:spcAft>
            </a:pPr>
            <a:r>
              <a:rPr sz="900" b="0" i="0">
                <a:solidFill>
                  <a:srgbClr val="000000"/>
                </a:solidFill>
                <a:latin typeface="Nirmala UI"/>
              </a:rPr>
              <a:t>•  </a:t>
            </a:r>
            <a:r>
              <a:rPr sz="900" b="1" i="0">
                <a:solidFill>
                  <a:srgbClr val="000000"/>
                </a:solidFill>
                <a:latin typeface="Nirmala UI"/>
              </a:rPr>
              <a:t>Expected:</a:t>
            </a:r>
            <a:r>
              <a:rPr sz="900" b="0" i="0">
                <a:solidFill>
                  <a:srgbClr val="000000"/>
                </a:solidFill>
                <a:latin typeface="Nirmala UI"/>
              </a:rPr>
              <a:t> The prompt shows </a:t>
            </a:r>
            <a:r>
              <a:rPr sz="900" b="0" i="0">
                <a:solidFill>
                  <a:srgbClr val="000000"/>
                </a:solidFill>
                <a:latin typeface="Consolas"/>
              </a:rPr>
              <a:t>training_store</a:t>
            </a:r>
            <a:r>
              <a:rPr sz="900" b="0" i="0">
                <a:solidFill>
                  <a:srgbClr val="000000"/>
                </a:solidFill>
                <a:latin typeface="Nirmala UI"/>
              </a:rPr>
              <a:t>. Collections include </a:t>
            </a:r>
            <a:r>
              <a:rPr sz="900" b="0" i="0">
                <a:solidFill>
                  <a:srgbClr val="000000"/>
                </a:solidFill>
                <a:latin typeface="Consolas"/>
              </a:rPr>
              <a:t>customers</a:t>
            </a:r>
            <a:r>
              <a:rPr sz="900" b="0" i="0">
                <a:solidFill>
                  <a:srgbClr val="000000"/>
                </a:solidFill>
                <a:latin typeface="Nirmala UI"/>
              </a:rPr>
              <a:t>, </a:t>
            </a:r>
            <a:r>
              <a:rPr sz="900" b="0" i="0">
                <a:solidFill>
                  <a:srgbClr val="000000"/>
                </a:solidFill>
                <a:latin typeface="Consolas"/>
              </a:rPr>
              <a:t>products</a:t>
            </a:r>
            <a:r>
              <a:rPr sz="900" b="0" i="0">
                <a:solidFill>
                  <a:srgbClr val="000000"/>
                </a:solidFill>
                <a:latin typeface="Nirmala UI"/>
              </a:rPr>
              <a:t>, and </a:t>
            </a:r>
            <a:r>
              <a:rPr sz="900" b="0" i="0">
                <a:solidFill>
                  <a:srgbClr val="000000"/>
                </a:solidFill>
                <a:latin typeface="Consolas"/>
              </a:rPr>
              <a:t>orders</a:t>
            </a:r>
            <a:r>
              <a:rPr sz="900" b="0" i="0">
                <a:solidFill>
                  <a:srgbClr val="000000"/>
                </a:solidFill>
                <a:latin typeface="Nirmala UI"/>
              </a:rPr>
              <a:t>.</a:t>
            </a:r>
          </a:p>
        </p:txBody>
      </p:sp>
      <p:sp>
        <p:nvSpPr>
          <p:cNvPr id="14" name="TextBox 13"/>
          <p:cNvSpPr txBox="1"/>
          <p:nvPr/>
        </p:nvSpPr>
        <p:spPr>
          <a:xfrm>
            <a:off x="457200" y="4510687"/>
            <a:ext cx="11247120" cy="240557"/>
          </a:xfrm>
          <a:prstGeom prst="rect">
            <a:avLst/>
          </a:prstGeom>
          <a:noFill/>
        </p:spPr>
        <p:txBody>
          <a:bodyPr wrap="square" anchor="t" lIns="0" rIns="0" tIns="0" bIns="0">
            <a:spAutoFit/>
          </a:bodyPr>
          <a:lstStyle/>
          <a:p>
            <a:pPr>
              <a:spcBef>
                <a:spcPts val="0"/>
              </a:spcBef>
              <a:spcAft>
                <a:spcPts val="346"/>
              </a:spcAft>
            </a:pPr>
            <a:r>
              <a:rPr sz="900" b="1" i="0">
                <a:solidFill>
                  <a:srgbClr val="000000"/>
                </a:solidFill>
                <a:latin typeface="Nirmala UI"/>
              </a:rPr>
              <a:t>Step 3 — Retrieve one product document</a:t>
            </a:r>
          </a:p>
        </p:txBody>
      </p:sp>
      <p:sp>
        <p:nvSpPr>
          <p:cNvPr id="15" name="TextBox 14"/>
          <p:cNvSpPr txBox="1"/>
          <p:nvPr/>
        </p:nvSpPr>
        <p:spPr>
          <a:xfrm>
            <a:off x="457200" y="4842684"/>
            <a:ext cx="11247120" cy="435394"/>
          </a:xfrm>
          <a:prstGeom prst="rect">
            <a:avLst/>
          </a:prstGeom>
          <a:noFill/>
        </p:spPr>
        <p:txBody>
          <a:bodyPr wrap="square" anchor="t" lIns="0" rIns="0" tIns="0" bIns="0">
            <a:spAutoFit/>
          </a:bodyPr>
          <a:lstStyle/>
          <a:p>
            <a:pPr>
              <a:spcBef>
                <a:spcPts val="0"/>
              </a:spcBef>
              <a:spcAft>
                <a:spcPts val="346"/>
              </a:spcAft>
            </a:pPr>
            <a:r>
              <a:rPr sz="900" b="0" i="0">
                <a:solidFill>
                  <a:srgbClr val="000000"/>
                </a:solidFill>
                <a:latin typeface="Nirmala UI"/>
              </a:rPr>
              <a:t>•  </a:t>
            </a:r>
            <a:r>
              <a:rPr sz="900" b="1" i="0">
                <a:solidFill>
                  <a:srgbClr val="000000"/>
                </a:solidFill>
                <a:latin typeface="Nirmala UI"/>
              </a:rPr>
              <a:t>Do:</a:t>
            </a:r>
            <a:r>
              <a:rPr sz="900" b="0" i="0">
                <a:solidFill>
                  <a:srgbClr val="000000"/>
                </a:solidFill>
                <a:latin typeface="Nirmala UI"/>
              </a:rPr>
              <a:t> Run: javascript db.products.findOne()</a:t>
            </a:r>
          </a:p>
          <a:p>
            <a:pPr>
              <a:spcBef>
                <a:spcPts val="0"/>
              </a:spcBef>
              <a:spcAft>
                <a:spcPts val="346"/>
              </a:spcAft>
            </a:pPr>
            <a:r>
              <a:rPr sz="900" b="0" i="0">
                <a:solidFill>
                  <a:srgbClr val="000000"/>
                </a:solidFill>
                <a:latin typeface="Nirmala UI"/>
              </a:rPr>
              <a:t>•  </a:t>
            </a:r>
            <a:r>
              <a:rPr sz="900" b="1" i="0">
                <a:solidFill>
                  <a:srgbClr val="000000"/>
                </a:solidFill>
                <a:latin typeface="Nirmala UI"/>
              </a:rPr>
              <a:t>Expected:</a:t>
            </a:r>
            <a:r>
              <a:rPr sz="900" b="0" i="0">
                <a:solidFill>
                  <a:srgbClr val="000000"/>
                </a:solidFill>
                <a:latin typeface="Nirmala UI"/>
              </a:rPr>
              <a:t> One product document prints. You can see </a:t>
            </a:r>
            <a:r>
              <a:rPr sz="900" b="0" i="0">
                <a:solidFill>
                  <a:srgbClr val="000000"/>
                </a:solidFill>
                <a:latin typeface="Consolas"/>
              </a:rPr>
              <a:t>_id</a:t>
            </a:r>
            <a:r>
              <a:rPr sz="900" b="0" i="0">
                <a:solidFill>
                  <a:srgbClr val="000000"/>
                </a:solidFill>
                <a:latin typeface="Nirmala UI"/>
              </a:rPr>
              <a:t>, scalar fields such as </a:t>
            </a:r>
            <a:r>
              <a:rPr sz="900" b="0" i="0">
                <a:solidFill>
                  <a:srgbClr val="000000"/>
                </a:solidFill>
                <a:latin typeface="Consolas"/>
              </a:rPr>
              <a:t>name</a:t>
            </a:r>
            <a:r>
              <a:rPr sz="900" b="0" i="0">
                <a:solidFill>
                  <a:srgbClr val="000000"/>
                </a:solidFill>
                <a:latin typeface="Nirmala UI"/>
              </a:rPr>
              <a:t> and </a:t>
            </a:r>
            <a:r>
              <a:rPr sz="900" b="0" i="0">
                <a:solidFill>
                  <a:srgbClr val="000000"/>
                </a:solidFill>
                <a:latin typeface="Consolas"/>
              </a:rPr>
              <a:t>price</a:t>
            </a:r>
            <a:r>
              <a:rPr sz="900" b="0" i="0">
                <a:solidFill>
                  <a:srgbClr val="000000"/>
                </a:solidFill>
                <a:latin typeface="Nirmala UI"/>
              </a:rPr>
              <a:t>, and at least one nested or category-specific field.</a:t>
            </a:r>
          </a:p>
        </p:txBody>
      </p:sp>
      <p:sp>
        <p:nvSpPr>
          <p:cNvPr id="16" name="TextBox 15"/>
          <p:cNvSpPr txBox="1"/>
          <p:nvPr/>
        </p:nvSpPr>
        <p:spPr>
          <a:xfrm>
            <a:off x="457200" y="5369518"/>
            <a:ext cx="11247120" cy="240557"/>
          </a:xfrm>
          <a:prstGeom prst="rect">
            <a:avLst/>
          </a:prstGeom>
          <a:noFill/>
        </p:spPr>
        <p:txBody>
          <a:bodyPr wrap="square" anchor="t" lIns="0" rIns="0" tIns="0" bIns="0">
            <a:spAutoFit/>
          </a:bodyPr>
          <a:lstStyle/>
          <a:p>
            <a:pPr>
              <a:spcBef>
                <a:spcPts val="0"/>
              </a:spcBef>
              <a:spcAft>
                <a:spcPts val="346"/>
              </a:spcAft>
            </a:pPr>
            <a:r>
              <a:rPr sz="900" b="1" i="0">
                <a:solidFill>
                  <a:srgbClr val="000000"/>
                </a:solidFill>
                <a:latin typeface="Nirmala UI"/>
              </a:rPr>
              <a:t>_Full lab guide with every command: </a:t>
            </a:r>
            <a:r>
              <a:rPr sz="900" b="0" i="0">
                <a:solidFill>
                  <a:srgbClr val="000000"/>
                </a:solidFill>
                <a:latin typeface="Nirmala UI"/>
              </a:rPr>
              <a:t>see </a:t>
            </a:r>
            <a:r>
              <a:rPr sz="900" b="1" i="0">
                <a:solidFill>
                  <a:srgbClr val="000000"/>
                </a:solidFill>
                <a:latin typeface="Nirmala UI"/>
              </a:rPr>
              <a:t>Lab guide</a:t>
            </a:r>
            <a:r>
              <a:rPr sz="900" b="0" i="0">
                <a:solidFill>
                  <a:srgbClr val="000000"/>
                </a:solidFill>
                <a:latin typeface="Nirmala UI"/>
              </a:rPr>
              <a:t> on the lesson divider slide._</a:t>
            </a:r>
          </a:p>
        </p:txBody>
      </p:sp>
      <p:sp>
        <p:nvSpPr>
          <p:cNvPr id="17" name="Rectangle 16"/>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0"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35</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EXERCISE 1.3 — STEPS 3–4</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1</a:t>
            </a:r>
          </a:p>
        </p:txBody>
      </p:sp>
      <p:sp>
        <p:nvSpPr>
          <p:cNvPr id="4" name="Oval 3"/>
          <p:cNvSpPr/>
          <p:nvPr/>
        </p:nvSpPr>
        <p:spPr>
          <a:xfrm>
            <a:off x="457200" y="1427598"/>
            <a:ext cx="237744" cy="237744"/>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427598"/>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409310"/>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Rounded Rectangle 6"/>
          <p:cNvSpPr/>
          <p:nvPr/>
        </p:nvSpPr>
        <p:spPr>
          <a:xfrm>
            <a:off x="457200" y="1811646"/>
            <a:ext cx="11247120" cy="554736"/>
          </a:xfrm>
          <a:prstGeom prst="roundRect">
            <a:avLst>
              <a:gd name="adj" fmla="val 6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1811646"/>
            <a:ext cx="11027664" cy="554736"/>
          </a:xfrm>
          <a:prstGeom prst="rect">
            <a:avLst/>
          </a:prstGeom>
          <a:noFill/>
        </p:spPr>
        <p:txBody>
          <a:bodyPr wrap="square" anchor="ctr" lIns="0" rIns="0" tIns="0" bIns="0">
            <a:spAutoFit/>
          </a:bodyPr>
          <a:lstStyle/>
          <a:p>
            <a:r>
              <a:rPr sz="1200" b="1" i="0">
                <a:solidFill>
                  <a:srgbClr val="D1282E"/>
                </a:solidFill>
                <a:latin typeface="Nirmala UI"/>
              </a:rPr>
              <a:t>LAB GUIDE   </a:t>
            </a:r>
            <a:r>
              <a:rPr sz="2000" b="0" i="0">
                <a:solidFill>
                  <a:srgbClr val="000000"/>
                </a:solidFill>
                <a:latin typeface="Consolas"/>
              </a:rPr>
              <a:t>Exercise 1.3</a:t>
            </a:r>
            <a:r>
              <a:rPr sz="2000" b="0" i="0">
                <a:solidFill>
                  <a:srgbClr val="000000"/>
                </a:solidFill>
                <a:latin typeface="Nirmala UI"/>
              </a:rPr>
              <a:t> </a:t>
            </a:r>
            <a:r>
              <a:rPr sz="2000" b="1" i="0">
                <a:solidFill>
                  <a:srgbClr val="000000"/>
                </a:solidFill>
                <a:latin typeface="Nirmala UI"/>
              </a:rPr>
              <a:t>Step 3 — Retrieve one product document</a:t>
            </a:r>
          </a:p>
        </p:txBody>
      </p:sp>
      <p:sp>
        <p:nvSpPr>
          <p:cNvPr id="9" name="TextBox 8"/>
          <p:cNvSpPr txBox="1"/>
          <p:nvPr/>
        </p:nvSpPr>
        <p:spPr>
          <a:xfrm>
            <a:off x="457200" y="2457822"/>
            <a:ext cx="11247120" cy="1246944"/>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  </a:t>
            </a:r>
            <a:r>
              <a:rPr sz="2000" b="1" i="0">
                <a:solidFill>
                  <a:srgbClr val="000000"/>
                </a:solidFill>
                <a:latin typeface="Nirmala UI"/>
              </a:rPr>
              <a:t>Do:</a:t>
            </a:r>
            <a:r>
              <a:rPr sz="2000" b="0" i="0">
                <a:solidFill>
                  <a:srgbClr val="000000"/>
                </a:solidFill>
                <a:latin typeface="Nirmala UI"/>
              </a:rPr>
              <a:t> Run </a:t>
            </a:r>
            <a:r>
              <a:rPr sz="2000" b="0" i="0">
                <a:solidFill>
                  <a:srgbClr val="000000"/>
                </a:solidFill>
                <a:latin typeface="Consolas"/>
              </a:rPr>
              <a:t>db.products.findOne()</a:t>
            </a:r>
            <a:r>
              <a:rPr sz="2000" b="0" i="0">
                <a:solidFill>
                  <a:srgbClr val="000000"/>
                </a:solidFill>
                <a:latin typeface="Nirmala UI"/>
              </a:rPr>
              <a:t>.</a:t>
            </a:r>
          </a:p>
          <a:p>
            <a:pPr>
              <a:spcBef>
                <a:spcPts val="0"/>
              </a:spcBef>
              <a:spcAft>
                <a:spcPts val="769"/>
              </a:spcAft>
            </a:pPr>
            <a:r>
              <a:rPr sz="2000" b="0" i="0">
                <a:solidFill>
                  <a:srgbClr val="000000"/>
                </a:solidFill>
                <a:latin typeface="Nirmala UI"/>
              </a:rPr>
              <a:t>•  </a:t>
            </a:r>
            <a:r>
              <a:rPr sz="2000" b="1" i="0">
                <a:solidFill>
                  <a:srgbClr val="000000"/>
                </a:solidFill>
                <a:latin typeface="Nirmala UI"/>
              </a:rPr>
              <a:t>Expected:</a:t>
            </a:r>
            <a:r>
              <a:rPr sz="2000" b="0" i="0">
                <a:solidFill>
                  <a:srgbClr val="000000"/>
                </a:solidFill>
                <a:latin typeface="Nirmala UI"/>
              </a:rPr>
              <a:t> One product with </a:t>
            </a:r>
            <a:r>
              <a:rPr sz="2000" b="0" i="0">
                <a:solidFill>
                  <a:srgbClr val="000000"/>
                </a:solidFill>
                <a:latin typeface="Consolas"/>
              </a:rPr>
              <a:t>_id</a:t>
            </a:r>
            <a:r>
              <a:rPr sz="2000" b="0" i="0">
                <a:solidFill>
                  <a:srgbClr val="000000"/>
                </a:solidFill>
                <a:latin typeface="Nirmala UI"/>
              </a:rPr>
              <a:t>, scalars, and at least one nested or category-specific field.</a:t>
            </a:r>
          </a:p>
        </p:txBody>
      </p:sp>
      <p:sp>
        <p:nvSpPr>
          <p:cNvPr id="10" name="TextBox 9"/>
          <p:cNvSpPr txBox="1"/>
          <p:nvPr/>
        </p:nvSpPr>
        <p:spPr>
          <a:xfrm>
            <a:off x="457200" y="3796206"/>
            <a:ext cx="11247120" cy="478692"/>
          </a:xfrm>
          <a:prstGeom prst="rect">
            <a:avLst/>
          </a:prstGeom>
          <a:noFill/>
        </p:spPr>
        <p:txBody>
          <a:bodyPr wrap="square" anchor="t" lIns="0" rIns="0" tIns="0" bIns="0">
            <a:spAutoFit/>
          </a:bodyPr>
          <a:lstStyle/>
          <a:p>
            <a:pPr>
              <a:spcBef>
                <a:spcPts val="0"/>
              </a:spcBef>
              <a:spcAft>
                <a:spcPts val="769"/>
              </a:spcAft>
            </a:pPr>
            <a:r>
              <a:rPr sz="2000" b="1" i="0">
                <a:solidFill>
                  <a:srgbClr val="000000"/>
                </a:solidFill>
                <a:latin typeface="Nirmala UI"/>
              </a:rPr>
              <a:t>Step 4 — Retrieve one order document</a:t>
            </a:r>
          </a:p>
        </p:txBody>
      </p:sp>
      <p:sp>
        <p:nvSpPr>
          <p:cNvPr id="11" name="TextBox 10"/>
          <p:cNvSpPr txBox="1"/>
          <p:nvPr/>
        </p:nvSpPr>
        <p:spPr>
          <a:xfrm>
            <a:off x="457200" y="4366338"/>
            <a:ext cx="11247120" cy="1246944"/>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  </a:t>
            </a:r>
            <a:r>
              <a:rPr sz="2000" b="1" i="0">
                <a:solidFill>
                  <a:srgbClr val="000000"/>
                </a:solidFill>
                <a:latin typeface="Nirmala UI"/>
              </a:rPr>
              <a:t>Do:</a:t>
            </a:r>
            <a:r>
              <a:rPr sz="2000" b="0" i="0">
                <a:solidFill>
                  <a:srgbClr val="000000"/>
                </a:solidFill>
                <a:latin typeface="Nirmala UI"/>
              </a:rPr>
              <a:t> Run </a:t>
            </a:r>
            <a:r>
              <a:rPr sz="2000" b="0" i="0">
                <a:solidFill>
                  <a:srgbClr val="000000"/>
                </a:solidFill>
                <a:latin typeface="Consolas"/>
              </a:rPr>
              <a:t>db.orders.findOne()</a:t>
            </a:r>
            <a:r>
              <a:rPr sz="2000" b="0" i="0">
                <a:solidFill>
                  <a:srgbClr val="000000"/>
                </a:solidFill>
                <a:latin typeface="Nirmala UI"/>
              </a:rPr>
              <a:t>.</a:t>
            </a:r>
          </a:p>
          <a:p>
            <a:pPr>
              <a:spcBef>
                <a:spcPts val="0"/>
              </a:spcBef>
              <a:spcAft>
                <a:spcPts val="769"/>
              </a:spcAft>
            </a:pPr>
            <a:r>
              <a:rPr sz="2000" b="0" i="0">
                <a:solidFill>
                  <a:srgbClr val="000000"/>
                </a:solidFill>
                <a:latin typeface="Nirmala UI"/>
              </a:rPr>
              <a:t>•  </a:t>
            </a:r>
            <a:r>
              <a:rPr sz="2000" b="1" i="0">
                <a:solidFill>
                  <a:srgbClr val="000000"/>
                </a:solidFill>
                <a:latin typeface="Nirmala UI"/>
              </a:rPr>
              <a:t>Expected:</a:t>
            </a:r>
            <a:r>
              <a:rPr sz="2000" b="0" i="0">
                <a:solidFill>
                  <a:srgbClr val="000000"/>
                </a:solidFill>
                <a:latin typeface="Nirmala UI"/>
              </a:rPr>
              <a:t> You can point to an embedded object (</a:t>
            </a:r>
            <a:r>
              <a:rPr sz="2000" b="0" i="0">
                <a:solidFill>
                  <a:srgbClr val="000000"/>
                </a:solidFill>
                <a:latin typeface="Consolas"/>
              </a:rPr>
              <a:t>customer</a:t>
            </a:r>
            <a:r>
              <a:rPr sz="2000" b="0" i="0">
                <a:solidFill>
                  <a:srgbClr val="000000"/>
                </a:solidFill>
                <a:latin typeface="Nirmala UI"/>
              </a:rPr>
              <a:t> or </a:t>
            </a:r>
            <a:r>
              <a:rPr sz="2000" b="0" i="0">
                <a:solidFill>
                  <a:srgbClr val="000000"/>
                </a:solidFill>
                <a:latin typeface="Consolas"/>
              </a:rPr>
              <a:t>shippingAddress</a:t>
            </a:r>
            <a:r>
              <a:rPr sz="2000" b="0" i="0">
                <a:solidFill>
                  <a:srgbClr val="000000"/>
                </a:solidFill>
                <a:latin typeface="Nirmala UI"/>
              </a:rPr>
              <a:t>) and an array (</a:t>
            </a:r>
            <a:r>
              <a:rPr sz="2000" b="0" i="0">
                <a:solidFill>
                  <a:srgbClr val="000000"/>
                </a:solidFill>
                <a:latin typeface="Consolas"/>
              </a:rPr>
              <a:t>items</a:t>
            </a:r>
            <a:r>
              <a:rPr sz="2000" b="0" i="0">
                <a:solidFill>
                  <a:srgbClr val="000000"/>
                </a:solidFill>
                <a:latin typeface="Nirmala UI"/>
              </a:rPr>
              <a:t>).</a:t>
            </a:r>
          </a:p>
        </p:txBody>
      </p:sp>
      <p:sp>
        <p:nvSpPr>
          <p:cNvPr id="12" name="Rectangle 11"/>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5"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36</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EXERCISE 1.3 — LABEL THE DOCUMENT</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1</a:t>
            </a:r>
          </a:p>
        </p:txBody>
      </p:sp>
      <p:sp>
        <p:nvSpPr>
          <p:cNvPr id="4" name="Oval 3"/>
          <p:cNvSpPr/>
          <p:nvPr/>
        </p:nvSpPr>
        <p:spPr>
          <a:xfrm>
            <a:off x="457200" y="2804004"/>
            <a:ext cx="237744" cy="237744"/>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804004"/>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2785716"/>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3188052"/>
            <a:ext cx="11247120" cy="478692"/>
          </a:xfrm>
          <a:prstGeom prst="rect">
            <a:avLst/>
          </a:prstGeom>
          <a:noFill/>
        </p:spPr>
        <p:txBody>
          <a:bodyPr wrap="square" anchor="t" lIns="0" rIns="0" tIns="0" bIns="0">
            <a:spAutoFit/>
          </a:bodyPr>
          <a:lstStyle/>
          <a:p>
            <a:pPr>
              <a:spcBef>
                <a:spcPts val="0"/>
              </a:spcBef>
              <a:spcAft>
                <a:spcPts val="769"/>
              </a:spcAft>
            </a:pPr>
            <a:r>
              <a:rPr sz="2000" b="1" i="0">
                <a:solidFill>
                  <a:srgbClr val="000000"/>
                </a:solidFill>
                <a:latin typeface="Nirmala UI"/>
              </a:rPr>
              <a:t>Fill the callouts: </a:t>
            </a:r>
            <a:r>
              <a:rPr sz="2000" b="0" i="0">
                <a:solidFill>
                  <a:srgbClr val="000000"/>
                </a:solidFill>
                <a:latin typeface="Consolas"/>
              </a:rPr>
              <a:t>_id</a:t>
            </a:r>
            <a:r>
              <a:rPr sz="2000" b="0" i="0">
                <a:solidFill>
                  <a:srgbClr val="000000"/>
                </a:solidFill>
                <a:latin typeface="Nirmala UI"/>
              </a:rPr>
              <a:t>, scalar, Boolean, date, nested object, array.</a:t>
            </a:r>
          </a:p>
        </p:txBody>
      </p:sp>
      <p:sp>
        <p:nvSpPr>
          <p:cNvPr id="8" name="TextBox 7"/>
          <p:cNvSpPr txBox="1"/>
          <p:nvPr/>
        </p:nvSpPr>
        <p:spPr>
          <a:xfrm>
            <a:off x="457200" y="3758184"/>
            <a:ext cx="11247120" cy="47869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Use the order or product from </a:t>
            </a:r>
            <a:r>
              <a:rPr sz="2000" b="0" i="0">
                <a:solidFill>
                  <a:srgbClr val="000000"/>
                </a:solidFill>
                <a:latin typeface="Consolas"/>
              </a:rPr>
              <a:t>findOne()</a:t>
            </a:r>
            <a:r>
              <a:rPr sz="2000" b="0" i="0">
                <a:solidFill>
                  <a:srgbClr val="000000"/>
                </a:solidFill>
                <a:latin typeface="Nirmala UI"/>
              </a:rPr>
              <a:t>.</a:t>
            </a:r>
          </a:p>
        </p:txBody>
      </p:sp>
      <p:sp>
        <p:nvSpPr>
          <p:cNvPr id="9" name="Rectangle 8"/>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2"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37</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EXERCISE 1.3 — BSON TYPES (ANSWER KEY)</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1</a:t>
            </a:r>
          </a:p>
        </p:txBody>
      </p:sp>
      <p:sp>
        <p:nvSpPr>
          <p:cNvPr id="4" name="Oval 3"/>
          <p:cNvSpPr/>
          <p:nvPr/>
        </p:nvSpPr>
        <p:spPr>
          <a:xfrm>
            <a:off x="457200" y="2804004"/>
            <a:ext cx="237744" cy="237744"/>
          </a:xfrm>
          <a:prstGeom prst="ellipse">
            <a:avLst/>
          </a:prstGeom>
          <a:solidFill>
            <a:srgbClr val="C969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804004"/>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2785716"/>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3188052"/>
            <a:ext cx="11247120" cy="47869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After they label, reveal:</a:t>
            </a:r>
          </a:p>
        </p:txBody>
      </p:sp>
      <p:sp>
        <p:nvSpPr>
          <p:cNvPr id="8" name="TextBox 7"/>
          <p:cNvSpPr txBox="1"/>
          <p:nvPr/>
        </p:nvSpPr>
        <p:spPr>
          <a:xfrm>
            <a:off x="457200" y="3758184"/>
            <a:ext cx="11247120" cy="47869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ObjectId · string · number · Boolean · date · array · embedded document</a:t>
            </a:r>
          </a:p>
        </p:txBody>
      </p:sp>
      <p:sp>
        <p:nvSpPr>
          <p:cNvPr id="9" name="Rectangle 8"/>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2"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38</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EXERCISE 1.3 — FLEXIBLE PRODUCTS</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1</a:t>
            </a:r>
          </a:p>
        </p:txBody>
      </p:sp>
      <p:sp>
        <p:nvSpPr>
          <p:cNvPr id="4" name="Oval 3"/>
          <p:cNvSpPr/>
          <p:nvPr/>
        </p:nvSpPr>
        <p:spPr>
          <a:xfrm>
            <a:off x="457200" y="2804004"/>
            <a:ext cx="237744" cy="237744"/>
          </a:xfrm>
          <a:prstGeom prst="ellipse">
            <a:avLst/>
          </a:prstGeom>
          <a:solidFill>
            <a:srgbClr val="5B3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804004"/>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2785716"/>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3188052"/>
            <a:ext cx="11247120" cy="47869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Run </a:t>
            </a:r>
            <a:r>
              <a:rPr sz="2000" b="0" i="0">
                <a:solidFill>
                  <a:srgbClr val="000000"/>
                </a:solidFill>
                <a:latin typeface="Consolas"/>
              </a:rPr>
              <a:t>db.products.find().limit(2)</a:t>
            </a:r>
            <a:r>
              <a:rPr sz="2000" b="0" i="0">
                <a:solidFill>
                  <a:srgbClr val="000000"/>
                </a:solidFill>
                <a:latin typeface="Nirmala UI"/>
              </a:rPr>
              <a:t> and list fields that </a:t>
            </a:r>
            <a:r>
              <a:rPr sz="2000" b="1" i="0">
                <a:solidFill>
                  <a:srgbClr val="000000"/>
                </a:solidFill>
                <a:latin typeface="Nirmala UI"/>
              </a:rPr>
              <a:t>differ</a:t>
            </a:r>
            <a:r>
              <a:rPr sz="2000" b="0" i="0">
                <a:solidFill>
                  <a:srgbClr val="000000"/>
                </a:solidFill>
                <a:latin typeface="Nirmala UI"/>
              </a:rPr>
              <a:t>.</a:t>
            </a:r>
          </a:p>
        </p:txBody>
      </p:sp>
      <p:sp>
        <p:nvSpPr>
          <p:cNvPr id="8" name="TextBox 7"/>
          <p:cNvSpPr txBox="1"/>
          <p:nvPr/>
        </p:nvSpPr>
        <p:spPr>
          <a:xfrm>
            <a:off x="457200" y="3758184"/>
            <a:ext cx="11247120" cy="47869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Laptop </a:t>
            </a:r>
            <a:r>
              <a:rPr sz="2000" b="0" i="0">
                <a:solidFill>
                  <a:srgbClr val="000000"/>
                </a:solidFill>
                <a:latin typeface="Consolas"/>
              </a:rPr>
              <a:t>processor</a:t>
            </a:r>
            <a:r>
              <a:rPr sz="2000" b="0" i="0">
                <a:solidFill>
                  <a:srgbClr val="000000"/>
                </a:solidFill>
                <a:latin typeface="Nirmala UI"/>
              </a:rPr>
              <a:t> vs book </a:t>
            </a:r>
            <a:r>
              <a:rPr sz="2000" b="0" i="0">
                <a:solidFill>
                  <a:srgbClr val="000000"/>
                </a:solidFill>
                <a:latin typeface="Consolas"/>
              </a:rPr>
              <a:t>isbn</a:t>
            </a:r>
            <a:r>
              <a:rPr sz="2000" b="0" i="0">
                <a:solidFill>
                  <a:srgbClr val="000000"/>
                </a:solidFill>
                <a:latin typeface="Nirmala UI"/>
              </a:rPr>
              <a:t> is the point.</a:t>
            </a:r>
          </a:p>
        </p:txBody>
      </p:sp>
      <p:sp>
        <p:nvSpPr>
          <p:cNvPr id="9" name="Rectangle 8"/>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2"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39</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EXERCISE 1.3 — STEPS 5–6</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1</a:t>
            </a:r>
          </a:p>
        </p:txBody>
      </p:sp>
      <p:sp>
        <p:nvSpPr>
          <p:cNvPr id="4" name="Oval 3"/>
          <p:cNvSpPr/>
          <p:nvPr/>
        </p:nvSpPr>
        <p:spPr>
          <a:xfrm>
            <a:off x="457200" y="1427598"/>
            <a:ext cx="237744" cy="237744"/>
          </a:xfrm>
          <a:prstGeom prst="ellipse">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427598"/>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409310"/>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Rounded Rectangle 6"/>
          <p:cNvSpPr/>
          <p:nvPr/>
        </p:nvSpPr>
        <p:spPr>
          <a:xfrm>
            <a:off x="457200" y="1811646"/>
            <a:ext cx="11247120" cy="554736"/>
          </a:xfrm>
          <a:prstGeom prst="roundRect">
            <a:avLst>
              <a:gd name="adj" fmla="val 6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1811646"/>
            <a:ext cx="11027664" cy="554736"/>
          </a:xfrm>
          <a:prstGeom prst="rect">
            <a:avLst/>
          </a:prstGeom>
          <a:noFill/>
        </p:spPr>
        <p:txBody>
          <a:bodyPr wrap="square" anchor="ctr" lIns="0" rIns="0" tIns="0" bIns="0">
            <a:spAutoFit/>
          </a:bodyPr>
          <a:lstStyle/>
          <a:p>
            <a:r>
              <a:rPr sz="1200" b="1" i="0">
                <a:solidFill>
                  <a:srgbClr val="D1282E"/>
                </a:solidFill>
                <a:latin typeface="Nirmala UI"/>
              </a:rPr>
              <a:t>LAB GUIDE   </a:t>
            </a:r>
            <a:r>
              <a:rPr sz="2000" b="0" i="0">
                <a:solidFill>
                  <a:srgbClr val="000000"/>
                </a:solidFill>
                <a:latin typeface="Consolas"/>
              </a:rPr>
              <a:t>Exercise 1.3</a:t>
            </a:r>
            <a:r>
              <a:rPr sz="2000" b="0" i="0">
                <a:solidFill>
                  <a:srgbClr val="000000"/>
                </a:solidFill>
                <a:latin typeface="Nirmala UI"/>
              </a:rPr>
              <a:t> </a:t>
            </a:r>
            <a:r>
              <a:rPr sz="2000" b="1" i="0">
                <a:solidFill>
                  <a:srgbClr val="000000"/>
                </a:solidFill>
                <a:latin typeface="Nirmala UI"/>
              </a:rPr>
              <a:t>Step 5 — Identify document structures</a:t>
            </a:r>
          </a:p>
        </p:txBody>
      </p:sp>
      <p:sp>
        <p:nvSpPr>
          <p:cNvPr id="9" name="TextBox 8"/>
          <p:cNvSpPr txBox="1"/>
          <p:nvPr/>
        </p:nvSpPr>
        <p:spPr>
          <a:xfrm>
            <a:off x="457200" y="2457822"/>
            <a:ext cx="11247120" cy="1246944"/>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  </a:t>
            </a:r>
            <a:r>
              <a:rPr sz="2000" b="1" i="0">
                <a:solidFill>
                  <a:srgbClr val="000000"/>
                </a:solidFill>
                <a:latin typeface="Nirmala UI"/>
              </a:rPr>
              <a:t>Do:</a:t>
            </a:r>
            <a:r>
              <a:rPr sz="2000" b="0" i="0">
                <a:solidFill>
                  <a:srgbClr val="000000"/>
                </a:solidFill>
                <a:latin typeface="Nirmala UI"/>
              </a:rPr>
              <a:t> Label </a:t>
            </a:r>
            <a:r>
              <a:rPr sz="2000" b="0" i="0">
                <a:solidFill>
                  <a:srgbClr val="000000"/>
                </a:solidFill>
                <a:latin typeface="Consolas"/>
              </a:rPr>
              <a:t>_id</a:t>
            </a:r>
            <a:r>
              <a:rPr sz="2000" b="0" i="0">
                <a:solidFill>
                  <a:srgbClr val="000000"/>
                </a:solidFill>
                <a:latin typeface="Nirmala UI"/>
              </a:rPr>
              <a:t>, scalars, embedded documents, arrays, dates, numbers, and booleans on the observation sheet.</a:t>
            </a:r>
          </a:p>
          <a:p>
            <a:pPr>
              <a:spcBef>
                <a:spcPts val="0"/>
              </a:spcBef>
              <a:spcAft>
                <a:spcPts val="769"/>
              </a:spcAft>
            </a:pPr>
            <a:r>
              <a:rPr sz="2000" b="0" i="0">
                <a:solidFill>
                  <a:srgbClr val="000000"/>
                </a:solidFill>
                <a:latin typeface="Nirmala UI"/>
              </a:rPr>
              <a:t>•  </a:t>
            </a:r>
            <a:r>
              <a:rPr sz="2000" b="1" i="0">
                <a:solidFill>
                  <a:srgbClr val="000000"/>
                </a:solidFill>
                <a:latin typeface="Nirmala UI"/>
              </a:rPr>
              <a:t>Expected:</a:t>
            </a:r>
            <a:r>
              <a:rPr sz="2000" b="0" i="0">
                <a:solidFill>
                  <a:srgbClr val="000000"/>
                </a:solidFill>
                <a:latin typeface="Nirmala UI"/>
              </a:rPr>
              <a:t> At least one example of each; </a:t>
            </a:r>
            <a:r>
              <a:rPr sz="2000" b="0" i="0">
                <a:solidFill>
                  <a:srgbClr val="000000"/>
                </a:solidFill>
                <a:latin typeface="Consolas"/>
              </a:rPr>
              <a:t>_id</a:t>
            </a:r>
            <a:r>
              <a:rPr sz="2000" b="0" i="0">
                <a:solidFill>
                  <a:srgbClr val="000000"/>
                </a:solidFill>
                <a:latin typeface="Nirmala UI"/>
              </a:rPr>
              <a:t> is the unique identifier.</a:t>
            </a:r>
          </a:p>
        </p:txBody>
      </p:sp>
      <p:sp>
        <p:nvSpPr>
          <p:cNvPr id="10" name="TextBox 9"/>
          <p:cNvSpPr txBox="1"/>
          <p:nvPr/>
        </p:nvSpPr>
        <p:spPr>
          <a:xfrm>
            <a:off x="457200" y="3796206"/>
            <a:ext cx="11247120" cy="478692"/>
          </a:xfrm>
          <a:prstGeom prst="rect">
            <a:avLst/>
          </a:prstGeom>
          <a:noFill/>
        </p:spPr>
        <p:txBody>
          <a:bodyPr wrap="square" anchor="t" lIns="0" rIns="0" tIns="0" bIns="0">
            <a:spAutoFit/>
          </a:bodyPr>
          <a:lstStyle/>
          <a:p>
            <a:pPr>
              <a:spcBef>
                <a:spcPts val="0"/>
              </a:spcBef>
              <a:spcAft>
                <a:spcPts val="769"/>
              </a:spcAft>
            </a:pPr>
            <a:r>
              <a:rPr sz="2000" b="1" i="0">
                <a:solidFill>
                  <a:srgbClr val="000000"/>
                </a:solidFill>
                <a:latin typeface="Nirmala UI"/>
              </a:rPr>
              <a:t>Step 6 — Compare two product documents</a:t>
            </a:r>
          </a:p>
        </p:txBody>
      </p:sp>
      <p:sp>
        <p:nvSpPr>
          <p:cNvPr id="11" name="TextBox 10"/>
          <p:cNvSpPr txBox="1"/>
          <p:nvPr/>
        </p:nvSpPr>
        <p:spPr>
          <a:xfrm>
            <a:off x="457200" y="4366338"/>
            <a:ext cx="11247120" cy="1246944"/>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  </a:t>
            </a:r>
            <a:r>
              <a:rPr sz="2000" b="1" i="0">
                <a:solidFill>
                  <a:srgbClr val="000000"/>
                </a:solidFill>
                <a:latin typeface="Nirmala UI"/>
              </a:rPr>
              <a:t>Do:</a:t>
            </a:r>
            <a:r>
              <a:rPr sz="2000" b="0" i="0">
                <a:solidFill>
                  <a:srgbClr val="000000"/>
                </a:solidFill>
                <a:latin typeface="Nirmala UI"/>
              </a:rPr>
              <a:t> Run </a:t>
            </a:r>
            <a:r>
              <a:rPr sz="2000" b="0" i="0">
                <a:solidFill>
                  <a:srgbClr val="000000"/>
                </a:solidFill>
                <a:latin typeface="Consolas"/>
              </a:rPr>
              <a:t>db.products.find().limit(2)</a:t>
            </a:r>
            <a:r>
              <a:rPr sz="2000" b="0" i="0">
                <a:solidFill>
                  <a:srgbClr val="000000"/>
                </a:solidFill>
                <a:latin typeface="Nirmala UI"/>
              </a:rPr>
              <a:t> and list fields that differ.</a:t>
            </a:r>
          </a:p>
          <a:p>
            <a:pPr>
              <a:spcBef>
                <a:spcPts val="0"/>
              </a:spcBef>
              <a:spcAft>
                <a:spcPts val="769"/>
              </a:spcAft>
            </a:pPr>
            <a:r>
              <a:rPr sz="2000" b="0" i="0">
                <a:solidFill>
                  <a:srgbClr val="000000"/>
                </a:solidFill>
                <a:latin typeface="Nirmala UI"/>
              </a:rPr>
              <a:t>•  </a:t>
            </a:r>
            <a:r>
              <a:rPr sz="2000" b="1" i="0">
                <a:solidFill>
                  <a:srgbClr val="000000"/>
                </a:solidFill>
                <a:latin typeface="Nirmala UI"/>
              </a:rPr>
              <a:t>Expected:</a:t>
            </a:r>
            <a:r>
              <a:rPr sz="2000" b="0" i="0">
                <a:solidFill>
                  <a:srgbClr val="000000"/>
                </a:solidFill>
                <a:latin typeface="Nirmala UI"/>
              </a:rPr>
              <a:t> You can explain that documents in one collection may have different category-specific fields.</a:t>
            </a:r>
          </a:p>
        </p:txBody>
      </p:sp>
      <p:sp>
        <p:nvSpPr>
          <p:cNvPr id="12" name="Rectangle 11"/>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5"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40</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EXERCISE 1.3 — STEP 7</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1</a:t>
            </a:r>
          </a:p>
        </p:txBody>
      </p:sp>
      <p:sp>
        <p:nvSpPr>
          <p:cNvPr id="4" name="Oval 3"/>
          <p:cNvSpPr/>
          <p:nvPr/>
        </p:nvSpPr>
        <p:spPr>
          <a:xfrm>
            <a:off x="457200" y="1593870"/>
            <a:ext cx="237744" cy="237744"/>
          </a:xfrm>
          <a:prstGeom prst="ellipse">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593870"/>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1575582"/>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Rounded Rectangle 6"/>
          <p:cNvSpPr/>
          <p:nvPr/>
        </p:nvSpPr>
        <p:spPr>
          <a:xfrm>
            <a:off x="457200" y="1977918"/>
            <a:ext cx="11247120" cy="554736"/>
          </a:xfrm>
          <a:prstGeom prst="roundRect">
            <a:avLst>
              <a:gd name="adj" fmla="val 6000"/>
            </a:avLst>
          </a:prstGeom>
          <a:solidFill>
            <a:srgbClr val="F5F5F5"/>
          </a:solidFill>
          <a:ln w="9525">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1977918"/>
            <a:ext cx="11027664" cy="554736"/>
          </a:xfrm>
          <a:prstGeom prst="rect">
            <a:avLst/>
          </a:prstGeom>
          <a:noFill/>
        </p:spPr>
        <p:txBody>
          <a:bodyPr wrap="square" anchor="ctr" lIns="0" rIns="0" tIns="0" bIns="0">
            <a:spAutoFit/>
          </a:bodyPr>
          <a:lstStyle/>
          <a:p>
            <a:r>
              <a:rPr sz="1200" b="1" i="0">
                <a:solidFill>
                  <a:srgbClr val="D1282E"/>
                </a:solidFill>
                <a:latin typeface="Nirmala UI"/>
              </a:rPr>
              <a:t>LAB GUIDE   </a:t>
            </a:r>
            <a:r>
              <a:rPr sz="2000" b="0" i="0">
                <a:solidFill>
                  <a:srgbClr val="000000"/>
                </a:solidFill>
                <a:latin typeface="Consolas"/>
              </a:rPr>
              <a:t>Exercise 1.3</a:t>
            </a:r>
            <a:r>
              <a:rPr sz="2000" b="0" i="0">
                <a:solidFill>
                  <a:srgbClr val="000000"/>
                </a:solidFill>
                <a:latin typeface="Nirmala UI"/>
              </a:rPr>
              <a:t> </a:t>
            </a:r>
            <a:r>
              <a:rPr sz="2000" b="1" i="0">
                <a:solidFill>
                  <a:srgbClr val="000000"/>
                </a:solidFill>
                <a:latin typeface="Nirmala UI"/>
              </a:rPr>
              <a:t>Step 7 — Complete the observation sheet</a:t>
            </a:r>
          </a:p>
        </p:txBody>
      </p:sp>
      <p:sp>
        <p:nvSpPr>
          <p:cNvPr id="9" name="TextBox 8"/>
          <p:cNvSpPr txBox="1"/>
          <p:nvPr/>
        </p:nvSpPr>
        <p:spPr>
          <a:xfrm>
            <a:off x="457200" y="2624094"/>
            <a:ext cx="11247120" cy="1582224"/>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  </a:t>
            </a:r>
            <a:r>
              <a:rPr sz="2000" b="1" i="0">
                <a:solidFill>
                  <a:srgbClr val="000000"/>
                </a:solidFill>
                <a:latin typeface="Nirmala UI"/>
              </a:rPr>
              <a:t>Do:</a:t>
            </a:r>
            <a:r>
              <a:rPr sz="2000" b="0" i="0">
                <a:solidFill>
                  <a:srgbClr val="000000"/>
                </a:solidFill>
                <a:latin typeface="Nirmala UI"/>
              </a:rPr>
              <a:t> Answer the six questions in the lab guide. Be ready to share how a document resembles an application object.</a:t>
            </a:r>
          </a:p>
          <a:p>
            <a:pPr>
              <a:spcBef>
                <a:spcPts val="0"/>
              </a:spcBef>
              <a:spcAft>
                <a:spcPts val="769"/>
              </a:spcAft>
            </a:pPr>
            <a:r>
              <a:rPr sz="2000" b="0" i="0">
                <a:solidFill>
                  <a:srgbClr val="000000"/>
                </a:solidFill>
                <a:latin typeface="Nirmala UI"/>
              </a:rPr>
              <a:t>•  </a:t>
            </a:r>
            <a:r>
              <a:rPr sz="2000" b="1" i="0">
                <a:solidFill>
                  <a:srgbClr val="000000"/>
                </a:solidFill>
                <a:latin typeface="Nirmala UI"/>
              </a:rPr>
              <a:t>Expected:</a:t>
            </a:r>
            <a:r>
              <a:rPr sz="2000" b="0" i="0">
                <a:solidFill>
                  <a:srgbClr val="000000"/>
                </a:solidFill>
                <a:latin typeface="Nirmala UI"/>
              </a:rPr>
              <a:t> You can navigate a database, list collections, read a document, and state one difference between a table row and a document.</a:t>
            </a:r>
          </a:p>
        </p:txBody>
      </p:sp>
      <p:sp>
        <p:nvSpPr>
          <p:cNvPr id="10" name="TextBox 9"/>
          <p:cNvSpPr txBox="1"/>
          <p:nvPr/>
        </p:nvSpPr>
        <p:spPr>
          <a:xfrm>
            <a:off x="457200" y="4297758"/>
            <a:ext cx="11247120" cy="1149252"/>
          </a:xfrm>
          <a:prstGeom prst="rect">
            <a:avLst/>
          </a:prstGeom>
          <a:noFill/>
        </p:spPr>
        <p:txBody>
          <a:bodyPr wrap="square" anchor="t" lIns="0" rIns="0" tIns="0" bIns="0">
            <a:spAutoFit/>
          </a:bodyPr>
          <a:lstStyle/>
          <a:p>
            <a:pPr>
              <a:spcBef>
                <a:spcPts val="0"/>
              </a:spcBef>
              <a:spcAft>
                <a:spcPts val="769"/>
              </a:spcAft>
            </a:pPr>
            <a:r>
              <a:rPr sz="2000" b="1" i="0">
                <a:solidFill>
                  <a:srgbClr val="000000"/>
                </a:solidFill>
                <a:latin typeface="Nirmala UI"/>
              </a:rPr>
              <a:t>Exit ticket (before Module 2):</a:t>
            </a:r>
            <a:r>
              <a:rPr sz="2000" b="0" i="0">
                <a:solidFill>
                  <a:srgbClr val="000000"/>
                </a:solidFill>
                <a:latin typeface="Nirmala UI"/>
              </a:rPr>
              <a:t> one strong MongoDB candidate · one better relational case · collection vs document · one benefit and one tradeoff of flexible schema · the access pattern of the Exercise 1.2 document</a:t>
            </a:r>
          </a:p>
        </p:txBody>
      </p:sp>
      <p:sp>
        <p:nvSpPr>
          <p:cNvPr id="11" name="Rectangle 10"/>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4"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41</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1" i="0">
                <a:solidFill>
                  <a:srgbClr val="D1282E"/>
                </a:solidFill>
                <a:latin typeface="Leelawadee"/>
              </a:rPr>
              <a:t>MODULE 1 PRACTICAL PATH</a:t>
            </a:r>
          </a:p>
        </p:txBody>
      </p:sp>
      <p:sp>
        <p:nvSpPr>
          <p:cNvPr id="3" name="TextBox 2"/>
          <p:cNvSpPr txBox="1"/>
          <p:nvPr/>
        </p:nvSpPr>
        <p:spPr>
          <a:xfrm>
            <a:off x="9509760" y="128016"/>
            <a:ext cx="2194560" cy="274320"/>
          </a:xfrm>
          <a:prstGeom prst="rect">
            <a:avLst/>
          </a:prstGeom>
          <a:noFill/>
        </p:spPr>
        <p:txBody>
          <a:bodyPr wrap="square" anchor="t" lIns="0" rIns="0" tIns="0" bIns="0">
            <a:spAutoFit/>
          </a:bodyPr>
          <a:lstStyle/>
          <a:p>
            <a:pPr algn="r"/>
            <a:r>
              <a:rPr sz="1100" b="1" i="0">
                <a:solidFill>
                  <a:srgbClr val="595959"/>
                </a:solidFill>
                <a:latin typeface="Nirmala UI"/>
              </a:rPr>
              <a:t>MODULE 1</a:t>
            </a:r>
          </a:p>
        </p:txBody>
      </p:sp>
      <p:sp>
        <p:nvSpPr>
          <p:cNvPr id="4" name="Oval 3"/>
          <p:cNvSpPr/>
          <p:nvPr/>
        </p:nvSpPr>
        <p:spPr>
          <a:xfrm>
            <a:off x="457200" y="2154546"/>
            <a:ext cx="237744" cy="237744"/>
          </a:xfrm>
          <a:prstGeom prst="ellipse">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154546"/>
            <a:ext cx="237744" cy="237744"/>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786384" y="2136258"/>
            <a:ext cx="10917936" cy="274320"/>
          </a:xfrm>
          <a:prstGeom prst="rect">
            <a:avLst/>
          </a:prstGeom>
          <a:noFill/>
        </p:spPr>
        <p:txBody>
          <a:bodyPr wrap="square" anchor="ctr" lIns="0" rIns="0" tIns="0" bIns="0">
            <a:spAutoFit/>
          </a:bodyPr>
          <a:lstStyle/>
          <a:p>
            <a:pPr algn="l"/>
            <a:r>
              <a:rPr sz="1300" b="1" i="0">
                <a:solidFill>
                  <a:srgbClr val="D1282E"/>
                </a:solidFill>
                <a:latin typeface="Nirmala UI"/>
              </a:rPr>
              <a:t>KEY POINTS</a:t>
            </a:r>
          </a:p>
        </p:txBody>
      </p:sp>
      <p:sp>
        <p:nvSpPr>
          <p:cNvPr id="7" name="TextBox 6"/>
          <p:cNvSpPr txBox="1"/>
          <p:nvPr/>
        </p:nvSpPr>
        <p:spPr>
          <a:xfrm>
            <a:off x="457200" y="2538594"/>
            <a:ext cx="11247120" cy="478692"/>
          </a:xfrm>
          <a:prstGeom prst="rect">
            <a:avLst/>
          </a:prstGeom>
          <a:noFill/>
        </p:spPr>
        <p:txBody>
          <a:bodyPr wrap="square" anchor="t" lIns="0" rIns="0" tIns="0" bIns="0">
            <a:spAutoFit/>
          </a:bodyPr>
          <a:lstStyle/>
          <a:p>
            <a:pPr>
              <a:spcBef>
                <a:spcPts val="0"/>
              </a:spcBef>
              <a:spcAft>
                <a:spcPts val="769"/>
              </a:spcAft>
            </a:pPr>
            <a:r>
              <a:rPr sz="2000" b="0" i="0">
                <a:solidFill>
                  <a:srgbClr val="000000"/>
                </a:solidFill>
                <a:latin typeface="Nirmala UI"/>
              </a:rPr>
              <a:t>Carry this into Module 2:</a:t>
            </a:r>
          </a:p>
        </p:txBody>
      </p:sp>
      <p:sp>
        <p:nvSpPr>
          <p:cNvPr id="8" name="TextBox 7"/>
          <p:cNvSpPr txBox="1"/>
          <p:nvPr/>
        </p:nvSpPr>
        <p:spPr>
          <a:xfrm>
            <a:off x="457200" y="3108726"/>
            <a:ext cx="11247120" cy="1777608"/>
          </a:xfrm>
          <a:prstGeom prst="rect">
            <a:avLst/>
          </a:prstGeom>
          <a:noFill/>
        </p:spPr>
        <p:txBody>
          <a:bodyPr wrap="square" anchor="t" lIns="0" rIns="0" tIns="0" bIns="0">
            <a:spAutoFit/>
          </a:bodyPr>
          <a:lstStyle/>
          <a:p>
            <a:pPr>
              <a:spcBef>
                <a:spcPts val="0"/>
              </a:spcBef>
              <a:spcAft>
                <a:spcPts val="769"/>
              </a:spcAft>
            </a:pPr>
            <a:r>
              <a:rPr sz="2000" b="1" i="0">
                <a:solidFill>
                  <a:srgbClr val="D1282E"/>
                </a:solidFill>
                <a:latin typeface="Nirmala UI"/>
              </a:rPr>
              <a:t>1. </a:t>
            </a:r>
            <a:r>
              <a:rPr sz="2000" b="0" i="0">
                <a:solidFill>
                  <a:srgbClr val="000000"/>
                </a:solidFill>
                <a:latin typeface="Nirmala UI"/>
              </a:rPr>
              <a:t>Business need</a:t>
            </a:r>
          </a:p>
          <a:p>
            <a:pPr>
              <a:spcBef>
                <a:spcPts val="0"/>
              </a:spcBef>
              <a:spcAft>
                <a:spcPts val="769"/>
              </a:spcAft>
            </a:pPr>
            <a:r>
              <a:rPr sz="2000" b="1" i="0">
                <a:solidFill>
                  <a:srgbClr val="D1282E"/>
                </a:solidFill>
                <a:latin typeface="Nirmala UI"/>
              </a:rPr>
              <a:t>2. </a:t>
            </a:r>
            <a:r>
              <a:rPr sz="2000" b="0" i="0">
                <a:solidFill>
                  <a:srgbClr val="000000"/>
                </a:solidFill>
                <a:latin typeface="Nirmala UI"/>
              </a:rPr>
              <a:t>Access pattern</a:t>
            </a:r>
          </a:p>
          <a:p>
            <a:pPr>
              <a:spcBef>
                <a:spcPts val="0"/>
              </a:spcBef>
              <a:spcAft>
                <a:spcPts val="769"/>
              </a:spcAft>
            </a:pPr>
            <a:r>
              <a:rPr sz="2000" b="1" i="0">
                <a:solidFill>
                  <a:srgbClr val="D1282E"/>
                </a:solidFill>
                <a:latin typeface="Nirmala UI"/>
              </a:rPr>
              <a:t>3. </a:t>
            </a:r>
            <a:r>
              <a:rPr sz="2000" b="0" i="0">
                <a:solidFill>
                  <a:srgbClr val="000000"/>
                </a:solidFill>
                <a:latin typeface="Nirmala UI"/>
              </a:rPr>
              <a:t>Database model</a:t>
            </a:r>
          </a:p>
          <a:p>
            <a:pPr>
              <a:spcBef>
                <a:spcPts val="0"/>
              </a:spcBef>
              <a:spcAft>
                <a:spcPts val="769"/>
              </a:spcAft>
            </a:pPr>
            <a:r>
              <a:rPr sz="2000" b="1" i="0">
                <a:solidFill>
                  <a:srgbClr val="D1282E"/>
                </a:solidFill>
                <a:latin typeface="Nirmala UI"/>
              </a:rPr>
              <a:t>4. </a:t>
            </a:r>
            <a:r>
              <a:rPr sz="2000" b="0" i="0">
                <a:solidFill>
                  <a:srgbClr val="000000"/>
                </a:solidFill>
                <a:latin typeface="Nirmala UI"/>
              </a:rPr>
              <a:t>Sample document</a:t>
            </a:r>
          </a:p>
        </p:txBody>
      </p:sp>
      <p:sp>
        <p:nvSpPr>
          <p:cNvPr id="9" name="Rectangle 8"/>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2"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42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43</Slides>
  <Notes>43</Notes>
  <HiddenSlides>0</HiddenSlides>
  <MMClips>0</MMClips>
  <ScaleCrop>false</ScaleCrop>
  <HeadingPairs>
    <vt:vector size="4" baseType="variant">
      <vt:variant>
        <vt:lpstr>Theme</vt:lpstr>
      </vt:variant>
      <vt:variant>
        <vt:i4>1</vt:i4>
      </vt:variant>
      <vt:variant>
        <vt:lpstr>Slide Titles</vt:lpstr>
      </vt:variant>
      <vt:variant>
        <vt:i4>43</vt:i4>
      </vt:variant>
    </vt:vector>
  </HeadingPairs>
  <TitlesOfParts>
    <vt:vector size="44"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