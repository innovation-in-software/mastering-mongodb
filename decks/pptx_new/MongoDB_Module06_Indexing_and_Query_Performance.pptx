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Day 3 starts here</a:t>
            </a:r>
          </a:p>
          <a:p/>
          <a:p>
            <a:r>
              <a:t>  Day 2 taught us to ask questions of training_store: find, update and the aggregation pipeline.</a:t>
            </a:r>
          </a:p>
          <a:p/>
          <a:p>
            <a:r>
              <a:t>  Day 3 is about making those questions fast, then keeping the data available and scalable.</a:t>
            </a:r>
          </a:p>
          <a:p/>
          <a:p>
            <a:r>
              <a:t>- What this module does</a:t>
            </a:r>
          </a:p>
          <a:p/>
          <a:p>
            <a:r>
              <a:t>  We see how MongoDB finds documents with and without an index, create and manage named indexes, design compound indexes with the ESR guideline, meet the specialized index types, and prove every decision with explain().</a:t>
            </a:r>
          </a:p>
          <a:p/>
          <a:p>
            <a:r>
              <a:t>- The quote</a:t>
            </a:r>
          </a:p>
          <a:p/>
          <a:p>
            <a:r>
              <a:t>  Index the query shape, not every field.</a:t>
            </a:r>
          </a:p>
          <a:p/>
          <a:p>
            <a:r>
              <a:t>  An index is a trade: faster reads for one shape of query, paid for with storage and extra work on every write.</a:t>
            </a:r>
          </a:p>
          <a:p/>
          <a:p/>
          <a:p>
            <a:r>
              <a:t>REAL-WORLD EXAMPLES</a:t>
            </a:r>
          </a:p>
          <a:p>
            <a:r>
              <a:t>-------------------</a:t>
            </a:r>
          </a:p>
          <a:p/>
          <a:p>
            <a:r>
              <a:t>- An online store's product page and order-history page run thousands of times an hour.</a:t>
            </a:r>
          </a:p>
          <a:p/>
          <a:p>
            <a:r>
              <a:t>  Two well-chosen compound indexes can keep both fast, while ten speculative single-field indexes slow down every checkout.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By the end of this module</a:t>
            </a:r>
          </a:p>
          <a:p/>
          <a:p>
            <a:r>
              <a:t>  Walk through the six objectives on the left.</a:t>
            </a:r>
          </a:p>
          <a:p/>
          <a:p>
            <a:r>
              <a:t>  Learners explain how an index avoids a full scan, and manage named indexes.</a:t>
            </a:r>
          </a:p>
          <a:p/>
          <a:p>
            <a:r>
              <a:t>  They order compound fields with ESR and choose specialized types.</a:t>
            </a:r>
          </a:p>
          <a:p/>
          <a:p>
            <a:r>
              <a:t>  They read explain() output, build a covered query, and weigh selectivity, write cost and usage.</a:t>
            </a:r>
          </a:p>
          <a:p/>
          <a:p>
            <a:r>
              <a:t>- Six questions</a:t>
            </a:r>
          </a:p>
          <a:p/>
          <a:p>
            <a:r>
              <a:t>  Why does a query read every document?</a:t>
            </a:r>
          </a:p>
          <a:p/>
          <a:p>
            <a:r>
              <a:t>  How do I create and manage indexes?</a:t>
            </a:r>
          </a:p>
          <a:p/>
          <a:p>
            <a:r>
              <a:t>  Which field order goes in an index?</a:t>
            </a:r>
          </a:p>
          <a:p/>
          <a:p>
            <a:r>
              <a:t>  Which index type fits the query?</a:t>
            </a:r>
          </a:p>
          <a:p/>
          <a:p>
            <a:r>
              <a:t>  What does explain() really tell me?</a:t>
            </a:r>
          </a:p>
          <a:p/>
          <a:p>
            <a:r>
              <a:t>  And when is an index not worth its cost?</a:t>
            </a:r>
          </a:p>
          <a:p/>
          <a:p>
            <a:r>
              <a:t>- Set the expectation</a:t>
            </a:r>
          </a:p>
          <a:p/>
          <a:p>
            <a:r>
              <a:t>  training_store is tiny: 13 products and 17 orders.</a:t>
            </a:r>
          </a:p>
          <a:p/>
          <a:p>
            <a:r>
              <a:t>  Every query will feel instant, with or without an index.</a:t>
            </a:r>
          </a:p>
          <a:p/>
          <a:p>
            <a:r>
              <a:t>  So we judge a plan by its shape and its counts, keys and documents examined against documents returned, not by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Read each term once and give a quick example from the training_store sample database.</a:t>
            </a:r>
          </a:p>
          <a:p/>
          <a:p>
            <a:r>
              <a:t>- Index</a:t>
            </a:r>
          </a:p>
          <a:p/>
          <a:p>
            <a:r>
              <a:t>  A sorted structure of field values with pointers to documents, so MongoDB can skip the full scan.</a:t>
            </a:r>
          </a:p>
          <a:p/>
          <a:p>
            <a:r>
              <a:t>- COLLSCAN and IXSCAN</a:t>
            </a:r>
          </a:p>
          <a:p/>
          <a:p>
            <a:r>
              <a:t>  Plan stages: read every document, or walk the matching keys of one index.</a:t>
            </a:r>
          </a:p>
          <a:p/>
          <a:p>
            <a:r>
              <a:t>- Compound index</a:t>
            </a:r>
          </a:p>
          <a:p/>
          <a:p>
            <a:r>
              <a:t>  One index on several fields, sorted by the first field, then the next.</a:t>
            </a:r>
          </a:p>
          <a:p/>
          <a:p>
            <a:r>
              <a:t>- ESR guideline</a:t>
            </a:r>
          </a:p>
          <a:p/>
          <a:p>
            <a:r>
              <a:t>  Order compound fields Equality first, then Sort, then Range — a starting point, not a law.</a:t>
            </a:r>
          </a:p>
          <a:p/>
          <a:p>
            <a:r>
              <a:t>- Multikey index</a:t>
            </a:r>
          </a:p>
          <a:p/>
          <a:p>
            <a:r>
              <a:t>  An index on an array field: one index key for each array value.</a:t>
            </a:r>
          </a:p>
          <a:p/>
          <a:p>
            <a:r>
              <a:t>- explain()</a:t>
            </a:r>
          </a:p>
          <a:p/>
          <a:p>
            <a:r>
              <a:t>  Shows the plan MongoDB chose and, with executionStats, the keys and documents it examined.</a:t>
            </a:r>
          </a:p>
          <a:p/>
          <a:p>
            <a:r>
              <a:t>- Covered query</a:t>
            </a:r>
          </a:p>
          <a:p/>
          <a:p>
            <a:r>
              <a:t>  Filter and returned fields all come from one index, so no document is fetched.</a:t>
            </a:r>
          </a:p>
          <a:p/>
          <a:p>
            <a:r>
              <a:t>- Selectivity</a:t>
            </a:r>
          </a:p>
          <a:p/>
          <a:p>
            <a:r>
              <a:t>  How small a share of the collection a condition matches — sku is high, active is 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Don't read every row.</a:t>
            </a:r>
          </a:p>
          <a:p/>
          <a:p>
            <a:r>
              <a:t>  Point out the few this module uses most, and say the full list is here for reference.</a:t>
            </a:r>
          </a:p>
          <a:p/>
          <a:p>
            <a:r>
              <a:t>- Reference</a:t>
            </a:r>
          </a:p>
          <a:p/>
          <a:p>
            <a:r>
              <a:t>  COLLSCAN is Collection Scan; CPU is Central Processing Unit; ESR is Equality, Sort, Range; I/O is Input/Output; IXSCAN is Index Scan; JSON is JavaScript Object Notation; RAM is Random Access Memory; SKU is Stock Keeping Unit; TTL is Time To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Bridge from Module 5</a:t>
            </a:r>
          </a:p>
          <a:p/>
          <a:p>
            <a:r>
              <a:t>  In Module 5 we built pipelines over training_store: $match, $group, $sort, $lookup and more.</a:t>
            </a:r>
          </a:p>
          <a:p/>
          <a:p>
            <a:r>
              <a:t>  We learned to put $match early so later stages see fewer documents.</a:t>
            </a:r>
          </a:p>
          <a:p/>
          <a:p>
            <a:r>
              <a:t>- The missing piece</a:t>
            </a:r>
          </a:p>
          <a:p/>
          <a:p>
            <a:r>
              <a:t>  An early $match or a find is only fast if MongoDB can locate the matching documents without reading them all.</a:t>
            </a:r>
          </a:p>
          <a:p/>
          <a:p>
            <a:r>
              <a:t>  That is what indexes do, and it is today's first module.</a:t>
            </a:r>
          </a:p>
          <a:p/>
          <a:p>
            <a:r>
              <a:t>- The path</a:t>
            </a:r>
          </a:p>
          <a:p/>
          <a:p>
            <a:r>
              <a:t>  Six parts: how indexes work, managing them, compound indexes and ESR, specialized types, explain() and covered queries, and finally costs and mistakes.</a:t>
            </a:r>
          </a:p>
          <a:p/>
          <a:p>
            <a:r>
              <a:t>  Lab 5 at the end puts it all into practice.</a:t>
            </a:r>
          </a:p>
          <a:p/>
          <a:p>
            <a:r>
              <a:t>- Same dataset</a:t>
            </a:r>
          </a:p>
          <a:p/>
          <a:p>
            <a:r>
              <a:t>  Reload training_store with load.js before the lab so earlier writes are gone.</a:t>
            </a:r>
          </a:p>
          <a:p/>
          <a:p>
            <a:r>
              <a:t>  Every example on these slides uses the freshly loaded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Where we start</a:t>
            </a:r>
          </a:p>
          <a:p/>
          <a:p>
            <a:r>
              <a:t>  Until now we asked what a query returns.</a:t>
            </a:r>
          </a:p>
          <a:p/>
          <a:p>
            <a:r>
              <a:t>  Now we ask how MongoDB found it.</a:t>
            </a:r>
          </a:p>
          <a:p/>
          <a:p>
            <a:r>
              <a:t>- What this part answers</a:t>
            </a:r>
          </a:p>
          <a:p/>
          <a:p>
            <a:r>
              <a:t>  We compare a collection scan with an index scan, look inside an index, and meet the one index every collection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Two paths for one query</a:t>
            </a:r>
          </a:p>
          <a:p/>
          <a:p>
            <a:r>
              <a:t>  When a query arrives, mongod either walks an index to the matching documents or reads every document in the collection and tests each one.</a:t>
            </a:r>
          </a:p>
          <a:p/>
          <a:p>
            <a:r>
              <a:t>- Why it matters</a:t>
            </a:r>
          </a:p>
          <a:p/>
          <a:p>
            <a:r>
              <a:t>  A collection scan's cost grows with the collection.</a:t>
            </a:r>
          </a:p>
          <a:p/>
          <a:p>
            <a:r>
              <a:t>  On a million orders the red path means a million documents read for a handful of results, and every other request waits behind it.</a:t>
            </a:r>
          </a:p>
          <a:p/>
          <a:p>
            <a:r>
              <a:t>- On our data</a:t>
            </a:r>
          </a:p>
          <a:p/>
          <a:p>
            <a:r>
              <a:t>  training_store is small enough that both paths finish in about a millisecond.</a:t>
            </a:r>
          </a:p>
          <a:p/>
          <a:p>
            <a:r>
              <a:t>  That is why Lab 5 asks you to record counts, not times.</a:t>
            </a:r>
          </a:p>
          <a:p/>
          <a:p>
            <a:r>
              <a:t>- What it shows</a:t>
            </a:r>
          </a:p>
          <a:p/>
          <a:p>
            <a:r>
              <a:t>  mongosh and MongoDB Compass send a query to mongod for the orders collection in training_store.</a:t>
            </a:r>
          </a:p>
          <a:p/>
          <a:p>
            <a:r>
              <a:t>  The green path is an indexed lookup; the red path is a collection scan.</a:t>
            </a:r>
          </a:p>
          <a:p/>
          <a:p>
            <a:r>
              <a:t>- How to read it</a:t>
            </a:r>
          </a:p>
          <a:p/>
          <a:p>
            <a:r>
              <a:t>  Follow each row left to right.</a:t>
            </a:r>
          </a:p>
          <a:p/>
          <a:p>
            <a:r>
              <a:t>  Indexed lookup, few documents scanned, fast response, more orders served.</a:t>
            </a:r>
          </a:p>
          <a:p/>
          <a:p>
            <a:r>
              <a:t>  Collection scan, many documents scanned, slow response, users wait and the server works harder.</a:t>
            </a:r>
          </a:p>
          <a:p/>
          <a:p>
            <a:r>
              <a:t>- Key point</a:t>
            </a:r>
          </a:p>
          <a:p/>
          <a:p>
            <a:r>
              <a:t>  The query is the same on both rows.</a:t>
            </a:r>
          </a:p>
          <a:p/>
          <a:p>
            <a:r>
              <a:t>  Only the access path differs.</a:t>
            </a:r>
          </a:p>
          <a:p/>
          <a:p/>
          <a:p>
            <a:r>
              <a:t>REAL-WORLD EXAMPLES</a:t>
            </a:r>
          </a:p>
          <a:p>
            <a:r>
              <a:t>-------------------</a:t>
            </a:r>
          </a:p>
          <a:p/>
          <a:p>
            <a:r>
              <a:t>- A customer-service screen that looks up orders by customer.</a:t>
            </a:r>
          </a:p>
          <a:p/>
          <a:p>
            <a:r>
              <a:t>  Without an index it slows down a little more every day as the orders collection grows, until the support team notices.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COLLSCAN</a:t>
            </a:r>
          </a:p>
          <a:p/>
          <a:p>
            <a:r>
              <a:t>  A collection scan reads every document and applies the filter to each one.</a:t>
            </a:r>
          </a:p>
          <a:p/>
          <a:p>
            <a:r>
              <a:t>  It is the only option when no index matches the query.</a:t>
            </a:r>
          </a:p>
          <a:p/>
          <a:p>
            <a:r>
              <a:t>- IXSCAN</a:t>
            </a:r>
          </a:p>
          <a:p/>
          <a:p>
            <a:r>
              <a:t>  An index scan looks up the value in a sorted index, reads only the matching keys, and then fetches just those documents.</a:t>
            </a:r>
          </a:p>
          <a:p/>
          <a:p>
            <a:r>
              <a:t>- The number to watch</a:t>
            </a:r>
          </a:p>
          <a:p/>
          <a:p>
            <a:r>
              <a:t>  Compare documents examined with documents returned.</a:t>
            </a:r>
          </a:p>
          <a:p/>
          <a:p>
            <a:r>
              <a:t>  8 examined for 3 returned is waste; 3 for 3 is the ideal.</a:t>
            </a:r>
          </a:p>
          <a:p/>
          <a:p>
            <a:r>
              <a:t>- On training_store</a:t>
            </a:r>
          </a:p>
          <a:p/>
          <a:p>
            <a:r>
              <a:t>  db.products.find({ category: "BOOK" }) on a fresh load is a COLLSCAN: 13 documents examined, 2 returned.</a:t>
            </a:r>
          </a:p>
          <a:p/>
          <a:p>
            <a:r>
              <a:t>  With a category index it becomes IXSCAN: 2 keys, 2 documents, 2 returned.</a:t>
            </a:r>
          </a:p>
          <a:p/>
          <a:p>
            <a:r>
              <a:t>- What it shows</a:t>
            </a:r>
          </a:p>
          <a:p/>
          <a:p>
            <a:r>
              <a:t>  The same find on category Books, run twice against a small eight-document products collection: once as a collection scan and once through a category_1 index.</a:t>
            </a:r>
          </a:p>
          <a:p/>
          <a:p>
            <a:r>
              <a:t>- How to read it</a:t>
            </a:r>
          </a:p>
          <a:p/>
          <a:p>
            <a:r>
              <a:t>  On the left, every one of the eight documents is checked: 3 matches, 8 examined, COLLSCAN.</a:t>
            </a:r>
          </a:p>
          <a:p/>
          <a:p>
            <a:r>
              <a:t>  On the right, the index finds the Books key and fetches only documents 2, 4 and 6: 3 matches, 3 examined, IXSCAN.</a:t>
            </a:r>
          </a:p>
          <a:p/>
          <a:p>
            <a:r>
              <a:t>- About the data</a:t>
            </a:r>
          </a:p>
          <a:p/>
          <a:p>
            <a:r>
              <a:t>  The diagram uses a simplified collection with category names like Books and Electronics.</a:t>
            </a:r>
          </a:p>
          <a:p/>
          <a:p>
            <a:r>
              <a:t>  In training_store the categories are upper-case codes, LAPTOP, SHOE, BOOK and ACCESSORY, and there are 13 products, 2 of them books.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An ordered structure</a:t>
            </a:r>
          </a:p>
          <a:p/>
          <a:p>
            <a:r>
              <a:t>  An index stores the indexed values in sorted order, each with a pointer to its document.</a:t>
            </a:r>
          </a:p>
          <a:p/>
          <a:p>
            <a:r>
              <a:t>  MongoDB keeps it as a B-tree, so a lookup takes a few steps down the tree.</a:t>
            </a:r>
          </a:p>
          <a:p/>
          <a:p>
            <a:r>
              <a:t>- Sorted is the superpower</a:t>
            </a:r>
          </a:p>
          <a:p/>
          <a:p>
            <a:r>
              <a:t>  Because keys are sorted, the same index answers equality, ranges such as price between 50 and 99, and sorts by price, without extra work.</a:t>
            </a:r>
          </a:p>
          <a:p/>
          <a:p>
            <a:r>
              <a:t>- What it costs</a:t>
            </a:r>
          </a:p>
          <a:p/>
          <a:p>
            <a:r>
              <a:t>  The tree lives on disk and in memory, and every insert, update or delete of an indexed value has to update it.</a:t>
            </a:r>
          </a:p>
          <a:p/>
          <a:p>
            <a:r>
              <a:t>  We come back to that cost in Part 6.</a:t>
            </a:r>
          </a:p>
          <a:p/>
          <a:p>
            <a:r>
              <a:t>- What it shows</a:t>
            </a:r>
          </a:p>
          <a:p/>
          <a:p>
            <a:r>
              <a:t>  A price_1 index drawn as a tree: a root that splits at 50 and 100, three internal nodes, and sorted leaf entries that each point to one product document.</a:t>
            </a:r>
          </a:p>
          <a:p/>
          <a:p>
            <a:r>
              <a:t>- How to read it</a:t>
            </a:r>
          </a:p>
          <a:p/>
          <a:p>
            <a:r>
              <a:t>  Follow the green path for find price 79: root, then the 50 to 99 node, then the leaf 79, which points to doc 6.</a:t>
            </a:r>
          </a:p>
          <a:p/>
          <a:p>
            <a:r>
              <a:t>  The document pointer lands on the product with _id 6 and price 79.</a:t>
            </a:r>
          </a:p>
          <a:p/>
          <a:p>
            <a:r>
              <a:t>- Key point</a:t>
            </a:r>
          </a:p>
          <a:p/>
          <a:p>
            <a:r>
              <a:t>  A few steps down a sorted tree replace a read of every document.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Always there</a:t>
            </a:r>
          </a:p>
          <a:p/>
          <a:p>
            <a:r>
              <a:t>  Every standard collection gets a unique index on _id, named _id_.</a:t>
            </a:r>
          </a:p>
          <a:p/>
          <a:p>
            <a:r>
              <a:t>  A lookup by _id is always an index scan.</a:t>
            </a:r>
          </a:p>
          <a:p/>
          <a:p>
            <a:r>
              <a:t>- Unique and permanent</a:t>
            </a:r>
          </a:p>
          <a:p/>
          <a:p>
            <a:r>
              <a:t>  It prevents two documents from sharing an _id, and it cannot be dropped.</a:t>
            </a:r>
          </a:p>
          <a:p/>
          <a:p>
            <a:r>
              <a:t>  dropIndexes() removes every other index but keeps _id_.</a:t>
            </a:r>
          </a:p>
          <a:p/>
          <a:p>
            <a:r>
              <a:t>- On training_store</a:t>
            </a:r>
          </a:p>
          <a:p/>
          <a:p>
            <a:r>
              <a:t>  Right after load.js, products has _id_ and sku_unique, customers has _id_, customerNumber_unique and email_unique, orders has _id_ and orderNumber_unique, and reviews has only _id_.</a:t>
            </a:r>
          </a:p>
          <a:p/>
          <a:p>
            <a:r>
              <a:t>- A common surprise</a:t>
            </a:r>
          </a:p>
          <a:p/>
          <a:p>
            <a:r>
              <a:t>  Learners often expect each collection to show only the default _id_ index.</a:t>
            </a:r>
          </a:p>
          <a:p/>
          <a:p>
            <a:r>
              <a:t>  On a fresh load that isn't true: load.js also builds the four unique indexes listed here, and Lab 5, Step 6 asks learners to list them.</a:t>
            </a:r>
          </a:p>
          <a:p/>
          <a:p>
            <a:r>
              <a:t>- What it shows</a:t>
            </a:r>
          </a:p>
          <a:p/>
          <a:p>
            <a:r>
              <a:t>  The products collection with its _id_ index, created automatically.</a:t>
            </a:r>
          </a:p>
          <a:p/>
          <a:p>
            <a:r>
              <a:t>  A find on one ObjectId goes to the index, finds the key ending a12 and jumps straight to doc 3, the Keyboard.</a:t>
            </a:r>
          </a:p>
          <a:p/>
          <a:p>
            <a:r>
              <a:t>- How to read it</a:t>
            </a:r>
          </a:p>
          <a:p/>
          <a:p>
            <a:r>
              <a:t>  The two notes at the bottom of the index are the rules: unique values, and it cannot be dropped.</a:t>
            </a:r>
          </a:p>
          <a:p/>
          <a:p>
            <a:r>
              <a:t>- About the data</a:t>
            </a:r>
          </a:p>
          <a:p/>
          <a:p>
            <a:r>
              <a:t>  The five products in the diagram are illustrative.</a:t>
            </a:r>
          </a:p>
          <a:p/>
          <a:p>
            <a:r>
              <a:t>  The rule is the same for all four training_store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Connecting the parts</a:t>
            </a:r>
          </a:p>
          <a:p/>
          <a:p>
            <a:r>
              <a:t>  Part 1 showed why indexes help.</a:t>
            </a:r>
          </a:p>
          <a:p/>
          <a:p>
            <a:r>
              <a:t>  Part 2 is the everyday toolkit for managing them.</a:t>
            </a:r>
          </a:p>
          <a:p/>
          <a:p>
            <a:r>
              <a:t>- Watch for</a:t>
            </a:r>
          </a:p>
          <a:p/>
          <a:p>
            <a:r>
              <a:t>  Names.</a:t>
            </a:r>
          </a:p>
          <a:p/>
          <a:p>
            <a:r>
              <a:t>  The course uses idx_ for helper indexes, uq_ for unique rules and ttl_ for TTL indexes, so every explain() and $indexStats result is easy to read.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is already there</a:t>
            </a:r>
          </a:p>
          <a:p/>
          <a:p>
            <a:r>
              <a:t>  load.js ends by creating four unique indexes: sku_unique on products, customerNumber_unique and email_unique on customers, and orderNumber_unique on orders.</a:t>
            </a:r>
          </a:p>
          <a:p/>
          <a:p>
            <a:r>
              <a:t>  So a fresh products collection lists _id_ and sku_unique.</a:t>
            </a:r>
          </a:p>
          <a:p/>
          <a:p>
            <a:r>
              <a:t>- Create</a:t>
            </a:r>
          </a:p>
          <a:p/>
          <a:p>
            <a:r>
              <a:t>  createIndex takes the key specification and an options document.</a:t>
            </a:r>
          </a:p>
          <a:p/>
          <a:p>
            <a:r>
              <a:t>  The name option replaces the default category_1_price_1.</a:t>
            </a:r>
          </a:p>
          <a:p/>
          <a:p>
            <a:r>
              <a:t>  mongosh prints the index name when it succeeds.</a:t>
            </a:r>
          </a:p>
          <a:p/>
          <a:p>
            <a:r>
              <a:t>- Several at once</a:t>
            </a:r>
          </a:p>
          <a:p/>
          <a:p>
            <a:r>
              <a:t>  The content source creates uq_products_sku, idx_products_category_price and idx_products_tags together with createIndexes.</a:t>
            </a:r>
          </a:p>
          <a:p/>
          <a:p>
            <a:r>
              <a:t>  On a fresh load the SKU entry fails, because sku_unique already covers the same key; Lab 5, Step 9 drops sku_unique first.</a:t>
            </a:r>
          </a:p>
          <a:p/>
          <a:p>
            <a:r>
              <a:t>- Drop</a:t>
            </a:r>
          </a:p>
          <a:p/>
          <a:p>
            <a:r>
              <a:t>  dropIndex takes a name or the key specification.</a:t>
            </a:r>
          </a:p>
          <a:p/>
          <a:p>
            <a:r>
              <a:t>  nIndexesWas 3 counts _id_, sku_unique and the new index.</a:t>
            </a:r>
          </a:p>
          <a:p/>
          <a:p>
            <a:r>
              <a:t>  dropIndexes() with no argument removes every index except _id_, unique rules included, so confirm no query depends on them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Hide instead of drop</a:t>
            </a:r>
          </a:p>
          <a:p/>
          <a:p>
            <a:r>
              <a:t>  db.products.hideIndex(name) keeps the index on disk and up to date, but the query planner stops choosing it.</a:t>
            </a:r>
          </a:p>
          <a:p/>
          <a:p>
            <a:r>
              <a:t>  Run the important queries and their explain() while it is hidden.</a:t>
            </a:r>
          </a:p>
          <a:p/>
          <a:p>
            <a:r>
              <a:t>- Undo in an instant</a:t>
            </a:r>
          </a:p>
          <a:p/>
          <a:p>
            <a:r>
              <a:t>  unhideIndex(name) makes it available again immediately.</a:t>
            </a:r>
          </a:p>
          <a:p/>
          <a:p>
            <a:r>
              <a:t>  Dropping and recreating would mean a full index rebuild.</a:t>
            </a:r>
          </a:p>
          <a:p/>
          <a:p>
            <a:r>
              <a:t>- Hidden still costs</a:t>
            </a:r>
          </a:p>
          <a:p/>
          <a:p>
            <a:r>
              <a:t>  A hidden index is still maintained on every write and still takes storage.</a:t>
            </a:r>
          </a:p>
          <a:p/>
          <a:p>
            <a:r>
              <a:t>  A hidden unique index still rejects duplicates.</a:t>
            </a:r>
          </a:p>
          <a:p/>
          <a:p>
            <a:r>
              <a:t>- In Lab 5, Step 13</a:t>
            </a:r>
          </a:p>
          <a:p/>
          <a:p>
            <a:r>
              <a:t>  Learners hide a non-unique helper index, idx_products_category_active_price, explain db.products.find({ category: "ACCESSORY" }) with queryPlanner, then unhide it.</a:t>
            </a:r>
          </a:p>
          <a:p/>
          <a:p>
            <a:r>
              <a:t>  They never hide _id_ or a unique rule, and never drop in the lab.</a:t>
            </a:r>
          </a:p>
          <a:p/>
          <a:p>
            <a:r>
              <a:t>- What it shows</a:t>
            </a:r>
          </a:p>
          <a:p/>
          <a:p>
            <a:r>
              <a:t>  mongosh and Compass hide and unhide the sku_1 index on products.</a:t>
            </a:r>
          </a:p>
          <a:p/>
          <a:p>
            <a:r>
              <a:t>  Hidden, it is removed from the query planner's choices but still maintained.</a:t>
            </a:r>
          </a:p>
          <a:p/>
          <a:p>
            <a:r>
              <a:t>  Visible, it is available again.</a:t>
            </a:r>
          </a:p>
          <a:p/>
          <a:p>
            <a:r>
              <a:t>  The documents never change.</a:t>
            </a:r>
          </a:p>
          <a:p/>
          <a:p>
            <a:r>
              <a:t>- How to read it</a:t>
            </a:r>
          </a:p>
          <a:p/>
          <a:p>
            <a:r>
              <a:t>  The red arrow is hideIndex, the green arrow is unhideIndex.</a:t>
            </a:r>
          </a:p>
          <a:p/>
          <a:p>
            <a:r>
              <a:t>  Both boxes say the index is still maintained, which is why hiding is instant to undo.</a:t>
            </a:r>
          </a:p>
          <a:p/>
          <a:p>
            <a:r>
              <a:t>- About the data</a:t>
            </a:r>
          </a:p>
          <a:p/>
          <a:p>
            <a:r>
              <a:t>  In training_store the SKU index built by load.js is named sku_unique, not sku_1.</a:t>
            </a:r>
          </a:p>
          <a:p/>
          <a:p>
            <a:r>
              <a:t>  In Lab 5, Step 13 you hide a non-unique helper index, idx_products_category_active_price, instead: never a unique rule or _id_.</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Real queries rarely use one field.</a:t>
            </a:r>
          </a:p>
          <a:p/>
          <a:p>
            <a:r>
              <a:t>  The order history filters by customer and sorts by date; the catalog filters by category and sorts by price.</a:t>
            </a:r>
          </a:p>
          <a:p/>
          <a:p>
            <a:r>
              <a:t>- Outcome</a:t>
            </a:r>
          </a:p>
          <a:p/>
          <a:p>
            <a:r>
              <a:t>  By the end, learners can write a compound index for a query and defend its field order with ESR.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Several fields, one index</a:t>
            </a:r>
          </a:p>
          <a:p/>
          <a:p>
            <a:r>
              <a:t>  A compound index is sorted by its first field, then by the second field within each value of the first, and so on.</a:t>
            </a:r>
          </a:p>
          <a:p/>
          <a:p>
            <a:r>
              <a:t>- Filter and sort together</a:t>
            </a:r>
          </a:p>
          <a:p/>
          <a:p>
            <a:r>
              <a:t>  Because price is already in order inside each category, a query for one category sorted by price reads one run of keys and needs no SORT stage.</a:t>
            </a:r>
          </a:p>
          <a:p/>
          <a:p>
            <a:r>
              <a:t>- Directions</a:t>
            </a:r>
          </a:p>
          <a:p/>
          <a:p>
            <a:r>
              <a:t>  category: 1 is ascending and price: -1 descending.</a:t>
            </a:r>
          </a:p>
          <a:p/>
          <a:p>
            <a:r>
              <a:t>  Direction matters when the index must serve a sort on more than one field.</a:t>
            </a:r>
          </a:p>
          <a:p/>
          <a:p>
            <a:r>
              <a:t>- On training_store</a:t>
            </a:r>
          </a:p>
          <a:p/>
          <a:p>
            <a:r>
              <a:t>  The course's catalog index is { category: 1, price: 1 }, named idx_products_category_price.</a:t>
            </a:r>
          </a:p>
          <a:p/>
          <a:p>
            <a:r>
              <a:t>  It serves db.products.find({ category: "SHOE" }).sort({ price: 1 }): Clearance Shoe 44.99, Trail Shoe 89.99, Running Shoe 129.99.</a:t>
            </a:r>
          </a:p>
          <a:p/>
          <a:p>
            <a:r>
              <a:t>- What it shows</a:t>
            </a:r>
          </a:p>
          <a:p/>
          <a:p>
            <a:r>
              <a:t>  The index { category: 1, price: -1 }, named category_1_price_-1, built from Apparel and Footwear products.</a:t>
            </a:r>
          </a:p>
          <a:p/>
          <a:p>
            <a:r>
              <a:t>  The keys are grouped by category and, inside each group, run from the highest price to the lowest.</a:t>
            </a:r>
          </a:p>
          <a:p/>
          <a:p>
            <a:r>
              <a:t>- How to read it</a:t>
            </a:r>
          </a:p>
          <a:p/>
          <a:p>
            <a:r>
              <a:t>  The first key column is category, ascending; the second is price, descending.</a:t>
            </a:r>
          </a:p>
          <a:p/>
          <a:p>
            <a:r>
              <a:t>  The supported query on the right, category Apparel sorted by price high to low, is one continuous run of keys.</a:t>
            </a:r>
          </a:p>
          <a:p/>
          <a:p>
            <a:r>
              <a:t>- About the data</a:t>
            </a:r>
          </a:p>
          <a:p/>
          <a:p>
            <a:r>
              <a:t>  Apparel and Footwear are illustrative.</a:t>
            </a:r>
          </a:p>
          <a:p/>
          <a:p>
            <a:r>
              <a:t>  In training_store the same idea is { category: 1, price: 1 } over LAPTOP, SHOE, BOOK and ACCESSORY.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Order is part of the design</a:t>
            </a:r>
          </a:p>
          <a:p/>
          <a:p>
            <a:r>
              <a:t>  { category: 1, price: 1 } and { price: 1, category: 1 } contain the same fields but are different indexes with different key orders.</a:t>
            </a:r>
          </a:p>
          <a:p/>
          <a:p>
            <a:r>
              <a:t>- Which queries each serves</a:t>
            </a:r>
          </a:p>
          <a:p/>
          <a:p>
            <a:r>
              <a:t>  Category first serves category equality, and category with a price range or sort.</a:t>
            </a:r>
          </a:p>
          <a:p/>
          <a:p>
            <a:r>
              <a:t>  Price first serves price ranges and price sorts across all categories.</a:t>
            </a:r>
          </a:p>
          <a:p/>
          <a:p>
            <a:r>
              <a:t>- How to choose</a:t>
            </a:r>
          </a:p>
          <a:p/>
          <a:p>
            <a:r>
              <a:t>  Look at the queries the application actually runs.</a:t>
            </a:r>
          </a:p>
          <a:p/>
          <a:p>
            <a:r>
              <a:t>  Our catalog always filters by category, so category goes first.</a:t>
            </a:r>
          </a:p>
          <a:p/>
          <a:p>
            <a:r>
              <a:t>- What it shows</a:t>
            </a:r>
          </a:p>
          <a:p/>
          <a:p>
            <a:r>
              <a:t>  Two indexes built from the same fields: category_1_price_1 on the left and price_1_category_1 on the right, each with its keys in order.</a:t>
            </a:r>
          </a:p>
          <a:p/>
          <a:p>
            <a:r>
              <a:t>- How to read it</a:t>
            </a:r>
          </a:p>
          <a:p/>
          <a:p>
            <a:r>
              <a:t>  On the left, the Apparel keys sit together, so a category query reads one block and gets a green check.</a:t>
            </a:r>
          </a:p>
          <a:p/>
          <a:p>
            <a:r>
              <a:t>  On the right, Apparel keys are scattered through the price order, so the same query cannot use the leading field efficiently.</a:t>
            </a:r>
          </a:p>
          <a:p/>
          <a:p>
            <a:r>
              <a:t>- Key point</a:t>
            </a:r>
          </a:p>
          <a:p/>
          <a:p>
            <a:r>
              <a:t>  The banner says it: same fields does not mean same index order.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Leading fields</a:t>
            </a:r>
          </a:p>
          <a:p/>
          <a:p>
            <a:r>
              <a:t>  A compound index can serve queries on any prefix of its fields, read from the left.</a:t>
            </a:r>
          </a:p>
          <a:p/>
          <a:p>
            <a:r>
              <a:t>  For three fields that is the first; the first two; and all three.</a:t>
            </a:r>
          </a:p>
          <a:p/>
          <a:p>
            <a:r>
              <a:t>- Not a prefix</a:t>
            </a:r>
          </a:p>
          <a:p/>
          <a:p>
            <a:r>
              <a:t>  A query on the second field alone skips the first, so the matching keys are scattered through the index.</a:t>
            </a:r>
          </a:p>
          <a:p/>
          <a:p>
            <a:r>
              <a:t>- Prefixes make indexes redundant</a:t>
            </a:r>
          </a:p>
          <a:p/>
          <a:p>
            <a:r>
              <a:t>  If { customerId: 1, paymentStatus: 1, createdAt: -1 } exists, a separate { customerId: 1 } index is usually redundant, because customerId is a prefix.</a:t>
            </a:r>
          </a:p>
          <a:p/>
          <a:p>
            <a:r>
              <a:t>  Check uniqueness, partial filters and collation before removing anything.</a:t>
            </a:r>
          </a:p>
          <a:p/>
          <a:p>
            <a:r>
              <a:t>- Skipping a middle field</a:t>
            </a:r>
          </a:p>
          <a:p/>
          <a:p>
            <a:r>
              <a:t>  Filtering customerId and sorting createdAt without paymentStatus skips the middle field, so the index can't supply the sort and a SORT stage is likely.</a:t>
            </a:r>
          </a:p>
          <a:p/>
          <a:p>
            <a:r>
              <a:t>- What it shows</a:t>
            </a:r>
          </a:p>
          <a:p/>
          <a:p>
            <a:r>
              <a:t>  The orders index { customerId: 1, status: 1, createdAt: -1 } and five query shapes.</a:t>
            </a:r>
          </a:p>
          <a:p/>
          <a:p>
            <a:r>
              <a:t>  Three are prefixes and supported; two skip customerId and are not prefixes.</a:t>
            </a:r>
          </a:p>
          <a:p/>
          <a:p>
            <a:r>
              <a:t>- How to read it</a:t>
            </a:r>
          </a:p>
          <a:p/>
          <a:p>
            <a:r>
              <a:t>  Read the green boxes left to right: customerId; customerId and status; all three.</a:t>
            </a:r>
          </a:p>
          <a:p/>
          <a:p>
            <a:r>
              <a:t>  The red boxes, status alone and status with createdAt, start in the middle of the index.</a:t>
            </a:r>
          </a:p>
          <a:p/>
          <a:p>
            <a:r>
              <a:t>- About the data</a:t>
            </a:r>
          </a:p>
          <a:p/>
          <a:p>
            <a:r>
              <a:t>  training_store orders have no plain status field.</a:t>
            </a:r>
          </a:p>
          <a:p/>
          <a:p>
            <a:r>
              <a:t>  The diagram's status stands for paymentStatus, so the training_store version is { customerId: 1, paymentStatus: 1, createdAt: -1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Equality first</a:t>
            </a:r>
          </a:p>
          <a:p/>
          <a:p>
            <a:r>
              <a:t>  Exact-match fields go first.</a:t>
            </a:r>
          </a:p>
          <a:p/>
          <a:p>
            <a:r>
              <a:t>  They cut the index down to one contiguous block of keys.</a:t>
            </a:r>
          </a:p>
          <a:p/>
          <a:p>
            <a:r>
              <a:t>- Then sort</a:t>
            </a:r>
          </a:p>
          <a:p/>
          <a:p>
            <a:r>
              <a:t>  The sort field comes next, in the sort direction, so the keys inside that block are already in the order the query wants.</a:t>
            </a:r>
          </a:p>
          <a:p/>
          <a:p>
            <a:r>
              <a:t>- Range last</a:t>
            </a:r>
          </a:p>
          <a:p/>
          <a:p>
            <a:r>
              <a:t>  Range conditions such as $gte go last.</a:t>
            </a:r>
          </a:p>
          <a:p/>
          <a:p>
            <a:r>
              <a:t>  A range placed before the sort field would break the sort order and force a SORT stage.</a:t>
            </a:r>
          </a:p>
          <a:p/>
          <a:p>
            <a:r>
              <a:t>- A guideline, not a law</a:t>
            </a:r>
          </a:p>
          <a:p/>
          <a:p>
            <a:r>
              <a:t>  On training_store: for one customer's PAID orders over a minimum total, customerId and paymentStatus are equality, createdAt is the sort, total is the range.</a:t>
            </a:r>
          </a:p>
          <a:p/>
          <a:p>
            <a:r>
              <a:t>  Selectivity and real explain() results make the final call.</a:t>
            </a:r>
          </a:p>
          <a:p/>
          <a:p>
            <a:r>
              <a:t>- What it shows</a:t>
            </a:r>
          </a:p>
          <a:p/>
          <a:p>
            <a:r>
              <a:t>  A query on orders with an equality filter region = East, a sort on createdAt descending and a range total ≥ 100, mapped to the compound index region: 1, createdAt: -1, total: 1.</a:t>
            </a:r>
          </a:p>
          <a:p/>
          <a:p>
            <a:r>
              <a:t>- How to read it</a:t>
            </a:r>
          </a:p>
          <a:p/>
          <a:p>
            <a:r>
              <a:t>  The E, S and R badges connect each query condition to its position in the index: 1 Equality, 2 Sort, 3 Range.</a:t>
            </a:r>
          </a:p>
          <a:p/>
          <a:p>
            <a:r>
              <a:t>  The result is an efficient scan of already sorted orders.</a:t>
            </a:r>
          </a:p>
          <a:p/>
          <a:p>
            <a:r>
              <a:t>- About the data</a:t>
            </a:r>
          </a:p>
          <a:p/>
          <a:p>
            <a:r>
              <a:t>  training_store orders have no region field; region is the diagram's example of an equality condition.</a:t>
            </a:r>
          </a:p>
          <a:p/>
          <a:p>
            <a:r>
              <a:t>  In our data the equality fields are customerId, paymentStatus and fulfillmentStatus.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query</a:t>
            </a:r>
          </a:p>
          <a:p/>
          <a:p>
            <a:r>
              <a:t>  Aisha Khan, C101, has five orders: O5001, O6306, O6301, O6201 and O6101, newest first.</a:t>
            </a:r>
          </a:p>
          <a:p/>
          <a:p>
            <a:r>
              <a:t>  Look up her _id with findOne on customerNumber and store it in cid.</a:t>
            </a:r>
          </a:p>
          <a:p/>
          <a:p>
            <a:r>
              <a:t>- Before</a:t>
            </a:r>
          </a:p>
          <a:p/>
          <a:p>
            <a:r>
              <a:t>  On a fresh load, orders has only _id_ and orderNumber_unique, so the plan is a collection scan of all 17 orders plus a SORT stage.</a:t>
            </a:r>
          </a:p>
          <a:p/>
          <a:p>
            <a:r>
              <a:t>  On some versions you might instead see an _id index scan with a fetch and sort; either way the history index is missing.</a:t>
            </a:r>
          </a:p>
          <a:p/>
          <a:p>
            <a:r>
              <a:t>- After</a:t>
            </a:r>
          </a:p>
          <a:p/>
          <a:p>
            <a:r>
              <a:t>  The index groups keys by customerId and orders each customer's keys by createdAt descending.</a:t>
            </a:r>
          </a:p>
          <a:p/>
          <a:p>
            <a:r>
              <a:t>  The plan becomes FETCH over IXSCAN on idx_orders_customer_date: 5 keys, 5 documents, 5 returned, and no SORT.</a:t>
            </a:r>
          </a:p>
          <a:p/>
          <a:p>
            <a:r>
              <a:t>- Guide differences</a:t>
            </a:r>
          </a:p>
          <a:p/>
          <a:p>
            <a:r>
              <a:t>  The content source writes this query with orderedAt and a fixed ObjectId; our orders use createdAt, and that ObjectId is not in the dataset.</a:t>
            </a:r>
          </a:p>
          <a:p/>
          <a:p>
            <a:r>
              <a:t>  Older guides built the same key as idx_orders_customer_created; Lab 5 uses one name, idx_orders_customer_date, everywhere.</a:t>
            </a:r>
          </a:p>
          <a:p/>
          <a:p>
            <a:r>
              <a:t>  MongoDB can't hold two indexes with the same key under different names, so a second createIndex under another name fails with an index-options conflict.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Forward and backward</a:t>
            </a:r>
          </a:p>
          <a:p/>
          <a:p>
            <a:r>
              <a:t>  With customerId fixed by equality, the keys for that customer are already newest first.</a:t>
            </a:r>
          </a:p>
          <a:p/>
          <a:p>
            <a:r>
              <a:t>  Walking them backwards gives oldest first, so both date sorts need no SORT stage.</a:t>
            </a:r>
          </a:p>
          <a:p/>
          <a:p>
            <a:r>
              <a:t>- Full reverse</a:t>
            </a:r>
          </a:p>
          <a:p/>
          <a:p>
            <a:r>
              <a:t>  { customerId: -1, createdAt: 1 } flips both fields, which is the same index walked backwards.</a:t>
            </a:r>
          </a:p>
          <a:p/>
          <a:p>
            <a:r>
              <a:t>- Mixed</a:t>
            </a:r>
          </a:p>
          <a:p/>
          <a:p>
            <a:r>
              <a:t>  { customerId: 1, createdAt: 1 } flips only one field.</a:t>
            </a:r>
          </a:p>
          <a:p/>
          <a:p>
            <a:r>
              <a:t>  Neither walk produces that order, so MongoDB adds a SORT.</a:t>
            </a:r>
          </a:p>
          <a:p/>
          <a:p>
            <a:r>
              <a:t>- No customer filter</a:t>
            </a:r>
          </a:p>
          <a:p/>
          <a:p>
            <a:r>
              <a:t>  Across all customers the keys are grouped by customer first, so they are not in global date order.</a:t>
            </a:r>
          </a:p>
          <a:p/>
          <a:p>
            <a:r>
              <a:t>  A sort on createdAt alone needs a different index, such as { createdAt: -1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Pairs, five minutes, then compare.</a:t>
            </a:r>
          </a:p>
          <a:p/>
          <a:p>
            <a:r>
              <a:t>  If mongosh is open, run the explain before and after.</a:t>
            </a:r>
          </a:p>
          <a:p/>
          <a:p>
            <a:r>
              <a:t>- Why the history index can't help</a:t>
            </a:r>
          </a:p>
          <a:p/>
          <a:p>
            <a:r>
              <a:t>  Its first field is customerId, and this query doesn't filter on customerId, so fulfillmentStatus is not a prefix.</a:t>
            </a:r>
          </a:p>
          <a:p/>
          <a:p>
            <a:r>
              <a:t>- The answer</a:t>
            </a:r>
          </a:p>
          <a:p/>
          <a:p>
            <a:r>
              <a:t>  db.orders.createIndex({ fulfillmentStatus: 1, createdAt: 1 }, { name: "idx_orders_fulfillment_date" }).</a:t>
            </a:r>
          </a:p>
          <a:p/>
          <a:p>
            <a:r>
              <a:t>  Equality first, then the sort in its direction.</a:t>
            </a:r>
          </a:p>
          <a:p/>
          <a:p>
            <a:r>
              <a:t>- The data</a:t>
            </a:r>
          </a:p>
          <a:p/>
          <a:p>
            <a:r>
              <a:t>  Three orders are PROCESSING on a fresh load: O6202 on 11 August, O6302 on 7 September and O6401 on 18 September.</a:t>
            </a:r>
          </a:p>
          <a:p/>
          <a:p>
            <a:r>
              <a:t>  Baseline: COLLSCAN, 17 documents examined, 3 returned, with a SORT.</a:t>
            </a:r>
          </a:p>
          <a:p/>
          <a:p>
            <a:r>
              <a:t>- Guide difference</a:t>
            </a:r>
          </a:p>
          <a:p/>
          <a:p>
            <a:r>
              <a:t>  The content source writes this as status Processing with orderedAt and names the index idx_orders_status_date.</a:t>
            </a:r>
          </a:p>
          <a:p/>
          <a:p>
            <a:r>
              <a:t>  Our orders use fulfillmentStatus, upper-case values and createdAt, and Lab 5 names the index idx_orders_fulfillment_date.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Plain and compound indexes cover most queries.</a:t>
            </a:r>
          </a:p>
          <a:p/>
          <a:p>
            <a:r>
              <a:t>  Some needs are special: arrays, uniqueness, optional fields, expiring data and word search.</a:t>
            </a:r>
          </a:p>
          <a:p/>
          <a:p>
            <a:r>
              <a:t>- Watch for</a:t>
            </a:r>
          </a:p>
          <a:p/>
          <a:p>
            <a:r>
              <a:t>  Each type has a rule the query must follow to use it.</a:t>
            </a:r>
          </a:p>
          <a:p/>
          <a:p>
            <a:r>
              <a:t>  Partial indexes are the clearest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One key per value</a:t>
            </a:r>
          </a:p>
          <a:p/>
          <a:p>
            <a:r>
              <a:t>  tags is an array.</a:t>
            </a:r>
          </a:p>
          <a:p/>
          <a:p>
            <a:r>
              <a:t>  When you index it, MongoDB adds one index key for each value in each document's array, and marks the index multikey: true automatically.</a:t>
            </a:r>
          </a:p>
          <a:p/>
          <a:p>
            <a:r>
              <a:t>- Read the index</a:t>
            </a:r>
          </a:p>
          <a:p/>
          <a:p>
            <a:r>
              <a:t>  The Wireless Keyboard, P1001, contributes two keys, wireless and accessories.</a:t>
            </a:r>
          </a:p>
          <a:p/>
          <a:p>
            <a:r>
              <a:t>  The keys are sorted, so all the wireless keys sit together.</a:t>
            </a:r>
          </a:p>
          <a:p/>
          <a:p>
            <a:r>
              <a:t>  Across the 13 products the index holds 26 keys.</a:t>
            </a:r>
          </a:p>
          <a:p/>
          <a:p>
            <a:r>
              <a:t>- The query</a:t>
            </a:r>
          </a:p>
          <a:p/>
          <a:p>
            <a:r>
              <a:t>  db.products.find({ tags: "wireless" }) walks the two wireless keys and returns P1001 and A410: 2 keys examined, 2 documents examined.</a:t>
            </a:r>
          </a:p>
          <a:p/>
          <a:p>
            <a:r>
              <a:t>  This is Lab 5, Step 5, with idx_products_tags.</a:t>
            </a:r>
          </a:p>
          <a:p/>
          <a:p>
            <a:r>
              <a:t>- Arrays of documents and limits</a:t>
            </a:r>
          </a:p>
          <a:p/>
          <a:p>
            <a:r>
              <a:t>  An index on items.productId lets you find every order that contains one product.</a:t>
            </a:r>
          </a:p>
          <a:p/>
          <a:p>
            <a:r>
              <a:t>  Large arrays mean large indexes, and a compound index can't have two array fields in the same document.</a:t>
            </a:r>
          </a:p>
          <a:p/>
          <a:p>
            <a:r>
              <a:t>- One more tag</a:t>
            </a:r>
          </a:p>
          <a:p/>
          <a:p>
            <a:r>
              <a:t>  Step 5 also queries tags technology: only B300, MongoDB Fundamentals, carries that tag, so it returns one book.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unique</a:t>
            </a:r>
          </a:p>
          <a:p/>
          <a:p>
            <a:r>
              <a:t>  SKUs, customer numbers, order numbers and emails must never repeat.</a:t>
            </a:r>
          </a:p>
          <a:p/>
          <a:p>
            <a:r>
              <a:t>  A unique index makes the database reject the duplicate, whatever the application does.</a:t>
            </a:r>
          </a:p>
          <a:p/>
          <a:p>
            <a:r>
              <a:t>- The rebuild</a:t>
            </a:r>
          </a:p>
          <a:p/>
          <a:p>
            <a:r>
              <a:t>  Lab 5, Step 9 wants the course name uq_products_sku, but load.js already built the same key as sku_unique.</a:t>
            </a:r>
          </a:p>
          <a:p/>
          <a:p>
            <a:r>
              <a:t>  MongoDB won't create a second index on { sku: 1 } with a different name, so drop sku_unique first.</a:t>
            </a:r>
          </a:p>
          <a:p/>
          <a:p>
            <a:r>
              <a:t>  customerNumber_unique and orderNumber_unique already enforce the other two identity rules, so the lab checks them rather than rebuilding them.</a:t>
            </a:r>
          </a:p>
          <a:p/>
          <a:p>
            <a:r>
              <a:t>- The duplicate</a:t>
            </a:r>
          </a:p>
          <a:p/>
          <a:p>
            <a:r>
              <a:t>  Inserting another L100 fails with E11000 duplicate key error and names the index and the duplicate value.</a:t>
            </a:r>
          </a:p>
          <a:p/>
          <a:p>
            <a:r>
              <a:t>  The lab's insert has more fields; they are trimmed here.</a:t>
            </a:r>
          </a:p>
          <a:p/>
          <a:p>
            <a:r>
              <a:t>- Case-insensitive email</a:t>
            </a:r>
          </a:p>
          <a:p/>
          <a:p>
            <a:r>
              <a:t>  priya@example.com and PRIYA@EXAMPLE.COM differ as strings.</a:t>
            </a:r>
          </a:p>
          <a:p/>
          <a:p>
            <a:r>
              <a:t>  An index with collation strength 2 compares them without case.</a:t>
            </a:r>
          </a:p>
          <a:p/>
          <a:p>
            <a:r>
              <a:t>  Our email lives at contact.email, not email as in the content source.</a:t>
            </a:r>
          </a:p>
          <a:p/>
          <a:p>
            <a:r>
              <a:t>  A query must specify the same collation to use this index.</a:t>
            </a:r>
          </a:p>
          <a:p/>
          <a:p>
            <a:r>
              <a:t>- If creation fails</a:t>
            </a:r>
          </a:p>
          <a:p/>
          <a:p>
            <a:r>
              <a:t>  A unique build fails when duplicates already exist.</a:t>
            </a:r>
          </a:p>
          <a:p/>
          <a:p>
            <a:r>
              <a:t>  Find them with $group on the key and $match on a count above 1, clean them up, then build again.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it does</a:t>
            </a:r>
          </a:p>
          <a:p/>
          <a:p>
            <a:r>
              <a:t>  partialFilterExpression decides which documents get index keys.</a:t>
            </a:r>
          </a:p>
          <a:p/>
          <a:p>
            <a:r>
              <a:t>  Here only active products are indexed.</a:t>
            </a:r>
          </a:p>
          <a:p/>
          <a:p>
            <a:r>
              <a:t>  In training_store that is 12 of 13: the Refurbished Laptop, L190, is inactive.</a:t>
            </a:r>
          </a:p>
          <a:p/>
          <a:p>
            <a:r>
              <a:t>- The rule</a:t>
            </a:r>
          </a:p>
          <a:p/>
          <a:p>
            <a:r>
              <a:t>  A query can use a partial index only if its filter guarantees the partial condition.</a:t>
            </a:r>
          </a:p>
          <a:p/>
          <a:p>
            <a:r>
              <a:t>  The first query includes active: true, so it can; it returns the Business Laptop and the Ultrabook.</a:t>
            </a:r>
          </a:p>
          <a:p/>
          <a:p>
            <a:r>
              <a:t>- The second query</a:t>
            </a:r>
          </a:p>
          <a:p/>
          <a:p>
            <a:r>
              <a:t>  Without active: true the answer must include L190, which isn't in the index, so MongoDB can't use it for this query.</a:t>
            </a:r>
          </a:p>
          <a:p/>
          <a:p>
            <a:r>
              <a:t>- Why bother</a:t>
            </a:r>
          </a:p>
          <a:p/>
          <a:p>
            <a:r>
              <a:t>  If nearly every catalog query asks for active products, the partial index is smaller and cheaper to maintain than a full one.</a:t>
            </a:r>
          </a:p>
          <a:p/>
          <a:p>
            <a:r>
              <a:t>  The content source's example uses category Electronics; our categories are LAPTOP, SHOE, BOOK and ACCESSORY.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Only documents with the field</a:t>
            </a:r>
          </a:p>
          <a:p/>
          <a:p>
            <a:r>
              <a:t>  A sparse index skips documents that don't have the indexed field.</a:t>
            </a:r>
          </a:p>
          <a:p/>
          <a:p>
            <a:r>
              <a:t>  It is smaller than a normal index on an optional field.</a:t>
            </a:r>
          </a:p>
          <a:p/>
          <a:p>
            <a:r>
              <a:t>- Null is not missing</a:t>
            </a:r>
          </a:p>
          <a:p/>
          <a:p>
            <a:r>
              <a:t>  In training_store, Luis Romero, C204, has contact.phone set to null.</a:t>
            </a:r>
          </a:p>
          <a:p/>
          <a:p>
            <a:r>
              <a:t>  The field exists, so a sparse index includes him.</a:t>
            </a:r>
          </a:p>
          <a:p/>
          <a:p>
            <a:r>
              <a:t>  Sam Okonkwo, C515, has no phone field at all, so he is left out: 5 of the 6 customers are indexed.</a:t>
            </a:r>
          </a:p>
          <a:p/>
          <a:p>
            <a:r>
              <a:t>- Careful with queries</a:t>
            </a:r>
          </a:p>
          <a:p/>
          <a:p>
            <a:r>
              <a:t>  Because some documents are missing from it, MongoDB won't use a sparse index for a query or sort that must see every document, unless you hint it.</a:t>
            </a:r>
          </a:p>
          <a:p/>
          <a:p>
            <a:r>
              <a:t>- Prefer partial</a:t>
            </a:r>
          </a:p>
          <a:p/>
          <a:p>
            <a:r>
              <a:t>  A partial index with partialFilterExpression { "contact.phone": { $exists: true } } says the same thing more explicitly, and partial indexes can use any filter.</a:t>
            </a:r>
          </a:p>
          <a:p/>
          <a:p>
            <a:r>
              <a:t>- What it shows</a:t>
            </a:r>
          </a:p>
          <a:p/>
          <a:p>
            <a:r>
              <a:t>  db.customers.createIndex({ phone: 1 }, { sparse: true }).</a:t>
            </a:r>
          </a:p>
          <a:p/>
          <a:p>
            <a:r>
              <a:t>  Alice and Carol have a phone, so they are indexed.</a:t>
            </a:r>
          </a:p>
          <a:p/>
          <a:p>
            <a:r>
              <a:t>  Bob and David have no phone field, so they are not indexed.</a:t>
            </a:r>
          </a:p>
          <a:p/>
          <a:p>
            <a:r>
              <a:t>- How to read it</a:t>
            </a:r>
          </a:p>
          <a:p/>
          <a:p>
            <a:r>
              <a:t>  The green arrow is indexed and the red crossed arrow is not indexed.</a:t>
            </a:r>
          </a:p>
          <a:p/>
          <a:p>
            <a:r>
              <a:t>  The query for one phone number uses the two-entry sparse index.</a:t>
            </a:r>
          </a:p>
          <a:p/>
          <a:p>
            <a:r>
              <a:t>- About the data</a:t>
            </a:r>
          </a:p>
          <a:p/>
          <a:p>
            <a:r>
              <a:t>  The four customers are illustrative, and training_store keeps phone inside contact, so the real path is contact.phone.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setup</a:t>
            </a:r>
          </a:p>
          <a:p/>
          <a:p>
            <a:r>
              <a:t>  Lab 5, Step 10 creates a separate sessions collection with two documents: S1 expires in an hour, S-EXPIRED expired a minute ago.</a:t>
            </a:r>
          </a:p>
          <a:p/>
          <a:p>
            <a:r>
              <a:t>- The index</a:t>
            </a:r>
          </a:p>
          <a:p/>
          <a:p>
            <a:r>
              <a:t>  A TTL index is a single-field index on a date field with expireAfterSeconds.</a:t>
            </a:r>
          </a:p>
          <a:p/>
          <a:p>
            <a:r>
              <a:t>  With 0, each document expires exactly at the date it stores.</a:t>
            </a:r>
          </a:p>
          <a:p/>
          <a:p>
            <a:r>
              <a:t>  Lab 5 names it ttl_sessions_expires_at; the content source spells it ttl_sessions_expiresAt.</a:t>
            </a:r>
          </a:p>
          <a:p/>
          <a:p>
            <a:r>
              <a:t>  We follow the lab.</a:t>
            </a:r>
          </a:p>
          <a:p/>
          <a:p>
            <a:r>
              <a:t>- Asynchronous</a:t>
            </a:r>
          </a:p>
          <a:p/>
          <a:p>
            <a:r>
              <a:t>  Right after the insert both documents are there.</a:t>
            </a:r>
          </a:p>
          <a:p/>
          <a:p>
            <a:r>
              <a:t>  The TTL monitor runs about once a minute, so S-EXPIRED disappears some time later, not at an exact instant.</a:t>
            </a:r>
          </a:p>
          <a:p/>
          <a:p>
            <a:r>
              <a:t>- Where it belongs</a:t>
            </a:r>
          </a:p>
          <a:p/>
          <a:p>
            <a:r>
              <a:t>  Sessions, verification codes and short-lived events.</a:t>
            </a:r>
          </a:p>
          <a:p/>
          <a:p>
            <a:r>
              <a:t>  Never orders, payments or anything you must keep for legal or audit reasons.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Text</a:t>
            </a:r>
          </a:p>
          <a:p/>
          <a:p>
            <a:r>
              <a:t>  A text index supports word search with $text and a relevance score.</a:t>
            </a:r>
          </a:p>
          <a:p/>
          <a:p>
            <a:r>
              <a:t>  In training_store we would index name, since products have no description.</a:t>
            </a:r>
          </a:p>
          <a:p/>
          <a:p>
            <a:r>
              <a:t>  For autocomplete, fuzzy matching or synonyms, use a dedicated search product.</a:t>
            </a:r>
          </a:p>
          <a:p/>
          <a:p>
            <a:r>
              <a:t>- Wildcard</a:t>
            </a:r>
          </a:p>
          <a:p/>
          <a:p>
            <a:r>
              <a:t>  { "attributes.$**": 1 } indexes every path under attributes.</a:t>
            </a:r>
          </a:p>
          <a:p/>
          <a:p>
            <a:r>
              <a:t>  Our laptops have processor and memoryGB, shoes have color and material, books have author and isbn, so the paths vary.</a:t>
            </a:r>
          </a:p>
          <a:p/>
          <a:p>
            <a:r>
              <a:t>  It supports queries such as { "attributes.connection": "Bluetooth" }.</a:t>
            </a:r>
          </a:p>
          <a:p/>
          <a:p>
            <a:r>
              <a:t>- Geospatial</a:t>
            </a:r>
          </a:p>
          <a:p/>
          <a:p>
            <a:r>
              <a:t>  A 2dsphere index supports $near and containment queries on GeoJSON points, stored longitude first.</a:t>
            </a:r>
          </a:p>
          <a:p/>
          <a:p>
            <a:r>
              <a:t>  A store-locator collection would use it.</a:t>
            </a:r>
          </a:p>
          <a:p/>
          <a:p>
            <a:r>
              <a:t>- Hashed</a:t>
            </a:r>
          </a:p>
          <a:p/>
          <a:p>
            <a:r>
              <a:t>  A hashed index stores a hash of the value.</a:t>
            </a:r>
          </a:p>
          <a:p/>
          <a:p>
            <a:r>
              <a:t>  It supports equality only, not ranges or sorts, and exists mainly for hashed sharding, which Module 7 covers.</a:t>
            </a:r>
          </a:p>
          <a:p/>
          <a:p>
            <a:r>
              <a:t>- What it shows</a:t>
            </a:r>
          </a:p>
          <a:p/>
          <a:p>
            <a:r>
              <a:t>  Four cards, one per type: text on products name plus description, wildcard on products attributes.$**, 2dsphere on a customers location field, and hashed on orders customerId.</a:t>
            </a:r>
          </a:p>
          <a:p/>
          <a:p>
            <a:r>
              <a:t>- How to read it</a:t>
            </a:r>
          </a:p>
          <a:p/>
          <a:p>
            <a:r>
              <a:t>  Each card lists the collection, the field, the index definition, what it is used for and the query operator it serves: $text, dynamic attribute paths, $near and equality.</a:t>
            </a:r>
          </a:p>
          <a:p/>
          <a:p>
            <a:r>
              <a:t>- About the data</a:t>
            </a:r>
          </a:p>
          <a:p/>
          <a:p>
            <a:r>
              <a:t>  Two cards are hypothetical for training_store: our products have no description field and our customers have no location.</a:t>
            </a:r>
          </a:p>
          <a:p/>
          <a:p>
            <a:r>
              <a:t>  The wildcard card matches our data exactly: products store category-specific fields under attributes.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use the table</a:t>
            </a:r>
          </a:p>
          <a:p/>
          <a:p>
            <a:r>
              <a:t>  Read it left to right: what the query must do, the index type, and where training_store uses it.</a:t>
            </a:r>
          </a:p>
          <a:p/>
          <a:p>
            <a:r>
              <a:t>- Combinations</a:t>
            </a:r>
          </a:p>
          <a:p/>
          <a:p>
            <a:r>
              <a:t>  Types combine.</a:t>
            </a:r>
          </a:p>
          <a:p/>
          <a:p>
            <a:r>
              <a:t>  idx_active_products_category_price is compound and partial; uq_products_sku is single-field and unique; idx_products_tags is single-field and multikey.</a:t>
            </a:r>
          </a:p>
          <a:p/>
          <a:p>
            <a:r>
              <a:t>- Practice</a:t>
            </a:r>
          </a:p>
          <a:p/>
          <a:p>
            <a:r>
              <a:t>  Ask the class to match eight requirements to these types: unique SKU, active-only, an optional discountCode, session expiry, word search, attribute paths, nearby stores and a hashed tenantId.</a:t>
            </a:r>
          </a:p>
          <a:p/>
          <a:p>
            <a:r>
              <a:t>  Exercise 6.3 at the end of the module applies these types to ten workloads.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Every earlier slide claimed a plan.</a:t>
            </a:r>
          </a:p>
          <a:p/>
          <a:p>
            <a:r>
              <a:t>  This part shows how to check the claim yourself.</a:t>
            </a:r>
          </a:p>
          <a:p/>
          <a:p>
            <a:r>
              <a:t>- Watch for</a:t>
            </a:r>
          </a:p>
          <a:p/>
          <a:p>
            <a:r>
              <a:t>  Three numbers read together: nReturned, totalKeysExamined and totalDocsExamined.</a:t>
            </a:r>
          </a:p>
          <a:p/>
          <a:p>
            <a:r>
              <a:t>  One stage to watch for: SORT.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queryPlanner</a:t>
            </a:r>
          </a:p>
          <a:p/>
          <a:p>
            <a:r>
              <a:t>  The default mode.</a:t>
            </a:r>
          </a:p>
          <a:p/>
          <a:p>
            <a:r>
              <a:t>  It shows the chosen plan without running the query, which is safe on a busy system.</a:t>
            </a:r>
          </a:p>
          <a:p/>
          <a:p>
            <a:r>
              <a:t>- executionStats</a:t>
            </a:r>
          </a:p>
          <a:p/>
          <a:p>
            <a:r>
              <a:t>  Runs the winning plan and reports nReturned, totalKeysExamined, totalDocsExamined and executionTimeMillis.</a:t>
            </a:r>
          </a:p>
          <a:p/>
          <a:p>
            <a:r>
              <a:t>  This is the mode for tuning, and the one every Lab 5 step uses.</a:t>
            </a:r>
          </a:p>
          <a:p/>
          <a:p>
            <a:r>
              <a:t>- allPlansExecution</a:t>
            </a:r>
          </a:p>
          <a:p/>
          <a:p>
            <a:r>
              <a:t>  Also reports the candidate plans the planner tried during plan selection and why they lost.</a:t>
            </a:r>
          </a:p>
          <a:p/>
          <a:p>
            <a:r>
              <a:t>  Use it when the planner picks an index you didn't expect.</a:t>
            </a:r>
          </a:p>
          <a:p/>
          <a:p>
            <a:r>
              <a:t>- Two ways to write it</a:t>
            </a:r>
          </a:p>
          <a:p/>
          <a:p>
            <a:r>
              <a:t>  db.products.find(filter).explain("executionStats") or db.products.explain("executionStats").find(filter).</a:t>
            </a:r>
          </a:p>
          <a:p/>
          <a:p>
            <a:r>
              <a:t>  The second form also works for aggregate, as in Lab 5, Step 12.</a:t>
            </a:r>
          </a:p>
          <a:p/>
          <a:p>
            <a:r>
              <a:t>- What it shows</a:t>
            </a:r>
          </a:p>
          <a:p/>
          <a:p>
            <a:r>
              <a:t>  One find on products, category Laptop, sent with explain(mode).</a:t>
            </a:r>
          </a:p>
          <a:p/>
          <a:p>
            <a:r>
              <a:t>  mongod returns one of three levels of detail.</a:t>
            </a:r>
          </a:p>
          <a:p/>
          <a:p>
            <a:r>
              <a:t>- How to read it</a:t>
            </a:r>
          </a:p>
          <a:p/>
          <a:p>
            <a:r>
              <a:t>  Top to bottom is less to more detail.</a:t>
            </a:r>
          </a:p>
          <a:p/>
          <a:p>
            <a:r>
              <a:t>  queryPlanner gives the plan only.</a:t>
            </a:r>
          </a:p>
          <a:p/>
          <a:p>
            <a:r>
              <a:t>  executionStats runs the winning plan and reports nReturned, documents examined and time.</a:t>
            </a:r>
          </a:p>
          <a:p/>
          <a:p>
            <a:r>
              <a:t>  allPlansExecution also tests the candidate plans and shows the rejected ones.</a:t>
            </a:r>
          </a:p>
          <a:p/>
          <a:p>
            <a:r>
              <a:t>- About the data</a:t>
            </a:r>
          </a:p>
          <a:p/>
          <a:p>
            <a:r>
              <a:t>  Laptop is written as LAPTOP in training_store, where three laptops exist: L100, L110 and L190.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index</a:t>
            </a:r>
          </a:p>
          <a:p/>
          <a:p>
            <a:r>
              <a:t>  Lab 5, Step 7 creates { category: 1, active: 1, price: 1 } as idx_products_category_active_price.</a:t>
            </a:r>
          </a:p>
          <a:p/>
          <a:p>
            <a:r>
              <a:t>  category and active are equality, price is the sort.</a:t>
            </a:r>
          </a:p>
          <a:p/>
          <a:p>
            <a:r>
              <a:t>- Reading the plan</a:t>
            </a:r>
          </a:p>
          <a:p/>
          <a:p>
            <a:r>
              <a:t>  Read winningPlan from the inside out: IXSCAN walks the index, FETCH reads each document.</a:t>
            </a:r>
          </a:p>
          <a:p/>
          <a:p>
            <a:r>
              <a:t>  There is no SORT stage, because the keys are already in price order.</a:t>
            </a:r>
          </a:p>
          <a:p/>
          <a:p>
            <a:r>
              <a:t>- The counts</a:t>
            </a:r>
          </a:p>
          <a:p/>
          <a:p>
            <a:r>
              <a:t>  Five keys, five documents, five returned: the Wireless Mouse, USB Hub, Wireless Keyboard, Docking Station, and the Legacy Cable Pack.</a:t>
            </a:r>
          </a:p>
          <a:p/>
          <a:p>
            <a:r>
              <a:t>- A dataset trap</a:t>
            </a:r>
          </a:p>
          <a:p/>
          <a:p>
            <a:r>
              <a:t>  XBAD stores its price as the string "49.99", a Module 4 fixture.</a:t>
            </a:r>
          </a:p>
          <a:p/>
          <a:p>
            <a:r>
              <a:t>  It still matches category and active, and strings sort after numbers, so it comes last.</a:t>
            </a:r>
          </a:p>
          <a:p/>
          <a:p>
            <a:r>
              <a:t>  A range such as price ≤ 100 would skip it.</a:t>
            </a:r>
          </a:p>
          <a:p/>
          <a:p>
            <a:r>
              <a:t>- The baseline</a:t>
            </a:r>
          </a:p>
          <a:p/>
          <a:p>
            <a:r>
              <a:t>  On a fresh load the same query is SORT over COLLSCAN: 0 keys, all 13 products examined, 5 returned.</a:t>
            </a:r>
          </a:p>
          <a:p/>
          <a:p>
            <a:r>
              <a:t>  Lab 5, Step 7 records that baseline first.</a:t>
            </a:r>
          </a:p>
          <a:p/>
          <a:p>
            <a:r>
              <a:t>  Older sample output shows 4 returned; on the live data it's 5, because XBAD counts.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SORT means</a:t>
            </a:r>
          </a:p>
          <a:p/>
          <a:p>
            <a:r>
              <a:t>  A SORT stage in the winning plan means no index supplied the order, so MongoDB collected the matching documents and sorted them in memory.</a:t>
            </a:r>
          </a:p>
          <a:p/>
          <a:p>
            <a:r>
              <a:t>- Why it hurts</a:t>
            </a:r>
          </a:p>
          <a:p/>
          <a:p>
            <a:r>
              <a:t>  It is blocking: nothing is returned until every matching document has been read and sorted.</a:t>
            </a:r>
          </a:p>
          <a:p/>
          <a:p>
            <a:r>
              <a:t>  Big sorts use up to 100 MB of memory and then spill to disk.</a:t>
            </a:r>
          </a:p>
          <a:p/>
          <a:p>
            <a:r>
              <a:t>- The fix</a:t>
            </a:r>
          </a:p>
          <a:p/>
          <a:p>
            <a:r>
              <a:t>  An index whose order matches the sort, after any equality fields.</a:t>
            </a:r>
          </a:p>
          <a:p/>
          <a:p>
            <a:r>
              <a:t>  Our order-history index removed SORT for exactly this reason.</a:t>
            </a:r>
          </a:p>
          <a:p/>
          <a:p>
            <a:r>
              <a:t>- On training_store</a:t>
            </a:r>
          </a:p>
          <a:p/>
          <a:p>
            <a:r>
              <a:t>  Before the catalog index, active accessories sorted by price show SORT above COLLSCAN.</a:t>
            </a:r>
          </a:p>
          <a:p/>
          <a:p>
            <a:r>
              <a:t>  After { category: 1, active: 1, price: 1 }, the SORT stage is gone.</a:t>
            </a:r>
          </a:p>
          <a:p/>
          <a:p>
            <a:r>
              <a:t>- What it shows</a:t>
            </a:r>
          </a:p>
          <a:p/>
          <a:p>
            <a:r>
              <a:t>  find category Laptop sorted by price, with no supporting index.</a:t>
            </a:r>
          </a:p>
          <a:p/>
          <a:p>
            <a:r>
              <a:t>  The plan reads with COLLSCAN, then a red SORT stage sorts in memory before the results go back.</a:t>
            </a:r>
          </a:p>
          <a:p/>
          <a:p>
            <a:r>
              <a:t>- How to read it</a:t>
            </a:r>
          </a:p>
          <a:p/>
          <a:p>
            <a:r>
              <a:t>  The explain excerpt shows stage SORT with inputStage COLLSCAN and the warning In-memory sort.</a:t>
            </a:r>
          </a:p>
          <a:p/>
          <a:p>
            <a:r>
              <a:t>  The crossed-out price_1 box explains why: no index supplies the order.</a:t>
            </a:r>
          </a:p>
          <a:p/>
          <a:p>
            <a:r>
              <a:t>- About the data</a:t>
            </a:r>
          </a:p>
          <a:p/>
          <a:p>
            <a:r>
              <a:t>  The counts, 1,000 examined and 24 returned, are from a larger illustrative catalog.</a:t>
            </a:r>
          </a:p>
          <a:p/>
          <a:p>
            <a:r>
              <a:t>  The pattern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No document read</a:t>
            </a:r>
          </a:p>
          <a:p/>
          <a:p>
            <a:r>
              <a:t>  When the filter and every returned field are in one index, MongoDB answers from the index keys alone and skips the FETCH.</a:t>
            </a:r>
          </a:p>
          <a:p/>
          <a:p>
            <a:r>
              <a:t>- Three conditions</a:t>
            </a:r>
          </a:p>
          <a:p/>
          <a:p>
            <a:r>
              <a:t>  The filter fields are indexed.</a:t>
            </a:r>
          </a:p>
          <a:p/>
          <a:p>
            <a:r>
              <a:t>  The returned fields are indexed.</a:t>
            </a:r>
          </a:p>
          <a:p/>
          <a:p>
            <a:r>
              <a:t>  And _id is excluded, or is itself part of the index.</a:t>
            </a:r>
          </a:p>
          <a:p/>
          <a:p>
            <a:r>
              <a:t>- Why _id matters</a:t>
            </a:r>
          </a:p>
          <a:p/>
          <a:p>
            <a:r>
              <a:t>  _id is returned by default.</a:t>
            </a:r>
          </a:p>
          <a:p/>
          <a:p>
            <a:r>
              <a:t>  If it isn't in the index, MongoDB must fetch the document just to read it, and the query is no longer covered.</a:t>
            </a:r>
          </a:p>
          <a:p/>
          <a:p>
            <a:r>
              <a:t>- Field order in the diagram</a:t>
            </a:r>
          </a:p>
          <a:p/>
          <a:p>
            <a:r>
              <a:t>  The diagram's index is { category: 1, name: 1, price: 1 }; Lab 5, Step 11 uses { category: 1, price: 1, name: 1 }.</a:t>
            </a:r>
          </a:p>
          <a:p/>
          <a:p>
            <a:r>
              <a:t>  Both cover this query: coverage needs the fields to be present, not in a particular order.</a:t>
            </a:r>
          </a:p>
          <a:p/>
          <a:p>
            <a:r>
              <a:t>- What it shows</a:t>
            </a:r>
          </a:p>
          <a:p/>
          <a:p>
            <a:r>
              <a:t>  A find on category Books with the projection name 1, price 1, _id 0, served by the index { category: 1, name: 1, price: 1 }.</a:t>
            </a:r>
          </a:p>
          <a:p/>
          <a:p>
            <a:r>
              <a:t>  The results come from the index only: IXSCAN only, and a red cross marks no FETCH from the product documents.</a:t>
            </a:r>
          </a:p>
          <a:p/>
          <a:p>
            <a:r>
              <a:t>- How to read it</a:t>
            </a:r>
          </a:p>
          <a:p/>
          <a:p>
            <a:r>
              <a:t>  Check the three index fields against the query: category is the filter, name and price are the output, and _id is switched off.</a:t>
            </a:r>
          </a:p>
          <a:p/>
          <a:p>
            <a:r>
              <a:t>- About the data</a:t>
            </a:r>
          </a:p>
          <a:p/>
          <a:p>
            <a:r>
              <a:t>  The two books in the diagram are illustrative.</a:t>
            </a:r>
          </a:p>
          <a:p/>
          <a:p>
            <a:r>
              <a:t>  In training_store the books are MongoDB Fundamentals at 59.99 and Query Cookbook at 39.99, in category BOOK.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covered query</a:t>
            </a:r>
          </a:p>
          <a:p/>
          <a:p>
            <a:r>
              <a:t>  Filter on category, return name and price, and switch _id off.</a:t>
            </a:r>
          </a:p>
          <a:p/>
          <a:p>
            <a:r>
              <a:t>  All three fields are in idx_products_category_price_name, so the plan is PROJECTION_COVERED over IXSCAN: 2 keys, 0 documents, 2 returned.</a:t>
            </a:r>
          </a:p>
          <a:p/>
          <a:p>
            <a:r>
              <a:t>- Results</a:t>
            </a:r>
          </a:p>
          <a:p/>
          <a:p>
            <a:r>
              <a:t>  The index is ordered by price inside BOOK, so the output is Query Cookbook at 39.99, then MongoDB Fundamentals at 59.99.</a:t>
            </a:r>
          </a:p>
          <a:p/>
          <a:p>
            <a:r>
              <a:t>- Breaking coverage</a:t>
            </a:r>
          </a:p>
          <a:p/>
          <a:p>
            <a:r>
              <a:t>  Leaving _id on, or asking for tags, needs a field that isn't in the index.</a:t>
            </a:r>
          </a:p>
          <a:p/>
          <a:p>
            <a:r>
              <a:t>  The plan gains a FETCH and totalDocsExamined becomes 2.</a:t>
            </a:r>
          </a:p>
          <a:p/>
          <a:p>
            <a:r>
              <a:t>- Field order</a:t>
            </a:r>
          </a:p>
          <a:p/>
          <a:p>
            <a:r>
              <a:t>  The index is { category, price, name }.</a:t>
            </a:r>
          </a:p>
          <a:p/>
          <a:p>
            <a:r>
              <a:t>  Coverage needs the fields to be present; their order still matters for which filters and sorts the index serves.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Individually for three minutes, then discuss.</a:t>
            </a:r>
          </a:p>
          <a:p/>
          <a:p>
            <a:r>
              <a:t>  Ask for the ratio of documents examined to returned for each plan.</a:t>
            </a:r>
          </a:p>
          <a:p/>
          <a:p>
            <a:r>
              <a:t>- Plan A</a:t>
            </a:r>
          </a:p>
          <a:p/>
          <a:p>
            <a:r>
              <a:t>  13 products read for one USB Hub.</a:t>
            </a:r>
          </a:p>
          <a:p/>
          <a:p>
            <a:r>
              <a:t>  Either index name, if the application really searches by name, or change the query to use sku, which is already uniquely indexed.</a:t>
            </a:r>
          </a:p>
          <a:p/>
          <a:p>
            <a:r>
              <a:t>- Plan B</a:t>
            </a:r>
          </a:p>
          <a:p/>
          <a:p>
            <a:r>
              <a:t>  All 17 orders read and sorted in memory for 3 results.</a:t>
            </a:r>
          </a:p>
          <a:p/>
          <a:p>
            <a:r>
              <a:t>  idx_orders_fulfillment_date gives an IXSCAN with 3 keys and no SORT.</a:t>
            </a:r>
          </a:p>
          <a:p/>
          <a:p>
            <a:r>
              <a:t>- Plan C</a:t>
            </a:r>
          </a:p>
          <a:p/>
          <a:p>
            <a:r>
              <a:t>  Two keys, two documents, two results: the Wireless Keyboard and the Wireless Mouse.</a:t>
            </a:r>
          </a:p>
          <a:p/>
          <a:p>
            <a:r>
              <a:t>  It is already as good as it gets.</a:t>
            </a:r>
          </a:p>
          <a:p/>
          <a:p>
            <a:r>
              <a:t>- One more case</a:t>
            </a:r>
          </a:p>
          <a:p/>
          <a:p>
            <a:r>
              <a:t>  Add a fourth plan out loud: an IXSCAN that examines 50,000 keys for 10 results.</a:t>
            </a:r>
          </a:p>
          <a:p/>
          <a:p>
            <a:r>
              <a:t>  Using an index doesn't make a plan efficient; the key order may be wrong or not selective.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So far every index made a query faster.</a:t>
            </a:r>
          </a:p>
          <a:p/>
          <a:p>
            <a:r>
              <a:t>  Now we count what indexes cost and how to keep only the useful ones.</a:t>
            </a:r>
          </a:p>
          <a:p/>
          <a:p>
            <a:r>
              <a:t>- Outcome</a:t>
            </a:r>
          </a:p>
          <a:p/>
          <a:p>
            <a:r>
              <a:t>  Learners can audit an index list and recommend retain, redesign or remove, with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Selective means narrow</a:t>
            </a:r>
          </a:p>
          <a:p/>
          <a:p>
            <a:r>
              <a:t>  A selective condition matches a small share of the collection.</a:t>
            </a:r>
          </a:p>
          <a:p/>
          <a:p>
            <a:r>
              <a:t>  sku is perfectly selective: 13 products, 13 distinct values.</a:t>
            </a:r>
          </a:p>
          <a:p/>
          <a:p>
            <a:r>
              <a:t>- Low selectivity</a:t>
            </a:r>
          </a:p>
          <a:p/>
          <a:p>
            <a:r>
              <a:t>  active has two values, and 12 of our 13 products are true.</a:t>
            </a:r>
          </a:p>
          <a:p/>
          <a:p>
            <a:r>
              <a:t>  An index on active alone barely narrows the search.</a:t>
            </a:r>
          </a:p>
          <a:p/>
          <a:p>
            <a:r>
              <a:t>- Use it inside something bigger</a:t>
            </a:r>
          </a:p>
          <a:p/>
          <a:p>
            <a:r>
              <a:t>  Put a low-selectivity field inside a compound index, as in { category: 1, active: 1, price: 1 }, or use it as a partial filter.</a:t>
            </a:r>
          </a:p>
          <a:p/>
          <a:p>
            <a:r>
              <a:t>- Measure it</a:t>
            </a:r>
          </a:p>
          <a:p/>
          <a:p>
            <a:r>
              <a:t>  Selectivity is a property of your data, not of the field name.</a:t>
            </a:r>
          </a:p>
          <a:p/>
          <a:p>
            <a:r>
              <a:t>  Check it with counts and explain().</a:t>
            </a:r>
          </a:p>
          <a:p/>
          <a:p>
            <a:r>
              <a:t>- What it shows</a:t>
            </a:r>
          </a:p>
          <a:p/>
          <a:p>
            <a:r>
              <a:t>  Two indexes on products.</a:t>
            </a:r>
          </a:p>
          <a:p/>
          <a:p>
            <a:r>
              <a:t>  sku_1 has many distinct keys, so the SKU lookup scans a few keys and returns one match.</a:t>
            </a:r>
          </a:p>
          <a:p/>
          <a:p>
            <a:r>
              <a:t>  category_1 has a few repeated keys, so a Books query scans many keys and returns many matches.</a:t>
            </a:r>
          </a:p>
          <a:p/>
          <a:p>
            <a:r>
              <a:t>- How to read it</a:t>
            </a:r>
          </a:p>
          <a:p/>
          <a:p>
            <a:r>
              <a:t>  Green is high selectivity, red is low.</a:t>
            </a:r>
          </a:p>
          <a:p/>
          <a:p>
            <a:r>
              <a:t>  The dashed note in the middle is the rule: more distinct values means higher selectivity.</a:t>
            </a:r>
          </a:p>
          <a:p/>
          <a:p>
            <a:r>
              <a:t>- Key point</a:t>
            </a:r>
          </a:p>
          <a:p/>
          <a:p>
            <a:r>
              <a:t>  An index narrows the search only as much as its values 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Writes pay for reads</a:t>
            </a:r>
          </a:p>
          <a:p/>
          <a:p>
            <a:r>
              <a:t>  Every insert updates the collection and every index on it.</a:t>
            </a:r>
          </a:p>
          <a:p/>
          <a:p>
            <a:r>
              <a:t>  Every update to an indexed field rewrites that field's index keys.</a:t>
            </a:r>
          </a:p>
          <a:p/>
          <a:p>
            <a:r>
              <a:t>  Every delete removes keys from every index.</a:t>
            </a:r>
          </a:p>
          <a:p/>
          <a:p>
            <a:r>
              <a:t>- On training_store</a:t>
            </a:r>
          </a:p>
          <a:p/>
          <a:p>
            <a:r>
              <a:t>  A new order already updates _id_ and orderNumber_unique.</a:t>
            </a:r>
          </a:p>
          <a:p/>
          <a:p>
            <a:r>
              <a:t>  After Lab 5 it also updates idx_orders_customer_date and idx_orders_fulfillment_date.</a:t>
            </a:r>
          </a:p>
          <a:p/>
          <a:p>
            <a:r>
              <a:t>- Storage and memory</a:t>
            </a:r>
          </a:p>
          <a:p/>
          <a:p>
            <a:r>
              <a:t>  Indexes take disk space and compete with the documents for the storage engine's cache in RAM.</a:t>
            </a:r>
          </a:p>
          <a:p/>
          <a:p>
            <a:r>
              <a:t>  Indexes that fit in memory are fast; ones that don't cause disk reads.</a:t>
            </a:r>
          </a:p>
          <a:p/>
          <a:p>
            <a:r>
              <a:t>- Operational cost</a:t>
            </a:r>
          </a:p>
          <a:p/>
          <a:p>
            <a:r>
              <a:t>  More indexes mean longer builds, more monitoring, more plan choices, and more data to back up and replicate.</a:t>
            </a:r>
          </a:p>
          <a:p/>
          <a:p>
            <a:r>
              <a:t>- What it shows</a:t>
            </a:r>
          </a:p>
          <a:p/>
          <a:p>
            <a:r>
              <a:t>  An insert or update on training_store.orders writes the document and then updates each index: _id, customerId, status and orderDate.</a:t>
            </a:r>
          </a:p>
          <a:p/>
          <a:p>
            <a:r>
              <a:t>  Each adds work before the write completes.</a:t>
            </a:r>
          </a:p>
          <a:p/>
          <a:p>
            <a:r>
              <a:t>- How to read it</a:t>
            </a:r>
          </a:p>
          <a:p/>
          <a:p>
            <a:r>
              <a:t>  The clocks on the red index boxes are the extra work.</a:t>
            </a:r>
          </a:p>
          <a:p/>
          <a:p>
            <a:r>
              <a:t>  The bottom bar compares two indexes, lower write cost, with six indexes, higher write cost.</a:t>
            </a:r>
          </a:p>
          <a:p/>
          <a:p>
            <a:r>
              <a:t>- About the data</a:t>
            </a:r>
          </a:p>
          <a:p/>
          <a:p>
            <a:r>
              <a:t>  The diagram's orderDate and status are generic names.</a:t>
            </a:r>
          </a:p>
          <a:p/>
          <a:p>
            <a:r>
              <a:t>  training_store orders use createdAt, paymentStatus and fulfillmentStatus.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Usage counters</a:t>
            </a:r>
          </a:p>
          <a:p/>
          <a:p>
            <a:r>
              <a:t>  $indexStats returns one document per index with accesses.ops, the number of times the planner used it, and accesses.since, when counting started.</a:t>
            </a:r>
          </a:p>
          <a:p/>
          <a:p>
            <a:r>
              <a:t>- Read with care</a:t>
            </a:r>
          </a:p>
          <a:p/>
          <a:p>
            <a:r>
              <a:t>  The counters reset when mongod restarts and are per server.</a:t>
            </a:r>
          </a:p>
          <a:p/>
          <a:p>
            <a:r>
              <a:t>  On a replica set, check every member before deciding an index is unused.</a:t>
            </a:r>
          </a:p>
          <a:p/>
          <a:p>
            <a:r>
              <a:t>- In the lab</a:t>
            </a:r>
          </a:p>
          <a:p/>
          <a:p>
            <a:r>
              <a:t>  Lab 5, Step 13 runs $indexStats on products and expects low or zero counts for some indexes, because the classroom server hasn't been running long.</a:t>
            </a:r>
          </a:p>
          <a:p/>
          <a:p>
            <a:r>
              <a:t>- What it shows</a:t>
            </a:r>
          </a:p>
          <a:p/>
          <a:p>
            <a:r>
              <a:t>  db.products.aggregate([{ $indexStats: {} }]) returns usage counters since mongod started: _id_ with 420 operations, category_1 with 185, and price_1 with 0.</a:t>
            </a:r>
          </a:p>
          <a:p/>
          <a:p>
            <a:r>
              <a:t>- How to read it</a:t>
            </a:r>
          </a:p>
          <a:p/>
          <a:p>
            <a:r>
              <a:t>  Green rows have ops greater than zero: index used.</a:t>
            </a:r>
          </a:p>
          <a:p/>
          <a:p>
            <a:r>
              <a:t>  The red row, price_1 with zero, is flagged review index.</a:t>
            </a:r>
          </a:p>
          <a:p/>
          <a:p>
            <a:r>
              <a:t>- Key point</a:t>
            </a:r>
          </a:p>
          <a:p/>
          <a:p>
            <a:r>
              <a:t>  Zero uses is a reason to investigate, not an instruction to drop.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Treat it as a change</a:t>
            </a:r>
          </a:p>
          <a:p/>
          <a:p>
            <a:r>
              <a:t>  Adding or removing an index changes performance for every query on that collection.</a:t>
            </a:r>
          </a:p>
          <a:p/>
          <a:p>
            <a:r>
              <a:t>  Plan it like a code release.</a:t>
            </a:r>
          </a:p>
          <a:p/>
          <a:p>
            <a:r>
              <a:t>- Before and after</a:t>
            </a:r>
          </a:p>
          <a:p/>
          <a:p>
            <a:r>
              <a:t>  Capture the explain() baseline and $indexStats first.</a:t>
            </a:r>
          </a:p>
          <a:p/>
          <a:p>
            <a:r>
              <a:t>  Build on staging with production-like data.</a:t>
            </a:r>
          </a:p>
          <a:p/>
          <a:p>
            <a:r>
              <a:t>  Watch CPU, I/O and latency after the production build.</a:t>
            </a:r>
          </a:p>
          <a:p/>
          <a:p>
            <a:r>
              <a:t>- Rollback</a:t>
            </a:r>
          </a:p>
          <a:p/>
          <a:p>
            <a:r>
              <a:t>  Keep both commands ready.</a:t>
            </a:r>
          </a:p>
          <a:p/>
          <a:p>
            <a:r>
              <a:t>  For a new index, rollback is dropIndex by name; for a removal, hide first, and keep the original createIndex so it can be rebuilt.</a:t>
            </a:r>
          </a:p>
          <a:p/>
          <a:p>
            <a:r>
              <a:t>- What it shows</a:t>
            </a:r>
          </a:p>
          <a:p/>
          <a:p>
            <a:r>
              <a:t>  Five steps for one index change: analyze with explain and $indexStats, test on staging, build { category: 1, price: 1 }, monitor CPU, I/O and latency, then confirm in production during a change window.</a:t>
            </a:r>
          </a:p>
          <a:p/>
          <a:p>
            <a:r>
              <a:t>- How to read it</a:t>
            </a:r>
          </a:p>
          <a:p/>
          <a:p>
            <a:r>
              <a:t>  The red loop is the rollback: if monitoring shows degradation, drop the new index and return to testing.</a:t>
            </a:r>
          </a:p>
          <a:p/>
          <a:p>
            <a:r>
              <a:t>- Key point</a:t>
            </a:r>
          </a:p>
          <a:p/>
          <a:p>
            <a:r>
              <a:t>  An index change is a production change.</a:t>
            </a:r>
          </a:p>
          <a:p/>
          <a:p>
            <a:r>
              <a:t>  It gets a plan and a rollback.</a:t>
            </a:r>
          </a:p>
          <a:p/>
          <a:p/>
          <a:p>
            <a:r>
              <a:t>USE-CASE SCENARIO</a:t>
            </a:r>
          </a:p>
          <a:p>
            <a:r>
              <a:t>-----------------</a:t>
            </a:r>
          </a:p>
          <a:p/>
          <a:p>
            <a:r>
              <a:t>A team adds { category: 1, price: 1 } to speed up the catalog page.</a:t>
            </a:r>
          </a:p>
          <a:p/>
          <a:p>
            <a:r>
              <a:t>They test it on staging, build it in the evening change window, and watch the dashboards for an hour.</a:t>
            </a:r>
          </a:p>
          <a:p/>
          <a:p>
            <a:r>
              <a:t>Catalog latency drops and write latency is unchanged, so they keep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Too many indexes</a:t>
            </a:r>
          </a:p>
          <a:p/>
          <a:p>
            <a:r>
              <a:t>  One index per field, just in case, slows every write and fills memory.</a:t>
            </a:r>
          </a:p>
          <a:p/>
          <a:p>
            <a:r>
              <a:t>  Index recurring query shapes instead.</a:t>
            </a:r>
          </a:p>
          <a:p/>
          <a:p>
            <a:r>
              <a:t>- Wrong order</a:t>
            </a:r>
          </a:p>
          <a:p/>
          <a:p>
            <a:r>
              <a:t>  { createdAt: 1, status: 1 } puts the range and sort field first.</a:t>
            </a:r>
          </a:p>
          <a:p/>
          <a:p>
            <a:r>
              <a:t>  For status equality with a date sort, equality must lead.</a:t>
            </a:r>
          </a:p>
          <a:p/>
          <a:p>
            <a:r>
              <a:t>- Unused indexes</a:t>
            </a:r>
          </a:p>
          <a:p/>
          <a:p>
            <a:r>
              <a:t>  An index nobody uses is pure cost.</a:t>
            </a:r>
          </a:p>
          <a:p/>
          <a:p>
            <a:r>
              <a:t>  Find it with $indexStats, hide it, measure, then drop it.</a:t>
            </a:r>
          </a:p>
          <a:p/>
          <a:p>
            <a:r>
              <a:t>- Three more</a:t>
            </a:r>
          </a:p>
          <a:p/>
          <a:p>
            <a:r>
              <a:t>  Using hint() as a permanent fix locks in a plan that ages badly.</a:t>
            </a:r>
          </a:p>
          <a:p/>
          <a:p>
            <a:r>
              <a:t>  Judging by time alone on tiny data proves nothing.</a:t>
            </a:r>
          </a:p>
          <a:p/>
          <a:p>
            <a:r>
              <a:t>  And an IXSCAN that examines 50,000 keys for 10 results is not efficient.</a:t>
            </a:r>
          </a:p>
          <a:p/>
          <a:p>
            <a:r>
              <a:t>- What it shows</a:t>
            </a:r>
          </a:p>
          <a:p/>
          <a:p>
            <a:r>
              <a:t>  On the left, three mistakes on orders: too many single-field indexes, the wrong field order { createdAt: 1, status: 1 }, and an unused { customerId: 1 } index.</a:t>
            </a:r>
          </a:p>
          <a:p/>
          <a:p>
            <a:r>
              <a:t>  Result: slow writes and more RAM.</a:t>
            </a:r>
          </a:p>
          <a:p/>
          <a:p>
            <a:r>
              <a:t>- How to read it</a:t>
            </a:r>
          </a:p>
          <a:p/>
          <a:p>
            <a:r>
              <a:t>  On the right, the fix for the real query, status shipped sorted by createdAt newest first: one query-aligned compound index { status: 1, createdAt: -1 }.</a:t>
            </a:r>
          </a:p>
          <a:p/>
          <a:p>
            <a:r>
              <a:t>  Result: fast reads and lean writes.</a:t>
            </a:r>
          </a:p>
          <a:p/>
          <a:p>
            <a:r>
              <a:t>- About the data</a:t>
            </a:r>
          </a:p>
          <a:p/>
          <a:p>
            <a:r>
              <a:t>  In training_store the field is fulfillmentStatus and the value is upper case, SHIPPED.</a:t>
            </a:r>
          </a:p>
          <a:p/>
          <a:p>
            <a:r>
              <a:t>  The same index there is { fulfillmentStatus: 1, createdAt: -1 }.</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Start from the pages</a:t>
            </a:r>
          </a:p>
          <a:p/>
          <a:p>
            <a:r>
              <a:t>  The catalog page filters by category and sorts by price.</a:t>
            </a:r>
          </a:p>
          <a:p/>
          <a:p>
            <a:r>
              <a:t>  The login looks a customer up by email.</a:t>
            </a:r>
          </a:p>
          <a:p/>
          <a:p>
            <a:r>
              <a:t>  The account page lists orders newest first.</a:t>
            </a:r>
          </a:p>
          <a:p/>
          <a:p>
            <a:r>
              <a:t>  The product page shows reviews.</a:t>
            </a:r>
          </a:p>
          <a:p/>
          <a:p>
            <a:r>
              <a:t>- The indexes</a:t>
            </a:r>
          </a:p>
          <a:p/>
          <a:p>
            <a:r>
              <a:t>  products { category: 1, price: 1 }, customers unique contact.email, orders { customerId: 1, createdAt: -1 } and reviews { productId: 1, rating: -1 }.</a:t>
            </a:r>
          </a:p>
          <a:p/>
          <a:p>
            <a:r>
              <a:t>- Two review indexes</a:t>
            </a:r>
          </a:p>
          <a:p/>
          <a:p>
            <a:r>
              <a:t>  The diagram sorts a product's reviews by rating, for top-rated first.</a:t>
            </a:r>
          </a:p>
          <a:p/>
          <a:p>
            <a:r>
              <a:t>  The content source also recommends { productId: 1, createdAt: -1 }, named idx_reviews_product_date, for newest first.</a:t>
            </a:r>
          </a:p>
          <a:p/>
          <a:p>
            <a:r>
              <a:t>  Build the one the product page actually uses.</a:t>
            </a:r>
          </a:p>
          <a:p/>
          <a:p>
            <a:r>
              <a:t>- Keep the integrity rules</a:t>
            </a:r>
          </a:p>
          <a:p/>
          <a:p>
            <a:r>
              <a:t>  The unique indexes on sku, customerNumber, orderNumber and email stay whatever else changes.</a:t>
            </a:r>
          </a:p>
          <a:p/>
          <a:p>
            <a:r>
              <a:t>- What it shows</a:t>
            </a:r>
          </a:p>
          <a:p/>
          <a:p>
            <a:r>
              <a:t>  The four training_store collections, each with one query-aligned index and the query it serves: category and price for the catalog, unique email to find a customer, customerId and createdAt for order history, productId and rating for product ratings.</a:t>
            </a:r>
          </a:p>
          <a:p/>
          <a:p>
            <a:r>
              <a:t>- How to read it</a:t>
            </a:r>
          </a:p>
          <a:p/>
          <a:p>
            <a:r>
              <a:t>  Read each column top to bottom: collection, index, query.</a:t>
            </a:r>
          </a:p>
          <a:p/>
          <a:p>
            <a:r>
              <a:t>  The banner sums it up: fast reads, controlled writes.</a:t>
            </a:r>
          </a:p>
          <a:p/>
          <a:p>
            <a:r>
              <a:t>- About the data</a:t>
            </a:r>
          </a:p>
          <a:p/>
          <a:p>
            <a:r>
              <a:t>  The customer email lives at contact.email in training_store, and load.js already makes it unique as email_unique.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workflow</a:t>
            </a:r>
          </a:p>
          <a:p/>
          <a:p>
            <a:r>
              <a:t>  Query patterns first: what does the application filter and sort on?</a:t>
            </a:r>
          </a:p>
          <a:p/>
          <a:p>
            <a:r>
              <a:t>  Then choose the index: single, compound or unique.</a:t>
            </a:r>
          </a:p>
          <a:p/>
          <a:p>
            <a:r>
              <a:t>- Prove it</a:t>
            </a:r>
          </a:p>
          <a:p/>
          <a:p>
            <a:r>
              <a:t>  Validate the plan with explain(): IXSCAN, keys and documents close to returned, no SORT.</a:t>
            </a:r>
          </a:p>
          <a:p/>
          <a:p>
            <a:r>
              <a:t>- Keep it healthy</a:t>
            </a:r>
          </a:p>
          <a:p/>
          <a:p>
            <a:r>
              <a:t>  Monitor usage with $indexStats, then tune: keep, reorder or remove.</a:t>
            </a:r>
          </a:p>
          <a:p/>
          <a:p>
            <a:r>
              <a:t>  The outcome is fast reads with controlled writes.</a:t>
            </a:r>
          </a:p>
          <a:p/>
          <a:p>
            <a:r>
              <a:t>- What it shows</a:t>
            </a:r>
          </a:p>
          <a:p/>
          <a:p>
            <a:r>
              <a:t>  The whole module as one workflow on training_store: query patterns, choose the index, validate the plan, monitor usage, tune, and the outcome, fast reads with controlled writes.</a:t>
            </a:r>
          </a:p>
          <a:p/>
          <a:p>
            <a:r>
              <a:t>- How to use it</a:t>
            </a:r>
          </a:p>
          <a:p/>
          <a:p>
            <a:r>
              <a:t>  Point to each step and ask the class which command belongs there: find and sort, createIndex, explain, $indexStats, hide or drop.</a:t>
            </a:r>
          </a:p>
          <a:p/>
          <a:p>
            <a:r>
              <a:t>- About the data</a:t>
            </a:r>
          </a:p>
          <a:p/>
          <a:p>
            <a:r>
              <a:t>  The orders example uses status shipped.</a:t>
            </a:r>
          </a:p>
          <a:p/>
          <a:p>
            <a:r>
              <a:t>  In training_store that is fulfillmentStatus SHIPPED.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COLLSCAN</a:t>
            </a:r>
          </a:p>
          <a:p/>
          <a:p>
            <a:r>
              <a:t>  No usable index: MongoDB read every document in the collection and tested the filter on each one.</a:t>
            </a:r>
          </a:p>
          <a:p/>
          <a:p>
            <a:r>
              <a:t>- 2. Every collection</a:t>
            </a:r>
          </a:p>
          <a:p/>
          <a:p>
            <a:r>
              <a:t>  The unique _id index, named _id_.</a:t>
            </a:r>
          </a:p>
          <a:p/>
          <a:p>
            <a:r>
              <a:t>  It can't be dropped.</a:t>
            </a:r>
          </a:p>
          <a:p/>
          <a:p>
            <a:r>
              <a:t>- 3. Field order</a:t>
            </a:r>
          </a:p>
          <a:p/>
          <a:p>
            <a:r>
              <a:t>  The index is sorted by its first field, then the next.</a:t>
            </a:r>
          </a:p>
          <a:p/>
          <a:p>
            <a:r>
              <a:t>  { category: 1, price: 1 } serves category queries; { price: 1, category: 1 } scatters each category through the price order.</a:t>
            </a:r>
          </a:p>
          <a:p/>
          <a:p>
            <a:r>
              <a:t>  Same fields, different index.</a:t>
            </a:r>
          </a:p>
          <a:p/>
          <a:p>
            <a:r>
              <a:t>- 4. ESR</a:t>
            </a:r>
          </a:p>
          <a:p/>
          <a:p>
            <a:r>
              <a:t>  Equality, Sort, Range: a starting order for compound-index fields.</a:t>
            </a:r>
          </a:p>
          <a:p/>
          <a:p>
            <a:r>
              <a:t>  Check it with explain().</a:t>
            </a:r>
          </a:p>
          <a:p/>
          <a:p>
            <a:r>
              <a:t>- 5. Multikey</a:t>
            </a:r>
          </a:p>
          <a:p/>
          <a:p>
            <a:r>
              <a:t>  tags is an array, so MongoDB stores one key per array value and sets multikey: true automatically.</a:t>
            </a:r>
          </a:p>
          <a:p/>
          <a:p>
            <a:r>
              <a:t>- 6. Partial versus sparse</a:t>
            </a:r>
          </a:p>
          <a:p/>
          <a:p>
            <a:r>
              <a:t>  Partial indexes documents that match any filter expression.</a:t>
            </a:r>
          </a:p>
          <a:p/>
          <a:p>
            <a:r>
              <a:t>  Sparse only skips documents that lack the field.</a:t>
            </a:r>
          </a:p>
          <a:p/>
          <a:p>
            <a:r>
              <a:t>- 7. TTL on orders</a:t>
            </a:r>
          </a:p>
          <a:p/>
          <a:p>
            <a:r>
              <a:t>  TTL deletes documents automatically.</a:t>
            </a:r>
          </a:p>
          <a:p/>
          <a:p>
            <a:r>
              <a:t>  Orders must be kept for business, legal and audit reasons.</a:t>
            </a:r>
          </a:p>
          <a:p/>
          <a:p>
            <a:r>
              <a:t>- 8. explain() numbers</a:t>
            </a:r>
          </a:p>
          <a:p/>
          <a:p>
            <a:r>
              <a:t>  nReturned, totalKeysExamined and totalDocsExamined, together with the stage path, especially SORT.</a:t>
            </a:r>
          </a:p>
          <a:p/>
          <a:p>
            <a:r>
              <a:t>- 9. Covered</a:t>
            </a:r>
          </a:p>
          <a:p/>
          <a:p>
            <a:r>
              <a:t>  Filter fields indexed, returned fields indexed, and _id excluded or indexed.</a:t>
            </a:r>
          </a:p>
          <a:p/>
          <a:p>
            <a:r>
              <a:t>  Confirm: IXSCAN with no FETCH.</a:t>
            </a:r>
          </a:p>
          <a:p/>
          <a:p>
            <a:r>
              <a:t>- 10. Hide first</a:t>
            </a:r>
          </a:p>
          <a:p/>
          <a:p>
            <a:r>
              <a:t>  Hiding is instant to undo and keeps the index maintained.</a:t>
            </a:r>
          </a:p>
          <a:p/>
          <a:p>
            <a:r>
              <a:t>  Dropping means a full rebuild if a query turns out to need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6.1.</a:t>
            </a:r>
          </a:p>
          <a:p/>
          <a:p>
            <a:r>
              <a:t>  The worksheet is labs/day-03/exercises/exercise-6.1-apply-equality-sort-range.md; the answer key is in its solution folder.</a:t>
            </a:r>
          </a:p>
          <a:p/>
          <a:p>
            <a:r>
              <a:t>  It is a discussion exercise; mongosh is optional.</a:t>
            </a:r>
          </a:p>
          <a:p/>
          <a:p>
            <a:r>
              <a:t>- Shape A</a:t>
            </a:r>
          </a:p>
          <a:p/>
          <a:p>
            <a:r>
              <a:t>  category and active are equality, price is both the sort and the range.</a:t>
            </a:r>
          </a:p>
          <a:p/>
          <a:p>
            <a:r>
              <a:t>  { category: 1, active: 1, price: 1 } is the same index Lab 5, Step 7 builds as idx_products_category_active_price.</a:t>
            </a:r>
          </a:p>
          <a:p/>
          <a:p>
            <a:r>
              <a:t>  On a fresh load it returns the Wireless Mouse, USB Hub and Wireless Keyboard; XBAD's string price is outside a numeric range.</a:t>
            </a:r>
          </a:p>
          <a:p/>
          <a:p>
            <a:r>
              <a:t>- Shape B</a:t>
            </a:r>
          </a:p>
          <a:p/>
          <a:p>
            <a:r>
              <a:t>  customerId is equality; createdAt is both the sort and the range, so it appears once: { customerId: 1, createdAt: -1 }.</a:t>
            </a:r>
          </a:p>
          <a:p/>
          <a:p>
            <a:r>
              <a:t>- Shape C</a:t>
            </a:r>
          </a:p>
          <a:p/>
          <a:p>
            <a:r>
              <a:t>  { paymentStatus: 1, createdAt: -1 }.</a:t>
            </a:r>
          </a:p>
          <a:p/>
          <a:p>
            <a:r>
              <a:t>  paymentStatus has only a few values, but putting equality first means the date sort and range walk one status's keys instead of mixing statuses.</a:t>
            </a:r>
          </a:p>
          <a:p/>
          <a:p>
            <a:r>
              <a:t>  Lab 5, Step 12 builds it as idx_orders_payment_created.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6.2.</a:t>
            </a:r>
          </a:p>
          <a:p/>
          <a:p>
            <a:r>
              <a:t>  The worksheet is labs/day-03/exercises/exercise-6.2-identify-covered-queries.md.</a:t>
            </a:r>
          </a:p>
          <a:p/>
          <a:p>
            <a:r>
              <a:t>  Lab 5, Step 11 lets learners test the answers in mongosh.</a:t>
            </a:r>
          </a:p>
          <a:p/>
          <a:p>
            <a:r>
              <a:t>- Q1</a:t>
            </a:r>
          </a:p>
          <a:p/>
          <a:p>
            <a:r>
              <a:t>  Filter on category, output name and price, _id off: every field is in the index, so it can be covered.</a:t>
            </a:r>
          </a:p>
          <a:p/>
          <a:p>
            <a:r>
              <a:t>- Q2 and Q3</a:t>
            </a:r>
          </a:p>
          <a:p/>
          <a:p>
            <a:r>
              <a:t>  Q2 asks for tags, which isn't in the index, so MongoDB must fetch the documents.</a:t>
            </a:r>
          </a:p>
          <a:p/>
          <a:p>
            <a:r>
              <a:t>  Q3 leaves _id on by default, and _id isn't in the index, so it fetches too.</a:t>
            </a:r>
          </a:p>
          <a:p/>
          <a:p>
            <a:r>
              <a:t>- The rule and the signal</a:t>
            </a:r>
          </a:p>
          <a:p/>
          <a:p>
            <a:r>
              <a:t>  Filter fields indexed, returned fields indexed, _id excluded or indexed.</a:t>
            </a:r>
          </a:p>
          <a:p/>
          <a:p>
            <a:r>
              <a:t>  Confirm with explain: IXSCAN and no FETCH, PROJECTION_COVERED, and totalDocsExamined 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6.3, the module's practical challenge.</a:t>
            </a:r>
          </a:p>
          <a:p/>
          <a:p>
            <a:r>
              <a:t>  The worksheet is labs/day-03/exercises/exercise-6.3-e-commerce-index-review.md.</a:t>
            </a:r>
          </a:p>
          <a:p/>
          <a:p>
            <a:r>
              <a:t>  Allow 30 to 45 minutes.</a:t>
            </a:r>
          </a:p>
          <a:p/>
          <a:p>
            <a:r>
              <a:t>- Expected table</a:t>
            </a:r>
          </a:p>
          <a:p/>
          <a:p>
            <a:r>
              <a:t>  SKU: unique sku.</a:t>
            </a:r>
          </a:p>
          <a:p/>
          <a:p>
            <a:r>
              <a:t>  Category browse: { category: 1, active: 1, price: 1 }, or partial on active.</a:t>
            </a:r>
          </a:p>
          <a:p/>
          <a:p>
            <a:r>
              <a:t>  Tags: multikey.</a:t>
            </a:r>
          </a:p>
          <a:p/>
          <a:p>
            <a:r>
              <a:t>  Email: unique contact.email.</a:t>
            </a:r>
          </a:p>
          <a:p/>
          <a:p>
            <a:r>
              <a:t>  Order number: unique orderNumber.</a:t>
            </a:r>
          </a:p>
          <a:p/>
          <a:p>
            <a:r>
              <a:t>  History: { customerId: 1, createdAt: -1 }.</a:t>
            </a:r>
          </a:p>
          <a:p/>
          <a:p>
            <a:r>
              <a:t>  Paid reporting: { paymentStatus: 1, createdAt: -1 }.</a:t>
            </a:r>
          </a:p>
          <a:p/>
          <a:p>
            <a:r>
              <a:t>  Reviews: { productId: 1, createdAt: -1 }.</a:t>
            </a:r>
          </a:p>
          <a:p/>
          <a:p>
            <a:r>
              <a:t>  Sessions: TTL on expiresAt.</a:t>
            </a:r>
          </a:p>
          <a:p/>
          <a:p>
            <a:r>
              <a:t>  Attributes: wildcard attributes.$**.</a:t>
            </a:r>
          </a:p>
          <a:p/>
          <a:p>
            <a:r>
              <a:t>- Overlap</a:t>
            </a:r>
          </a:p>
          <a:p/>
          <a:p>
            <a:r>
              <a:t>  A single { category: 1 } index overlaps with every category-leading compound.</a:t>
            </a:r>
          </a:p>
          <a:p/>
          <a:p>
            <a:r>
              <a:t>  Plan: hide it, measure, then decide.</a:t>
            </a:r>
          </a:p>
          <a:p/>
          <a:p>
            <a:r>
              <a:t>- Validation</a:t>
            </a:r>
          </a:p>
          <a:p/>
          <a:p>
            <a:r>
              <a:t>  For the catalog and history indexes: baseline explain, createIndex, explain again, compare examined with returned and check that SORT is gone.</a:t>
            </a:r>
          </a:p>
          <a:p/>
          <a:p>
            <a:r>
              <a:t>  Rollback is dropIndex by name, with the createIndex command saved.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lab</a:t>
            </a:r>
          </a:p>
          <a:p/>
          <a:p>
            <a:r>
              <a:t>  This is Day 3 Lab 5, labs/day-03/lab5/LAB-5-GUIDE.md; expected explain excerpts are in lab5/solution/LAB-5-SOLUTION.md.</a:t>
            </a:r>
          </a:p>
          <a:p/>
          <a:p>
            <a:r>
              <a:t>  Reload training_store first so Lab 3's writes are gone, then work through the six core steps.</a:t>
            </a:r>
          </a:p>
          <a:p/>
          <a:p>
            <a:r>
              <a:t>- Steps 1 to 3</a:t>
            </a:r>
          </a:p>
          <a:p/>
          <a:p>
            <a:r>
              <a:t>  Baseline explain of C101's order history, create idx_orders_customer_date, and explain again.</a:t>
            </a:r>
          </a:p>
          <a:p/>
          <a:p>
            <a:r>
              <a:t>  Expect SORT over COLLSCAN before, IXSCAN with 5 keys and 5 documents after.</a:t>
            </a:r>
          </a:p>
          <a:p/>
          <a:p>
            <a:r>
              <a:t>- Steps 4 and 5</a:t>
            </a:r>
          </a:p>
          <a:p/>
          <a:p>
            <a:r>
              <a:t>  The PROCESSING queue needs idx_orders_fulfillment_date: 3 orders.</a:t>
            </a:r>
          </a:p>
          <a:p/>
          <a:p>
            <a:r>
              <a:t>  The tags index is multikey; wireless matches P1001 and A410.</a:t>
            </a:r>
          </a:p>
          <a:p/>
          <a:p>
            <a:r>
              <a:t>- Step 6</a:t>
            </a:r>
          </a:p>
          <a:p/>
          <a:p>
            <a:r>
              <a:t>  Inventory every index: products has sku_unique, customers has customerNumber_unique and email_unique, orders has orderNumber_unique, plus the three indexes created in Steps 2, 4 and 5.</a:t>
            </a:r>
          </a:p>
          <a:p/>
          <a:p>
            <a:r>
              <a:t>  Don't drop the unique identity indexes.</a:t>
            </a:r>
          </a:p>
          <a:p/>
          <a:p>
            <a:r>
              <a:t>- Go further</a:t>
            </a:r>
          </a:p>
          <a:p/>
          <a:p>
            <a:r>
              <a:t>  Steps 7 to 13 fold in the extra module practice: the catalog index and its prefixes, a nested-field lookup, unique SKUs, partial and TTL indexes, a covered query, an aggregation, and a hide-and-test audit with $indexStats.</a:t>
            </a:r>
          </a:p>
          <a:p/>
          <a:p>
            <a:r>
              <a:t>- Data notes</a:t>
            </a:r>
          </a:p>
          <a:p/>
          <a:p>
            <a:r>
              <a:t>  A fresh load has 13 products, including the XBAD fixture, and 17 orders.</a:t>
            </a:r>
          </a:p>
          <a:p/>
          <a:p>
            <a:r>
              <a:t>  Never copy the ObjectId shown in older slides; it isn't in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Recap</a:t>
            </a:r>
          </a:p>
          <a:p/>
          <a:p>
            <a:r>
              <a:t>  We moved from collection scans to index scans, managed named indexes, designed compound indexes with ESR, used specialized types, read explain() and covered a query, and weighed what indexes cost.</a:t>
            </a:r>
          </a:p>
          <a:p/>
          <a:p>
            <a:r>
              <a:t>- Next module</a:t>
            </a:r>
          </a:p>
          <a:p/>
          <a:p>
            <a:r>
              <a:t>  Module 7 answers the next Day 3 questions: how replica sets keep data available through a failure, and how sharding spreads a collection across servers.</a:t>
            </a:r>
          </a:p>
          <a:p/>
          <a:p>
            <a:r>
              <a:t>- The link</a:t>
            </a:r>
          </a:p>
          <a:p/>
          <a:p>
            <a:r>
              <a:t>  Every sharded collection needs an index that supports its shard key, and hashed indexes, which we met today, support hashed sharding.</a:t>
            </a:r>
          </a:p>
          <a:p/>
          <a:p>
            <a:r>
              <a:t>  Good indexes still matter on every shard.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"Index the query shape, not every field."</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MODULE 6</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Indexing and Query Performance</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How MongoDB finds documents, how to design indexes around real query shapes, and how to prove the result with explain().</a:t>
            </a:r>
          </a:p>
        </p:txBody>
      </p:sp>
      <p:sp>
        <p:nvSpPr>
          <p:cNvPr id="8" name="TextBox 7"/>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MASTERING MONGODB  •  MODULE 6</a:t>
            </a:r>
          </a:p>
        </p:txBody>
      </p:sp>
      <p:sp>
        <p:nvSpPr>
          <p:cNvPr id="9" name="Rounded Rectangle 8"/>
          <p:cNvSpPr/>
          <p:nvPr/>
        </p:nvSpPr>
        <p:spPr>
          <a:xfrm>
            <a:off x="457200" y="4709160"/>
            <a:ext cx="2139696" cy="868680"/>
          </a:xfrm>
          <a:prstGeom prst="roundRect">
            <a:avLst>
              <a:gd name="adj" fmla="val 12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COLLSCAN vs IXSCAN</a:t>
            </a:r>
          </a:p>
        </p:txBody>
      </p:sp>
      <p:sp>
        <p:nvSpPr>
          <p:cNvPr id="10" name="Rounded Rectangle 9"/>
          <p:cNvSpPr/>
          <p:nvPr/>
        </p:nvSpPr>
        <p:spPr>
          <a:xfrm>
            <a:off x="2734056" y="4709160"/>
            <a:ext cx="2139696" cy="868680"/>
          </a:xfrm>
          <a:prstGeom prst="roundRect">
            <a:avLst>
              <a:gd name="adj" fmla="val 12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Compound + ESR</a:t>
            </a:r>
          </a:p>
        </p:txBody>
      </p:sp>
      <p:sp>
        <p:nvSpPr>
          <p:cNvPr id="11" name="Rounded Rectangle 10"/>
          <p:cNvSpPr/>
          <p:nvPr/>
        </p:nvSpPr>
        <p:spPr>
          <a:xfrm>
            <a:off x="5010912" y="4709160"/>
            <a:ext cx="2139696" cy="868680"/>
          </a:xfrm>
          <a:prstGeom prst="roundRect">
            <a:avLst>
              <a:gd name="adj" fmla="val 12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Specialized indexes</a:t>
            </a:r>
          </a:p>
        </p:txBody>
      </p:sp>
      <p:sp>
        <p:nvSpPr>
          <p:cNvPr id="12" name="Rounded Rectangle 11"/>
          <p:cNvSpPr/>
          <p:nvPr/>
        </p:nvSpPr>
        <p:spPr>
          <a:xfrm>
            <a:off x="7287767" y="4709160"/>
            <a:ext cx="2139696" cy="868680"/>
          </a:xfrm>
          <a:prstGeom prst="roundRect">
            <a:avLst>
              <a:gd name="adj" fmla="val 12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explain() + covered</a:t>
            </a:r>
          </a:p>
        </p:txBody>
      </p:sp>
      <p:sp>
        <p:nvSpPr>
          <p:cNvPr id="13" name="Rounded Rectangle 12"/>
          <p:cNvSpPr/>
          <p:nvPr/>
        </p:nvSpPr>
        <p:spPr>
          <a:xfrm>
            <a:off x="9564624" y="4709160"/>
            <a:ext cx="2139696" cy="868680"/>
          </a:xfrm>
          <a:prstGeom prst="roundRect">
            <a:avLst>
              <a:gd name="adj" fmla="val 12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Costs + clean-up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LEARNING OBJECTIVES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What you will be able to do by the end of this module.</a:t>
            </a:r>
          </a:p>
        </p:txBody>
      </p:sp>
      <p:sp>
        <p:nvSpPr>
          <p:cNvPr id="4" name="Oval 3"/>
          <p:cNvSpPr/>
          <p:nvPr/>
        </p:nvSpPr>
        <p:spPr>
          <a:xfrm>
            <a:off x="457200" y="1252728"/>
            <a:ext cx="382641" cy="382641"/>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527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252728"/>
            <a:ext cx="4939167" cy="382641"/>
          </a:xfrm>
          <a:prstGeom prst="rect">
            <a:avLst/>
          </a:prstGeom>
          <a:noFill/>
        </p:spPr>
        <p:txBody>
          <a:bodyPr wrap="square" anchor="t" lIns="0" rIns="0" tIns="0" bIns="0">
            <a:spAutoFit/>
          </a:bodyPr>
          <a:lstStyle/>
          <a:p>
            <a:pPr algn="l"/>
            <a:r>
              <a:rPr sz="1600" b="1" i="0">
                <a:solidFill>
                  <a:srgbClr val="D1282E"/>
                </a:solidFill>
                <a:latin typeface="Nirmala UI"/>
              </a:rPr>
              <a:t>BY THE END OF THIS MODULE, YOU CAN</a:t>
            </a:r>
          </a:p>
        </p:txBody>
      </p:sp>
      <p:sp>
        <p:nvSpPr>
          <p:cNvPr id="7" name="TextBox 6"/>
          <p:cNvSpPr txBox="1"/>
          <p:nvPr/>
        </p:nvSpPr>
        <p:spPr>
          <a:xfrm>
            <a:off x="457200" y="1759164"/>
            <a:ext cx="5394960" cy="1958217"/>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Explain how an index avoids a full scan</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Create, list, hide and drop named indexes</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Order compound fields with ESR</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Choose multikey, unique, partial, sparse, TTL</a:t>
            </a:r>
          </a:p>
          <a:p>
            <a:pPr>
              <a:spcBef>
                <a:spcPts val="0"/>
              </a:spcBef>
              <a:spcAft>
                <a:spcPts val="369"/>
              </a:spcAft>
            </a:pPr>
            <a:r>
              <a:rPr sz="1600" b="1" i="0">
                <a:solidFill>
                  <a:srgbClr val="D1282E"/>
                </a:solidFill>
                <a:latin typeface="Nirmala UI"/>
              </a:rPr>
              <a:t>5. </a:t>
            </a:r>
            <a:r>
              <a:rPr sz="1600" b="0" i="0">
                <a:solidFill>
                  <a:srgbClr val="000000"/>
                </a:solidFill>
                <a:latin typeface="Nirmala UI"/>
              </a:rPr>
              <a:t>Read explain() and build a covered query</a:t>
            </a:r>
          </a:p>
          <a:p>
            <a:pPr>
              <a:spcBef>
                <a:spcPts val="0"/>
              </a:spcBef>
              <a:spcAft>
                <a:spcPts val="369"/>
              </a:spcAft>
            </a:pPr>
            <a:r>
              <a:rPr sz="1600" b="1" i="0">
                <a:solidFill>
                  <a:srgbClr val="D1282E"/>
                </a:solidFill>
                <a:latin typeface="Nirmala UI"/>
              </a:rPr>
              <a:t>6. </a:t>
            </a:r>
            <a:r>
              <a:rPr sz="1600" b="0" i="0">
                <a:solidFill>
                  <a:srgbClr val="000000"/>
                </a:solidFill>
                <a:latin typeface="Nirmala UI"/>
              </a:rPr>
              <a:t>Weigh selectivity, write cost and usage</a:t>
            </a:r>
          </a:p>
        </p:txBody>
      </p:sp>
      <p:sp>
        <p:nvSpPr>
          <p:cNvPr id="8" name="Oval 7"/>
          <p:cNvSpPr/>
          <p:nvPr/>
        </p:nvSpPr>
        <p:spPr>
          <a:xfrm>
            <a:off x="6172200" y="125272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25272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0" name="TextBox 9"/>
          <p:cNvSpPr txBox="1"/>
          <p:nvPr/>
        </p:nvSpPr>
        <p:spPr>
          <a:xfrm>
            <a:off x="6556248" y="1243584"/>
            <a:ext cx="5148072" cy="347472"/>
          </a:xfrm>
          <a:prstGeom prst="rect">
            <a:avLst/>
          </a:prstGeom>
          <a:noFill/>
        </p:spPr>
        <p:txBody>
          <a:bodyPr wrap="square" anchor="ctr" lIns="0" rIns="0" tIns="0" bIns="0">
            <a:spAutoFit/>
          </a:bodyPr>
          <a:lstStyle/>
          <a:p>
            <a:pPr algn="l"/>
            <a:r>
              <a:rPr sz="1400" b="1" i="0">
                <a:solidFill>
                  <a:srgbClr val="D1282E"/>
                </a:solidFill>
                <a:latin typeface="Nirmala UI"/>
              </a:rPr>
              <a:t>SIX QUESTIONS THIS MODULE ANSWERS</a:t>
            </a:r>
          </a:p>
        </p:txBody>
      </p:sp>
      <p:sp>
        <p:nvSpPr>
          <p:cNvPr id="11" name="Rounded Rectangle 10"/>
          <p:cNvSpPr/>
          <p:nvPr/>
        </p:nvSpPr>
        <p:spPr>
          <a:xfrm>
            <a:off x="6172200" y="1673352"/>
            <a:ext cx="1874519" cy="457200"/>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WHY</a:t>
            </a:r>
          </a:p>
        </p:txBody>
      </p:sp>
      <p:sp>
        <p:nvSpPr>
          <p:cNvPr id="12" name="TextBox 11"/>
          <p:cNvSpPr txBox="1"/>
          <p:nvPr/>
        </p:nvSpPr>
        <p:spPr>
          <a:xfrm>
            <a:off x="8183879" y="1673352"/>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does a query read every document?</a:t>
            </a:r>
          </a:p>
        </p:txBody>
      </p:sp>
      <p:sp>
        <p:nvSpPr>
          <p:cNvPr id="13" name="Rounded Rectangle 12"/>
          <p:cNvSpPr/>
          <p:nvPr/>
        </p:nvSpPr>
        <p:spPr>
          <a:xfrm>
            <a:off x="6172200" y="2212848"/>
            <a:ext cx="1874519" cy="457200"/>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14" name="TextBox 13"/>
          <p:cNvSpPr txBox="1"/>
          <p:nvPr/>
        </p:nvSpPr>
        <p:spPr>
          <a:xfrm>
            <a:off x="8183879" y="2212848"/>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I create and manage indexes?</a:t>
            </a:r>
          </a:p>
        </p:txBody>
      </p:sp>
      <p:sp>
        <p:nvSpPr>
          <p:cNvPr id="15" name="Rounded Rectangle 14"/>
          <p:cNvSpPr/>
          <p:nvPr/>
        </p:nvSpPr>
        <p:spPr>
          <a:xfrm>
            <a:off x="6172200" y="2752344"/>
            <a:ext cx="1874519" cy="457200"/>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WHICH</a:t>
            </a:r>
          </a:p>
        </p:txBody>
      </p:sp>
      <p:sp>
        <p:nvSpPr>
          <p:cNvPr id="16" name="TextBox 15"/>
          <p:cNvSpPr txBox="1"/>
          <p:nvPr/>
        </p:nvSpPr>
        <p:spPr>
          <a:xfrm>
            <a:off x="8183879" y="2752344"/>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field order goes in an index?</a:t>
            </a:r>
          </a:p>
        </p:txBody>
      </p:sp>
      <p:sp>
        <p:nvSpPr>
          <p:cNvPr id="17" name="Rounded Rectangle 16"/>
          <p:cNvSpPr/>
          <p:nvPr/>
        </p:nvSpPr>
        <p:spPr>
          <a:xfrm>
            <a:off x="6172200" y="3291840"/>
            <a:ext cx="1874519" cy="457200"/>
          </a:xfrm>
          <a:prstGeom prst="roundRect">
            <a:avLst>
              <a:gd name="adj" fmla="val 14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WHICH</a:t>
            </a:r>
          </a:p>
        </p:txBody>
      </p:sp>
      <p:sp>
        <p:nvSpPr>
          <p:cNvPr id="18" name="TextBox 17"/>
          <p:cNvSpPr txBox="1"/>
          <p:nvPr/>
        </p:nvSpPr>
        <p:spPr>
          <a:xfrm>
            <a:off x="8183879" y="3291840"/>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index type fits the query?</a:t>
            </a:r>
          </a:p>
        </p:txBody>
      </p:sp>
      <p:sp>
        <p:nvSpPr>
          <p:cNvPr id="19" name="Rounded Rectangle 18"/>
          <p:cNvSpPr/>
          <p:nvPr/>
        </p:nvSpPr>
        <p:spPr>
          <a:xfrm>
            <a:off x="6172200" y="3831335"/>
            <a:ext cx="1874519" cy="457200"/>
          </a:xfrm>
          <a:prstGeom prst="roundRect">
            <a:avLst>
              <a:gd name="adj" fmla="val 14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WHAT</a:t>
            </a:r>
          </a:p>
        </p:txBody>
      </p:sp>
      <p:sp>
        <p:nvSpPr>
          <p:cNvPr id="20" name="TextBox 19"/>
          <p:cNvSpPr txBox="1"/>
          <p:nvPr/>
        </p:nvSpPr>
        <p:spPr>
          <a:xfrm>
            <a:off x="8183879" y="3831335"/>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does explain() really tell me?</a:t>
            </a:r>
          </a:p>
        </p:txBody>
      </p:sp>
      <p:sp>
        <p:nvSpPr>
          <p:cNvPr id="21" name="Rounded Rectangle 20"/>
          <p:cNvSpPr/>
          <p:nvPr/>
        </p:nvSpPr>
        <p:spPr>
          <a:xfrm>
            <a:off x="6172200" y="4370831"/>
            <a:ext cx="1874519" cy="457200"/>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WHEN</a:t>
            </a:r>
          </a:p>
        </p:txBody>
      </p:sp>
      <p:sp>
        <p:nvSpPr>
          <p:cNvPr id="22" name="TextBox 21"/>
          <p:cNvSpPr txBox="1"/>
          <p:nvPr/>
        </p:nvSpPr>
        <p:spPr>
          <a:xfrm>
            <a:off x="8183879" y="4370831"/>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is an index not worth its cost?</a:t>
            </a:r>
          </a:p>
        </p:txBody>
      </p:sp>
      <p:sp>
        <p:nvSpPr>
          <p:cNvPr id="23" name="Oval 22"/>
          <p:cNvSpPr/>
          <p:nvPr/>
        </p:nvSpPr>
        <p:spPr>
          <a:xfrm>
            <a:off x="457200" y="4590288"/>
            <a:ext cx="310896" cy="310896"/>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9028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5" name="TextBox 24"/>
          <p:cNvSpPr txBox="1"/>
          <p:nvPr/>
        </p:nvSpPr>
        <p:spPr>
          <a:xfrm>
            <a:off x="841248" y="4581144"/>
            <a:ext cx="10863072" cy="347472"/>
          </a:xfrm>
          <a:prstGeom prst="rect">
            <a:avLst/>
          </a:prstGeom>
          <a:noFill/>
        </p:spPr>
        <p:txBody>
          <a:bodyPr wrap="square" anchor="ctr" lIns="0" rIns="0" tIns="0" bIns="0">
            <a:spAutoFit/>
          </a:bodyPr>
          <a:lstStyle/>
          <a:p>
            <a:pPr algn="l"/>
            <a:r>
              <a:rPr sz="1400" b="1" i="0">
                <a:solidFill>
                  <a:srgbClr val="D1282E"/>
                </a:solidFill>
                <a:latin typeface="Nirmala UI"/>
              </a:rPr>
              <a:t>MODULE ROADMAP</a:t>
            </a:r>
          </a:p>
        </p:txBody>
      </p:sp>
      <p:sp>
        <p:nvSpPr>
          <p:cNvPr id="26" name="Pentagon 25"/>
          <p:cNvSpPr/>
          <p:nvPr/>
        </p:nvSpPr>
        <p:spPr>
          <a:xfrm>
            <a:off x="457200" y="5029200"/>
            <a:ext cx="2026920" cy="731520"/>
          </a:xfrm>
          <a:prstGeom prst="homePlate">
            <a:avLst>
              <a:gd name="adj" fmla="val 30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548640" y="5029200"/>
            <a:ext cx="1761744" cy="731520"/>
          </a:xfrm>
          <a:prstGeom prst="rect">
            <a:avLst/>
          </a:prstGeom>
          <a:noFill/>
        </p:spPr>
        <p:txBody>
          <a:bodyPr wrap="square" anchor="ctr" lIns="0" rIns="0" tIns="0" bIns="0">
            <a:spAutoFit/>
          </a:bodyPr>
          <a:lstStyle/>
          <a:p>
            <a:pPr algn="ctr"/>
            <a:r>
              <a:rPr sz="1300" b="1" i="0">
                <a:solidFill>
                  <a:srgbClr val="FFFFFF"/>
                </a:solidFill>
                <a:latin typeface="Nirmala UI"/>
              </a:rPr>
              <a:t>How indexes work</a:t>
            </a:r>
          </a:p>
        </p:txBody>
      </p:sp>
      <p:sp>
        <p:nvSpPr>
          <p:cNvPr id="28" name="Chevron 27"/>
          <p:cNvSpPr/>
          <p:nvPr/>
        </p:nvSpPr>
        <p:spPr>
          <a:xfrm>
            <a:off x="2301240" y="5029200"/>
            <a:ext cx="2026920" cy="731520"/>
          </a:xfrm>
          <a:prstGeom prst="chevron">
            <a:avLst>
              <a:gd name="adj" fmla="val 30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2520696" y="5029200"/>
            <a:ext cx="1633728" cy="731520"/>
          </a:xfrm>
          <a:prstGeom prst="rect">
            <a:avLst/>
          </a:prstGeom>
          <a:noFill/>
        </p:spPr>
        <p:txBody>
          <a:bodyPr wrap="square" anchor="ctr" lIns="0" rIns="0" tIns="0" bIns="0">
            <a:spAutoFit/>
          </a:bodyPr>
          <a:lstStyle/>
          <a:p>
            <a:pPr algn="ctr"/>
            <a:r>
              <a:rPr sz="1300" b="1" i="0">
                <a:solidFill>
                  <a:srgbClr val="FFFFFF"/>
                </a:solidFill>
                <a:latin typeface="Nirmala UI"/>
              </a:rPr>
              <a:t>Manage</a:t>
            </a:r>
          </a:p>
        </p:txBody>
      </p:sp>
      <p:sp>
        <p:nvSpPr>
          <p:cNvPr id="30" name="Chevron 29"/>
          <p:cNvSpPr/>
          <p:nvPr/>
        </p:nvSpPr>
        <p:spPr>
          <a:xfrm>
            <a:off x="4145280" y="5029200"/>
            <a:ext cx="2026920" cy="731520"/>
          </a:xfrm>
          <a:prstGeom prst="chevron">
            <a:avLst>
              <a:gd name="adj" fmla="val 30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1" name="TextBox 30"/>
          <p:cNvSpPr txBox="1"/>
          <p:nvPr/>
        </p:nvSpPr>
        <p:spPr>
          <a:xfrm>
            <a:off x="4364736" y="5029200"/>
            <a:ext cx="1633728" cy="731520"/>
          </a:xfrm>
          <a:prstGeom prst="rect">
            <a:avLst/>
          </a:prstGeom>
          <a:noFill/>
        </p:spPr>
        <p:txBody>
          <a:bodyPr wrap="square" anchor="ctr" lIns="0" rIns="0" tIns="0" bIns="0">
            <a:spAutoFit/>
          </a:bodyPr>
          <a:lstStyle/>
          <a:p>
            <a:pPr algn="ctr"/>
            <a:r>
              <a:rPr sz="1300" b="1" i="0">
                <a:solidFill>
                  <a:srgbClr val="FFFFFF"/>
                </a:solidFill>
                <a:latin typeface="Nirmala UI"/>
              </a:rPr>
              <a:t>Compound + ESR</a:t>
            </a:r>
          </a:p>
        </p:txBody>
      </p:sp>
      <p:sp>
        <p:nvSpPr>
          <p:cNvPr id="32" name="Chevron 31"/>
          <p:cNvSpPr/>
          <p:nvPr/>
        </p:nvSpPr>
        <p:spPr>
          <a:xfrm>
            <a:off x="5989320" y="5029200"/>
            <a:ext cx="2026920" cy="731520"/>
          </a:xfrm>
          <a:prstGeom prst="chevron">
            <a:avLst>
              <a:gd name="adj" fmla="val 30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6208776" y="5029200"/>
            <a:ext cx="1633728" cy="731520"/>
          </a:xfrm>
          <a:prstGeom prst="rect">
            <a:avLst/>
          </a:prstGeom>
          <a:noFill/>
        </p:spPr>
        <p:txBody>
          <a:bodyPr wrap="square" anchor="ctr" lIns="0" rIns="0" tIns="0" bIns="0">
            <a:spAutoFit/>
          </a:bodyPr>
          <a:lstStyle/>
          <a:p>
            <a:pPr algn="ctr"/>
            <a:r>
              <a:rPr sz="1300" b="1" i="0">
                <a:solidFill>
                  <a:srgbClr val="FFFFFF"/>
                </a:solidFill>
                <a:latin typeface="Nirmala UI"/>
              </a:rPr>
              <a:t>Specialized</a:t>
            </a:r>
          </a:p>
        </p:txBody>
      </p:sp>
      <p:sp>
        <p:nvSpPr>
          <p:cNvPr id="34" name="Chevron 33"/>
          <p:cNvSpPr/>
          <p:nvPr/>
        </p:nvSpPr>
        <p:spPr>
          <a:xfrm>
            <a:off x="7833360" y="5029200"/>
            <a:ext cx="2026920" cy="731520"/>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5" name="TextBox 34"/>
          <p:cNvSpPr txBox="1"/>
          <p:nvPr/>
        </p:nvSpPr>
        <p:spPr>
          <a:xfrm>
            <a:off x="8052816" y="5029200"/>
            <a:ext cx="1633728" cy="731520"/>
          </a:xfrm>
          <a:prstGeom prst="rect">
            <a:avLst/>
          </a:prstGeom>
          <a:noFill/>
        </p:spPr>
        <p:txBody>
          <a:bodyPr wrap="square" anchor="ctr" lIns="0" rIns="0" tIns="0" bIns="0">
            <a:spAutoFit/>
          </a:bodyPr>
          <a:lstStyle/>
          <a:p>
            <a:pPr algn="ctr"/>
            <a:r>
              <a:rPr sz="1300" b="1" i="0">
                <a:solidFill>
                  <a:srgbClr val="FFFFFF"/>
                </a:solidFill>
                <a:latin typeface="Nirmala UI"/>
              </a:rPr>
              <a:t>explain()</a:t>
            </a:r>
          </a:p>
        </p:txBody>
      </p:sp>
      <p:sp>
        <p:nvSpPr>
          <p:cNvPr id="36" name="Chevron 35"/>
          <p:cNvSpPr/>
          <p:nvPr/>
        </p:nvSpPr>
        <p:spPr>
          <a:xfrm>
            <a:off x="9677399" y="5029200"/>
            <a:ext cx="2026920" cy="731520"/>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7" name="TextBox 36"/>
          <p:cNvSpPr txBox="1"/>
          <p:nvPr/>
        </p:nvSpPr>
        <p:spPr>
          <a:xfrm>
            <a:off x="9896856" y="5029200"/>
            <a:ext cx="1633728" cy="731520"/>
          </a:xfrm>
          <a:prstGeom prst="rect">
            <a:avLst/>
          </a:prstGeom>
          <a:noFill/>
        </p:spPr>
        <p:txBody>
          <a:bodyPr wrap="square" anchor="ctr" lIns="0" rIns="0" tIns="0" bIns="0">
            <a:spAutoFit/>
          </a:bodyPr>
          <a:lstStyle/>
          <a:p>
            <a:pPr algn="ctr"/>
            <a:r>
              <a:rPr sz="1300" b="1" i="0">
                <a:solidFill>
                  <a:srgbClr val="FFFFFF"/>
                </a:solidFill>
                <a:latin typeface="Nirmala UI"/>
              </a:rPr>
              <a:t>Costs + mistakes</a:t>
            </a:r>
          </a:p>
        </p:txBody>
      </p:sp>
      <p:sp>
        <p:nvSpPr>
          <p:cNvPr id="38" name="Rounded Rectangle 3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Design indexes around the queries the application really runs — then prove them with explain().</a:t>
            </a:r>
          </a:p>
        </p:txBody>
      </p:sp>
      <p:sp>
        <p:nvSpPr>
          <p:cNvPr id="40" name="Rectangle 3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KEY TERMS FOR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Plain definitions for the words we'll use most.</a:t>
            </a:r>
          </a:p>
        </p:txBody>
      </p:sp>
      <p:sp>
        <p:nvSpPr>
          <p:cNvPr id="4" name="Rounded Rectangle 3"/>
          <p:cNvSpPr/>
          <p:nvPr/>
        </p:nvSpPr>
        <p:spPr>
          <a:xfrm>
            <a:off x="45720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408176"/>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6" name="TextBox 5"/>
          <p:cNvSpPr txBox="1"/>
          <p:nvPr/>
        </p:nvSpPr>
        <p:spPr>
          <a:xfrm>
            <a:off x="1097280" y="1371600"/>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Index</a:t>
            </a:r>
          </a:p>
        </p:txBody>
      </p:sp>
      <p:sp>
        <p:nvSpPr>
          <p:cNvPr id="7" name="TextBox 6"/>
          <p:cNvSpPr txBox="1"/>
          <p:nvPr/>
        </p:nvSpPr>
        <p:spPr>
          <a:xfrm>
            <a:off x="109728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sorted structure of field values with pointers to documents, so MongoDB can skip the full scan.</a:t>
            </a:r>
          </a:p>
        </p:txBody>
      </p:sp>
      <p:sp>
        <p:nvSpPr>
          <p:cNvPr id="8" name="Rounded Rectangle 7"/>
          <p:cNvSpPr/>
          <p:nvPr/>
        </p:nvSpPr>
        <p:spPr>
          <a:xfrm>
            <a:off x="621792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Oval 8"/>
          <p:cNvSpPr/>
          <p:nvPr/>
        </p:nvSpPr>
        <p:spPr>
          <a:xfrm>
            <a:off x="6364224" y="1408176"/>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10" name="TextBox 9"/>
          <p:cNvSpPr txBox="1"/>
          <p:nvPr/>
        </p:nvSpPr>
        <p:spPr>
          <a:xfrm>
            <a:off x="6858000" y="1371600"/>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COLLSCAN and IXSCAN</a:t>
            </a:r>
          </a:p>
        </p:txBody>
      </p:sp>
      <p:sp>
        <p:nvSpPr>
          <p:cNvPr id="11" name="TextBox 10"/>
          <p:cNvSpPr txBox="1"/>
          <p:nvPr/>
        </p:nvSpPr>
        <p:spPr>
          <a:xfrm>
            <a:off x="685800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Plan stages: read every document, or walk the matching keys of one index.</a:t>
            </a:r>
          </a:p>
        </p:txBody>
      </p:sp>
      <p:sp>
        <p:nvSpPr>
          <p:cNvPr id="12" name="Rounded Rectangle 11"/>
          <p:cNvSpPr/>
          <p:nvPr/>
        </p:nvSpPr>
        <p:spPr>
          <a:xfrm>
            <a:off x="45720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Oval 12"/>
          <p:cNvSpPr/>
          <p:nvPr/>
        </p:nvSpPr>
        <p:spPr>
          <a:xfrm>
            <a:off x="603504" y="2578608"/>
            <a:ext cx="365760" cy="365760"/>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14" name="TextBox 13"/>
          <p:cNvSpPr txBox="1"/>
          <p:nvPr/>
        </p:nvSpPr>
        <p:spPr>
          <a:xfrm>
            <a:off x="1097280" y="2542032"/>
            <a:ext cx="4709160" cy="420624"/>
          </a:xfrm>
          <a:prstGeom prst="rect">
            <a:avLst/>
          </a:prstGeom>
          <a:noFill/>
        </p:spPr>
        <p:txBody>
          <a:bodyPr wrap="square" anchor="ctr" lIns="0" rIns="0" tIns="0" bIns="0">
            <a:spAutoFit/>
          </a:bodyPr>
          <a:lstStyle/>
          <a:p>
            <a:pPr algn="l"/>
            <a:r>
              <a:rPr sz="1500" b="1" i="0">
                <a:solidFill>
                  <a:srgbClr val="0E7C7B"/>
                </a:solidFill>
                <a:latin typeface="Nirmala UI"/>
              </a:rPr>
              <a:t>Compound index</a:t>
            </a:r>
          </a:p>
        </p:txBody>
      </p:sp>
      <p:sp>
        <p:nvSpPr>
          <p:cNvPr id="15" name="TextBox 14"/>
          <p:cNvSpPr txBox="1"/>
          <p:nvPr/>
        </p:nvSpPr>
        <p:spPr>
          <a:xfrm>
            <a:off x="109728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One index on several fields, sorted by the first field, then the next.</a:t>
            </a:r>
          </a:p>
        </p:txBody>
      </p:sp>
      <p:sp>
        <p:nvSpPr>
          <p:cNvPr id="16" name="Rounded Rectangle 15"/>
          <p:cNvSpPr/>
          <p:nvPr/>
        </p:nvSpPr>
        <p:spPr>
          <a:xfrm>
            <a:off x="621792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364224" y="2578608"/>
            <a:ext cx="365760" cy="365760"/>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18" name="TextBox 17"/>
          <p:cNvSpPr txBox="1"/>
          <p:nvPr/>
        </p:nvSpPr>
        <p:spPr>
          <a:xfrm>
            <a:off x="6858000" y="2542032"/>
            <a:ext cx="4709160" cy="420624"/>
          </a:xfrm>
          <a:prstGeom prst="rect">
            <a:avLst/>
          </a:prstGeom>
          <a:noFill/>
        </p:spPr>
        <p:txBody>
          <a:bodyPr wrap="square" anchor="ctr" lIns="0" rIns="0" tIns="0" bIns="0">
            <a:spAutoFit/>
          </a:bodyPr>
          <a:lstStyle/>
          <a:p>
            <a:pPr algn="l"/>
            <a:r>
              <a:rPr sz="1500" b="1" i="0">
                <a:solidFill>
                  <a:srgbClr val="2E7D32"/>
                </a:solidFill>
                <a:latin typeface="Nirmala UI"/>
              </a:rPr>
              <a:t>ESR guideline</a:t>
            </a:r>
          </a:p>
        </p:txBody>
      </p:sp>
      <p:sp>
        <p:nvSpPr>
          <p:cNvPr id="19" name="TextBox 18"/>
          <p:cNvSpPr txBox="1"/>
          <p:nvPr/>
        </p:nvSpPr>
        <p:spPr>
          <a:xfrm>
            <a:off x="685800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Order compound fields Equality first, then Sort, then Range — a starting point, not a law.</a:t>
            </a:r>
          </a:p>
        </p:txBody>
      </p:sp>
      <p:sp>
        <p:nvSpPr>
          <p:cNvPr id="20" name="Rounded Rectangle 19"/>
          <p:cNvSpPr/>
          <p:nvPr/>
        </p:nvSpPr>
        <p:spPr>
          <a:xfrm>
            <a:off x="45720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Oval 20"/>
          <p:cNvSpPr/>
          <p:nvPr/>
        </p:nvSpPr>
        <p:spPr>
          <a:xfrm>
            <a:off x="603504" y="3749040"/>
            <a:ext cx="365760" cy="365760"/>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22" name="TextBox 21"/>
          <p:cNvSpPr txBox="1"/>
          <p:nvPr/>
        </p:nvSpPr>
        <p:spPr>
          <a:xfrm>
            <a:off x="1097280" y="3712464"/>
            <a:ext cx="4709160" cy="420624"/>
          </a:xfrm>
          <a:prstGeom prst="rect">
            <a:avLst/>
          </a:prstGeom>
          <a:noFill/>
        </p:spPr>
        <p:txBody>
          <a:bodyPr wrap="square" anchor="ctr" lIns="0" rIns="0" tIns="0" bIns="0">
            <a:spAutoFit/>
          </a:bodyPr>
          <a:lstStyle/>
          <a:p>
            <a:pPr algn="l"/>
            <a:r>
              <a:rPr sz="1500" b="1" i="0">
                <a:solidFill>
                  <a:srgbClr val="C9690C"/>
                </a:solidFill>
                <a:latin typeface="Nirmala UI"/>
              </a:rPr>
              <a:t>Multikey index</a:t>
            </a:r>
          </a:p>
        </p:txBody>
      </p:sp>
      <p:sp>
        <p:nvSpPr>
          <p:cNvPr id="23" name="TextBox 22"/>
          <p:cNvSpPr txBox="1"/>
          <p:nvPr/>
        </p:nvSpPr>
        <p:spPr>
          <a:xfrm>
            <a:off x="109728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An index on an array field: one index key for each array value.</a:t>
            </a:r>
          </a:p>
        </p:txBody>
      </p:sp>
      <p:sp>
        <p:nvSpPr>
          <p:cNvPr id="24" name="Rounded Rectangle 23"/>
          <p:cNvSpPr/>
          <p:nvPr/>
        </p:nvSpPr>
        <p:spPr>
          <a:xfrm>
            <a:off x="621792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Oval 24"/>
          <p:cNvSpPr/>
          <p:nvPr/>
        </p:nvSpPr>
        <p:spPr>
          <a:xfrm>
            <a:off x="6364224" y="3749040"/>
            <a:ext cx="365760" cy="365760"/>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26" name="TextBox 25"/>
          <p:cNvSpPr txBox="1"/>
          <p:nvPr/>
        </p:nvSpPr>
        <p:spPr>
          <a:xfrm>
            <a:off x="6858000" y="3712464"/>
            <a:ext cx="4709160" cy="420624"/>
          </a:xfrm>
          <a:prstGeom prst="rect">
            <a:avLst/>
          </a:prstGeom>
          <a:noFill/>
        </p:spPr>
        <p:txBody>
          <a:bodyPr wrap="square" anchor="ctr" lIns="0" rIns="0" tIns="0" bIns="0">
            <a:spAutoFit/>
          </a:bodyPr>
          <a:lstStyle/>
          <a:p>
            <a:pPr algn="l"/>
            <a:r>
              <a:rPr sz="1500" b="1" i="0">
                <a:solidFill>
                  <a:srgbClr val="D1282E"/>
                </a:solidFill>
                <a:latin typeface="Nirmala UI"/>
              </a:rPr>
              <a:t>explain()</a:t>
            </a:r>
          </a:p>
        </p:txBody>
      </p:sp>
      <p:sp>
        <p:nvSpPr>
          <p:cNvPr id="27" name="TextBox 26"/>
          <p:cNvSpPr txBox="1"/>
          <p:nvPr/>
        </p:nvSpPr>
        <p:spPr>
          <a:xfrm>
            <a:off x="685800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Shows the plan MongoDB chose and, with executionStats, the keys and documents it examined.</a:t>
            </a:r>
          </a:p>
        </p:txBody>
      </p:sp>
      <p:sp>
        <p:nvSpPr>
          <p:cNvPr id="28" name="Rounded Rectangle 27"/>
          <p:cNvSpPr/>
          <p:nvPr/>
        </p:nvSpPr>
        <p:spPr>
          <a:xfrm>
            <a:off x="45720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03504" y="4919472"/>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7</a:t>
            </a:r>
          </a:p>
        </p:txBody>
      </p:sp>
      <p:sp>
        <p:nvSpPr>
          <p:cNvPr id="30" name="TextBox 29"/>
          <p:cNvSpPr txBox="1"/>
          <p:nvPr/>
        </p:nvSpPr>
        <p:spPr>
          <a:xfrm>
            <a:off x="1097280" y="4882896"/>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Covered query</a:t>
            </a:r>
          </a:p>
        </p:txBody>
      </p:sp>
      <p:sp>
        <p:nvSpPr>
          <p:cNvPr id="31" name="TextBox 30"/>
          <p:cNvSpPr txBox="1"/>
          <p:nvPr/>
        </p:nvSpPr>
        <p:spPr>
          <a:xfrm>
            <a:off x="109728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Filter and returned fields all come from one index, so no document is fetched.</a:t>
            </a:r>
          </a:p>
        </p:txBody>
      </p:sp>
      <p:sp>
        <p:nvSpPr>
          <p:cNvPr id="32" name="Rounded Rectangle 31"/>
          <p:cNvSpPr/>
          <p:nvPr/>
        </p:nvSpPr>
        <p:spPr>
          <a:xfrm>
            <a:off x="621792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Oval 32"/>
          <p:cNvSpPr/>
          <p:nvPr/>
        </p:nvSpPr>
        <p:spPr>
          <a:xfrm>
            <a:off x="6364224" y="4919472"/>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8</a:t>
            </a:r>
          </a:p>
        </p:txBody>
      </p:sp>
      <p:sp>
        <p:nvSpPr>
          <p:cNvPr id="34" name="TextBox 33"/>
          <p:cNvSpPr txBox="1"/>
          <p:nvPr/>
        </p:nvSpPr>
        <p:spPr>
          <a:xfrm>
            <a:off x="6858000" y="4882896"/>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Selectivity</a:t>
            </a:r>
          </a:p>
        </p:txBody>
      </p:sp>
      <p:sp>
        <p:nvSpPr>
          <p:cNvPr id="35" name="TextBox 34"/>
          <p:cNvSpPr txBox="1"/>
          <p:nvPr/>
        </p:nvSpPr>
        <p:spPr>
          <a:xfrm>
            <a:off x="685800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How small a share of the collection a condition matches — sku is high, active is low.</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Agree on the words first — every later slide builds on them.</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FULL FORMS USED IN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abbreviation on these slides, spelled out.</a:t>
            </a:r>
          </a:p>
        </p:txBody>
      </p:sp>
      <p:sp>
        <p:nvSpPr>
          <p:cNvPr id="4" name="Rounded Rectangle 3"/>
          <p:cNvSpPr/>
          <p:nvPr/>
        </p:nvSpPr>
        <p:spPr>
          <a:xfrm>
            <a:off x="457200" y="1344168"/>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002060"/>
                </a:solidFill>
                <a:latin typeface="Nirmala UI"/>
              </a:rPr>
              <a:t>COLLSCAN</a:t>
            </a:r>
          </a:p>
        </p:txBody>
      </p:sp>
      <p:sp>
        <p:nvSpPr>
          <p:cNvPr id="5" name="TextBox 4"/>
          <p:cNvSpPr txBox="1"/>
          <p:nvPr/>
        </p:nvSpPr>
        <p:spPr>
          <a:xfrm>
            <a:off x="157276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Collection Scan</a:t>
            </a:r>
          </a:p>
        </p:txBody>
      </p:sp>
      <p:sp>
        <p:nvSpPr>
          <p:cNvPr id="6" name="Rounded Rectangle 5"/>
          <p:cNvSpPr/>
          <p:nvPr/>
        </p:nvSpPr>
        <p:spPr>
          <a:xfrm>
            <a:off x="457200" y="1911095"/>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CPU</a:t>
            </a:r>
          </a:p>
        </p:txBody>
      </p:sp>
      <p:sp>
        <p:nvSpPr>
          <p:cNvPr id="7" name="TextBox 6"/>
          <p:cNvSpPr txBox="1"/>
          <p:nvPr/>
        </p:nvSpPr>
        <p:spPr>
          <a:xfrm>
            <a:off x="157276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Central Processing Unit</a:t>
            </a:r>
          </a:p>
        </p:txBody>
      </p:sp>
      <p:sp>
        <p:nvSpPr>
          <p:cNvPr id="8" name="Rounded Rectangle 7"/>
          <p:cNvSpPr/>
          <p:nvPr/>
        </p:nvSpPr>
        <p:spPr>
          <a:xfrm>
            <a:off x="457200" y="2478024"/>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ESR</a:t>
            </a:r>
          </a:p>
        </p:txBody>
      </p:sp>
      <p:sp>
        <p:nvSpPr>
          <p:cNvPr id="9" name="TextBox 8"/>
          <p:cNvSpPr txBox="1"/>
          <p:nvPr/>
        </p:nvSpPr>
        <p:spPr>
          <a:xfrm>
            <a:off x="157276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Equality, Sort, Range</a:t>
            </a:r>
          </a:p>
        </p:txBody>
      </p:sp>
      <p:sp>
        <p:nvSpPr>
          <p:cNvPr id="10" name="Rounded Rectangle 9"/>
          <p:cNvSpPr/>
          <p:nvPr/>
        </p:nvSpPr>
        <p:spPr>
          <a:xfrm>
            <a:off x="4282440" y="1344168"/>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I/O</a:t>
            </a:r>
          </a:p>
        </p:txBody>
      </p:sp>
      <p:sp>
        <p:nvSpPr>
          <p:cNvPr id="11" name="TextBox 10"/>
          <p:cNvSpPr txBox="1"/>
          <p:nvPr/>
        </p:nvSpPr>
        <p:spPr>
          <a:xfrm>
            <a:off x="539800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Input/Output</a:t>
            </a:r>
          </a:p>
        </p:txBody>
      </p:sp>
      <p:sp>
        <p:nvSpPr>
          <p:cNvPr id="12" name="Rounded Rectangle 11"/>
          <p:cNvSpPr/>
          <p:nvPr/>
        </p:nvSpPr>
        <p:spPr>
          <a:xfrm>
            <a:off x="4282440" y="1911095"/>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5B3A9E"/>
                </a:solidFill>
                <a:latin typeface="Nirmala UI"/>
              </a:rPr>
              <a:t>IXSCAN</a:t>
            </a:r>
          </a:p>
        </p:txBody>
      </p:sp>
      <p:sp>
        <p:nvSpPr>
          <p:cNvPr id="13" name="TextBox 12"/>
          <p:cNvSpPr txBox="1"/>
          <p:nvPr/>
        </p:nvSpPr>
        <p:spPr>
          <a:xfrm>
            <a:off x="539800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Index Scan</a:t>
            </a:r>
          </a:p>
        </p:txBody>
      </p:sp>
      <p:sp>
        <p:nvSpPr>
          <p:cNvPr id="14" name="Rounded Rectangle 13"/>
          <p:cNvSpPr/>
          <p:nvPr/>
        </p:nvSpPr>
        <p:spPr>
          <a:xfrm>
            <a:off x="4282440" y="2478024"/>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JSON</a:t>
            </a:r>
          </a:p>
        </p:txBody>
      </p:sp>
      <p:sp>
        <p:nvSpPr>
          <p:cNvPr id="15" name="TextBox 14"/>
          <p:cNvSpPr txBox="1"/>
          <p:nvPr/>
        </p:nvSpPr>
        <p:spPr>
          <a:xfrm>
            <a:off x="539800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JavaScript Object Notation</a:t>
            </a:r>
          </a:p>
        </p:txBody>
      </p:sp>
      <p:sp>
        <p:nvSpPr>
          <p:cNvPr id="16" name="Rounded Rectangle 15"/>
          <p:cNvSpPr/>
          <p:nvPr/>
        </p:nvSpPr>
        <p:spPr>
          <a:xfrm>
            <a:off x="8107680" y="1344168"/>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RAM</a:t>
            </a:r>
          </a:p>
        </p:txBody>
      </p:sp>
      <p:sp>
        <p:nvSpPr>
          <p:cNvPr id="17" name="TextBox 16"/>
          <p:cNvSpPr txBox="1"/>
          <p:nvPr/>
        </p:nvSpPr>
        <p:spPr>
          <a:xfrm>
            <a:off x="922324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Random Access Memory</a:t>
            </a:r>
          </a:p>
        </p:txBody>
      </p:sp>
      <p:sp>
        <p:nvSpPr>
          <p:cNvPr id="18" name="Rounded Rectangle 17"/>
          <p:cNvSpPr/>
          <p:nvPr/>
        </p:nvSpPr>
        <p:spPr>
          <a:xfrm>
            <a:off x="8107680" y="1911095"/>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SKU</a:t>
            </a:r>
          </a:p>
        </p:txBody>
      </p:sp>
      <p:sp>
        <p:nvSpPr>
          <p:cNvPr id="19" name="TextBox 18"/>
          <p:cNvSpPr txBox="1"/>
          <p:nvPr/>
        </p:nvSpPr>
        <p:spPr>
          <a:xfrm>
            <a:off x="922324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Stock Keeping Unit</a:t>
            </a:r>
          </a:p>
        </p:txBody>
      </p:sp>
      <p:sp>
        <p:nvSpPr>
          <p:cNvPr id="20" name="Rounded Rectangle 19"/>
          <p:cNvSpPr/>
          <p:nvPr/>
        </p:nvSpPr>
        <p:spPr>
          <a:xfrm>
            <a:off x="8107680" y="2478024"/>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TTL</a:t>
            </a:r>
          </a:p>
        </p:txBody>
      </p:sp>
      <p:sp>
        <p:nvSpPr>
          <p:cNvPr id="21" name="TextBox 20"/>
          <p:cNvSpPr txBox="1"/>
          <p:nvPr/>
        </p:nvSpPr>
        <p:spPr>
          <a:xfrm>
            <a:off x="922324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Time To Live</a:t>
            </a:r>
          </a:p>
        </p:txBody>
      </p:sp>
      <p:sp>
        <p:nvSpPr>
          <p:cNvPr id="22" name="Rounded Rectangle 2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When an abbreviation isn't clear, the full form is on this slide.</a:t>
            </a:r>
          </a:p>
        </p:txBody>
      </p:sp>
      <p:sp>
        <p:nvSpPr>
          <p:cNvPr id="24" name="Rectangle 2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FROM MODULE 5 TO MODULE 6</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2 taught us to ask questions — Day 3 makes them fast.</a:t>
            </a:r>
          </a:p>
        </p:txBody>
      </p:sp>
      <p:sp>
        <p:nvSpPr>
          <p:cNvPr id="4" name="Rounded Rectangle 3"/>
          <p:cNvSpPr/>
          <p:nvPr/>
        </p:nvSpPr>
        <p:spPr>
          <a:xfrm>
            <a:off x="457200" y="1298448"/>
            <a:ext cx="46634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46634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4389120" cy="420624"/>
          </a:xfrm>
          <a:prstGeom prst="rect">
            <a:avLst/>
          </a:prstGeom>
          <a:noFill/>
        </p:spPr>
        <p:txBody>
          <a:bodyPr wrap="square" anchor="ctr" lIns="0" rIns="0" tIns="0" bIns="0">
            <a:spAutoFit/>
          </a:bodyPr>
          <a:lstStyle/>
          <a:p>
            <a:pPr algn="l"/>
            <a:r>
              <a:rPr sz="1400" b="1" i="0">
                <a:solidFill>
                  <a:srgbClr val="FFFFFF"/>
                </a:solidFill>
                <a:latin typeface="Nirmala UI"/>
              </a:rPr>
              <a:t>MODULE 5 GAVE US</a:t>
            </a:r>
          </a:p>
        </p:txBody>
      </p:sp>
      <p:sp>
        <p:nvSpPr>
          <p:cNvPr id="7" name="Oval 6"/>
          <p:cNvSpPr/>
          <p:nvPr/>
        </p:nvSpPr>
        <p:spPr>
          <a:xfrm>
            <a:off x="640080" y="196596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Pipelines of $match, $group and $sort</a:t>
            </a:r>
          </a:p>
        </p:txBody>
      </p:sp>
      <p:sp>
        <p:nvSpPr>
          <p:cNvPr id="9" name="Oval 8"/>
          <p:cNvSpPr/>
          <p:nvPr/>
        </p:nvSpPr>
        <p:spPr>
          <a:xfrm>
            <a:off x="640080" y="25328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41448"/>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Reports over orders and reviews</a:t>
            </a:r>
          </a:p>
        </p:txBody>
      </p:sp>
      <p:sp>
        <p:nvSpPr>
          <p:cNvPr id="11" name="Oval 10"/>
          <p:cNvSpPr/>
          <p:nvPr/>
        </p:nvSpPr>
        <p:spPr>
          <a:xfrm>
            <a:off x="640080" y="309981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08376"/>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$lookup joins between collections</a:t>
            </a:r>
          </a:p>
        </p:txBody>
      </p:sp>
      <p:sp>
        <p:nvSpPr>
          <p:cNvPr id="13" name="Oval 12"/>
          <p:cNvSpPr/>
          <p:nvPr/>
        </p:nvSpPr>
        <p:spPr>
          <a:xfrm>
            <a:off x="640080" y="3666744"/>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575303"/>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Filter early to shrink the work</a:t>
            </a:r>
          </a:p>
        </p:txBody>
      </p:sp>
      <p:sp>
        <p:nvSpPr>
          <p:cNvPr id="15" name="Oval 14"/>
          <p:cNvSpPr/>
          <p:nvPr/>
        </p:nvSpPr>
        <p:spPr>
          <a:xfrm>
            <a:off x="640080" y="4233671"/>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142231"/>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Results checked against real data</a:t>
            </a:r>
          </a:p>
        </p:txBody>
      </p:sp>
      <p:sp>
        <p:nvSpPr>
          <p:cNvPr id="17" name="Rounded Rectangle 16"/>
          <p:cNvSpPr/>
          <p:nvPr/>
        </p:nvSpPr>
        <p:spPr>
          <a:xfrm>
            <a:off x="594360" y="4690872"/>
            <a:ext cx="4389120" cy="96012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777240" y="4690872"/>
            <a:ext cx="4023359" cy="960120"/>
          </a:xfrm>
          <a:prstGeom prst="rect">
            <a:avLst/>
          </a:prstGeom>
          <a:noFill/>
        </p:spPr>
        <p:txBody>
          <a:bodyPr wrap="square" anchor="ctr" lIns="0" rIns="0" tIns="0" bIns="0">
            <a:spAutoFit/>
          </a:bodyPr>
          <a:lstStyle/>
          <a:p>
            <a:pPr algn="l"/>
            <a:r>
              <a:rPr sz="1400" b="1" i="0">
                <a:solidFill>
                  <a:srgbClr val="D1282E"/>
                </a:solidFill>
                <a:latin typeface="Nirmala UI"/>
              </a:rPr>
              <a:t>NOW   </a:t>
            </a:r>
            <a:r>
              <a:rPr sz="1400" b="0" i="0">
                <a:solidFill>
                  <a:srgbClr val="000000"/>
                </a:solidFill>
                <a:latin typeface="Nirmala UI"/>
              </a:rPr>
              <a:t>Index the query shapes Day 2 wrote — and prove each one with explain().</a:t>
            </a:r>
          </a:p>
        </p:txBody>
      </p:sp>
      <p:sp>
        <p:nvSpPr>
          <p:cNvPr id="19" name="Oval 18"/>
          <p:cNvSpPr/>
          <p:nvPr/>
        </p:nvSpPr>
        <p:spPr>
          <a:xfrm>
            <a:off x="5486400" y="1298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1" name="TextBox 20"/>
          <p:cNvSpPr txBox="1"/>
          <p:nvPr/>
        </p:nvSpPr>
        <p:spPr>
          <a:xfrm>
            <a:off x="5870448" y="1289304"/>
            <a:ext cx="5833872" cy="347472"/>
          </a:xfrm>
          <a:prstGeom prst="rect">
            <a:avLst/>
          </a:prstGeom>
          <a:noFill/>
        </p:spPr>
        <p:txBody>
          <a:bodyPr wrap="square" anchor="ctr" lIns="0" rIns="0" tIns="0" bIns="0">
            <a:spAutoFit/>
          </a:bodyPr>
          <a:lstStyle/>
          <a:p>
            <a:pPr algn="l"/>
            <a:r>
              <a:rPr sz="1400" b="1" i="0">
                <a:solidFill>
                  <a:srgbClr val="D1282E"/>
                </a:solidFill>
                <a:latin typeface="Nirmala UI"/>
              </a:rPr>
              <a:t>OUR PATH THROUGH MODULE 6</a:t>
            </a:r>
          </a:p>
        </p:txBody>
      </p:sp>
      <p:sp>
        <p:nvSpPr>
          <p:cNvPr id="22" name="Oval 21"/>
          <p:cNvSpPr/>
          <p:nvPr/>
        </p:nvSpPr>
        <p:spPr>
          <a:xfrm>
            <a:off x="5486400" y="188823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23" name="TextBox 22"/>
          <p:cNvSpPr txBox="1"/>
          <p:nvPr/>
        </p:nvSpPr>
        <p:spPr>
          <a:xfrm>
            <a:off x="5943600" y="17190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See why a query reads every document</a:t>
            </a:r>
          </a:p>
        </p:txBody>
      </p:sp>
      <p:sp>
        <p:nvSpPr>
          <p:cNvPr id="24" name="Rounded Rectangle 23"/>
          <p:cNvSpPr/>
          <p:nvPr/>
        </p:nvSpPr>
        <p:spPr>
          <a:xfrm>
            <a:off x="10332720" y="1879092"/>
            <a:ext cx="1371600" cy="365760"/>
          </a:xfrm>
          <a:prstGeom prst="roundRect">
            <a:avLst>
              <a:gd name="adj" fmla="val 14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02060"/>
                </a:solidFill>
                <a:latin typeface="Nirmala UI"/>
              </a:rPr>
              <a:t>Part 1</a:t>
            </a:r>
          </a:p>
        </p:txBody>
      </p:sp>
      <p:sp>
        <p:nvSpPr>
          <p:cNvPr id="25" name="Oval 24"/>
          <p:cNvSpPr/>
          <p:nvPr/>
        </p:nvSpPr>
        <p:spPr>
          <a:xfrm>
            <a:off x="5486400" y="2574036"/>
            <a:ext cx="347472" cy="347472"/>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26" name="TextBox 25"/>
          <p:cNvSpPr txBox="1"/>
          <p:nvPr/>
        </p:nvSpPr>
        <p:spPr>
          <a:xfrm>
            <a:off x="5943600" y="24048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Create, list, hide and drop indexes</a:t>
            </a:r>
          </a:p>
        </p:txBody>
      </p:sp>
      <p:sp>
        <p:nvSpPr>
          <p:cNvPr id="27" name="Rounded Rectangle 26"/>
          <p:cNvSpPr/>
          <p:nvPr/>
        </p:nvSpPr>
        <p:spPr>
          <a:xfrm>
            <a:off x="10332720" y="2564891"/>
            <a:ext cx="1371600" cy="365760"/>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Part 2</a:t>
            </a:r>
          </a:p>
        </p:txBody>
      </p:sp>
      <p:sp>
        <p:nvSpPr>
          <p:cNvPr id="28" name="Oval 27"/>
          <p:cNvSpPr/>
          <p:nvPr/>
        </p:nvSpPr>
        <p:spPr>
          <a:xfrm>
            <a:off x="5486400" y="3259836"/>
            <a:ext cx="347472" cy="347472"/>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29" name="TextBox 28"/>
          <p:cNvSpPr txBox="1"/>
          <p:nvPr/>
        </p:nvSpPr>
        <p:spPr>
          <a:xfrm>
            <a:off x="5943600" y="30906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Order compound fields with ESR</a:t>
            </a:r>
          </a:p>
        </p:txBody>
      </p:sp>
      <p:sp>
        <p:nvSpPr>
          <p:cNvPr id="30" name="Rounded Rectangle 29"/>
          <p:cNvSpPr/>
          <p:nvPr/>
        </p:nvSpPr>
        <p:spPr>
          <a:xfrm>
            <a:off x="10332720" y="3250691"/>
            <a:ext cx="1371600" cy="365760"/>
          </a:xfrm>
          <a:prstGeom prst="roundRect">
            <a:avLst>
              <a:gd name="adj" fmla="val 14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E7C7B"/>
                </a:solidFill>
                <a:latin typeface="Nirmala UI"/>
              </a:rPr>
              <a:t>Part 3</a:t>
            </a:r>
          </a:p>
        </p:txBody>
      </p:sp>
      <p:sp>
        <p:nvSpPr>
          <p:cNvPr id="31" name="Oval 30"/>
          <p:cNvSpPr/>
          <p:nvPr/>
        </p:nvSpPr>
        <p:spPr>
          <a:xfrm>
            <a:off x="5486400" y="3945635"/>
            <a:ext cx="347472" cy="34747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32" name="TextBox 31"/>
          <p:cNvSpPr txBox="1"/>
          <p:nvPr/>
        </p:nvSpPr>
        <p:spPr>
          <a:xfrm>
            <a:off x="5943600" y="37764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Pick a specialized index type</a:t>
            </a:r>
          </a:p>
        </p:txBody>
      </p:sp>
      <p:sp>
        <p:nvSpPr>
          <p:cNvPr id="33" name="Rounded Rectangle 32"/>
          <p:cNvSpPr/>
          <p:nvPr/>
        </p:nvSpPr>
        <p:spPr>
          <a:xfrm>
            <a:off x="10332720" y="3936491"/>
            <a:ext cx="1371600" cy="365760"/>
          </a:xfrm>
          <a:prstGeom prst="roundRect">
            <a:avLst>
              <a:gd name="adj" fmla="val 14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2E7D32"/>
                </a:solidFill>
                <a:latin typeface="Nirmala UI"/>
              </a:rPr>
              <a:t>Part 4</a:t>
            </a:r>
          </a:p>
        </p:txBody>
      </p:sp>
      <p:sp>
        <p:nvSpPr>
          <p:cNvPr id="34" name="Oval 33"/>
          <p:cNvSpPr/>
          <p:nvPr/>
        </p:nvSpPr>
        <p:spPr>
          <a:xfrm>
            <a:off x="5486400" y="4631436"/>
            <a:ext cx="347472" cy="347472"/>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35" name="TextBox 34"/>
          <p:cNvSpPr txBox="1"/>
          <p:nvPr/>
        </p:nvSpPr>
        <p:spPr>
          <a:xfrm>
            <a:off x="5943600" y="44622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Read explain() and cover a query</a:t>
            </a:r>
          </a:p>
        </p:txBody>
      </p:sp>
      <p:sp>
        <p:nvSpPr>
          <p:cNvPr id="36" name="Rounded Rectangle 35"/>
          <p:cNvSpPr/>
          <p:nvPr/>
        </p:nvSpPr>
        <p:spPr>
          <a:xfrm>
            <a:off x="10332720" y="4622292"/>
            <a:ext cx="1371600" cy="365760"/>
          </a:xfrm>
          <a:prstGeom prst="roundRect">
            <a:avLst>
              <a:gd name="adj" fmla="val 14000"/>
            </a:avLst>
          </a:prstGeom>
          <a:solidFill>
            <a:srgbClr val="FDF0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C9690C"/>
                </a:solidFill>
                <a:latin typeface="Nirmala UI"/>
              </a:rPr>
              <a:t>Part 5</a:t>
            </a:r>
          </a:p>
        </p:txBody>
      </p:sp>
      <p:sp>
        <p:nvSpPr>
          <p:cNvPr id="37" name="Oval 36"/>
          <p:cNvSpPr/>
          <p:nvPr/>
        </p:nvSpPr>
        <p:spPr>
          <a:xfrm>
            <a:off x="5486400" y="5317236"/>
            <a:ext cx="347472" cy="34747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38" name="TextBox 37"/>
          <p:cNvSpPr txBox="1"/>
          <p:nvPr/>
        </p:nvSpPr>
        <p:spPr>
          <a:xfrm>
            <a:off x="5943600" y="5148072"/>
            <a:ext cx="4297680" cy="685800"/>
          </a:xfrm>
          <a:prstGeom prst="rect">
            <a:avLst/>
          </a:prstGeom>
          <a:noFill/>
        </p:spPr>
        <p:txBody>
          <a:bodyPr wrap="square" anchor="ctr" lIns="0" rIns="0" tIns="0" bIns="0">
            <a:spAutoFit/>
          </a:bodyPr>
          <a:lstStyle/>
          <a:p>
            <a:pPr algn="l"/>
            <a:r>
              <a:rPr sz="1500" b="0" i="0">
                <a:solidFill>
                  <a:srgbClr val="000000"/>
                </a:solidFill>
                <a:latin typeface="Nirmala UI"/>
              </a:rPr>
              <a:t>Weigh selectivity, costs and mistakes</a:t>
            </a:r>
          </a:p>
        </p:txBody>
      </p:sp>
      <p:sp>
        <p:nvSpPr>
          <p:cNvPr id="39" name="Rounded Rectangle 38"/>
          <p:cNvSpPr/>
          <p:nvPr/>
        </p:nvSpPr>
        <p:spPr>
          <a:xfrm>
            <a:off x="10332720" y="5308092"/>
            <a:ext cx="1371600" cy="365760"/>
          </a:xfrm>
          <a:prstGeom prst="roundRect">
            <a:avLst>
              <a:gd name="adj" fmla="val 14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1282E"/>
                </a:solidFill>
                <a:latin typeface="Nirmala UI"/>
              </a:rPr>
              <a:t>Part 6</a:t>
            </a:r>
          </a:p>
        </p:txBody>
      </p:sp>
      <p:sp>
        <p:nvSpPr>
          <p:cNvPr id="40" name="Rounded Rectangle 3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Module 5 asked the questions; Module 6 makes MongoDB answer them without reading every document.</a:t>
            </a:r>
          </a:p>
        </p:txBody>
      </p:sp>
      <p:sp>
        <p:nvSpPr>
          <p:cNvPr id="42" name="Rectangle 4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1: HOW INDEXES WORK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Start with how MongoDB finds a document at all.</a:t>
            </a:r>
          </a:p>
        </p:txBody>
      </p:sp>
      <p:sp>
        <p:nvSpPr>
          <p:cNvPr id="4" name="Pentagon 3"/>
          <p:cNvSpPr/>
          <p:nvPr/>
        </p:nvSpPr>
        <p:spPr>
          <a:xfrm>
            <a:off x="457200" y="1298448"/>
            <a:ext cx="2022348" cy="713232"/>
          </a:xfrm>
          <a:prstGeom prst="homePlate">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Part 1</a:t>
            </a:r>
          </a:p>
          <a:p>
            <a:pPr algn="ctr"/>
            <a:r>
              <a:rPr sz="1300" b="1" i="0">
                <a:solidFill>
                  <a:srgbClr val="FFFFFF"/>
                </a:solidFill>
                <a:latin typeface="Nirmala UI"/>
              </a:rPr>
              <a:t>How indexes work</a:t>
            </a:r>
          </a:p>
        </p:txBody>
      </p:sp>
      <p:sp>
        <p:nvSpPr>
          <p:cNvPr id="6" name="Chevron 5"/>
          <p:cNvSpPr/>
          <p:nvPr/>
        </p:nvSpPr>
        <p:spPr>
          <a:xfrm>
            <a:off x="2302154"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Manage indexes</a:t>
            </a:r>
          </a:p>
        </p:txBody>
      </p:sp>
      <p:sp>
        <p:nvSpPr>
          <p:cNvPr id="8" name="Chevron 7"/>
          <p:cNvSpPr/>
          <p:nvPr/>
        </p:nvSpPr>
        <p:spPr>
          <a:xfrm>
            <a:off x="4147108"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Compound + ESR</a:t>
            </a:r>
          </a:p>
        </p:txBody>
      </p:sp>
      <p:sp>
        <p:nvSpPr>
          <p:cNvPr id="10" name="Chevron 9"/>
          <p:cNvSpPr/>
          <p:nvPr/>
        </p:nvSpPr>
        <p:spPr>
          <a:xfrm>
            <a:off x="5992063"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Specialized types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explain()</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Costs + mistakes</a:t>
            </a:r>
          </a:p>
        </p:txBody>
      </p:sp>
      <p:sp>
        <p:nvSpPr>
          <p:cNvPr id="16" name="Rounded Rectangle 15"/>
          <p:cNvSpPr/>
          <p:nvPr/>
        </p:nvSpPr>
        <p:spPr>
          <a:xfrm>
            <a:off x="457200" y="2304288"/>
            <a:ext cx="4937760" cy="21031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Module 5 built pipelines over our data</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Every query so far ran without asking how</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does MongoDB find documents — and why does an index make it faster?</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Why query performance matters</a:t>
            </a:r>
          </a:p>
        </p:txBody>
      </p:sp>
      <p:sp>
        <p:nvSpPr>
          <p:cNvPr id="29" name="Oval 28"/>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Collection scan versus index scan</a:t>
            </a:r>
          </a:p>
        </p:txBody>
      </p:sp>
      <p:sp>
        <p:nvSpPr>
          <p:cNvPr id="31" name="Oval 30"/>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What an index looks like inside</a:t>
            </a:r>
          </a:p>
        </p:txBody>
      </p:sp>
      <p:sp>
        <p:nvSpPr>
          <p:cNvPr id="33" name="Oval 32"/>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The _id index every collection has</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WHY QUERY PERFORMANCE MATTERS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The same query: an indexed lookup or a full collection scan.</a:t>
            </a:r>
          </a:p>
        </p:txBody>
      </p:sp>
      <p:sp>
        <p:nvSpPr>
          <p:cNvPr id="4" name="Rounded Rectangle 3"/>
          <p:cNvSpPr/>
          <p:nvPr/>
        </p:nvSpPr>
        <p:spPr>
          <a:xfrm>
            <a:off x="475488" y="2312587"/>
            <a:ext cx="7415783" cy="2507145"/>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3" descr="image.jpg"/>
          <p:cNvPicPr>
            <a:picLocks noChangeAspect="1"/>
          </p:cNvPicPr>
          <p:nvPr/>
        </p:nvPicPr>
        <p:blipFill>
          <a:blip r:embed="rId2"/>
          <a:stretch>
            <a:fillRect/>
          </a:stretch>
        </p:blipFill>
        <p:spPr>
          <a:xfrm>
            <a:off x="548640" y="2385739"/>
            <a:ext cx="7269480" cy="2360841"/>
          </a:xfrm>
          <a:prstGeom prst="rect">
            <a:avLst/>
          </a:prstGeom>
        </p:spPr>
      </p:pic>
      <p:sp>
        <p:nvSpPr>
          <p:cNvPr id="6" name="Rounded Rectangle 5"/>
          <p:cNvSpPr/>
          <p:nvPr/>
        </p:nvSpPr>
        <p:spPr>
          <a:xfrm>
            <a:off x="8183880" y="1298448"/>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Indexed lookup</a:t>
            </a:r>
          </a:p>
        </p:txBody>
      </p:sp>
      <p:sp>
        <p:nvSpPr>
          <p:cNvPr id="8" name="TextBox 7"/>
          <p:cNvSpPr txBox="1"/>
          <p:nvPr/>
        </p:nvSpPr>
        <p:spPr>
          <a:xfrm>
            <a:off x="8321040" y="1664208"/>
            <a:ext cx="3246120" cy="625601"/>
          </a:xfrm>
          <a:prstGeom prst="rect">
            <a:avLst/>
          </a:prstGeom>
          <a:noFill/>
        </p:spPr>
        <p:txBody>
          <a:bodyPr wrap="square" anchor="t" lIns="0" rIns="0" tIns="0" bIns="0">
            <a:spAutoFit/>
          </a:bodyPr>
          <a:lstStyle/>
          <a:p>
            <a:pPr algn="l"/>
            <a:r>
              <a:rPr sz="1200" b="0" i="0">
                <a:solidFill>
                  <a:srgbClr val="000000"/>
                </a:solidFill>
                <a:latin typeface="Nirmala UI"/>
              </a:rPr>
              <a:t>Few documents read — fast, predictable responses.</a:t>
            </a:r>
          </a:p>
        </p:txBody>
      </p:sp>
      <p:sp>
        <p:nvSpPr>
          <p:cNvPr id="9" name="Rounded Rectangle 8"/>
          <p:cNvSpPr/>
          <p:nvPr/>
        </p:nvSpPr>
        <p:spPr>
          <a:xfrm>
            <a:off x="8183880" y="2472690"/>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275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Collection scan</a:t>
            </a:r>
          </a:p>
        </p:txBody>
      </p:sp>
      <p:sp>
        <p:nvSpPr>
          <p:cNvPr id="11" name="TextBox 10"/>
          <p:cNvSpPr txBox="1"/>
          <p:nvPr/>
        </p:nvSpPr>
        <p:spPr>
          <a:xfrm>
            <a:off x="8321040" y="2838450"/>
            <a:ext cx="3246120" cy="625601"/>
          </a:xfrm>
          <a:prstGeom prst="rect">
            <a:avLst/>
          </a:prstGeom>
          <a:noFill/>
        </p:spPr>
        <p:txBody>
          <a:bodyPr wrap="square" anchor="t" lIns="0" rIns="0" tIns="0" bIns="0">
            <a:spAutoFit/>
          </a:bodyPr>
          <a:lstStyle/>
          <a:p>
            <a:pPr algn="l"/>
            <a:r>
              <a:rPr sz="1200" b="0" i="0">
                <a:solidFill>
                  <a:srgbClr val="000000"/>
                </a:solidFill>
                <a:latin typeface="Nirmala UI"/>
              </a:rPr>
              <a:t>Every document read — the cost grows with the collection.</a:t>
            </a:r>
          </a:p>
        </p:txBody>
      </p:sp>
      <p:sp>
        <p:nvSpPr>
          <p:cNvPr id="12" name="Rounded Rectangle 11"/>
          <p:cNvSpPr/>
          <p:nvPr/>
        </p:nvSpPr>
        <p:spPr>
          <a:xfrm>
            <a:off x="8183880" y="3646932"/>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0179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At scale</a:t>
            </a:r>
          </a:p>
        </p:txBody>
      </p:sp>
      <p:sp>
        <p:nvSpPr>
          <p:cNvPr id="14" name="TextBox 13"/>
          <p:cNvSpPr txBox="1"/>
          <p:nvPr/>
        </p:nvSpPr>
        <p:spPr>
          <a:xfrm>
            <a:off x="8321040" y="4012692"/>
            <a:ext cx="3246120" cy="625601"/>
          </a:xfrm>
          <a:prstGeom prst="rect">
            <a:avLst/>
          </a:prstGeom>
          <a:noFill/>
        </p:spPr>
        <p:txBody>
          <a:bodyPr wrap="square" anchor="t" lIns="0" rIns="0" tIns="0" bIns="0">
            <a:spAutoFit/>
          </a:bodyPr>
          <a:lstStyle/>
          <a:p>
            <a:pPr algn="l"/>
            <a:r>
              <a:rPr sz="1200" b="0" i="0">
                <a:solidFill>
                  <a:srgbClr val="000000"/>
                </a:solidFill>
                <a:latin typeface="Nirmala UI"/>
              </a:rPr>
              <a:t>Slow queries queue up: users wait and the server works harder.</a:t>
            </a:r>
          </a:p>
        </p:txBody>
      </p:sp>
      <p:sp>
        <p:nvSpPr>
          <p:cNvPr id="15" name="Rounded Rectangle 14"/>
          <p:cNvSpPr/>
          <p:nvPr/>
        </p:nvSpPr>
        <p:spPr>
          <a:xfrm>
            <a:off x="8183880" y="4821174"/>
            <a:ext cx="3520440" cy="1012697"/>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821174"/>
            <a:ext cx="3154680" cy="1012697"/>
          </a:xfrm>
          <a:prstGeom prst="rect">
            <a:avLst/>
          </a:prstGeom>
          <a:noFill/>
        </p:spPr>
        <p:txBody>
          <a:bodyPr wrap="square" anchor="ctr" lIns="0" rIns="0" tIns="0" bIns="0">
            <a:spAutoFit/>
          </a:bodyPr>
          <a:lstStyle/>
          <a:p>
            <a:pPr algn="l"/>
            <a:r>
              <a:rPr sz="1200" b="1" i="0">
                <a:solidFill>
                  <a:srgbClr val="D1282E"/>
                </a:solidFill>
                <a:latin typeface="Nirmala UI"/>
              </a:rPr>
              <a:t>OUR DATASET   </a:t>
            </a:r>
            <a:r>
              <a:rPr sz="1200" b="0" i="0">
                <a:solidFill>
                  <a:srgbClr val="000000"/>
                </a:solidFill>
                <a:latin typeface="Nirmala UI"/>
              </a:rPr>
              <a:t>13 products and 17 orders scan instantly — watch counts, not the clock.</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index changes how much work a query does — the result stays the same.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COLLECTION SCAN VS INDEX SCAN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Same query, same three matches — 8 documents examined versus 3.</a:t>
            </a:r>
          </a:p>
        </p:txBody>
      </p:sp>
      <p:sp>
        <p:nvSpPr>
          <p:cNvPr id="4" name="Rounded Rectangle 3"/>
          <p:cNvSpPr/>
          <p:nvPr/>
        </p:nvSpPr>
        <p:spPr>
          <a:xfrm>
            <a:off x="475488" y="1394670"/>
            <a:ext cx="7415783" cy="434297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5" descr="image.jpg"/>
          <p:cNvPicPr>
            <a:picLocks noChangeAspect="1"/>
          </p:cNvPicPr>
          <p:nvPr/>
        </p:nvPicPr>
        <p:blipFill>
          <a:blip r:embed="rId2"/>
          <a:stretch>
            <a:fillRect/>
          </a:stretch>
        </p:blipFill>
        <p:spPr>
          <a:xfrm>
            <a:off x="548640" y="1467822"/>
            <a:ext cx="7269480" cy="4196675"/>
          </a:xfrm>
          <a:prstGeom prst="rect">
            <a:avLst/>
          </a:prstGeom>
        </p:spPr>
      </p:pic>
      <p:sp>
        <p:nvSpPr>
          <p:cNvPr id="6" name="Rounded Rectangle 5"/>
          <p:cNvSpPr/>
          <p:nvPr/>
        </p:nvSpPr>
        <p:spPr>
          <a:xfrm>
            <a:off x="8183880" y="1298448"/>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COLLSCAN</a:t>
            </a:r>
          </a:p>
        </p:txBody>
      </p:sp>
      <p:sp>
        <p:nvSpPr>
          <p:cNvPr id="8" name="TextBox 7"/>
          <p:cNvSpPr txBox="1"/>
          <p:nvPr/>
        </p:nvSpPr>
        <p:spPr>
          <a:xfrm>
            <a:off x="8321040" y="1664208"/>
            <a:ext cx="3246120" cy="625601"/>
          </a:xfrm>
          <a:prstGeom prst="rect">
            <a:avLst/>
          </a:prstGeom>
          <a:noFill/>
        </p:spPr>
        <p:txBody>
          <a:bodyPr wrap="square" anchor="t" lIns="0" rIns="0" tIns="0" bIns="0">
            <a:spAutoFit/>
          </a:bodyPr>
          <a:lstStyle/>
          <a:p>
            <a:pPr algn="l"/>
            <a:r>
              <a:rPr sz="1200" b="0" i="0">
                <a:solidFill>
                  <a:srgbClr val="000000"/>
                </a:solidFill>
                <a:latin typeface="Nirmala UI"/>
              </a:rPr>
              <a:t>Reads every document and tests the filter on each one.</a:t>
            </a:r>
          </a:p>
        </p:txBody>
      </p:sp>
      <p:sp>
        <p:nvSpPr>
          <p:cNvPr id="9" name="Rounded Rectangle 8"/>
          <p:cNvSpPr/>
          <p:nvPr/>
        </p:nvSpPr>
        <p:spPr>
          <a:xfrm>
            <a:off x="8183880" y="2472690"/>
            <a:ext cx="3520440" cy="123215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275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IXSCAN</a:t>
            </a:r>
          </a:p>
        </p:txBody>
      </p:sp>
      <p:sp>
        <p:nvSpPr>
          <p:cNvPr id="11" name="TextBox 10"/>
          <p:cNvSpPr txBox="1"/>
          <p:nvPr/>
        </p:nvSpPr>
        <p:spPr>
          <a:xfrm>
            <a:off x="8321040" y="2838450"/>
            <a:ext cx="3246120" cy="811530"/>
          </a:xfrm>
          <a:prstGeom prst="rect">
            <a:avLst/>
          </a:prstGeom>
          <a:noFill/>
        </p:spPr>
        <p:txBody>
          <a:bodyPr wrap="square" anchor="t" lIns="0" rIns="0" tIns="0" bIns="0">
            <a:spAutoFit/>
          </a:bodyPr>
          <a:lstStyle/>
          <a:p>
            <a:pPr algn="l"/>
            <a:r>
              <a:rPr sz="1200" b="0" i="0">
                <a:solidFill>
                  <a:srgbClr val="000000"/>
                </a:solidFill>
                <a:latin typeface="Nirmala UI"/>
              </a:rPr>
              <a:t>Finds the matching keys in the category index, then fetches only those documents.</a:t>
            </a:r>
          </a:p>
        </p:txBody>
      </p:sp>
      <p:sp>
        <p:nvSpPr>
          <p:cNvPr id="12" name="Rounded Rectangle 11"/>
          <p:cNvSpPr/>
          <p:nvPr/>
        </p:nvSpPr>
        <p:spPr>
          <a:xfrm>
            <a:off x="8183880" y="3832860"/>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88772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signal</a:t>
            </a:r>
          </a:p>
        </p:txBody>
      </p:sp>
      <p:sp>
        <p:nvSpPr>
          <p:cNvPr id="14" name="TextBox 13"/>
          <p:cNvSpPr txBox="1"/>
          <p:nvPr/>
        </p:nvSpPr>
        <p:spPr>
          <a:xfrm>
            <a:off x="8321040" y="4198620"/>
            <a:ext cx="3246120" cy="625601"/>
          </a:xfrm>
          <a:prstGeom prst="rect">
            <a:avLst/>
          </a:prstGeom>
          <a:noFill/>
        </p:spPr>
        <p:txBody>
          <a:bodyPr wrap="square" anchor="t" lIns="0" rIns="0" tIns="0" bIns="0">
            <a:spAutoFit/>
          </a:bodyPr>
          <a:lstStyle/>
          <a:p>
            <a:pPr algn="l"/>
            <a:r>
              <a:rPr sz="1200" b="0" i="0">
                <a:solidFill>
                  <a:srgbClr val="000000"/>
                </a:solidFill>
                <a:latin typeface="Nirmala UI"/>
              </a:rPr>
              <a:t>Examined versus returned: 8 : 3 against 3 : 3.</a:t>
            </a:r>
          </a:p>
        </p:txBody>
      </p:sp>
      <p:sp>
        <p:nvSpPr>
          <p:cNvPr id="15" name="Rounded Rectangle 14"/>
          <p:cNvSpPr/>
          <p:nvPr/>
        </p:nvSpPr>
        <p:spPr>
          <a:xfrm>
            <a:off x="8183880" y="5007102"/>
            <a:ext cx="3520440" cy="82677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5007102"/>
            <a:ext cx="3154680" cy="826770"/>
          </a:xfrm>
          <a:prstGeom prst="rect">
            <a:avLst/>
          </a:prstGeom>
          <a:noFill/>
        </p:spPr>
        <p:txBody>
          <a:bodyPr wrap="square" anchor="ctr" lIns="0" rIns="0" tIns="0" bIns="0">
            <a:spAutoFit/>
          </a:bodyPr>
          <a:lstStyle/>
          <a:p>
            <a:pPr algn="l"/>
            <a:r>
              <a:rPr sz="1200" b="1" i="0">
                <a:solidFill>
                  <a:srgbClr val="D1282E"/>
                </a:solidFill>
                <a:latin typeface="Nirmala UI"/>
              </a:rPr>
              <a:t>IN TRAINING_STORE   </a:t>
            </a:r>
            <a:r>
              <a:rPr sz="1200" b="0" i="0">
                <a:solidFill>
                  <a:srgbClr val="000000"/>
                </a:solidFill>
                <a:latin typeface="Nirmala UI"/>
              </a:rPr>
              <a:t>category is "BOOK": 2 of 13 products.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Compare documents examined with documents returned — the closer they are, the better the plan.</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INSIDE AN INDEX: A SORTED TREE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 index is a B-tree of sorted keys, each pointing to a document.</a:t>
            </a:r>
          </a:p>
        </p:txBody>
      </p:sp>
      <p:sp>
        <p:nvSpPr>
          <p:cNvPr id="4" name="Rounded Rectangle 3"/>
          <p:cNvSpPr/>
          <p:nvPr/>
        </p:nvSpPr>
        <p:spPr>
          <a:xfrm>
            <a:off x="475488" y="1471292"/>
            <a:ext cx="7415783" cy="418973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7" descr="image.jpg"/>
          <p:cNvPicPr>
            <a:picLocks noChangeAspect="1"/>
          </p:cNvPicPr>
          <p:nvPr/>
        </p:nvPicPr>
        <p:blipFill>
          <a:blip r:embed="rId2"/>
          <a:stretch>
            <a:fillRect/>
          </a:stretch>
        </p:blipFill>
        <p:spPr>
          <a:xfrm>
            <a:off x="548640" y="1544444"/>
            <a:ext cx="7269480" cy="4043430"/>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Root and internal nodes</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Split the key range: below 50, 50–99, 100 and above.</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Sorted leaf entries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Each key points to its document: 79 → doc 6.</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Why it's fast</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A few steps down the tree instead of reading every document.</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SORTED   </a:t>
            </a:r>
            <a:r>
              <a:rPr sz="1200" b="0" i="0">
                <a:solidFill>
                  <a:srgbClr val="000000"/>
                </a:solidFill>
                <a:latin typeface="Nirmala UI"/>
              </a:rPr>
              <a:t>The same order also serves ranges and sorts.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index keeps values in sorted order with pointers to documents — so lookups, ranges and sorts need no full scan.</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DEFAULT _ID INDEX</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collection gets a unique index on _id — automatically.</a:t>
            </a:r>
          </a:p>
        </p:txBody>
      </p:sp>
      <p:sp>
        <p:nvSpPr>
          <p:cNvPr id="4" name="Rounded Rectangle 3"/>
          <p:cNvSpPr/>
          <p:nvPr/>
        </p:nvSpPr>
        <p:spPr>
          <a:xfrm>
            <a:off x="475488" y="2043024"/>
            <a:ext cx="7415783" cy="304627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0" descr="image.jpg"/>
          <p:cNvPicPr>
            <a:picLocks noChangeAspect="1"/>
          </p:cNvPicPr>
          <p:nvPr/>
        </p:nvPicPr>
        <p:blipFill>
          <a:blip r:embed="rId2"/>
          <a:stretch>
            <a:fillRect/>
          </a:stretch>
        </p:blipFill>
        <p:spPr>
          <a:xfrm>
            <a:off x="548640" y="2116176"/>
            <a:ext cx="7269480" cy="2899966"/>
          </a:xfrm>
          <a:prstGeom prst="rect">
            <a:avLst/>
          </a:prstGeom>
        </p:spPr>
      </p:pic>
      <p:sp>
        <p:nvSpPr>
          <p:cNvPr id="6" name="Rounded Rectangle 5"/>
          <p:cNvSpPr/>
          <p:nvPr/>
        </p:nvSpPr>
        <p:spPr>
          <a:xfrm>
            <a:off x="8183880" y="1298448"/>
            <a:ext cx="3520440" cy="972311"/>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Created for you</a:t>
            </a:r>
          </a:p>
        </p:txBody>
      </p:sp>
      <p:sp>
        <p:nvSpPr>
          <p:cNvPr id="8" name="TextBox 7"/>
          <p:cNvSpPr txBox="1"/>
          <p:nvPr/>
        </p:nvSpPr>
        <p:spPr>
          <a:xfrm>
            <a:off x="8321040" y="1664208"/>
            <a:ext cx="3246120" cy="551687"/>
          </a:xfrm>
          <a:prstGeom prst="rect">
            <a:avLst/>
          </a:prstGeom>
          <a:noFill/>
        </p:spPr>
        <p:txBody>
          <a:bodyPr wrap="square" anchor="t" lIns="0" rIns="0" tIns="0" bIns="0">
            <a:spAutoFit/>
          </a:bodyPr>
          <a:lstStyle/>
          <a:p>
            <a:pPr algn="l"/>
            <a:r>
              <a:rPr sz="1200" b="0" i="0">
                <a:solidFill>
                  <a:srgbClr val="000000"/>
                </a:solidFill>
                <a:latin typeface="Nirmala UI"/>
              </a:rPr>
              <a:t>Named _id_; it exists before you create anything.</a:t>
            </a:r>
          </a:p>
        </p:txBody>
      </p:sp>
      <p:sp>
        <p:nvSpPr>
          <p:cNvPr id="9" name="Rounded Rectangle 8"/>
          <p:cNvSpPr/>
          <p:nvPr/>
        </p:nvSpPr>
        <p:spPr>
          <a:xfrm>
            <a:off x="8183880" y="2398775"/>
            <a:ext cx="3520440" cy="972311"/>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5364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Unique</a:t>
            </a:r>
          </a:p>
        </p:txBody>
      </p:sp>
      <p:sp>
        <p:nvSpPr>
          <p:cNvPr id="11" name="TextBox 10"/>
          <p:cNvSpPr txBox="1"/>
          <p:nvPr/>
        </p:nvSpPr>
        <p:spPr>
          <a:xfrm>
            <a:off x="8321040" y="2764535"/>
            <a:ext cx="3246120" cy="551688"/>
          </a:xfrm>
          <a:prstGeom prst="rect">
            <a:avLst/>
          </a:prstGeom>
          <a:noFill/>
        </p:spPr>
        <p:txBody>
          <a:bodyPr wrap="square" anchor="t" lIns="0" rIns="0" tIns="0" bIns="0">
            <a:spAutoFit/>
          </a:bodyPr>
          <a:lstStyle/>
          <a:p>
            <a:pPr algn="l"/>
            <a:r>
              <a:rPr sz="1200" b="0" i="0">
                <a:solidFill>
                  <a:srgbClr val="000000"/>
                </a:solidFill>
                <a:latin typeface="Nirmala UI"/>
              </a:rPr>
              <a:t>Two documents in one collection can't share an _id.</a:t>
            </a:r>
          </a:p>
        </p:txBody>
      </p:sp>
      <p:sp>
        <p:nvSpPr>
          <p:cNvPr id="12" name="Rounded Rectangle 11"/>
          <p:cNvSpPr/>
          <p:nvPr/>
        </p:nvSpPr>
        <p:spPr>
          <a:xfrm>
            <a:off x="8183880" y="3499103"/>
            <a:ext cx="3520440" cy="972311"/>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553967"/>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Can't be dropped</a:t>
            </a:r>
          </a:p>
        </p:txBody>
      </p:sp>
      <p:sp>
        <p:nvSpPr>
          <p:cNvPr id="14" name="TextBox 13"/>
          <p:cNvSpPr txBox="1"/>
          <p:nvPr/>
        </p:nvSpPr>
        <p:spPr>
          <a:xfrm>
            <a:off x="8321040" y="3864864"/>
            <a:ext cx="3246120" cy="551687"/>
          </a:xfrm>
          <a:prstGeom prst="rect">
            <a:avLst/>
          </a:prstGeom>
          <a:noFill/>
        </p:spPr>
        <p:txBody>
          <a:bodyPr wrap="square" anchor="t" lIns="0" rIns="0" tIns="0" bIns="0">
            <a:spAutoFit/>
          </a:bodyPr>
          <a:lstStyle/>
          <a:p>
            <a:pPr algn="l"/>
            <a:r>
              <a:rPr sz="1200" b="0" i="0">
                <a:solidFill>
                  <a:srgbClr val="000000"/>
                </a:solidFill>
                <a:latin typeface="Nirmala UI"/>
              </a:rPr>
              <a:t>dropIndexes() removes every other index but keeps _id_.</a:t>
            </a:r>
          </a:p>
        </p:txBody>
      </p:sp>
      <p:sp>
        <p:nvSpPr>
          <p:cNvPr id="15" name="TextBox 14"/>
          <p:cNvSpPr txBox="1"/>
          <p:nvPr/>
        </p:nvSpPr>
        <p:spPr>
          <a:xfrm>
            <a:off x="8183880" y="4599431"/>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Always an index scan</a:t>
            </a:r>
          </a:p>
        </p:txBody>
      </p:sp>
      <p:sp>
        <p:nvSpPr>
          <p:cNvPr id="16" name="Rounded Rectangle 15"/>
          <p:cNvSpPr/>
          <p:nvPr/>
        </p:nvSpPr>
        <p:spPr>
          <a:xfrm>
            <a:off x="8183880" y="4928616"/>
            <a:ext cx="3520440" cy="90525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db.products.find({</a:t>
            </a:r>
          </a:p>
          <a:p>
            <a:pPr algn="l"/>
            <a:r>
              <a:rPr sz="1200" b="0" i="0">
                <a:solidFill>
                  <a:srgbClr val="000000"/>
                </a:solidFill>
                <a:latin typeface="Consolas"/>
              </a:rPr>
              <a:t>  _id: ObjectId("…")</a:t>
            </a:r>
          </a:p>
          <a:p>
            <a:pPr algn="l"/>
            <a:r>
              <a:rPr sz="1200" b="0" i="0">
                <a:solidFill>
                  <a:srgbClr val="000000"/>
                </a:solidFill>
                <a:latin typeface="Consolas"/>
              </a:rPr>
              <a:t>})</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Lookups by _id are always indexed — every other query shape needs an index you design.</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2: MANAGE INDEXES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Create, list, hide and drop — by name.</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How indexes work</a:t>
            </a:r>
          </a:p>
        </p:txBody>
      </p:sp>
      <p:sp>
        <p:nvSpPr>
          <p:cNvPr id="6" name="Chevron 5"/>
          <p:cNvSpPr/>
          <p:nvPr/>
        </p:nvSpPr>
        <p:spPr>
          <a:xfrm>
            <a:off x="2302154"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Manage indexes</a:t>
            </a:r>
          </a:p>
        </p:txBody>
      </p:sp>
      <p:sp>
        <p:nvSpPr>
          <p:cNvPr id="8" name="Chevron 7"/>
          <p:cNvSpPr/>
          <p:nvPr/>
        </p:nvSpPr>
        <p:spPr>
          <a:xfrm>
            <a:off x="4147108"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Compound + ESR</a:t>
            </a:r>
          </a:p>
        </p:txBody>
      </p:sp>
      <p:sp>
        <p:nvSpPr>
          <p:cNvPr id="10" name="Chevron 9"/>
          <p:cNvSpPr/>
          <p:nvPr/>
        </p:nvSpPr>
        <p:spPr>
          <a:xfrm>
            <a:off x="5992063"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Specialized types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explain()</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Costs + mistakes</a:t>
            </a:r>
          </a:p>
        </p:txBody>
      </p:sp>
      <p:sp>
        <p:nvSpPr>
          <p:cNvPr id="16" name="Rounded Rectangle 15"/>
          <p:cNvSpPr/>
          <p:nvPr/>
        </p:nvSpPr>
        <p:spPr>
          <a:xfrm>
            <a:off x="457200" y="2304288"/>
            <a:ext cx="4937760" cy="257556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COLLSCAN reads every document; IXSCAN reads matching keys</a:t>
            </a:r>
          </a:p>
        </p:txBody>
      </p:sp>
      <p:sp>
        <p:nvSpPr>
          <p:cNvPr id="21" name="Oval 20"/>
          <p:cNvSpPr/>
          <p:nvPr/>
        </p:nvSpPr>
        <p:spPr>
          <a:xfrm>
            <a:off x="640080" y="36012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5280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An index is a sorted tree of keys and pointers</a:t>
            </a:r>
          </a:p>
        </p:txBody>
      </p:sp>
      <p:sp>
        <p:nvSpPr>
          <p:cNvPr id="23" name="Oval 22"/>
          <p:cNvSpPr/>
          <p:nvPr/>
        </p:nvSpPr>
        <p:spPr>
          <a:xfrm>
            <a:off x="640080" y="42489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41757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Every collection has a unique _id index</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create, inspect, hide and remove indexes safely?</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What load.js already built</a:t>
            </a:r>
          </a:p>
        </p:txBody>
      </p:sp>
      <p:sp>
        <p:nvSpPr>
          <p:cNvPr id="31" name="Oval 30"/>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Creating indexes with clear names</a:t>
            </a:r>
          </a:p>
        </p:txBody>
      </p:sp>
      <p:sp>
        <p:nvSpPr>
          <p:cNvPr id="33" name="Oval 32"/>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Listing and dropping indexes</a:t>
            </a:r>
          </a:p>
        </p:txBody>
      </p:sp>
      <p:sp>
        <p:nvSpPr>
          <p:cNvPr id="35" name="Oval 34"/>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Hiding an index to test a removal</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CREATE, LIST AND DROP NAMED INDEXES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 a fresh training_store — the output is what mongosh prints.</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What load.js already built</a:t>
            </a:r>
          </a:p>
        </p:txBody>
      </p:sp>
      <p:sp>
        <p:nvSpPr>
          <p:cNvPr id="5" name="Rounded Rectangle 4"/>
          <p:cNvSpPr/>
          <p:nvPr/>
        </p:nvSpPr>
        <p:spPr>
          <a:xfrm>
            <a:off x="457200" y="1627632"/>
            <a:ext cx="3596640" cy="23500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db.products.getIndexes()</a:t>
            </a:r>
          </a:p>
          <a:p>
            <a:pPr algn="l"/>
            <a:r>
              <a:rPr sz="1200" b="0" i="0">
                <a:solidFill>
                  <a:srgbClr val="000000"/>
                </a:solidFill>
                <a:latin typeface="Consolas"/>
              </a:rPr>
              <a:t>  .map(i =&gt; i.name)</a:t>
            </a:r>
          </a:p>
          <a:p>
            <a:pPr algn="l"/>
            <a:r>
              <a:rPr sz="1200" b="0" i="0">
                <a:solidFill>
                  <a:srgbClr val="000000"/>
                </a:solidFill>
                <a:latin typeface="Consolas"/>
              </a:rPr>
              <a:t/>
            </a:r>
          </a:p>
          <a:p>
            <a:pPr algn="l"/>
            <a:r>
              <a:rPr sz="1200" b="0" i="0">
                <a:solidFill>
                  <a:srgbClr val="000000"/>
                </a:solidFill>
                <a:latin typeface="Consolas"/>
              </a:rPr>
              <a:t>[ '_id_', 'sku_unique' ]</a:t>
            </a:r>
          </a:p>
        </p:txBody>
      </p:sp>
      <p:sp>
        <p:nvSpPr>
          <p:cNvPr id="6" name="Oval 5"/>
          <p:cNvSpPr/>
          <p:nvPr/>
        </p:nvSpPr>
        <p:spPr>
          <a:xfrm>
            <a:off x="428244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4611624" y="1298448"/>
            <a:ext cx="3267456" cy="310896"/>
          </a:xfrm>
          <a:prstGeom prst="rect">
            <a:avLst/>
          </a:prstGeom>
          <a:noFill/>
        </p:spPr>
        <p:txBody>
          <a:bodyPr wrap="square" anchor="ctr" lIns="0" rIns="0" tIns="0" bIns="0">
            <a:spAutoFit/>
          </a:bodyPr>
          <a:lstStyle/>
          <a:p>
            <a:pPr algn="l"/>
            <a:r>
              <a:rPr sz="1300" b="1" i="0">
                <a:solidFill>
                  <a:srgbClr val="2E7D32"/>
                </a:solidFill>
                <a:latin typeface="Nirmala UI"/>
              </a:rPr>
              <a:t>Create with a clear name</a:t>
            </a:r>
          </a:p>
        </p:txBody>
      </p:sp>
      <p:sp>
        <p:nvSpPr>
          <p:cNvPr id="8" name="Rounded Rectangle 7"/>
          <p:cNvSpPr/>
          <p:nvPr/>
        </p:nvSpPr>
        <p:spPr>
          <a:xfrm>
            <a:off x="4282440" y="1627632"/>
            <a:ext cx="3596640" cy="2350007"/>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db.products.createIndex(</a:t>
            </a:r>
          </a:p>
          <a:p>
            <a:pPr algn="l"/>
            <a:r>
              <a:rPr sz="1200" b="0" i="0">
                <a:solidFill>
                  <a:srgbClr val="000000"/>
                </a:solidFill>
                <a:latin typeface="Consolas"/>
              </a:rPr>
              <a:t>  { category: 1, price: 1 },</a:t>
            </a:r>
          </a:p>
          <a:p>
            <a:pPr algn="l"/>
            <a:r>
              <a:rPr sz="1200" b="0" i="0">
                <a:solidFill>
                  <a:srgbClr val="000000"/>
                </a:solidFill>
                <a:latin typeface="Consolas"/>
              </a:rPr>
              <a:t>  { name:</a:t>
            </a:r>
          </a:p>
          <a:p>
            <a:pPr algn="l"/>
            <a:r>
              <a:rPr sz="1200" b="0" i="0">
                <a:solidFill>
                  <a:srgbClr val="000000"/>
                </a:solidFill>
                <a:latin typeface="Consolas"/>
              </a:rPr>
              <a:t>    "idx_products_category_price" }</a:t>
            </a:r>
          </a:p>
          <a:p>
            <a:pPr algn="l"/>
            <a:r>
              <a:rPr sz="1200" b="0" i="0">
                <a:solidFill>
                  <a:srgbClr val="000000"/>
                </a:solidFill>
                <a:latin typeface="Consolas"/>
              </a:rPr>
              <a:t>)</a:t>
            </a:r>
          </a:p>
          <a:p>
            <a:pPr algn="l"/>
            <a:r>
              <a:rPr sz="1200" b="0" i="0">
                <a:solidFill>
                  <a:srgbClr val="000000"/>
                </a:solidFill>
                <a:latin typeface="Consolas"/>
              </a:rPr>
              <a:t/>
            </a:r>
          </a:p>
          <a:p>
            <a:pPr algn="l"/>
            <a:r>
              <a:rPr sz="1200" b="0" i="0">
                <a:solidFill>
                  <a:srgbClr val="000000"/>
                </a:solidFill>
                <a:latin typeface="Consolas"/>
              </a:rPr>
              <a:t>idx_products_category_price</a:t>
            </a:r>
          </a:p>
        </p:txBody>
      </p:sp>
      <p:sp>
        <p:nvSpPr>
          <p:cNvPr id="9" name="TextBox 8"/>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Drop by name — never _id_</a:t>
            </a:r>
          </a:p>
        </p:txBody>
      </p:sp>
      <p:sp>
        <p:nvSpPr>
          <p:cNvPr id="10" name="Rounded Rectangle 9"/>
          <p:cNvSpPr/>
          <p:nvPr/>
        </p:nvSpPr>
        <p:spPr>
          <a:xfrm>
            <a:off x="8107680" y="1627632"/>
            <a:ext cx="3596640" cy="23500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db.products.dropIndex(</a:t>
            </a:r>
          </a:p>
          <a:p>
            <a:pPr algn="l"/>
            <a:r>
              <a:rPr sz="1200" b="0" i="0">
                <a:solidFill>
                  <a:srgbClr val="000000"/>
                </a:solidFill>
                <a:latin typeface="Consolas"/>
              </a:rPr>
              <a:t>  "idx_products_category_price"</a:t>
            </a:r>
          </a:p>
          <a:p>
            <a:pPr algn="l"/>
            <a:r>
              <a:rPr sz="1200" b="0" i="0">
                <a:solidFill>
                  <a:srgbClr val="000000"/>
                </a:solidFill>
                <a:latin typeface="Consolas"/>
              </a:rPr>
              <a:t>)</a:t>
            </a:r>
          </a:p>
          <a:p>
            <a:pPr algn="l"/>
            <a:r>
              <a:rPr sz="1200" b="0" i="0">
                <a:solidFill>
                  <a:srgbClr val="000000"/>
                </a:solidFill>
                <a:latin typeface="Consolas"/>
              </a:rPr>
              <a:t/>
            </a:r>
          </a:p>
          <a:p>
            <a:pPr algn="l"/>
            <a:r>
              <a:rPr sz="1200" b="0" i="0">
                <a:solidFill>
                  <a:srgbClr val="000000"/>
                </a:solidFill>
                <a:latin typeface="Consolas"/>
              </a:rPr>
              <a:t>{ nIndexesWas: 3, ok: 1 }</a:t>
            </a:r>
          </a:p>
        </p:txBody>
      </p:sp>
      <p:sp>
        <p:nvSpPr>
          <p:cNvPr id="11" name="Rounded Rectangle 10"/>
          <p:cNvSpPr/>
          <p:nvPr/>
        </p:nvSpPr>
        <p:spPr>
          <a:xfrm>
            <a:off x="457200" y="420624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594360" y="426110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Names</a:t>
            </a:r>
          </a:p>
        </p:txBody>
      </p:sp>
      <p:sp>
        <p:nvSpPr>
          <p:cNvPr id="13" name="TextBox 12"/>
          <p:cNvSpPr txBox="1"/>
          <p:nvPr/>
        </p:nvSpPr>
        <p:spPr>
          <a:xfrm>
            <a:off x="594360" y="4572000"/>
            <a:ext cx="3352800" cy="737615"/>
          </a:xfrm>
          <a:prstGeom prst="rect">
            <a:avLst/>
          </a:prstGeom>
          <a:noFill/>
        </p:spPr>
        <p:txBody>
          <a:bodyPr wrap="square" anchor="t" lIns="0" rIns="0" tIns="0" bIns="0">
            <a:spAutoFit/>
          </a:bodyPr>
          <a:lstStyle/>
          <a:p>
            <a:pPr algn="l"/>
            <a:r>
              <a:rPr sz="1200" b="0" i="0">
                <a:solidFill>
                  <a:srgbClr val="000000"/>
                </a:solidFill>
                <a:latin typeface="Nirmala UI"/>
              </a:rPr>
              <a:t>idx_&lt;collection&gt;_&lt;fields&gt; — easy to spot in explain() and $indexStats.</a:t>
            </a:r>
          </a:p>
        </p:txBody>
      </p:sp>
      <p:sp>
        <p:nvSpPr>
          <p:cNvPr id="14" name="Rounded Rectangle 13"/>
          <p:cNvSpPr/>
          <p:nvPr/>
        </p:nvSpPr>
        <p:spPr>
          <a:xfrm>
            <a:off x="4267200" y="420624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4404360" y="426110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Several at once</a:t>
            </a:r>
          </a:p>
        </p:txBody>
      </p:sp>
      <p:sp>
        <p:nvSpPr>
          <p:cNvPr id="16" name="TextBox 15"/>
          <p:cNvSpPr txBox="1"/>
          <p:nvPr/>
        </p:nvSpPr>
        <p:spPr>
          <a:xfrm>
            <a:off x="4404360" y="4572000"/>
            <a:ext cx="3352800" cy="737615"/>
          </a:xfrm>
          <a:prstGeom prst="rect">
            <a:avLst/>
          </a:prstGeom>
          <a:noFill/>
        </p:spPr>
        <p:txBody>
          <a:bodyPr wrap="square" anchor="t" lIns="0" rIns="0" tIns="0" bIns="0">
            <a:spAutoFit/>
          </a:bodyPr>
          <a:lstStyle/>
          <a:p>
            <a:pPr algn="l"/>
            <a:r>
              <a:rPr sz="1200" b="0" i="0">
                <a:solidFill>
                  <a:srgbClr val="000000"/>
                </a:solidFill>
                <a:latin typeface="Nirmala UI"/>
              </a:rPr>
              <a:t>createIndexes([ … ]) builds a list of index specifications in one command.</a:t>
            </a:r>
          </a:p>
        </p:txBody>
      </p:sp>
      <p:sp>
        <p:nvSpPr>
          <p:cNvPr id="17" name="Rounded Rectangle 16"/>
          <p:cNvSpPr/>
          <p:nvPr/>
        </p:nvSpPr>
        <p:spPr>
          <a:xfrm>
            <a:off x="8077200" y="420624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8214360" y="426110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dropIndexes()</a:t>
            </a:r>
          </a:p>
        </p:txBody>
      </p:sp>
      <p:sp>
        <p:nvSpPr>
          <p:cNvPr id="19" name="TextBox 18"/>
          <p:cNvSpPr txBox="1"/>
          <p:nvPr/>
        </p:nvSpPr>
        <p:spPr>
          <a:xfrm>
            <a:off x="8214360" y="4572000"/>
            <a:ext cx="3352800" cy="737615"/>
          </a:xfrm>
          <a:prstGeom prst="rect">
            <a:avLst/>
          </a:prstGeom>
          <a:noFill/>
        </p:spPr>
        <p:txBody>
          <a:bodyPr wrap="square" anchor="t" lIns="0" rIns="0" tIns="0" bIns="0">
            <a:spAutoFit/>
          </a:bodyPr>
          <a:lstStyle/>
          <a:p>
            <a:pPr algn="l"/>
            <a:r>
              <a:rPr sz="1200" b="0" i="0">
                <a:solidFill>
                  <a:srgbClr val="000000"/>
                </a:solidFill>
                <a:latin typeface="Nirmala UI"/>
              </a:rPr>
              <a:t>Removes all but _id_ — including unique rules like sku_unique.</a:t>
            </a:r>
          </a:p>
        </p:txBody>
      </p:sp>
      <p:sp>
        <p:nvSpPr>
          <p:cNvPr id="20" name="Rounded Rectangle 1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Name every index after its collection and fields — and list before you create or drop anything.</a:t>
            </a:r>
          </a:p>
        </p:txBody>
      </p:sp>
      <p:sp>
        <p:nvSpPr>
          <p:cNvPr id="22" name="Rectangle 2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HIDE AN INDEX BEFORE YOU DROP IT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hideIndex() takes an index out of the planner's choices without deleting it.</a:t>
            </a:r>
          </a:p>
        </p:txBody>
      </p:sp>
      <p:sp>
        <p:nvSpPr>
          <p:cNvPr id="4" name="Rounded Rectangle 3"/>
          <p:cNvSpPr/>
          <p:nvPr/>
        </p:nvSpPr>
        <p:spPr>
          <a:xfrm>
            <a:off x="475488" y="1790854"/>
            <a:ext cx="7415783" cy="355061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4" descr="image.jpg"/>
          <p:cNvPicPr>
            <a:picLocks noChangeAspect="1"/>
          </p:cNvPicPr>
          <p:nvPr/>
        </p:nvPicPr>
        <p:blipFill>
          <a:blip r:embed="rId2"/>
          <a:stretch>
            <a:fillRect/>
          </a:stretch>
        </p:blipFill>
        <p:spPr>
          <a:xfrm>
            <a:off x="548640" y="1864006"/>
            <a:ext cx="7269480" cy="3404307"/>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Test a removal</a:t>
            </a:r>
          </a:p>
        </p:txBody>
      </p:sp>
      <p:sp>
        <p:nvSpPr>
          <p:cNvPr id="7" name="Rounded Rectangle 6"/>
          <p:cNvSpPr/>
          <p:nvPr/>
        </p:nvSpPr>
        <p:spPr>
          <a:xfrm>
            <a:off x="8183880" y="1627632"/>
            <a:ext cx="3520440"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db.products.hideIndex(</a:t>
            </a:r>
          </a:p>
          <a:p>
            <a:pPr algn="l"/>
            <a:r>
              <a:rPr sz="1100" b="0" i="0">
                <a:solidFill>
                  <a:srgbClr val="000000"/>
                </a:solidFill>
                <a:latin typeface="Consolas"/>
              </a:rPr>
              <a:t>  "idx_products_category_price")</a:t>
            </a:r>
          </a:p>
          <a:p>
            <a:pPr algn="l"/>
            <a:r>
              <a:rPr sz="1100" b="0" i="0">
                <a:solidFill>
                  <a:srgbClr val="000000"/>
                </a:solidFill>
                <a:latin typeface="Consolas"/>
              </a:rPr>
              <a:t>// run the queries + explain()</a:t>
            </a:r>
          </a:p>
          <a:p>
            <a:pPr algn="l"/>
            <a:r>
              <a:rPr sz="1100" b="0" i="0">
                <a:solidFill>
                  <a:srgbClr val="000000"/>
                </a:solidFill>
                <a:latin typeface="Consolas"/>
              </a:rPr>
              <a:t>db.products.unhideIndex(</a:t>
            </a:r>
          </a:p>
          <a:p>
            <a:pPr algn="l"/>
            <a:r>
              <a:rPr sz="1100" b="0" i="0">
                <a:solidFill>
                  <a:srgbClr val="000000"/>
                </a:solidFill>
                <a:latin typeface="Consolas"/>
              </a:rPr>
              <a:t>  "idx_products_category_price")</a:t>
            </a:r>
          </a:p>
        </p:txBody>
      </p:sp>
      <p:sp>
        <p:nvSpPr>
          <p:cNvPr id="8" name="Rounded Rectangle 7"/>
          <p:cNvSpPr/>
          <p:nvPr/>
        </p:nvSpPr>
        <p:spPr>
          <a:xfrm>
            <a:off x="8183880" y="2974594"/>
            <a:ext cx="3520440" cy="9409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02945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Hidden</a:t>
            </a:r>
          </a:p>
        </p:txBody>
      </p:sp>
      <p:sp>
        <p:nvSpPr>
          <p:cNvPr id="10" name="TextBox 9"/>
          <p:cNvSpPr txBox="1"/>
          <p:nvPr/>
        </p:nvSpPr>
        <p:spPr>
          <a:xfrm>
            <a:off x="8321040" y="3340354"/>
            <a:ext cx="3246120" cy="520276"/>
          </a:xfrm>
          <a:prstGeom prst="rect">
            <a:avLst/>
          </a:prstGeom>
          <a:noFill/>
        </p:spPr>
        <p:txBody>
          <a:bodyPr wrap="square" anchor="t" lIns="0" rIns="0" tIns="0" bIns="0">
            <a:spAutoFit/>
          </a:bodyPr>
          <a:lstStyle/>
          <a:p>
            <a:pPr algn="l"/>
            <a:r>
              <a:rPr sz="1200" b="0" i="0">
                <a:solidFill>
                  <a:srgbClr val="000000"/>
                </a:solidFill>
                <a:latin typeface="Nirmala UI"/>
              </a:rPr>
              <a:t>The planner ignores it; every write still maintains it.</a:t>
            </a:r>
          </a:p>
        </p:txBody>
      </p:sp>
      <p:sp>
        <p:nvSpPr>
          <p:cNvPr id="11" name="Rounded Rectangle 10"/>
          <p:cNvSpPr/>
          <p:nvPr/>
        </p:nvSpPr>
        <p:spPr>
          <a:xfrm>
            <a:off x="8183880" y="4043510"/>
            <a:ext cx="3520440" cy="9409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09837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Visible again</a:t>
            </a:r>
          </a:p>
        </p:txBody>
      </p:sp>
      <p:sp>
        <p:nvSpPr>
          <p:cNvPr id="13" name="TextBox 12"/>
          <p:cNvSpPr txBox="1"/>
          <p:nvPr/>
        </p:nvSpPr>
        <p:spPr>
          <a:xfrm>
            <a:off x="8321040" y="4409270"/>
            <a:ext cx="3246120" cy="520276"/>
          </a:xfrm>
          <a:prstGeom prst="rect">
            <a:avLst/>
          </a:prstGeom>
          <a:noFill/>
        </p:spPr>
        <p:txBody>
          <a:bodyPr wrap="square" anchor="t" lIns="0" rIns="0" tIns="0" bIns="0">
            <a:spAutoFit/>
          </a:bodyPr>
          <a:lstStyle/>
          <a:p>
            <a:pPr algn="l"/>
            <a:r>
              <a:rPr sz="1200" b="0" i="0">
                <a:solidFill>
                  <a:srgbClr val="000000"/>
                </a:solidFill>
                <a:latin typeface="Nirmala UI"/>
              </a:rPr>
              <a:t>unhideIndex() restores it at once — no rebuild.</a:t>
            </a:r>
          </a:p>
        </p:txBody>
      </p:sp>
      <p:sp>
        <p:nvSpPr>
          <p:cNvPr id="14" name="Rounded Rectangle 13"/>
          <p:cNvSpPr/>
          <p:nvPr/>
        </p:nvSpPr>
        <p:spPr>
          <a:xfrm>
            <a:off x="8183880" y="5112427"/>
            <a:ext cx="3520440" cy="7214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112427"/>
            <a:ext cx="3154680" cy="721444"/>
          </a:xfrm>
          <a:prstGeom prst="rect">
            <a:avLst/>
          </a:prstGeom>
          <a:noFill/>
        </p:spPr>
        <p:txBody>
          <a:bodyPr wrap="square" anchor="ctr" lIns="0" rIns="0" tIns="0" bIns="0">
            <a:spAutoFit/>
          </a:bodyPr>
          <a:lstStyle/>
          <a:p>
            <a:pPr algn="l"/>
            <a:r>
              <a:rPr sz="1200" b="1" i="0">
                <a:solidFill>
                  <a:srgbClr val="D1282E"/>
                </a:solidFill>
                <a:latin typeface="Nirmala UI"/>
              </a:rPr>
              <a:t>UNIQUE STILL APPLIES   </a:t>
            </a:r>
            <a:r>
              <a:rPr sz="1200" b="0" i="0">
                <a:solidFill>
                  <a:srgbClr val="000000"/>
                </a:solidFill>
                <a:latin typeface="Nirmala UI"/>
              </a:rPr>
              <a:t>A hidden unique index still blocks duplicates.</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Hide, measure, then drop — hiding is instant to undo, dropping means a rebuild.</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3: COMPOUND INDEXES AND ESR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Real queries filter and sort on several fields.</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How indexes work</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Manage indexes</a:t>
            </a:r>
          </a:p>
        </p:txBody>
      </p:sp>
      <p:sp>
        <p:nvSpPr>
          <p:cNvPr id="8" name="Chevron 7"/>
          <p:cNvSpPr/>
          <p:nvPr/>
        </p:nvSpPr>
        <p:spPr>
          <a:xfrm>
            <a:off x="4147108"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Compound + ESR</a:t>
            </a:r>
          </a:p>
        </p:txBody>
      </p:sp>
      <p:sp>
        <p:nvSpPr>
          <p:cNvPr id="10" name="Chevron 9"/>
          <p:cNvSpPr/>
          <p:nvPr/>
        </p:nvSpPr>
        <p:spPr>
          <a:xfrm>
            <a:off x="5992063"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Specialized types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explain()</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Costs + mistakes</a:t>
            </a:r>
          </a:p>
        </p:txBody>
      </p:sp>
      <p:sp>
        <p:nvSpPr>
          <p:cNvPr id="16" name="Rounded Rectangle 15"/>
          <p:cNvSpPr/>
          <p:nvPr/>
        </p:nvSpPr>
        <p:spPr>
          <a:xfrm>
            <a:off x="457200" y="2304288"/>
            <a:ext cx="4937760" cy="240334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Indexes are created, listed and dropped by name</a:t>
            </a:r>
          </a:p>
        </p:txBody>
      </p:sp>
      <p:sp>
        <p:nvSpPr>
          <p:cNvPr id="21" name="Oval 20"/>
          <p:cNvSpPr/>
          <p:nvPr/>
        </p:nvSpPr>
        <p:spPr>
          <a:xfrm>
            <a:off x="640080" y="36012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5280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Hide first, measure, then drop</a:t>
            </a:r>
          </a:p>
        </p:txBody>
      </p:sp>
      <p:sp>
        <p:nvSpPr>
          <p:cNvPr id="23" name="Oval 22"/>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40035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load.js already enforces a unique sku</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Which fields go into one index — and in what order?</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Compound indexes</a:t>
            </a:r>
          </a:p>
        </p:txBody>
      </p:sp>
      <p:sp>
        <p:nvSpPr>
          <p:cNvPr id="31" name="Oval 30"/>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Why field order matters</a:t>
            </a:r>
          </a:p>
        </p:txBody>
      </p:sp>
      <p:sp>
        <p:nvSpPr>
          <p:cNvPr id="33" name="Oval 32"/>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The prefix rule</a:t>
            </a:r>
          </a:p>
        </p:txBody>
      </p:sp>
      <p:sp>
        <p:nvSpPr>
          <p:cNvPr id="35" name="Oval 34"/>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Equality, Sort, Range</a:t>
            </a:r>
          </a:p>
        </p:txBody>
      </p:sp>
      <p:sp>
        <p:nvSpPr>
          <p:cNvPr id="37" name="Oval 36"/>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Order history before and after</a:t>
            </a:r>
          </a:p>
        </p:txBody>
      </p:sp>
      <p:sp>
        <p:nvSpPr>
          <p:cNvPr id="39" name="Oval 38"/>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40" name="TextBox 39"/>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Sort direction and reverse scans</a:t>
            </a:r>
          </a:p>
        </p:txBody>
      </p:sp>
      <p:sp>
        <p:nvSpPr>
          <p:cNvPr id="41" name="Oval 40"/>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2" name="TextBox 41"/>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Exercise: the fulfillment queue</a:t>
            </a:r>
          </a:p>
        </p:txBody>
      </p:sp>
      <p:sp>
        <p:nvSpPr>
          <p:cNvPr id="43" name="Rectangle 4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COMPOUND INDEXES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One index, several fields: sorted by category, then by price.</a:t>
            </a:r>
          </a:p>
        </p:txBody>
      </p:sp>
      <p:sp>
        <p:nvSpPr>
          <p:cNvPr id="4" name="Rounded Rectangle 3"/>
          <p:cNvSpPr/>
          <p:nvPr/>
        </p:nvSpPr>
        <p:spPr>
          <a:xfrm>
            <a:off x="475488" y="1832157"/>
            <a:ext cx="7415783" cy="346800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7" descr="image.jpg"/>
          <p:cNvPicPr>
            <a:picLocks noChangeAspect="1"/>
          </p:cNvPicPr>
          <p:nvPr/>
        </p:nvPicPr>
        <p:blipFill>
          <a:blip r:embed="rId2"/>
          <a:stretch>
            <a:fillRect/>
          </a:stretch>
        </p:blipFill>
        <p:spPr>
          <a:xfrm>
            <a:off x="548640" y="1905309"/>
            <a:ext cx="7269480" cy="3321700"/>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Sorted by the first key</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All Apparel keys, then all Footwear keys.</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Then by the second</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Inside each category, price runs high to low because of price: -1.</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Filter + sort</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category = Apparel sorted by price is one run of keys.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DEFAULT NAME   </a:t>
            </a:r>
            <a:r>
              <a:rPr sz="1200" b="0" i="0">
                <a:solidFill>
                  <a:srgbClr val="000000"/>
                </a:solidFill>
                <a:latin typeface="Nirmala UI"/>
              </a:rPr>
              <a:t>category_1_price_-1 — unless you set name.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compound index sorts by its first field, then the next — so one index can filter and sort at once.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FIELD ORDER MATTERS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Same two fields, two different indexes.</a:t>
            </a:r>
          </a:p>
        </p:txBody>
      </p:sp>
      <p:sp>
        <p:nvSpPr>
          <p:cNvPr id="4" name="Rounded Rectangle 3"/>
          <p:cNvSpPr/>
          <p:nvPr/>
        </p:nvSpPr>
        <p:spPr>
          <a:xfrm>
            <a:off x="475488" y="1460609"/>
            <a:ext cx="7415783" cy="421110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8" descr="image.jpg"/>
          <p:cNvPicPr>
            <a:picLocks noChangeAspect="1"/>
          </p:cNvPicPr>
          <p:nvPr/>
        </p:nvPicPr>
        <p:blipFill>
          <a:blip r:embed="rId2"/>
          <a:stretch>
            <a:fillRect/>
          </a:stretch>
        </p:blipFill>
        <p:spPr>
          <a:xfrm>
            <a:off x="548640" y="1533761"/>
            <a:ext cx="7269480" cy="4064796"/>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category first</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Keys grouped by category — a category query reads one block.</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price first</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Categories are scattered through the price order.</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Our catalog</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It always filters by category — so category leads.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SAME FIELDS ≠ SAME INDEX   </a:t>
            </a:r>
            <a:r>
              <a:rPr sz="1200" b="0" i="0">
                <a:solidFill>
                  <a:srgbClr val="000000"/>
                </a:solidFill>
                <a:latin typeface="Nirmala UI"/>
              </a:rPr>
              <a:t>Choose the order from the query.</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 category: 1, price: 1 } and { price: 1, category: 1 } serve different queries — field order is a design decision.</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PREFIX RULE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compound index serves queries on its leading fields.</a:t>
            </a:r>
          </a:p>
        </p:txBody>
      </p:sp>
      <p:sp>
        <p:nvSpPr>
          <p:cNvPr id="4" name="Rounded Rectangle 3"/>
          <p:cNvSpPr/>
          <p:nvPr/>
        </p:nvSpPr>
        <p:spPr>
          <a:xfrm>
            <a:off x="475488" y="1397302"/>
            <a:ext cx="7415783" cy="4337715"/>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9" descr="image.jpg"/>
          <p:cNvPicPr>
            <a:picLocks noChangeAspect="1"/>
          </p:cNvPicPr>
          <p:nvPr/>
        </p:nvPicPr>
        <p:blipFill>
          <a:blip r:embed="rId2"/>
          <a:stretch>
            <a:fillRect/>
          </a:stretch>
        </p:blipFill>
        <p:spPr>
          <a:xfrm>
            <a:off x="548640" y="1470454"/>
            <a:ext cx="7269480" cy="4191411"/>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Supported prefixes</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customerId · customerId + status · all three.</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Not a prefix</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status alone, or status + createdAt, skips the first field.</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 training_store</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status stands for paymentStatus: { customerId, paymentStatus, createdAt }.</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REDUNDANCY   </a:t>
            </a:r>
            <a:r>
              <a:rPr sz="1200" b="0" i="0">
                <a:solidFill>
                  <a:srgbClr val="000000"/>
                </a:solidFill>
                <a:latin typeface="Nirmala UI"/>
              </a:rPr>
              <a:t>{ customerId: 1 } adds little once this index exists.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Queries can use a compound index through its leading fields — read the prefixes from the left.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EQUALITY, SORT, RANGE (ESR)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starting order for compound-index fields.</a:t>
            </a:r>
          </a:p>
        </p:txBody>
      </p:sp>
      <p:sp>
        <p:nvSpPr>
          <p:cNvPr id="4" name="Rounded Rectangle 3"/>
          <p:cNvSpPr/>
          <p:nvPr/>
        </p:nvSpPr>
        <p:spPr>
          <a:xfrm>
            <a:off x="475487" y="1428648"/>
            <a:ext cx="11210544" cy="284246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0" descr="image.jpg"/>
          <p:cNvPicPr>
            <a:picLocks noChangeAspect="1"/>
          </p:cNvPicPr>
          <p:nvPr/>
        </p:nvPicPr>
        <p:blipFill>
          <a:blip r:embed="rId2"/>
          <a:stretch>
            <a:fillRect/>
          </a:stretch>
        </p:blipFill>
        <p:spPr>
          <a:xfrm>
            <a:off x="548639" y="1501800"/>
            <a:ext cx="11064240" cy="2696159"/>
          </a:xfrm>
          <a:prstGeom prst="rect">
            <a:avLst/>
          </a:prstGeom>
        </p:spPr>
      </p:pic>
      <p:sp>
        <p:nvSpPr>
          <p:cNvPr id="6" name="Rounded Rectangle 5"/>
          <p:cNvSpPr/>
          <p:nvPr/>
        </p:nvSpPr>
        <p:spPr>
          <a:xfrm>
            <a:off x="457200" y="4675632"/>
            <a:ext cx="26746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594360" y="4730496"/>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E — Equality</a:t>
            </a:r>
          </a:p>
        </p:txBody>
      </p:sp>
      <p:sp>
        <p:nvSpPr>
          <p:cNvPr id="8" name="TextBox 7"/>
          <p:cNvSpPr txBox="1"/>
          <p:nvPr/>
        </p:nvSpPr>
        <p:spPr>
          <a:xfrm>
            <a:off x="594360" y="5041392"/>
            <a:ext cx="2400300" cy="737615"/>
          </a:xfrm>
          <a:prstGeom prst="rect">
            <a:avLst/>
          </a:prstGeom>
          <a:noFill/>
        </p:spPr>
        <p:txBody>
          <a:bodyPr wrap="square" anchor="t" lIns="0" rIns="0" tIns="0" bIns="0">
            <a:spAutoFit/>
          </a:bodyPr>
          <a:lstStyle/>
          <a:p>
            <a:pPr algn="l"/>
            <a:r>
              <a:rPr sz="1200" b="0" i="0">
                <a:solidFill>
                  <a:srgbClr val="000000"/>
                </a:solidFill>
                <a:latin typeface="Nirmala UI"/>
              </a:rPr>
              <a:t>Exact matches first: region = East.</a:t>
            </a:r>
          </a:p>
        </p:txBody>
      </p:sp>
      <p:sp>
        <p:nvSpPr>
          <p:cNvPr id="9" name="Rounded Rectangle 8"/>
          <p:cNvSpPr/>
          <p:nvPr/>
        </p:nvSpPr>
        <p:spPr>
          <a:xfrm>
            <a:off x="3314700" y="4675632"/>
            <a:ext cx="26746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3451860" y="4730496"/>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S — Sort</a:t>
            </a:r>
          </a:p>
        </p:txBody>
      </p:sp>
      <p:sp>
        <p:nvSpPr>
          <p:cNvPr id="11" name="TextBox 10"/>
          <p:cNvSpPr txBox="1"/>
          <p:nvPr/>
        </p:nvSpPr>
        <p:spPr>
          <a:xfrm>
            <a:off x="3451860" y="5041392"/>
            <a:ext cx="2400300" cy="737615"/>
          </a:xfrm>
          <a:prstGeom prst="rect">
            <a:avLst/>
          </a:prstGeom>
          <a:noFill/>
        </p:spPr>
        <p:txBody>
          <a:bodyPr wrap="square" anchor="t" lIns="0" rIns="0" tIns="0" bIns="0">
            <a:spAutoFit/>
          </a:bodyPr>
          <a:lstStyle/>
          <a:p>
            <a:pPr algn="l"/>
            <a:r>
              <a:rPr sz="1200" b="0" i="0">
                <a:solidFill>
                  <a:srgbClr val="000000"/>
                </a:solidFill>
                <a:latin typeface="Nirmala UI"/>
              </a:rPr>
              <a:t>Then the sort field in its direction: createdAt: -1.</a:t>
            </a:r>
          </a:p>
        </p:txBody>
      </p:sp>
      <p:sp>
        <p:nvSpPr>
          <p:cNvPr id="12" name="Rounded Rectangle 11"/>
          <p:cNvSpPr/>
          <p:nvPr/>
        </p:nvSpPr>
        <p:spPr>
          <a:xfrm>
            <a:off x="6172200" y="4675632"/>
            <a:ext cx="26746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6309360" y="4730496"/>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R — Range</a:t>
            </a:r>
          </a:p>
        </p:txBody>
      </p:sp>
      <p:sp>
        <p:nvSpPr>
          <p:cNvPr id="14" name="TextBox 13"/>
          <p:cNvSpPr txBox="1"/>
          <p:nvPr/>
        </p:nvSpPr>
        <p:spPr>
          <a:xfrm>
            <a:off x="6309360" y="5041392"/>
            <a:ext cx="2400300" cy="737615"/>
          </a:xfrm>
          <a:prstGeom prst="rect">
            <a:avLst/>
          </a:prstGeom>
          <a:noFill/>
        </p:spPr>
        <p:txBody>
          <a:bodyPr wrap="square" anchor="t" lIns="0" rIns="0" tIns="0" bIns="0">
            <a:spAutoFit/>
          </a:bodyPr>
          <a:lstStyle/>
          <a:p>
            <a:pPr algn="l"/>
            <a:r>
              <a:rPr sz="1200" b="0" i="0">
                <a:solidFill>
                  <a:srgbClr val="000000"/>
                </a:solidFill>
                <a:latin typeface="Nirmala UI"/>
              </a:rPr>
              <a:t>Range conditions last: total ≥ 100.</a:t>
            </a:r>
          </a:p>
        </p:txBody>
      </p:sp>
      <p:sp>
        <p:nvSpPr>
          <p:cNvPr id="15" name="Rounded Rectangle 14"/>
          <p:cNvSpPr/>
          <p:nvPr/>
        </p:nvSpPr>
        <p:spPr>
          <a:xfrm>
            <a:off x="9029700" y="4675632"/>
            <a:ext cx="2674620" cy="115824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9212580" y="4675632"/>
            <a:ext cx="2308860" cy="1158240"/>
          </a:xfrm>
          <a:prstGeom prst="rect">
            <a:avLst/>
          </a:prstGeom>
          <a:noFill/>
        </p:spPr>
        <p:txBody>
          <a:bodyPr wrap="square" anchor="ctr" lIns="0" rIns="0" tIns="0" bIns="0">
            <a:spAutoFit/>
          </a:bodyPr>
          <a:lstStyle/>
          <a:p>
            <a:pPr algn="l"/>
            <a:r>
              <a:rPr sz="1200" b="1" i="0">
                <a:solidFill>
                  <a:srgbClr val="D1282E"/>
                </a:solidFill>
                <a:latin typeface="Nirmala UI"/>
              </a:rPr>
              <a:t>A GUIDELINE   </a:t>
            </a:r>
            <a:r>
              <a:rPr sz="1200" b="0" i="0">
                <a:solidFill>
                  <a:srgbClr val="000000"/>
                </a:solidFill>
                <a:latin typeface="Nirmala UI"/>
              </a:rPr>
              <a:t>Confirm with explain() — data can change the order.</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Equality, then Sort, then Range: the index narrows first, delivers the order next, and scans the range last.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ORDER HISTORY: BEFORE AND AFTER THE INDEX</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Lab 5, Steps 1–3: C101's orders, newest first (explain output trimmed).</a:t>
            </a:r>
          </a:p>
        </p:txBody>
      </p:sp>
      <p:sp>
        <p:nvSpPr>
          <p:cNvPr id="4" name="Oval 3"/>
          <p:cNvSpPr/>
          <p:nvPr/>
        </p:nvSpPr>
        <p:spPr>
          <a:xfrm>
            <a:off x="457200" y="132588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5" name="TextBox 4"/>
          <p:cNvSpPr txBox="1"/>
          <p:nvPr/>
        </p:nvSpPr>
        <p:spPr>
          <a:xfrm>
            <a:off x="786384" y="1298448"/>
            <a:ext cx="5180076" cy="310896"/>
          </a:xfrm>
          <a:prstGeom prst="rect">
            <a:avLst/>
          </a:prstGeom>
          <a:noFill/>
        </p:spPr>
        <p:txBody>
          <a:bodyPr wrap="square" anchor="ctr" lIns="0" rIns="0" tIns="0" bIns="0">
            <a:spAutoFit/>
          </a:bodyPr>
          <a:lstStyle/>
          <a:p>
            <a:pPr algn="l"/>
            <a:r>
              <a:rPr sz="1300" b="1" i="0">
                <a:solidFill>
                  <a:srgbClr val="D1282E"/>
                </a:solidFill>
                <a:latin typeface="Nirmala UI"/>
              </a:rPr>
              <a:t>Before: no matching index</a:t>
            </a:r>
          </a:p>
        </p:txBody>
      </p:sp>
      <p:sp>
        <p:nvSpPr>
          <p:cNvPr id="6" name="Rounded Rectangle 5"/>
          <p:cNvSpPr/>
          <p:nvPr/>
        </p:nvSpPr>
        <p:spPr>
          <a:xfrm>
            <a:off x="457200" y="1627632"/>
            <a:ext cx="5509260" cy="2622422"/>
          </a:xfrm>
          <a:prstGeom prst="roundRect">
            <a:avLst>
              <a:gd name="adj" fmla="val 6000"/>
            </a:avLst>
          </a:prstGeom>
          <a:solidFill>
            <a:srgbClr val="FDECE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db.orders.find({ customerId: cid })</a:t>
            </a:r>
          </a:p>
          <a:p>
            <a:pPr algn="l"/>
            <a:r>
              <a:rPr sz="1300" b="0" i="0">
                <a:solidFill>
                  <a:srgbClr val="000000"/>
                </a:solidFill>
                <a:latin typeface="Consolas"/>
              </a:rPr>
              <a:t>  .sort({ createdAt: -1 })</a:t>
            </a:r>
          </a:p>
          <a:p>
            <a:pPr algn="l"/>
            <a:r>
              <a:rPr sz="1300" b="0" i="0">
                <a:solidFill>
                  <a:srgbClr val="000000"/>
                </a:solidFill>
                <a:latin typeface="Consolas"/>
              </a:rPr>
              <a:t>  .explain("executionStats")</a:t>
            </a:r>
          </a:p>
          <a:p>
            <a:pPr algn="l"/>
            <a:r>
              <a:rPr sz="1300" b="0" i="0">
                <a:solidFill>
                  <a:srgbClr val="000000"/>
                </a:solidFill>
                <a:latin typeface="Consolas"/>
              </a:rPr>
              <a:t/>
            </a:r>
          </a:p>
          <a:p>
            <a:pPr algn="l"/>
            <a:r>
              <a:rPr sz="1300" b="0" i="0">
                <a:solidFill>
                  <a:srgbClr val="000000"/>
                </a:solidFill>
                <a:latin typeface="Consolas"/>
              </a:rPr>
              <a:t>winningPlan: SORT</a:t>
            </a:r>
          </a:p>
          <a:p>
            <a:pPr algn="l"/>
            <a:r>
              <a:rPr sz="1300" b="0" i="0">
                <a:solidFill>
                  <a:srgbClr val="000000"/>
                </a:solidFill>
                <a:latin typeface="Consolas"/>
              </a:rPr>
              <a:t>  inputStage: COLLSCAN</a:t>
            </a:r>
          </a:p>
          <a:p>
            <a:pPr algn="l"/>
            <a:r>
              <a:rPr sz="1300" b="0" i="0">
                <a:solidFill>
                  <a:srgbClr val="000000"/>
                </a:solidFill>
                <a:latin typeface="Consolas"/>
              </a:rPr>
              <a:t>nReturned:          5</a:t>
            </a:r>
          </a:p>
          <a:p>
            <a:pPr algn="l"/>
            <a:r>
              <a:rPr sz="1300" b="0" i="0">
                <a:solidFill>
                  <a:srgbClr val="000000"/>
                </a:solidFill>
                <a:latin typeface="Consolas"/>
              </a:rPr>
              <a:t>totalKeysExamined:  0</a:t>
            </a:r>
          </a:p>
          <a:p>
            <a:pPr algn="l"/>
            <a:r>
              <a:rPr sz="1300" b="0" i="0">
                <a:solidFill>
                  <a:srgbClr val="000000"/>
                </a:solidFill>
                <a:latin typeface="Consolas"/>
              </a:rPr>
              <a:t>totalDocsExamined: 17</a:t>
            </a:r>
          </a:p>
        </p:txBody>
      </p:sp>
      <p:sp>
        <p:nvSpPr>
          <p:cNvPr id="7" name="Oval 6"/>
          <p:cNvSpPr/>
          <p:nvPr/>
        </p:nvSpPr>
        <p:spPr>
          <a:xfrm>
            <a:off x="619506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8" name="TextBox 7"/>
          <p:cNvSpPr txBox="1"/>
          <p:nvPr/>
        </p:nvSpPr>
        <p:spPr>
          <a:xfrm>
            <a:off x="652424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After: idx_orders_customer_date</a:t>
            </a:r>
          </a:p>
        </p:txBody>
      </p:sp>
      <p:sp>
        <p:nvSpPr>
          <p:cNvPr id="9" name="Rounded Rectangle 8"/>
          <p:cNvSpPr/>
          <p:nvPr/>
        </p:nvSpPr>
        <p:spPr>
          <a:xfrm>
            <a:off x="6195060" y="1627632"/>
            <a:ext cx="5509260" cy="2622422"/>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db.orders.createIndex(</a:t>
            </a:r>
          </a:p>
          <a:p>
            <a:pPr algn="l"/>
            <a:r>
              <a:rPr sz="1300" b="0" i="0">
                <a:solidFill>
                  <a:srgbClr val="000000"/>
                </a:solidFill>
                <a:latin typeface="Consolas"/>
              </a:rPr>
              <a:t>  { customerId: 1, createdAt: -1 },</a:t>
            </a:r>
          </a:p>
          <a:p>
            <a:pPr algn="l"/>
            <a:r>
              <a:rPr sz="1300" b="0" i="0">
                <a:solidFill>
                  <a:srgbClr val="000000"/>
                </a:solidFill>
                <a:latin typeface="Consolas"/>
              </a:rPr>
              <a:t>  { name: "idx_orders_customer_date" })</a:t>
            </a:r>
          </a:p>
          <a:p>
            <a:pPr algn="l"/>
            <a:r>
              <a:rPr sz="1300" b="0" i="0">
                <a:solidFill>
                  <a:srgbClr val="000000"/>
                </a:solidFill>
                <a:latin typeface="Consolas"/>
              </a:rPr>
              <a:t/>
            </a:r>
          </a:p>
          <a:p>
            <a:pPr algn="l"/>
            <a:r>
              <a:rPr sz="1300" b="0" i="0">
                <a:solidFill>
                  <a:srgbClr val="000000"/>
                </a:solidFill>
                <a:latin typeface="Consolas"/>
              </a:rPr>
              <a:t>winningPlan: FETCH</a:t>
            </a:r>
          </a:p>
          <a:p>
            <a:pPr algn="l"/>
            <a:r>
              <a:rPr sz="1300" b="0" i="0">
                <a:solidFill>
                  <a:srgbClr val="000000"/>
                </a:solidFill>
                <a:latin typeface="Consolas"/>
              </a:rPr>
              <a:t>  inputStage: IXSCAN</a:t>
            </a:r>
          </a:p>
          <a:p>
            <a:pPr algn="l"/>
            <a:r>
              <a:rPr sz="1300" b="0" i="0">
                <a:solidFill>
                  <a:srgbClr val="000000"/>
                </a:solidFill>
                <a:latin typeface="Consolas"/>
              </a:rPr>
              <a:t>nReturned:          5</a:t>
            </a:r>
          </a:p>
          <a:p>
            <a:pPr algn="l"/>
            <a:r>
              <a:rPr sz="1300" b="0" i="0">
                <a:solidFill>
                  <a:srgbClr val="000000"/>
                </a:solidFill>
                <a:latin typeface="Consolas"/>
              </a:rPr>
              <a:t>totalKeysExamined:  5</a:t>
            </a:r>
          </a:p>
          <a:p>
            <a:pPr algn="l"/>
            <a:r>
              <a:rPr sz="1300" b="0" i="0">
                <a:solidFill>
                  <a:srgbClr val="000000"/>
                </a:solidFill>
                <a:latin typeface="Consolas"/>
              </a:rPr>
              <a:t>totalDocsExamined:  5</a:t>
            </a:r>
          </a:p>
        </p:txBody>
      </p:sp>
      <p:sp>
        <p:nvSpPr>
          <p:cNvPr id="10" name="Rounded Rectangle 9"/>
          <p:cNvSpPr/>
          <p:nvPr/>
        </p:nvSpPr>
        <p:spPr>
          <a:xfrm>
            <a:off x="45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cid</a:t>
            </a:r>
          </a:p>
        </p:txBody>
      </p:sp>
      <p:sp>
        <p:nvSpPr>
          <p:cNvPr id="12" name="TextBox 11"/>
          <p:cNvSpPr txBox="1"/>
          <p:nvPr/>
        </p:nvSpPr>
        <p:spPr>
          <a:xfrm>
            <a:off x="59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db.customers.findOne({ customerNumber: "C101" })._id — never a copied ObjectId.</a:t>
            </a:r>
          </a:p>
        </p:txBody>
      </p:sp>
      <p:sp>
        <p:nvSpPr>
          <p:cNvPr id="13" name="Rounded Rectangle 12"/>
          <p:cNvSpPr/>
          <p:nvPr/>
        </p:nvSpPr>
        <p:spPr>
          <a:xfrm>
            <a:off x="426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Before</a:t>
            </a:r>
          </a:p>
        </p:txBody>
      </p:sp>
      <p:sp>
        <p:nvSpPr>
          <p:cNvPr id="15" name="TextBox 14"/>
          <p:cNvSpPr txBox="1"/>
          <p:nvPr/>
        </p:nvSpPr>
        <p:spPr>
          <a:xfrm>
            <a:off x="440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All 17 orders read, then sorted in memory by the SORT stage.</a:t>
            </a:r>
          </a:p>
        </p:txBody>
      </p:sp>
      <p:sp>
        <p:nvSpPr>
          <p:cNvPr id="16" name="Rounded Rectangle 15"/>
          <p:cNvSpPr/>
          <p:nvPr/>
        </p:nvSpPr>
        <p:spPr>
          <a:xfrm>
            <a:off x="807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1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After</a:t>
            </a:r>
          </a:p>
        </p:txBody>
      </p:sp>
      <p:sp>
        <p:nvSpPr>
          <p:cNvPr id="18" name="TextBox 17"/>
          <p:cNvSpPr txBox="1"/>
          <p:nvPr/>
        </p:nvSpPr>
        <p:spPr>
          <a:xfrm>
            <a:off x="821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5 keys, 5 documents, 5 orders — the index order replaces SORT.</a:t>
            </a:r>
          </a:p>
        </p:txBody>
      </p:sp>
      <p:sp>
        <p:nvSpPr>
          <p:cNvPr id="19" name="Rounded Rectangle 1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Equality on customerId and a matching sort on createdAt turn 17 reads and a sort into 5 reads in order.</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WHICH SORTS CAN ONE INDEX SERVE?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Index { customerId: 1, createdAt: -1 }, filtering one customer.</a:t>
            </a:r>
          </a:p>
        </p:txBody>
      </p:sp>
      <p:graphicFrame>
        <p:nvGraphicFramePr>
          <p:cNvPr id="4" name="Table 3"/>
          <p:cNvGraphicFramePr>
            <a:graphicFrameLocks noGrp="1"/>
          </p:cNvGraphicFramePr>
          <p:nvPr/>
        </p:nvGraphicFramePr>
        <p:xfrm>
          <a:off x="457200" y="1298448"/>
          <a:ext cx="7178040" cy="3401568"/>
        </p:xfrm>
        <a:graphic>
          <a:graphicData uri="http://schemas.openxmlformats.org/drawingml/2006/table">
            <a:tbl>
              <a:tblPr firstRow="1" bandRow="1">
                <a:tableStyleId>{5C22544A-7EE6-4342-B048-85BDC9FD1C3A}</a:tableStyleId>
              </a:tblPr>
              <a:tblGrid>
                <a:gridCol w="3886200"/>
                <a:gridCol w="1965960"/>
                <a:gridCol w="1325880"/>
              </a:tblGrid>
              <a:tr h="566928">
                <a:tc>
                  <a:txBody>
                    <a:bodyPr/>
                    <a:lstStyle/>
                    <a:p>
                      <a:r>
                        <a:rPr sz="1300" b="1" i="0">
                          <a:solidFill>
                            <a:srgbClr val="FFFFFF"/>
                          </a:solidFill>
                          <a:latin typeface="Nirmala UI"/>
                        </a:rPr>
                        <a:t>Sort requested</a:t>
                      </a:r>
                    </a:p>
                  </a:txBody>
                  <a:tcPr anchor="ctr">
                    <a:solidFill>
                      <a:srgbClr val="182F5F"/>
                    </a:solidFill>
                  </a:tcPr>
                </a:tc>
                <a:tc>
                  <a:txBody>
                    <a:bodyPr/>
                    <a:lstStyle/>
                    <a:p>
                      <a:r>
                        <a:rPr sz="1300" b="1" i="0">
                          <a:solidFill>
                            <a:srgbClr val="FFFFFF"/>
                          </a:solidFill>
                          <a:latin typeface="Nirmala UI"/>
                        </a:rPr>
                        <a:t>Index walk</a:t>
                      </a:r>
                    </a:p>
                  </a:txBody>
                  <a:tcPr anchor="ctr">
                    <a:solidFill>
                      <a:srgbClr val="182F5F"/>
                    </a:solidFill>
                  </a:tcPr>
                </a:tc>
                <a:tc>
                  <a:txBody>
                    <a:bodyPr/>
                    <a:lstStyle/>
                    <a:p>
                      <a:r>
                        <a:rPr sz="1300" b="1" i="0">
                          <a:solidFill>
                            <a:srgbClr val="FFFFFF"/>
                          </a:solidFill>
                          <a:latin typeface="Nirmala UI"/>
                        </a:rPr>
                        <a:t>SORT stage?</a:t>
                      </a:r>
                    </a:p>
                  </a:txBody>
                  <a:tcPr anchor="ctr">
                    <a:solidFill>
                      <a:srgbClr val="182F5F"/>
                    </a:solidFill>
                  </a:tcPr>
                </a:tc>
              </a:tr>
              <a:tr h="566928">
                <a:tc>
                  <a:txBody>
                    <a:bodyPr/>
                    <a:lstStyle/>
                    <a:p>
                      <a:r>
                        <a:rPr sz="1300" b="1" i="0">
                          <a:solidFill>
                            <a:srgbClr val="000000"/>
                          </a:solidFill>
                          <a:latin typeface="Nirmala UI"/>
                        </a:rPr>
                        <a:t>{ createdAt: -1 }</a:t>
                      </a:r>
                    </a:p>
                  </a:txBody>
                  <a:tcPr anchor="ctr">
                    <a:solidFill>
                      <a:srgbClr val="FFFFFF"/>
                    </a:solidFill>
                  </a:tcPr>
                </a:tc>
                <a:tc>
                  <a:txBody>
                    <a:bodyPr/>
                    <a:lstStyle/>
                    <a:p>
                      <a:r>
                        <a:rPr sz="1300" b="0" i="0">
                          <a:solidFill>
                            <a:srgbClr val="000000"/>
                          </a:solidFill>
                          <a:latin typeface="Nirmala UI"/>
                        </a:rPr>
                        <a:t>Forward</a:t>
                      </a:r>
                    </a:p>
                  </a:txBody>
                  <a:tcPr anchor="ctr">
                    <a:solidFill>
                      <a:srgbClr val="FFFFFF"/>
                    </a:solidFill>
                  </a:tcPr>
                </a:tc>
                <a:tc>
                  <a:txBody>
                    <a:bodyPr/>
                    <a:lstStyle/>
                    <a:p>
                      <a:r>
                        <a:rPr sz="1300" b="0" i="0">
                          <a:solidFill>
                            <a:srgbClr val="000000"/>
                          </a:solidFill>
                          <a:latin typeface="Nirmala UI"/>
                        </a:rPr>
                        <a:t>No</a:t>
                      </a:r>
                    </a:p>
                  </a:txBody>
                  <a:tcPr anchor="ctr">
                    <a:solidFill>
                      <a:srgbClr val="FFFFFF"/>
                    </a:solidFill>
                  </a:tcPr>
                </a:tc>
              </a:tr>
              <a:tr h="566928">
                <a:tc>
                  <a:txBody>
                    <a:bodyPr/>
                    <a:lstStyle/>
                    <a:p>
                      <a:r>
                        <a:rPr sz="1300" b="1" i="0">
                          <a:solidFill>
                            <a:srgbClr val="000000"/>
                          </a:solidFill>
                          <a:latin typeface="Nirmala UI"/>
                        </a:rPr>
                        <a:t>{ createdAt: 1 }</a:t>
                      </a:r>
                    </a:p>
                  </a:txBody>
                  <a:tcPr anchor="ctr">
                    <a:solidFill>
                      <a:srgbClr val="F5F5F5"/>
                    </a:solidFill>
                  </a:tcPr>
                </a:tc>
                <a:tc>
                  <a:txBody>
                    <a:bodyPr/>
                    <a:lstStyle/>
                    <a:p>
                      <a:r>
                        <a:rPr sz="1300" b="0" i="0">
                          <a:solidFill>
                            <a:srgbClr val="000000"/>
                          </a:solidFill>
                          <a:latin typeface="Nirmala UI"/>
                        </a:rPr>
                        <a:t>Backward</a:t>
                      </a:r>
                    </a:p>
                  </a:txBody>
                  <a:tcPr anchor="ctr">
                    <a:solidFill>
                      <a:srgbClr val="F5F5F5"/>
                    </a:solidFill>
                  </a:tcPr>
                </a:tc>
                <a:tc>
                  <a:txBody>
                    <a:bodyPr/>
                    <a:lstStyle/>
                    <a:p>
                      <a:r>
                        <a:rPr sz="1300" b="0" i="0">
                          <a:solidFill>
                            <a:srgbClr val="000000"/>
                          </a:solidFill>
                          <a:latin typeface="Nirmala UI"/>
                        </a:rPr>
                        <a:t>No</a:t>
                      </a:r>
                    </a:p>
                  </a:txBody>
                  <a:tcPr anchor="ctr">
                    <a:solidFill>
                      <a:srgbClr val="F5F5F5"/>
                    </a:solidFill>
                  </a:tcPr>
                </a:tc>
              </a:tr>
              <a:tr h="566928">
                <a:tc>
                  <a:txBody>
                    <a:bodyPr/>
                    <a:lstStyle/>
                    <a:p>
                      <a:r>
                        <a:rPr sz="1300" b="1" i="0">
                          <a:solidFill>
                            <a:srgbClr val="000000"/>
                          </a:solidFill>
                          <a:latin typeface="Nirmala UI"/>
                        </a:rPr>
                        <a:t>{ customerId: -1, createdAt: 1 }</a:t>
                      </a:r>
                    </a:p>
                  </a:txBody>
                  <a:tcPr anchor="ctr">
                    <a:solidFill>
                      <a:srgbClr val="FFFFFF"/>
                    </a:solidFill>
                  </a:tcPr>
                </a:tc>
                <a:tc>
                  <a:txBody>
                    <a:bodyPr/>
                    <a:lstStyle/>
                    <a:p>
                      <a:r>
                        <a:rPr sz="1300" b="0" i="0">
                          <a:solidFill>
                            <a:srgbClr val="000000"/>
                          </a:solidFill>
                          <a:latin typeface="Nirmala UI"/>
                        </a:rPr>
                        <a:t>Full reverse</a:t>
                      </a:r>
                    </a:p>
                  </a:txBody>
                  <a:tcPr anchor="ctr">
                    <a:solidFill>
                      <a:srgbClr val="FFFFFF"/>
                    </a:solidFill>
                  </a:tcPr>
                </a:tc>
                <a:tc>
                  <a:txBody>
                    <a:bodyPr/>
                    <a:lstStyle/>
                    <a:p>
                      <a:r>
                        <a:rPr sz="1300" b="0" i="0">
                          <a:solidFill>
                            <a:srgbClr val="000000"/>
                          </a:solidFill>
                          <a:latin typeface="Nirmala UI"/>
                        </a:rPr>
                        <a:t>No</a:t>
                      </a:r>
                    </a:p>
                  </a:txBody>
                  <a:tcPr anchor="ctr">
                    <a:solidFill>
                      <a:srgbClr val="FFFFFF"/>
                    </a:solidFill>
                  </a:tcPr>
                </a:tc>
              </a:tr>
              <a:tr h="566928">
                <a:tc>
                  <a:txBody>
                    <a:bodyPr/>
                    <a:lstStyle/>
                    <a:p>
                      <a:r>
                        <a:rPr sz="1300" b="1" i="0">
                          <a:solidFill>
                            <a:srgbClr val="000000"/>
                          </a:solidFill>
                          <a:latin typeface="Nirmala UI"/>
                        </a:rPr>
                        <a:t>{ customerId: 1, createdAt: 1 }</a:t>
                      </a:r>
                    </a:p>
                  </a:txBody>
                  <a:tcPr anchor="ctr">
                    <a:solidFill>
                      <a:srgbClr val="F5F5F5"/>
                    </a:solidFill>
                  </a:tcPr>
                </a:tc>
                <a:tc>
                  <a:txBody>
                    <a:bodyPr/>
                    <a:lstStyle/>
                    <a:p>
                      <a:r>
                        <a:rPr sz="1300" b="0" i="0">
                          <a:solidFill>
                            <a:srgbClr val="000000"/>
                          </a:solidFill>
                          <a:latin typeface="Nirmala UI"/>
                        </a:rPr>
                        <a:t>Mixed directions</a:t>
                      </a:r>
                    </a:p>
                  </a:txBody>
                  <a:tcPr anchor="ctr">
                    <a:solidFill>
                      <a:srgbClr val="F5F5F5"/>
                    </a:solidFill>
                  </a:tcPr>
                </a:tc>
                <a:tc>
                  <a:txBody>
                    <a:bodyPr/>
                    <a:lstStyle/>
                    <a:p>
                      <a:r>
                        <a:rPr sz="1300" b="0" i="0">
                          <a:solidFill>
                            <a:srgbClr val="000000"/>
                          </a:solidFill>
                          <a:latin typeface="Nirmala UI"/>
                        </a:rPr>
                        <a:t>Yes</a:t>
                      </a:r>
                    </a:p>
                  </a:txBody>
                  <a:tcPr anchor="ctr">
                    <a:solidFill>
                      <a:srgbClr val="F5F5F5"/>
                    </a:solidFill>
                  </a:tcPr>
                </a:tc>
              </a:tr>
              <a:tr h="566928">
                <a:tc>
                  <a:txBody>
                    <a:bodyPr/>
                    <a:lstStyle/>
                    <a:p>
                      <a:r>
                        <a:rPr sz="1300" b="1" i="0">
                          <a:solidFill>
                            <a:srgbClr val="000000"/>
                          </a:solidFill>
                          <a:latin typeface="Nirmala UI"/>
                        </a:rPr>
                        <a:t>{ createdAt: -1 }, no customer filter</a:t>
                      </a:r>
                    </a:p>
                  </a:txBody>
                  <a:tcPr anchor="ctr">
                    <a:solidFill>
                      <a:srgbClr val="FFFFFF"/>
                    </a:solidFill>
                  </a:tcPr>
                </a:tc>
                <a:tc>
                  <a:txBody>
                    <a:bodyPr/>
                    <a:lstStyle/>
                    <a:p>
                      <a:r>
                        <a:rPr sz="1300" b="0" i="0">
                          <a:solidFill>
                            <a:srgbClr val="000000"/>
                          </a:solidFill>
                          <a:latin typeface="Nirmala UI"/>
                        </a:rPr>
                        <a:t>Not in date order</a:t>
                      </a:r>
                    </a:p>
                  </a:txBody>
                  <a:tcPr anchor="ctr">
                    <a:solidFill>
                      <a:srgbClr val="FFFFFF"/>
                    </a:solidFill>
                  </a:tcPr>
                </a:tc>
                <a:tc>
                  <a:txBody>
                    <a:bodyPr/>
                    <a:lstStyle/>
                    <a:p>
                      <a:r>
                        <a:rPr sz="1300" b="0" i="0">
                          <a:solidFill>
                            <a:srgbClr val="000000"/>
                          </a:solidFill>
                          <a:latin typeface="Nirmala UI"/>
                        </a:rPr>
                        <a:t>Yes</a:t>
                      </a:r>
                    </a:p>
                  </a:txBody>
                  <a:tcPr anchor="ctr">
                    <a:solidFill>
                      <a:srgbClr val="FFFFFF"/>
                    </a:solidFill>
                  </a:tcPr>
                </a:tc>
              </a:tr>
            </a:tbl>
          </a:graphicData>
        </a:graphic>
      </p:graphicFrame>
      <p:sp>
        <p:nvSpPr>
          <p:cNvPr id="5" name="Rounded Rectangle 4"/>
          <p:cNvSpPr/>
          <p:nvPr/>
        </p:nvSpPr>
        <p:spPr>
          <a:xfrm>
            <a:off x="7955279" y="1298448"/>
            <a:ext cx="37490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8092440" y="1353312"/>
            <a:ext cx="3474720" cy="292608"/>
          </a:xfrm>
          <a:prstGeom prst="rect">
            <a:avLst/>
          </a:prstGeom>
          <a:noFill/>
        </p:spPr>
        <p:txBody>
          <a:bodyPr wrap="square" anchor="ctr" lIns="0" rIns="0" tIns="0" bIns="0">
            <a:spAutoFit/>
          </a:bodyPr>
          <a:lstStyle/>
          <a:p>
            <a:pPr algn="l"/>
            <a:r>
              <a:rPr sz="1300" b="1" i="0">
                <a:solidFill>
                  <a:srgbClr val="002060"/>
                </a:solidFill>
                <a:latin typeface="Nirmala UI"/>
              </a:rPr>
              <a:t>Same or full reverse</a:t>
            </a:r>
          </a:p>
        </p:txBody>
      </p:sp>
      <p:sp>
        <p:nvSpPr>
          <p:cNvPr id="7" name="TextBox 6"/>
          <p:cNvSpPr txBox="1"/>
          <p:nvPr/>
        </p:nvSpPr>
        <p:spPr>
          <a:xfrm>
            <a:off x="8092440" y="1664208"/>
            <a:ext cx="3474720" cy="874775"/>
          </a:xfrm>
          <a:prstGeom prst="rect">
            <a:avLst/>
          </a:prstGeom>
          <a:noFill/>
        </p:spPr>
        <p:txBody>
          <a:bodyPr wrap="square" anchor="t" lIns="0" rIns="0" tIns="0" bIns="0">
            <a:spAutoFit/>
          </a:bodyPr>
          <a:lstStyle/>
          <a:p>
            <a:pPr algn="l"/>
            <a:r>
              <a:rPr sz="1200" b="0" i="0">
                <a:solidFill>
                  <a:srgbClr val="000000"/>
                </a:solidFill>
                <a:latin typeface="Nirmala UI"/>
              </a:rPr>
              <a:t>An index can be walked forwards or backwards — never half of each.</a:t>
            </a:r>
          </a:p>
        </p:txBody>
      </p:sp>
      <p:sp>
        <p:nvSpPr>
          <p:cNvPr id="8" name="Rounded Rectangle 7"/>
          <p:cNvSpPr/>
          <p:nvPr/>
        </p:nvSpPr>
        <p:spPr>
          <a:xfrm>
            <a:off x="7955279" y="2721864"/>
            <a:ext cx="37490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092440" y="2776728"/>
            <a:ext cx="3474720" cy="292608"/>
          </a:xfrm>
          <a:prstGeom prst="rect">
            <a:avLst/>
          </a:prstGeom>
          <a:noFill/>
        </p:spPr>
        <p:txBody>
          <a:bodyPr wrap="square" anchor="ctr" lIns="0" rIns="0" tIns="0" bIns="0">
            <a:spAutoFit/>
          </a:bodyPr>
          <a:lstStyle/>
          <a:p>
            <a:pPr algn="l"/>
            <a:r>
              <a:rPr sz="1300" b="1" i="0">
                <a:solidFill>
                  <a:srgbClr val="002060"/>
                </a:solidFill>
                <a:latin typeface="Nirmala UI"/>
              </a:rPr>
              <a:t>Mixed directions</a:t>
            </a:r>
          </a:p>
        </p:txBody>
      </p:sp>
      <p:sp>
        <p:nvSpPr>
          <p:cNvPr id="10" name="TextBox 9"/>
          <p:cNvSpPr txBox="1"/>
          <p:nvPr/>
        </p:nvSpPr>
        <p:spPr>
          <a:xfrm>
            <a:off x="8092440" y="3087624"/>
            <a:ext cx="3474720" cy="874776"/>
          </a:xfrm>
          <a:prstGeom prst="rect">
            <a:avLst/>
          </a:prstGeom>
          <a:noFill/>
        </p:spPr>
        <p:txBody>
          <a:bodyPr wrap="square" anchor="t" lIns="0" rIns="0" tIns="0" bIns="0">
            <a:spAutoFit/>
          </a:bodyPr>
          <a:lstStyle/>
          <a:p>
            <a:pPr algn="l"/>
            <a:r>
              <a:rPr sz="1200" b="0" i="0">
                <a:solidFill>
                  <a:srgbClr val="000000"/>
                </a:solidFill>
                <a:latin typeface="Nirmala UI"/>
              </a:rPr>
              <a:t>Need an index built in that mix, such as { customerId: 1, createdAt: 1 }.</a:t>
            </a:r>
          </a:p>
        </p:txBody>
      </p:sp>
      <p:sp>
        <p:nvSpPr>
          <p:cNvPr id="11" name="Rounded Rectangle 10"/>
          <p:cNvSpPr/>
          <p:nvPr/>
        </p:nvSpPr>
        <p:spPr>
          <a:xfrm>
            <a:off x="7955279" y="4145280"/>
            <a:ext cx="374904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138159" y="4145280"/>
            <a:ext cx="3383280" cy="1075944"/>
          </a:xfrm>
          <a:prstGeom prst="rect">
            <a:avLst/>
          </a:prstGeom>
          <a:noFill/>
        </p:spPr>
        <p:txBody>
          <a:bodyPr wrap="square" anchor="ctr" lIns="0" rIns="0" tIns="0" bIns="0">
            <a:spAutoFit/>
          </a:bodyPr>
          <a:lstStyle/>
          <a:p>
            <a:pPr algn="l"/>
            <a:r>
              <a:rPr sz="1200" b="1" i="0">
                <a:solidFill>
                  <a:srgbClr val="D1282E"/>
                </a:solidFill>
                <a:latin typeface="Nirmala UI"/>
              </a:rPr>
              <a:t>ONE FIELD   </a:t>
            </a:r>
            <a:r>
              <a:rPr sz="1200" b="0" i="0">
                <a:solidFill>
                  <a:srgbClr val="000000"/>
                </a:solidFill>
                <a:latin typeface="Nirmala UI"/>
              </a:rPr>
              <a:t>For a single-field index, direction doesn't matter.</a:t>
            </a:r>
          </a:p>
        </p:txBody>
      </p:sp>
      <p:sp>
        <p:nvSpPr>
          <p:cNvPr id="13" name="Rounded Rectangle 1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One compound index serves its own sort order and the exact reverse — mixed directions need their own index.</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INDEX THE FULFILLMENT QUEUE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Lab 5, Step 4: a query shape the history index can't serve.</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355041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Warehouse staff list PROCESSING orders, oldest first. idx_orders_customer_date already exists.</a:t>
            </a:r>
          </a:p>
        </p:txBody>
      </p:sp>
      <p:sp>
        <p:nvSpPr>
          <p:cNvPr id="10" name="Rounded Rectangle 9"/>
          <p:cNvSpPr/>
          <p:nvPr/>
        </p:nvSpPr>
        <p:spPr>
          <a:xfrm>
            <a:off x="566928" y="3229356"/>
            <a:ext cx="3621024"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db.orders.find(</a:t>
            </a:r>
          </a:p>
          <a:p>
            <a:pPr algn="l"/>
            <a:r>
              <a:rPr sz="1100" b="0" i="0">
                <a:solidFill>
                  <a:srgbClr val="000000"/>
                </a:solidFill>
                <a:latin typeface="Consolas"/>
              </a:rPr>
              <a:t>  { fulfillmentStatus:</a:t>
            </a:r>
          </a:p>
          <a:p>
            <a:pPr algn="l"/>
            <a:r>
              <a:rPr sz="1100" b="0" i="0">
                <a:solidFill>
                  <a:srgbClr val="000000"/>
                </a:solidFill>
                <a:latin typeface="Consolas"/>
              </a:rPr>
              <a:t>      "PROCESSING" }</a:t>
            </a:r>
          </a:p>
          <a:p>
            <a:pPr algn="l"/>
            <a:r>
              <a:rPr sz="1100" b="0" i="0">
                <a:solidFill>
                  <a:srgbClr val="000000"/>
                </a:solidFill>
                <a:latin typeface="Consolas"/>
              </a:rPr>
              <a:t>).sort({ createdAt: 1 })</a:t>
            </a:r>
          </a:p>
        </p:txBody>
      </p:sp>
      <p:sp>
        <p:nvSpPr>
          <p:cNvPr id="11" name="Rounded Rectangle 10"/>
          <p:cNvSpPr/>
          <p:nvPr/>
        </p:nvSpPr>
        <p:spPr>
          <a:xfrm>
            <a:off x="4526280" y="1865376"/>
            <a:ext cx="3886200" cy="355041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Label the equality and the sort field</a:t>
            </a:r>
          </a:p>
        </p:txBody>
      </p:sp>
      <p:sp>
        <p:nvSpPr>
          <p:cNvPr id="16" name="Oval 15"/>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9941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Say why idx_orders_customer_date can't help</a:t>
            </a:r>
          </a:p>
        </p:txBody>
      </p:sp>
      <p:sp>
        <p:nvSpPr>
          <p:cNvPr id="18" name="Oval 17"/>
          <p:cNvSpPr/>
          <p:nvPr/>
        </p:nvSpPr>
        <p:spPr>
          <a:xfrm>
            <a:off x="4663440" y="3647440"/>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592576"/>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Write the createIndex command, with a name</a:t>
            </a:r>
          </a:p>
        </p:txBody>
      </p:sp>
      <p:sp>
        <p:nvSpPr>
          <p:cNvPr id="20" name="Oval 19"/>
          <p:cNvSpPr/>
          <p:nvPr/>
        </p:nvSpPr>
        <p:spPr>
          <a:xfrm>
            <a:off x="4663440" y="4245864"/>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4191000"/>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Predict the results and the new plan</a:t>
            </a:r>
          </a:p>
        </p:txBody>
      </p:sp>
      <p:sp>
        <p:nvSpPr>
          <p:cNvPr id="22" name="Rounded Rectangle 21"/>
          <p:cNvSpPr/>
          <p:nvPr/>
        </p:nvSpPr>
        <p:spPr>
          <a:xfrm>
            <a:off x="8641080" y="1865376"/>
            <a:ext cx="3063240" cy="3550411"/>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E: fulfillmentStatus · S: createdAt</a:t>
            </a:r>
          </a:p>
        </p:txBody>
      </p:sp>
      <p:sp>
        <p:nvSpPr>
          <p:cNvPr id="27" name="Oval 26"/>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Its leading field is customerId</a:t>
            </a:r>
          </a:p>
        </p:txBody>
      </p:sp>
      <p:sp>
        <p:nvSpPr>
          <p:cNvPr id="29" name="Oval 28"/>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 fulfillmentStatus: 1, createdAt: 1 }</a:t>
            </a:r>
          </a:p>
        </p:txBody>
      </p:sp>
      <p:sp>
        <p:nvSpPr>
          <p:cNvPr id="31" name="Oval 30"/>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4043171"/>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Named idx_orders_fulfillment_date</a:t>
            </a:r>
          </a:p>
        </p:txBody>
      </p:sp>
      <p:sp>
        <p:nvSpPr>
          <p:cNvPr id="33" name="Oval 32"/>
          <p:cNvSpPr/>
          <p:nvPr/>
        </p:nvSpPr>
        <p:spPr>
          <a:xfrm>
            <a:off x="8778240" y="464718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4" name="TextBox 33"/>
          <p:cNvSpPr txBox="1"/>
          <p:nvPr/>
        </p:nvSpPr>
        <p:spPr>
          <a:xfrm>
            <a:off x="9116567" y="4592319"/>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O6202, O6302, O6401 — IXSCAN, no SORT</a:t>
            </a:r>
          </a:p>
        </p:txBody>
      </p:sp>
      <p:sp>
        <p:nvSpPr>
          <p:cNvPr id="35" name="Rounded Rectangle 3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important query shape needs an index that leads with its own equality fields.</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4: SPECIALIZED INDEX TYPES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Arrays, business rules, subsets and expiry.</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How indexes work</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Manage indexes</a:t>
            </a:r>
          </a:p>
        </p:txBody>
      </p:sp>
      <p:sp>
        <p:nvSpPr>
          <p:cNvPr id="8" name="Chevron 7"/>
          <p:cNvSpPr/>
          <p:nvPr/>
        </p:nvSpPr>
        <p:spPr>
          <a:xfrm>
            <a:off x="4147108"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Compound + ESR</a:t>
            </a:r>
          </a:p>
        </p:txBody>
      </p:sp>
      <p:sp>
        <p:nvSpPr>
          <p:cNvPr id="10" name="Chevron 9"/>
          <p:cNvSpPr/>
          <p:nvPr/>
        </p:nvSpPr>
        <p:spPr>
          <a:xfrm>
            <a:off x="5992063"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Specialized types</a:t>
            </a:r>
          </a:p>
        </p:txBody>
      </p:sp>
      <p:sp>
        <p:nvSpPr>
          <p:cNvPr id="12" name="Chevron 11"/>
          <p:cNvSpPr/>
          <p:nvPr/>
        </p:nvSpPr>
        <p:spPr>
          <a:xfrm>
            <a:off x="7837017"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explain()</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Costs + mistakes</a:t>
            </a:r>
          </a:p>
        </p:txBody>
      </p:sp>
      <p:sp>
        <p:nvSpPr>
          <p:cNvPr id="16" name="Rounded Rectangle 15"/>
          <p:cNvSpPr/>
          <p:nvPr/>
        </p:nvSpPr>
        <p:spPr>
          <a:xfrm>
            <a:off x="457200" y="2304288"/>
            <a:ext cx="4937760" cy="240334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Compound indexes sort by the first field, then the next</a:t>
            </a:r>
          </a:p>
        </p:txBody>
      </p:sp>
      <p:sp>
        <p:nvSpPr>
          <p:cNvPr id="21" name="Oval 20"/>
          <p:cNvSpPr/>
          <p:nvPr/>
        </p:nvSpPr>
        <p:spPr>
          <a:xfrm>
            <a:off x="640080" y="36012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5280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Queries use an index through its prefix</a:t>
            </a:r>
          </a:p>
        </p:txBody>
      </p:sp>
      <p:sp>
        <p:nvSpPr>
          <p:cNvPr id="23" name="Oval 22"/>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40035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ESR: equality, then sort, then range</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What if the field is an array, must be unique, or matters only for some documents?</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Multikey indexes on arrays</a:t>
            </a:r>
          </a:p>
        </p:txBody>
      </p:sp>
      <p:sp>
        <p:nvSpPr>
          <p:cNvPr id="31" name="Oval 30"/>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Unique indexes</a:t>
            </a:r>
          </a:p>
        </p:txBody>
      </p:sp>
      <p:sp>
        <p:nvSpPr>
          <p:cNvPr id="33" name="Oval 32"/>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Partial indexes</a:t>
            </a:r>
          </a:p>
        </p:txBody>
      </p:sp>
      <p:sp>
        <p:nvSpPr>
          <p:cNvPr id="35" name="Oval 34"/>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Sparse indexes</a:t>
            </a:r>
          </a:p>
        </p:txBody>
      </p:sp>
      <p:sp>
        <p:nvSpPr>
          <p:cNvPr id="37" name="Oval 36"/>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TTL indexes</a:t>
            </a:r>
          </a:p>
        </p:txBody>
      </p:sp>
      <p:sp>
        <p:nvSpPr>
          <p:cNvPr id="39" name="Oval 38"/>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40" name="TextBox 39"/>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Text, wildcard, geospatial, hashed</a:t>
            </a:r>
          </a:p>
        </p:txBody>
      </p:sp>
      <p:sp>
        <p:nvSpPr>
          <p:cNvPr id="41" name="Oval 40"/>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2" name="TextBox 41"/>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Choosing the right type</a:t>
            </a:r>
          </a:p>
        </p:txBody>
      </p:sp>
      <p:sp>
        <p:nvSpPr>
          <p:cNvPr id="43" name="Rectangle 4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MULTIKEY INDEXES ON ARRAYS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One index key for every array value — real tags from training_store products.</a:t>
            </a:r>
          </a:p>
        </p:txBody>
      </p:sp>
      <p:sp>
        <p:nvSpPr>
          <p:cNvPr id="4" name="Oval 3"/>
          <p:cNvSpPr/>
          <p:nvPr/>
        </p:nvSpPr>
        <p:spPr>
          <a:xfrm>
            <a:off x="457200" y="1298448"/>
            <a:ext cx="310896" cy="310896"/>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841248" y="1289304"/>
            <a:ext cx="2679192" cy="347472"/>
          </a:xfrm>
          <a:prstGeom prst="rect">
            <a:avLst/>
          </a:prstGeom>
          <a:noFill/>
        </p:spPr>
        <p:txBody>
          <a:bodyPr wrap="square" anchor="ctr" lIns="0" rIns="0" tIns="0" bIns="0">
            <a:spAutoFit/>
          </a:bodyPr>
          <a:lstStyle/>
          <a:p>
            <a:pPr algn="l"/>
            <a:r>
              <a:rPr sz="1400" b="1" i="0">
                <a:solidFill>
                  <a:srgbClr val="D1282E"/>
                </a:solidFill>
                <a:latin typeface="Nirmala UI"/>
              </a:rPr>
              <a:t>THREE PRODUCTS</a:t>
            </a:r>
          </a:p>
        </p:txBody>
      </p:sp>
      <p:sp>
        <p:nvSpPr>
          <p:cNvPr id="7" name="TextBox 6"/>
          <p:cNvSpPr txBox="1"/>
          <p:nvPr/>
        </p:nvSpPr>
        <p:spPr>
          <a:xfrm>
            <a:off x="457200" y="1719072"/>
            <a:ext cx="3063240" cy="237744"/>
          </a:xfrm>
          <a:prstGeom prst="rect">
            <a:avLst/>
          </a:prstGeom>
          <a:noFill/>
        </p:spPr>
        <p:txBody>
          <a:bodyPr wrap="square" anchor="t" lIns="0" rIns="0" tIns="0" bIns="0">
            <a:spAutoFit/>
          </a:bodyPr>
          <a:lstStyle/>
          <a:p>
            <a:pPr algn="l"/>
            <a:r>
              <a:rPr sz="1100" b="1" i="0">
                <a:solidFill>
                  <a:srgbClr val="0E7C7B"/>
                </a:solidFill>
                <a:latin typeface="Nirmala UI"/>
              </a:rPr>
              <a:t>Wireless Keyboard</a:t>
            </a:r>
          </a:p>
        </p:txBody>
      </p:sp>
      <p:sp>
        <p:nvSpPr>
          <p:cNvPr id="8" name="Rounded Rectangle 7"/>
          <p:cNvSpPr/>
          <p:nvPr/>
        </p:nvSpPr>
        <p:spPr>
          <a:xfrm>
            <a:off x="457200" y="1956816"/>
            <a:ext cx="3063240" cy="74066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sku: "P1001",</a:t>
            </a:r>
          </a:p>
          <a:p>
            <a:pPr algn="l"/>
            <a:r>
              <a:rPr sz="1200" b="0" i="0">
                <a:solidFill>
                  <a:srgbClr val="000000"/>
                </a:solidFill>
                <a:latin typeface="Consolas"/>
              </a:rPr>
              <a:t>tags: [ "wireless",</a:t>
            </a:r>
          </a:p>
          <a:p>
            <a:pPr algn="l"/>
            <a:r>
              <a:rPr sz="1200" b="0" i="0">
                <a:solidFill>
                  <a:srgbClr val="000000"/>
                </a:solidFill>
                <a:latin typeface="Consolas"/>
              </a:rPr>
              <a:t>        "accessories" ]</a:t>
            </a:r>
          </a:p>
        </p:txBody>
      </p:sp>
      <p:sp>
        <p:nvSpPr>
          <p:cNvPr id="9" name="TextBox 8"/>
          <p:cNvSpPr txBox="1"/>
          <p:nvPr/>
        </p:nvSpPr>
        <p:spPr>
          <a:xfrm>
            <a:off x="457200" y="2935224"/>
            <a:ext cx="3063240" cy="237744"/>
          </a:xfrm>
          <a:prstGeom prst="rect">
            <a:avLst/>
          </a:prstGeom>
          <a:noFill/>
        </p:spPr>
        <p:txBody>
          <a:bodyPr wrap="square" anchor="t" lIns="0" rIns="0" tIns="0" bIns="0">
            <a:spAutoFit/>
          </a:bodyPr>
          <a:lstStyle/>
          <a:p>
            <a:pPr algn="l"/>
            <a:r>
              <a:rPr sz="1100" b="1" i="0">
                <a:solidFill>
                  <a:srgbClr val="0E7C7B"/>
                </a:solidFill>
                <a:latin typeface="Nirmala UI"/>
              </a:rPr>
              <a:t>USB Hub</a:t>
            </a:r>
          </a:p>
        </p:txBody>
      </p:sp>
      <p:sp>
        <p:nvSpPr>
          <p:cNvPr id="10" name="Rounded Rectangle 9"/>
          <p:cNvSpPr/>
          <p:nvPr/>
        </p:nvSpPr>
        <p:spPr>
          <a:xfrm>
            <a:off x="457200" y="3172968"/>
            <a:ext cx="3063240" cy="74066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sku: "A400",</a:t>
            </a:r>
          </a:p>
          <a:p>
            <a:pPr algn="l"/>
            <a:r>
              <a:rPr sz="1200" b="0" i="0">
                <a:solidFill>
                  <a:srgbClr val="000000"/>
                </a:solidFill>
                <a:latin typeface="Consolas"/>
              </a:rPr>
              <a:t>tags: [ "office",</a:t>
            </a:r>
          </a:p>
          <a:p>
            <a:pPr algn="l"/>
            <a:r>
              <a:rPr sz="1200" b="0" i="0">
                <a:solidFill>
                  <a:srgbClr val="000000"/>
                </a:solidFill>
                <a:latin typeface="Consolas"/>
              </a:rPr>
              <a:t>        "accessories" ]</a:t>
            </a:r>
          </a:p>
        </p:txBody>
      </p:sp>
      <p:sp>
        <p:nvSpPr>
          <p:cNvPr id="11" name="TextBox 10"/>
          <p:cNvSpPr txBox="1"/>
          <p:nvPr/>
        </p:nvSpPr>
        <p:spPr>
          <a:xfrm>
            <a:off x="457200" y="4151376"/>
            <a:ext cx="3063240" cy="237744"/>
          </a:xfrm>
          <a:prstGeom prst="rect">
            <a:avLst/>
          </a:prstGeom>
          <a:noFill/>
        </p:spPr>
        <p:txBody>
          <a:bodyPr wrap="square" anchor="t" lIns="0" rIns="0" tIns="0" bIns="0">
            <a:spAutoFit/>
          </a:bodyPr>
          <a:lstStyle/>
          <a:p>
            <a:pPr algn="l"/>
            <a:r>
              <a:rPr sz="1100" b="1" i="0">
                <a:solidFill>
                  <a:srgbClr val="0E7C7B"/>
                </a:solidFill>
                <a:latin typeface="Nirmala UI"/>
              </a:rPr>
              <a:t>Wireless Mouse</a:t>
            </a:r>
          </a:p>
        </p:txBody>
      </p:sp>
      <p:sp>
        <p:nvSpPr>
          <p:cNvPr id="12" name="Rounded Rectangle 11"/>
          <p:cNvSpPr/>
          <p:nvPr/>
        </p:nvSpPr>
        <p:spPr>
          <a:xfrm>
            <a:off x="457200" y="4389120"/>
            <a:ext cx="3063240" cy="74066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sku: "A410",</a:t>
            </a:r>
          </a:p>
          <a:p>
            <a:pPr algn="l"/>
            <a:r>
              <a:rPr sz="1200" b="0" i="0">
                <a:solidFill>
                  <a:srgbClr val="000000"/>
                </a:solidFill>
                <a:latin typeface="Consolas"/>
              </a:rPr>
              <a:t>tags: [ "wireless",</a:t>
            </a:r>
          </a:p>
          <a:p>
            <a:pPr algn="l"/>
            <a:r>
              <a:rPr sz="1200" b="0" i="0">
                <a:solidFill>
                  <a:srgbClr val="000000"/>
                </a:solidFill>
                <a:latin typeface="Consolas"/>
              </a:rPr>
              <a:t>        "accessories" ]</a:t>
            </a:r>
          </a:p>
        </p:txBody>
      </p:sp>
      <p:sp>
        <p:nvSpPr>
          <p:cNvPr id="13" name="Rounded Rectangle 12"/>
          <p:cNvSpPr/>
          <p:nvPr/>
        </p:nvSpPr>
        <p:spPr>
          <a:xfrm>
            <a:off x="3931920" y="1298448"/>
            <a:ext cx="3154680" cy="384048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Round Same Side Corner Rectangle 13"/>
          <p:cNvSpPr/>
          <p:nvPr/>
        </p:nvSpPr>
        <p:spPr>
          <a:xfrm>
            <a:off x="3931920" y="1298448"/>
            <a:ext cx="31546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4069080" y="1298448"/>
            <a:ext cx="2880360" cy="420624"/>
          </a:xfrm>
          <a:prstGeom prst="rect">
            <a:avLst/>
          </a:prstGeom>
          <a:noFill/>
        </p:spPr>
        <p:txBody>
          <a:bodyPr wrap="square" anchor="ctr" lIns="0" rIns="0" tIns="0" bIns="0">
            <a:spAutoFit/>
          </a:bodyPr>
          <a:lstStyle/>
          <a:p>
            <a:pPr algn="l"/>
            <a:r>
              <a:rPr sz="1400" b="1" i="0">
                <a:solidFill>
                  <a:srgbClr val="FFFFFF"/>
                </a:solidFill>
                <a:latin typeface="Nirmala UI"/>
              </a:rPr>
              <a:t>IDX_PRODUCTS_TAGS</a:t>
            </a:r>
          </a:p>
        </p:txBody>
      </p:sp>
      <p:sp>
        <p:nvSpPr>
          <p:cNvPr id="16" name="Rounded Rectangle 15"/>
          <p:cNvSpPr/>
          <p:nvPr/>
        </p:nvSpPr>
        <p:spPr>
          <a:xfrm>
            <a:off x="4069080" y="1828800"/>
            <a:ext cx="2880360" cy="402336"/>
          </a:xfrm>
          <a:prstGeom prst="roundRect">
            <a:avLst>
              <a:gd name="adj" fmla="val 1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200" b="0" i="0">
                <a:solidFill>
                  <a:srgbClr val="000000"/>
                </a:solidFill>
                <a:latin typeface="Consolas"/>
              </a:rPr>
              <a:t>accessories → P1001</a:t>
            </a:r>
          </a:p>
        </p:txBody>
      </p:sp>
      <p:sp>
        <p:nvSpPr>
          <p:cNvPr id="17" name="Rounded Rectangle 16"/>
          <p:cNvSpPr/>
          <p:nvPr/>
        </p:nvSpPr>
        <p:spPr>
          <a:xfrm>
            <a:off x="4069080" y="2295144"/>
            <a:ext cx="2880360" cy="402336"/>
          </a:xfrm>
          <a:prstGeom prst="roundRect">
            <a:avLst>
              <a:gd name="adj" fmla="val 1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200" b="0" i="0">
                <a:solidFill>
                  <a:srgbClr val="000000"/>
                </a:solidFill>
                <a:latin typeface="Consolas"/>
              </a:rPr>
              <a:t>accessories → A400</a:t>
            </a:r>
          </a:p>
        </p:txBody>
      </p:sp>
      <p:sp>
        <p:nvSpPr>
          <p:cNvPr id="18" name="Rounded Rectangle 17"/>
          <p:cNvSpPr/>
          <p:nvPr/>
        </p:nvSpPr>
        <p:spPr>
          <a:xfrm>
            <a:off x="4069080" y="2761488"/>
            <a:ext cx="2880360" cy="402336"/>
          </a:xfrm>
          <a:prstGeom prst="roundRect">
            <a:avLst>
              <a:gd name="adj" fmla="val 1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200" b="0" i="0">
                <a:solidFill>
                  <a:srgbClr val="000000"/>
                </a:solidFill>
                <a:latin typeface="Consolas"/>
              </a:rPr>
              <a:t>accessories → A410</a:t>
            </a:r>
          </a:p>
        </p:txBody>
      </p:sp>
      <p:sp>
        <p:nvSpPr>
          <p:cNvPr id="19" name="TextBox 18"/>
          <p:cNvSpPr txBox="1"/>
          <p:nvPr/>
        </p:nvSpPr>
        <p:spPr>
          <a:xfrm>
            <a:off x="4069080" y="3227832"/>
            <a:ext cx="2880360" cy="402336"/>
          </a:xfrm>
          <a:prstGeom prst="rect">
            <a:avLst/>
          </a:prstGeom>
          <a:noFill/>
        </p:spPr>
        <p:txBody>
          <a:bodyPr wrap="square" anchor="ctr" lIns="0" rIns="0" tIns="0" bIns="0">
            <a:spAutoFit/>
          </a:bodyPr>
          <a:lstStyle/>
          <a:p>
            <a:pPr algn="ctr"/>
            <a:r>
              <a:rPr sz="1200" b="0" i="1">
                <a:solidFill>
                  <a:srgbClr val="595959"/>
                </a:solidFill>
                <a:latin typeface="Nirmala UI"/>
              </a:rPr>
              <a:t>…  (26 keys in all)</a:t>
            </a:r>
          </a:p>
        </p:txBody>
      </p:sp>
      <p:sp>
        <p:nvSpPr>
          <p:cNvPr id="20" name="Rounded Rectangle 19"/>
          <p:cNvSpPr/>
          <p:nvPr/>
        </p:nvSpPr>
        <p:spPr>
          <a:xfrm>
            <a:off x="4069080" y="3694176"/>
            <a:ext cx="2880360" cy="402336"/>
          </a:xfrm>
          <a:prstGeom prst="roundRect">
            <a:avLst>
              <a:gd name="adj" fmla="val 10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200" b="0" i="0">
                <a:solidFill>
                  <a:srgbClr val="000000"/>
                </a:solidFill>
                <a:latin typeface="Consolas"/>
              </a:rPr>
              <a:t>office      → A400</a:t>
            </a:r>
          </a:p>
        </p:txBody>
      </p:sp>
      <p:sp>
        <p:nvSpPr>
          <p:cNvPr id="21" name="Rounded Rectangle 20"/>
          <p:cNvSpPr/>
          <p:nvPr/>
        </p:nvSpPr>
        <p:spPr>
          <a:xfrm>
            <a:off x="4069080" y="4160520"/>
            <a:ext cx="2880360" cy="402336"/>
          </a:xfrm>
          <a:prstGeom prst="roundRect">
            <a:avLst>
              <a:gd name="adj" fmla="val 10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200" b="1" i="0">
                <a:solidFill>
                  <a:srgbClr val="2E7D32"/>
                </a:solidFill>
                <a:latin typeface="Consolas"/>
              </a:rPr>
              <a:t>wireless    → P1001</a:t>
            </a:r>
          </a:p>
        </p:txBody>
      </p:sp>
      <p:sp>
        <p:nvSpPr>
          <p:cNvPr id="22" name="Rounded Rectangle 21"/>
          <p:cNvSpPr/>
          <p:nvPr/>
        </p:nvSpPr>
        <p:spPr>
          <a:xfrm>
            <a:off x="4069080" y="4626864"/>
            <a:ext cx="2880360" cy="402336"/>
          </a:xfrm>
          <a:prstGeom prst="roundRect">
            <a:avLst>
              <a:gd name="adj" fmla="val 10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200" b="1" i="0">
                <a:solidFill>
                  <a:srgbClr val="2E7D32"/>
                </a:solidFill>
                <a:latin typeface="Consolas"/>
              </a:rPr>
              <a:t>wireless    → A410</a:t>
            </a:r>
          </a:p>
        </p:txBody>
      </p:sp>
      <p:cxnSp>
        <p:nvCxnSpPr>
          <p:cNvPr id="23" name="Connector 22"/>
          <p:cNvCxnSpPr/>
          <p:nvPr/>
        </p:nvCxnSpPr>
        <p:spPr>
          <a:xfrm>
            <a:off x="3557016" y="2327148"/>
            <a:ext cx="338328" cy="0"/>
          </a:xfrm>
          <a:prstGeom prst="line">
            <a:avLst/>
          </a:prstGeom>
          <a:ln w="22225">
            <a:solidFill>
              <a:srgbClr val="28727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57016" y="3543300"/>
            <a:ext cx="338328" cy="0"/>
          </a:xfrm>
          <a:prstGeom prst="line">
            <a:avLst/>
          </a:prstGeom>
          <a:ln w="22225">
            <a:solidFill>
              <a:srgbClr val="287271"/>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57016" y="4759452"/>
            <a:ext cx="338328" cy="0"/>
          </a:xfrm>
          <a:prstGeom prst="line">
            <a:avLst/>
          </a:prstGeom>
          <a:ln w="22225">
            <a:solidFill>
              <a:srgbClr val="287271"/>
            </a:solidFill>
            <a:tailEnd type="triangle" w="med" h="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931920" y="5193792"/>
            <a:ext cx="3154680" cy="310896"/>
          </a:xfrm>
          <a:prstGeom prst="rect">
            <a:avLst/>
          </a:prstGeom>
          <a:noFill/>
        </p:spPr>
        <p:txBody>
          <a:bodyPr wrap="square" anchor="t" lIns="0" rIns="0" tIns="0" bIns="0">
            <a:spAutoFit/>
          </a:bodyPr>
          <a:lstStyle/>
          <a:p>
            <a:pPr algn="ctr"/>
            <a:r>
              <a:rPr sz="1200" b="1" i="0">
                <a:solidFill>
                  <a:srgbClr val="002060"/>
                </a:solidFill>
                <a:latin typeface="Nirmala UI"/>
              </a:rPr>
              <a:t>13 products → 26 index keys</a:t>
            </a:r>
          </a:p>
        </p:txBody>
      </p:sp>
      <p:sp>
        <p:nvSpPr>
          <p:cNvPr id="27" name="Oval 26"/>
          <p:cNvSpPr/>
          <p:nvPr/>
        </p:nvSpPr>
        <p:spPr>
          <a:xfrm>
            <a:off x="745236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7781544" y="1298448"/>
            <a:ext cx="3922776" cy="310896"/>
          </a:xfrm>
          <a:prstGeom prst="rect">
            <a:avLst/>
          </a:prstGeom>
          <a:noFill/>
        </p:spPr>
        <p:txBody>
          <a:bodyPr wrap="square" anchor="ctr" lIns="0" rIns="0" tIns="0" bIns="0">
            <a:spAutoFit/>
          </a:bodyPr>
          <a:lstStyle/>
          <a:p>
            <a:pPr algn="l"/>
            <a:r>
              <a:rPr sz="1300" b="1" i="0">
                <a:solidFill>
                  <a:srgbClr val="2E7D32"/>
                </a:solidFill>
                <a:latin typeface="Nirmala UI"/>
              </a:rPr>
              <a:t>Query</a:t>
            </a:r>
          </a:p>
        </p:txBody>
      </p:sp>
      <p:sp>
        <p:nvSpPr>
          <p:cNvPr id="29" name="Rounded Rectangle 28"/>
          <p:cNvSpPr/>
          <p:nvPr/>
        </p:nvSpPr>
        <p:spPr>
          <a:xfrm>
            <a:off x="7452360" y="1627632"/>
            <a:ext cx="4251960" cy="707136"/>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db.products.find(</a:t>
            </a:r>
          </a:p>
          <a:p>
            <a:pPr algn="l"/>
            <a:r>
              <a:rPr sz="1200" b="0" i="0">
                <a:solidFill>
                  <a:srgbClr val="000000"/>
                </a:solidFill>
                <a:latin typeface="Consolas"/>
              </a:rPr>
              <a:t>  { tags: "wireless" })</a:t>
            </a:r>
          </a:p>
        </p:txBody>
      </p:sp>
      <p:sp>
        <p:nvSpPr>
          <p:cNvPr id="30" name="Rounded Rectangle 29"/>
          <p:cNvSpPr/>
          <p:nvPr/>
        </p:nvSpPr>
        <p:spPr>
          <a:xfrm>
            <a:off x="7452360" y="2462784"/>
            <a:ext cx="4251960" cy="914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1" name="TextBox 30"/>
          <p:cNvSpPr txBox="1"/>
          <p:nvPr/>
        </p:nvSpPr>
        <p:spPr>
          <a:xfrm>
            <a:off x="7589520" y="2517648"/>
            <a:ext cx="397764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32" name="TextBox 31"/>
          <p:cNvSpPr txBox="1"/>
          <p:nvPr/>
        </p:nvSpPr>
        <p:spPr>
          <a:xfrm>
            <a:off x="7589520" y="2828544"/>
            <a:ext cx="3977640" cy="493776"/>
          </a:xfrm>
          <a:prstGeom prst="rect">
            <a:avLst/>
          </a:prstGeom>
          <a:noFill/>
        </p:spPr>
        <p:txBody>
          <a:bodyPr wrap="square" anchor="t" lIns="0" rIns="0" tIns="0" bIns="0">
            <a:spAutoFit/>
          </a:bodyPr>
          <a:lstStyle/>
          <a:p>
            <a:pPr algn="l"/>
            <a:r>
              <a:rPr sz="1200" b="0" i="0">
                <a:solidFill>
                  <a:srgbClr val="000000"/>
                </a:solidFill>
                <a:latin typeface="Nirmala UI"/>
              </a:rPr>
              <a:t>P1001 and A410 — 2 keys and 2 documents examined.</a:t>
            </a:r>
          </a:p>
        </p:txBody>
      </p:sp>
      <p:sp>
        <p:nvSpPr>
          <p:cNvPr id="33" name="Rounded Rectangle 32"/>
          <p:cNvSpPr/>
          <p:nvPr/>
        </p:nvSpPr>
        <p:spPr>
          <a:xfrm>
            <a:off x="7452360" y="3505200"/>
            <a:ext cx="4251960" cy="11003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4" name="TextBox 33"/>
          <p:cNvSpPr txBox="1"/>
          <p:nvPr/>
        </p:nvSpPr>
        <p:spPr>
          <a:xfrm>
            <a:off x="7589520" y="3560064"/>
            <a:ext cx="3977640" cy="292608"/>
          </a:xfrm>
          <a:prstGeom prst="rect">
            <a:avLst/>
          </a:prstGeom>
          <a:noFill/>
        </p:spPr>
        <p:txBody>
          <a:bodyPr wrap="square" anchor="ctr" lIns="0" rIns="0" tIns="0" bIns="0">
            <a:spAutoFit/>
          </a:bodyPr>
          <a:lstStyle/>
          <a:p>
            <a:pPr algn="l"/>
            <a:r>
              <a:rPr sz="1300" b="1" i="0">
                <a:solidFill>
                  <a:srgbClr val="002060"/>
                </a:solidFill>
                <a:latin typeface="Nirmala UI"/>
              </a:rPr>
              <a:t>multikey: true</a:t>
            </a:r>
          </a:p>
        </p:txBody>
      </p:sp>
      <p:sp>
        <p:nvSpPr>
          <p:cNvPr id="35" name="TextBox 34"/>
          <p:cNvSpPr txBox="1"/>
          <p:nvPr/>
        </p:nvSpPr>
        <p:spPr>
          <a:xfrm>
            <a:off x="7589520" y="3870960"/>
            <a:ext cx="3977640" cy="679704"/>
          </a:xfrm>
          <a:prstGeom prst="rect">
            <a:avLst/>
          </a:prstGeom>
          <a:noFill/>
        </p:spPr>
        <p:txBody>
          <a:bodyPr wrap="square" anchor="t" lIns="0" rIns="0" tIns="0" bIns="0">
            <a:spAutoFit/>
          </a:bodyPr>
          <a:lstStyle/>
          <a:p>
            <a:pPr algn="l"/>
            <a:r>
              <a:rPr sz="1200" b="0" i="0">
                <a:solidFill>
                  <a:srgbClr val="000000"/>
                </a:solidFill>
                <a:latin typeface="Nirmala UI"/>
              </a:rPr>
              <a:t>Set automatically once an indexed field holds an array.</a:t>
            </a:r>
          </a:p>
        </p:txBody>
      </p:sp>
      <p:sp>
        <p:nvSpPr>
          <p:cNvPr id="36" name="Rounded Rectangle 35"/>
          <p:cNvSpPr/>
          <p:nvPr/>
        </p:nvSpPr>
        <p:spPr>
          <a:xfrm>
            <a:off x="7452360" y="4733544"/>
            <a:ext cx="4251960" cy="11003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7" name="TextBox 36"/>
          <p:cNvSpPr txBox="1"/>
          <p:nvPr/>
        </p:nvSpPr>
        <p:spPr>
          <a:xfrm>
            <a:off x="7589520" y="4788408"/>
            <a:ext cx="3977640" cy="292608"/>
          </a:xfrm>
          <a:prstGeom prst="rect">
            <a:avLst/>
          </a:prstGeom>
          <a:noFill/>
        </p:spPr>
        <p:txBody>
          <a:bodyPr wrap="square" anchor="ctr" lIns="0" rIns="0" tIns="0" bIns="0">
            <a:spAutoFit/>
          </a:bodyPr>
          <a:lstStyle/>
          <a:p>
            <a:pPr algn="l"/>
            <a:r>
              <a:rPr sz="1300" b="1" i="0">
                <a:solidFill>
                  <a:srgbClr val="002060"/>
                </a:solidFill>
                <a:latin typeface="Nirmala UI"/>
              </a:rPr>
              <a:t>Arrays of documents</a:t>
            </a:r>
          </a:p>
        </p:txBody>
      </p:sp>
      <p:sp>
        <p:nvSpPr>
          <p:cNvPr id="38" name="TextBox 37"/>
          <p:cNvSpPr txBox="1"/>
          <p:nvPr/>
        </p:nvSpPr>
        <p:spPr>
          <a:xfrm>
            <a:off x="7589520" y="5099304"/>
            <a:ext cx="3977640" cy="679703"/>
          </a:xfrm>
          <a:prstGeom prst="rect">
            <a:avLst/>
          </a:prstGeom>
          <a:noFill/>
        </p:spPr>
        <p:txBody>
          <a:bodyPr wrap="square" anchor="t" lIns="0" rIns="0" tIns="0" bIns="0">
            <a:spAutoFit/>
          </a:bodyPr>
          <a:lstStyle/>
          <a:p>
            <a:pPr algn="l"/>
            <a:r>
              <a:rPr sz="1200" b="0" i="0">
                <a:solidFill>
                  <a:srgbClr val="000000"/>
                </a:solidFill>
                <a:latin typeface="Nirmala UI"/>
              </a:rPr>
              <a:t>{ "items.productId": 1 } finds orders that contain a product.</a:t>
            </a:r>
          </a:p>
        </p:txBody>
      </p:sp>
      <p:sp>
        <p:nvSpPr>
          <p:cNvPr id="39" name="Rounded Rectangle 3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Index an array field and MongoDB makes a multikey index — one key per value, so each array element is searchable.</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UNIQUE INDEXES ENFORCE BUSINESS RULES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duplicate SKU is rejected by the database — not just by the application.</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Rebuild with the course name</a:t>
            </a:r>
          </a:p>
        </p:txBody>
      </p:sp>
      <p:sp>
        <p:nvSpPr>
          <p:cNvPr id="5" name="Rounded Rectangle 4"/>
          <p:cNvSpPr/>
          <p:nvPr/>
        </p:nvSpPr>
        <p:spPr>
          <a:xfrm>
            <a:off x="457200" y="1627632"/>
            <a:ext cx="3596640" cy="26224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 load.js built sku_unique</a:t>
            </a:r>
          </a:p>
          <a:p>
            <a:pPr algn="l"/>
            <a:r>
              <a:rPr sz="1300" b="0" i="0">
                <a:solidFill>
                  <a:srgbClr val="000000"/>
                </a:solidFill>
                <a:latin typeface="Consolas"/>
              </a:rPr>
              <a:t>db.products.dropIndex(</a:t>
            </a:r>
          </a:p>
          <a:p>
            <a:pPr algn="l"/>
            <a:r>
              <a:rPr sz="1300" b="0" i="0">
                <a:solidFill>
                  <a:srgbClr val="000000"/>
                </a:solidFill>
                <a:latin typeface="Consolas"/>
              </a:rPr>
              <a:t>  "sku_unique")</a:t>
            </a:r>
          </a:p>
          <a:p>
            <a:pPr algn="l"/>
            <a:r>
              <a:rPr sz="1300" b="0" i="0">
                <a:solidFill>
                  <a:srgbClr val="000000"/>
                </a:solidFill>
                <a:latin typeface="Consolas"/>
              </a:rPr>
              <a:t>db.products.createIndex(</a:t>
            </a:r>
          </a:p>
          <a:p>
            <a:pPr algn="l"/>
            <a:r>
              <a:rPr sz="1300" b="0" i="0">
                <a:solidFill>
                  <a:srgbClr val="000000"/>
                </a:solidFill>
                <a:latin typeface="Consolas"/>
              </a:rPr>
              <a:t>  { sku: 1 },</a:t>
            </a:r>
          </a:p>
          <a:p>
            <a:pPr algn="l"/>
            <a:r>
              <a:rPr sz="1300" b="0" i="0">
                <a:solidFill>
                  <a:srgbClr val="000000"/>
                </a:solidFill>
                <a:latin typeface="Consolas"/>
              </a:rPr>
              <a:t>  { unique: true,</a:t>
            </a:r>
          </a:p>
          <a:p>
            <a:pPr algn="l"/>
            <a:r>
              <a:rPr sz="1300" b="0" i="0">
                <a:solidFill>
                  <a:srgbClr val="000000"/>
                </a:solidFill>
                <a:latin typeface="Consolas"/>
              </a:rPr>
              <a:t>    name: "uq_products_sku" })</a:t>
            </a:r>
          </a:p>
        </p:txBody>
      </p:sp>
      <p:sp>
        <p:nvSpPr>
          <p:cNvPr id="6" name="Oval 5"/>
          <p:cNvSpPr/>
          <p:nvPr/>
        </p:nvSpPr>
        <p:spPr>
          <a:xfrm>
            <a:off x="4282440" y="132588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4611624" y="1298448"/>
            <a:ext cx="3267456" cy="310896"/>
          </a:xfrm>
          <a:prstGeom prst="rect">
            <a:avLst/>
          </a:prstGeom>
          <a:noFill/>
        </p:spPr>
        <p:txBody>
          <a:bodyPr wrap="square" anchor="ctr" lIns="0" rIns="0" tIns="0" bIns="0">
            <a:spAutoFit/>
          </a:bodyPr>
          <a:lstStyle/>
          <a:p>
            <a:pPr algn="l"/>
            <a:r>
              <a:rPr sz="1300" b="1" i="0">
                <a:solidFill>
                  <a:srgbClr val="D1282E"/>
                </a:solidFill>
                <a:latin typeface="Nirmala UI"/>
              </a:rPr>
              <a:t>A duplicate is rejected</a:t>
            </a:r>
          </a:p>
        </p:txBody>
      </p:sp>
      <p:sp>
        <p:nvSpPr>
          <p:cNvPr id="8" name="Rounded Rectangle 7"/>
          <p:cNvSpPr/>
          <p:nvPr/>
        </p:nvSpPr>
        <p:spPr>
          <a:xfrm>
            <a:off x="4282440" y="1627632"/>
            <a:ext cx="3596640" cy="2622422"/>
          </a:xfrm>
          <a:prstGeom prst="roundRect">
            <a:avLst>
              <a:gd name="adj" fmla="val 6000"/>
            </a:avLst>
          </a:prstGeom>
          <a:solidFill>
            <a:srgbClr val="FDECE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db.products.insertOne({</a:t>
            </a:r>
          </a:p>
          <a:p>
            <a:pPr algn="l"/>
            <a:r>
              <a:rPr sz="1300" b="0" i="0">
                <a:solidFill>
                  <a:srgbClr val="000000"/>
                </a:solidFill>
                <a:latin typeface="Consolas"/>
              </a:rPr>
              <a:t>  sku: "L100",</a:t>
            </a:r>
          </a:p>
          <a:p>
            <a:pPr algn="l"/>
            <a:r>
              <a:rPr sz="1300" b="0" i="0">
                <a:solidFill>
                  <a:srgbClr val="000000"/>
                </a:solidFill>
                <a:latin typeface="Consolas"/>
              </a:rPr>
              <a:t>  name: "Duplicate SKU test"</a:t>
            </a:r>
          </a:p>
          <a:p>
            <a:pPr algn="l"/>
            <a:r>
              <a:rPr sz="1300" b="0" i="0">
                <a:solidFill>
                  <a:srgbClr val="000000"/>
                </a:solidFill>
                <a:latin typeface="Consolas"/>
              </a:rPr>
              <a:t>})</a:t>
            </a:r>
          </a:p>
          <a:p>
            <a:pPr algn="l"/>
            <a:r>
              <a:rPr sz="1300" b="0" i="0">
                <a:solidFill>
                  <a:srgbClr val="000000"/>
                </a:solidFill>
                <a:latin typeface="Consolas"/>
              </a:rPr>
              <a:t/>
            </a:r>
          </a:p>
          <a:p>
            <a:pPr algn="l"/>
            <a:r>
              <a:rPr sz="1300" b="0" i="0">
                <a:solidFill>
                  <a:srgbClr val="000000"/>
                </a:solidFill>
                <a:latin typeface="Consolas"/>
              </a:rPr>
              <a:t>MongoServerError: E11000</a:t>
            </a:r>
          </a:p>
          <a:p>
            <a:pPr algn="l"/>
            <a:r>
              <a:rPr sz="1300" b="0" i="0">
                <a:solidFill>
                  <a:srgbClr val="000000"/>
                </a:solidFill>
                <a:latin typeface="Consolas"/>
              </a:rPr>
              <a:t>duplicate key error …</a:t>
            </a:r>
          </a:p>
          <a:p>
            <a:pPr algn="l"/>
            <a:r>
              <a:rPr sz="1300" b="0" i="0">
                <a:solidFill>
                  <a:srgbClr val="000000"/>
                </a:solidFill>
                <a:latin typeface="Consolas"/>
              </a:rPr>
              <a:t>index: uq_products_sku</a:t>
            </a:r>
          </a:p>
          <a:p>
            <a:pPr algn="l"/>
            <a:r>
              <a:rPr sz="1300" b="0" i="0">
                <a:solidFill>
                  <a:srgbClr val="000000"/>
                </a:solidFill>
                <a:latin typeface="Consolas"/>
              </a:rPr>
              <a:t>dup key: { sku: "L100" }</a:t>
            </a:r>
          </a:p>
        </p:txBody>
      </p:sp>
      <p:sp>
        <p:nvSpPr>
          <p:cNvPr id="9" name="TextBox 8"/>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Case-insensitive email</a:t>
            </a:r>
          </a:p>
        </p:txBody>
      </p:sp>
      <p:sp>
        <p:nvSpPr>
          <p:cNvPr id="10" name="Rounded Rectangle 9"/>
          <p:cNvSpPr/>
          <p:nvPr/>
        </p:nvSpPr>
        <p:spPr>
          <a:xfrm>
            <a:off x="8107680" y="1627632"/>
            <a:ext cx="3596640" cy="26224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db.customers.createIndex(</a:t>
            </a:r>
          </a:p>
          <a:p>
            <a:pPr algn="l"/>
            <a:r>
              <a:rPr sz="1300" b="0" i="0">
                <a:solidFill>
                  <a:srgbClr val="000000"/>
                </a:solidFill>
                <a:latin typeface="Consolas"/>
              </a:rPr>
              <a:t>  { "contact.email": 1 },</a:t>
            </a:r>
          </a:p>
          <a:p>
            <a:pPr algn="l"/>
            <a:r>
              <a:rPr sz="1300" b="0" i="0">
                <a:solidFill>
                  <a:srgbClr val="000000"/>
                </a:solidFill>
                <a:latin typeface="Consolas"/>
              </a:rPr>
              <a:t>  { unique: true,</a:t>
            </a:r>
          </a:p>
          <a:p>
            <a:pPr algn="l"/>
            <a:r>
              <a:rPr sz="1300" b="0" i="0">
                <a:solidFill>
                  <a:srgbClr val="000000"/>
                </a:solidFill>
                <a:latin typeface="Consolas"/>
              </a:rPr>
              <a:t>    name:</a:t>
            </a:r>
          </a:p>
          <a:p>
            <a:pPr algn="l"/>
            <a:r>
              <a:rPr sz="1300" b="0" i="0">
                <a:solidFill>
                  <a:srgbClr val="000000"/>
                </a:solidFill>
                <a:latin typeface="Consolas"/>
              </a:rPr>
              <a:t>     "uq_customers_email_ci",</a:t>
            </a:r>
          </a:p>
          <a:p>
            <a:pPr algn="l"/>
            <a:r>
              <a:rPr sz="1300" b="0" i="0">
                <a:solidFill>
                  <a:srgbClr val="000000"/>
                </a:solidFill>
                <a:latin typeface="Consolas"/>
              </a:rPr>
              <a:t>    collation: { locale: "en",</a:t>
            </a:r>
          </a:p>
          <a:p>
            <a:pPr algn="l"/>
            <a:r>
              <a:rPr sz="1300" b="0" i="0">
                <a:solidFill>
                  <a:srgbClr val="000000"/>
                </a:solidFill>
                <a:latin typeface="Consolas"/>
              </a:rPr>
              <a:t>                 strength: 2 } })</a:t>
            </a:r>
          </a:p>
        </p:txBody>
      </p:sp>
      <p:sp>
        <p:nvSpPr>
          <p:cNvPr id="11" name="Rounded Rectangle 10"/>
          <p:cNvSpPr/>
          <p:nvPr/>
        </p:nvSpPr>
        <p:spPr>
          <a:xfrm>
            <a:off x="45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59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One key, one index</a:t>
            </a:r>
          </a:p>
        </p:txBody>
      </p:sp>
      <p:sp>
        <p:nvSpPr>
          <p:cNvPr id="13" name="TextBox 12"/>
          <p:cNvSpPr txBox="1"/>
          <p:nvPr/>
        </p:nvSpPr>
        <p:spPr>
          <a:xfrm>
            <a:off x="59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Two indexes can't share { sku: 1 } — drop sku_unique first.</a:t>
            </a:r>
          </a:p>
        </p:txBody>
      </p:sp>
      <p:sp>
        <p:nvSpPr>
          <p:cNvPr id="14" name="Rounded Rectangle 13"/>
          <p:cNvSpPr/>
          <p:nvPr/>
        </p:nvSpPr>
        <p:spPr>
          <a:xfrm>
            <a:off x="426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440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E11000</a:t>
            </a:r>
          </a:p>
        </p:txBody>
      </p:sp>
      <p:sp>
        <p:nvSpPr>
          <p:cNvPr id="16" name="TextBox 15"/>
          <p:cNvSpPr txBox="1"/>
          <p:nvPr/>
        </p:nvSpPr>
        <p:spPr>
          <a:xfrm>
            <a:off x="440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The insert fails and nothing is written.</a:t>
            </a:r>
          </a:p>
        </p:txBody>
      </p:sp>
      <p:sp>
        <p:nvSpPr>
          <p:cNvPr id="17" name="Rounded Rectangle 16"/>
          <p:cNvSpPr/>
          <p:nvPr/>
        </p:nvSpPr>
        <p:spPr>
          <a:xfrm>
            <a:off x="807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821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Collation</a:t>
            </a:r>
          </a:p>
        </p:txBody>
      </p:sp>
      <p:sp>
        <p:nvSpPr>
          <p:cNvPr id="19" name="TextBox 18"/>
          <p:cNvSpPr txBox="1"/>
          <p:nvPr/>
        </p:nvSpPr>
        <p:spPr>
          <a:xfrm>
            <a:off x="821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strength: 2 ignores case; queries must use the same collation.</a:t>
            </a:r>
          </a:p>
        </p:txBody>
      </p:sp>
      <p:sp>
        <p:nvSpPr>
          <p:cNvPr id="20" name="Rounded Rectangle 1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unique index turns a business rule — one SKU, one email — into something the database guarantees.</a:t>
            </a:r>
          </a:p>
        </p:txBody>
      </p:sp>
      <p:sp>
        <p:nvSpPr>
          <p:cNvPr id="22" name="Rectangle 2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PARTIAL INDEXES: INDEX ONLY WHAT YOU QUERY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Lab 5, Step 10: only active products enter this index.</a:t>
            </a:r>
          </a:p>
        </p:txBody>
      </p:sp>
      <p:sp>
        <p:nvSpPr>
          <p:cNvPr id="4" name="TextBox 3"/>
          <p:cNvSpPr txBox="1"/>
          <p:nvPr/>
        </p:nvSpPr>
        <p:spPr>
          <a:xfrm>
            <a:off x="457200" y="1298448"/>
            <a:ext cx="5509260" cy="310896"/>
          </a:xfrm>
          <a:prstGeom prst="rect">
            <a:avLst/>
          </a:prstGeom>
          <a:noFill/>
        </p:spPr>
        <p:txBody>
          <a:bodyPr wrap="square" anchor="ctr" lIns="0" rIns="0" tIns="0" bIns="0">
            <a:spAutoFit/>
          </a:bodyPr>
          <a:lstStyle/>
          <a:p>
            <a:pPr algn="l"/>
            <a:r>
              <a:rPr sz="1300" b="1" i="0">
                <a:solidFill>
                  <a:srgbClr val="002060"/>
                </a:solidFill>
                <a:latin typeface="Nirmala UI"/>
              </a:rPr>
              <a:t>Create it</a:t>
            </a:r>
          </a:p>
        </p:txBody>
      </p:sp>
      <p:sp>
        <p:nvSpPr>
          <p:cNvPr id="5" name="Rounded Rectangle 4"/>
          <p:cNvSpPr/>
          <p:nvPr/>
        </p:nvSpPr>
        <p:spPr>
          <a:xfrm>
            <a:off x="457200" y="1627632"/>
            <a:ext cx="5509260" cy="27297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db.products.createIndex(</a:t>
            </a:r>
          </a:p>
          <a:p>
            <a:pPr algn="l"/>
            <a:r>
              <a:rPr sz="1300" b="0" i="0">
                <a:solidFill>
                  <a:srgbClr val="000000"/>
                </a:solidFill>
                <a:latin typeface="Consolas"/>
              </a:rPr>
              <a:t>  { category: 1, price: 1 },</a:t>
            </a:r>
          </a:p>
          <a:p>
            <a:pPr algn="l"/>
            <a:r>
              <a:rPr sz="1300" b="0" i="0">
                <a:solidFill>
                  <a:srgbClr val="000000"/>
                </a:solidFill>
                <a:latin typeface="Consolas"/>
              </a:rPr>
              <a:t>  {</a:t>
            </a:r>
          </a:p>
          <a:p>
            <a:pPr algn="l"/>
            <a:r>
              <a:rPr sz="1300" b="0" i="0">
                <a:solidFill>
                  <a:srgbClr val="000000"/>
                </a:solidFill>
                <a:latin typeface="Consolas"/>
              </a:rPr>
              <a:t>    name: "idx_active_products_category_price",</a:t>
            </a:r>
          </a:p>
          <a:p>
            <a:pPr algn="l"/>
            <a:r>
              <a:rPr sz="1300" b="0" i="0">
                <a:solidFill>
                  <a:srgbClr val="000000"/>
                </a:solidFill>
                <a:latin typeface="Consolas"/>
              </a:rPr>
              <a:t>    partialFilterExpression: { active: true }</a:t>
            </a:r>
          </a:p>
          <a:p>
            <a:pPr algn="l"/>
            <a:r>
              <a:rPr sz="1300" b="0" i="0">
                <a:solidFill>
                  <a:srgbClr val="000000"/>
                </a:solidFill>
                <a:latin typeface="Consolas"/>
              </a:rPr>
              <a:t>  }</a:t>
            </a:r>
          </a:p>
          <a:p>
            <a:pPr algn="l"/>
            <a:r>
              <a:rPr sz="1300" b="0" i="0">
                <a:solidFill>
                  <a:srgbClr val="000000"/>
                </a:solidFill>
                <a:latin typeface="Consolas"/>
              </a:rPr>
              <a:t>)</a:t>
            </a:r>
          </a:p>
          <a:p>
            <a:pPr algn="l"/>
            <a:r>
              <a:rPr sz="1300" b="0" i="0">
                <a:solidFill>
                  <a:srgbClr val="000000"/>
                </a:solidFill>
                <a:latin typeface="Consolas"/>
              </a:rPr>
              <a:t/>
            </a:r>
          </a:p>
          <a:p>
            <a:pPr algn="l"/>
            <a:r>
              <a:rPr sz="1300" b="0" i="0">
                <a:solidFill>
                  <a:srgbClr val="000000"/>
                </a:solidFill>
                <a:latin typeface="Consolas"/>
              </a:rPr>
              <a:t>// 12 of 13 products are indexed:</a:t>
            </a:r>
          </a:p>
          <a:p>
            <a:pPr algn="l"/>
            <a:r>
              <a:rPr sz="1300" b="0" i="0">
                <a:solidFill>
                  <a:srgbClr val="000000"/>
                </a:solidFill>
                <a:latin typeface="Consolas"/>
              </a:rPr>
              <a:t>// L190 is inactive</a:t>
            </a:r>
          </a:p>
        </p:txBody>
      </p:sp>
      <p:sp>
        <p:nvSpPr>
          <p:cNvPr id="6" name="TextBox 5"/>
          <p:cNvSpPr txBox="1"/>
          <p:nvPr/>
        </p:nvSpPr>
        <p:spPr>
          <a:xfrm>
            <a:off x="6195060" y="1298448"/>
            <a:ext cx="5509260" cy="310896"/>
          </a:xfrm>
          <a:prstGeom prst="rect">
            <a:avLst/>
          </a:prstGeom>
          <a:noFill/>
        </p:spPr>
        <p:txBody>
          <a:bodyPr wrap="square" anchor="ctr" lIns="0" rIns="0" tIns="0" bIns="0">
            <a:spAutoFit/>
          </a:bodyPr>
          <a:lstStyle/>
          <a:p>
            <a:pPr algn="l"/>
            <a:r>
              <a:rPr sz="1300" b="1" i="0">
                <a:solidFill>
                  <a:srgbClr val="002060"/>
                </a:solidFill>
                <a:latin typeface="Nirmala UI"/>
              </a:rPr>
              <a:t>With and without active: true</a:t>
            </a:r>
          </a:p>
        </p:txBody>
      </p:sp>
      <p:sp>
        <p:nvSpPr>
          <p:cNvPr id="7" name="Rounded Rectangle 6"/>
          <p:cNvSpPr/>
          <p:nvPr/>
        </p:nvSpPr>
        <p:spPr>
          <a:xfrm>
            <a:off x="6195060" y="1627632"/>
            <a:ext cx="5509260" cy="272973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 can use the partial index</a:t>
            </a:r>
          </a:p>
          <a:p>
            <a:pPr algn="l"/>
            <a:r>
              <a:rPr sz="1300" b="0" i="0">
                <a:solidFill>
                  <a:srgbClr val="000000"/>
                </a:solidFill>
                <a:latin typeface="Consolas"/>
              </a:rPr>
              <a:t>db.products.find({ category: "LAPTOP",</a:t>
            </a:r>
          </a:p>
          <a:p>
            <a:pPr algn="l"/>
            <a:r>
              <a:rPr sz="1300" b="0" i="0">
                <a:solidFill>
                  <a:srgbClr val="000000"/>
                </a:solidFill>
                <a:latin typeface="Consolas"/>
              </a:rPr>
              <a:t>  active: true,</a:t>
            </a:r>
          </a:p>
          <a:p>
            <a:pPr algn="l"/>
            <a:r>
              <a:rPr sz="1300" b="0" i="0">
                <a:solidFill>
                  <a:srgbClr val="000000"/>
                </a:solidFill>
                <a:latin typeface="Consolas"/>
              </a:rPr>
              <a:t>  price: { $lte: Decimal128("2000.00") } })</a:t>
            </a:r>
          </a:p>
          <a:p>
            <a:pPr algn="l"/>
            <a:r>
              <a:rPr sz="1300" b="0" i="0">
                <a:solidFill>
                  <a:srgbClr val="000000"/>
                </a:solidFill>
                <a:latin typeface="Consolas"/>
              </a:rPr>
              <a:t>// → L100, L110</a:t>
            </a:r>
          </a:p>
          <a:p>
            <a:pPr algn="l"/>
            <a:r>
              <a:rPr sz="1300" b="0" i="0">
                <a:solidFill>
                  <a:srgbClr val="000000"/>
                </a:solidFill>
                <a:latin typeface="Consolas"/>
              </a:rPr>
              <a:t/>
            </a:r>
          </a:p>
          <a:p>
            <a:pPr algn="l"/>
            <a:r>
              <a:rPr sz="1300" b="0" i="0">
                <a:solidFill>
                  <a:srgbClr val="000000"/>
                </a:solidFill>
                <a:latin typeface="Consolas"/>
              </a:rPr>
              <a:t>// can't: L190 would be missing</a:t>
            </a:r>
          </a:p>
          <a:p>
            <a:pPr algn="l"/>
            <a:r>
              <a:rPr sz="1300" b="0" i="0">
                <a:solidFill>
                  <a:srgbClr val="000000"/>
                </a:solidFill>
                <a:latin typeface="Consolas"/>
              </a:rPr>
              <a:t>db.products.find({ category: "LAPTOP",</a:t>
            </a:r>
          </a:p>
          <a:p>
            <a:pPr algn="l"/>
            <a:r>
              <a:rPr sz="1300" b="0" i="0">
                <a:solidFill>
                  <a:srgbClr val="000000"/>
                </a:solidFill>
                <a:latin typeface="Consolas"/>
              </a:rPr>
              <a:t>  price: { $lte: Decimal128("2000.00") } })</a:t>
            </a:r>
          </a:p>
        </p:txBody>
      </p:sp>
      <p:sp>
        <p:nvSpPr>
          <p:cNvPr id="8" name="Rounded Rectangle 7"/>
          <p:cNvSpPr/>
          <p:nvPr/>
        </p:nvSpPr>
        <p:spPr>
          <a:xfrm>
            <a:off x="457200" y="458597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464083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Smaller</a:t>
            </a:r>
          </a:p>
        </p:txBody>
      </p:sp>
      <p:sp>
        <p:nvSpPr>
          <p:cNvPr id="10" name="TextBox 9"/>
          <p:cNvSpPr txBox="1"/>
          <p:nvPr/>
        </p:nvSpPr>
        <p:spPr>
          <a:xfrm>
            <a:off x="594360" y="4951730"/>
            <a:ext cx="3352800" cy="737615"/>
          </a:xfrm>
          <a:prstGeom prst="rect">
            <a:avLst/>
          </a:prstGeom>
          <a:noFill/>
        </p:spPr>
        <p:txBody>
          <a:bodyPr wrap="square" anchor="t" lIns="0" rIns="0" tIns="0" bIns="0">
            <a:spAutoFit/>
          </a:bodyPr>
          <a:lstStyle/>
          <a:p>
            <a:pPr algn="l"/>
            <a:r>
              <a:rPr sz="1200" b="0" i="0">
                <a:solidFill>
                  <a:srgbClr val="000000"/>
                </a:solidFill>
                <a:latin typeface="Nirmala UI"/>
              </a:rPr>
              <a:t>Fewer keys to store and to update on every write.</a:t>
            </a:r>
          </a:p>
        </p:txBody>
      </p:sp>
      <p:sp>
        <p:nvSpPr>
          <p:cNvPr id="11" name="Rounded Rectangle 10"/>
          <p:cNvSpPr/>
          <p:nvPr/>
        </p:nvSpPr>
        <p:spPr>
          <a:xfrm>
            <a:off x="4267200" y="458597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4404360" y="464083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The query must match</a:t>
            </a:r>
          </a:p>
        </p:txBody>
      </p:sp>
      <p:sp>
        <p:nvSpPr>
          <p:cNvPr id="13" name="TextBox 12"/>
          <p:cNvSpPr txBox="1"/>
          <p:nvPr/>
        </p:nvSpPr>
        <p:spPr>
          <a:xfrm>
            <a:off x="4404360" y="4951730"/>
            <a:ext cx="3352800" cy="737615"/>
          </a:xfrm>
          <a:prstGeom prst="rect">
            <a:avLst/>
          </a:prstGeom>
          <a:noFill/>
        </p:spPr>
        <p:txBody>
          <a:bodyPr wrap="square" anchor="t" lIns="0" rIns="0" tIns="0" bIns="0">
            <a:spAutoFit/>
          </a:bodyPr>
          <a:lstStyle/>
          <a:p>
            <a:pPr algn="l"/>
            <a:r>
              <a:rPr sz="1200" b="0" i="0">
                <a:solidFill>
                  <a:srgbClr val="000000"/>
                </a:solidFill>
                <a:latin typeface="Nirmala UI"/>
              </a:rPr>
              <a:t>Only queries that include active: true can use it.</a:t>
            </a:r>
          </a:p>
        </p:txBody>
      </p:sp>
      <p:sp>
        <p:nvSpPr>
          <p:cNvPr id="14" name="Rounded Rectangle 13"/>
          <p:cNvSpPr/>
          <p:nvPr/>
        </p:nvSpPr>
        <p:spPr>
          <a:xfrm>
            <a:off x="8077200" y="458597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214360" y="4640833"/>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vs sparse</a:t>
            </a:r>
          </a:p>
        </p:txBody>
      </p:sp>
      <p:sp>
        <p:nvSpPr>
          <p:cNvPr id="16" name="TextBox 15"/>
          <p:cNvSpPr txBox="1"/>
          <p:nvPr/>
        </p:nvSpPr>
        <p:spPr>
          <a:xfrm>
            <a:off x="8214360" y="4951730"/>
            <a:ext cx="3352800" cy="737615"/>
          </a:xfrm>
          <a:prstGeom prst="rect">
            <a:avLst/>
          </a:prstGeom>
          <a:noFill/>
        </p:spPr>
        <p:txBody>
          <a:bodyPr wrap="square" anchor="t" lIns="0" rIns="0" tIns="0" bIns="0">
            <a:spAutoFit/>
          </a:bodyPr>
          <a:lstStyle/>
          <a:p>
            <a:pPr algn="l"/>
            <a:r>
              <a:rPr sz="1200" b="0" i="0">
                <a:solidFill>
                  <a:srgbClr val="000000"/>
                </a:solidFill>
                <a:latin typeface="Nirmala UI"/>
              </a:rPr>
              <a:t>Partial takes any filter; sparse only checks that a field exists.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partial index covers only the documents the application asks for — and only queries that ask the same can use it.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SPARSE INDEXES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Only documents that have the field get an index entry.</a:t>
            </a:r>
          </a:p>
        </p:txBody>
      </p:sp>
      <p:sp>
        <p:nvSpPr>
          <p:cNvPr id="4" name="Rounded Rectangle 3"/>
          <p:cNvSpPr/>
          <p:nvPr/>
        </p:nvSpPr>
        <p:spPr>
          <a:xfrm>
            <a:off x="475488" y="1973460"/>
            <a:ext cx="7415783" cy="318539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8" descr="image.jpg"/>
          <p:cNvPicPr>
            <a:picLocks noChangeAspect="1"/>
          </p:cNvPicPr>
          <p:nvPr/>
        </p:nvPicPr>
        <p:blipFill>
          <a:blip r:embed="rId2"/>
          <a:stretch>
            <a:fillRect/>
          </a:stretch>
        </p:blipFill>
        <p:spPr>
          <a:xfrm>
            <a:off x="548640" y="2046612"/>
            <a:ext cx="7269480" cy="3039094"/>
          </a:xfrm>
          <a:prstGeom prst="rect">
            <a:avLst/>
          </a:prstGeom>
        </p:spPr>
      </p:pic>
      <p:sp>
        <p:nvSpPr>
          <p:cNvPr id="6" name="Rounded Rectangle 5"/>
          <p:cNvSpPr/>
          <p:nvPr/>
        </p:nvSpPr>
        <p:spPr>
          <a:xfrm>
            <a:off x="8183880" y="1298448"/>
            <a:ext cx="3520440" cy="99974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Field present</a:t>
            </a:r>
          </a:p>
        </p:txBody>
      </p:sp>
      <p:sp>
        <p:nvSpPr>
          <p:cNvPr id="8" name="TextBox 7"/>
          <p:cNvSpPr txBox="1"/>
          <p:nvPr/>
        </p:nvSpPr>
        <p:spPr>
          <a:xfrm>
            <a:off x="8321040" y="1664208"/>
            <a:ext cx="3246120" cy="579120"/>
          </a:xfrm>
          <a:prstGeom prst="rect">
            <a:avLst/>
          </a:prstGeom>
          <a:noFill/>
        </p:spPr>
        <p:txBody>
          <a:bodyPr wrap="square" anchor="t" lIns="0" rIns="0" tIns="0" bIns="0">
            <a:spAutoFit/>
          </a:bodyPr>
          <a:lstStyle/>
          <a:p>
            <a:pPr algn="l"/>
            <a:r>
              <a:rPr sz="1200" b="0" i="0">
                <a:solidFill>
                  <a:srgbClr val="000000"/>
                </a:solidFill>
                <a:latin typeface="Nirmala UI"/>
              </a:rPr>
              <a:t>Indexed — Alice and Carol have a phone.</a:t>
            </a:r>
          </a:p>
        </p:txBody>
      </p:sp>
      <p:sp>
        <p:nvSpPr>
          <p:cNvPr id="9" name="Rounded Rectangle 8"/>
          <p:cNvSpPr/>
          <p:nvPr/>
        </p:nvSpPr>
        <p:spPr>
          <a:xfrm>
            <a:off x="8183880" y="2426208"/>
            <a:ext cx="3520440" cy="99974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810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Field missing</a:t>
            </a:r>
          </a:p>
        </p:txBody>
      </p:sp>
      <p:sp>
        <p:nvSpPr>
          <p:cNvPr id="11" name="TextBox 10"/>
          <p:cNvSpPr txBox="1"/>
          <p:nvPr/>
        </p:nvSpPr>
        <p:spPr>
          <a:xfrm>
            <a:off x="8321040" y="2791968"/>
            <a:ext cx="3246120" cy="579120"/>
          </a:xfrm>
          <a:prstGeom prst="rect">
            <a:avLst/>
          </a:prstGeom>
          <a:noFill/>
        </p:spPr>
        <p:txBody>
          <a:bodyPr wrap="square" anchor="t" lIns="0" rIns="0" tIns="0" bIns="0">
            <a:spAutoFit/>
          </a:bodyPr>
          <a:lstStyle/>
          <a:p>
            <a:pPr algn="l"/>
            <a:r>
              <a:rPr sz="1200" b="0" i="0">
                <a:solidFill>
                  <a:srgbClr val="000000"/>
                </a:solidFill>
                <a:latin typeface="Nirmala UI"/>
              </a:rPr>
              <a:t>No entry — Bob and David are skipped.</a:t>
            </a:r>
          </a:p>
        </p:txBody>
      </p:sp>
      <p:sp>
        <p:nvSpPr>
          <p:cNvPr id="12" name="Rounded Rectangle 11"/>
          <p:cNvSpPr/>
          <p:nvPr/>
        </p:nvSpPr>
        <p:spPr>
          <a:xfrm>
            <a:off x="8183880" y="3553968"/>
            <a:ext cx="3520440" cy="118567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088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training_store twist</a:t>
            </a:r>
          </a:p>
        </p:txBody>
      </p:sp>
      <p:sp>
        <p:nvSpPr>
          <p:cNvPr id="14" name="TextBox 13"/>
          <p:cNvSpPr txBox="1"/>
          <p:nvPr/>
        </p:nvSpPr>
        <p:spPr>
          <a:xfrm>
            <a:off x="8321040" y="3919728"/>
            <a:ext cx="3246120" cy="765047"/>
          </a:xfrm>
          <a:prstGeom prst="rect">
            <a:avLst/>
          </a:prstGeom>
          <a:noFill/>
        </p:spPr>
        <p:txBody>
          <a:bodyPr wrap="square" anchor="t" lIns="0" rIns="0" tIns="0" bIns="0">
            <a:spAutoFit/>
          </a:bodyPr>
          <a:lstStyle/>
          <a:p>
            <a:pPr algn="l"/>
            <a:r>
              <a:rPr sz="1200" b="0" i="0">
                <a:solidFill>
                  <a:srgbClr val="000000"/>
                </a:solidFill>
                <a:latin typeface="Nirmala UI"/>
              </a:rPr>
              <a:t>C204's phone is null: it exists, so it's indexed. C515 has none.</a:t>
            </a:r>
          </a:p>
        </p:txBody>
      </p:sp>
      <p:sp>
        <p:nvSpPr>
          <p:cNvPr id="15" name="Rounded Rectangle 14"/>
          <p:cNvSpPr/>
          <p:nvPr/>
        </p:nvSpPr>
        <p:spPr>
          <a:xfrm>
            <a:off x="8183880" y="4867656"/>
            <a:ext cx="3520440" cy="96621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867656"/>
            <a:ext cx="3154680" cy="966216"/>
          </a:xfrm>
          <a:prstGeom prst="rect">
            <a:avLst/>
          </a:prstGeom>
          <a:noFill/>
        </p:spPr>
        <p:txBody>
          <a:bodyPr wrap="square" anchor="ctr" lIns="0" rIns="0" tIns="0" bIns="0">
            <a:spAutoFit/>
          </a:bodyPr>
          <a:lstStyle/>
          <a:p>
            <a:pPr algn="l"/>
            <a:r>
              <a:rPr sz="1200" b="1" i="0">
                <a:solidFill>
                  <a:srgbClr val="D1282E"/>
                </a:solidFill>
                <a:latin typeface="Nirmala UI"/>
              </a:rPr>
              <a:t>PREFER PARTIAL   </a:t>
            </a:r>
            <a:r>
              <a:rPr sz="1200" b="0" i="0">
                <a:solidFill>
                  <a:srgbClr val="000000"/>
                </a:solidFill>
                <a:latin typeface="Nirmala UI"/>
              </a:rPr>
              <a:t>A partial filter on $exists says the same, explicitly.</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Sparse indexes skip documents without the field — partial indexes do the same job with a clearer rule.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TTL INDEXES REMOVE EXPIRED DOCUMENTS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Lab 5, Step 10: a dedicated sessions collection — never orders.</a:t>
            </a:r>
          </a:p>
        </p:txBody>
      </p:sp>
      <p:sp>
        <p:nvSpPr>
          <p:cNvPr id="4" name="TextBox 3"/>
          <p:cNvSpPr txBox="1"/>
          <p:nvPr/>
        </p:nvSpPr>
        <p:spPr>
          <a:xfrm>
            <a:off x="457200" y="1298448"/>
            <a:ext cx="5509260" cy="310896"/>
          </a:xfrm>
          <a:prstGeom prst="rect">
            <a:avLst/>
          </a:prstGeom>
          <a:noFill/>
        </p:spPr>
        <p:txBody>
          <a:bodyPr wrap="square" anchor="ctr" lIns="0" rIns="0" tIns="0" bIns="0">
            <a:spAutoFit/>
          </a:bodyPr>
          <a:lstStyle/>
          <a:p>
            <a:pPr algn="l"/>
            <a:r>
              <a:rPr sz="1300" b="1" i="0">
                <a:solidFill>
                  <a:srgbClr val="002060"/>
                </a:solidFill>
                <a:latin typeface="Nirmala UI"/>
              </a:rPr>
              <a:t>Sessions that expire</a:t>
            </a:r>
          </a:p>
        </p:txBody>
      </p:sp>
      <p:sp>
        <p:nvSpPr>
          <p:cNvPr id="5" name="Rounded Rectangle 4"/>
          <p:cNvSpPr/>
          <p:nvPr/>
        </p:nvSpPr>
        <p:spPr>
          <a:xfrm>
            <a:off x="457200" y="1627632"/>
            <a:ext cx="5509260" cy="26224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db.sessions.insertMany([</a:t>
            </a:r>
          </a:p>
          <a:p>
            <a:pPr algn="l"/>
            <a:r>
              <a:rPr sz="1300" b="0" i="0">
                <a:solidFill>
                  <a:srgbClr val="000000"/>
                </a:solidFill>
                <a:latin typeface="Consolas"/>
              </a:rPr>
              <a:t>  { sessionId: "S1", user: "aisha",</a:t>
            </a:r>
          </a:p>
          <a:p>
            <a:pPr algn="l"/>
            <a:r>
              <a:rPr sz="1300" b="0" i="0">
                <a:solidFill>
                  <a:srgbClr val="000000"/>
                </a:solidFill>
                <a:latin typeface="Consolas"/>
              </a:rPr>
              <a:t>    expiresAt: new Date(</a:t>
            </a:r>
          </a:p>
          <a:p>
            <a:pPr algn="l"/>
            <a:r>
              <a:rPr sz="1300" b="0" i="0">
                <a:solidFill>
                  <a:srgbClr val="000000"/>
                </a:solidFill>
                <a:latin typeface="Consolas"/>
              </a:rPr>
              <a:t>      Date.now() + 60 * 60 * 1000) },</a:t>
            </a:r>
          </a:p>
          <a:p>
            <a:pPr algn="l"/>
            <a:r>
              <a:rPr sz="1300" b="0" i="0">
                <a:solidFill>
                  <a:srgbClr val="000000"/>
                </a:solidFill>
                <a:latin typeface="Consolas"/>
              </a:rPr>
              <a:t>  { sessionId: "S-EXPIRED",</a:t>
            </a:r>
          </a:p>
          <a:p>
            <a:pPr algn="l"/>
            <a:r>
              <a:rPr sz="1300" b="0" i="0">
                <a:solidFill>
                  <a:srgbClr val="000000"/>
                </a:solidFill>
                <a:latin typeface="Consolas"/>
              </a:rPr>
              <a:t>    user: "temp",</a:t>
            </a:r>
          </a:p>
          <a:p>
            <a:pPr algn="l"/>
            <a:r>
              <a:rPr sz="1300" b="0" i="0">
                <a:solidFill>
                  <a:srgbClr val="000000"/>
                </a:solidFill>
                <a:latin typeface="Consolas"/>
              </a:rPr>
              <a:t>    expiresAt: new Date(</a:t>
            </a:r>
          </a:p>
          <a:p>
            <a:pPr algn="l"/>
            <a:r>
              <a:rPr sz="1300" b="0" i="0">
                <a:solidFill>
                  <a:srgbClr val="000000"/>
                </a:solidFill>
                <a:latin typeface="Consolas"/>
              </a:rPr>
              <a:t>      Date.now() - 60 * 1000) }</a:t>
            </a:r>
          </a:p>
          <a:p>
            <a:pPr algn="l"/>
            <a:r>
              <a:rPr sz="1300" b="0" i="0">
                <a:solidFill>
                  <a:srgbClr val="000000"/>
                </a:solidFill>
                <a:latin typeface="Consolas"/>
              </a:rPr>
              <a:t>])</a:t>
            </a:r>
          </a:p>
        </p:txBody>
      </p:sp>
      <p:sp>
        <p:nvSpPr>
          <p:cNvPr id="6" name="Oval 5"/>
          <p:cNvSpPr/>
          <p:nvPr/>
        </p:nvSpPr>
        <p:spPr>
          <a:xfrm>
            <a:off x="619506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652424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The TTL index</a:t>
            </a:r>
          </a:p>
        </p:txBody>
      </p:sp>
      <p:sp>
        <p:nvSpPr>
          <p:cNvPr id="8" name="Rounded Rectangle 7"/>
          <p:cNvSpPr/>
          <p:nvPr/>
        </p:nvSpPr>
        <p:spPr>
          <a:xfrm>
            <a:off x="6195060" y="1627632"/>
            <a:ext cx="5509260" cy="2622422"/>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db.sessions.createIndex(</a:t>
            </a:r>
          </a:p>
          <a:p>
            <a:pPr algn="l"/>
            <a:r>
              <a:rPr sz="1300" b="0" i="0">
                <a:solidFill>
                  <a:srgbClr val="000000"/>
                </a:solidFill>
                <a:latin typeface="Consolas"/>
              </a:rPr>
              <a:t>  { expiresAt: 1 },</a:t>
            </a:r>
          </a:p>
          <a:p>
            <a:pPr algn="l"/>
            <a:r>
              <a:rPr sz="1300" b="0" i="0">
                <a:solidFill>
                  <a:srgbClr val="000000"/>
                </a:solidFill>
                <a:latin typeface="Consolas"/>
              </a:rPr>
              <a:t>  { expireAfterSeconds: 0,</a:t>
            </a:r>
          </a:p>
          <a:p>
            <a:pPr algn="l"/>
            <a:r>
              <a:rPr sz="1300" b="0" i="0">
                <a:solidFill>
                  <a:srgbClr val="000000"/>
                </a:solidFill>
                <a:latin typeface="Consolas"/>
              </a:rPr>
              <a:t>    name: "ttl_sessions_expires_at" })</a:t>
            </a:r>
          </a:p>
          <a:p>
            <a:pPr algn="l"/>
            <a:r>
              <a:rPr sz="1300" b="0" i="0">
                <a:solidFill>
                  <a:srgbClr val="000000"/>
                </a:solidFill>
                <a:latin typeface="Consolas"/>
              </a:rPr>
              <a:t/>
            </a:r>
          </a:p>
          <a:p>
            <a:pPr algn="l"/>
            <a:r>
              <a:rPr sz="1300" b="0" i="0">
                <a:solidFill>
                  <a:srgbClr val="000000"/>
                </a:solidFill>
                <a:latin typeface="Consolas"/>
              </a:rPr>
              <a:t>// about 60 s later the TTL monitor</a:t>
            </a:r>
          </a:p>
          <a:p>
            <a:pPr algn="l"/>
            <a:r>
              <a:rPr sz="1300" b="0" i="0">
                <a:solidFill>
                  <a:srgbClr val="000000"/>
                </a:solidFill>
                <a:latin typeface="Consolas"/>
              </a:rPr>
              <a:t>// deletes S-EXPIRED; S1 stays</a:t>
            </a:r>
          </a:p>
        </p:txBody>
      </p:sp>
      <p:sp>
        <p:nvSpPr>
          <p:cNvPr id="9" name="Rounded Rectangle 8"/>
          <p:cNvSpPr/>
          <p:nvPr/>
        </p:nvSpPr>
        <p:spPr>
          <a:xfrm>
            <a:off x="45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59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expireAfterSeconds: 0</a:t>
            </a:r>
          </a:p>
        </p:txBody>
      </p:sp>
      <p:sp>
        <p:nvSpPr>
          <p:cNvPr id="11" name="TextBox 10"/>
          <p:cNvSpPr txBox="1"/>
          <p:nvPr/>
        </p:nvSpPr>
        <p:spPr>
          <a:xfrm>
            <a:off x="59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Each document expires at its own expiresAt date.</a:t>
            </a:r>
          </a:p>
        </p:txBody>
      </p:sp>
      <p:sp>
        <p:nvSpPr>
          <p:cNvPr id="12" name="Rounded Rectangle 11"/>
          <p:cNvSpPr/>
          <p:nvPr/>
        </p:nvSpPr>
        <p:spPr>
          <a:xfrm>
            <a:off x="426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40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Not instant</a:t>
            </a:r>
          </a:p>
        </p:txBody>
      </p:sp>
      <p:sp>
        <p:nvSpPr>
          <p:cNvPr id="14" name="TextBox 13"/>
          <p:cNvSpPr txBox="1"/>
          <p:nvPr/>
        </p:nvSpPr>
        <p:spPr>
          <a:xfrm>
            <a:off x="440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A background task runs about every 60 seconds.</a:t>
            </a:r>
          </a:p>
        </p:txBody>
      </p:sp>
      <p:sp>
        <p:nvSpPr>
          <p:cNvPr id="15" name="Rounded Rectangle 14"/>
          <p:cNvSpPr/>
          <p:nvPr/>
        </p:nvSpPr>
        <p:spPr>
          <a:xfrm>
            <a:off x="807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21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Never for records you keep</a:t>
            </a:r>
          </a:p>
        </p:txBody>
      </p:sp>
      <p:sp>
        <p:nvSpPr>
          <p:cNvPr id="17" name="TextBox 16"/>
          <p:cNvSpPr txBox="1"/>
          <p:nvPr/>
        </p:nvSpPr>
        <p:spPr>
          <a:xfrm>
            <a:off x="821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Orders, payments and audit data stay out of TTL.</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TTL index deletes expired documents for you — use it only for data that is meant to disappear.</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TEXT, WILDCARD, GEOSPATIAL AND HASHED</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Four specialized types for four special query shapes.</a:t>
            </a:r>
          </a:p>
        </p:txBody>
      </p:sp>
      <p:sp>
        <p:nvSpPr>
          <p:cNvPr id="4" name="Rounded Rectangle 3"/>
          <p:cNvSpPr/>
          <p:nvPr/>
        </p:nvSpPr>
        <p:spPr>
          <a:xfrm>
            <a:off x="475488" y="1441244"/>
            <a:ext cx="7415783" cy="424983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1" descr="image.jpg"/>
          <p:cNvPicPr>
            <a:picLocks noChangeAspect="1"/>
          </p:cNvPicPr>
          <p:nvPr/>
        </p:nvPicPr>
        <p:blipFill>
          <a:blip r:embed="rId2"/>
          <a:stretch>
            <a:fillRect/>
          </a:stretch>
        </p:blipFill>
        <p:spPr>
          <a:xfrm>
            <a:off x="548640" y="1514396"/>
            <a:ext cx="7269480" cy="4103527"/>
          </a:xfrm>
          <a:prstGeom prst="rect">
            <a:avLst/>
          </a:prstGeom>
        </p:spPr>
      </p:pic>
      <p:sp>
        <p:nvSpPr>
          <p:cNvPr id="6" name="Rounded Rectangle 5"/>
          <p:cNvSpPr/>
          <p:nvPr/>
        </p:nvSpPr>
        <p:spPr>
          <a:xfrm>
            <a:off x="8183880" y="129844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Text</a:t>
            </a:r>
          </a:p>
        </p:txBody>
      </p:sp>
      <p:sp>
        <p:nvSpPr>
          <p:cNvPr id="8" name="TextBox 7"/>
          <p:cNvSpPr txBox="1"/>
          <p:nvPr/>
        </p:nvSpPr>
        <p:spPr>
          <a:xfrm>
            <a:off x="8321040" y="1664208"/>
            <a:ext cx="3246120" cy="617219"/>
          </a:xfrm>
          <a:prstGeom prst="rect">
            <a:avLst/>
          </a:prstGeom>
          <a:noFill/>
        </p:spPr>
        <p:txBody>
          <a:bodyPr wrap="square" anchor="t" lIns="0" rIns="0" tIns="0" bIns="0">
            <a:spAutoFit/>
          </a:bodyPr>
          <a:lstStyle/>
          <a:p>
            <a:pPr algn="l"/>
            <a:r>
              <a:rPr sz="1200" b="0" i="0">
                <a:solidFill>
                  <a:srgbClr val="000000"/>
                </a:solidFill>
                <a:latin typeface="Nirmala UI"/>
              </a:rPr>
              <a:t>$text word search — on name, since our products have no description.</a:t>
            </a:r>
          </a:p>
        </p:txBody>
      </p:sp>
      <p:sp>
        <p:nvSpPr>
          <p:cNvPr id="9" name="Rounded Rectangle 8"/>
          <p:cNvSpPr/>
          <p:nvPr/>
        </p:nvSpPr>
        <p:spPr>
          <a:xfrm>
            <a:off x="8183880" y="246430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191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Wildcard</a:t>
            </a:r>
          </a:p>
        </p:txBody>
      </p:sp>
      <p:sp>
        <p:nvSpPr>
          <p:cNvPr id="11" name="TextBox 10"/>
          <p:cNvSpPr txBox="1"/>
          <p:nvPr/>
        </p:nvSpPr>
        <p:spPr>
          <a:xfrm>
            <a:off x="8321040" y="2830068"/>
            <a:ext cx="3246120" cy="617219"/>
          </a:xfrm>
          <a:prstGeom prst="rect">
            <a:avLst/>
          </a:prstGeom>
          <a:noFill/>
        </p:spPr>
        <p:txBody>
          <a:bodyPr wrap="square" anchor="t" lIns="0" rIns="0" tIns="0" bIns="0">
            <a:spAutoFit/>
          </a:bodyPr>
          <a:lstStyle/>
          <a:p>
            <a:pPr algn="l"/>
            <a:r>
              <a:rPr sz="1200" b="0" i="0">
                <a:solidFill>
                  <a:srgbClr val="000000"/>
                </a:solidFill>
                <a:latin typeface="Nirmala UI"/>
              </a:rPr>
              <a:t>{ "attributes.$**": 1 } — our attributes differ by category.</a:t>
            </a:r>
          </a:p>
        </p:txBody>
      </p:sp>
      <p:sp>
        <p:nvSpPr>
          <p:cNvPr id="12" name="Rounded Rectangle 11"/>
          <p:cNvSpPr/>
          <p:nvPr/>
        </p:nvSpPr>
        <p:spPr>
          <a:xfrm>
            <a:off x="8183880" y="363016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850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Geospatial</a:t>
            </a:r>
          </a:p>
        </p:txBody>
      </p:sp>
      <p:sp>
        <p:nvSpPr>
          <p:cNvPr id="14" name="TextBox 13"/>
          <p:cNvSpPr txBox="1"/>
          <p:nvPr/>
        </p:nvSpPr>
        <p:spPr>
          <a:xfrm>
            <a:off x="8321040" y="3995928"/>
            <a:ext cx="3246120" cy="617220"/>
          </a:xfrm>
          <a:prstGeom prst="rect">
            <a:avLst/>
          </a:prstGeom>
          <a:noFill/>
        </p:spPr>
        <p:txBody>
          <a:bodyPr wrap="square" anchor="t" lIns="0" rIns="0" tIns="0" bIns="0">
            <a:spAutoFit/>
          </a:bodyPr>
          <a:lstStyle/>
          <a:p>
            <a:pPr algn="l"/>
            <a:r>
              <a:rPr sz="1200" b="0" i="0">
                <a:solidFill>
                  <a:srgbClr val="000000"/>
                </a:solidFill>
                <a:latin typeface="Nirmala UI"/>
              </a:rPr>
              <a:t>2dsphere on GeoJSON points, longitude first; $near.</a:t>
            </a:r>
          </a:p>
        </p:txBody>
      </p:sp>
      <p:sp>
        <p:nvSpPr>
          <p:cNvPr id="15" name="Rounded Rectangle 14"/>
          <p:cNvSpPr/>
          <p:nvPr/>
        </p:nvSpPr>
        <p:spPr>
          <a:xfrm>
            <a:off x="8183880" y="479602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5089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Hashed</a:t>
            </a:r>
          </a:p>
        </p:txBody>
      </p:sp>
      <p:sp>
        <p:nvSpPr>
          <p:cNvPr id="17" name="TextBox 16"/>
          <p:cNvSpPr txBox="1"/>
          <p:nvPr/>
        </p:nvSpPr>
        <p:spPr>
          <a:xfrm>
            <a:off x="8321040" y="5161788"/>
            <a:ext cx="3246120" cy="617219"/>
          </a:xfrm>
          <a:prstGeom prst="rect">
            <a:avLst/>
          </a:prstGeom>
          <a:noFill/>
        </p:spPr>
        <p:txBody>
          <a:bodyPr wrap="square" anchor="t" lIns="0" rIns="0" tIns="0" bIns="0">
            <a:spAutoFit/>
          </a:bodyPr>
          <a:lstStyle/>
          <a:p>
            <a:pPr algn="l"/>
            <a:r>
              <a:rPr sz="1200" b="0" i="0">
                <a:solidFill>
                  <a:srgbClr val="000000"/>
                </a:solidFill>
                <a:latin typeface="Nirmala UI"/>
              </a:rPr>
              <a:t>Equality only; spreads values for hashed sharding — Module 7.</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Specialized indexes serve special query shapes — word search, dynamic fields, location and shard distribution.</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CHOOSING THE RIGHT INDEX TYPE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Start from what the query must do.</a:t>
            </a:r>
          </a:p>
        </p:txBody>
      </p:sp>
      <p:graphicFrame>
        <p:nvGraphicFramePr>
          <p:cNvPr id="4" name="Table 3"/>
          <p:cNvGraphicFramePr>
            <a:graphicFrameLocks noGrp="1"/>
          </p:cNvGraphicFramePr>
          <p:nvPr/>
        </p:nvGraphicFramePr>
        <p:xfrm>
          <a:off x="457200" y="1298448"/>
          <a:ext cx="7543800" cy="4114800"/>
        </p:xfrm>
        <a:graphic>
          <a:graphicData uri="http://schemas.openxmlformats.org/drawingml/2006/table">
            <a:tbl>
              <a:tblPr firstRow="1" bandRow="1">
                <a:tableStyleId>{5C22544A-7EE6-4342-B048-85BDC9FD1C3A}</a:tableStyleId>
              </a:tblPr>
              <a:tblGrid>
                <a:gridCol w="2697480"/>
                <a:gridCol w="1600200"/>
                <a:gridCol w="3246120"/>
              </a:tblGrid>
              <a:tr h="457200">
                <a:tc>
                  <a:txBody>
                    <a:bodyPr/>
                    <a:lstStyle/>
                    <a:p>
                      <a:r>
                        <a:rPr sz="1300" b="1" i="0">
                          <a:solidFill>
                            <a:srgbClr val="FFFFFF"/>
                          </a:solidFill>
                          <a:latin typeface="Nirmala UI"/>
                        </a:rPr>
                        <a:t>The query must…</a:t>
                      </a:r>
                    </a:p>
                  </a:txBody>
                  <a:tcPr anchor="ctr">
                    <a:solidFill>
                      <a:srgbClr val="182F5F"/>
                    </a:solidFill>
                  </a:tcPr>
                </a:tc>
                <a:tc>
                  <a:txBody>
                    <a:bodyPr/>
                    <a:lstStyle/>
                    <a:p>
                      <a:r>
                        <a:rPr sz="1300" b="1" i="0">
                          <a:solidFill>
                            <a:srgbClr val="FFFFFF"/>
                          </a:solidFill>
                          <a:latin typeface="Nirmala UI"/>
                        </a:rPr>
                        <a:t>Index type</a:t>
                      </a:r>
                    </a:p>
                  </a:txBody>
                  <a:tcPr anchor="ctr">
                    <a:solidFill>
                      <a:srgbClr val="182F5F"/>
                    </a:solidFill>
                  </a:tcPr>
                </a:tc>
                <a:tc>
                  <a:txBody>
                    <a:bodyPr/>
                    <a:lstStyle/>
                    <a:p>
                      <a:r>
                        <a:rPr sz="1300" b="1" i="0">
                          <a:solidFill>
                            <a:srgbClr val="FFFFFF"/>
                          </a:solidFill>
                          <a:latin typeface="Nirmala UI"/>
                        </a:rPr>
                        <a:t>training_store example</a:t>
                      </a:r>
                    </a:p>
                  </a:txBody>
                  <a:tcPr anchor="ctr">
                    <a:solidFill>
                      <a:srgbClr val="182F5F"/>
                    </a:solidFill>
                  </a:tcPr>
                </a:tc>
              </a:tr>
              <a:tr h="457200">
                <a:tc>
                  <a:txBody>
                    <a:bodyPr/>
                    <a:lstStyle/>
                    <a:p>
                      <a:r>
                        <a:rPr sz="1300" b="1" i="0">
                          <a:solidFill>
                            <a:srgbClr val="000000"/>
                          </a:solidFill>
                          <a:latin typeface="Nirmala UI"/>
                        </a:rPr>
                        <a:t>Match or sort one field</a:t>
                      </a:r>
                    </a:p>
                  </a:txBody>
                  <a:tcPr anchor="ctr">
                    <a:solidFill>
                      <a:srgbClr val="FFFFFF"/>
                    </a:solidFill>
                  </a:tcPr>
                </a:tc>
                <a:tc>
                  <a:txBody>
                    <a:bodyPr/>
                    <a:lstStyle/>
                    <a:p>
                      <a:r>
                        <a:rPr sz="1300" b="0" i="0">
                          <a:solidFill>
                            <a:srgbClr val="000000"/>
                          </a:solidFill>
                          <a:latin typeface="Nirmala UI"/>
                        </a:rPr>
                        <a:t>Single-field</a:t>
                      </a:r>
                    </a:p>
                  </a:txBody>
                  <a:tcPr anchor="ctr">
                    <a:solidFill>
                      <a:srgbClr val="FFFFFF"/>
                    </a:solidFill>
                  </a:tcPr>
                </a:tc>
                <a:tc>
                  <a:txBody>
                    <a:bodyPr/>
                    <a:lstStyle/>
                    <a:p>
                      <a:r>
                        <a:rPr sz="1300" b="0" i="0">
                          <a:solidFill>
                            <a:srgbClr val="000000"/>
                          </a:solidFill>
                          <a:latin typeface="Nirmala UI"/>
                        </a:rPr>
                        <a:t>{ sku: 1 }</a:t>
                      </a:r>
                    </a:p>
                  </a:txBody>
                  <a:tcPr anchor="ctr">
                    <a:solidFill>
                      <a:srgbClr val="FFFFFF"/>
                    </a:solidFill>
                  </a:tcPr>
                </a:tc>
              </a:tr>
              <a:tr h="457200">
                <a:tc>
                  <a:txBody>
                    <a:bodyPr/>
                    <a:lstStyle/>
                    <a:p>
                      <a:r>
                        <a:rPr sz="1300" b="1" i="0">
                          <a:solidFill>
                            <a:srgbClr val="000000"/>
                          </a:solidFill>
                          <a:latin typeface="Nirmala UI"/>
                        </a:rPr>
                        <a:t>Filter and sort on several</a:t>
                      </a:r>
                    </a:p>
                  </a:txBody>
                  <a:tcPr anchor="ctr">
                    <a:solidFill>
                      <a:srgbClr val="F5F5F5"/>
                    </a:solidFill>
                  </a:tcPr>
                </a:tc>
                <a:tc>
                  <a:txBody>
                    <a:bodyPr/>
                    <a:lstStyle/>
                    <a:p>
                      <a:r>
                        <a:rPr sz="1300" b="0" i="0">
                          <a:solidFill>
                            <a:srgbClr val="000000"/>
                          </a:solidFill>
                          <a:latin typeface="Nirmala UI"/>
                        </a:rPr>
                        <a:t>Compound</a:t>
                      </a:r>
                    </a:p>
                  </a:txBody>
                  <a:tcPr anchor="ctr">
                    <a:solidFill>
                      <a:srgbClr val="F5F5F5"/>
                    </a:solidFill>
                  </a:tcPr>
                </a:tc>
                <a:tc>
                  <a:txBody>
                    <a:bodyPr/>
                    <a:lstStyle/>
                    <a:p>
                      <a:r>
                        <a:rPr sz="1300" b="0" i="0">
                          <a:solidFill>
                            <a:srgbClr val="000000"/>
                          </a:solidFill>
                          <a:latin typeface="Nirmala UI"/>
                        </a:rPr>
                        <a:t>{ customerId: 1, createdAt: -1 }</a:t>
                      </a:r>
                    </a:p>
                  </a:txBody>
                  <a:tcPr anchor="ctr">
                    <a:solidFill>
                      <a:srgbClr val="F5F5F5"/>
                    </a:solidFill>
                  </a:tcPr>
                </a:tc>
              </a:tr>
              <a:tr h="457200">
                <a:tc>
                  <a:txBody>
                    <a:bodyPr/>
                    <a:lstStyle/>
                    <a:p>
                      <a:r>
                        <a:rPr sz="1300" b="1" i="0">
                          <a:solidFill>
                            <a:srgbClr val="000000"/>
                          </a:solidFill>
                          <a:latin typeface="Nirmala UI"/>
                        </a:rPr>
                        <a:t>Forbid duplicates</a:t>
                      </a:r>
                    </a:p>
                  </a:txBody>
                  <a:tcPr anchor="ctr">
                    <a:solidFill>
                      <a:srgbClr val="FFFFFF"/>
                    </a:solidFill>
                  </a:tcPr>
                </a:tc>
                <a:tc>
                  <a:txBody>
                    <a:bodyPr/>
                    <a:lstStyle/>
                    <a:p>
                      <a:r>
                        <a:rPr sz="1300" b="0" i="0">
                          <a:solidFill>
                            <a:srgbClr val="000000"/>
                          </a:solidFill>
                          <a:latin typeface="Nirmala UI"/>
                        </a:rPr>
                        <a:t>Unique</a:t>
                      </a:r>
                    </a:p>
                  </a:txBody>
                  <a:tcPr anchor="ctr">
                    <a:solidFill>
                      <a:srgbClr val="FFFFFF"/>
                    </a:solidFill>
                  </a:tcPr>
                </a:tc>
                <a:tc>
                  <a:txBody>
                    <a:bodyPr/>
                    <a:lstStyle/>
                    <a:p>
                      <a:r>
                        <a:rPr sz="1300" b="0" i="0">
                          <a:solidFill>
                            <a:srgbClr val="000000"/>
                          </a:solidFill>
                          <a:latin typeface="Nirmala UI"/>
                        </a:rPr>
                        <a:t>sku, customerNumber, orderNumber</a:t>
                      </a:r>
                    </a:p>
                  </a:txBody>
                  <a:tcPr anchor="ctr">
                    <a:solidFill>
                      <a:srgbClr val="FFFFFF"/>
                    </a:solidFill>
                  </a:tcPr>
                </a:tc>
              </a:tr>
              <a:tr h="457200">
                <a:tc>
                  <a:txBody>
                    <a:bodyPr/>
                    <a:lstStyle/>
                    <a:p>
                      <a:r>
                        <a:rPr sz="1300" b="1" i="0">
                          <a:solidFill>
                            <a:srgbClr val="000000"/>
                          </a:solidFill>
                          <a:latin typeface="Nirmala UI"/>
                        </a:rPr>
                        <a:t>Match array values</a:t>
                      </a:r>
                    </a:p>
                  </a:txBody>
                  <a:tcPr anchor="ctr">
                    <a:solidFill>
                      <a:srgbClr val="F5F5F5"/>
                    </a:solidFill>
                  </a:tcPr>
                </a:tc>
                <a:tc>
                  <a:txBody>
                    <a:bodyPr/>
                    <a:lstStyle/>
                    <a:p>
                      <a:r>
                        <a:rPr sz="1300" b="0" i="0">
                          <a:solidFill>
                            <a:srgbClr val="000000"/>
                          </a:solidFill>
                          <a:latin typeface="Nirmala UI"/>
                        </a:rPr>
                        <a:t>Multikey</a:t>
                      </a:r>
                    </a:p>
                  </a:txBody>
                  <a:tcPr anchor="ctr">
                    <a:solidFill>
                      <a:srgbClr val="F5F5F5"/>
                    </a:solidFill>
                  </a:tcPr>
                </a:tc>
                <a:tc>
                  <a:txBody>
                    <a:bodyPr/>
                    <a:lstStyle/>
                    <a:p>
                      <a:r>
                        <a:rPr sz="1300" b="0" i="0">
                          <a:solidFill>
                            <a:srgbClr val="000000"/>
                          </a:solidFill>
                          <a:latin typeface="Nirmala UI"/>
                        </a:rPr>
                        <a:t>{ tags: 1 }</a:t>
                      </a:r>
                    </a:p>
                  </a:txBody>
                  <a:tcPr anchor="ctr">
                    <a:solidFill>
                      <a:srgbClr val="F5F5F5"/>
                    </a:solidFill>
                  </a:tcPr>
                </a:tc>
              </a:tr>
              <a:tr h="457200">
                <a:tc>
                  <a:txBody>
                    <a:bodyPr/>
                    <a:lstStyle/>
                    <a:p>
                      <a:r>
                        <a:rPr sz="1300" b="1" i="0">
                          <a:solidFill>
                            <a:srgbClr val="000000"/>
                          </a:solidFill>
                          <a:latin typeface="Nirmala UI"/>
                        </a:rPr>
                        <a:t>Cover some documents only</a:t>
                      </a:r>
                    </a:p>
                  </a:txBody>
                  <a:tcPr anchor="ctr">
                    <a:solidFill>
                      <a:srgbClr val="FFFFFF"/>
                    </a:solidFill>
                  </a:tcPr>
                </a:tc>
                <a:tc>
                  <a:txBody>
                    <a:bodyPr/>
                    <a:lstStyle/>
                    <a:p>
                      <a:r>
                        <a:rPr sz="1300" b="0" i="0">
                          <a:solidFill>
                            <a:srgbClr val="000000"/>
                          </a:solidFill>
                          <a:latin typeface="Nirmala UI"/>
                        </a:rPr>
                        <a:t>Partial</a:t>
                      </a:r>
                    </a:p>
                  </a:txBody>
                  <a:tcPr anchor="ctr">
                    <a:solidFill>
                      <a:srgbClr val="FFFFFF"/>
                    </a:solidFill>
                  </a:tcPr>
                </a:tc>
                <a:tc>
                  <a:txBody>
                    <a:bodyPr/>
                    <a:lstStyle/>
                    <a:p>
                      <a:r>
                        <a:rPr sz="1300" b="0" i="0">
                          <a:solidFill>
                            <a:srgbClr val="000000"/>
                          </a:solidFill>
                          <a:latin typeface="Nirmala UI"/>
                        </a:rPr>
                        <a:t>active: true products</a:t>
                      </a:r>
                    </a:p>
                  </a:txBody>
                  <a:tcPr anchor="ctr">
                    <a:solidFill>
                      <a:srgbClr val="FFFFFF"/>
                    </a:solidFill>
                  </a:tcPr>
                </a:tc>
              </a:tr>
              <a:tr h="457200">
                <a:tc>
                  <a:txBody>
                    <a:bodyPr/>
                    <a:lstStyle/>
                    <a:p>
                      <a:r>
                        <a:rPr sz="1300" b="1" i="0">
                          <a:solidFill>
                            <a:srgbClr val="000000"/>
                          </a:solidFill>
                          <a:latin typeface="Nirmala UI"/>
                        </a:rPr>
                        <a:t>Skip a missing field</a:t>
                      </a:r>
                    </a:p>
                  </a:txBody>
                  <a:tcPr anchor="ctr">
                    <a:solidFill>
                      <a:srgbClr val="F5F5F5"/>
                    </a:solidFill>
                  </a:tcPr>
                </a:tc>
                <a:tc>
                  <a:txBody>
                    <a:bodyPr/>
                    <a:lstStyle/>
                    <a:p>
                      <a:r>
                        <a:rPr sz="1300" b="0" i="0">
                          <a:solidFill>
                            <a:srgbClr val="000000"/>
                          </a:solidFill>
                          <a:latin typeface="Nirmala UI"/>
                        </a:rPr>
                        <a:t>Sparse</a:t>
                      </a:r>
                    </a:p>
                  </a:txBody>
                  <a:tcPr anchor="ctr">
                    <a:solidFill>
                      <a:srgbClr val="F5F5F5"/>
                    </a:solidFill>
                  </a:tcPr>
                </a:tc>
                <a:tc>
                  <a:txBody>
                    <a:bodyPr/>
                    <a:lstStyle/>
                    <a:p>
                      <a:r>
                        <a:rPr sz="1300" b="0" i="0">
                          <a:solidFill>
                            <a:srgbClr val="000000"/>
                          </a:solidFill>
                          <a:latin typeface="Nirmala UI"/>
                        </a:rPr>
                        <a:t>contact.phone</a:t>
                      </a:r>
                    </a:p>
                  </a:txBody>
                  <a:tcPr anchor="ctr">
                    <a:solidFill>
                      <a:srgbClr val="F5F5F5"/>
                    </a:solidFill>
                  </a:tcPr>
                </a:tc>
              </a:tr>
              <a:tr h="457200">
                <a:tc>
                  <a:txBody>
                    <a:bodyPr/>
                    <a:lstStyle/>
                    <a:p>
                      <a:r>
                        <a:rPr sz="1300" b="1" i="0">
                          <a:solidFill>
                            <a:srgbClr val="000000"/>
                          </a:solidFill>
                          <a:latin typeface="Nirmala UI"/>
                        </a:rPr>
                        <a:t>Expire documents</a:t>
                      </a:r>
                    </a:p>
                  </a:txBody>
                  <a:tcPr anchor="ctr">
                    <a:solidFill>
                      <a:srgbClr val="FFFFFF"/>
                    </a:solidFill>
                  </a:tcPr>
                </a:tc>
                <a:tc>
                  <a:txBody>
                    <a:bodyPr/>
                    <a:lstStyle/>
                    <a:p>
                      <a:r>
                        <a:rPr sz="1300" b="0" i="0">
                          <a:solidFill>
                            <a:srgbClr val="000000"/>
                          </a:solidFill>
                          <a:latin typeface="Nirmala UI"/>
                        </a:rPr>
                        <a:t>TTL</a:t>
                      </a:r>
                    </a:p>
                  </a:txBody>
                  <a:tcPr anchor="ctr">
                    <a:solidFill>
                      <a:srgbClr val="FFFFFF"/>
                    </a:solidFill>
                  </a:tcPr>
                </a:tc>
                <a:tc>
                  <a:txBody>
                    <a:bodyPr/>
                    <a:lstStyle/>
                    <a:p>
                      <a:r>
                        <a:rPr sz="1300" b="0" i="0">
                          <a:solidFill>
                            <a:srgbClr val="000000"/>
                          </a:solidFill>
                          <a:latin typeface="Nirmala UI"/>
                        </a:rPr>
                        <a:t>sessions.expiresAt</a:t>
                      </a:r>
                    </a:p>
                  </a:txBody>
                  <a:tcPr anchor="ctr">
                    <a:solidFill>
                      <a:srgbClr val="FFFFFF"/>
                    </a:solidFill>
                  </a:tcPr>
                </a:tc>
              </a:tr>
              <a:tr h="457200">
                <a:tc>
                  <a:txBody>
                    <a:bodyPr/>
                    <a:lstStyle/>
                    <a:p>
                      <a:r>
                        <a:rPr sz="1300" b="1" i="0">
                          <a:solidFill>
                            <a:srgbClr val="000000"/>
                          </a:solidFill>
                          <a:latin typeface="Nirmala UI"/>
                        </a:rPr>
                        <a:t>Search words / dynamic paths</a:t>
                      </a:r>
                    </a:p>
                  </a:txBody>
                  <a:tcPr anchor="ctr">
                    <a:solidFill>
                      <a:srgbClr val="F5F5F5"/>
                    </a:solidFill>
                  </a:tcPr>
                </a:tc>
                <a:tc>
                  <a:txBody>
                    <a:bodyPr/>
                    <a:lstStyle/>
                    <a:p>
                      <a:r>
                        <a:rPr sz="1300" b="0" i="0">
                          <a:solidFill>
                            <a:srgbClr val="000000"/>
                          </a:solidFill>
                          <a:latin typeface="Nirmala UI"/>
                        </a:rPr>
                        <a:t>Text / Wildcard</a:t>
                      </a:r>
                    </a:p>
                  </a:txBody>
                  <a:tcPr anchor="ctr">
                    <a:solidFill>
                      <a:srgbClr val="F5F5F5"/>
                    </a:solidFill>
                  </a:tcPr>
                </a:tc>
                <a:tc>
                  <a:txBody>
                    <a:bodyPr/>
                    <a:lstStyle/>
                    <a:p>
                      <a:r>
                        <a:rPr sz="1300" b="0" i="0">
                          <a:solidFill>
                            <a:srgbClr val="000000"/>
                          </a:solidFill>
                          <a:latin typeface="Nirmala UI"/>
                        </a:rPr>
                        <a:t>name / attributes.$**</a:t>
                      </a:r>
                    </a:p>
                  </a:txBody>
                  <a:tcPr anchor="ctr">
                    <a:solidFill>
                      <a:srgbClr val="F5F5F5"/>
                    </a:solidFill>
                  </a:tcPr>
                </a:tc>
              </a:tr>
            </a:tbl>
          </a:graphicData>
        </a:graphic>
      </p:graphicFrame>
      <p:sp>
        <p:nvSpPr>
          <p:cNvPr id="5" name="Rounded Rectangle 4"/>
          <p:cNvSpPr/>
          <p:nvPr/>
        </p:nvSpPr>
        <p:spPr>
          <a:xfrm>
            <a:off x="8321040" y="1298448"/>
            <a:ext cx="338328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8458200" y="1353312"/>
            <a:ext cx="3108960" cy="292608"/>
          </a:xfrm>
          <a:prstGeom prst="rect">
            <a:avLst/>
          </a:prstGeom>
          <a:noFill/>
        </p:spPr>
        <p:txBody>
          <a:bodyPr wrap="square" anchor="ctr" lIns="0" rIns="0" tIns="0" bIns="0">
            <a:spAutoFit/>
          </a:bodyPr>
          <a:lstStyle/>
          <a:p>
            <a:pPr algn="l"/>
            <a:r>
              <a:rPr sz="1300" b="1" i="0">
                <a:solidFill>
                  <a:srgbClr val="002060"/>
                </a:solidFill>
                <a:latin typeface="Nirmala UI"/>
              </a:rPr>
              <a:t>Location and sharding</a:t>
            </a:r>
          </a:p>
        </p:txBody>
      </p:sp>
      <p:sp>
        <p:nvSpPr>
          <p:cNvPr id="7" name="TextBox 6"/>
          <p:cNvSpPr txBox="1"/>
          <p:nvPr/>
        </p:nvSpPr>
        <p:spPr>
          <a:xfrm>
            <a:off x="8458200" y="1664208"/>
            <a:ext cx="3108960" cy="874775"/>
          </a:xfrm>
          <a:prstGeom prst="rect">
            <a:avLst/>
          </a:prstGeom>
          <a:noFill/>
        </p:spPr>
        <p:txBody>
          <a:bodyPr wrap="square" anchor="t" lIns="0" rIns="0" tIns="0" bIns="0">
            <a:spAutoFit/>
          </a:bodyPr>
          <a:lstStyle/>
          <a:p>
            <a:pPr algn="l"/>
            <a:r>
              <a:rPr sz="1200" b="0" i="0">
                <a:solidFill>
                  <a:srgbClr val="000000"/>
                </a:solidFill>
                <a:latin typeface="Nirmala UI"/>
              </a:rPr>
              <a:t>2dsphere for coordinates; hashed for hashed shard keys.</a:t>
            </a:r>
          </a:p>
        </p:txBody>
      </p:sp>
      <p:sp>
        <p:nvSpPr>
          <p:cNvPr id="8" name="Rounded Rectangle 7"/>
          <p:cNvSpPr/>
          <p:nvPr/>
        </p:nvSpPr>
        <p:spPr>
          <a:xfrm>
            <a:off x="8321040" y="2721864"/>
            <a:ext cx="338328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458200" y="2776728"/>
            <a:ext cx="3108960" cy="292608"/>
          </a:xfrm>
          <a:prstGeom prst="rect">
            <a:avLst/>
          </a:prstGeom>
          <a:noFill/>
        </p:spPr>
        <p:txBody>
          <a:bodyPr wrap="square" anchor="ctr" lIns="0" rIns="0" tIns="0" bIns="0">
            <a:spAutoFit/>
          </a:bodyPr>
          <a:lstStyle/>
          <a:p>
            <a:pPr algn="l"/>
            <a:r>
              <a:rPr sz="1300" b="1" i="0">
                <a:solidFill>
                  <a:srgbClr val="002060"/>
                </a:solidFill>
                <a:latin typeface="Nirmala UI"/>
              </a:rPr>
              <a:t>One index, many shapes</a:t>
            </a:r>
          </a:p>
        </p:txBody>
      </p:sp>
      <p:sp>
        <p:nvSpPr>
          <p:cNvPr id="10" name="TextBox 9"/>
          <p:cNvSpPr txBox="1"/>
          <p:nvPr/>
        </p:nvSpPr>
        <p:spPr>
          <a:xfrm>
            <a:off x="8458200" y="3087624"/>
            <a:ext cx="3108960" cy="874776"/>
          </a:xfrm>
          <a:prstGeom prst="rect">
            <a:avLst/>
          </a:prstGeom>
          <a:noFill/>
        </p:spPr>
        <p:txBody>
          <a:bodyPr wrap="square" anchor="t" lIns="0" rIns="0" tIns="0" bIns="0">
            <a:spAutoFit/>
          </a:bodyPr>
          <a:lstStyle/>
          <a:p>
            <a:pPr algn="l"/>
            <a:r>
              <a:rPr sz="1200" b="0" i="0">
                <a:solidFill>
                  <a:srgbClr val="000000"/>
                </a:solidFill>
                <a:latin typeface="Nirmala UI"/>
              </a:rPr>
              <a:t>A compound index often serves several queries through its prefix.</a:t>
            </a:r>
          </a:p>
        </p:txBody>
      </p:sp>
      <p:sp>
        <p:nvSpPr>
          <p:cNvPr id="11" name="Rounded Rectangle 10"/>
          <p:cNvSpPr/>
          <p:nvPr/>
        </p:nvSpPr>
        <p:spPr>
          <a:xfrm>
            <a:off x="8321040" y="4145280"/>
            <a:ext cx="338328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503919" y="4145280"/>
            <a:ext cx="3017520" cy="1075944"/>
          </a:xfrm>
          <a:prstGeom prst="rect">
            <a:avLst/>
          </a:prstGeom>
          <a:noFill/>
        </p:spPr>
        <p:txBody>
          <a:bodyPr wrap="square" anchor="ctr" lIns="0" rIns="0" tIns="0" bIns="0">
            <a:spAutoFit/>
          </a:bodyPr>
          <a:lstStyle/>
          <a:p>
            <a:pPr algn="l"/>
            <a:r>
              <a:rPr sz="1200" b="1" i="0">
                <a:solidFill>
                  <a:srgbClr val="D1282E"/>
                </a:solidFill>
                <a:latin typeface="Nirmala UI"/>
              </a:rPr>
              <a:t>RULE   </a:t>
            </a:r>
            <a:r>
              <a:rPr sz="1200" b="0" i="0">
                <a:solidFill>
                  <a:srgbClr val="000000"/>
                </a:solidFill>
                <a:latin typeface="Nirmala UI"/>
              </a:rPr>
              <a:t>Pick the type from the query, not from the field.</a:t>
            </a:r>
          </a:p>
        </p:txBody>
      </p:sp>
      <p:sp>
        <p:nvSpPr>
          <p:cNvPr id="13" name="Rounded Rectangle 1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Name the query's job first — the index type follows from it.</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5: EXPLAIN() AND COVERED QUERIES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Stop guessing — read the plan.</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How indexes work</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Manage indexes</a:t>
            </a:r>
          </a:p>
        </p:txBody>
      </p:sp>
      <p:sp>
        <p:nvSpPr>
          <p:cNvPr id="8" name="Chevron 7"/>
          <p:cNvSpPr/>
          <p:nvPr/>
        </p:nvSpPr>
        <p:spPr>
          <a:xfrm>
            <a:off x="4147108"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Compound + ESR</a:t>
            </a:r>
          </a:p>
        </p:txBody>
      </p:sp>
      <p:sp>
        <p:nvSpPr>
          <p:cNvPr id="10" name="Chevron 9"/>
          <p:cNvSpPr/>
          <p:nvPr/>
        </p:nvSpPr>
        <p:spPr>
          <a:xfrm>
            <a:off x="5992063"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4</a:t>
            </a:r>
          </a:p>
          <a:p>
            <a:pPr algn="ctr"/>
            <a:r>
              <a:rPr sz="1300" b="1" i="0">
                <a:solidFill>
                  <a:srgbClr val="FFFFFF"/>
                </a:solidFill>
                <a:latin typeface="Nirmala UI"/>
              </a:rPr>
              <a:t>Specialized types</a:t>
            </a:r>
          </a:p>
        </p:txBody>
      </p:sp>
      <p:sp>
        <p:nvSpPr>
          <p:cNvPr id="12" name="Chevron 11"/>
          <p:cNvSpPr/>
          <p:nvPr/>
        </p:nvSpPr>
        <p:spPr>
          <a:xfrm>
            <a:off x="7837017"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explain()</a:t>
            </a:r>
          </a:p>
        </p:txBody>
      </p:sp>
      <p:sp>
        <p:nvSpPr>
          <p:cNvPr id="14" name="Chevron 13"/>
          <p:cNvSpPr/>
          <p:nvPr/>
        </p:nvSpPr>
        <p:spPr>
          <a:xfrm>
            <a:off x="9681972" y="1298448"/>
            <a:ext cx="202234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Costs + mistakes</a:t>
            </a:r>
          </a:p>
        </p:txBody>
      </p:sp>
      <p:sp>
        <p:nvSpPr>
          <p:cNvPr id="16" name="Rounded Rectangle 15"/>
          <p:cNvSpPr/>
          <p:nvPr/>
        </p:nvSpPr>
        <p:spPr>
          <a:xfrm>
            <a:off x="457200" y="2304288"/>
            <a:ext cx="4937760" cy="240334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Arrays get multikey indexes automatically</a:t>
            </a:r>
          </a:p>
        </p:txBody>
      </p:sp>
      <p:sp>
        <p:nvSpPr>
          <p:cNvPr id="21" name="Oval 20"/>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355848"/>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Unique, partial, sparse and TTL add rules and limits</a:t>
            </a:r>
          </a:p>
        </p:txBody>
      </p:sp>
      <p:sp>
        <p:nvSpPr>
          <p:cNvPr id="23" name="Oval 22"/>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40035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The query decides the index type</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prove an index works — and when can a query skip the documents entirely?</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626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explain() verbosity modes</a:t>
            </a:r>
          </a:p>
        </p:txBody>
      </p:sp>
      <p:sp>
        <p:nvSpPr>
          <p:cNvPr id="31" name="Oval 30"/>
          <p:cNvSpPr/>
          <p:nvPr/>
        </p:nvSpPr>
        <p:spPr>
          <a:xfrm>
            <a:off x="5760720" y="439521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2901"/>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Reading executionStats</a:t>
            </a:r>
          </a:p>
        </p:txBody>
      </p:sp>
      <p:sp>
        <p:nvSpPr>
          <p:cNvPr id="33" name="Oval 32"/>
          <p:cNvSpPr/>
          <p:nvPr/>
        </p:nvSpPr>
        <p:spPr>
          <a:xfrm>
            <a:off x="5760720" y="4794165"/>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185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Spotting a blocking sort</a:t>
            </a:r>
          </a:p>
        </p:txBody>
      </p:sp>
      <p:sp>
        <p:nvSpPr>
          <p:cNvPr id="35" name="Oval 34"/>
          <p:cNvSpPr/>
          <p:nvPr/>
        </p:nvSpPr>
        <p:spPr>
          <a:xfrm>
            <a:off x="5760720" y="519311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3080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Covered queries</a:t>
            </a:r>
          </a:p>
        </p:txBody>
      </p:sp>
      <p:sp>
        <p:nvSpPr>
          <p:cNvPr id="37" name="Oval 36"/>
          <p:cNvSpPr/>
          <p:nvPr/>
        </p:nvSpPr>
        <p:spPr>
          <a:xfrm>
            <a:off x="5760720" y="559206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529749"/>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Proving coverage in mongosh</a:t>
            </a:r>
          </a:p>
        </p:txBody>
      </p:sp>
      <p:sp>
        <p:nvSpPr>
          <p:cNvPr id="39" name="Oval 38"/>
          <p:cNvSpPr/>
          <p:nvPr/>
        </p:nvSpPr>
        <p:spPr>
          <a:xfrm>
            <a:off x="5760720" y="599101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40" name="TextBox 39"/>
          <p:cNvSpPr txBox="1"/>
          <p:nvPr/>
        </p:nvSpPr>
        <p:spPr>
          <a:xfrm>
            <a:off x="6144768" y="5928698"/>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Exercise: diagnose three plans</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EXPLAIN(): THREE LEVELS OF DETAIL</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queryPlanner, executionStats and allPlansExecution.</a:t>
            </a:r>
          </a:p>
        </p:txBody>
      </p:sp>
      <p:sp>
        <p:nvSpPr>
          <p:cNvPr id="4" name="Rounded Rectangle 3"/>
          <p:cNvSpPr/>
          <p:nvPr/>
        </p:nvSpPr>
        <p:spPr>
          <a:xfrm>
            <a:off x="475488" y="1482769"/>
            <a:ext cx="7415783" cy="416678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4" descr="image.jpg"/>
          <p:cNvPicPr>
            <a:picLocks noChangeAspect="1"/>
          </p:cNvPicPr>
          <p:nvPr/>
        </p:nvPicPr>
        <p:blipFill>
          <a:blip r:embed="rId2"/>
          <a:stretch>
            <a:fillRect/>
          </a:stretch>
        </p:blipFill>
        <p:spPr>
          <a:xfrm>
            <a:off x="548640" y="1555921"/>
            <a:ext cx="7269480" cy="4020476"/>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queryPlanner</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winning plan only — the query isn't run.</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executionStats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Runs the winning plan: returned, keys and documents examined, time.</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allPlansExecution</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Adds the candidate plans the planner tried and rejected.</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FOR TUNING   </a:t>
            </a:r>
            <a:r>
              <a:rPr sz="1200" b="0" i="0">
                <a:solidFill>
                  <a:srgbClr val="000000"/>
                </a:solidFill>
                <a:latin typeface="Nirmala UI"/>
              </a:rPr>
              <a:t>explain("executionStats") — as in every lab.</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explain() shows the plan; executionStats shows what that plan actually cost.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READING EXECUTIONSTATS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Lab 5, Step 7: active accessories by price, with idx_products_category_active_price.</a:t>
            </a:r>
          </a:p>
        </p:txBody>
      </p:sp>
      <p:sp>
        <p:nvSpPr>
          <p:cNvPr id="4" name="Oval 3"/>
          <p:cNvSpPr/>
          <p:nvPr/>
        </p:nvSpPr>
        <p:spPr>
          <a:xfrm>
            <a:off x="45720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5" name="TextBox 4"/>
          <p:cNvSpPr txBox="1"/>
          <p:nvPr/>
        </p:nvSpPr>
        <p:spPr>
          <a:xfrm>
            <a:off x="786384" y="1298448"/>
            <a:ext cx="6711696" cy="310896"/>
          </a:xfrm>
          <a:prstGeom prst="rect">
            <a:avLst/>
          </a:prstGeom>
          <a:noFill/>
        </p:spPr>
        <p:txBody>
          <a:bodyPr wrap="square" anchor="ctr" lIns="0" rIns="0" tIns="0" bIns="0">
            <a:spAutoFit/>
          </a:bodyPr>
          <a:lstStyle/>
          <a:p>
            <a:pPr algn="l"/>
            <a:r>
              <a:rPr sz="1300" b="1" i="0">
                <a:solidFill>
                  <a:srgbClr val="2E7D32"/>
                </a:solidFill>
                <a:latin typeface="Nirmala UI"/>
              </a:rPr>
              <a:t>The query and its plan (trimmed)</a:t>
            </a:r>
          </a:p>
        </p:txBody>
      </p:sp>
      <p:sp>
        <p:nvSpPr>
          <p:cNvPr id="6" name="Rounded Rectangle 5"/>
          <p:cNvSpPr/>
          <p:nvPr/>
        </p:nvSpPr>
        <p:spPr>
          <a:xfrm>
            <a:off x="457200" y="1627632"/>
            <a:ext cx="7040880" cy="3101086"/>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db.products.find(</a:t>
            </a:r>
          </a:p>
          <a:p>
            <a:pPr algn="l"/>
            <a:r>
              <a:rPr sz="1300" b="0" i="0">
                <a:solidFill>
                  <a:srgbClr val="000000"/>
                </a:solidFill>
                <a:latin typeface="Consolas"/>
              </a:rPr>
              <a:t>  { category: "ACCESSORY", active: true }</a:t>
            </a:r>
          </a:p>
          <a:p>
            <a:pPr algn="l"/>
            <a:r>
              <a:rPr sz="1300" b="0" i="0">
                <a:solidFill>
                  <a:srgbClr val="000000"/>
                </a:solidFill>
                <a:latin typeface="Consolas"/>
              </a:rPr>
              <a:t>).sort({ price: 1 }).explain("executionStats")</a:t>
            </a:r>
          </a:p>
          <a:p>
            <a:pPr algn="l"/>
            <a:r>
              <a:rPr sz="1300" b="0" i="0">
                <a:solidFill>
                  <a:srgbClr val="000000"/>
                </a:solidFill>
                <a:latin typeface="Consolas"/>
              </a:rPr>
              <a:t/>
            </a:r>
          </a:p>
          <a:p>
            <a:pPr algn="l"/>
            <a:r>
              <a:rPr sz="1300" b="0" i="0">
                <a:solidFill>
                  <a:srgbClr val="000000"/>
                </a:solidFill>
                <a:latin typeface="Consolas"/>
              </a:rPr>
              <a:t>queryPlanner.winningPlan:</a:t>
            </a:r>
          </a:p>
          <a:p>
            <a:pPr algn="l"/>
            <a:r>
              <a:rPr sz="1300" b="0" i="0">
                <a:solidFill>
                  <a:srgbClr val="000000"/>
                </a:solidFill>
                <a:latin typeface="Consolas"/>
              </a:rPr>
              <a:t>  stage: "FETCH"</a:t>
            </a:r>
          </a:p>
          <a:p>
            <a:pPr algn="l"/>
            <a:r>
              <a:rPr sz="1300" b="0" i="0">
                <a:solidFill>
                  <a:srgbClr val="000000"/>
                </a:solidFill>
                <a:latin typeface="Consolas"/>
              </a:rPr>
              <a:t>  inputStage:</a:t>
            </a:r>
          </a:p>
          <a:p>
            <a:pPr algn="l"/>
            <a:r>
              <a:rPr sz="1300" b="0" i="0">
                <a:solidFill>
                  <a:srgbClr val="000000"/>
                </a:solidFill>
                <a:latin typeface="Consolas"/>
              </a:rPr>
              <a:t>    stage: "IXSCAN"</a:t>
            </a:r>
          </a:p>
          <a:p>
            <a:pPr algn="l"/>
            <a:r>
              <a:rPr sz="1300" b="0" i="0">
                <a:solidFill>
                  <a:srgbClr val="000000"/>
                </a:solidFill>
                <a:latin typeface="Consolas"/>
              </a:rPr>
              <a:t>    indexName: "idx_products_category_active_price"</a:t>
            </a:r>
          </a:p>
          <a:p>
            <a:pPr algn="l"/>
            <a:r>
              <a:rPr sz="1300" b="0" i="0">
                <a:solidFill>
                  <a:srgbClr val="000000"/>
                </a:solidFill>
                <a:latin typeface="Consolas"/>
              </a:rPr>
              <a:t>executionStats:</a:t>
            </a:r>
          </a:p>
          <a:p>
            <a:pPr algn="l"/>
            <a:r>
              <a:rPr sz="1300" b="0" i="0">
                <a:solidFill>
                  <a:srgbClr val="000000"/>
                </a:solidFill>
                <a:latin typeface="Consolas"/>
              </a:rPr>
              <a:t>  nReturned: 5</a:t>
            </a:r>
          </a:p>
          <a:p>
            <a:pPr algn="l"/>
            <a:r>
              <a:rPr sz="1300" b="0" i="0">
                <a:solidFill>
                  <a:srgbClr val="000000"/>
                </a:solidFill>
                <a:latin typeface="Consolas"/>
              </a:rPr>
              <a:t>  totalKeysExamined: 5</a:t>
            </a:r>
          </a:p>
          <a:p>
            <a:pPr algn="l"/>
            <a:r>
              <a:rPr sz="1300" b="0" i="0">
                <a:solidFill>
                  <a:srgbClr val="000000"/>
                </a:solidFill>
                <a:latin typeface="Consolas"/>
              </a:rPr>
              <a:t>  totalDocsExamined: 5</a:t>
            </a:r>
          </a:p>
        </p:txBody>
      </p:sp>
      <p:sp>
        <p:nvSpPr>
          <p:cNvPr id="7" name="Rounded Rectangle 6"/>
          <p:cNvSpPr/>
          <p:nvPr/>
        </p:nvSpPr>
        <p:spPr>
          <a:xfrm>
            <a:off x="7772400" y="1298448"/>
            <a:ext cx="393192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7909560" y="1353312"/>
            <a:ext cx="3657600" cy="292608"/>
          </a:xfrm>
          <a:prstGeom prst="rect">
            <a:avLst/>
          </a:prstGeom>
          <a:noFill/>
        </p:spPr>
        <p:txBody>
          <a:bodyPr wrap="square" anchor="ctr" lIns="0" rIns="0" tIns="0" bIns="0">
            <a:spAutoFit/>
          </a:bodyPr>
          <a:lstStyle/>
          <a:p>
            <a:pPr algn="l"/>
            <a:r>
              <a:rPr sz="1300" b="1" i="0">
                <a:solidFill>
                  <a:srgbClr val="002060"/>
                </a:solidFill>
                <a:latin typeface="Nirmala UI"/>
              </a:rPr>
              <a:t>winningPlan</a:t>
            </a:r>
          </a:p>
        </p:txBody>
      </p:sp>
      <p:sp>
        <p:nvSpPr>
          <p:cNvPr id="9" name="TextBox 8"/>
          <p:cNvSpPr txBox="1"/>
          <p:nvPr/>
        </p:nvSpPr>
        <p:spPr>
          <a:xfrm>
            <a:off x="7909560" y="1664208"/>
            <a:ext cx="3657600" cy="718565"/>
          </a:xfrm>
          <a:prstGeom prst="rect">
            <a:avLst/>
          </a:prstGeom>
          <a:noFill/>
        </p:spPr>
        <p:txBody>
          <a:bodyPr wrap="square" anchor="t" lIns="0" rIns="0" tIns="0" bIns="0">
            <a:spAutoFit/>
          </a:bodyPr>
          <a:lstStyle/>
          <a:p>
            <a:pPr algn="l"/>
            <a:r>
              <a:rPr sz="1200" b="0" i="0">
                <a:solidFill>
                  <a:srgbClr val="000000"/>
                </a:solidFill>
                <a:latin typeface="Nirmala UI"/>
              </a:rPr>
              <a:t>FETCH over IXSCAN: keys first, then the matching documents. No SORT.</a:t>
            </a:r>
          </a:p>
        </p:txBody>
      </p:sp>
      <p:sp>
        <p:nvSpPr>
          <p:cNvPr id="10" name="Rounded Rectangle 9"/>
          <p:cNvSpPr/>
          <p:nvPr/>
        </p:nvSpPr>
        <p:spPr>
          <a:xfrm>
            <a:off x="7772400" y="2565654"/>
            <a:ext cx="3931920" cy="95326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909560" y="2620518"/>
            <a:ext cx="3657600" cy="292608"/>
          </a:xfrm>
          <a:prstGeom prst="rect">
            <a:avLst/>
          </a:prstGeom>
          <a:noFill/>
        </p:spPr>
        <p:txBody>
          <a:bodyPr wrap="square" anchor="ctr" lIns="0" rIns="0" tIns="0" bIns="0">
            <a:spAutoFit/>
          </a:bodyPr>
          <a:lstStyle/>
          <a:p>
            <a:pPr algn="l"/>
            <a:r>
              <a:rPr sz="1300" b="1" i="0">
                <a:solidFill>
                  <a:srgbClr val="002060"/>
                </a:solidFill>
                <a:latin typeface="Nirmala UI"/>
              </a:rPr>
              <a:t>Keys : docs : returned</a:t>
            </a:r>
          </a:p>
        </p:txBody>
      </p:sp>
      <p:sp>
        <p:nvSpPr>
          <p:cNvPr id="12" name="TextBox 11"/>
          <p:cNvSpPr txBox="1"/>
          <p:nvPr/>
        </p:nvSpPr>
        <p:spPr>
          <a:xfrm>
            <a:off x="7909560" y="2931414"/>
            <a:ext cx="3657600" cy="532638"/>
          </a:xfrm>
          <a:prstGeom prst="rect">
            <a:avLst/>
          </a:prstGeom>
          <a:noFill/>
        </p:spPr>
        <p:txBody>
          <a:bodyPr wrap="square" anchor="t" lIns="0" rIns="0" tIns="0" bIns="0">
            <a:spAutoFit/>
          </a:bodyPr>
          <a:lstStyle/>
          <a:p>
            <a:pPr algn="l"/>
            <a:r>
              <a:rPr sz="1200" b="0" i="0">
                <a:solidFill>
                  <a:srgbClr val="000000"/>
                </a:solidFill>
                <a:latin typeface="Nirmala UI"/>
              </a:rPr>
              <a:t>5 : 5 : 5 — nothing wasted.</a:t>
            </a:r>
          </a:p>
        </p:txBody>
      </p:sp>
      <p:sp>
        <p:nvSpPr>
          <p:cNvPr id="13" name="Rounded Rectangle 12"/>
          <p:cNvSpPr/>
          <p:nvPr/>
        </p:nvSpPr>
        <p:spPr>
          <a:xfrm>
            <a:off x="7772400" y="3646932"/>
            <a:ext cx="3931920" cy="113919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7909560" y="3701795"/>
            <a:ext cx="3657600" cy="292608"/>
          </a:xfrm>
          <a:prstGeom prst="rect">
            <a:avLst/>
          </a:prstGeom>
          <a:noFill/>
        </p:spPr>
        <p:txBody>
          <a:bodyPr wrap="square" anchor="ctr" lIns="0" rIns="0" tIns="0" bIns="0">
            <a:spAutoFit/>
          </a:bodyPr>
          <a:lstStyle/>
          <a:p>
            <a:pPr algn="l"/>
            <a:r>
              <a:rPr sz="1300" b="1" i="0">
                <a:solidFill>
                  <a:srgbClr val="002060"/>
                </a:solidFill>
                <a:latin typeface="Nirmala UI"/>
              </a:rPr>
              <a:t>Before the index</a:t>
            </a:r>
          </a:p>
        </p:txBody>
      </p:sp>
      <p:sp>
        <p:nvSpPr>
          <p:cNvPr id="15" name="TextBox 14"/>
          <p:cNvSpPr txBox="1"/>
          <p:nvPr/>
        </p:nvSpPr>
        <p:spPr>
          <a:xfrm>
            <a:off x="7909560" y="4012692"/>
            <a:ext cx="3657600" cy="718565"/>
          </a:xfrm>
          <a:prstGeom prst="rect">
            <a:avLst/>
          </a:prstGeom>
          <a:noFill/>
        </p:spPr>
        <p:txBody>
          <a:bodyPr wrap="square" anchor="t" lIns="0" rIns="0" tIns="0" bIns="0">
            <a:spAutoFit/>
          </a:bodyPr>
          <a:lstStyle/>
          <a:p>
            <a:pPr algn="l"/>
            <a:r>
              <a:rPr sz="1200" b="0" i="0">
                <a:solidFill>
                  <a:srgbClr val="000000"/>
                </a:solidFill>
                <a:latin typeface="Nirmala UI"/>
              </a:rPr>
              <a:t>SORT over COLLSCAN: 0 keys, 13 documents, 5 returned.</a:t>
            </a:r>
          </a:p>
        </p:txBody>
      </p:sp>
      <p:sp>
        <p:nvSpPr>
          <p:cNvPr id="16" name="Rounded Rectangle 15"/>
          <p:cNvSpPr/>
          <p:nvPr/>
        </p:nvSpPr>
        <p:spPr>
          <a:xfrm>
            <a:off x="7772400" y="4914138"/>
            <a:ext cx="3931920" cy="91973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7955279" y="4914138"/>
            <a:ext cx="3566160" cy="919734"/>
          </a:xfrm>
          <a:prstGeom prst="rect">
            <a:avLst/>
          </a:prstGeom>
          <a:noFill/>
        </p:spPr>
        <p:txBody>
          <a:bodyPr wrap="square" anchor="ctr" lIns="0" rIns="0" tIns="0" bIns="0">
            <a:spAutoFit/>
          </a:bodyPr>
          <a:lstStyle/>
          <a:p>
            <a:pPr algn="l"/>
            <a:r>
              <a:rPr sz="1200" b="1" i="0">
                <a:solidFill>
                  <a:srgbClr val="D1282E"/>
                </a:solidFill>
                <a:latin typeface="Nirmala UI"/>
              </a:rPr>
              <a:t>XBAD   </a:t>
            </a:r>
            <a:r>
              <a:rPr sz="1200" b="0" i="0">
                <a:solidFill>
                  <a:srgbClr val="000000"/>
                </a:solidFill>
                <a:latin typeface="Nirmala UI"/>
              </a:rPr>
              <a:t>Its price is the string "49.99" — it matches, and sorts after the numbers.</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Read the stage path first, then compare keys and documents examined with documents returned.</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SPOTTING A BLOCKING SORT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SORT stage means documents were sorted in memory.</a:t>
            </a:r>
          </a:p>
        </p:txBody>
      </p:sp>
      <p:sp>
        <p:nvSpPr>
          <p:cNvPr id="4" name="Rounded Rectangle 3"/>
          <p:cNvSpPr/>
          <p:nvPr/>
        </p:nvSpPr>
        <p:spPr>
          <a:xfrm>
            <a:off x="475488" y="2151719"/>
            <a:ext cx="7415783" cy="282888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8" descr="image.jpg"/>
          <p:cNvPicPr>
            <a:picLocks noChangeAspect="1"/>
          </p:cNvPicPr>
          <p:nvPr/>
        </p:nvPicPr>
        <p:blipFill>
          <a:blip r:embed="rId2"/>
          <a:stretch>
            <a:fillRect/>
          </a:stretch>
        </p:blipFill>
        <p:spPr>
          <a:xfrm>
            <a:off x="548640" y="2224871"/>
            <a:ext cx="7269480" cy="2682577"/>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signal</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stage: SORT above COLLSCAN or IXSCAN in winningPlan.</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Why it hurts</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Every match is held and sorted before the first result returns.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fix</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An index whose order matches the sort — after the equality fields.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MEMORY   </a:t>
            </a:r>
            <a:r>
              <a:rPr sz="1200" b="0" i="0">
                <a:solidFill>
                  <a:srgbClr val="000000"/>
                </a:solidFill>
                <a:latin typeface="Nirmala UI"/>
              </a:rPr>
              <a:t>Large sorts use up to 100 MB, then spill to disk.</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SORT stage is a missing or mis-ordered index — fix the index, not the query.</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COVERED QUERIES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When the index holds every field the query needs, no document is read.</a:t>
            </a:r>
          </a:p>
        </p:txBody>
      </p:sp>
      <p:sp>
        <p:nvSpPr>
          <p:cNvPr id="4" name="Rounded Rectangle 3"/>
          <p:cNvSpPr/>
          <p:nvPr/>
        </p:nvSpPr>
        <p:spPr>
          <a:xfrm>
            <a:off x="475488" y="1895200"/>
            <a:ext cx="7415783" cy="334191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6" descr="image.jpg"/>
          <p:cNvPicPr>
            <a:picLocks noChangeAspect="1"/>
          </p:cNvPicPr>
          <p:nvPr/>
        </p:nvPicPr>
        <p:blipFill>
          <a:blip r:embed="rId2"/>
          <a:stretch>
            <a:fillRect/>
          </a:stretch>
        </p:blipFill>
        <p:spPr>
          <a:xfrm>
            <a:off x="548640" y="1968352"/>
            <a:ext cx="7269480" cy="3195614"/>
          </a:xfrm>
          <a:prstGeom prst="rect">
            <a:avLst/>
          </a:prstGeom>
        </p:spPr>
      </p:pic>
      <p:sp>
        <p:nvSpPr>
          <p:cNvPr id="6" name="Rounded Rectangle 5"/>
          <p:cNvSpPr/>
          <p:nvPr/>
        </p:nvSpPr>
        <p:spPr>
          <a:xfrm>
            <a:off x="8183880" y="1298448"/>
            <a:ext cx="3520440" cy="99974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Filter in the index</a:t>
            </a:r>
          </a:p>
        </p:txBody>
      </p:sp>
      <p:sp>
        <p:nvSpPr>
          <p:cNvPr id="8" name="TextBox 7"/>
          <p:cNvSpPr txBox="1"/>
          <p:nvPr/>
        </p:nvSpPr>
        <p:spPr>
          <a:xfrm>
            <a:off x="8321040" y="1664208"/>
            <a:ext cx="3246120" cy="579120"/>
          </a:xfrm>
          <a:prstGeom prst="rect">
            <a:avLst/>
          </a:prstGeom>
          <a:noFill/>
        </p:spPr>
        <p:txBody>
          <a:bodyPr wrap="square" anchor="t" lIns="0" rIns="0" tIns="0" bIns="0">
            <a:spAutoFit/>
          </a:bodyPr>
          <a:lstStyle/>
          <a:p>
            <a:pPr algn="l"/>
            <a:r>
              <a:rPr sz="1200" b="0" i="0">
                <a:solidFill>
                  <a:srgbClr val="000000"/>
                </a:solidFill>
                <a:latin typeface="Nirmala UI"/>
              </a:rPr>
              <a:t>category is the first key.</a:t>
            </a:r>
          </a:p>
        </p:txBody>
      </p:sp>
      <p:sp>
        <p:nvSpPr>
          <p:cNvPr id="9" name="Rounded Rectangle 8"/>
          <p:cNvSpPr/>
          <p:nvPr/>
        </p:nvSpPr>
        <p:spPr>
          <a:xfrm>
            <a:off x="8183880" y="2426208"/>
            <a:ext cx="3520440" cy="99974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810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Output in the index</a:t>
            </a:r>
          </a:p>
        </p:txBody>
      </p:sp>
      <p:sp>
        <p:nvSpPr>
          <p:cNvPr id="11" name="TextBox 10"/>
          <p:cNvSpPr txBox="1"/>
          <p:nvPr/>
        </p:nvSpPr>
        <p:spPr>
          <a:xfrm>
            <a:off x="8321040" y="2791968"/>
            <a:ext cx="3246120" cy="579120"/>
          </a:xfrm>
          <a:prstGeom prst="rect">
            <a:avLst/>
          </a:prstGeom>
          <a:noFill/>
        </p:spPr>
        <p:txBody>
          <a:bodyPr wrap="square" anchor="t" lIns="0" rIns="0" tIns="0" bIns="0">
            <a:spAutoFit/>
          </a:bodyPr>
          <a:lstStyle/>
          <a:p>
            <a:pPr algn="l"/>
            <a:r>
              <a:rPr sz="1200" b="0" i="0">
                <a:solidFill>
                  <a:srgbClr val="000000"/>
                </a:solidFill>
                <a:latin typeface="Nirmala UI"/>
              </a:rPr>
              <a:t>name and price are keys too.</a:t>
            </a:r>
          </a:p>
        </p:txBody>
      </p:sp>
      <p:sp>
        <p:nvSpPr>
          <p:cNvPr id="12" name="Rounded Rectangle 11"/>
          <p:cNvSpPr/>
          <p:nvPr/>
        </p:nvSpPr>
        <p:spPr>
          <a:xfrm>
            <a:off x="8183880" y="3553968"/>
            <a:ext cx="3520440" cy="118567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088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_id excluded</a:t>
            </a:r>
          </a:p>
        </p:txBody>
      </p:sp>
      <p:sp>
        <p:nvSpPr>
          <p:cNvPr id="14" name="TextBox 13"/>
          <p:cNvSpPr txBox="1"/>
          <p:nvPr/>
        </p:nvSpPr>
        <p:spPr>
          <a:xfrm>
            <a:off x="8321040" y="3919728"/>
            <a:ext cx="3246120" cy="765047"/>
          </a:xfrm>
          <a:prstGeom prst="rect">
            <a:avLst/>
          </a:prstGeom>
          <a:noFill/>
        </p:spPr>
        <p:txBody>
          <a:bodyPr wrap="square" anchor="t" lIns="0" rIns="0" tIns="0" bIns="0">
            <a:spAutoFit/>
          </a:bodyPr>
          <a:lstStyle/>
          <a:p>
            <a:pPr algn="l"/>
            <a:r>
              <a:rPr sz="1200" b="0" i="0">
                <a:solidFill>
                  <a:srgbClr val="000000"/>
                </a:solidFill>
                <a:latin typeface="Nirmala UI"/>
              </a:rPr>
              <a:t>_id isn't in the index, so the projection sets _id: 0.</a:t>
            </a:r>
          </a:p>
        </p:txBody>
      </p:sp>
      <p:sp>
        <p:nvSpPr>
          <p:cNvPr id="15" name="Rounded Rectangle 14"/>
          <p:cNvSpPr/>
          <p:nvPr/>
        </p:nvSpPr>
        <p:spPr>
          <a:xfrm>
            <a:off x="8183880" y="4867656"/>
            <a:ext cx="3520440" cy="96621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867656"/>
            <a:ext cx="3154680" cy="966216"/>
          </a:xfrm>
          <a:prstGeom prst="rect">
            <a:avLst/>
          </a:prstGeom>
          <a:noFill/>
        </p:spPr>
        <p:txBody>
          <a:bodyPr wrap="square" anchor="ctr" lIns="0" rIns="0" tIns="0" bIns="0">
            <a:spAutoFit/>
          </a:bodyPr>
          <a:lstStyle/>
          <a:p>
            <a:pPr algn="l"/>
            <a:r>
              <a:rPr sz="1200" b="1" i="0">
                <a:solidFill>
                  <a:srgbClr val="D1282E"/>
                </a:solidFill>
                <a:latin typeface="Nirmala UI"/>
              </a:rPr>
              <a:t>THE SIGNAL   </a:t>
            </a:r>
            <a:r>
              <a:rPr sz="1200" b="0" i="0">
                <a:solidFill>
                  <a:srgbClr val="000000"/>
                </a:solidFill>
                <a:latin typeface="Nirmala UI"/>
              </a:rPr>
              <a:t>IXSCAN with no FETCH; totalDocsExamined: 0.</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covered query answers from the index alone — every filtered and returned field must be in it.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PROVING COVERAGE IN MONGOSH</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Lab 5, Step 11: idx_products_category_price_name on the two books (trimmed).</a:t>
            </a:r>
          </a:p>
        </p:txBody>
      </p:sp>
      <p:sp>
        <p:nvSpPr>
          <p:cNvPr id="4" name="Oval 3"/>
          <p:cNvSpPr/>
          <p:nvPr/>
        </p:nvSpPr>
        <p:spPr>
          <a:xfrm>
            <a:off x="45720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5" name="TextBox 4"/>
          <p:cNvSpPr txBox="1"/>
          <p:nvPr/>
        </p:nvSpPr>
        <p:spPr>
          <a:xfrm>
            <a:off x="78638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Covered</a:t>
            </a:r>
          </a:p>
        </p:txBody>
      </p:sp>
      <p:sp>
        <p:nvSpPr>
          <p:cNvPr id="6" name="Rounded Rectangle 5"/>
          <p:cNvSpPr/>
          <p:nvPr/>
        </p:nvSpPr>
        <p:spPr>
          <a:xfrm>
            <a:off x="457200" y="1627632"/>
            <a:ext cx="5509260" cy="2837052"/>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db.products.createIndex(</a:t>
            </a:r>
          </a:p>
          <a:p>
            <a:pPr algn="l"/>
            <a:r>
              <a:rPr sz="1300" b="0" i="0">
                <a:solidFill>
                  <a:srgbClr val="000000"/>
                </a:solidFill>
                <a:latin typeface="Consolas"/>
              </a:rPr>
              <a:t>  { category: 1, price: 1, name: 1 },</a:t>
            </a:r>
          </a:p>
          <a:p>
            <a:pPr algn="l"/>
            <a:r>
              <a:rPr sz="1300" b="0" i="0">
                <a:solidFill>
                  <a:srgbClr val="000000"/>
                </a:solidFill>
                <a:latin typeface="Consolas"/>
              </a:rPr>
              <a:t>  { name: "idx_products_category_price_name" })</a:t>
            </a:r>
          </a:p>
          <a:p>
            <a:pPr algn="l"/>
            <a:r>
              <a:rPr sz="1300" b="0" i="0">
                <a:solidFill>
                  <a:srgbClr val="000000"/>
                </a:solidFill>
                <a:latin typeface="Consolas"/>
              </a:rPr>
              <a:t/>
            </a:r>
          </a:p>
          <a:p>
            <a:pPr algn="l"/>
            <a:r>
              <a:rPr sz="1300" b="0" i="0">
                <a:solidFill>
                  <a:srgbClr val="000000"/>
                </a:solidFill>
                <a:latin typeface="Consolas"/>
              </a:rPr>
              <a:t>db.products.find({ category: "BOOK" },</a:t>
            </a:r>
          </a:p>
          <a:p>
            <a:pPr algn="l"/>
            <a:r>
              <a:rPr sz="1300" b="0" i="0">
                <a:solidFill>
                  <a:srgbClr val="000000"/>
                </a:solidFill>
                <a:latin typeface="Consolas"/>
              </a:rPr>
              <a:t>  { _id: 0, name: 1, price: 1 })</a:t>
            </a:r>
          </a:p>
          <a:p>
            <a:pPr algn="l"/>
            <a:r>
              <a:rPr sz="1300" b="0" i="0">
                <a:solidFill>
                  <a:srgbClr val="000000"/>
                </a:solidFill>
                <a:latin typeface="Consolas"/>
              </a:rPr>
              <a:t/>
            </a:r>
          </a:p>
          <a:p>
            <a:pPr algn="l"/>
            <a:r>
              <a:rPr sz="1300" b="0" i="0">
                <a:solidFill>
                  <a:srgbClr val="000000"/>
                </a:solidFill>
                <a:latin typeface="Consolas"/>
              </a:rPr>
              <a:t>stage: PROJECTION_COVERED</a:t>
            </a:r>
          </a:p>
          <a:p>
            <a:pPr algn="l"/>
            <a:r>
              <a:rPr sz="1300" b="0" i="0">
                <a:solidFill>
                  <a:srgbClr val="000000"/>
                </a:solidFill>
                <a:latin typeface="Consolas"/>
              </a:rPr>
              <a:t>  inputStage: IXSCAN</a:t>
            </a:r>
          </a:p>
          <a:p>
            <a:pPr algn="l"/>
            <a:r>
              <a:rPr sz="1300" b="0" i="0">
                <a:solidFill>
                  <a:srgbClr val="000000"/>
                </a:solidFill>
                <a:latin typeface="Consolas"/>
              </a:rPr>
              <a:t>totalDocsExamined: 0</a:t>
            </a:r>
          </a:p>
        </p:txBody>
      </p:sp>
      <p:sp>
        <p:nvSpPr>
          <p:cNvPr id="7" name="Oval 6"/>
          <p:cNvSpPr/>
          <p:nvPr/>
        </p:nvSpPr>
        <p:spPr>
          <a:xfrm>
            <a:off x="6195060" y="132588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8" name="TextBox 7"/>
          <p:cNvSpPr txBox="1"/>
          <p:nvPr/>
        </p:nvSpPr>
        <p:spPr>
          <a:xfrm>
            <a:off x="6524244" y="1298448"/>
            <a:ext cx="5180076" cy="310896"/>
          </a:xfrm>
          <a:prstGeom prst="rect">
            <a:avLst/>
          </a:prstGeom>
          <a:noFill/>
        </p:spPr>
        <p:txBody>
          <a:bodyPr wrap="square" anchor="ctr" lIns="0" rIns="0" tIns="0" bIns="0">
            <a:spAutoFit/>
          </a:bodyPr>
          <a:lstStyle/>
          <a:p>
            <a:pPr algn="l"/>
            <a:r>
              <a:rPr sz="1300" b="1" i="0">
                <a:solidFill>
                  <a:srgbClr val="D1282E"/>
                </a:solidFill>
                <a:latin typeface="Nirmala UI"/>
              </a:rPr>
              <a:t>Not covered</a:t>
            </a:r>
          </a:p>
        </p:txBody>
      </p:sp>
      <p:sp>
        <p:nvSpPr>
          <p:cNvPr id="9" name="Rounded Rectangle 8"/>
          <p:cNvSpPr/>
          <p:nvPr/>
        </p:nvSpPr>
        <p:spPr>
          <a:xfrm>
            <a:off x="6195060" y="1627632"/>
            <a:ext cx="5509260" cy="2837052"/>
          </a:xfrm>
          <a:prstGeom prst="roundRect">
            <a:avLst>
              <a:gd name="adj" fmla="val 6000"/>
            </a:avLst>
          </a:prstGeom>
          <a:solidFill>
            <a:srgbClr val="FDECE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 _id comes back by default</a:t>
            </a:r>
          </a:p>
          <a:p>
            <a:pPr algn="l"/>
            <a:r>
              <a:rPr sz="1300" b="0" i="0">
                <a:solidFill>
                  <a:srgbClr val="000000"/>
                </a:solidFill>
                <a:latin typeface="Consolas"/>
              </a:rPr>
              <a:t>db.products.find({ category: "BOOK" },</a:t>
            </a:r>
          </a:p>
          <a:p>
            <a:pPr algn="l"/>
            <a:r>
              <a:rPr sz="1300" b="0" i="0">
                <a:solidFill>
                  <a:srgbClr val="000000"/>
                </a:solidFill>
                <a:latin typeface="Consolas"/>
              </a:rPr>
              <a:t>  { name: 1, price: 1 })</a:t>
            </a:r>
          </a:p>
          <a:p>
            <a:pPr algn="l"/>
            <a:r>
              <a:rPr sz="1300" b="0" i="0">
                <a:solidFill>
                  <a:srgbClr val="000000"/>
                </a:solidFill>
                <a:latin typeface="Consolas"/>
              </a:rPr>
              <a:t/>
            </a:r>
          </a:p>
          <a:p>
            <a:pPr algn="l"/>
            <a:r>
              <a:rPr sz="1300" b="0" i="0">
                <a:solidFill>
                  <a:srgbClr val="000000"/>
                </a:solidFill>
                <a:latin typeface="Consolas"/>
              </a:rPr>
              <a:t>// tags isn't in the index</a:t>
            </a:r>
          </a:p>
          <a:p>
            <a:pPr algn="l"/>
            <a:r>
              <a:rPr sz="1300" b="0" i="0">
                <a:solidFill>
                  <a:srgbClr val="000000"/>
                </a:solidFill>
                <a:latin typeface="Consolas"/>
              </a:rPr>
              <a:t>db.products.find({ category: "BOOK" },</a:t>
            </a:r>
          </a:p>
          <a:p>
            <a:pPr algn="l"/>
            <a:r>
              <a:rPr sz="1300" b="0" i="0">
                <a:solidFill>
                  <a:srgbClr val="000000"/>
                </a:solidFill>
                <a:latin typeface="Consolas"/>
              </a:rPr>
              <a:t>  { _id: 0, name: 1, tags: 1 })</a:t>
            </a:r>
          </a:p>
          <a:p>
            <a:pPr algn="l"/>
            <a:r>
              <a:rPr sz="1300" b="0" i="0">
                <a:solidFill>
                  <a:srgbClr val="000000"/>
                </a:solidFill>
                <a:latin typeface="Consolas"/>
              </a:rPr>
              <a:t/>
            </a:r>
          </a:p>
          <a:p>
            <a:pPr algn="l"/>
            <a:r>
              <a:rPr sz="1300" b="0" i="0">
                <a:solidFill>
                  <a:srgbClr val="000000"/>
                </a:solidFill>
                <a:latin typeface="Consolas"/>
              </a:rPr>
              <a:t>stage: PROJECTION_SIMPLE</a:t>
            </a:r>
          </a:p>
          <a:p>
            <a:pPr algn="l"/>
            <a:r>
              <a:rPr sz="1300" b="0" i="0">
                <a:solidFill>
                  <a:srgbClr val="000000"/>
                </a:solidFill>
                <a:latin typeface="Consolas"/>
              </a:rPr>
              <a:t>  inputStage: FETCH</a:t>
            </a:r>
          </a:p>
          <a:p>
            <a:pPr algn="l"/>
            <a:r>
              <a:rPr sz="1300" b="0" i="0">
                <a:solidFill>
                  <a:srgbClr val="000000"/>
                </a:solidFill>
                <a:latin typeface="Consolas"/>
              </a:rPr>
              <a:t>totalDocsExamined: 2</a:t>
            </a:r>
          </a:p>
        </p:txBody>
      </p:sp>
      <p:sp>
        <p:nvSpPr>
          <p:cNvPr id="10" name="Rounded Rectangle 9"/>
          <p:cNvSpPr/>
          <p:nvPr/>
        </p:nvSpPr>
        <p:spPr>
          <a:xfrm>
            <a:off x="457200" y="4693285"/>
            <a:ext cx="3627120" cy="114058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74814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Three conditions</a:t>
            </a:r>
          </a:p>
        </p:txBody>
      </p:sp>
      <p:sp>
        <p:nvSpPr>
          <p:cNvPr id="12" name="TextBox 11"/>
          <p:cNvSpPr txBox="1"/>
          <p:nvPr/>
        </p:nvSpPr>
        <p:spPr>
          <a:xfrm>
            <a:off x="594360" y="5059045"/>
            <a:ext cx="3352800" cy="719962"/>
          </a:xfrm>
          <a:prstGeom prst="rect">
            <a:avLst/>
          </a:prstGeom>
          <a:noFill/>
        </p:spPr>
        <p:txBody>
          <a:bodyPr wrap="square" anchor="t" lIns="0" rIns="0" tIns="0" bIns="0">
            <a:spAutoFit/>
          </a:bodyPr>
          <a:lstStyle/>
          <a:p>
            <a:pPr algn="l"/>
            <a:r>
              <a:rPr sz="1200" b="0" i="0">
                <a:solidFill>
                  <a:srgbClr val="000000"/>
                </a:solidFill>
                <a:latin typeface="Nirmala UI"/>
              </a:rPr>
              <a:t>Filter indexed · output indexed · _id excluded or indexed.</a:t>
            </a:r>
          </a:p>
        </p:txBody>
      </p:sp>
      <p:sp>
        <p:nvSpPr>
          <p:cNvPr id="13" name="Rounded Rectangle 12"/>
          <p:cNvSpPr/>
          <p:nvPr/>
        </p:nvSpPr>
        <p:spPr>
          <a:xfrm>
            <a:off x="4267200" y="4693285"/>
            <a:ext cx="3627120" cy="114058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74814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The result</a:t>
            </a:r>
          </a:p>
        </p:txBody>
      </p:sp>
      <p:sp>
        <p:nvSpPr>
          <p:cNvPr id="15" name="TextBox 14"/>
          <p:cNvSpPr txBox="1"/>
          <p:nvPr/>
        </p:nvSpPr>
        <p:spPr>
          <a:xfrm>
            <a:off x="4404360" y="5059045"/>
            <a:ext cx="3352800" cy="719962"/>
          </a:xfrm>
          <a:prstGeom prst="rect">
            <a:avLst/>
          </a:prstGeom>
          <a:noFill/>
        </p:spPr>
        <p:txBody>
          <a:bodyPr wrap="square" anchor="t" lIns="0" rIns="0" tIns="0" bIns="0">
            <a:spAutoFit/>
          </a:bodyPr>
          <a:lstStyle/>
          <a:p>
            <a:pPr algn="l"/>
            <a:r>
              <a:rPr sz="1200" b="0" i="0">
                <a:solidFill>
                  <a:srgbClr val="000000"/>
                </a:solidFill>
                <a:latin typeface="Nirmala UI"/>
              </a:rPr>
              <a:t>Query Cookbook 39.99, then MongoDB Fundamentals 59.99.</a:t>
            </a:r>
          </a:p>
        </p:txBody>
      </p:sp>
      <p:sp>
        <p:nvSpPr>
          <p:cNvPr id="16" name="Rounded Rectangle 15"/>
          <p:cNvSpPr/>
          <p:nvPr/>
        </p:nvSpPr>
        <p:spPr>
          <a:xfrm>
            <a:off x="8077200" y="4693285"/>
            <a:ext cx="3627120" cy="114058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14360" y="474814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Arrays</a:t>
            </a:r>
          </a:p>
        </p:txBody>
      </p:sp>
      <p:sp>
        <p:nvSpPr>
          <p:cNvPr id="18" name="TextBox 17"/>
          <p:cNvSpPr txBox="1"/>
          <p:nvPr/>
        </p:nvSpPr>
        <p:spPr>
          <a:xfrm>
            <a:off x="8214360" y="5059045"/>
            <a:ext cx="3352800" cy="719962"/>
          </a:xfrm>
          <a:prstGeom prst="rect">
            <a:avLst/>
          </a:prstGeom>
          <a:noFill/>
        </p:spPr>
        <p:txBody>
          <a:bodyPr wrap="square" anchor="t" lIns="0" rIns="0" tIns="0" bIns="0">
            <a:spAutoFit/>
          </a:bodyPr>
          <a:lstStyle/>
          <a:p>
            <a:pPr algn="l"/>
            <a:r>
              <a:rPr sz="1200" b="0" i="0">
                <a:solidFill>
                  <a:srgbClr val="000000"/>
                </a:solidFill>
                <a:latin typeface="Nirmala UI"/>
              </a:rPr>
              <a:t>A multikey field such as tags can't be covered.</a:t>
            </a:r>
          </a:p>
        </p:txBody>
      </p:sp>
      <p:sp>
        <p:nvSpPr>
          <p:cNvPr id="19" name="Rounded Rectangle 1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Confirm coverage with explain() — IXSCAN with no FETCH and zero documents examined.</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DIAGNOSE THREE PLANS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Read the numbers, name the problem, propose the fix.</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977391"/>
          </a:xfrm>
          <a:prstGeom prst="rect">
            <a:avLst/>
          </a:prstGeom>
          <a:noFill/>
        </p:spPr>
        <p:txBody>
          <a:bodyPr wrap="square" anchor="t" lIns="0" rIns="0" tIns="0" bIns="0">
            <a:spAutoFit/>
          </a:bodyPr>
          <a:lstStyle/>
          <a:p>
            <a:pPr algn="l"/>
            <a:r>
              <a:rPr sz="1400" b="0" i="0">
                <a:solidFill>
                  <a:srgbClr val="000000"/>
                </a:solidFill>
                <a:latin typeface="Nirmala UI"/>
              </a:rPr>
              <a:t>Three explain("executionStats") summaries on a fresh training_store. A: name "USB Hub". B: PROCESSING orders by date. C: tags "wireless".</a:t>
            </a:r>
          </a:p>
        </p:txBody>
      </p:sp>
      <p:sp>
        <p:nvSpPr>
          <p:cNvPr id="10" name="Rounded Rectangle 9"/>
          <p:cNvSpPr/>
          <p:nvPr/>
        </p:nvSpPr>
        <p:spPr>
          <a:xfrm>
            <a:off x="566928" y="3446272"/>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A  COLLSCAN</a:t>
            </a:r>
          </a:p>
          <a:p>
            <a:pPr algn="l"/>
            <a:r>
              <a:rPr sz="1100" b="0" i="0">
                <a:solidFill>
                  <a:srgbClr val="000000"/>
                </a:solidFill>
                <a:latin typeface="Consolas"/>
              </a:rPr>
              <a:t>   keys 0 · docs 13 · returned 1</a:t>
            </a:r>
          </a:p>
          <a:p>
            <a:pPr algn="l"/>
            <a:r>
              <a:rPr sz="1100" b="0" i="0">
                <a:solidFill>
                  <a:srgbClr val="000000"/>
                </a:solidFill>
                <a:latin typeface="Consolas"/>
              </a:rPr>
              <a:t>B  SORT ← COLLSCAN</a:t>
            </a:r>
          </a:p>
          <a:p>
            <a:pPr algn="l"/>
            <a:r>
              <a:rPr sz="1100" b="0" i="0">
                <a:solidFill>
                  <a:srgbClr val="000000"/>
                </a:solidFill>
                <a:latin typeface="Consolas"/>
              </a:rPr>
              <a:t>   keys 0 · docs 17 · returned 3</a:t>
            </a:r>
          </a:p>
          <a:p>
            <a:pPr algn="l"/>
            <a:r>
              <a:rPr sz="1100" b="0" i="0">
                <a:solidFill>
                  <a:srgbClr val="000000"/>
                </a:solidFill>
                <a:latin typeface="Consolas"/>
              </a:rPr>
              <a:t>C  FETCH ← IXSCAN idx_products_tags</a:t>
            </a:r>
          </a:p>
          <a:p>
            <a:pPr algn="l"/>
            <a:r>
              <a:rPr sz="1100" b="0" i="0">
                <a:solidFill>
                  <a:srgbClr val="000000"/>
                </a:solidFill>
                <a:latin typeface="Consolas"/>
              </a:rPr>
              <a:t>   keys 2 · docs 2 · returned 2</a:t>
            </a:r>
          </a:p>
        </p:txBody>
      </p:sp>
      <p:sp>
        <p:nvSpPr>
          <p:cNvPr id="11" name="Rounded Rectangle 10"/>
          <p:cNvSpPr/>
          <p:nvPr/>
        </p:nvSpPr>
        <p:spPr>
          <a:xfrm>
            <a:off x="4526280" y="1865376"/>
            <a:ext cx="388620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Mark each plan targeted or wasteful</a:t>
            </a:r>
          </a:p>
        </p:txBody>
      </p:sp>
      <p:sp>
        <p:nvSpPr>
          <p:cNvPr id="16" name="Oval 15"/>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Propose a fix for A</a:t>
            </a:r>
          </a:p>
        </p:txBody>
      </p:sp>
      <p:sp>
        <p:nvSpPr>
          <p:cNvPr id="18" name="Oval 17"/>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Propose a fix for B</a:t>
            </a:r>
          </a:p>
        </p:txBody>
      </p:sp>
      <p:sp>
        <p:nvSpPr>
          <p:cNvPr id="20" name="Oval 19"/>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why C needs no change</a:t>
            </a:r>
          </a:p>
        </p:txBody>
      </p:sp>
      <p:sp>
        <p:nvSpPr>
          <p:cNvPr id="22" name="Rounded Rectangle 21"/>
          <p:cNvSpPr/>
          <p:nvPr/>
        </p:nvSpPr>
        <p:spPr>
          <a:xfrm>
            <a:off x="8641080" y="1865376"/>
            <a:ext cx="306324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 and B wasteful · C targeted</a:t>
            </a:r>
          </a:p>
        </p:txBody>
      </p:sp>
      <p:sp>
        <p:nvSpPr>
          <p:cNvPr id="27" name="Oval 26"/>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 index name, or query by sku</a:t>
            </a:r>
          </a:p>
        </p:txBody>
      </p:sp>
      <p:sp>
        <p:nvSpPr>
          <p:cNvPr id="29" name="Oval 28"/>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B: idx_orders_fulfillment_date</a:t>
            </a:r>
          </a:p>
        </p:txBody>
      </p:sp>
      <p:sp>
        <p:nvSpPr>
          <p:cNvPr id="31" name="Oval 30"/>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4043171"/>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B's SORT disappears with it</a:t>
            </a:r>
          </a:p>
        </p:txBody>
      </p:sp>
      <p:sp>
        <p:nvSpPr>
          <p:cNvPr id="33" name="Oval 32"/>
          <p:cNvSpPr/>
          <p:nvPr/>
        </p:nvSpPr>
        <p:spPr>
          <a:xfrm>
            <a:off x="8778240" y="4518659"/>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4" name="TextBox 33"/>
          <p:cNvSpPr txBox="1"/>
          <p:nvPr/>
        </p:nvSpPr>
        <p:spPr>
          <a:xfrm>
            <a:off x="9116567" y="4463795"/>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C: 2 : 2 : 2 already</a:t>
            </a:r>
          </a:p>
        </p:txBody>
      </p:sp>
      <p:sp>
        <p:nvSpPr>
          <p:cNvPr id="35" name="Rounded Rectangle 3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Read stage, keys, documents and returned together — any one alone can mislead.</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6: SELECTIVITY, COSTS AND COMMON MISTAKES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index is a trade-off.</a:t>
            </a:r>
          </a:p>
        </p:txBody>
      </p:sp>
      <p:sp>
        <p:nvSpPr>
          <p:cNvPr id="4" name="Pentagon 3"/>
          <p:cNvSpPr/>
          <p:nvPr/>
        </p:nvSpPr>
        <p:spPr>
          <a:xfrm>
            <a:off x="457200" y="1298448"/>
            <a:ext cx="202234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1762658"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How indexes work</a:t>
            </a:r>
          </a:p>
        </p:txBody>
      </p:sp>
      <p:sp>
        <p:nvSpPr>
          <p:cNvPr id="6" name="Chevron 5"/>
          <p:cNvSpPr/>
          <p:nvPr/>
        </p:nvSpPr>
        <p:spPr>
          <a:xfrm>
            <a:off x="2302154"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516124"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Manage indexes</a:t>
            </a:r>
          </a:p>
        </p:txBody>
      </p:sp>
      <p:sp>
        <p:nvSpPr>
          <p:cNvPr id="8" name="Chevron 7"/>
          <p:cNvSpPr/>
          <p:nvPr/>
        </p:nvSpPr>
        <p:spPr>
          <a:xfrm>
            <a:off x="4147108"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4361078"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Compound + ESR</a:t>
            </a:r>
          </a:p>
        </p:txBody>
      </p:sp>
      <p:sp>
        <p:nvSpPr>
          <p:cNvPr id="10" name="Chevron 9"/>
          <p:cNvSpPr/>
          <p:nvPr/>
        </p:nvSpPr>
        <p:spPr>
          <a:xfrm>
            <a:off x="5992063"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6206032"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4</a:t>
            </a:r>
          </a:p>
          <a:p>
            <a:pPr algn="ctr"/>
            <a:r>
              <a:rPr sz="1300" b="1" i="0">
                <a:solidFill>
                  <a:srgbClr val="FFFFFF"/>
                </a:solidFill>
                <a:latin typeface="Nirmala UI"/>
              </a:rPr>
              <a:t>Specialized types</a:t>
            </a:r>
          </a:p>
        </p:txBody>
      </p:sp>
      <p:sp>
        <p:nvSpPr>
          <p:cNvPr id="12" name="Chevron 11"/>
          <p:cNvSpPr/>
          <p:nvPr/>
        </p:nvSpPr>
        <p:spPr>
          <a:xfrm>
            <a:off x="7837017" y="1298448"/>
            <a:ext cx="202234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050987"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 Part 5</a:t>
            </a:r>
          </a:p>
          <a:p>
            <a:pPr algn="ctr"/>
            <a:r>
              <a:rPr sz="1300" b="1" i="0">
                <a:solidFill>
                  <a:srgbClr val="FFFFFF"/>
                </a:solidFill>
                <a:latin typeface="Nirmala UI"/>
              </a:rPr>
              <a:t>explain()</a:t>
            </a:r>
          </a:p>
        </p:txBody>
      </p:sp>
      <p:sp>
        <p:nvSpPr>
          <p:cNvPr id="14" name="Chevron 13"/>
          <p:cNvSpPr/>
          <p:nvPr/>
        </p:nvSpPr>
        <p:spPr>
          <a:xfrm>
            <a:off x="9681972" y="1298448"/>
            <a:ext cx="202234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9895941" y="1298448"/>
            <a:ext cx="1640128" cy="713232"/>
          </a:xfrm>
          <a:prstGeom prst="rect">
            <a:avLst/>
          </a:prstGeom>
          <a:noFill/>
        </p:spPr>
        <p:txBody>
          <a:bodyPr wrap="square" anchor="ctr" lIns="0" rIns="0" tIns="0" bIns="0">
            <a:spAutoFit/>
          </a:bodyPr>
          <a:lstStyle/>
          <a:p>
            <a:pPr algn="ctr"/>
            <a:r>
              <a:rPr sz="1300" b="1" i="0">
                <a:solidFill>
                  <a:srgbClr val="FFFFFF"/>
                </a:solidFill>
                <a:latin typeface="Nirmala UI"/>
              </a:rPr>
              <a:t>Part 6</a:t>
            </a:r>
          </a:p>
          <a:p>
            <a:pPr algn="ctr"/>
            <a:r>
              <a:rPr sz="1300" b="1" i="0">
                <a:solidFill>
                  <a:srgbClr val="FFFFFF"/>
                </a:solidFill>
                <a:latin typeface="Nirmala UI"/>
              </a:rPr>
              <a:t>Costs + mistakes</a:t>
            </a:r>
          </a:p>
        </p:txBody>
      </p:sp>
      <p:sp>
        <p:nvSpPr>
          <p:cNvPr id="16" name="Rounded Rectangle 15"/>
          <p:cNvSpPr/>
          <p:nvPr/>
        </p:nvSpPr>
        <p:spPr>
          <a:xfrm>
            <a:off x="457200" y="2304288"/>
            <a:ext cx="4937760" cy="257556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Round Same Side Corner Rectangle 16"/>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8" name="TextBox 17"/>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9" name="Oval 18"/>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2880360"/>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explain("executionStats") proves what a query did</a:t>
            </a:r>
          </a:p>
        </p:txBody>
      </p:sp>
      <p:sp>
        <p:nvSpPr>
          <p:cNvPr id="21" name="Oval 20"/>
          <p:cNvSpPr/>
          <p:nvPr/>
        </p:nvSpPr>
        <p:spPr>
          <a:xfrm>
            <a:off x="640080" y="36012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5280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A SORT stage means an in-memory sort</a:t>
            </a:r>
          </a:p>
        </p:txBody>
      </p:sp>
      <p:sp>
        <p:nvSpPr>
          <p:cNvPr id="23" name="Oval 22"/>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4003548"/>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Covered queries skip the documents entirely</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Is every index worth what it costs — and how do we keep the set healthy?</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626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Index selectivity</a:t>
            </a:r>
          </a:p>
        </p:txBody>
      </p:sp>
      <p:sp>
        <p:nvSpPr>
          <p:cNvPr id="31" name="Oval 30"/>
          <p:cNvSpPr/>
          <p:nvPr/>
        </p:nvSpPr>
        <p:spPr>
          <a:xfrm>
            <a:off x="5760720" y="439521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2901"/>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Write, storage and memory costs</a:t>
            </a:r>
          </a:p>
        </p:txBody>
      </p:sp>
      <p:sp>
        <p:nvSpPr>
          <p:cNvPr id="33" name="Oval 32"/>
          <p:cNvSpPr/>
          <p:nvPr/>
        </p:nvSpPr>
        <p:spPr>
          <a:xfrm>
            <a:off x="5760720" y="4794165"/>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185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Usage statistics with $indexStats</a:t>
            </a:r>
          </a:p>
        </p:txBody>
      </p:sp>
      <p:sp>
        <p:nvSpPr>
          <p:cNvPr id="35" name="Oval 34"/>
          <p:cNvSpPr/>
          <p:nvPr/>
        </p:nvSpPr>
        <p:spPr>
          <a:xfrm>
            <a:off x="5760720" y="519311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3080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Changing indexes safely in production</a:t>
            </a:r>
          </a:p>
        </p:txBody>
      </p:sp>
      <p:sp>
        <p:nvSpPr>
          <p:cNvPr id="37" name="Oval 36"/>
          <p:cNvSpPr/>
          <p:nvPr/>
        </p:nvSpPr>
        <p:spPr>
          <a:xfrm>
            <a:off x="5760720" y="559206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529749"/>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Common indexing mistakes</a:t>
            </a:r>
          </a:p>
        </p:txBody>
      </p:sp>
      <p:sp>
        <p:nvSpPr>
          <p:cNvPr id="39" name="Oval 38"/>
          <p:cNvSpPr/>
          <p:nvPr/>
        </p:nvSpPr>
        <p:spPr>
          <a:xfrm>
            <a:off x="5760720" y="599101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40" name="TextBox 39"/>
          <p:cNvSpPr txBox="1"/>
          <p:nvPr/>
        </p:nvSpPr>
        <p:spPr>
          <a:xfrm>
            <a:off x="6144768" y="5928698"/>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An indexing strategy for training_store</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INDEX SELECTIVITY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The more distinct values, the fewer keys a lookup scans.</a:t>
            </a:r>
          </a:p>
        </p:txBody>
      </p:sp>
      <p:sp>
        <p:nvSpPr>
          <p:cNvPr id="4" name="Rounded Rectangle 3"/>
          <p:cNvSpPr/>
          <p:nvPr/>
        </p:nvSpPr>
        <p:spPr>
          <a:xfrm>
            <a:off x="475488" y="1659265"/>
            <a:ext cx="7415783" cy="381378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7" descr="image.jpg"/>
          <p:cNvPicPr>
            <a:picLocks noChangeAspect="1"/>
          </p:cNvPicPr>
          <p:nvPr/>
        </p:nvPicPr>
        <p:blipFill>
          <a:blip r:embed="rId2"/>
          <a:stretch>
            <a:fillRect/>
          </a:stretch>
        </p:blipFill>
        <p:spPr>
          <a:xfrm>
            <a:off x="548640" y="1732417"/>
            <a:ext cx="7269480" cy="3667485"/>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High</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sku: 13 distinct values in 13 products — one key per lookup.</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Low</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active: 12 of 13 products are true — barely narrows the search.</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Combine</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Put low-selectivity fields in a compound or partial index.</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MEASURE   </a:t>
            </a:r>
            <a:r>
              <a:rPr sz="1200" b="0" i="0">
                <a:solidFill>
                  <a:srgbClr val="000000"/>
                </a:solidFill>
                <a:latin typeface="Nirmala UI"/>
              </a:rPr>
              <a:t>Selectivity comes from your data — check it with explain().</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index narrows a search only as much as its values do — lead with fields that really narrow it.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EVERY INDEX COSTS WRITES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Each insert or update also updates the indexes it touches.</a:t>
            </a:r>
          </a:p>
        </p:txBody>
      </p:sp>
      <p:sp>
        <p:nvSpPr>
          <p:cNvPr id="4" name="Rounded Rectangle 3"/>
          <p:cNvSpPr/>
          <p:nvPr/>
        </p:nvSpPr>
        <p:spPr>
          <a:xfrm>
            <a:off x="475488" y="1763646"/>
            <a:ext cx="7415783" cy="360502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4" descr="image.jpg"/>
          <p:cNvPicPr>
            <a:picLocks noChangeAspect="1"/>
          </p:cNvPicPr>
          <p:nvPr/>
        </p:nvPicPr>
        <p:blipFill>
          <a:blip r:embed="rId2"/>
          <a:stretch>
            <a:fillRect/>
          </a:stretch>
        </p:blipFill>
        <p:spPr>
          <a:xfrm>
            <a:off x="548640" y="1836798"/>
            <a:ext cx="7269480" cy="3458723"/>
          </a:xfrm>
          <a:prstGeom prst="rect">
            <a:avLst/>
          </a:prstGeom>
        </p:spPr>
      </p:pic>
      <p:sp>
        <p:nvSpPr>
          <p:cNvPr id="6" name="Rounded Rectangle 5"/>
          <p:cNvSpPr/>
          <p:nvPr/>
        </p:nvSpPr>
        <p:spPr>
          <a:xfrm>
            <a:off x="8183880" y="1298448"/>
            <a:ext cx="3520440" cy="123215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Write path</a:t>
            </a:r>
          </a:p>
        </p:txBody>
      </p:sp>
      <p:sp>
        <p:nvSpPr>
          <p:cNvPr id="8" name="TextBox 7"/>
          <p:cNvSpPr txBox="1"/>
          <p:nvPr/>
        </p:nvSpPr>
        <p:spPr>
          <a:xfrm>
            <a:off x="8321040" y="1664208"/>
            <a:ext cx="3246120" cy="811529"/>
          </a:xfrm>
          <a:prstGeom prst="rect">
            <a:avLst/>
          </a:prstGeom>
          <a:noFill/>
        </p:spPr>
        <p:txBody>
          <a:bodyPr wrap="square" anchor="t" lIns="0" rIns="0" tIns="0" bIns="0">
            <a:spAutoFit/>
          </a:bodyPr>
          <a:lstStyle/>
          <a:p>
            <a:pPr algn="l"/>
            <a:r>
              <a:rPr sz="1200" b="0" i="0">
                <a:solidFill>
                  <a:srgbClr val="000000"/>
                </a:solidFill>
                <a:latin typeface="Nirmala UI"/>
              </a:rPr>
              <a:t>One order insert updates the document, _id_, orderNumber_unique and every secondary index.</a:t>
            </a:r>
          </a:p>
        </p:txBody>
      </p:sp>
      <p:sp>
        <p:nvSpPr>
          <p:cNvPr id="9" name="Rounded Rectangle 8"/>
          <p:cNvSpPr/>
          <p:nvPr/>
        </p:nvSpPr>
        <p:spPr>
          <a:xfrm>
            <a:off x="8183880" y="2658618"/>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71348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Storage and memory</a:t>
            </a:r>
          </a:p>
        </p:txBody>
      </p:sp>
      <p:sp>
        <p:nvSpPr>
          <p:cNvPr id="11" name="TextBox 10"/>
          <p:cNvSpPr txBox="1"/>
          <p:nvPr/>
        </p:nvSpPr>
        <p:spPr>
          <a:xfrm>
            <a:off x="8321040" y="3024377"/>
            <a:ext cx="3246120" cy="625601"/>
          </a:xfrm>
          <a:prstGeom prst="rect">
            <a:avLst/>
          </a:prstGeom>
          <a:noFill/>
        </p:spPr>
        <p:txBody>
          <a:bodyPr wrap="square" anchor="t" lIns="0" rIns="0" tIns="0" bIns="0">
            <a:spAutoFit/>
          </a:bodyPr>
          <a:lstStyle/>
          <a:p>
            <a:pPr algn="l"/>
            <a:r>
              <a:rPr sz="1200" b="0" i="0">
                <a:solidFill>
                  <a:srgbClr val="000000"/>
                </a:solidFill>
                <a:latin typeface="Nirmala UI"/>
              </a:rPr>
              <a:t>Indexes take disk space and compete for RAM with the data.</a:t>
            </a:r>
          </a:p>
        </p:txBody>
      </p:sp>
      <p:sp>
        <p:nvSpPr>
          <p:cNvPr id="12" name="Rounded Rectangle 11"/>
          <p:cNvSpPr/>
          <p:nvPr/>
        </p:nvSpPr>
        <p:spPr>
          <a:xfrm>
            <a:off x="8183880" y="3832860"/>
            <a:ext cx="3520440" cy="10462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88772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Updates</a:t>
            </a:r>
          </a:p>
        </p:txBody>
      </p:sp>
      <p:sp>
        <p:nvSpPr>
          <p:cNvPr id="14" name="TextBox 13"/>
          <p:cNvSpPr txBox="1"/>
          <p:nvPr/>
        </p:nvSpPr>
        <p:spPr>
          <a:xfrm>
            <a:off x="8321040" y="4198620"/>
            <a:ext cx="3246120" cy="625601"/>
          </a:xfrm>
          <a:prstGeom prst="rect">
            <a:avLst/>
          </a:prstGeom>
          <a:noFill/>
        </p:spPr>
        <p:txBody>
          <a:bodyPr wrap="square" anchor="t" lIns="0" rIns="0" tIns="0" bIns="0">
            <a:spAutoFit/>
          </a:bodyPr>
          <a:lstStyle/>
          <a:p>
            <a:pPr algn="l"/>
            <a:r>
              <a:rPr sz="1200" b="0" i="0">
                <a:solidFill>
                  <a:srgbClr val="000000"/>
                </a:solidFill>
                <a:latin typeface="Nirmala UI"/>
              </a:rPr>
              <a:t>Changing an indexed field rewrites its index keys.</a:t>
            </a:r>
          </a:p>
        </p:txBody>
      </p:sp>
      <p:sp>
        <p:nvSpPr>
          <p:cNvPr id="15" name="Rounded Rectangle 14"/>
          <p:cNvSpPr/>
          <p:nvPr/>
        </p:nvSpPr>
        <p:spPr>
          <a:xfrm>
            <a:off x="8183880" y="5007102"/>
            <a:ext cx="3520440" cy="82677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5007102"/>
            <a:ext cx="3154680" cy="826770"/>
          </a:xfrm>
          <a:prstGeom prst="rect">
            <a:avLst/>
          </a:prstGeom>
          <a:noFill/>
        </p:spPr>
        <p:txBody>
          <a:bodyPr wrap="square" anchor="ctr" lIns="0" rIns="0" tIns="0" bIns="0">
            <a:spAutoFit/>
          </a:bodyPr>
          <a:lstStyle/>
          <a:p>
            <a:pPr algn="l"/>
            <a:r>
              <a:rPr sz="1200" b="1" i="0">
                <a:solidFill>
                  <a:srgbClr val="D1282E"/>
                </a:solidFill>
                <a:latin typeface="Nirmala UI"/>
              </a:rPr>
              <a:t>BALANCE   </a:t>
            </a:r>
            <a:r>
              <a:rPr sz="1200" b="0" i="0">
                <a:solidFill>
                  <a:srgbClr val="000000"/>
                </a:solidFill>
                <a:latin typeface="Nirmala UI"/>
              </a:rPr>
              <a:t>Keep indexes that serve real, frequent queries.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index speeds some reads and slows every write — keep the ones that earn their cost.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INDEX USAGE STATISTICS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$indexStats counts how often each index was used.</a:t>
            </a:r>
          </a:p>
        </p:txBody>
      </p:sp>
      <p:sp>
        <p:nvSpPr>
          <p:cNvPr id="4" name="Rounded Rectangle 3"/>
          <p:cNvSpPr/>
          <p:nvPr/>
        </p:nvSpPr>
        <p:spPr>
          <a:xfrm>
            <a:off x="475488" y="2012107"/>
            <a:ext cx="7415783" cy="3108105"/>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0" descr="image.jpg"/>
          <p:cNvPicPr>
            <a:picLocks noChangeAspect="1"/>
          </p:cNvPicPr>
          <p:nvPr/>
        </p:nvPicPr>
        <p:blipFill>
          <a:blip r:embed="rId2"/>
          <a:stretch>
            <a:fillRect/>
          </a:stretch>
        </p:blipFill>
        <p:spPr>
          <a:xfrm>
            <a:off x="548640" y="2085259"/>
            <a:ext cx="7269480" cy="2961801"/>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Usage per index</a:t>
            </a:r>
          </a:p>
        </p:txBody>
      </p:sp>
      <p:sp>
        <p:nvSpPr>
          <p:cNvPr id="7" name="Rounded Rectangle 6"/>
          <p:cNvSpPr/>
          <p:nvPr/>
        </p:nvSpPr>
        <p:spPr>
          <a:xfrm>
            <a:off x="8183880" y="1627632"/>
            <a:ext cx="3520440"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db.products.aggregate([</a:t>
            </a:r>
          </a:p>
          <a:p>
            <a:pPr algn="l"/>
            <a:r>
              <a:rPr sz="1100" b="0" i="0">
                <a:solidFill>
                  <a:srgbClr val="000000"/>
                </a:solidFill>
                <a:latin typeface="Consolas"/>
              </a:rPr>
              <a:t>  { $indexStats: {} }</a:t>
            </a:r>
          </a:p>
          <a:p>
            <a:pPr algn="l"/>
            <a:r>
              <a:rPr sz="1100" b="0" i="0">
                <a:solidFill>
                  <a:srgbClr val="000000"/>
                </a:solidFill>
                <a:latin typeface="Consolas"/>
              </a:rPr>
              <a:t>]).map(s =&gt; ({ name: s.name,</a:t>
            </a:r>
          </a:p>
          <a:p>
            <a:pPr algn="l"/>
            <a:r>
              <a:rPr sz="1100" b="0" i="0">
                <a:solidFill>
                  <a:srgbClr val="000000"/>
                </a:solidFill>
                <a:latin typeface="Consolas"/>
              </a:rPr>
              <a:t>  ops: s.accesses.ops }))</a:t>
            </a:r>
          </a:p>
        </p:txBody>
      </p:sp>
      <p:sp>
        <p:nvSpPr>
          <p:cNvPr id="8" name="Rounded Rectangle 7"/>
          <p:cNvSpPr/>
          <p:nvPr/>
        </p:nvSpPr>
        <p:spPr>
          <a:xfrm>
            <a:off x="8183880" y="2792984"/>
            <a:ext cx="3520440" cy="939461"/>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284784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ops &gt; 0</a:t>
            </a:r>
          </a:p>
        </p:txBody>
      </p:sp>
      <p:sp>
        <p:nvSpPr>
          <p:cNvPr id="10" name="TextBox 9"/>
          <p:cNvSpPr txBox="1"/>
          <p:nvPr/>
        </p:nvSpPr>
        <p:spPr>
          <a:xfrm>
            <a:off x="8321040" y="3158744"/>
            <a:ext cx="3246120" cy="518837"/>
          </a:xfrm>
          <a:prstGeom prst="rect">
            <a:avLst/>
          </a:prstGeom>
          <a:noFill/>
        </p:spPr>
        <p:txBody>
          <a:bodyPr wrap="square" anchor="t" lIns="0" rIns="0" tIns="0" bIns="0">
            <a:spAutoFit/>
          </a:bodyPr>
          <a:lstStyle/>
          <a:p>
            <a:pPr algn="l"/>
            <a:r>
              <a:rPr sz="1200" b="0" i="0">
                <a:solidFill>
                  <a:srgbClr val="000000"/>
                </a:solidFill>
                <a:latin typeface="Nirmala UI"/>
              </a:rPr>
              <a:t>The planner is using the index.</a:t>
            </a:r>
          </a:p>
        </p:txBody>
      </p:sp>
      <p:sp>
        <p:nvSpPr>
          <p:cNvPr id="11" name="Rounded Rectangle 10"/>
          <p:cNvSpPr/>
          <p:nvPr/>
        </p:nvSpPr>
        <p:spPr>
          <a:xfrm>
            <a:off x="8183880" y="3860461"/>
            <a:ext cx="3520440" cy="939461"/>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391532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ops = 0</a:t>
            </a:r>
          </a:p>
        </p:txBody>
      </p:sp>
      <p:sp>
        <p:nvSpPr>
          <p:cNvPr id="13" name="TextBox 12"/>
          <p:cNvSpPr txBox="1"/>
          <p:nvPr/>
        </p:nvSpPr>
        <p:spPr>
          <a:xfrm>
            <a:off x="8321040" y="4226221"/>
            <a:ext cx="3246120" cy="518837"/>
          </a:xfrm>
          <a:prstGeom prst="rect">
            <a:avLst/>
          </a:prstGeom>
          <a:noFill/>
        </p:spPr>
        <p:txBody>
          <a:bodyPr wrap="square" anchor="t" lIns="0" rIns="0" tIns="0" bIns="0">
            <a:spAutoFit/>
          </a:bodyPr>
          <a:lstStyle/>
          <a:p>
            <a:pPr algn="l"/>
            <a:r>
              <a:rPr sz="1200" b="0" i="0">
                <a:solidFill>
                  <a:srgbClr val="000000"/>
                </a:solidFill>
                <a:latin typeface="Nirmala UI"/>
              </a:rPr>
              <a:t>Review it: hide, measure, then decide.</a:t>
            </a:r>
          </a:p>
        </p:txBody>
      </p:sp>
      <p:sp>
        <p:nvSpPr>
          <p:cNvPr id="14" name="Rounded Rectangle 13"/>
          <p:cNvSpPr/>
          <p:nvPr/>
        </p:nvSpPr>
        <p:spPr>
          <a:xfrm>
            <a:off x="8183880" y="4927938"/>
            <a:ext cx="3520440" cy="905933"/>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4927938"/>
            <a:ext cx="3154680" cy="905933"/>
          </a:xfrm>
          <a:prstGeom prst="rect">
            <a:avLst/>
          </a:prstGeom>
          <a:noFill/>
        </p:spPr>
        <p:txBody>
          <a:bodyPr wrap="square" anchor="ctr" lIns="0" rIns="0" tIns="0" bIns="0">
            <a:spAutoFit/>
          </a:bodyPr>
          <a:lstStyle/>
          <a:p>
            <a:pPr algn="l"/>
            <a:r>
              <a:rPr sz="1200" b="1" i="0">
                <a:solidFill>
                  <a:srgbClr val="D1282E"/>
                </a:solidFill>
                <a:latin typeface="Nirmala UI"/>
              </a:rPr>
              <a:t>SINCE RESTART   </a:t>
            </a:r>
            <a:r>
              <a:rPr sz="1200" b="0" i="0">
                <a:solidFill>
                  <a:srgbClr val="000000"/>
                </a:solidFill>
                <a:latin typeface="Nirmala UI"/>
              </a:rPr>
              <a:t>Counters reset when mongod restarts.</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$indexStats shows which indexes earn their keep — zero uses starts an investigation, not a drop.</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CHANGING INDEXES SAFELY IN PRODUCTION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Analyze, test, build, monitor, confirm — with a rollback ready.</a:t>
            </a:r>
          </a:p>
        </p:txBody>
      </p:sp>
      <p:sp>
        <p:nvSpPr>
          <p:cNvPr id="4" name="Rounded Rectangle 3"/>
          <p:cNvSpPr/>
          <p:nvPr/>
        </p:nvSpPr>
        <p:spPr>
          <a:xfrm>
            <a:off x="1369178" y="1316736"/>
            <a:ext cx="9423162" cy="288036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7" descr="image.jpg"/>
          <p:cNvPicPr>
            <a:picLocks noChangeAspect="1"/>
          </p:cNvPicPr>
          <p:nvPr/>
        </p:nvPicPr>
        <p:blipFill>
          <a:blip r:embed="rId2"/>
          <a:stretch>
            <a:fillRect/>
          </a:stretch>
        </p:blipFill>
        <p:spPr>
          <a:xfrm>
            <a:off x="1442330" y="1389888"/>
            <a:ext cx="9276858" cy="2734056"/>
          </a:xfrm>
          <a:prstGeom prst="rect">
            <a:avLst/>
          </a:prstGeom>
        </p:spPr>
      </p:pic>
      <p:sp>
        <p:nvSpPr>
          <p:cNvPr id="6" name="Rounded Rectangle 5"/>
          <p:cNvSpPr/>
          <p:nvPr/>
        </p:nvSpPr>
        <p:spPr>
          <a:xfrm>
            <a:off x="457200" y="4489704"/>
            <a:ext cx="2674620" cy="134416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594360" y="4544568"/>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Analyze and test</a:t>
            </a:r>
          </a:p>
        </p:txBody>
      </p:sp>
      <p:sp>
        <p:nvSpPr>
          <p:cNvPr id="8" name="TextBox 7"/>
          <p:cNvSpPr txBox="1"/>
          <p:nvPr/>
        </p:nvSpPr>
        <p:spPr>
          <a:xfrm>
            <a:off x="594360" y="4855464"/>
            <a:ext cx="2400300" cy="923543"/>
          </a:xfrm>
          <a:prstGeom prst="rect">
            <a:avLst/>
          </a:prstGeom>
          <a:noFill/>
        </p:spPr>
        <p:txBody>
          <a:bodyPr wrap="square" anchor="t" lIns="0" rIns="0" tIns="0" bIns="0">
            <a:spAutoFit/>
          </a:bodyPr>
          <a:lstStyle/>
          <a:p>
            <a:pPr algn="l"/>
            <a:r>
              <a:rPr sz="1200" b="0" i="0">
                <a:solidFill>
                  <a:srgbClr val="000000"/>
                </a:solidFill>
                <a:latin typeface="Nirmala UI"/>
              </a:rPr>
              <a:t>explain() and $indexStats; try it on staging data first.</a:t>
            </a:r>
          </a:p>
        </p:txBody>
      </p:sp>
      <p:sp>
        <p:nvSpPr>
          <p:cNvPr id="9" name="Rounded Rectangle 8"/>
          <p:cNvSpPr/>
          <p:nvPr/>
        </p:nvSpPr>
        <p:spPr>
          <a:xfrm>
            <a:off x="3314700" y="4489704"/>
            <a:ext cx="2674620" cy="134416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3451860" y="4544568"/>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Build and monitor</a:t>
            </a:r>
          </a:p>
        </p:txBody>
      </p:sp>
      <p:sp>
        <p:nvSpPr>
          <p:cNvPr id="11" name="TextBox 10"/>
          <p:cNvSpPr txBox="1"/>
          <p:nvPr/>
        </p:nvSpPr>
        <p:spPr>
          <a:xfrm>
            <a:off x="3451860" y="4855464"/>
            <a:ext cx="2400300" cy="923543"/>
          </a:xfrm>
          <a:prstGeom prst="rect">
            <a:avLst/>
          </a:prstGeom>
          <a:noFill/>
        </p:spPr>
        <p:txBody>
          <a:bodyPr wrap="square" anchor="t" lIns="0" rIns="0" tIns="0" bIns="0">
            <a:spAutoFit/>
          </a:bodyPr>
          <a:lstStyle/>
          <a:p>
            <a:pPr algn="l"/>
            <a:r>
              <a:rPr sz="1200" b="0" i="0">
                <a:solidFill>
                  <a:srgbClr val="000000"/>
                </a:solidFill>
                <a:latin typeface="Nirmala UI"/>
              </a:rPr>
              <a:t>Build in a change window; watch CPU, I/O and latency.</a:t>
            </a:r>
          </a:p>
        </p:txBody>
      </p:sp>
      <p:sp>
        <p:nvSpPr>
          <p:cNvPr id="12" name="Rounded Rectangle 11"/>
          <p:cNvSpPr/>
          <p:nvPr/>
        </p:nvSpPr>
        <p:spPr>
          <a:xfrm>
            <a:off x="6172200" y="4489704"/>
            <a:ext cx="2674620" cy="134416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6309360" y="4544568"/>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Rollback</a:t>
            </a:r>
          </a:p>
        </p:txBody>
      </p:sp>
      <p:sp>
        <p:nvSpPr>
          <p:cNvPr id="14" name="TextBox 13"/>
          <p:cNvSpPr txBox="1"/>
          <p:nvPr/>
        </p:nvSpPr>
        <p:spPr>
          <a:xfrm>
            <a:off x="6309360" y="4855464"/>
            <a:ext cx="2400300" cy="923543"/>
          </a:xfrm>
          <a:prstGeom prst="rect">
            <a:avLst/>
          </a:prstGeom>
          <a:noFill/>
        </p:spPr>
        <p:txBody>
          <a:bodyPr wrap="square" anchor="t" lIns="0" rIns="0" tIns="0" bIns="0">
            <a:spAutoFit/>
          </a:bodyPr>
          <a:lstStyle/>
          <a:p>
            <a:pPr algn="l"/>
            <a:r>
              <a:rPr sz="1200" b="0" i="0">
                <a:solidFill>
                  <a:srgbClr val="000000"/>
                </a:solidFill>
                <a:latin typeface="Nirmala UI"/>
              </a:rPr>
              <a:t>If it degrades, drop the new index — keep the createIndex command.</a:t>
            </a:r>
          </a:p>
        </p:txBody>
      </p:sp>
      <p:sp>
        <p:nvSpPr>
          <p:cNvPr id="15" name="Rounded Rectangle 14"/>
          <p:cNvSpPr/>
          <p:nvPr/>
        </p:nvSpPr>
        <p:spPr>
          <a:xfrm>
            <a:off x="9029700" y="4489704"/>
            <a:ext cx="2674620" cy="134416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9212580" y="4489704"/>
            <a:ext cx="2308860" cy="1344168"/>
          </a:xfrm>
          <a:prstGeom prst="rect">
            <a:avLst/>
          </a:prstGeom>
          <a:noFill/>
        </p:spPr>
        <p:txBody>
          <a:bodyPr wrap="square" anchor="ctr" lIns="0" rIns="0" tIns="0" bIns="0">
            <a:spAutoFit/>
          </a:bodyPr>
          <a:lstStyle/>
          <a:p>
            <a:pPr algn="l"/>
            <a:r>
              <a:rPr sz="1200" b="1" i="0">
                <a:solidFill>
                  <a:srgbClr val="D1282E"/>
                </a:solidFill>
                <a:latin typeface="Nirmala UI"/>
              </a:rPr>
              <a:t>REMOVING   </a:t>
            </a:r>
            <a:r>
              <a:rPr sz="1200" b="0" i="0">
                <a:solidFill>
                  <a:srgbClr val="000000"/>
                </a:solidFill>
                <a:latin typeface="Nirmala UI"/>
              </a:rPr>
              <a:t>Hide first; drop only when the queries stay healthy.</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Treat every index change as a production change: measured, monitored and reversible.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COMMON INDEXING MISTAKES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Too many, wrong order, never used — and the query-aligned fix.</a:t>
            </a:r>
          </a:p>
        </p:txBody>
      </p:sp>
      <p:sp>
        <p:nvSpPr>
          <p:cNvPr id="4" name="Rounded Rectangle 3"/>
          <p:cNvSpPr/>
          <p:nvPr/>
        </p:nvSpPr>
        <p:spPr>
          <a:xfrm>
            <a:off x="475488" y="1427615"/>
            <a:ext cx="7415783" cy="427708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59" descr="image.jpg"/>
          <p:cNvPicPr>
            <a:picLocks noChangeAspect="1"/>
          </p:cNvPicPr>
          <p:nvPr/>
        </p:nvPicPr>
        <p:blipFill>
          <a:blip r:embed="rId2"/>
          <a:stretch>
            <a:fillRect/>
          </a:stretch>
        </p:blipFill>
        <p:spPr>
          <a:xfrm>
            <a:off x="548640" y="1500767"/>
            <a:ext cx="7269480" cy="4130785"/>
          </a:xfrm>
          <a:prstGeom prst="rect">
            <a:avLst/>
          </a:prstGeom>
        </p:spPr>
      </p:pic>
      <p:sp>
        <p:nvSpPr>
          <p:cNvPr id="6" name="Rounded Rectangle 5"/>
          <p:cNvSpPr/>
          <p:nvPr/>
        </p:nvSpPr>
        <p:spPr>
          <a:xfrm>
            <a:off x="8183880" y="1298448"/>
            <a:ext cx="3520440" cy="10843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Too many indexes</a:t>
            </a:r>
          </a:p>
        </p:txBody>
      </p:sp>
      <p:sp>
        <p:nvSpPr>
          <p:cNvPr id="8" name="TextBox 7"/>
          <p:cNvSpPr txBox="1"/>
          <p:nvPr/>
        </p:nvSpPr>
        <p:spPr>
          <a:xfrm>
            <a:off x="8321040" y="1664208"/>
            <a:ext cx="3246120" cy="663701"/>
          </a:xfrm>
          <a:prstGeom prst="rect">
            <a:avLst/>
          </a:prstGeom>
          <a:noFill/>
        </p:spPr>
        <p:txBody>
          <a:bodyPr wrap="square" anchor="t" lIns="0" rIns="0" tIns="0" bIns="0">
            <a:spAutoFit/>
          </a:bodyPr>
          <a:lstStyle/>
          <a:p>
            <a:pPr algn="l"/>
            <a:r>
              <a:rPr sz="1200" b="0" i="0">
                <a:solidFill>
                  <a:srgbClr val="000000"/>
                </a:solidFill>
                <a:latin typeface="Nirmala UI"/>
              </a:rPr>
              <a:t>Every extra index slows writes and uses RAM.</a:t>
            </a:r>
          </a:p>
        </p:txBody>
      </p:sp>
      <p:sp>
        <p:nvSpPr>
          <p:cNvPr id="9" name="Rounded Rectangle 8"/>
          <p:cNvSpPr/>
          <p:nvPr/>
        </p:nvSpPr>
        <p:spPr>
          <a:xfrm>
            <a:off x="8183880" y="2510790"/>
            <a:ext cx="3520440" cy="10843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656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Wrong field order</a:t>
            </a:r>
          </a:p>
        </p:txBody>
      </p:sp>
      <p:sp>
        <p:nvSpPr>
          <p:cNvPr id="11" name="TextBox 10"/>
          <p:cNvSpPr txBox="1"/>
          <p:nvPr/>
        </p:nvSpPr>
        <p:spPr>
          <a:xfrm>
            <a:off x="8321040" y="2876550"/>
            <a:ext cx="3246120" cy="663701"/>
          </a:xfrm>
          <a:prstGeom prst="rect">
            <a:avLst/>
          </a:prstGeom>
          <a:noFill/>
        </p:spPr>
        <p:txBody>
          <a:bodyPr wrap="square" anchor="t" lIns="0" rIns="0" tIns="0" bIns="0">
            <a:spAutoFit/>
          </a:bodyPr>
          <a:lstStyle/>
          <a:p>
            <a:pPr algn="l"/>
            <a:r>
              <a:rPr sz="1200" b="0" i="0">
                <a:solidFill>
                  <a:srgbClr val="000000"/>
                </a:solidFill>
                <a:latin typeface="Nirmala UI"/>
              </a:rPr>
              <a:t>{ createdAt, status } can't serve status + newest first.</a:t>
            </a:r>
          </a:p>
        </p:txBody>
      </p:sp>
      <p:sp>
        <p:nvSpPr>
          <p:cNvPr id="12" name="Rounded Rectangle 11"/>
          <p:cNvSpPr/>
          <p:nvPr/>
        </p:nvSpPr>
        <p:spPr>
          <a:xfrm>
            <a:off x="8183880" y="3723132"/>
            <a:ext cx="3520440" cy="89839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7799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Unused indexes</a:t>
            </a:r>
          </a:p>
        </p:txBody>
      </p:sp>
      <p:sp>
        <p:nvSpPr>
          <p:cNvPr id="14" name="TextBox 13"/>
          <p:cNvSpPr txBox="1"/>
          <p:nvPr/>
        </p:nvSpPr>
        <p:spPr>
          <a:xfrm>
            <a:off x="8321040" y="4088892"/>
            <a:ext cx="3246120" cy="477773"/>
          </a:xfrm>
          <a:prstGeom prst="rect">
            <a:avLst/>
          </a:prstGeom>
          <a:noFill/>
        </p:spPr>
        <p:txBody>
          <a:bodyPr wrap="square" anchor="t" lIns="0" rIns="0" tIns="0" bIns="0">
            <a:spAutoFit/>
          </a:bodyPr>
          <a:lstStyle/>
          <a:p>
            <a:pPr algn="l"/>
            <a:r>
              <a:rPr sz="1200" b="0" i="0">
                <a:solidFill>
                  <a:srgbClr val="000000"/>
                </a:solidFill>
                <a:latin typeface="Nirmala UI"/>
              </a:rPr>
              <a:t>$indexStats ops = 0 — review them.</a:t>
            </a:r>
          </a:p>
        </p:txBody>
      </p:sp>
      <p:sp>
        <p:nvSpPr>
          <p:cNvPr id="15" name="Rounded Rectangle 14"/>
          <p:cNvSpPr/>
          <p:nvPr/>
        </p:nvSpPr>
        <p:spPr>
          <a:xfrm>
            <a:off x="8183880" y="4749546"/>
            <a:ext cx="3520440" cy="10843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0441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Also avoid</a:t>
            </a:r>
          </a:p>
        </p:txBody>
      </p:sp>
      <p:sp>
        <p:nvSpPr>
          <p:cNvPr id="17" name="TextBox 16"/>
          <p:cNvSpPr txBox="1"/>
          <p:nvPr/>
        </p:nvSpPr>
        <p:spPr>
          <a:xfrm>
            <a:off x="8321040" y="5115306"/>
            <a:ext cx="3246120" cy="663701"/>
          </a:xfrm>
          <a:prstGeom prst="rect">
            <a:avLst/>
          </a:prstGeom>
          <a:noFill/>
        </p:spPr>
        <p:txBody>
          <a:bodyPr wrap="square" anchor="t" lIns="0" rIns="0" tIns="0" bIns="0">
            <a:spAutoFit/>
          </a:bodyPr>
          <a:lstStyle/>
          <a:p>
            <a:pPr algn="l"/>
            <a:r>
              <a:rPr sz="1200" b="0" i="0">
                <a:solidFill>
                  <a:srgbClr val="000000"/>
                </a:solidFill>
                <a:latin typeface="Nirmala UI"/>
              </a:rPr>
              <a:t>hint() as a permanent fix · timing tiny data · trusting any IXSCAN.</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Index the real query shapes, in ESR order — and review what nothing uses.</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AN INDEXING STRATEGY FOR TRAINING_STORE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One index per important query shape — plus the integrity rules.</a:t>
            </a:r>
          </a:p>
        </p:txBody>
      </p:sp>
      <p:sp>
        <p:nvSpPr>
          <p:cNvPr id="4" name="Rounded Rectangle 3"/>
          <p:cNvSpPr/>
          <p:nvPr/>
        </p:nvSpPr>
        <p:spPr>
          <a:xfrm>
            <a:off x="475488" y="1674550"/>
            <a:ext cx="7415783" cy="378321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61" descr="image.jpg"/>
          <p:cNvPicPr>
            <a:picLocks noChangeAspect="1"/>
          </p:cNvPicPr>
          <p:nvPr/>
        </p:nvPicPr>
        <p:blipFill>
          <a:blip r:embed="rId2"/>
          <a:stretch>
            <a:fillRect/>
          </a:stretch>
        </p:blipFill>
        <p:spPr>
          <a:xfrm>
            <a:off x="548640" y="1747702"/>
            <a:ext cx="7269480" cy="3636915"/>
          </a:xfrm>
          <a:prstGeom prst="rect">
            <a:avLst/>
          </a:prstGeom>
        </p:spPr>
      </p:pic>
      <p:sp>
        <p:nvSpPr>
          <p:cNvPr id="6" name="Rounded Rectangle 5"/>
          <p:cNvSpPr/>
          <p:nvPr/>
        </p:nvSpPr>
        <p:spPr>
          <a:xfrm>
            <a:off x="8183880" y="129844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products</a:t>
            </a:r>
          </a:p>
        </p:txBody>
      </p:sp>
      <p:sp>
        <p:nvSpPr>
          <p:cNvPr id="8" name="TextBox 7"/>
          <p:cNvSpPr txBox="1"/>
          <p:nvPr/>
        </p:nvSpPr>
        <p:spPr>
          <a:xfrm>
            <a:off x="8321040" y="1664208"/>
            <a:ext cx="3246120" cy="617219"/>
          </a:xfrm>
          <a:prstGeom prst="rect">
            <a:avLst/>
          </a:prstGeom>
          <a:noFill/>
        </p:spPr>
        <p:txBody>
          <a:bodyPr wrap="square" anchor="t" lIns="0" rIns="0" tIns="0" bIns="0">
            <a:spAutoFit/>
          </a:bodyPr>
          <a:lstStyle/>
          <a:p>
            <a:pPr algn="l"/>
            <a:r>
              <a:rPr sz="1200" b="0" i="0">
                <a:solidFill>
                  <a:srgbClr val="000000"/>
                </a:solidFill>
                <a:latin typeface="Nirmala UI"/>
              </a:rPr>
              <a:t>{ category: 1, price: 1 } for the catalog; unique sku.</a:t>
            </a:r>
          </a:p>
        </p:txBody>
      </p:sp>
      <p:sp>
        <p:nvSpPr>
          <p:cNvPr id="9" name="Rounded Rectangle 8"/>
          <p:cNvSpPr/>
          <p:nvPr/>
        </p:nvSpPr>
        <p:spPr>
          <a:xfrm>
            <a:off x="8183880" y="246430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191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customers</a:t>
            </a:r>
          </a:p>
        </p:txBody>
      </p:sp>
      <p:sp>
        <p:nvSpPr>
          <p:cNvPr id="11" name="TextBox 10"/>
          <p:cNvSpPr txBox="1"/>
          <p:nvPr/>
        </p:nvSpPr>
        <p:spPr>
          <a:xfrm>
            <a:off x="8321040" y="2830068"/>
            <a:ext cx="3246120" cy="617219"/>
          </a:xfrm>
          <a:prstGeom prst="rect">
            <a:avLst/>
          </a:prstGeom>
          <a:noFill/>
        </p:spPr>
        <p:txBody>
          <a:bodyPr wrap="square" anchor="t" lIns="0" rIns="0" tIns="0" bIns="0">
            <a:spAutoFit/>
          </a:bodyPr>
          <a:lstStyle/>
          <a:p>
            <a:pPr algn="l"/>
            <a:r>
              <a:rPr sz="1200" b="0" i="0">
                <a:solidFill>
                  <a:srgbClr val="000000"/>
                </a:solidFill>
                <a:latin typeface="Nirmala UI"/>
              </a:rPr>
              <a:t>Unique contact.email — the diagram shortens it to email.</a:t>
            </a:r>
          </a:p>
        </p:txBody>
      </p:sp>
      <p:sp>
        <p:nvSpPr>
          <p:cNvPr id="12" name="Rounded Rectangle 11"/>
          <p:cNvSpPr/>
          <p:nvPr/>
        </p:nvSpPr>
        <p:spPr>
          <a:xfrm>
            <a:off x="8183880" y="363016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850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orders</a:t>
            </a:r>
          </a:p>
        </p:txBody>
      </p:sp>
      <p:sp>
        <p:nvSpPr>
          <p:cNvPr id="14" name="TextBox 13"/>
          <p:cNvSpPr txBox="1"/>
          <p:nvPr/>
        </p:nvSpPr>
        <p:spPr>
          <a:xfrm>
            <a:off x="8321040" y="3995928"/>
            <a:ext cx="3246120" cy="617220"/>
          </a:xfrm>
          <a:prstGeom prst="rect">
            <a:avLst/>
          </a:prstGeom>
          <a:noFill/>
        </p:spPr>
        <p:txBody>
          <a:bodyPr wrap="square" anchor="t" lIns="0" rIns="0" tIns="0" bIns="0">
            <a:spAutoFit/>
          </a:bodyPr>
          <a:lstStyle/>
          <a:p>
            <a:pPr algn="l"/>
            <a:r>
              <a:rPr sz="1200" b="0" i="0">
                <a:solidFill>
                  <a:srgbClr val="000000"/>
                </a:solidFill>
                <a:latin typeface="Nirmala UI"/>
              </a:rPr>
              <a:t>{ customerId: 1, createdAt: -1 } for order history.</a:t>
            </a:r>
          </a:p>
        </p:txBody>
      </p:sp>
      <p:sp>
        <p:nvSpPr>
          <p:cNvPr id="15" name="Rounded Rectangle 14"/>
          <p:cNvSpPr/>
          <p:nvPr/>
        </p:nvSpPr>
        <p:spPr>
          <a:xfrm>
            <a:off x="8183880" y="479602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5089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reviews</a:t>
            </a:r>
          </a:p>
        </p:txBody>
      </p:sp>
      <p:sp>
        <p:nvSpPr>
          <p:cNvPr id="17" name="TextBox 16"/>
          <p:cNvSpPr txBox="1"/>
          <p:nvPr/>
        </p:nvSpPr>
        <p:spPr>
          <a:xfrm>
            <a:off x="8321040" y="5161788"/>
            <a:ext cx="3246120" cy="617219"/>
          </a:xfrm>
          <a:prstGeom prst="rect">
            <a:avLst/>
          </a:prstGeom>
          <a:noFill/>
        </p:spPr>
        <p:txBody>
          <a:bodyPr wrap="square" anchor="t" lIns="0" rIns="0" tIns="0" bIns="0">
            <a:spAutoFit/>
          </a:bodyPr>
          <a:lstStyle/>
          <a:p>
            <a:pPr algn="l"/>
            <a:r>
              <a:rPr sz="1200" b="0" i="0">
                <a:solidFill>
                  <a:srgbClr val="000000"/>
                </a:solidFill>
                <a:latin typeface="Nirmala UI"/>
              </a:rPr>
              <a:t>{ productId: 1, rating: -1 } for top ratings — or createdAt: -1 for newest.</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small set of query-aligned indexes gives fast reads with controlled writes.</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6 AT A GLANCE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Query patterns → choose index → validate plan → monitor usage → tune.</a:t>
            </a:r>
          </a:p>
        </p:txBody>
      </p:sp>
      <p:sp>
        <p:nvSpPr>
          <p:cNvPr id="4" name="Rounded Rectangle 3"/>
          <p:cNvSpPr/>
          <p:nvPr/>
        </p:nvSpPr>
        <p:spPr>
          <a:xfrm>
            <a:off x="475488" y="1490056"/>
            <a:ext cx="11210544" cy="415220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62" descr="image.jpg"/>
          <p:cNvPicPr>
            <a:picLocks noChangeAspect="1"/>
          </p:cNvPicPr>
          <p:nvPr/>
        </p:nvPicPr>
        <p:blipFill>
          <a:blip r:embed="rId2"/>
          <a:stretch>
            <a:fillRect/>
          </a:stretch>
        </p:blipFill>
        <p:spPr>
          <a:xfrm>
            <a:off x="548640" y="1563208"/>
            <a:ext cx="11064240" cy="4005903"/>
          </a:xfrm>
          <a:prstGeom prst="rect">
            <a:avLst/>
          </a:prstGeom>
        </p:spPr>
      </p:pic>
      <p:sp>
        <p:nvSpPr>
          <p:cNvPr id="6" name="Rounded Rectangle 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Start from the query, prove the index with explain(), and keep reviewing what the index set costs.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KNOWLEDGE CHECK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Answer in your own words — then compare with a partner.</a:t>
            </a:r>
          </a:p>
        </p:txBody>
      </p:sp>
      <p:sp>
        <p:nvSpPr>
          <p:cNvPr id="4" name="Rounded Rectangle 3"/>
          <p:cNvSpPr/>
          <p:nvPr/>
        </p:nvSpPr>
        <p:spPr>
          <a:xfrm>
            <a:off x="45720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565452"/>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6" name="TextBox 5"/>
          <p:cNvSpPr txBox="1"/>
          <p:nvPr/>
        </p:nvSpPr>
        <p:spPr>
          <a:xfrm>
            <a:off x="114300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a COLLSCAN stage tell you?</a:t>
            </a:r>
          </a:p>
        </p:txBody>
      </p:sp>
      <p:sp>
        <p:nvSpPr>
          <p:cNvPr id="7" name="Rounded Rectangle 6"/>
          <p:cNvSpPr/>
          <p:nvPr/>
        </p:nvSpPr>
        <p:spPr>
          <a:xfrm>
            <a:off x="45720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Oval 7"/>
          <p:cNvSpPr/>
          <p:nvPr/>
        </p:nvSpPr>
        <p:spPr>
          <a:xfrm>
            <a:off x="603504" y="2593238"/>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9" name="TextBox 8"/>
          <p:cNvSpPr txBox="1"/>
          <p:nvPr/>
        </p:nvSpPr>
        <p:spPr>
          <a:xfrm>
            <a:off x="114300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Which index does every collection have?</a:t>
            </a:r>
          </a:p>
        </p:txBody>
      </p:sp>
      <p:sp>
        <p:nvSpPr>
          <p:cNvPr id="10" name="Rounded Rectangle 9"/>
          <p:cNvSpPr/>
          <p:nvPr/>
        </p:nvSpPr>
        <p:spPr>
          <a:xfrm>
            <a:off x="45720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Oval 10"/>
          <p:cNvSpPr/>
          <p:nvPr/>
        </p:nvSpPr>
        <p:spPr>
          <a:xfrm>
            <a:off x="603504" y="3621024"/>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12" name="TextBox 11"/>
          <p:cNvSpPr txBox="1"/>
          <p:nvPr/>
        </p:nvSpPr>
        <p:spPr>
          <a:xfrm>
            <a:off x="114300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does field order matter in a compound index?</a:t>
            </a:r>
          </a:p>
        </p:txBody>
      </p:sp>
      <p:sp>
        <p:nvSpPr>
          <p:cNvPr id="13" name="Rounded Rectangle 12"/>
          <p:cNvSpPr/>
          <p:nvPr/>
        </p:nvSpPr>
        <p:spPr>
          <a:xfrm>
            <a:off x="45720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Oval 13"/>
          <p:cNvSpPr/>
          <p:nvPr/>
        </p:nvSpPr>
        <p:spPr>
          <a:xfrm>
            <a:off x="603504" y="4648809"/>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4</a:t>
            </a:r>
          </a:p>
        </p:txBody>
      </p:sp>
      <p:sp>
        <p:nvSpPr>
          <p:cNvPr id="15" name="TextBox 14"/>
          <p:cNvSpPr txBox="1"/>
          <p:nvPr/>
        </p:nvSpPr>
        <p:spPr>
          <a:xfrm>
            <a:off x="114300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ESR stand for, and what is it for?</a:t>
            </a:r>
          </a:p>
        </p:txBody>
      </p:sp>
      <p:sp>
        <p:nvSpPr>
          <p:cNvPr id="16" name="Rounded Rectangle 15"/>
          <p:cNvSpPr/>
          <p:nvPr/>
        </p:nvSpPr>
        <p:spPr>
          <a:xfrm>
            <a:off x="45720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03504" y="5676595"/>
            <a:ext cx="384048" cy="384048"/>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5</a:t>
            </a:r>
          </a:p>
        </p:txBody>
      </p:sp>
      <p:sp>
        <p:nvSpPr>
          <p:cNvPr id="18" name="TextBox 17"/>
          <p:cNvSpPr txBox="1"/>
          <p:nvPr/>
        </p:nvSpPr>
        <p:spPr>
          <a:xfrm>
            <a:off x="114300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makes an index on tags multikey?</a:t>
            </a:r>
          </a:p>
        </p:txBody>
      </p:sp>
      <p:sp>
        <p:nvSpPr>
          <p:cNvPr id="19" name="Rounded Rectangle 18"/>
          <p:cNvSpPr/>
          <p:nvPr/>
        </p:nvSpPr>
        <p:spPr>
          <a:xfrm>
            <a:off x="626364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Oval 19"/>
          <p:cNvSpPr/>
          <p:nvPr/>
        </p:nvSpPr>
        <p:spPr>
          <a:xfrm>
            <a:off x="6409944" y="1565452"/>
            <a:ext cx="384048" cy="384048"/>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6</a:t>
            </a:r>
          </a:p>
        </p:txBody>
      </p:sp>
      <p:sp>
        <p:nvSpPr>
          <p:cNvPr id="21" name="TextBox 20"/>
          <p:cNvSpPr txBox="1"/>
          <p:nvPr/>
        </p:nvSpPr>
        <p:spPr>
          <a:xfrm>
            <a:off x="694944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How is a partial index different from a sparse one?</a:t>
            </a:r>
          </a:p>
        </p:txBody>
      </p:sp>
      <p:sp>
        <p:nvSpPr>
          <p:cNvPr id="22" name="Rounded Rectangle 21"/>
          <p:cNvSpPr/>
          <p:nvPr/>
        </p:nvSpPr>
        <p:spPr>
          <a:xfrm>
            <a:off x="626364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Oval 22"/>
          <p:cNvSpPr/>
          <p:nvPr/>
        </p:nvSpPr>
        <p:spPr>
          <a:xfrm>
            <a:off x="6409944" y="2593238"/>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7</a:t>
            </a:r>
          </a:p>
        </p:txBody>
      </p:sp>
      <p:sp>
        <p:nvSpPr>
          <p:cNvPr id="24" name="TextBox 23"/>
          <p:cNvSpPr txBox="1"/>
          <p:nvPr/>
        </p:nvSpPr>
        <p:spPr>
          <a:xfrm>
            <a:off x="694944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should a TTL index never go on orders?</a:t>
            </a:r>
          </a:p>
        </p:txBody>
      </p:sp>
      <p:sp>
        <p:nvSpPr>
          <p:cNvPr id="25" name="Rounded Rectangle 24"/>
          <p:cNvSpPr/>
          <p:nvPr/>
        </p:nvSpPr>
        <p:spPr>
          <a:xfrm>
            <a:off x="626364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Oval 25"/>
          <p:cNvSpPr/>
          <p:nvPr/>
        </p:nvSpPr>
        <p:spPr>
          <a:xfrm>
            <a:off x="6409944" y="3621024"/>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8</a:t>
            </a:r>
          </a:p>
        </p:txBody>
      </p:sp>
      <p:sp>
        <p:nvSpPr>
          <p:cNvPr id="27" name="TextBox 26"/>
          <p:cNvSpPr txBox="1"/>
          <p:nvPr/>
        </p:nvSpPr>
        <p:spPr>
          <a:xfrm>
            <a:off x="694944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Which three explain() numbers do you compare?</a:t>
            </a:r>
          </a:p>
        </p:txBody>
      </p:sp>
      <p:sp>
        <p:nvSpPr>
          <p:cNvPr id="28" name="Rounded Rectangle 27"/>
          <p:cNvSpPr/>
          <p:nvPr/>
        </p:nvSpPr>
        <p:spPr>
          <a:xfrm>
            <a:off x="626364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409944" y="4648809"/>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9</a:t>
            </a:r>
          </a:p>
        </p:txBody>
      </p:sp>
      <p:sp>
        <p:nvSpPr>
          <p:cNvPr id="30" name="TextBox 29"/>
          <p:cNvSpPr txBox="1"/>
          <p:nvPr/>
        </p:nvSpPr>
        <p:spPr>
          <a:xfrm>
            <a:off x="694944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three conditions make a query covered?</a:t>
            </a:r>
          </a:p>
        </p:txBody>
      </p:sp>
      <p:sp>
        <p:nvSpPr>
          <p:cNvPr id="31" name="Rounded Rectangle 30"/>
          <p:cNvSpPr/>
          <p:nvPr/>
        </p:nvSpPr>
        <p:spPr>
          <a:xfrm>
            <a:off x="626364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2" name="Oval 31"/>
          <p:cNvSpPr/>
          <p:nvPr/>
        </p:nvSpPr>
        <p:spPr>
          <a:xfrm>
            <a:off x="6409944" y="5676595"/>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10</a:t>
            </a:r>
          </a:p>
        </p:txBody>
      </p:sp>
      <p:sp>
        <p:nvSpPr>
          <p:cNvPr id="33" name="TextBox 32"/>
          <p:cNvSpPr txBox="1"/>
          <p:nvPr/>
        </p:nvSpPr>
        <p:spPr>
          <a:xfrm>
            <a:off x="694944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hide an index before dropping it?</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6.1 — APPLY EQUALITY–SORT–RANGE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6 checkpoint A: three query shapes, three compound indexes.</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A</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396228" y="1298448"/>
            <a:ext cx="5308092"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labs/day-03/exercises/exercise-6.1-apply-equality-sort-range.md</a:t>
            </a:r>
          </a:p>
        </p:txBody>
      </p:sp>
      <p:sp>
        <p:nvSpPr>
          <p:cNvPr id="7" name="Rounded Rectangle 6"/>
          <p:cNvSpPr/>
          <p:nvPr/>
        </p:nvSpPr>
        <p:spPr>
          <a:xfrm>
            <a:off x="457200" y="1865376"/>
            <a:ext cx="384048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Label equality, sort and range in each shape, then propose one compound index per shape.</a:t>
            </a:r>
          </a:p>
        </p:txBody>
      </p:sp>
      <p:sp>
        <p:nvSpPr>
          <p:cNvPr id="11" name="Rounded Rectangle 10"/>
          <p:cNvSpPr/>
          <p:nvPr/>
        </p:nvSpPr>
        <p:spPr>
          <a:xfrm>
            <a:off x="566928" y="3229356"/>
            <a:ext cx="3621024" cy="158216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A  products: ACCESSORY, active,</a:t>
            </a:r>
          </a:p>
          <a:p>
            <a:pPr algn="l"/>
            <a:r>
              <a:rPr sz="1100" b="0" i="0">
                <a:solidFill>
                  <a:srgbClr val="000000"/>
                </a:solidFill>
                <a:latin typeface="Consolas"/>
              </a:rPr>
              <a:t>   price ≤ 100, sort by price</a:t>
            </a:r>
          </a:p>
          <a:p>
            <a:pPr algn="l"/>
            <a:r>
              <a:rPr sz="1100" b="0" i="0">
                <a:solidFill>
                  <a:srgbClr val="000000"/>
                </a:solidFill>
                <a:latin typeface="Consolas"/>
              </a:rPr>
              <a:t>B  orders: one customerId,</a:t>
            </a:r>
          </a:p>
          <a:p>
            <a:pPr algn="l"/>
            <a:r>
              <a:rPr sz="1100" b="0" i="0">
                <a:solidFill>
                  <a:srgbClr val="000000"/>
                </a:solidFill>
                <a:latin typeface="Consolas"/>
              </a:rPr>
              <a:t>   createdAt in a date range,</a:t>
            </a:r>
          </a:p>
          <a:p>
            <a:pPr algn="l"/>
            <a:r>
              <a:rPr sz="1100" b="0" i="0">
                <a:solidFill>
                  <a:srgbClr val="000000"/>
                </a:solidFill>
                <a:latin typeface="Consolas"/>
              </a:rPr>
              <a:t>   sort createdAt descending</a:t>
            </a:r>
          </a:p>
          <a:p>
            <a:pPr algn="l"/>
            <a:r>
              <a:rPr sz="1100" b="0" i="0">
                <a:solidFill>
                  <a:srgbClr val="000000"/>
                </a:solidFill>
                <a:latin typeface="Consolas"/>
              </a:rPr>
              <a:t>C  orders: paymentStatus PAID,</a:t>
            </a:r>
          </a:p>
          <a:p>
            <a:pPr algn="l"/>
            <a:r>
              <a:rPr sz="1100" b="0" i="0">
                <a:solidFill>
                  <a:srgbClr val="000000"/>
                </a:solidFill>
                <a:latin typeface="Consolas"/>
              </a:rPr>
              <a:t>   createdAt ≥ start, sort desc</a:t>
            </a:r>
          </a:p>
        </p:txBody>
      </p:sp>
      <p:sp>
        <p:nvSpPr>
          <p:cNvPr id="12" name="Rounded Rectangle 11"/>
          <p:cNvSpPr/>
          <p:nvPr/>
        </p:nvSpPr>
        <p:spPr>
          <a:xfrm>
            <a:off x="4526280" y="1865376"/>
            <a:ext cx="388620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Label E, S and R in shape A</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Label shape B — spot the shared field</a:t>
            </a:r>
          </a:p>
        </p:txBody>
      </p:sp>
      <p:sp>
        <p:nvSpPr>
          <p:cNvPr id="19" name="Oval 18"/>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Propose one index per shape</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why paymentStatus leads in C</a:t>
            </a:r>
          </a:p>
        </p:txBody>
      </p:sp>
      <p:sp>
        <p:nvSpPr>
          <p:cNvPr id="23" name="Rounded Rectangle 22"/>
          <p:cNvSpPr/>
          <p:nvPr/>
        </p:nvSpPr>
        <p:spPr>
          <a:xfrm>
            <a:off x="8641080" y="1865376"/>
            <a:ext cx="306324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 { category: 1, active: 1, price: 1 }</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B { customerId: 1, createdAt: -1 }</a:t>
            </a:r>
          </a:p>
        </p:txBody>
      </p:sp>
      <p:sp>
        <p:nvSpPr>
          <p:cNvPr id="30" name="Oval 29"/>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C { paymentStatus: 1, createdAt: -1 }</a:t>
            </a:r>
          </a:p>
        </p:txBody>
      </p:sp>
      <p:sp>
        <p:nvSpPr>
          <p:cNvPr id="32" name="Oval 31"/>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4043171"/>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Equality first partitions the keys</a:t>
            </a:r>
          </a:p>
        </p:txBody>
      </p:sp>
      <p:sp>
        <p:nvSpPr>
          <p:cNvPr id="34" name="Oval 33"/>
          <p:cNvSpPr/>
          <p:nvPr/>
        </p:nvSpPr>
        <p:spPr>
          <a:xfrm>
            <a:off x="8778240" y="464718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592319"/>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No index leads with a range</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ESR gives a strong first design — equality narrows, sort orders, range scans last.</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6.2 — IDENTIFY COVERED QUERIES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6 checkpoint B: which projections can the index answer alone?</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B</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473952" y="1298448"/>
            <a:ext cx="5230368"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labs/day-03/exercises/exercise-6.2-identify-covered-queries.md</a:t>
            </a:r>
          </a:p>
        </p:txBody>
      </p:sp>
      <p:sp>
        <p:nvSpPr>
          <p:cNvPr id="7" name="Rounded Rectangle 6"/>
          <p:cNvSpPr/>
          <p:nvPr/>
        </p:nvSpPr>
        <p:spPr>
          <a:xfrm>
            <a:off x="457200" y="1865376"/>
            <a:ext cx="3840480" cy="322046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The index { category: 1, price: 1, name: 1 } exists. Decide which queries can be covered.</a:t>
            </a:r>
          </a:p>
        </p:txBody>
      </p:sp>
      <p:sp>
        <p:nvSpPr>
          <p:cNvPr id="11" name="Rounded Rectangle 10"/>
          <p:cNvSpPr/>
          <p:nvPr/>
        </p:nvSpPr>
        <p:spPr>
          <a:xfrm>
            <a:off x="566928" y="3229356"/>
            <a:ext cx="3621024" cy="158216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Q1 find({ category: "BOOK" },</a:t>
            </a:r>
          </a:p>
          <a:p>
            <a:pPr algn="l"/>
            <a:r>
              <a:rPr sz="1100" b="0" i="0">
                <a:solidFill>
                  <a:srgbClr val="000000"/>
                </a:solidFill>
                <a:latin typeface="Consolas"/>
              </a:rPr>
              <a:t>     { _id: 0, name: 1, price: 1 })</a:t>
            </a:r>
          </a:p>
          <a:p>
            <a:pPr algn="l"/>
            <a:r>
              <a:rPr sz="1100" b="0" i="0">
                <a:solidFill>
                  <a:srgbClr val="000000"/>
                </a:solidFill>
                <a:latin typeface="Consolas"/>
              </a:rPr>
              <a:t>Q2 find({ category: "BOOK" },</a:t>
            </a:r>
          </a:p>
          <a:p>
            <a:pPr algn="l"/>
            <a:r>
              <a:rPr sz="1100" b="0" i="0">
                <a:solidFill>
                  <a:srgbClr val="000000"/>
                </a:solidFill>
                <a:latin typeface="Consolas"/>
              </a:rPr>
              <a:t>     { _id: 0, name: 1, price: 1,</a:t>
            </a:r>
          </a:p>
          <a:p>
            <a:pPr algn="l"/>
            <a:r>
              <a:rPr sz="1100" b="0" i="0">
                <a:solidFill>
                  <a:srgbClr val="000000"/>
                </a:solidFill>
                <a:latin typeface="Consolas"/>
              </a:rPr>
              <a:t>       tags: 1 })</a:t>
            </a:r>
          </a:p>
          <a:p>
            <a:pPr algn="l"/>
            <a:r>
              <a:rPr sz="1100" b="0" i="0">
                <a:solidFill>
                  <a:srgbClr val="000000"/>
                </a:solidFill>
                <a:latin typeface="Consolas"/>
              </a:rPr>
              <a:t>Q3 find({ category: "BOOK" },</a:t>
            </a:r>
          </a:p>
          <a:p>
            <a:pPr algn="l"/>
            <a:r>
              <a:rPr sz="1100" b="0" i="0">
                <a:solidFill>
                  <a:srgbClr val="000000"/>
                </a:solidFill>
                <a:latin typeface="Consolas"/>
              </a:rPr>
              <a:t>     { name: 1 })</a:t>
            </a:r>
          </a:p>
        </p:txBody>
      </p:sp>
      <p:sp>
        <p:nvSpPr>
          <p:cNvPr id="12" name="Rounded Rectangle 11"/>
          <p:cNvSpPr/>
          <p:nvPr/>
        </p:nvSpPr>
        <p:spPr>
          <a:xfrm>
            <a:off x="4526280" y="1865376"/>
            <a:ext cx="3886200" cy="322046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Decide coverage for Q1</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Decide coverage for Q2 and Q3</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Write the three coverage conditions</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Name the explain() signal to look for</a:t>
            </a:r>
          </a:p>
        </p:txBody>
      </p:sp>
      <p:sp>
        <p:nvSpPr>
          <p:cNvPr id="23" name="Rounded Rectangle 22"/>
          <p:cNvSpPr/>
          <p:nvPr/>
        </p:nvSpPr>
        <p:spPr>
          <a:xfrm>
            <a:off x="8641080" y="1865376"/>
            <a:ext cx="3063240" cy="322046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Q1 may be covered</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Q2 not — tags needs a FETCH</a:t>
            </a:r>
          </a:p>
        </p:txBody>
      </p:sp>
      <p:sp>
        <p:nvSpPr>
          <p:cNvPr id="30" name="Oval 29"/>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2369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Q3 not — _id returns by default</a:t>
            </a:r>
          </a:p>
        </p:txBody>
      </p:sp>
      <p:sp>
        <p:nvSpPr>
          <p:cNvPr id="32" name="Oval 31"/>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786124"/>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Filter, output, _id handled</a:t>
            </a:r>
          </a:p>
        </p:txBody>
      </p:sp>
      <p:sp>
        <p:nvSpPr>
          <p:cNvPr id="34" name="Oval 33"/>
          <p:cNvSpPr/>
          <p:nvPr/>
        </p:nvSpPr>
        <p:spPr>
          <a:xfrm>
            <a:off x="8778240" y="42616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20674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IXSCAN with no FETCH</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covered query needs every filtered and returned field in the index — including the decision about _id.</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6.3 — E-COMMERCE INDEX REVIEW</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6 checkpoint C: an index recommendation for ten workloads.</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C</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30–45 MIN</a:t>
            </a:r>
          </a:p>
        </p:txBody>
      </p:sp>
      <p:sp>
        <p:nvSpPr>
          <p:cNvPr id="6" name="Rounded Rectangle 5"/>
          <p:cNvSpPr/>
          <p:nvPr/>
        </p:nvSpPr>
        <p:spPr>
          <a:xfrm>
            <a:off x="6551676" y="1298448"/>
            <a:ext cx="515264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labs/day-03/exercises/exercise-6.3-e-commerce-index-review.md</a:t>
            </a:r>
          </a:p>
        </p:txBody>
      </p:sp>
      <p:sp>
        <p:nvSpPr>
          <p:cNvPr id="7" name="Rounded Rectangle 6"/>
          <p:cNvSpPr/>
          <p:nvPr/>
        </p:nvSpPr>
        <p:spPr>
          <a:xfrm>
            <a:off x="457200" y="1865376"/>
            <a:ext cx="384048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Recommend indexes for ten recurring training_store workloads.</a:t>
            </a:r>
          </a:p>
        </p:txBody>
      </p:sp>
      <p:sp>
        <p:nvSpPr>
          <p:cNvPr id="11" name="Rounded Rectangle 10"/>
          <p:cNvSpPr/>
          <p:nvPr/>
        </p:nvSpPr>
        <p:spPr>
          <a:xfrm>
            <a:off x="566928" y="3012440"/>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1 SKU lookup      6 order history</a:t>
            </a:r>
          </a:p>
          <a:p>
            <a:pPr algn="l"/>
            <a:r>
              <a:rPr sz="1100" b="0" i="0">
                <a:solidFill>
                  <a:srgbClr val="000000"/>
                </a:solidFill>
                <a:latin typeface="Consolas"/>
              </a:rPr>
              <a:t> 2 category browse 7 paid reporting</a:t>
            </a:r>
          </a:p>
          <a:p>
            <a:pPr algn="l"/>
            <a:r>
              <a:rPr sz="1100" b="0" i="0">
                <a:solidFill>
                  <a:srgbClr val="000000"/>
                </a:solidFill>
                <a:latin typeface="Consolas"/>
              </a:rPr>
              <a:t> 3 tag search      8 newest reviews</a:t>
            </a:r>
          </a:p>
          <a:p>
            <a:pPr algn="l"/>
            <a:r>
              <a:rPr sz="1100" b="0" i="0">
                <a:solidFill>
                  <a:srgbClr val="000000"/>
                </a:solidFill>
                <a:latin typeface="Consolas"/>
              </a:rPr>
              <a:t> 4 email lookup    9 session expiry</a:t>
            </a:r>
          </a:p>
          <a:p>
            <a:pPr algn="l"/>
            <a:r>
              <a:rPr sz="1100" b="0" i="0">
                <a:solidFill>
                  <a:srgbClr val="000000"/>
                </a:solidFill>
                <a:latin typeface="Consolas"/>
              </a:rPr>
              <a:t> 5 order number   10 dynamic attrs</a:t>
            </a:r>
          </a:p>
        </p:txBody>
      </p:sp>
      <p:sp>
        <p:nvSpPr>
          <p:cNvPr id="12" name="Rounded Rectangle 11"/>
          <p:cNvSpPr/>
          <p:nvPr/>
        </p:nvSpPr>
        <p:spPr>
          <a:xfrm>
            <a:off x="4526280" y="1865376"/>
            <a:ext cx="388620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Tabulate shape and index for all ten</a:t>
            </a:r>
          </a:p>
        </p:txBody>
      </p:sp>
      <p:sp>
        <p:nvSpPr>
          <p:cNvPr id="17" name="Oval 16"/>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9941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Mark unique, multikey, partial, TTL, wildcard</a:t>
            </a:r>
          </a:p>
        </p:txBody>
      </p:sp>
      <p:sp>
        <p:nvSpPr>
          <p:cNvPr id="19" name="Oval 18"/>
          <p:cNvSpPr/>
          <p:nvPr/>
        </p:nvSpPr>
        <p:spPr>
          <a:xfrm>
            <a:off x="4663440" y="3647440"/>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592576"/>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Give ESR roles and a cost note per compound</a:t>
            </a:r>
          </a:p>
        </p:txBody>
      </p:sp>
      <p:sp>
        <p:nvSpPr>
          <p:cNvPr id="21" name="Oval 20"/>
          <p:cNvSpPr/>
          <p:nvPr/>
        </p:nvSpPr>
        <p:spPr>
          <a:xfrm>
            <a:off x="4663440" y="4245864"/>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4191000"/>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Flag an overlap; plan validation and rollback</a:t>
            </a:r>
          </a:p>
        </p:txBody>
      </p:sp>
      <p:sp>
        <p:nvSpPr>
          <p:cNvPr id="23" name="Rounded Rectangle 22"/>
          <p:cNvSpPr/>
          <p:nvPr/>
        </p:nvSpPr>
        <p:spPr>
          <a:xfrm>
            <a:off x="8641080" y="1865376"/>
            <a:ext cx="306324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A ten-row table</a:t>
            </a:r>
          </a:p>
        </p:txBody>
      </p:sp>
      <p:sp>
        <p:nvSpPr>
          <p:cNvPr id="28" name="Oval 27"/>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816352"/>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uq_products_sku, idx_products_tags</a:t>
            </a:r>
          </a:p>
        </p:txBody>
      </p:sp>
      <p:sp>
        <p:nvSpPr>
          <p:cNvPr id="30" name="Oval 29"/>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365500"/>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TTL on sessions · wildcard attributes</a:t>
            </a:r>
          </a:p>
        </p:txBody>
      </p:sp>
      <p:sp>
        <p:nvSpPr>
          <p:cNvPr id="32" name="Oval 31"/>
          <p:cNvSpPr/>
          <p:nvPr/>
        </p:nvSpPr>
        <p:spPr>
          <a:xfrm>
            <a:off x="8778240" y="39695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914647"/>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Overlap: category vs category + active + price</a:t>
            </a:r>
          </a:p>
        </p:txBody>
      </p:sp>
      <p:sp>
        <p:nvSpPr>
          <p:cNvPr id="34" name="Oval 33"/>
          <p:cNvSpPr/>
          <p:nvPr/>
        </p:nvSpPr>
        <p:spPr>
          <a:xfrm>
            <a:off x="8778240" y="4518659"/>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463795"/>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Baseline → create → explain → rollback</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good index plan names the query, the index, its cost and how to prove it — and how to undo it.</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5 — INDEX AND EXPLAIN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3 official lab: measure, index and measure again on a fresh training_store.</a:t>
            </a:r>
          </a:p>
        </p:txBody>
      </p:sp>
      <p:sp>
        <p:nvSpPr>
          <p:cNvPr id="4" name="Rounded Rectangle 3"/>
          <p:cNvSpPr/>
          <p:nvPr/>
        </p:nvSpPr>
        <p:spPr>
          <a:xfrm>
            <a:off x="457200" y="1298448"/>
            <a:ext cx="1490472"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LAB</a:t>
            </a:r>
          </a:p>
        </p:txBody>
      </p:sp>
      <p:sp>
        <p:nvSpPr>
          <p:cNvPr id="5" name="Rounded Rectangle 4"/>
          <p:cNvSpPr/>
          <p:nvPr/>
        </p:nvSpPr>
        <p:spPr>
          <a:xfrm>
            <a:off x="2084831"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40–50 MIN</a:t>
            </a:r>
          </a:p>
        </p:txBody>
      </p:sp>
      <p:sp>
        <p:nvSpPr>
          <p:cNvPr id="6" name="Rounded Rectangle 5"/>
          <p:cNvSpPr/>
          <p:nvPr/>
        </p:nvSpPr>
        <p:spPr>
          <a:xfrm>
            <a:off x="8883396" y="1298448"/>
            <a:ext cx="282092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labs/day-03/lab5/LAB-5-GUIDE.md</a:t>
            </a:r>
          </a:p>
        </p:txBody>
      </p:sp>
      <p:sp>
        <p:nvSpPr>
          <p:cNvPr id="7" name="Oval 6"/>
          <p:cNvSpPr/>
          <p:nvPr/>
        </p:nvSpPr>
        <p:spPr>
          <a:xfrm>
            <a:off x="457200" y="1865376"/>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65376"/>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9" name="TextBox 8"/>
          <p:cNvSpPr txBox="1"/>
          <p:nvPr/>
        </p:nvSpPr>
        <p:spPr>
          <a:xfrm>
            <a:off x="841248" y="1856232"/>
            <a:ext cx="6245352" cy="347472"/>
          </a:xfrm>
          <a:prstGeom prst="rect">
            <a:avLst/>
          </a:prstGeom>
          <a:noFill/>
        </p:spPr>
        <p:txBody>
          <a:bodyPr wrap="square" anchor="ctr" lIns="0" rIns="0" tIns="0" bIns="0">
            <a:spAutoFit/>
          </a:bodyPr>
          <a:lstStyle/>
          <a:p>
            <a:pPr algn="l"/>
            <a:r>
              <a:rPr sz="1400" b="1" i="0">
                <a:solidFill>
                  <a:srgbClr val="D1282E"/>
                </a:solidFill>
                <a:latin typeface="Nirmala UI"/>
              </a:rPr>
              <a:t>SIX CORE STEPS ON A FRESH LOAD</a:t>
            </a:r>
          </a:p>
        </p:txBody>
      </p:sp>
      <p:sp>
        <p:nvSpPr>
          <p:cNvPr id="10" name="Oval 9"/>
          <p:cNvSpPr/>
          <p:nvPr/>
        </p:nvSpPr>
        <p:spPr>
          <a:xfrm>
            <a:off x="457200" y="2385822"/>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11" name="TextBox 10"/>
          <p:cNvSpPr txBox="1"/>
          <p:nvPr/>
        </p:nvSpPr>
        <p:spPr>
          <a:xfrm>
            <a:off x="987552" y="2286000"/>
            <a:ext cx="6099048" cy="583692"/>
          </a:xfrm>
          <a:prstGeom prst="rect">
            <a:avLst/>
          </a:prstGeom>
          <a:noFill/>
        </p:spPr>
        <p:txBody>
          <a:bodyPr wrap="square" anchor="ctr" lIns="0" rIns="0" tIns="0" bIns="0">
            <a:spAutoFit/>
          </a:bodyPr>
          <a:lstStyle/>
          <a:p>
            <a:pPr algn="l"/>
            <a:r>
              <a:rPr sz="1500" b="1" i="0">
                <a:solidFill>
                  <a:srgbClr val="000000"/>
                </a:solidFill>
                <a:latin typeface="Nirmala UI"/>
              </a:rPr>
              <a:t>Baseline: C101's orders, newest first</a:t>
            </a:r>
          </a:p>
          <a:p>
            <a:pPr algn="l"/>
            <a:r>
              <a:rPr sz="1200" b="0" i="0">
                <a:solidFill>
                  <a:srgbClr val="595959"/>
                </a:solidFill>
                <a:latin typeface="Consolas"/>
              </a:rPr>
              <a:t>explain → SORT + COLLSCAN</a:t>
            </a:r>
          </a:p>
        </p:txBody>
      </p:sp>
      <p:sp>
        <p:nvSpPr>
          <p:cNvPr id="12" name="Oval 11"/>
          <p:cNvSpPr/>
          <p:nvPr/>
        </p:nvSpPr>
        <p:spPr>
          <a:xfrm>
            <a:off x="457200" y="2969514"/>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13" name="TextBox 12"/>
          <p:cNvSpPr txBox="1"/>
          <p:nvPr/>
        </p:nvSpPr>
        <p:spPr>
          <a:xfrm>
            <a:off x="987552" y="2869692"/>
            <a:ext cx="6099048" cy="583692"/>
          </a:xfrm>
          <a:prstGeom prst="rect">
            <a:avLst/>
          </a:prstGeom>
          <a:noFill/>
        </p:spPr>
        <p:txBody>
          <a:bodyPr wrap="square" anchor="ctr" lIns="0" rIns="0" tIns="0" bIns="0">
            <a:spAutoFit/>
          </a:bodyPr>
          <a:lstStyle/>
          <a:p>
            <a:pPr algn="l"/>
            <a:r>
              <a:rPr sz="1500" b="1" i="0">
                <a:solidFill>
                  <a:srgbClr val="000000"/>
                </a:solidFill>
                <a:latin typeface="Nirmala UI"/>
              </a:rPr>
              <a:t>Create the history index</a:t>
            </a:r>
          </a:p>
          <a:p>
            <a:pPr algn="l"/>
            <a:r>
              <a:rPr sz="1200" b="0" i="0">
                <a:solidFill>
                  <a:srgbClr val="595959"/>
                </a:solidFill>
                <a:latin typeface="Consolas"/>
              </a:rPr>
              <a:t>idx_orders_customer_date</a:t>
            </a:r>
          </a:p>
        </p:txBody>
      </p:sp>
      <p:sp>
        <p:nvSpPr>
          <p:cNvPr id="14" name="Oval 13"/>
          <p:cNvSpPr/>
          <p:nvPr/>
        </p:nvSpPr>
        <p:spPr>
          <a:xfrm>
            <a:off x="457200" y="3553206"/>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15" name="TextBox 14"/>
          <p:cNvSpPr txBox="1"/>
          <p:nvPr/>
        </p:nvSpPr>
        <p:spPr>
          <a:xfrm>
            <a:off x="987552" y="3453383"/>
            <a:ext cx="6099048" cy="583692"/>
          </a:xfrm>
          <a:prstGeom prst="rect">
            <a:avLst/>
          </a:prstGeom>
          <a:noFill/>
        </p:spPr>
        <p:txBody>
          <a:bodyPr wrap="square" anchor="ctr" lIns="0" rIns="0" tIns="0" bIns="0">
            <a:spAutoFit/>
          </a:bodyPr>
          <a:lstStyle/>
          <a:p>
            <a:pPr algn="l"/>
            <a:r>
              <a:rPr sz="1500" b="1" i="0">
                <a:solidFill>
                  <a:srgbClr val="000000"/>
                </a:solidFill>
                <a:latin typeface="Nirmala UI"/>
              </a:rPr>
              <a:t>Measure again</a:t>
            </a:r>
          </a:p>
          <a:p>
            <a:pPr algn="l"/>
            <a:r>
              <a:rPr sz="1200" b="0" i="0">
                <a:solidFill>
                  <a:srgbClr val="595959"/>
                </a:solidFill>
                <a:latin typeface="Consolas"/>
              </a:rPr>
              <a:t>IXSCAN · 5 keys · 5 docs · no SORT</a:t>
            </a:r>
          </a:p>
        </p:txBody>
      </p:sp>
      <p:sp>
        <p:nvSpPr>
          <p:cNvPr id="16" name="Oval 15"/>
          <p:cNvSpPr/>
          <p:nvPr/>
        </p:nvSpPr>
        <p:spPr>
          <a:xfrm>
            <a:off x="457200" y="4136898"/>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4</a:t>
            </a:r>
          </a:p>
        </p:txBody>
      </p:sp>
      <p:sp>
        <p:nvSpPr>
          <p:cNvPr id="17" name="TextBox 16"/>
          <p:cNvSpPr txBox="1"/>
          <p:nvPr/>
        </p:nvSpPr>
        <p:spPr>
          <a:xfrm>
            <a:off x="987552" y="4037076"/>
            <a:ext cx="6099048" cy="583692"/>
          </a:xfrm>
          <a:prstGeom prst="rect">
            <a:avLst/>
          </a:prstGeom>
          <a:noFill/>
        </p:spPr>
        <p:txBody>
          <a:bodyPr wrap="square" anchor="ctr" lIns="0" rIns="0" tIns="0" bIns="0">
            <a:spAutoFit/>
          </a:bodyPr>
          <a:lstStyle/>
          <a:p>
            <a:pPr algn="l"/>
            <a:r>
              <a:rPr sz="1500" b="1" i="0">
                <a:solidFill>
                  <a:srgbClr val="000000"/>
                </a:solidFill>
                <a:latin typeface="Nirmala UI"/>
              </a:rPr>
              <a:t>A new shape: PROCESSING orders</a:t>
            </a:r>
          </a:p>
          <a:p>
            <a:pPr algn="l"/>
            <a:r>
              <a:rPr sz="1200" b="0" i="0">
                <a:solidFill>
                  <a:srgbClr val="595959"/>
                </a:solidFill>
                <a:latin typeface="Consolas"/>
              </a:rPr>
              <a:t>idx_orders_fulfillment_date</a:t>
            </a:r>
          </a:p>
        </p:txBody>
      </p:sp>
      <p:sp>
        <p:nvSpPr>
          <p:cNvPr id="18" name="Oval 17"/>
          <p:cNvSpPr/>
          <p:nvPr/>
        </p:nvSpPr>
        <p:spPr>
          <a:xfrm>
            <a:off x="457200" y="4720590"/>
            <a:ext cx="384048" cy="384048"/>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5</a:t>
            </a:r>
          </a:p>
        </p:txBody>
      </p:sp>
      <p:sp>
        <p:nvSpPr>
          <p:cNvPr id="19" name="TextBox 18"/>
          <p:cNvSpPr txBox="1"/>
          <p:nvPr/>
        </p:nvSpPr>
        <p:spPr>
          <a:xfrm>
            <a:off x="987552" y="4620767"/>
            <a:ext cx="6099048" cy="583692"/>
          </a:xfrm>
          <a:prstGeom prst="rect">
            <a:avLst/>
          </a:prstGeom>
          <a:noFill/>
        </p:spPr>
        <p:txBody>
          <a:bodyPr wrap="square" anchor="ctr" lIns="0" rIns="0" tIns="0" bIns="0">
            <a:spAutoFit/>
          </a:bodyPr>
          <a:lstStyle/>
          <a:p>
            <a:pPr algn="l"/>
            <a:r>
              <a:rPr sz="1500" b="1" i="0">
                <a:solidFill>
                  <a:srgbClr val="000000"/>
                </a:solidFill>
                <a:latin typeface="Nirmala UI"/>
              </a:rPr>
              <a:t>Multikey: tags = "wireless"</a:t>
            </a:r>
          </a:p>
          <a:p>
            <a:pPr algn="l"/>
            <a:r>
              <a:rPr sz="1200" b="0" i="0">
                <a:solidFill>
                  <a:srgbClr val="595959"/>
                </a:solidFill>
                <a:latin typeface="Consolas"/>
              </a:rPr>
              <a:t>idx_products_tags</a:t>
            </a:r>
          </a:p>
        </p:txBody>
      </p:sp>
      <p:sp>
        <p:nvSpPr>
          <p:cNvPr id="20" name="Oval 19"/>
          <p:cNvSpPr/>
          <p:nvPr/>
        </p:nvSpPr>
        <p:spPr>
          <a:xfrm>
            <a:off x="457200" y="5304282"/>
            <a:ext cx="384048" cy="384048"/>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6</a:t>
            </a:r>
          </a:p>
        </p:txBody>
      </p:sp>
      <p:sp>
        <p:nvSpPr>
          <p:cNvPr id="21" name="TextBox 20"/>
          <p:cNvSpPr txBox="1"/>
          <p:nvPr/>
        </p:nvSpPr>
        <p:spPr>
          <a:xfrm>
            <a:off x="987552" y="5204460"/>
            <a:ext cx="6099048" cy="583692"/>
          </a:xfrm>
          <a:prstGeom prst="rect">
            <a:avLst/>
          </a:prstGeom>
          <a:noFill/>
        </p:spPr>
        <p:txBody>
          <a:bodyPr wrap="square" anchor="ctr" lIns="0" rIns="0" tIns="0" bIns="0">
            <a:spAutoFit/>
          </a:bodyPr>
          <a:lstStyle/>
          <a:p>
            <a:pPr algn="l"/>
            <a:r>
              <a:rPr sz="1500" b="1" i="0">
                <a:solidFill>
                  <a:srgbClr val="000000"/>
                </a:solidFill>
                <a:latin typeface="Nirmala UI"/>
              </a:rPr>
              <a:t>Inventory every index</a:t>
            </a:r>
          </a:p>
          <a:p>
            <a:pPr algn="l"/>
            <a:r>
              <a:rPr sz="1200" b="0" i="0">
                <a:solidFill>
                  <a:srgbClr val="595959"/>
                </a:solidFill>
                <a:latin typeface="Consolas"/>
              </a:rPr>
              <a:t>getIndexes() on all four collections</a:t>
            </a:r>
          </a:p>
        </p:txBody>
      </p:sp>
      <p:sp>
        <p:nvSpPr>
          <p:cNvPr id="22" name="Rounded Rectangle 21"/>
          <p:cNvSpPr/>
          <p:nvPr/>
        </p:nvSpPr>
        <p:spPr>
          <a:xfrm>
            <a:off x="7452360" y="1865376"/>
            <a:ext cx="4251960" cy="166676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7452360" y="1865376"/>
            <a:ext cx="4251960" cy="420624"/>
          </a:xfrm>
          <a:prstGeom prst="round2SameRect">
            <a:avLst>
              <a:gd name="adj1" fmla="val 22000"/>
              <a:gd name="adj2" fmla="val 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7589520" y="1865376"/>
            <a:ext cx="3977640" cy="420624"/>
          </a:xfrm>
          <a:prstGeom prst="rect">
            <a:avLst/>
          </a:prstGeom>
          <a:noFill/>
        </p:spPr>
        <p:txBody>
          <a:bodyPr wrap="square" anchor="ctr" lIns="0" rIns="0" tIns="0" bIns="0">
            <a:spAutoFit/>
          </a:bodyPr>
          <a:lstStyle/>
          <a:p>
            <a:pPr algn="l"/>
            <a:r>
              <a:rPr sz="1400" b="1" i="0">
                <a:solidFill>
                  <a:srgbClr val="FFFFFF"/>
                </a:solidFill>
                <a:latin typeface="Nirmala UI"/>
              </a:rPr>
              <a:t>BEFORE YOU START</a:t>
            </a:r>
          </a:p>
        </p:txBody>
      </p:sp>
      <p:sp>
        <p:nvSpPr>
          <p:cNvPr id="25" name="Rounded Rectangle 24"/>
          <p:cNvSpPr/>
          <p:nvPr/>
        </p:nvSpPr>
        <p:spPr>
          <a:xfrm>
            <a:off x="7589520" y="2395728"/>
            <a:ext cx="3977640" cy="102668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mongosh "mongodb://localhost:27017" `</a:t>
            </a:r>
          </a:p>
          <a:p>
            <a:pPr algn="l"/>
            <a:r>
              <a:rPr sz="1100" b="0" i="0">
                <a:solidFill>
                  <a:srgbClr val="000000"/>
                </a:solidFill>
                <a:latin typeface="Consolas"/>
              </a:rPr>
              <a:t>  .\datasets\training_store\load.js</a:t>
            </a:r>
          </a:p>
          <a:p>
            <a:pPr algn="l"/>
            <a:r>
              <a:rPr sz="1100" b="0" i="0">
                <a:solidFill>
                  <a:srgbClr val="000000"/>
                </a:solidFill>
                <a:latin typeface="Consolas"/>
              </a:rPr>
              <a:t>use training_store</a:t>
            </a:r>
          </a:p>
        </p:txBody>
      </p:sp>
      <p:sp>
        <p:nvSpPr>
          <p:cNvPr id="26" name="Rounded Rectangle 25"/>
          <p:cNvSpPr/>
          <p:nvPr/>
        </p:nvSpPr>
        <p:spPr>
          <a:xfrm>
            <a:off x="7452360" y="3669304"/>
            <a:ext cx="4251960" cy="1013703"/>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7635240" y="3669304"/>
            <a:ext cx="3886200" cy="1013703"/>
          </a:xfrm>
          <a:prstGeom prst="rect">
            <a:avLst/>
          </a:prstGeom>
          <a:noFill/>
        </p:spPr>
        <p:txBody>
          <a:bodyPr wrap="square" anchor="ctr" lIns="0" rIns="0" tIns="0" bIns="0">
            <a:spAutoFit/>
          </a:bodyPr>
          <a:lstStyle/>
          <a:p>
            <a:pPr algn="l"/>
            <a:r>
              <a:rPr sz="1300" b="1" i="0">
                <a:solidFill>
                  <a:srgbClr val="D1282E"/>
                </a:solidFill>
                <a:latin typeface="Nirmala UI"/>
              </a:rPr>
              <a:t>C101   </a:t>
            </a:r>
            <a:r>
              <a:rPr sz="1300" b="0" i="0">
                <a:solidFill>
                  <a:srgbClr val="000000"/>
                </a:solidFill>
                <a:latin typeface="Nirmala UI"/>
              </a:rPr>
              <a:t>Look it up by customerNumber — don't copy an ObjectId from a slide.</a:t>
            </a:r>
          </a:p>
        </p:txBody>
      </p:sp>
      <p:sp>
        <p:nvSpPr>
          <p:cNvPr id="28" name="Rounded Rectangle 27"/>
          <p:cNvSpPr/>
          <p:nvPr/>
        </p:nvSpPr>
        <p:spPr>
          <a:xfrm>
            <a:off x="7452360" y="4820168"/>
            <a:ext cx="4251960" cy="1013703"/>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7635240" y="4820168"/>
            <a:ext cx="3886200" cy="1013703"/>
          </a:xfrm>
          <a:prstGeom prst="rect">
            <a:avLst/>
          </a:prstGeom>
          <a:noFill/>
        </p:spPr>
        <p:txBody>
          <a:bodyPr wrap="square" anchor="ctr" lIns="0" rIns="0" tIns="0" bIns="0">
            <a:spAutoFit/>
          </a:bodyPr>
          <a:lstStyle/>
          <a:p>
            <a:pPr algn="l"/>
            <a:r>
              <a:rPr sz="1300" b="1" i="0">
                <a:solidFill>
                  <a:srgbClr val="D1282E"/>
                </a:solidFill>
                <a:latin typeface="Nirmala UI"/>
              </a:rPr>
              <a:t>GO FURTHER   </a:t>
            </a:r>
            <a:r>
              <a:rPr sz="1300" b="0" i="0">
                <a:solidFill>
                  <a:srgbClr val="000000"/>
                </a:solidFill>
                <a:latin typeface="Nirmala UI"/>
              </a:rPr>
              <a:t>Steps 7–13 add catalog, unique, partial, TTL, covered, aggregation and audit practice.</a:t>
            </a:r>
          </a:p>
        </p:txBody>
      </p:sp>
      <p:sp>
        <p:nvSpPr>
          <p:cNvPr id="30" name="Rounded Rectangle 2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Record the plan shape and the counts before and after every index — that evidence is the lab.</a:t>
            </a:r>
          </a:p>
        </p:txBody>
      </p:sp>
      <p:sp>
        <p:nvSpPr>
          <p:cNvPr id="32" name="Rectangle 3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6 SUMMARY AND WHAT'S NEXT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From a collection scan to a small, proven set of indexes.</a:t>
            </a:r>
          </a:p>
        </p:txBody>
      </p:sp>
      <p:sp>
        <p:nvSpPr>
          <p:cNvPr id="4" name="Rounded Rectangle 3"/>
          <p:cNvSpPr/>
          <p:nvPr/>
        </p:nvSpPr>
        <p:spPr>
          <a:xfrm>
            <a:off x="457200" y="1298448"/>
            <a:ext cx="55778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55778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5303520" cy="420624"/>
          </a:xfrm>
          <a:prstGeom prst="rect">
            <a:avLst/>
          </a:prstGeom>
          <a:noFill/>
        </p:spPr>
        <p:txBody>
          <a:bodyPr wrap="square" anchor="ctr" lIns="0" rIns="0" tIns="0" bIns="0">
            <a:spAutoFit/>
          </a:bodyPr>
          <a:lstStyle/>
          <a:p>
            <a:pPr algn="l"/>
            <a:r>
              <a:rPr sz="1400" b="1" i="0">
                <a:solidFill>
                  <a:srgbClr val="FFFFFF"/>
                </a:solidFill>
                <a:latin typeface="Nirmala UI"/>
              </a:rPr>
              <a:t>YOU CAN NOW</a:t>
            </a:r>
          </a:p>
        </p:txBody>
      </p:sp>
      <p:sp>
        <p:nvSpPr>
          <p:cNvPr id="7" name="Oval 6"/>
          <p:cNvSpPr/>
          <p:nvPr/>
        </p:nvSpPr>
        <p:spPr>
          <a:xfrm>
            <a:off x="640080" y="2029967"/>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Explain COLLSCAN, IXSCAN, FETCH and SORT</a:t>
            </a:r>
          </a:p>
        </p:txBody>
      </p:sp>
      <p:sp>
        <p:nvSpPr>
          <p:cNvPr id="9" name="Oval 8"/>
          <p:cNvSpPr/>
          <p:nvPr/>
        </p:nvSpPr>
        <p:spPr>
          <a:xfrm>
            <a:off x="640080" y="263347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78024"/>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Create, list, hide and drop named indexes</a:t>
            </a:r>
          </a:p>
        </p:txBody>
      </p:sp>
      <p:sp>
        <p:nvSpPr>
          <p:cNvPr id="11" name="Oval 10"/>
          <p:cNvSpPr/>
          <p:nvPr/>
        </p:nvSpPr>
        <p:spPr>
          <a:xfrm>
            <a:off x="640080" y="323697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81528"/>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Order compound fields with ESR and prefixes</a:t>
            </a:r>
          </a:p>
        </p:txBody>
      </p:sp>
      <p:sp>
        <p:nvSpPr>
          <p:cNvPr id="13" name="Oval 12"/>
          <p:cNvSpPr/>
          <p:nvPr/>
        </p:nvSpPr>
        <p:spPr>
          <a:xfrm>
            <a:off x="640080" y="3840479"/>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685031"/>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Choose multikey, unique, partial, sparse and TTL</a:t>
            </a:r>
          </a:p>
        </p:txBody>
      </p:sp>
      <p:sp>
        <p:nvSpPr>
          <p:cNvPr id="15" name="Oval 14"/>
          <p:cNvSpPr/>
          <p:nvPr/>
        </p:nvSpPr>
        <p:spPr>
          <a:xfrm>
            <a:off x="640080" y="4443983"/>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288536"/>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Read explain() and build a covered query</a:t>
            </a:r>
          </a:p>
        </p:txBody>
      </p:sp>
      <p:sp>
        <p:nvSpPr>
          <p:cNvPr id="17" name="Oval 16"/>
          <p:cNvSpPr/>
          <p:nvPr/>
        </p:nvSpPr>
        <p:spPr>
          <a:xfrm>
            <a:off x="640080" y="5047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4892040"/>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Weigh selectivity, write cost and index usage</a:t>
            </a:r>
          </a:p>
        </p:txBody>
      </p:sp>
      <p:sp>
        <p:nvSpPr>
          <p:cNvPr id="19" name="Rounded Rectangle 18"/>
          <p:cNvSpPr/>
          <p:nvPr/>
        </p:nvSpPr>
        <p:spPr>
          <a:xfrm>
            <a:off x="6400800" y="1298448"/>
            <a:ext cx="5303520" cy="2788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Round Same Side Corner Rectangle 19"/>
          <p:cNvSpPr/>
          <p:nvPr/>
        </p:nvSpPr>
        <p:spPr>
          <a:xfrm>
            <a:off x="6400800" y="1298448"/>
            <a:ext cx="530352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TextBox 20"/>
          <p:cNvSpPr txBox="1"/>
          <p:nvPr/>
        </p:nvSpPr>
        <p:spPr>
          <a:xfrm>
            <a:off x="6537960" y="1298448"/>
            <a:ext cx="5029200" cy="420624"/>
          </a:xfrm>
          <a:prstGeom prst="rect">
            <a:avLst/>
          </a:prstGeom>
          <a:noFill/>
        </p:spPr>
        <p:txBody>
          <a:bodyPr wrap="square" anchor="ctr" lIns="0" rIns="0" tIns="0" bIns="0">
            <a:spAutoFit/>
          </a:bodyPr>
          <a:lstStyle/>
          <a:p>
            <a:pPr algn="l"/>
            <a:r>
              <a:rPr sz="1300" b="1" i="0">
                <a:solidFill>
                  <a:srgbClr val="FFFFFF"/>
                </a:solidFill>
                <a:latin typeface="Nirmala UI"/>
              </a:rPr>
              <a:t>NEXT: MODULE 7 — REPLICATION AND SHARDING</a:t>
            </a:r>
          </a:p>
        </p:txBody>
      </p:sp>
      <p:sp>
        <p:nvSpPr>
          <p:cNvPr id="22" name="Oval 21"/>
          <p:cNvSpPr/>
          <p:nvPr/>
        </p:nvSpPr>
        <p:spPr>
          <a:xfrm>
            <a:off x="6583680" y="195681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23" name="TextBox 22"/>
          <p:cNvSpPr txBox="1"/>
          <p:nvPr/>
        </p:nvSpPr>
        <p:spPr>
          <a:xfrm>
            <a:off x="7059168" y="1847088"/>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 replica sets keep data available?</a:t>
            </a:r>
          </a:p>
        </p:txBody>
      </p:sp>
      <p:sp>
        <p:nvSpPr>
          <p:cNvPr id="24" name="Oval 23"/>
          <p:cNvSpPr/>
          <p:nvPr/>
        </p:nvSpPr>
        <p:spPr>
          <a:xfrm>
            <a:off x="6583680" y="2615184"/>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25" name="TextBox 24"/>
          <p:cNvSpPr txBox="1"/>
          <p:nvPr/>
        </p:nvSpPr>
        <p:spPr>
          <a:xfrm>
            <a:off x="7059168" y="2505456"/>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does sharding split a collection?</a:t>
            </a:r>
          </a:p>
        </p:txBody>
      </p:sp>
      <p:sp>
        <p:nvSpPr>
          <p:cNvPr id="26" name="Oval 25"/>
          <p:cNvSpPr/>
          <p:nvPr/>
        </p:nvSpPr>
        <p:spPr>
          <a:xfrm>
            <a:off x="6583680" y="3273552"/>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27" name="TextBox 26"/>
          <p:cNvSpPr txBox="1"/>
          <p:nvPr/>
        </p:nvSpPr>
        <p:spPr>
          <a:xfrm>
            <a:off x="7059168" y="3163824"/>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Why does a shard key need an index?</a:t>
            </a:r>
          </a:p>
        </p:txBody>
      </p:sp>
      <p:sp>
        <p:nvSpPr>
          <p:cNvPr id="28" name="Rounded Rectangle 27"/>
          <p:cNvSpPr/>
          <p:nvPr/>
        </p:nvSpPr>
        <p:spPr>
          <a:xfrm>
            <a:off x="6400800" y="4270248"/>
            <a:ext cx="5303520" cy="156362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6583680" y="4270248"/>
            <a:ext cx="4937760" cy="1563624"/>
          </a:xfrm>
          <a:prstGeom prst="rect">
            <a:avLst/>
          </a:prstGeom>
          <a:noFill/>
        </p:spPr>
        <p:txBody>
          <a:bodyPr wrap="square" anchor="ctr" lIns="0" rIns="0" tIns="0" bIns="0">
            <a:spAutoFit/>
          </a:bodyPr>
          <a:lstStyle/>
          <a:p>
            <a:pPr algn="l"/>
            <a:r>
              <a:rPr sz="1500" b="1" i="0">
                <a:solidFill>
                  <a:srgbClr val="D1282E"/>
                </a:solidFill>
                <a:latin typeface="Nirmala UI"/>
              </a:rPr>
              <a:t>BRING ALONG   </a:t>
            </a:r>
            <a:r>
              <a:rPr sz="1500" b="0" i="0">
                <a:solidFill>
                  <a:srgbClr val="000000"/>
                </a:solidFill>
                <a:latin typeface="Nirmala UI"/>
              </a:rPr>
              <a:t>Your Lab 5 index inventory and the explain() numbers you recorded before and after each index.</a:t>
            </a:r>
          </a:p>
        </p:txBody>
      </p:sp>
      <p:sp>
        <p:nvSpPr>
          <p:cNvPr id="30" name="Rounded Rectangle 2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Fast queries on one server come first — Module 7 keeps them available and spreads them across many.</a:t>
            </a:r>
          </a:p>
        </p:txBody>
      </p:sp>
      <p:sp>
        <p:nvSpPr>
          <p:cNvPr id="32" name="Rectangle 3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