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The Aggregation Framework.</a:t>
            </a:r>
          </a:p>
          <a:p/>
          <a:p>
            <a:r>
              <a:t>The slide says: Pipelines transform raw MongoDB documents into summaries, calculations,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Learning Objectives.</a:t>
            </a:r>
          </a:p>
          <a:p/>
          <a:p>
            <a:r>
              <a:t>The slide title is: Module Learning Objectives.</a:t>
            </a:r>
          </a:p>
          <a:p/>
          <a:p>
            <a:r>
              <a:t>The slide says: By the end of this module you will be able to:.</a:t>
            </a:r>
          </a:p>
          <a:p/>
          <a:p>
            <a:r>
              <a:t>Bullet 1 on the slide: Construct pipelines one stage at a time.</a:t>
            </a:r>
          </a:p>
          <a:p/>
          <a:p>
            <a:r>
              <a:t>Bullet 2 on the slide: Understand how stage order changes results.</a:t>
            </a:r>
          </a:p>
          <a:p/>
          <a:p>
            <a:r>
              <a:t>Bullet 3 on the slide: Group and summarize documents.</a:t>
            </a:r>
          </a:p>
          <a:p/>
          <a:p>
            <a:r>
              <a:t>Bullet 4 on the slide: Create calculated fields.</a:t>
            </a:r>
          </a:p>
          <a:p/>
          <a:p>
            <a:r>
              <a:t>Bullet 5 on the slide: Analyze embedded arrays.</a:t>
            </a:r>
          </a:p>
          <a:p/>
          <a:p>
            <a:r>
              <a:t>Bullet 6 on the slide: Combine related collections.</a:t>
            </a:r>
          </a:p>
          <a:p/>
          <a:p>
            <a:r>
              <a:t>Bullet 7 on the slide: Produce multiple metrics from one input set.</a:t>
            </a:r>
          </a:p>
          <a:p/>
          <a:p>
            <a:r>
              <a:t>Bullet 8 on the slide: Improve pipeline clarity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MongoDB Aggregation Framework processes documents through a sequence of stages called 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aggregation pipeline is an array of stage documents: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Aggregation Pipeline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output from one stage becomes the input to the next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regular query is appropriate for straightforward retrieval: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Aggregation Versus Regular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Filter by exact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Filter using comparison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Combine multiple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Filter by date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possible, place `$match` near the start of the pipeline: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`$group` combines documents using a grouping key and calculates aggregated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Possible result: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Calculate average price by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Calculate several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`_id: null` when the entire input should form one group: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unique combination of `status` and `customerId` creates a separate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Accumulator operators calculate values across documents in a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Collect product names by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Collect unique customer IDs by order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find the most expensive product in each category: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Select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changes only the pipeline result. It does not rename fields in stored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Calculate inventory value: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Build a full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Round a calculated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Create a conditional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Sort products by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sorts by: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`$limit` restricts the number of documents passed to the next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simple pagination: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wants a category-level inventory report showing: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#### Stage 1: `$match`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#### Stage 3: `$project`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#### Stage 5: `$limit`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number and value of orders in each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Dates can be grouped by month using `$dateTrunc`.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selected timezone affects how timestamps near month boundaries are classified.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order contains an `items` array: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order containing two items becomes two pipeline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the top five products by units sold.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flow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products with: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report contains product IDs but not product names. To obtain names from the `products` collection, use `$lookup`.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Add product information to the review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`$unwind`: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the highest-spending customers and include their names and email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`$count` counts the documents reaching that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Product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 contains three report sections in one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Aggregation normally returns results without changing the source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creates or refreshes documents in `customer_sales_summary`.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1: Start with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2: Add array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3: Add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4: Shape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each new stage before adding the next one. This makes incorrect filters, field paths and group expressions easier to locate.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`$match` as early as logically possible to reduce input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Removing unnecessary large fields early can reduce intermediate document size. However, MongoDB may already optimize straightforward field dependencies, so avoid adding stages that do not improve...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pipeline beginning with: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document with 100 array elements produces 100 intermediate documents after `$unwind`.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Inspect execution behavior: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report of the top-selling product categories for completed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`$match` filters stored order documents: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completing this module, learners should be able to: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5.1 — Build a Pipeline One Stage at a Time.</a:t>
            </a:r>
          </a:p>
          <a:p/>
          <a:p>
            <a:r>
              <a:t>The slide title is: Demo 5.1 — Build a Pipeline One Stage at a Time.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instructor mongosh.</a:t>
            </a:r>
          </a:p>
          <a:p/>
          <a:p>
            <a:r>
              <a:t>Bullet 2 on the slide: Start with paid orders.</a:t>
            </a:r>
          </a:p>
          <a:p/>
          <a:p>
            <a:r>
              <a:t>Bullet 3 on the slide: Add $group, then $sort, then $project.</a:t>
            </a:r>
          </a:p>
          <a:p/>
          <a:p>
            <a:r>
              <a:t>Bullet 4 on the slide: Inspect after every stage.</a:t>
            </a:r>
          </a:p>
          <a:p/>
          <a:p>
            <a:r>
              <a:t>The figure on this slide is titled: Match, group, sort,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5.1 — commands.</a:t>
            </a:r>
          </a:p>
          <a:p/>
          <a:p>
            <a:r>
              <a:t>The slide says: Then append:.</a:t>
            </a:r>
          </a:p>
          <a:p/>
          <a:p>
            <a:r>
              <a:t>The slide says: Finish with a $project that renames _id to fulfillmentStatus.</a:t>
            </a:r>
          </a:p>
          <a:p/>
          <a:p>
            <a:r>
              <a:t>The code on the slide reads: db.orders.aggregate([   { $match: { paymentStatus: "PAID" } } ]).</a:t>
            </a:r>
          </a:p>
          <a:p/>
          <a:p>
            <a:r>
              <a:t>The code on the slide reads: { $group: {     _id: "$fulfillmentStatus",     orderCount: { $sum: 1 },     revenue: { $sum: "$total" } } } { $sort: { revenue: -1 }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5.1 — Arrange Pipeline Stages.</a:t>
            </a:r>
          </a:p>
          <a:p/>
          <a:p>
            <a:r>
              <a:t>The slide title is: Exercise 5.1 — Arrange Pipeline Stages.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5.1](../slide-exercises/module-05/exercise-5.1-arrange-pipeline-stages.md).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10 minutes · pairs.</a:t>
            </a:r>
          </a:p>
          <a:p/>
          <a:p>
            <a:r>
              <a:t>Bullet 2 on the slide: Top five products by line revenue.</a:t>
            </a:r>
          </a:p>
          <a:p/>
          <a:p>
            <a:r>
              <a:t>Bullet 3 on the slide: Six stages, one correct teaching order.</a:t>
            </a:r>
          </a:p>
          <a:p/>
          <a:p>
            <a:r>
              <a:t>The figure on this slide is titled: Match unwind set group sort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5.1 — Arrange Pipeline Stages. We have about 10 min for this lab.</a:t>
            </a:r>
          </a:p>
          <a:p/>
          <a:p>
            <a:r>
              <a:t>Put aggregation stages in the order required for a correct top-five-product report.</a:t>
            </a:r>
          </a:p>
          <a:p/>
          <a:p>
            <a:r>
              <a:t>The full lab guide is in slide-exercises/module-05/exercise-5.1-arrange-pipeline-stages.md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Propose an order.</a:t>
            </a:r>
          </a:p>
          <a:p/>
          <a:p>
            <a:r>
              <a:t>Step 2 — Check against the teaching pattern.</a:t>
            </a:r>
          </a:p>
          <a:p/>
          <a:p>
            <a:r>
              <a:t>Step 1 — Propose an order.</a:t>
            </a:r>
          </a:p>
          <a:p/>
          <a:p>
            <a:r>
              <a:t>Step 2 — Check against the teaching pattern.</a:t>
            </a:r>
          </a:p>
          <a:p/>
          <a:p>
            <a:r>
              <a:t>Step 1 — Propose an order.</a:t>
            </a:r>
          </a:p>
          <a:p/>
          <a:p>
            <a:r>
              <a:t>Step 2 — Check against the teaching pattern.</a:t>
            </a:r>
          </a:p>
          <a:p/>
          <a:p>
            <a:r>
              <a:t>Step 1 — Propose an order.</a:t>
            </a:r>
          </a:p>
          <a:p/>
          <a:p>
            <a:r>
              <a:t>Step 2 — Check the pattern.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5.1 — Steps 1–2.</a:t>
            </a:r>
          </a:p>
          <a:p/>
          <a:p>
            <a:r>
              <a:t>The slide says: Lab guide: [Exercise 5.1](../slide-exercises/module-05/exercise-5.1-arrange-pipeline-stages.md).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the six stages in the sequence you would run. Next to each stage, write one sentence on what the documents look like afterwards.</a:t>
            </a:r>
          </a:p>
          <a:p/>
          <a:p>
            <a:r>
              <a:t>Bullet 2 on the slide: Expected: A defensible sequence, not a guess. If two orders could work, note the trade-off.</a:t>
            </a:r>
          </a:p>
          <a:p/>
          <a:p>
            <a:r>
              <a:t>Bullet 3 on the slide: Do: Compare your list with the instructor’s reveal: $match → $unwind → $set → $group → $sort → $limit.</a:t>
            </a:r>
          </a:p>
          <a:p/>
          <a:p>
            <a:r>
              <a:t>Bullet 4 on the slide: Expected: You can explain why $limit cannot come before $sort, and why $unwind must come before grouping by SKU.</a:t>
            </a:r>
          </a:p>
          <a:p/>
          <a:p>
            <a:r>
              <a:t>Bullet 5 on the slide: Do: Write the six stages in the sequence you would run. Next to each stage, write one sentence on what the documents look like afterwards.</a:t>
            </a:r>
          </a:p>
          <a:p/>
          <a:p>
            <a:r>
              <a:t>Bullet 6 on the slide: Expected: A defensible sequence, not a guess. If two orders could work, note the trade-off.</a:t>
            </a:r>
          </a:p>
          <a:p/>
          <a:p>
            <a:r>
              <a:t>Bullet 7 on the slide: Do: Compare your list with the instructor’s reveal: $match → $unwind → $set → $group → $sort → $limit.</a:t>
            </a:r>
          </a:p>
          <a:p/>
          <a:p>
            <a:r>
              <a:t>Bullet 8 on the slide: Expected: You can explain why $limit cannot come before $sort, and why $unwind must come before grouping by SKU.</a:t>
            </a:r>
          </a:p>
          <a:p/>
          <a:p>
            <a:r>
              <a:t>Bullet 9 on the slide: Do: Write the six stages in the sequence you would run. Next to each stage, write one sentence on what the documents look like afterwards.</a:t>
            </a:r>
          </a:p>
          <a:p/>
          <a:p>
            <a:r>
              <a:t>Bullet 10 on the slide: Expected: A defensible sequence, not a guess. If two orders could work, note the trade-off.</a:t>
            </a:r>
          </a:p>
          <a:p/>
          <a:p>
            <a:r>
              <a:t>Bullet 11 on the slide: Do: Compare your list with the instructor’s reveal: $match → $unwind → $set → $group → $sort → $limit.</a:t>
            </a:r>
          </a:p>
          <a:p/>
          <a:p>
            <a:r>
              <a:t>Bullet 12 on the slide: Expected: You can explain why $limit cannot come before $sort, and why $unwind must come before grouping by SKU.</a:t>
            </a:r>
          </a:p>
          <a:p/>
          <a:p>
            <a:r>
              <a:t>Bullet 13 on the slide: Do: Sequence the six stages and describe the documents after each.</a:t>
            </a:r>
          </a:p>
          <a:p/>
          <a:p>
            <a:r>
              <a:t>Bullet 14 on the slide: Expected: A defensible sequence, not a guess.</a:t>
            </a:r>
          </a:p>
          <a:p/>
          <a:p>
            <a:r>
              <a:t>Bullet 15 on the slide: Do: $match → $unwind → $set → $group → $sort → $limit.</a:t>
            </a:r>
          </a:p>
          <a:p/>
          <a:p>
            <a:r>
              <a:t>Bullet 16 on the slide: Expected: You can explain why limit cannot precede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5.1 — Aggregation Dataset Verification.</a:t>
            </a:r>
          </a:p>
          <a:p/>
          <a:p>
            <a:r>
              <a:t>The slide title is: Lab 5.1 — Aggregation Dataset Verification.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5.1](../slide-exercises/module-05/lab-5.1-aggregation-dataset-verification.md).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every laptop.</a:t>
            </a:r>
          </a:p>
          <a:p/>
          <a:p>
            <a:r>
              <a:t>Bullet 2 on the slide: Count collections; inspect types.</a:t>
            </a:r>
          </a:p>
          <a:p/>
          <a:p>
            <a:r>
              <a:t>Bullet 3 on the slide: Record field paths for later labs.</a:t>
            </a:r>
          </a:p>
          <a:p/>
          <a:p>
            <a:r>
              <a:t>The figure on this slide is titled: training_store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5.1 — Steps 1–2.</a:t>
            </a:r>
          </a:p>
          <a:p/>
          <a:p>
            <a:r>
              <a:t>The slide title is: Lab 5.1 — Steps 1–2.</a:t>
            </a:r>
          </a:p>
          <a:p/>
          <a:p>
            <a:r>
              <a:t>The slide says: Lab guide: [Lab 5.1](../slide-exercises/module-05/lab-5.1-aggregation-dataset-verification.md).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Select and count.</a:t>
            </a:r>
          </a:p>
          <a:p/>
          <a:p>
            <a:r>
              <a:t>Step 2 — Inspect documents.</a:t>
            </a:r>
          </a:p>
          <a:p/>
          <a:p>
            <a:r>
              <a:t>Bullet 1 on the slide: Do: use training_store and count customers, products, orders, reviews, paid orders.</a:t>
            </a:r>
          </a:p>
          <a:p/>
          <a:p>
            <a:r>
              <a:t>Bullet 2 on the slide: Expected: 6, 12, 17, 6, and 13 paid.</a:t>
            </a:r>
          </a:p>
          <a:p/>
          <a:p>
            <a:r>
              <a:t>Bullet 3 on the slide: Do: findOne on each collection; note Decimal128, Date, and items.</a:t>
            </a:r>
          </a:p>
          <a:p/>
          <a:p>
            <a:r>
              <a:t>Bullet 4 on the slide: Expected: O6201 has no shippingFee. That gap is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5.2 — Filter and Reshape Documents.</a:t>
            </a:r>
          </a:p>
          <a:p/>
          <a:p>
            <a:r>
              <a:t>The slide title is: Demo 5.2 — Filter and Reshape Documents.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Active products: sku, name, category, price.</a:t>
            </a:r>
          </a:p>
          <a:p/>
          <a:p>
            <a:r>
              <a:t>Bullet 3 on the slide: Add a price band with $cond.</a:t>
            </a:r>
          </a:p>
          <a:p/>
          <a:p>
            <a:r>
              <a:t>The figure on this slide is titled: Project reshape.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5.3 — Add Calculated Fields.</a:t>
            </a:r>
          </a:p>
          <a:p/>
          <a:p>
            <a:r>
              <a:t>The slide title is: Demo 5.3 — Add Calculated Fields.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Subtotal + tax + shipping.</a:t>
            </a:r>
          </a:p>
          <a:p/>
          <a:p>
            <a:r>
              <a:t>Bullet 3 on the slide: $ifNull on shippingFee.</a:t>
            </a:r>
          </a:p>
          <a:p/>
          <a:p>
            <a:r>
              <a:t>Bullet 4 on the slide: HIGH_VALUE class and reporting month.</a:t>
            </a:r>
          </a:p>
          <a:p/>
          <a:p>
            <a:r>
              <a:t>The figure on this slide is titled: set versus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5.2 — Build a `$match` Stage.</a:t>
            </a:r>
          </a:p>
          <a:p/>
          <a:p>
            <a:r>
              <a:t>The slide title is: Exercise 5.2 — Build a `$match` Stage.</a:t>
            </a:r>
          </a:p>
          <a:p/>
          <a:p>
            <a:r>
              <a:t>You will also see the heading: Exercise 5.2 — Build a $match Stage.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5.2](../slide-exercises/module-05/exercise-5.2-build-a-match-stage.md).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10 minutes.</a:t>
            </a:r>
          </a:p>
          <a:p/>
          <a:p>
            <a:r>
              <a:t>Bullet 2 on the slide: Paid, high-value, categories, dates, provinces.</a:t>
            </a:r>
          </a:p>
          <a:p/>
          <a:p>
            <a:r>
              <a:t>The figure on this slide is titled: Match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5.2 — Build a $match Stage. We have about 10 min for this lab.</a:t>
            </a:r>
          </a:p>
          <a:p/>
          <a:p>
            <a:r>
              <a:t>Write $match stages for paid orders, high-value orders, active products, review dates, and customer provinces.</a:t>
            </a:r>
          </a:p>
          <a:p/>
          <a:p>
            <a:r>
              <a:t>The full lab guide is in slide-exercises/module-05/exercise-5.2-build-a-match-stage.md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Paid and high-value paid orders.</a:t>
            </a:r>
          </a:p>
          <a:p/>
          <a:p>
            <a:r>
              <a:t>Step 2 — Products, reviews, and provinces.</a:t>
            </a:r>
          </a:p>
          <a:p/>
          <a:p>
            <a:r>
              <a:t>Step 1 — Paid and high-value paid orders.</a:t>
            </a:r>
          </a:p>
          <a:p/>
          <a:p>
            <a:r>
              <a:t>Step 2 — Products, reviews, and provinces.</a:t>
            </a:r>
          </a:p>
          <a:p/>
          <a:p>
            <a:r>
              <a:t>Step 1 — Paid and high-value paid orders.</a:t>
            </a:r>
          </a:p>
          <a:p/>
          <a:p>
            <a:r>
              <a:t>Step 2 — Products, reviews, and provinces.</a:t>
            </a:r>
          </a:p>
          <a:p/>
          <a:p>
            <a:r>
              <a:t>Step 1 — Paid and high-value.</a:t>
            </a:r>
          </a:p>
          <a:p/>
          <a:p>
            <a:r>
              <a:t>Step 2 — Products, reviews, provinces.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5.2 — Steps 1–2.</a:t>
            </a:r>
          </a:p>
          <a:p/>
          <a:p>
            <a:r>
              <a:t>The slide says: Lab guide: [Exercise 5.2](../slide-exercises/module-05/exercise-5.2-build-a-match-stage.md).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db.orders.aggregate([{ $match: { paymentStatus: "PAID" } }]) db.orders.aggregate([ { $match: { paymentStatus: "PAID", total: { $gte: Decimal128("1000.00") } } } ]).</a:t>
            </a:r>
          </a:p>
          <a:p/>
          <a:p>
            <a:r>
              <a:t>Bullet 2 on the slide: Expected: First pipeline: 13 documents. Second: four high-value paid orders (O6101, O6202, O6301, O6304).</a:t>
            </a:r>
          </a:p>
          <a:p/>
          <a:p>
            <a:r>
              <a:t>Bullet 3 on the slide: Do: Run: javascript db.products.aggregate([ { $match: { active: true, category: { $in: ["LAPTOP", "ACCESSORY"] } } } ]) db.reviews.aggregate([ { $match: { createdAt: { $gte: ISODate("2026-08-01T00:00:00Z"), $lt: ISODate(".</a:t>
            </a:r>
          </a:p>
          <a:p/>
          <a:p>
            <a:r>
              <a:t>Bullet 4 on the slide: Expected: Laptops plus accessories that are active; August reviews; customers whose nested address province is Ontario or Quebec (including inactive C515).</a:t>
            </a:r>
          </a:p>
          <a:p/>
          <a:p>
            <a:r>
              <a:t>Bullet 5 on the slide: Do: Run: javascript db.orders.aggregate([{ $match: { paymentStatus: "PAID" } }]) db.orders.aggregate([ { $match: { paymentStatus: "PAID", total: { $gte: Decimal128("1000.00") } } } ]).</a:t>
            </a:r>
          </a:p>
          <a:p/>
          <a:p>
            <a:r>
              <a:t>Bullet 6 on the slide: Expected: First pipeline: 13 documents. Second: four high-value paid orders (O6101, O6202, O6301, O6304).</a:t>
            </a:r>
          </a:p>
          <a:p/>
          <a:p>
            <a:r>
              <a:t>Bullet 7 on the slide: Do: Run: javascript db.products.aggregate([ { $match: { active: true, category: { $in: ["LAPTOP", "ACCESSORY"] } } } ]) db.reviews.aggregate([ { $match: { createdAt: { $gte: ISODate("2026-08-01T00:00:00Z"), $lt: ISODate(".</a:t>
            </a:r>
          </a:p>
          <a:p/>
          <a:p>
            <a:r>
              <a:t>Bullet 8 on the slide: Expected: Laptops plus accessories that are active; August reviews; customers whose nested address province is Ontario or Quebec (including inactive C515).</a:t>
            </a:r>
          </a:p>
          <a:p/>
          <a:p>
            <a:r>
              <a:t>Bullet 9 on the slide: Do: Run: javascript db.orders.aggregate([{ $match: { paymentStatus: "PAID" } }]) db.orders.aggregate([ { $match: { paymentStatus: "PAID", total: { $gte: Decimal128("1000.00") } } } ]).</a:t>
            </a:r>
          </a:p>
          <a:p/>
          <a:p>
            <a:r>
              <a:t>Bullet 10 on the slide: Expected: First pipeline: 13 documents. Second: four high-value paid orders (O6101, O6202, O6301, O6304).</a:t>
            </a:r>
          </a:p>
          <a:p/>
          <a:p>
            <a:r>
              <a:t>Bullet 11 on the slide: Do: Run: javascript db.products.aggregate([ { $match: { active: true, category: { $in: ["LAPTOP", "ACCESSORY"] } } } ]) db.reviews.aggregate([ { $match: { createdAt: { $gte: ISODate("2026-08-01T00:00:00Z"), $lt: ISODate(".</a:t>
            </a:r>
          </a:p>
          <a:p/>
          <a:p>
            <a:r>
              <a:t>Bullet 12 on the slide: Expected: Laptops plus accessories that are active; August reviews; customers whose nested address province is Ontario or Quebec (including inactive C515).</a:t>
            </a:r>
          </a:p>
          <a:p/>
          <a:p>
            <a:r>
              <a:t>Bullet 13 on the slide: Do: paymentStatus: PAID then add total $gte Decimal128 1000.00.</a:t>
            </a:r>
          </a:p>
          <a:p/>
          <a:p>
            <a:r>
              <a:t>Bullet 14 on the slide: Expected: 13 paid; four high-value.</a:t>
            </a:r>
          </a:p>
          <a:p/>
          <a:p>
            <a:r>
              <a:t>Bullet 15 on the slide: Do: Active LAPTOP/ACCESSORY; August reviews; Ontario/Quebec addresses.</a:t>
            </a:r>
          </a:p>
          <a:p/>
          <a:p>
            <a:r>
              <a:t>Bullet 16 on the slide: Expected: Dotted path addresses.province.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5.3 — Reshape Documents with `$project`.</a:t>
            </a:r>
          </a:p>
          <a:p/>
          <a:p>
            <a:r>
              <a:t>The slide title is: Exercise 5.3 — Reshape Documents with `$project`.</a:t>
            </a:r>
          </a:p>
          <a:p/>
          <a:p>
            <a:r>
              <a:t>You will also see the heading: Exercise 5.3 — Reshape Documents with $project.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5.3](../slide-exercises/module-05/exercise-5.3-reshape-documents-with-project.md).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Rename fields; then nest product and pricing.</a:t>
            </a:r>
          </a:p>
          <a:p/>
          <a:p>
            <a:r>
              <a:t>The figure on this slide is titled: Project reshape.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5.3 — Reshape Documents with $project. We have about 15 min for this lab.</a:t>
            </a:r>
          </a:p>
          <a:p/>
          <a:p>
            <a:r>
              <a:t>Rename product fields and build a nested report document without _id.</a:t>
            </a:r>
          </a:p>
          <a:p/>
          <a:p>
            <a:r>
              <a:t>The full lab guide is in slide-exercises/module-05/exercise-5.3-reshape-documents-with-project.md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Flat renamed projection.</a:t>
            </a:r>
          </a:p>
          <a:p/>
          <a:p>
            <a:r>
              <a:t>Step 2 — Nested output.</a:t>
            </a:r>
          </a:p>
          <a:p/>
          <a:p>
            <a:r>
              <a:t>Step 1 — Flat renamed projection.</a:t>
            </a:r>
          </a:p>
          <a:p/>
          <a:p>
            <a:r>
              <a:t>Step 2 — Nested output.</a:t>
            </a:r>
          </a:p>
          <a:p/>
          <a:p>
            <a:r>
              <a:t>Step 1 — Flat renamed projection.</a:t>
            </a:r>
          </a:p>
          <a:p/>
          <a:p>
            <a:r>
              <a:t>Step 2 — Nested output.</a:t>
            </a:r>
          </a:p>
          <a:p/>
          <a:p>
            <a:r>
              <a:t>Step 1 — Flat renamed projection.</a:t>
            </a:r>
          </a:p>
          <a:p/>
          <a:p>
            <a:r>
              <a:t>Step 2 — Nested output.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5.3 — Steps 1–2.</a:t>
            </a:r>
          </a:p>
          <a:p/>
          <a:p>
            <a:r>
              <a:t>The slide says: Lab guide: [Exercise 5.3](../slide-exercises/module-05/exercise-5.3-reshape-documents-with-project.md).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db.products.aggregate([ { $project: { _id: 0, productCode: "$sku", productName: "$name", category: 1, sellingPrice: "$price" } } ]).</a:t>
            </a:r>
          </a:p>
          <a:p/>
          <a:p>
            <a:r>
              <a:t>Bullet 2 on the slide: Expected: Twelve documents. Fields are productCode, productName, category, sellingPrice. No _id.</a:t>
            </a:r>
          </a:p>
          <a:p/>
          <a:p>
            <a:r>
              <a:t>Bullet 3 on the slide: Do: Run: javascript db.products.aggregate([ { $match: { sku: "L100" } }, { $project: { _id: 0, product: { code: "$sku", name: "$name" }, pricing: { amount: "$price" } } } ]).</a:t>
            </a:r>
          </a:p>
          <a:p/>
          <a:p>
            <a:r>
              <a:t>Bullet 4 on the slide: Expected: One document: product.code is L100, pricing.amount is Decimal128 1299.99.</a:t>
            </a:r>
          </a:p>
          <a:p/>
          <a:p>
            <a:r>
              <a:t>Bullet 5 on the slide: Do: Run: javascript db.products.aggregate([ { $project: { _id: 0, productCode: "$sku", productName: "$name", category: 1, sellingPrice: "$price" } } ]).</a:t>
            </a:r>
          </a:p>
          <a:p/>
          <a:p>
            <a:r>
              <a:t>Bullet 6 on the slide: Expected: Twelve documents. Fields are productCode, productName, category, sellingPrice. No _id.</a:t>
            </a:r>
          </a:p>
          <a:p/>
          <a:p>
            <a:r>
              <a:t>Bullet 7 on the slide: Do: Run: javascript db.products.aggregate([ { $match: { sku: "L100" } }, { $project: { _id: 0, product: { code: "$sku", name: "$name" }, pricing: { amount: "$price" } } } ]).</a:t>
            </a:r>
          </a:p>
          <a:p/>
          <a:p>
            <a:r>
              <a:t>Bullet 8 on the slide: Expected: One document: product.code is L100, pricing.amount is Decimal128 1299.99.</a:t>
            </a:r>
          </a:p>
          <a:p/>
          <a:p>
            <a:r>
              <a:t>Bullet 9 on the slide: Do: Run: javascript db.products.aggregate([ { $project: { _id: 0, productCode: "$sku", productName: "$name", category: 1, sellingPrice: "$price" } } ]).</a:t>
            </a:r>
          </a:p>
          <a:p/>
          <a:p>
            <a:r>
              <a:t>Bullet 10 on the slide: Expected: Twelve documents. Fields are productCode, productName, category, sellingPrice. No _id.</a:t>
            </a:r>
          </a:p>
          <a:p/>
          <a:p>
            <a:r>
              <a:t>Bullet 11 on the slide: Do: Run: javascript db.products.aggregate([ { $match: { sku: "L100" } }, { $project: { _id: 0, product: { code: "$sku", name: "$name" }, pricing: { amount: "$price" } } } ]).</a:t>
            </a:r>
          </a:p>
          <a:p/>
          <a:p>
            <a:r>
              <a:t>Bullet 12 on the slide: Expected: One document: product.code is L100, pricing.amount is Decimal128 1299.99.</a:t>
            </a:r>
          </a:p>
          <a:p/>
          <a:p>
            <a:r>
              <a:t>Bullet 13 on the slide: Do: productCode, productName, category, sellingPrice; _id: 0.</a:t>
            </a:r>
          </a:p>
          <a:p/>
          <a:p>
            <a:r>
              <a:t>Bullet 14 on the slide: Expected: Twelve documents, no _id.</a:t>
            </a:r>
          </a:p>
          <a:p/>
          <a:p>
            <a:r>
              <a:t>Bullet 15 on the slide: Do: Match L100; project product and pricing objects.</a:t>
            </a:r>
          </a:p>
          <a:p/>
          <a:p>
            <a:r>
              <a:t>Bullet 16 on the slide: Expected: product.code is L100.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5.4 — Create Calculated Fields.</a:t>
            </a:r>
          </a:p>
          <a:p/>
          <a:p>
            <a:r>
              <a:t>The slide title is: Exercise 5.4 — Create Calculated Fields.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5.4](../slide-exercises/module-05/exercise-5.4-create-calculated-fields.md).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Line revenue, shipping-safe total, name, class, month.</a:t>
            </a:r>
          </a:p>
          <a:p/>
          <a:p>
            <a:r>
              <a:t>The figure on this slide is titled: Expression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5.4 — Create Calculated Fields. We have about 15 min for this lab.</a:t>
            </a:r>
          </a:p>
          <a:p/>
          <a:p>
            <a:r>
              <a:t>Add line revenue, shipping-safe totals, full names, value class, and reporting month.</a:t>
            </a:r>
          </a:p>
          <a:p/>
          <a:p>
            <a:r>
              <a:t>The full lab guide is in slide-exercises/module-05/exercise-5.4-create-calculated-fields.md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Line revenue and total with shipping.</a:t>
            </a:r>
          </a:p>
          <a:p/>
          <a:p>
            <a:r>
              <a:t>Step 2 — Name, class, and month.</a:t>
            </a:r>
          </a:p>
          <a:p/>
          <a:p>
            <a:r>
              <a:t>Step 1 — Line revenue and total with shipping.</a:t>
            </a:r>
          </a:p>
          <a:p/>
          <a:p>
            <a:r>
              <a:t>Step 2 — Name, class, and month.</a:t>
            </a:r>
          </a:p>
          <a:p/>
          <a:p>
            <a:r>
              <a:t>Step 1 — Line revenue and total with shipping.</a:t>
            </a:r>
          </a:p>
          <a:p/>
          <a:p>
            <a:r>
              <a:t>Step 2 — Name, class, and month.</a:t>
            </a:r>
          </a:p>
          <a:p/>
          <a:p>
            <a:r>
              <a:t>Step 1 — Line revenue and shipping.</a:t>
            </a:r>
          </a:p>
          <a:p/>
          <a:p>
            <a:r>
              <a:t>Step 2 — Name, class, month.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5.4 — Steps 1–2.</a:t>
            </a:r>
          </a:p>
          <a:p/>
          <a:p>
            <a:r>
              <a:t>The slide says: Lab guide: [Exercise 5.4](../slide-exercises/module-05/exercise-5.4-create-calculated-fields.md).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 { $match: { orderNumber: "O6301" } }, { $unwind: "$items" }, { $set: { lineRevenue: { $multiply: ["$items.quantity", "$items.unitPrice"] }, shippingFeeSafe: { $ifNull: ["$shipping.</a:t>
            </a:r>
          </a:p>
          <a:p/>
          <a:p>
            <a:r>
              <a:t>Bullet 2 on the slide: Expected: Two item documents for O6301. Line revenues 1299.99 and 24.99. totalWithShipping matches stored total 1512.23.</a:t>
            </a:r>
          </a:p>
          <a:p/>
          <a:p>
            <a:r>
              <a:t>Bullet 3 on the slide: Do: Run: javascript db.customers.aggregate([ { $project: { _id: 0, customerNumber: 1, customerName: { $concat: ["$name.first", " ", "$name.last"] } } } ]) db.orders.aggregate([ { $match: { orderNumber: { $in: ["O6201", "O.</a:t>
            </a:r>
          </a:p>
          <a:p/>
          <a:p>
            <a:r>
              <a:t>Bullet 4 on the slide: Expected: Full names such as Aisha Khan. O6201 is STANDARD in 2026-08; O6202 is HIGH_VALUE in 2026-08.</a:t>
            </a:r>
          </a:p>
          <a:p/>
          <a:p>
            <a:r>
              <a:t>Bullet 5 on the slide: Do: Run: javascript db.orders.aggregate([ { $match: { orderNumber: "O6301" } }, { $unwind: "$items" }, { $set: { lineRevenue: { $multiply: ["$items.quantity", "$items.unitPrice"] }, shippingFeeSafe: { $ifNull: ["$shipping.</a:t>
            </a:r>
          </a:p>
          <a:p/>
          <a:p>
            <a:r>
              <a:t>Bullet 6 on the slide: Expected: Two item documents for O6301. Line revenues 1299.99 and 24.99. totalWithShipping matches stored total 1512.23.</a:t>
            </a:r>
          </a:p>
          <a:p/>
          <a:p>
            <a:r>
              <a:t>Bullet 7 on the slide: Do: Run: javascript db.customers.aggregate([ { $project: { _id: 0, customerNumber: 1, customerName: { $concat: ["$name.first", " ", "$name.last"] } } } ]) db.orders.aggregate([ { $match: { orderNumber: { $in: ["O6201", "O.</a:t>
            </a:r>
          </a:p>
          <a:p/>
          <a:p>
            <a:r>
              <a:t>Bullet 8 on the slide: Expected: Full names such as Aisha Khan. O6201 is STANDARD in 2026-08; O6202 is HIGH_VALUE in 2026-08.</a:t>
            </a:r>
          </a:p>
          <a:p/>
          <a:p>
            <a:r>
              <a:t>Bullet 9 on the slide: Do: Run: javascript db.orders.aggregate([ { $match: { orderNumber: "O6301" } }, { $unwind: "$items" }, { $set: { lineRevenue: { $multiply: ["$items.quantity", "$items.unitPrice"] }, shippingFeeSafe: { $ifNull: ["$shipping.</a:t>
            </a:r>
          </a:p>
          <a:p/>
          <a:p>
            <a:r>
              <a:t>Bullet 10 on the slide: Expected: Two item documents for O6301. Line revenues 1299.99 and 24.99. totalWithShipping matches stored total 1512.23.</a:t>
            </a:r>
          </a:p>
          <a:p/>
          <a:p>
            <a:r>
              <a:t>Bullet 11 on the slide: Do: Run: javascript db.customers.aggregate([ { $project: { _id: 0, customerNumber: 1, customerName: { $concat: ["$name.first", " ", "$name.last"] } } } ]) db.orders.aggregate([ { $match: { orderNumber: { $in: ["O6201", "O.</a:t>
            </a:r>
          </a:p>
          <a:p/>
          <a:p>
            <a:r>
              <a:t>Bullet 12 on the slide: Expected: Full names such as Aisha Khan. O6201 is STANDARD in 2026-08; O6202 is HIGH_VALUE in 2026-08.</a:t>
            </a:r>
          </a:p>
          <a:p/>
          <a:p>
            <a:r>
              <a:t>Bullet 13 on the slide: Do: Unwind O6301 items; multiply; $ifNull shippingFee.</a:t>
            </a:r>
          </a:p>
          <a:p/>
          <a:p>
            <a:r>
              <a:t>Bullet 14 on the slide: Expected: Line revenues 1299.99 and 24.99.</a:t>
            </a:r>
          </a:p>
          <a:p/>
          <a:p>
            <a:r>
              <a:t>Bullet 15 on the slide: Do: $concat names; $cond HIGH_VALUE; $dateToString month.</a:t>
            </a:r>
          </a:p>
          <a:p/>
          <a:p>
            <a:r>
              <a:t>Bullet 16 on the slide: Expected: O6202 is HIGH_VALUE in 2026-08.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5.4 — Group and Summarize Product Data.</a:t>
            </a:r>
          </a:p>
          <a:p/>
          <a:p>
            <a:r>
              <a:t>The slide title is: Demo 5.4 — Group and Summarize Product Data.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Count, average, min, max by category.</a:t>
            </a:r>
          </a:p>
          <a:p/>
          <a:p>
            <a:r>
              <a:t>Bullet 3 on the slide: Sort by average price.</a:t>
            </a:r>
          </a:p>
          <a:p/>
          <a:p>
            <a:r>
              <a:t>The figure on this slide is titled: Product summary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5.5 — Group and Calculate Totals.</a:t>
            </a:r>
          </a:p>
          <a:p/>
          <a:p>
            <a:r>
              <a:t>The slide title is: Exercise 5.5 — Group and Calculate Totals.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5.5](../slide-exercises/module-05/exercise-5.5-group-and-calculate-totals.md).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Active products by category.</a:t>
            </a:r>
          </a:p>
          <a:p/>
          <a:p>
            <a:r>
              <a:t>The figure on this slide is titled: Category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5.5 — Group and Calculate Totals. We have about 15 min for this lab.</a:t>
            </a:r>
          </a:p>
          <a:p/>
          <a:p>
            <a:r>
              <a:t>Group active products by category and compute count, average, min, and max price.</a:t>
            </a:r>
          </a:p>
          <a:p/>
          <a:p>
            <a:r>
              <a:t>The full lab guide is in slide-exercises/module-05/exercise-5.5-group-and-calculate-totals.md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Group active products.</a:t>
            </a:r>
          </a:p>
          <a:p/>
          <a:p>
            <a:r>
              <a:t>Step 2 — Sort by average price.</a:t>
            </a:r>
          </a:p>
          <a:p/>
          <a:p>
            <a:r>
              <a:t>Step 1 — Group active products.</a:t>
            </a:r>
          </a:p>
          <a:p/>
          <a:p>
            <a:r>
              <a:t>Step 2 — Sort by average price.</a:t>
            </a:r>
          </a:p>
          <a:p/>
          <a:p>
            <a:r>
              <a:t>Step 1 — Group active products.</a:t>
            </a:r>
          </a:p>
          <a:p/>
          <a:p>
            <a:r>
              <a:t>Step 2 — Sort by average price.</a:t>
            </a:r>
          </a:p>
          <a:p/>
          <a:p>
            <a:r>
              <a:t>Step 1 — Group active products.</a:t>
            </a:r>
          </a:p>
          <a:p/>
          <a:p>
            <a:r>
              <a:t>Step 2 — Sort by average.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5.5 — Steps 1–2.</a:t>
            </a:r>
          </a:p>
          <a:p/>
          <a:p>
            <a:r>
              <a:t>The slide says: Lab guide: [Exercise 5.5](../slide-exercises/module-05/exercise-5.5-group-and-calculate-totals.md).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db.products.aggregate([ { $match: { active: true } }, { $group: { _id: "$category", productCount: { $sum: 1 }, averagePrice: { $avg: "$price" }, minimumPrice: { $min: "$price" }, maximumPrice: { $max:.</a:t>
            </a:r>
          </a:p>
          <a:p/>
          <a:p>
            <a:r>
              <a:t>Bullet 2 on the slide: Expected: Four groups. LAPTOP count 2 (L190 is inactive). ACCESSORY count 4. SHOE 3. BOOK 2.</a:t>
            </a:r>
          </a:p>
          <a:p/>
          <a:p>
            <a:r>
              <a:t>Bullet 3 on the slide: Do: Add { $sort: { averagePrice: -1 } } as the last stage and rerun.</a:t>
            </a:r>
          </a:p>
          <a:p/>
          <a:p>
            <a:r>
              <a:t>Bullet 4 on the slide: Expected: LAPTOP first (highest average), then ACCESSORY, SHOE, BOOK.</a:t>
            </a:r>
          </a:p>
          <a:p/>
          <a:p>
            <a:r>
              <a:t>Bullet 5 on the slide: Do: Run: javascript db.products.aggregate([ { $match: { active: true } }, { $group: { _id: "$category", productCount: { $sum: 1 }, averagePrice: { $avg: "$price" }, minimumPrice: { $min: "$price" }, maximumPrice: { $max:.</a:t>
            </a:r>
          </a:p>
          <a:p/>
          <a:p>
            <a:r>
              <a:t>Bullet 6 on the slide: Expected: Four groups. LAPTOP count 2 (L190 is inactive). ACCESSORY count 4. SHOE 3. BOOK 2.</a:t>
            </a:r>
          </a:p>
          <a:p/>
          <a:p>
            <a:r>
              <a:t>Bullet 7 on the slide: Do: Add { $sort: { averagePrice: -1 } } as the last stage and rerun.</a:t>
            </a:r>
          </a:p>
          <a:p/>
          <a:p>
            <a:r>
              <a:t>Bullet 8 on the slide: Expected: LAPTOP first (highest average), then ACCESSORY, SHOE, BOOK.</a:t>
            </a:r>
          </a:p>
          <a:p/>
          <a:p>
            <a:r>
              <a:t>Bullet 9 on the slide: Do: Run: javascript db.products.aggregate([ { $match: { active: true } }, { $group: { _id: "$category", productCount: { $sum: 1 }, averagePrice: { $avg: "$price" }, minimumPrice: { $min: "$price" }, maximumPrice: { $max:.</a:t>
            </a:r>
          </a:p>
          <a:p/>
          <a:p>
            <a:r>
              <a:t>Bullet 10 on the slide: Expected: Four groups. LAPTOP count 2 (L190 is inactive). ACCESSORY count 4. SHOE 3. BOOK 2.</a:t>
            </a:r>
          </a:p>
          <a:p/>
          <a:p>
            <a:r>
              <a:t>Bullet 11 on the slide: Do: Add { $sort: { averagePrice: -1 } } as the last stage and rerun.</a:t>
            </a:r>
          </a:p>
          <a:p/>
          <a:p>
            <a:r>
              <a:t>Bullet 12 on the slide: Expected: LAPTOP first (highest average), then ACCESSORY, SHOE, BOOK.</a:t>
            </a:r>
          </a:p>
          <a:p/>
          <a:p>
            <a:r>
              <a:t>Bullet 13 on the slide: Do: $match active then $group by category with count/avg/min/max.</a:t>
            </a:r>
          </a:p>
          <a:p/>
          <a:p>
            <a:r>
              <a:t>Bullet 14 on the slide: Expected: Four groups; LAPTOP count 2.</a:t>
            </a:r>
          </a:p>
          <a:p/>
          <a:p>
            <a:r>
              <a:t>Bullet 15 on the slide: Do: $sort: { averagePrice: -1 }.</a:t>
            </a:r>
          </a:p>
          <a:p/>
          <a:p>
            <a:r>
              <a:t>Bullet 16 on the slide: Expected: LAPTOP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5.6 — Group by Multiple Dimensions.</a:t>
            </a:r>
          </a:p>
          <a:p/>
          <a:p>
            <a:r>
              <a:t>The slide title is: Exercise 5.6 — Group by Multiple Dimensions.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5.6](../slide-exercises/module-05/exercise-5.6-group-by-multiple-dimensions.md).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Payment × fulfillment.</a:t>
            </a:r>
          </a:p>
          <a:p/>
          <a:p>
            <a:r>
              <a:t>The figure on this slide is titled: Compound group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5.6 — Group by Multiple Dimensions. We have about 15 min for this lab.</a:t>
            </a:r>
          </a:p>
          <a:p/>
          <a:p>
            <a:r>
              <a:t>Group orders by payment status and fulfillment status with count, revenue, and average.</a:t>
            </a:r>
          </a:p>
          <a:p/>
          <a:p>
            <a:r>
              <a:t>The full lab guide is in slide-exercises/module-05/exercise-5.6-group-by-multiple-dimensions.md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Compound _id.</a:t>
            </a:r>
          </a:p>
          <a:p/>
          <a:p>
            <a:r>
              <a:t>Step 2 — Read the grouping key.</a:t>
            </a:r>
          </a:p>
          <a:p/>
          <a:p>
            <a:r>
              <a:t>Step 1 — Compound _id.</a:t>
            </a:r>
          </a:p>
          <a:p/>
          <a:p>
            <a:r>
              <a:t>Step 2 — Read the grouping key.</a:t>
            </a:r>
          </a:p>
          <a:p/>
          <a:p>
            <a:r>
              <a:t>Step 1 — Compound _id.</a:t>
            </a:r>
          </a:p>
          <a:p/>
          <a:p>
            <a:r>
              <a:t>Step 2 — Read the grouping key.</a:t>
            </a:r>
          </a:p>
          <a:p/>
          <a:p>
            <a:r>
              <a:t>Step 1 — Compound _id.</a:t>
            </a:r>
          </a:p>
          <a:p/>
          <a:p>
            <a:r>
              <a:t>Step 2 — Read the key.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5.6 — Steps 1–2.</a:t>
            </a:r>
          </a:p>
          <a:p/>
          <a:p>
            <a:r>
              <a:t>The slide says: Lab guide: [Exercise 5.6](../slide-exercises/module-05/exercise-5.6-group-by-multiple-dimensions.md).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 { $group: { _id: { paymentStatus: "$paymentStatus", fulfillmentStatus: "$fulfillmentStatus" }, orderCount: { $sum: 1 }, revenue: { $sum: "$total" }, averageOrderValue: { $avg: "$t.</a:t>
            </a:r>
          </a:p>
          <a:p/>
          <a:p>
            <a:r>
              <a:t>Bullet 2 on the slide: Expected: Several combination documents. PAID + SHIPPED is a high-revenue group. PENDING + NEW includes O5001 and O6499.</a:t>
            </a:r>
          </a:p>
          <a:p/>
          <a:p>
            <a:r>
              <a:t>Bullet 3 on the slide: Do: Pick one output document and rewrite _id in words: “this is all orders that are X and Y.”.</a:t>
            </a:r>
          </a:p>
          <a:p/>
          <a:p>
            <a:r>
              <a:t>Bullet 4 on the slide: Expected: You do not treat _id as the original order ObjectId. It is the grouping key of the summary document.</a:t>
            </a:r>
          </a:p>
          <a:p/>
          <a:p>
            <a:r>
              <a:t>Bullet 5 on the slide: Do: Run: javascript db.orders.aggregate([ { $group: { _id: { paymentStatus: "$paymentStatus", fulfillmentStatus: "$fulfillmentStatus" }, orderCount: { $sum: 1 }, revenue: { $sum: "$total" }, averageOrderValue: { $avg: "$t.</a:t>
            </a:r>
          </a:p>
          <a:p/>
          <a:p>
            <a:r>
              <a:t>Bullet 6 on the slide: Expected: Several combination documents. PAID + SHIPPED is a high-revenue group. PENDING + NEW includes O5001 and O6499.</a:t>
            </a:r>
          </a:p>
          <a:p/>
          <a:p>
            <a:r>
              <a:t>Bullet 7 on the slide: Do: Pick one output document and rewrite _id in words: “this is all orders that are X and Y.”.</a:t>
            </a:r>
          </a:p>
          <a:p/>
          <a:p>
            <a:r>
              <a:t>Bullet 8 on the slide: Expected: You do not treat _id as the original order ObjectId. It is the grouping key of the summary document.</a:t>
            </a:r>
          </a:p>
          <a:p/>
          <a:p>
            <a:r>
              <a:t>Bullet 9 on the slide: Do: Run: javascript db.orders.aggregate([ { $group: { _id: { paymentStatus: "$paymentStatus", fulfillmentStatus: "$fulfillmentStatus" }, orderCount: { $sum: 1 }, revenue: { $sum: "$total" }, averageOrderValue: { $avg: "$t.</a:t>
            </a:r>
          </a:p>
          <a:p/>
          <a:p>
            <a:r>
              <a:t>Bullet 10 on the slide: Expected: Several combination documents. PAID + SHIPPED is a high-revenue group. PENDING + NEW includes O5001 and O6499.</a:t>
            </a:r>
          </a:p>
          <a:p/>
          <a:p>
            <a:r>
              <a:t>Bullet 11 on the slide: Do: Pick one output document and rewrite _id in words: “this is all orders that are X and Y.”.</a:t>
            </a:r>
          </a:p>
          <a:p/>
          <a:p>
            <a:r>
              <a:t>Bullet 12 on the slide: Expected: You do not treat _id as the original order ObjectId. It is the grouping key of the summary document.</a:t>
            </a:r>
          </a:p>
          <a:p/>
          <a:p>
            <a:r>
              <a:t>Bullet 13 on the slide: Do: Group by paymentStatus and fulfillmentStatus; sum count and revenue.</a:t>
            </a:r>
          </a:p>
          <a:p/>
          <a:p>
            <a:r>
              <a:t>Bullet 14 on the slide: Expected: Several combination documents.</a:t>
            </a:r>
          </a:p>
          <a:p/>
          <a:p>
            <a:r>
              <a:t>Bullet 15 on the slide: Do: Rewrite one _id in words.</a:t>
            </a:r>
          </a:p>
          <a:p/>
          <a:p>
            <a:r>
              <a:t>Bullet 16 on the slide: Expected: _id is the group key, not the order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5.2 — Product Summary Pipeline.</a:t>
            </a:r>
          </a:p>
          <a:p/>
          <a:p>
            <a:r>
              <a:t>The slide title is: Lab 5.2 — Product Summary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5.2](../slide-exercises/module-05/lab-5.2-product-summary-pipeline.md).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25 minutes.</a:t>
            </a:r>
          </a:p>
          <a:p/>
          <a:p>
            <a:r>
              <a:t>Bullet 2 on the slide: Category report with renamed fields.</a:t>
            </a:r>
          </a:p>
          <a:p/>
          <a:p>
            <a:r>
              <a:t>The figure on this slide is titled: Product summary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5.2 — Steps 1–2.</a:t>
            </a:r>
          </a:p>
          <a:p/>
          <a:p>
            <a:r>
              <a:t>The slide title is: Lab 5.2 — Steps 1–2.</a:t>
            </a:r>
          </a:p>
          <a:p/>
          <a:p>
            <a:r>
              <a:t>The slide says: Lab guide: [Lab 5.2](../slide-exercises/module-05/lab-5.2-product-summary-pipeline.md).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Filter and group.</a:t>
            </a:r>
          </a:p>
          <a:p/>
          <a:p>
            <a:r>
              <a:t>Step 2 — Sort and rename.</a:t>
            </a:r>
          </a:p>
          <a:p/>
          <a:p>
            <a:r>
              <a:t>Bullet 1 on the slide: Do: Active products; group by category with four accumulators.</a:t>
            </a:r>
          </a:p>
          <a:p/>
          <a:p>
            <a:r>
              <a:t>Bullet 2 on the slide: Expected: Four categories; LAPTOP count 2.</a:t>
            </a:r>
          </a:p>
          <a:p/>
          <a:p>
            <a:r>
              <a:t>Bullet 3 on the slide: Do: Sort averagePrice descending; project category: $_id.</a:t>
            </a:r>
          </a:p>
          <a:p/>
          <a:p>
            <a:r>
              <a:t>Bullet 4 on the slide: Expected: LAPTOP first; field is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5.3 — Order Revenue Pipeline.</a:t>
            </a:r>
          </a:p>
          <a:p/>
          <a:p>
            <a:r>
              <a:t>The slide title is: Lab 5.3 — Order Revenue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5.3](../slide-exercises/module-05/lab-5.3-order-revenue-pipeline.md).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25 minutes.</a:t>
            </a:r>
          </a:p>
          <a:p/>
          <a:p>
            <a:r>
              <a:t>Bullet 2 on the slide: Paid revenue by fulfillment status.</a:t>
            </a:r>
          </a:p>
          <a:p/>
          <a:p>
            <a:r>
              <a:t>The figure on this slide is titled: Group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5.3 — Steps 1–2.</a:t>
            </a:r>
          </a:p>
          <a:p/>
          <a:p>
            <a:r>
              <a:t>The slide title is: Lab 5.3 — Steps 1–2.</a:t>
            </a:r>
          </a:p>
          <a:p/>
          <a:p>
            <a:r>
              <a:t>The slide says: Lab guide: [Lab 5.3](../slide-exercises/module-05/lab-5.3-order-revenue-pipeline.md).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Match, group, sort, project.</a:t>
            </a:r>
          </a:p>
          <a:p/>
          <a:p>
            <a:r>
              <a:t>Step 2 — Spot-check.</a:t>
            </a:r>
          </a:p>
          <a:p/>
          <a:p>
            <a:r>
              <a:t>Bullet 1 on the slide: Do: Paid only; group fulfillmentStatus; sort totalRevenue.</a:t>
            </a:r>
          </a:p>
          <a:p/>
          <a:p>
            <a:r>
              <a:t>Bullet 2 on the slide: Expected: SHIPPED highest revenue; PENDING absent.</a:t>
            </a:r>
          </a:p>
          <a:p/>
          <a:p>
            <a:r>
              <a:t>Bullet 3 on the slide: Do: countDocuments PAID + SHIPPED versus pipeline orderCount.</a:t>
            </a:r>
          </a:p>
          <a:p/>
          <a:p>
            <a:r>
              <a:t>Bullet 4 on the slide: Expected: Both are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5.5 — Analyze Order Items with `$unwind`.</a:t>
            </a:r>
          </a:p>
          <a:p/>
          <a:p>
            <a:r>
              <a:t>The slide title is: Demo 5.5 — Analyze Order Items with `$unwind`.</a:t>
            </a:r>
          </a:p>
          <a:p/>
          <a:p>
            <a:r>
              <a:t>You will also see the heading: Demo 5.5 — Analyze Order Items with $unwind.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Paid → unwind → line revenue → group SKU.</a:t>
            </a:r>
          </a:p>
          <a:p/>
          <a:p>
            <a:r>
              <a:t>Bullet 3 on the slide: Sort by revenue; top products.</a:t>
            </a:r>
          </a:p>
          <a:p/>
          <a:p>
            <a:r>
              <a:t>The figure on this slide is titled: Product sales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5.7 — Analyze Arrays with `$unwind`.</a:t>
            </a:r>
          </a:p>
          <a:p/>
          <a:p>
            <a:r>
              <a:t>The slide title is: Exercise 5.7 — Analyze Arrays with `$unwind`.</a:t>
            </a:r>
          </a:p>
          <a:p/>
          <a:p>
            <a:r>
              <a:t>You will also see the heading: Exercise 5.7 — Analyze Arrays with $unwind.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5.7](../slide-exercises/module-05/exercise-5.7-analyze-arrays-with-unwind.md).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Units, revenue, order count per SKU.</a:t>
            </a:r>
          </a:p>
          <a:p/>
          <a:p>
            <a:r>
              <a:t>The figure on this slide is titled: Unwind then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5.7 — Analyze Arrays with $unwind. We have about 15 min for this lab.</a:t>
            </a:r>
          </a:p>
          <a:p/>
          <a:p>
            <a:r>
              <a:t>Unwind paid order items and compute units, revenue, and order count per SKU.</a:t>
            </a:r>
          </a:p>
          <a:p/>
          <a:p>
            <a:r>
              <a:t>The full lab guide is in slide-exercises/module-05/exercise-5.7-analyze-arrays-with-unwind.md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Unwind and compute line revenue.</a:t>
            </a:r>
          </a:p>
          <a:p/>
          <a:p>
            <a:r>
              <a:t>Step 2 — Name the highest-revenue SKU.</a:t>
            </a:r>
          </a:p>
          <a:p/>
          <a:p>
            <a:r>
              <a:t>Step 1 — Unwind and compute line revenue.</a:t>
            </a:r>
          </a:p>
          <a:p/>
          <a:p>
            <a:r>
              <a:t>Step 2 — Name the highest-revenue SKU.</a:t>
            </a:r>
          </a:p>
          <a:p/>
          <a:p>
            <a:r>
              <a:t>Step 1 — Unwind and compute line revenue.</a:t>
            </a:r>
          </a:p>
          <a:p/>
          <a:p>
            <a:r>
              <a:t>Step 2 — Name the highest-revenue SKU.</a:t>
            </a:r>
          </a:p>
          <a:p/>
          <a:p>
            <a:r>
              <a:t>Step 1 — Unwind and group.</a:t>
            </a:r>
          </a:p>
          <a:p/>
          <a:p>
            <a:r>
              <a:t>Step 2 — Name the top SKU.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5.7 — Steps 1–2.</a:t>
            </a:r>
          </a:p>
          <a:p/>
          <a:p>
            <a:r>
              <a:t>The slide says: Lab guide: [Exercise 5.7](../slide-exercises/module-05/exercise-5.7-analyze-arrays-with-unwind.md).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 { $match: { paymentStatus: "PAID" } }, { $unwind: "$items" }, { $set: { lineRevenue: { $multiply: ["$items.quantity", "$items.unitPrice"] } } }, { $group: { _id: "$items.sku", uni.</a:t>
            </a:r>
          </a:p>
          <a:p/>
          <a:p>
            <a:r>
              <a:t>Bullet 2 on the slide: Expected: L110 is first by revenue (3799.98). No order repeats a SKU, so $sum: 1 is the number of orders containing that SKU.</a:t>
            </a:r>
          </a:p>
          <a:p/>
          <a:p>
            <a:r>
              <a:t>Bullet 3 on the slide: Do: Write the top _id and its unitsSold.</a:t>
            </a:r>
          </a:p>
          <a:p/>
          <a:p>
            <a:r>
              <a:t>Bullet 4 on the slide: Expected: L110, 2 units. L100 is second by revenue.</a:t>
            </a:r>
          </a:p>
          <a:p/>
          <a:p>
            <a:r>
              <a:t>Bullet 5 on the slide: Do: Run: javascript db.orders.aggregate([ { $match: { paymentStatus: "PAID" } }, { $unwind: "$items" }, { $set: { lineRevenue: { $multiply: ["$items.quantity", "$items.unitPrice"] } } }, { $group: { _id: "$items.sku", uni.</a:t>
            </a:r>
          </a:p>
          <a:p/>
          <a:p>
            <a:r>
              <a:t>Bullet 6 on the slide: Expected: L110 is first by revenue (3799.98). No order repeats a SKU, so $sum: 1 is the number of orders containing that SKU.</a:t>
            </a:r>
          </a:p>
          <a:p/>
          <a:p>
            <a:r>
              <a:t>Bullet 7 on the slide: Do: Write the top _id and its unitsSold.</a:t>
            </a:r>
          </a:p>
          <a:p/>
          <a:p>
            <a:r>
              <a:t>Bullet 8 on the slide: Expected: L110, 2 units. L100 is second by revenue.</a:t>
            </a:r>
          </a:p>
          <a:p/>
          <a:p>
            <a:r>
              <a:t>Bullet 9 on the slide: Do: Run: javascript db.orders.aggregate([ { $match: { paymentStatus: "PAID" } }, { $unwind: "$items" }, { $set: { lineRevenue: { $multiply: ["$items.quantity", "$items.unitPrice"] } } }, { $group: { _id: "$items.sku", uni.</a:t>
            </a:r>
          </a:p>
          <a:p/>
          <a:p>
            <a:r>
              <a:t>Bullet 10 on the slide: Expected: L110 is first by revenue (3799.98). No order repeats a SKU, so $sum: 1 is the number of orders containing that SKU.</a:t>
            </a:r>
          </a:p>
          <a:p/>
          <a:p>
            <a:r>
              <a:t>Bullet 11 on the slide: Do: Write the top _id and its unitsSold.</a:t>
            </a:r>
          </a:p>
          <a:p/>
          <a:p>
            <a:r>
              <a:t>Bullet 12 on the slide: Expected: L110, 2 units. L100 is second by revenue.</a:t>
            </a:r>
          </a:p>
          <a:p/>
          <a:p>
            <a:r>
              <a:t>Bullet 13 on the slide: Do: Paid, unwind, lineRevenue, group by items.sku.</a:t>
            </a:r>
          </a:p>
          <a:p/>
          <a:p>
            <a:r>
              <a:t>Bullet 14 on the slide: Expected: L110 first at 3799.98.</a:t>
            </a:r>
          </a:p>
          <a:p/>
          <a:p>
            <a:r>
              <a:t>Bullet 15 on the slide: Do: Write _id and unitsSold.</a:t>
            </a:r>
          </a:p>
          <a:p/>
          <a:p>
            <a:r>
              <a:t>Bullet 16 on the slide: Expected: L110, 2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5.8 — Build a Top-N Report.</a:t>
            </a:r>
          </a:p>
          <a:p/>
          <a:p>
            <a:r>
              <a:t>The slide title is: Exercise 5.8 — Build a Top-N Report.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5.8](../slide-exercises/module-05/exercise-5.8-build-a-top-n-report.md).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Customers, products, orders, categories.</a:t>
            </a:r>
          </a:p>
          <a:p/>
          <a:p>
            <a:r>
              <a:t>The figure on this slide is titled: Top-N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5.8 — Build a Top-N Report. We have about 15 min for this lab.</a:t>
            </a:r>
          </a:p>
          <a:p/>
          <a:p>
            <a:r>
              <a:t>Build top-N reports for customers, products, orders, and categories using group, sort, and limit.</a:t>
            </a:r>
          </a:p>
          <a:p/>
          <a:p>
            <a:r>
              <a:t>The full lab guide is in slide-exercises/module-05/exercise-5.8-build-a-top-n-report.md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Top customers and highest-value orders.</a:t>
            </a:r>
          </a:p>
          <a:p/>
          <a:p>
            <a:r>
              <a:t>Step 2 — Top products by units and categories by count.</a:t>
            </a:r>
          </a:p>
          <a:p/>
          <a:p>
            <a:r>
              <a:t>Step 1 — Top customers and highest-value orders.</a:t>
            </a:r>
          </a:p>
          <a:p/>
          <a:p>
            <a:r>
              <a:t>Step 2 — Top products by units and categories by count.</a:t>
            </a:r>
          </a:p>
          <a:p/>
          <a:p>
            <a:r>
              <a:t>Step 1 — Top customers and highest-value orders.</a:t>
            </a:r>
          </a:p>
          <a:p/>
          <a:p>
            <a:r>
              <a:t>Step 2 — Top products by units and categories by count.</a:t>
            </a:r>
          </a:p>
          <a:p/>
          <a:p>
            <a:r>
              <a:t>Step 1 — Customers and high-value orders.</a:t>
            </a:r>
          </a:p>
          <a:p/>
          <a:p>
            <a:r>
              <a:t>Step 2 — Units and categories.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5.8 — Steps 1–2.</a:t>
            </a:r>
          </a:p>
          <a:p/>
          <a:p>
            <a:r>
              <a:t>The slide says: Lab guide: [Exercise 5.8](../slide-exercises/module-05/exercise-5.8-build-a-top-n-report.md).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 { $match: { paymentStatus: "PAID" } }, { $group: { _id: "$customerId", totalSpent: { $sum: "$total" } } }, { $sort: { totalSpent: -1 } }, { $limit: 5 } ]) db.orders.aggregate([ {.</a:t>
            </a:r>
          </a:p>
          <a:p/>
          <a:p>
            <a:r>
              <a:t>Bullet 2 on the slide: Expected: Top spender is C101. Three highest paid orders include O6202 and O6304 (both 2146.99).</a:t>
            </a:r>
          </a:p>
          <a:p/>
          <a:p>
            <a:r>
              <a:t>Bullet 3 on the slide: Do: Run: javascript db.orders.aggregate([ { $match: { paymentStatus: "PAID" } }, { $unwind: "$items" }, { $group: { _id: "$items.sku", unitsSold: { $sum: "$items.quantity" } } }, { $sort: { unitsSold: -1, _id: 1 } }, { $l.</a:t>
            </a:r>
          </a:p>
          <a:p/>
          <a:p>
            <a:r>
              <a:t>Bullet 4 on the slide: Expected: A410 is among the unit leaders (4). Category counts: ACCESSORY 4, then SHOE 3, LAPTOP 3, BOOK 2 (including inactive L190).</a:t>
            </a:r>
          </a:p>
          <a:p/>
          <a:p>
            <a:r>
              <a:t>Bullet 5 on the slide: Do: Run: javascript db.orders.aggregate([ { $match: { paymentStatus: "PAID" } }, { $group: { _id: "$customerId", totalSpent: { $sum: "$total" } } }, { $sort: { totalSpent: -1 } }, { $limit: 5 } ]) db.orders.aggregate([ {.</a:t>
            </a:r>
          </a:p>
          <a:p/>
          <a:p>
            <a:r>
              <a:t>Bullet 6 on the slide: Expected: Top spender is C101. Three highest paid orders include O6202 and O6304 (both 2146.99).</a:t>
            </a:r>
          </a:p>
          <a:p/>
          <a:p>
            <a:r>
              <a:t>Bullet 7 on the slide: Do: Run: javascript db.orders.aggregate([ { $match: { paymentStatus: "PAID" } }, { $unwind: "$items" }, { $group: { _id: "$items.sku", unitsSold: { $sum: "$items.quantity" } } }, { $sort: { unitsSold: -1, _id: 1 } }, { $l.</a:t>
            </a:r>
          </a:p>
          <a:p/>
          <a:p>
            <a:r>
              <a:t>Bullet 8 on the slide: Expected: A410 is among the unit leaders (4). Category counts: ACCESSORY 4, then SHOE 3, LAPTOP 3, BOOK 2 (including inactive L190).</a:t>
            </a:r>
          </a:p>
          <a:p/>
          <a:p>
            <a:r>
              <a:t>Bullet 9 on the slide: Do: Run: javascript db.orders.aggregate([ { $match: { paymentStatus: "PAID" } }, { $group: { _id: "$customerId", totalSpent: { $sum: "$total" } } }, { $sort: { totalSpent: -1 } }, { $limit: 5 } ]) db.orders.aggregate([ {.</a:t>
            </a:r>
          </a:p>
          <a:p/>
          <a:p>
            <a:r>
              <a:t>Bullet 10 on the slide: Expected: Top spender is C101. Three highest paid orders include O6202 and O6304 (both 2146.99).</a:t>
            </a:r>
          </a:p>
          <a:p/>
          <a:p>
            <a:r>
              <a:t>Bullet 11 on the slide: Do: Run: javascript db.orders.aggregate([ { $match: { paymentStatus: "PAID" } }, { $unwind: "$items" }, { $group: { _id: "$items.sku", unitsSold: { $sum: "$items.quantity" } } }, { $sort: { unitsSold: -1, _id: 1 } }, { $l.</a:t>
            </a:r>
          </a:p>
          <a:p/>
          <a:p>
            <a:r>
              <a:t>Bullet 12 on the slide: Expected: A410 is among the unit leaders (4). Category counts: ACCESSORY 4, then SHOE 3, LAPTOP 3, BOOK 2 (including inactive L190).</a:t>
            </a:r>
          </a:p>
          <a:p/>
          <a:p>
            <a:r>
              <a:t>Bullet 13 on the slide: Do: Top five spenders; three highest paid orders.</a:t>
            </a:r>
          </a:p>
          <a:p/>
          <a:p>
            <a:r>
              <a:t>Bullet 14 on the slide: Expected: C101 first; O6202 and O6304 in the top three.</a:t>
            </a:r>
          </a:p>
          <a:p/>
          <a:p>
            <a:r>
              <a:t>Bullet 15 on the slide: Do: Top three SKUs by units; $sortByCount category.</a:t>
            </a:r>
          </a:p>
          <a:p/>
          <a:p>
            <a:r>
              <a:t>Bullet 16 on the slide: Expected: A410 among unit leaders; ACCESSORY has four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5.4 — Product Sales Pipeline.</a:t>
            </a:r>
          </a:p>
          <a:p/>
          <a:p>
            <a:r>
              <a:t>The slide title is: Lab 5.4 — Product Sales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5.4](../slide-exercises/module-05/lab-5.4-product-sales-pipeline.md).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30 minutes.</a:t>
            </a:r>
          </a:p>
          <a:p/>
          <a:p>
            <a:r>
              <a:t>Bullet 2 on the slide: Top five SKUs by line revenue.</a:t>
            </a:r>
          </a:p>
          <a:p/>
          <a:p>
            <a:r>
              <a:t>The figure on this slide is titled: Top five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5.4 — Steps 1–2.</a:t>
            </a:r>
          </a:p>
          <a:p/>
          <a:p>
            <a:r>
              <a:t>The slide title is: Lab 5.4 — Steps 1–2.</a:t>
            </a:r>
          </a:p>
          <a:p/>
          <a:p>
            <a:r>
              <a:t>The slide says: Lab guide: [Lab 5.4](../slide-exercises/module-05/lab-5.4-product-sales-pipeline.md).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Full pipeline.</a:t>
            </a:r>
          </a:p>
          <a:p/>
          <a:p>
            <a:r>
              <a:t>Step 2 — Explain orderCount.</a:t>
            </a:r>
          </a:p>
          <a:p/>
          <a:p>
            <a:r>
              <a:t>Bullet 1 on the slide: Do: Match, unwind, set lineRevenue, group, sort, limit 5.</a:t>
            </a:r>
          </a:p>
          <a:p/>
          <a:p>
            <a:r>
              <a:t>Bullet 2 on the slide: Expected: L110, L100, A500 lead.</a:t>
            </a:r>
          </a:p>
          <a:p/>
          <a:p>
            <a:r>
              <a:t>Bullet 3 on the slide: Do: Is $sum: 1 orders or lines?.</a:t>
            </a:r>
          </a:p>
          <a:p/>
          <a:p>
            <a:r>
              <a:t>Bullet 4 on the slide: Expected: Orders, because SKUs are unique per order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5.6 — Join Customers and Orders.</a:t>
            </a:r>
          </a:p>
          <a:p/>
          <a:p>
            <a:r>
              <a:t>The slide title is: Demo 5.6 — Join Customers and Orders.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$lookup then unwind.</a:t>
            </a:r>
          </a:p>
          <a:p/>
          <a:p>
            <a:r>
              <a:t>Bullet 3 on the slide: Build customerName; keep O6499 with preserve.</a:t>
            </a:r>
          </a:p>
          <a:p/>
          <a:p>
            <a:r>
              <a:t>The figure on this slide is titled: Lookup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5.7 — Multi-Metric Dashboard Result.</a:t>
            </a:r>
          </a:p>
          <a:p/>
          <a:p>
            <a:r>
              <a:t>The slide title is: Demo 5.7 — Multi-Metric Dashboard Result.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One $facet document.</a:t>
            </a:r>
          </a:p>
          <a:p/>
          <a:p>
            <a:r>
              <a:t>Bullet 3 on the slide: Count, revenue, status, top customers, high-value.</a:t>
            </a:r>
          </a:p>
          <a:p/>
          <a:p>
            <a:r>
              <a:t>The figure on this slide is titled: Facet dashboard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5.9 — Join Related Collections.</a:t>
            </a:r>
          </a:p>
          <a:p/>
          <a:p>
            <a:r>
              <a:t>The slide title is: Exercise 5.9 — Join Related Collections.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5.9](../slide-exercises/module-05/exercise-5.9-join-related-collections.md).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Names, sort by total, unmatched O6499.</a:t>
            </a:r>
          </a:p>
          <a:p/>
          <a:p>
            <a:r>
              <a:t>The figure on this slide is titled: Local and foreign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5.9 — Join Related Collections. We have about 20 min for this lab.</a:t>
            </a:r>
          </a:p>
          <a:p/>
          <a:p>
            <a:r>
              <a:t>Lookup customers from orders, format names, sort by total, and keep unmatched orders.</a:t>
            </a:r>
          </a:p>
          <a:p/>
          <a:p>
            <a:r>
              <a:t>The full lab guide is in slide-exercises/module-05/exercise-5.9-join-related-collections.md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Join and flatten matches.</a:t>
            </a:r>
          </a:p>
          <a:p/>
          <a:p>
            <a:r>
              <a:t>Step 2 — Find the unmatched order.</a:t>
            </a:r>
          </a:p>
          <a:p/>
          <a:p>
            <a:r>
              <a:t>Step 1 — Join and flatten matches.</a:t>
            </a:r>
          </a:p>
          <a:p/>
          <a:p>
            <a:r>
              <a:t>Step 2 — Find the unmatched order.</a:t>
            </a:r>
          </a:p>
          <a:p/>
          <a:p>
            <a:r>
              <a:t>Step 1 — Join and flatten matches.</a:t>
            </a:r>
          </a:p>
          <a:p/>
          <a:p>
            <a:r>
              <a:t>Step 2 — Find the unmatched order.</a:t>
            </a:r>
          </a:p>
          <a:p/>
          <a:p>
            <a:r>
              <a:t>Step 1 — Join and flatten.</a:t>
            </a:r>
          </a:p>
          <a:p/>
          <a:p>
            <a:r>
              <a:t>Step 2 — Find the unmatched order.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5.9 — Steps 1–2.</a:t>
            </a:r>
          </a:p>
          <a:p/>
          <a:p>
            <a:r>
              <a:t>The slide says: Lab guide: [Exercise 5.9](../slide-exercises/module-05/exercise-5.9-join-related-collections.md).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db.orders.aggregate([ { $lookup: { from: "customers", localField: "customerId", foreignField: "_id", as: "customer" } }, { $unwind: { path: "$customer", preserveNullAndEmptyArrays: true } }, { $project.</a:t>
            </a:r>
          </a:p>
          <a:p/>
          <a:p>
            <a:r>
              <a:t>Bullet 2 on the slide: Expected: Most rows show a customer number and full name. Totals sort descending.</a:t>
            </a:r>
          </a:p>
          <a:p/>
          <a:p>
            <a:r>
              <a:t>Bullet 3 on the slide: Do: Scan for a document whose customerNumber is missing. Confirm its orderNumber.</a:t>
            </a:r>
          </a:p>
          <a:p/>
          <a:p>
            <a:r>
              <a:t>Bullet 4 on the slide: Expected: O6499 has an empty lookup array. Because preserveNullAndEmptyArrays is true, it still appears.</a:t>
            </a:r>
          </a:p>
          <a:p/>
          <a:p>
            <a:r>
              <a:t>Bullet 5 on the slide: Do: Run: javascript db.orders.aggregate([ { $lookup: { from: "customers", localField: "customerId", foreignField: "_id", as: "customer" } }, { $unwind: { path: "$customer", preserveNullAndEmptyArrays: true } }, { $project.</a:t>
            </a:r>
          </a:p>
          <a:p/>
          <a:p>
            <a:r>
              <a:t>Bullet 6 on the slide: Expected: Most rows show a customer number and full name. Totals sort descending.</a:t>
            </a:r>
          </a:p>
          <a:p/>
          <a:p>
            <a:r>
              <a:t>Bullet 7 on the slide: Do: Scan for a document whose customerNumber is missing. Confirm its orderNumber.</a:t>
            </a:r>
          </a:p>
          <a:p/>
          <a:p>
            <a:r>
              <a:t>Bullet 8 on the slide: Expected: O6499 has an empty lookup array. Because preserveNullAndEmptyArrays is true, it still appears.</a:t>
            </a:r>
          </a:p>
          <a:p/>
          <a:p>
            <a:r>
              <a:t>Bullet 9 on the slide: Do: Run: javascript db.orders.aggregate([ { $lookup: { from: "customers", localField: "customerId", foreignField: "_id", as: "customer" } }, { $unwind: { path: "$customer", preserveNullAndEmptyArrays: true } }, { $project.</a:t>
            </a:r>
          </a:p>
          <a:p/>
          <a:p>
            <a:r>
              <a:t>Bullet 10 on the slide: Expected: Most rows show a customer number and full name. Totals sort descending.</a:t>
            </a:r>
          </a:p>
          <a:p/>
          <a:p>
            <a:r>
              <a:t>Bullet 11 on the slide: Do: Scan for a document whose customerNumber is missing. Confirm its orderNumber.</a:t>
            </a:r>
          </a:p>
          <a:p/>
          <a:p>
            <a:r>
              <a:t>Bullet 12 on the slide: Expected: O6499 has an empty lookup array. Because preserveNullAndEmptyArrays is true, it still appears.</a:t>
            </a:r>
          </a:p>
          <a:p/>
          <a:p>
            <a:r>
              <a:t>Bullet 13 on the slide: Do: Lookup customers; unwind with preserve; project name and total; sort.</a:t>
            </a:r>
          </a:p>
          <a:p/>
          <a:p>
            <a:r>
              <a:t>Bullet 14 on the slide: Expected: Most rows have names; totals descending.</a:t>
            </a:r>
          </a:p>
          <a:p/>
          <a:p>
            <a:r>
              <a:t>Bullet 15 on the slide: Do: Look for missing customerNumber.</a:t>
            </a:r>
          </a:p>
          <a:p/>
          <a:p>
            <a:r>
              <a:t>Bullet 16 on the slide: Expected: O6499 still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5.10 — Build a `$facet` Report.</a:t>
            </a:r>
          </a:p>
          <a:p/>
          <a:p>
            <a:r>
              <a:t>The slide title is: Exercise 5.10 — Build a `$facet` Report.</a:t>
            </a:r>
          </a:p>
          <a:p/>
          <a:p>
            <a:r>
              <a:t>You will also see the heading: Exercise 5.10 — Build a $facet Report.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5.10](../slide-exercises/module-05/exercise-5.10-build-a-facet-report.md).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Five product facets in one document.</a:t>
            </a:r>
          </a:p>
          <a:p/>
          <a:p>
            <a:r>
              <a:t>The figure on this slide is titled: Facet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5.10 — Build a $facet Report. We have about 20 min for this lab.</a:t>
            </a:r>
          </a:p>
          <a:p/>
          <a:p>
            <a:r>
              <a:t>Return one document with product totals, category counts, average price, price bands, and top expensive products.</a:t>
            </a:r>
          </a:p>
          <a:p/>
          <a:p>
            <a:r>
              <a:t>The full lab guide is in slide-exercises/module-05/exercise-5.10-build-a-facet-report.md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Build five facets.</a:t>
            </a:r>
          </a:p>
          <a:p/>
          <a:p>
            <a:r>
              <a:t>Step 2 — Read each array.</a:t>
            </a:r>
          </a:p>
          <a:p/>
          <a:p>
            <a:r>
              <a:t>Step 1 — Build five facets.</a:t>
            </a:r>
          </a:p>
          <a:p/>
          <a:p>
            <a:r>
              <a:t>Step 2 — Read each array.</a:t>
            </a:r>
          </a:p>
          <a:p/>
          <a:p>
            <a:r>
              <a:t>Step 1 — Build five facets.</a:t>
            </a:r>
          </a:p>
          <a:p/>
          <a:p>
            <a:r>
              <a:t>Step 2 — Read each array.</a:t>
            </a:r>
          </a:p>
          <a:p/>
          <a:p>
            <a:r>
              <a:t>Step 1 — Build five facets.</a:t>
            </a:r>
          </a:p>
          <a:p/>
          <a:p>
            <a:r>
              <a:t>Step 2 — Read each array.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5.10 — Steps 1–2.</a:t>
            </a:r>
          </a:p>
          <a:p/>
          <a:p>
            <a:r>
              <a:t>The slide says: Lab guide: [Exercise 5.10](../slide-exercises/module-05/exercise-5.10-build-a-facet-report.md).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db.products.aggregate([ { $facet: { totals: [{ $count: "totalProducts" }], byCategory: [{ $sortByCount: "$category" }], averagePrice: [ { $group: { _id: null, averagePrice: { $avg: "$price" } } } ], pr.</a:t>
            </a:r>
          </a:p>
          <a:p/>
          <a:p>
            <a:r>
              <a:t>Bullet 2 on the slide: Expected: Exactly one document. totals is an array with 12. mostExpensive starts with L110.</a:t>
            </a:r>
          </a:p>
          <a:p/>
          <a:p>
            <a:r>
              <a:t>Bullet 3 on the slide: Do: For each facet key, state whether the array holds one summary or many rows.</a:t>
            </a:r>
          </a:p>
          <a:p/>
          <a:p>
            <a:r>
              <a:t>Bullet 4 on the slide: Expected: totals and averagePrice are one-element arrays. byCategory, priceBands, and mostExpensive have several.</a:t>
            </a:r>
          </a:p>
          <a:p/>
          <a:p>
            <a:r>
              <a:t>Bullet 5 on the slide: Do: Run: javascript db.products.aggregate([ { $facet: { totals: [{ $count: "totalProducts" }], byCategory: [{ $sortByCount: "$category" }], averagePrice: [ { $group: { _id: null, averagePrice: { $avg: "$price" } } } ], pr.</a:t>
            </a:r>
          </a:p>
          <a:p/>
          <a:p>
            <a:r>
              <a:t>Bullet 6 on the slide: Expected: Exactly one document. totals is an array with 12. mostExpensive starts with L110.</a:t>
            </a:r>
          </a:p>
          <a:p/>
          <a:p>
            <a:r>
              <a:t>Bullet 7 on the slide: Do: For each facet key, state whether the array holds one summary or many rows.</a:t>
            </a:r>
          </a:p>
          <a:p/>
          <a:p>
            <a:r>
              <a:t>Bullet 8 on the slide: Expected: totals and averagePrice are one-element arrays. byCategory, priceBands, and mostExpensive have several.</a:t>
            </a:r>
          </a:p>
          <a:p/>
          <a:p>
            <a:r>
              <a:t>Bullet 9 on the slide: Do: Run: javascript db.products.aggregate([ { $facet: { totals: [{ $count: "totalProducts" }], byCategory: [{ $sortByCount: "$category" }], averagePrice: [ { $group: { _id: null, averagePrice: { $avg: "$price" } } } ], pr.</a:t>
            </a:r>
          </a:p>
          <a:p/>
          <a:p>
            <a:r>
              <a:t>Bullet 10 on the slide: Expected: Exactly one document. totals is an array with 12. mostExpensive starts with L110.</a:t>
            </a:r>
          </a:p>
          <a:p/>
          <a:p>
            <a:r>
              <a:t>Bullet 11 on the slide: Do: For each facet key, state whether the array holds one summary or many rows.</a:t>
            </a:r>
          </a:p>
          <a:p/>
          <a:p>
            <a:r>
              <a:t>Bullet 12 on the slide: Expected: totals and averagePrice are one-element arrays. byCategory, priceBands, and mostExpensive have several.</a:t>
            </a:r>
          </a:p>
          <a:p/>
          <a:p>
            <a:r>
              <a:t>Bullet 13 on the slide: Do: totals, byCategory, averagePrice, priceBands, mostExpensive.</a:t>
            </a:r>
          </a:p>
          <a:p/>
          <a:p>
            <a:r>
              <a:t>Bullet 14 on the slide: Expected: One document; 12 products; L110 most expensive.</a:t>
            </a:r>
          </a:p>
          <a:p/>
          <a:p>
            <a:r>
              <a:t>Bullet 15 on the slide: Do: Which facets are one-element arrays?.</a:t>
            </a:r>
          </a:p>
          <a:p/>
          <a:p>
            <a:r>
              <a:t>Bullet 16 on the slide: Expected: totals and averagePrice.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5.5 — Customer Order Summary.</a:t>
            </a:r>
          </a:p>
          <a:p/>
          <a:p>
            <a:r>
              <a:t>The slide title is: Lab 5.5 — Customer Order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5.5](../slide-exercises/module-05/lab-5.5-customer-order-summary.md).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30 minutes.</a:t>
            </a:r>
          </a:p>
          <a:p/>
          <a:p>
            <a:r>
              <a:t>Bullet 2 on the slide: Group paid spend, then lookup names.</a:t>
            </a:r>
          </a:p>
          <a:p/>
          <a:p>
            <a:r>
              <a:t>The figure on this slide is titled: Customer activity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5.5 — Steps 1–2.</a:t>
            </a:r>
          </a:p>
          <a:p/>
          <a:p>
            <a:r>
              <a:t>The slide title is: Lab 5.5 — Steps 1–2.</a:t>
            </a:r>
          </a:p>
          <a:p/>
          <a:p>
            <a:r>
              <a:t>The slide says: Lab guide: [Lab 5.5](../slide-exercises/module-05/lab-5.5-customer-order-summary.md).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Group then lookup.</a:t>
            </a:r>
          </a:p>
          <a:p/>
          <a:p>
            <a:r>
              <a:t>Step 2 — Confirm C101.</a:t>
            </a:r>
          </a:p>
          <a:p/>
          <a:p>
            <a:r>
              <a:t>Bullet 1 on the slide: Do: Paid group by customerId; lookup; concat name; sort spending.</a:t>
            </a:r>
          </a:p>
          <a:p/>
          <a:p>
            <a:r>
              <a:t>Bullet 2 on the slide: Expected: Aisha Khan first.</a:t>
            </a:r>
          </a:p>
          <a:p/>
          <a:p>
            <a:r>
              <a:t>Bullet 3 on the slide: Do: Sum O6101, O6201, O6301, O6306 totals by hand.</a:t>
            </a:r>
          </a:p>
          <a:p/>
          <a:p>
            <a:r>
              <a:t>Bullet 4 on the slide: Expected: Matches totalSpending.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5.8 — Multi-Metric Report.</a:t>
            </a:r>
          </a:p>
          <a:p/>
          <a:p>
            <a:r>
              <a:t>The slide title is: Lab 5.8 — Multi-Metric Report.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5.8](../slide-exercises/module-05/lab-5.8-multi-metric-report.md).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30 minutes.</a:t>
            </a:r>
          </a:p>
          <a:p/>
          <a:p>
            <a:r>
              <a:t>Bullet 2 on the slide: $facet on paid orders.</a:t>
            </a:r>
          </a:p>
          <a:p/>
          <a:p>
            <a:r>
              <a:t>The figure on this slide is titled: Multi-metric facet.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5.8 — Steps 1–2.</a:t>
            </a:r>
          </a:p>
          <a:p/>
          <a:p>
            <a:r>
              <a:t>The slide title is: Lab 5.8 — Steps 1–2.</a:t>
            </a:r>
          </a:p>
          <a:p/>
          <a:p>
            <a:r>
              <a:t>The slide says: Lab guide: [Lab 5.8](../slide-exercises/module-05/lab-5.8-multi-metric-report.md).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Paid then facet.</a:t>
            </a:r>
          </a:p>
          <a:p/>
          <a:p>
            <a:r>
              <a:t>Step 2 — Describe the shape.</a:t>
            </a:r>
          </a:p>
          <a:p/>
          <a:p>
            <a:r>
              <a:t>Bullet 1 on the slide: Do: totals, byFulfillment, topCustomers, topProducts, highValue.</a:t>
            </a:r>
          </a:p>
          <a:p/>
          <a:p>
            <a:r>
              <a:t>Bullet 2 on the slide: Expected: orderCount 13; highValue 4; L110 top product.</a:t>
            </a:r>
          </a:p>
          <a:p/>
          <a:p>
            <a:r>
              <a:t>Bullet 3 on the slide: Do: Sketch keys; each value is an array.</a:t>
            </a:r>
          </a:p>
          <a:p/>
          <a:p>
            <a:r>
              <a:t>Bullet 4 on the slide: Expected: Structured result, not a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5.6 — Date-Based Sales Report.</a:t>
            </a:r>
          </a:p>
          <a:p/>
          <a:p>
            <a:r>
              <a:t>The slide title is: Lab 5.6 — Date-Based Sales Report.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5.6](../slide-exercises/module-05/lab-5.6-date-based-sales-report.md).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25 minutes.</a:t>
            </a:r>
          </a:p>
          <a:p/>
          <a:p>
            <a:r>
              <a:t>Bullet 2 on the slide: Paid orders by calendar month.</a:t>
            </a:r>
          </a:p>
          <a:p/>
          <a:p>
            <a:r>
              <a:t>The figure on this slide is titled: Date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5.6 — Steps 1–2.</a:t>
            </a:r>
          </a:p>
          <a:p/>
          <a:p>
            <a:r>
              <a:t>The slide title is: Lab 5.6 — Steps 1–2.</a:t>
            </a:r>
          </a:p>
          <a:p/>
          <a:p>
            <a:r>
              <a:t>The slide says: Lab guide: [Lab 5.6](../slide-exercises/module-05/lab-5.6-date-based-sales-report.md).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Month key and metrics.</a:t>
            </a:r>
          </a:p>
          <a:p/>
          <a:p>
            <a:r>
              <a:t>Step 2 — Optional time zone.</a:t>
            </a:r>
          </a:p>
          <a:p/>
          <a:p>
            <a:r>
              <a:t>Bullet 1 on the slide: Do: $dateToString %Y-%m; group; sort; rename reportingMonth.</a:t>
            </a:r>
          </a:p>
          <a:p/>
          <a:p>
            <a:r>
              <a:t>Bullet 2 on the slide: Expected: Three rows: 2026-07, 2026-08, 2026-09.</a:t>
            </a:r>
          </a:p>
          <a:p/>
          <a:p>
            <a:r>
              <a:t>Bullet 3 on the slide: Do: Add timezone: America/Toronto and compare.</a:t>
            </a:r>
          </a:p>
          <a:p/>
          <a:p>
            <a:r>
              <a:t>Bullet 4 on the slide: Expected: Production reports must name a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5.7 — Price-Band Analysis.</a:t>
            </a:r>
          </a:p>
          <a:p/>
          <a:p>
            <a:r>
              <a:t>The slide title is: Lab 5.7 — Price-Band Analysis.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5.7](../slide-exercises/module-05/lab-5.7-price-band-analysis.md).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$bucket with business boundaries.</a:t>
            </a:r>
          </a:p>
          <a:p/>
          <a:p>
            <a:r>
              <a:t>The figure on this slide is titled: Price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5.7 — Steps 1–2.</a:t>
            </a:r>
          </a:p>
          <a:p/>
          <a:p>
            <a:r>
              <a:t>The slide title is: Lab 5.7 — Steps 1–2.</a:t>
            </a:r>
          </a:p>
          <a:p/>
          <a:p>
            <a:r>
              <a:t>The slide says: Lab guide: [Lab 5.7](../slide-exercises/module-05/lab-5.7-price-band-analysis.md).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Define boundaries.</a:t>
            </a:r>
          </a:p>
          <a:p/>
          <a:p>
            <a:r>
              <a:t>Step 2 — Boundary rule.</a:t>
            </a:r>
          </a:p>
          <a:p/>
          <a:p>
            <a:r>
              <a:t>Bullet 1 on the slide: Do: boundaries: [0, 50, 100, 500, 2000]; push names.</a:t>
            </a:r>
          </a:p>
          <a:p/>
          <a:p>
            <a:r>
              <a:t>Bullet 2 on the slide: Expected: Four buckets; under-50 has five products.</a:t>
            </a:r>
          </a:p>
          <a:p/>
          <a:p>
            <a:r>
              <a:t>Bullet 3 on the slide: Do: Where does price 50 go?.</a:t>
            </a:r>
          </a:p>
          <a:p/>
          <a:p>
            <a:r>
              <a:t>Bullet 4 on the slide: Expected: Into the bucket that starts at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5.8 — Inspect Pipeline Execution.</a:t>
            </a:r>
          </a:p>
          <a:p/>
          <a:p>
            <a:r>
              <a:t>The slide title is: Demo 5.8 — Inspect Pipeline Execution.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Late $match versus early $match.</a:t>
            </a:r>
          </a:p>
          <a:p/>
          <a:p>
            <a:r>
              <a:t>Bullet 3 on the slide: Name an index for Module 6.</a:t>
            </a:r>
          </a:p>
          <a:p/>
          <a:p>
            <a:r>
              <a:t>The figure on this slide is titled: Explain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5.11 — Correct a Broken Pipeline.</a:t>
            </a:r>
          </a:p>
          <a:p/>
          <a:p>
            <a:r>
              <a:t>The slide title is: Exercise 5.11 — Correct a Broken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5.11](../slide-exercises/module-05/exercise-5.11-correct-a-broken-pipeline.md).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minutes.</a:t>
            </a:r>
          </a:p>
          <a:p/>
          <a:p>
            <a:r>
              <a:t>Bullet 2 on the slide: Seven defects in one pipeline.</a:t>
            </a:r>
          </a:p>
          <a:p/>
          <a:p>
            <a:r>
              <a:t>The figure on this slide is titled: Common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5.11 — Correct a Broken Pipeline. We have about 15 min for this lab.</a:t>
            </a:r>
          </a:p>
          <a:p/>
          <a:p>
            <a:r>
              <a:t>Diagnose aggregation mistakes and rewrite the pipeline so the top product by revenue is correct.</a:t>
            </a:r>
          </a:p>
          <a:p/>
          <a:p>
            <a:r>
              <a:t>The full lab guide is in slide-exercises/module-05/exercise-5.11-correct-a-broken-pipeline.md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List the defects.</a:t>
            </a:r>
          </a:p>
          <a:p/>
          <a:p>
            <a:r>
              <a:t>Step 2 — Rewrite and run.</a:t>
            </a:r>
          </a:p>
          <a:p/>
          <a:p>
            <a:r>
              <a:t>Step 1 — List the defects.</a:t>
            </a:r>
          </a:p>
          <a:p/>
          <a:p>
            <a:r>
              <a:t>Step 2 — Rewrite and run.</a:t>
            </a:r>
          </a:p>
          <a:p/>
          <a:p>
            <a:r>
              <a:t>Step 1 — List the defects.</a:t>
            </a:r>
          </a:p>
          <a:p/>
          <a:p>
            <a:r>
              <a:t>Step 2 — Rewrite and run.</a:t>
            </a:r>
          </a:p>
          <a:p/>
          <a:p>
            <a:r>
              <a:t>Step 1 — List the defects.</a:t>
            </a:r>
          </a:p>
          <a:p/>
          <a:p>
            <a:r>
              <a:t>Step 2 — Rewrite and run.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5.11 — Steps 1–2.</a:t>
            </a:r>
          </a:p>
          <a:p/>
          <a:p>
            <a:r>
              <a:t>The slide says: Lab guide: [Exercise 5.11](../slide-exercises/module-05/exercise-5.11-correct-a-broken-pipeline.md).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each defect and the symptom it causes (empty groups, wrong totals, dropped rows).</a:t>
            </a:r>
          </a:p>
          <a:p/>
          <a:p>
            <a:r>
              <a:t>Bullet 2 on the slide: Expected: At least five defects named, including stage order and nested field paths.</a:t>
            </a:r>
          </a:p>
          <a:p/>
          <a:p>
            <a:r>
              <a:t>Bullet 3 on the slide: Do: A correct core is: javascript db.orders.aggregate([ { $match: { paymentStatus: "PAID" } }, { $unwind: "$items" }, { $set: { lineRevenue: { $multiply: ["$items.quantity", "$items.unitPrice"] } } }, { $group: { _id: "$i.</a:t>
            </a:r>
          </a:p>
          <a:p/>
          <a:p>
            <a:r>
              <a:t>Bullet 4 on the slide: Expected: L110 is first. You did not need $lookup for a product-revenue report.</a:t>
            </a:r>
          </a:p>
          <a:p/>
          <a:p>
            <a:r>
              <a:t>Bullet 5 on the slide: Do: Write each defect and the symptom it causes (empty groups, wrong totals, dropped rows).</a:t>
            </a:r>
          </a:p>
          <a:p/>
          <a:p>
            <a:r>
              <a:t>Bullet 6 on the slide: Expected: At least five defects named, including stage order and nested field paths.</a:t>
            </a:r>
          </a:p>
          <a:p/>
          <a:p>
            <a:r>
              <a:t>Bullet 7 on the slide: Do: A correct core is: javascript db.orders.aggregate([ { $match: { paymentStatus: "PAID" } }, { $unwind: "$items" }, { $set: { lineRevenue: { $multiply: ["$items.quantity", "$items.unitPrice"] } } }, { $group: { _id: "$i.</a:t>
            </a:r>
          </a:p>
          <a:p/>
          <a:p>
            <a:r>
              <a:t>Bullet 8 on the slide: Expected: L110 is first. You did not need $lookup for a product-revenue report.</a:t>
            </a:r>
          </a:p>
          <a:p/>
          <a:p>
            <a:r>
              <a:t>Bullet 9 on the slide: Do: Write each defect and the symptom it causes (empty groups, wrong totals, dropped rows).</a:t>
            </a:r>
          </a:p>
          <a:p/>
          <a:p>
            <a:r>
              <a:t>Bullet 10 on the slide: Expected: At least five defects named, including stage order and nested field paths.</a:t>
            </a:r>
          </a:p>
          <a:p/>
          <a:p>
            <a:r>
              <a:t>Bullet 11 on the slide: Do: A correct core is: javascript db.orders.aggregate([ { $match: { paymentStatus: "PAID" } }, { $unwind: "$items" }, { $set: { lineRevenue: { $multiply: ["$items.quantity", "$items.unitPrice"] } } }, { $group: { _id: "$i.</a:t>
            </a:r>
          </a:p>
          <a:p/>
          <a:p>
            <a:r>
              <a:t>Bullet 12 on the slide: Expected: L110 is first. You did not need $lookup for a product-revenue report.</a:t>
            </a:r>
          </a:p>
          <a:p/>
          <a:p>
            <a:r>
              <a:t>Bullet 13 on the slide: Do: Stage order, missing $, nested paths, no unwind, lookup as object.</a:t>
            </a:r>
          </a:p>
          <a:p/>
          <a:p>
            <a:r>
              <a:t>Bullet 14 on the slide: Expected: At least five defects named.</a:t>
            </a:r>
          </a:p>
          <a:p/>
          <a:p>
            <a:r>
              <a:t>Bullet 15 on the slide: Do: Paid, unwind, lineRevenue, group sku, sort, limit 5.</a:t>
            </a:r>
          </a:p>
          <a:p/>
          <a:p>
            <a:r>
              <a:t>Bullet 16 on the slide: Expected: L110 first; lookup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5.12 — Optimize a Pipeline.</a:t>
            </a:r>
          </a:p>
          <a:p/>
          <a:p>
            <a:r>
              <a:t>The slide title is: Exercise 5.12 — Optimize a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5.12](../slide-exercises/module-05/exercise-5.12-optimize-a-pipeline.md).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discussion.</a:t>
            </a:r>
          </a:p>
          <a:p/>
          <a:p>
            <a:r>
              <a:t>Bullet 2 on the slide: Lookup later; do not unwind to sum totals.</a:t>
            </a:r>
          </a:p>
          <a:p/>
          <a:p>
            <a:r>
              <a:t>The figure on this slide is titled: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5.12 — Optimize a Pipeline. We have about 15 min for this lab.</a:t>
            </a:r>
          </a:p>
          <a:p/>
          <a:p>
            <a:r>
              <a:t>Rewrite an expensive pipeline so it stays equivalent but filters earlier and looks up later.</a:t>
            </a:r>
          </a:p>
          <a:p/>
          <a:p>
            <a:r>
              <a:t>The full lab guide is in slide-exercises/module-05/exercise-5.12-optimize-a-pipeline.md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Name the costs.</a:t>
            </a:r>
          </a:p>
          <a:p/>
          <a:p>
            <a:r>
              <a:t>Step 2 — Write an equivalent cheaper pipeline.</a:t>
            </a:r>
          </a:p>
          <a:p/>
          <a:p>
            <a:r>
              <a:t>Step 1 — Name the costs.</a:t>
            </a:r>
          </a:p>
          <a:p/>
          <a:p>
            <a:r>
              <a:t>Step 2 — Write an equivalent cheaper pipeline.</a:t>
            </a:r>
          </a:p>
          <a:p/>
          <a:p>
            <a:r>
              <a:t>Step 1 — Name the costs.</a:t>
            </a:r>
          </a:p>
          <a:p/>
          <a:p>
            <a:r>
              <a:t>Step 2 — Write an equivalent cheaper pipeline.</a:t>
            </a:r>
          </a:p>
          <a:p/>
          <a:p>
            <a:r>
              <a:t>Step 1 — Name the costs.</a:t>
            </a:r>
          </a:p>
          <a:p/>
          <a:p>
            <a:r>
              <a:t>Step 2 — Write the cheaper equivalent.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5.12 — Steps 1–2.</a:t>
            </a:r>
          </a:p>
          <a:p/>
          <a:p>
            <a:r>
              <a:t>The slide says: Lab guide: [Exercise 5.12](../slide-exercises/module-05/exercise-5.12-optimize-a-pipeline.md).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Identify early $lookup, $unwind before the paid filter, grouping by order total after unwind (which repeats the order total per item), and unused large fields.</a:t>
            </a:r>
          </a:p>
          <a:p/>
          <a:p>
            <a:r>
              <a:t>Bullet 2 on the slide: Expected: You can explain that joining every pending order is wasted work, and that unwinding then summing total double-counts multi-item orders.</a:t>
            </a:r>
          </a:p>
          <a:p/>
          <a:p>
            <a:r>
              <a:t>Bullet 3 on the slide: Do: Match paid orders first, group by customerId on the order document (no unwind), then $lookup, then filter ACTIVE if still required. javascript db.orders.aggregate([ { $match: { paymentStatus: "PAID" } }, { $group:.</a:t>
            </a:r>
          </a:p>
          <a:p/>
          <a:p>
            <a:r>
              <a:t>Bullet 4 on the slide: Expected: Same business question: paid spend by active customer. No item unwind. Lookup runs on one row per customer.</a:t>
            </a:r>
          </a:p>
          <a:p/>
          <a:p>
            <a:r>
              <a:t>Bullet 5 on the slide: Do: Identify early $lookup, $unwind before the paid filter, grouping by order total after unwind (which repeats the order total per item), and unused large fields.</a:t>
            </a:r>
          </a:p>
          <a:p/>
          <a:p>
            <a:r>
              <a:t>Bullet 6 on the slide: Expected: You can explain that joining every pending order is wasted work, and that unwinding then summing total double-counts multi-item orders.</a:t>
            </a:r>
          </a:p>
          <a:p/>
          <a:p>
            <a:r>
              <a:t>Bullet 7 on the slide: Do: Match paid orders first, group by customerId on the order document (no unwind), then $lookup, then filter ACTIVE if still required. javascript db.orders.aggregate([ { $match: { paymentStatus: "PAID" } }, { $group:.</a:t>
            </a:r>
          </a:p>
          <a:p/>
          <a:p>
            <a:r>
              <a:t>Bullet 8 on the slide: Expected: Same business question: paid spend by active customer. No item unwind. Lookup runs on one row per customer.</a:t>
            </a:r>
          </a:p>
          <a:p/>
          <a:p>
            <a:r>
              <a:t>Bullet 9 on the slide: Do: Identify early $lookup, $unwind before the paid filter, grouping by order total after unwind (which repeats the order total per item), and unused large fields.</a:t>
            </a:r>
          </a:p>
          <a:p/>
          <a:p>
            <a:r>
              <a:t>Bullet 10 on the slide: Expected: You can explain that joining every pending order is wasted work, and that unwinding then summing total double-counts multi-item orders.</a:t>
            </a:r>
          </a:p>
          <a:p/>
          <a:p>
            <a:r>
              <a:t>Bullet 11 on the slide: Do: Match paid orders first, group by customerId on the order document (no unwind), then $lookup, then filter ACTIVE if still required. javascript db.orders.aggregate([ { $match: { paymentStatus: "PAID" } }, { $group:.</a:t>
            </a:r>
          </a:p>
          <a:p/>
          <a:p>
            <a:r>
              <a:t>Bullet 12 on the slide: Expected: Same business question: paid spend by active customer. No item unwind. Lookup runs on one row per customer.</a:t>
            </a:r>
          </a:p>
          <a:p/>
          <a:p>
            <a:r>
              <a:t>Bullet 13 on the slide: Do: Early lookup, unwind before match, summing total after unwind.</a:t>
            </a:r>
          </a:p>
          <a:p/>
          <a:p>
            <a:r>
              <a:t>Bullet 14 on the slide: Expected: Multi-item orders would be double-counted.</a:t>
            </a:r>
          </a:p>
          <a:p/>
          <a:p>
            <a:r>
              <a:t>Bullet 15 on the slide: Do: Match paid, group customerId, lookup, match ACTIVE.</a:t>
            </a:r>
          </a:p>
          <a:p/>
          <a:p>
            <a:r>
              <a:t>Bullet 16 on the slide: Expected: Named index paymentStatus + customerId.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5.9 — Pipeline Performance Review.</a:t>
            </a:r>
          </a:p>
          <a:p/>
          <a:p>
            <a:r>
              <a:t>The slide title is: Lab 5.9 — Pipeline Performance Review.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5.9](../slide-exercises/module-05/lab-5.9-pipeline-performance-review.md).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minutes.</a:t>
            </a:r>
          </a:p>
          <a:p/>
          <a:p>
            <a:r>
              <a:t>Bullet 2 on the slide: explain("executionStats") two orderings.</a:t>
            </a:r>
          </a:p>
          <a:p/>
          <a:p>
            <a:r>
              <a:t>The figure on this slide is titled: Explain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5.9 — Steps 1–2.</a:t>
            </a:r>
          </a:p>
          <a:p/>
          <a:p>
            <a:r>
              <a:t>The slide title is: Lab 5.9 — Steps 1–2.</a:t>
            </a:r>
          </a:p>
          <a:p/>
          <a:p>
            <a:r>
              <a:t>The slide says: Lab guide: [Lab 5.9](../slide-exercises/module-05/lab-5.9-pipeline-performance-review.md).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Explain a late filter.</a:t>
            </a:r>
          </a:p>
          <a:p/>
          <a:p>
            <a:r>
              <a:t>Step 2 — Match earlier.</a:t>
            </a:r>
          </a:p>
          <a:p/>
          <a:p>
            <a:r>
              <a:t>Bullet 1 on the slide: Do: Sort createdAt then match PAID; record examined docs.</a:t>
            </a:r>
          </a:p>
          <a:p/>
          <a:p>
            <a:r>
              <a:t>Bullet 2 on the slide: Expected: Likely COLLSCAN of 17 orders.</a:t>
            </a:r>
          </a:p>
          <a:p/>
          <a:p>
            <a:r>
              <a:t>Bullet 3 on the slide: Do: Match then sort; name { paymentStatus: 1, createdAt: -1 }.</a:t>
            </a:r>
          </a:p>
          <a:p/>
          <a:p>
            <a:r>
              <a:t>Bullet 4 on the slide: Expected: Same question, better stage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Module Summary.</a:t>
            </a:r>
          </a:p>
          <a:p/>
          <a:p>
            <a:r>
              <a:t>The slide title is: Module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Pipelines are ordered transformations.</a:t>
            </a:r>
          </a:p>
          <a:p/>
          <a:p>
            <a:r>
              <a:t>Bullet 2 on the slide: $match $project $set $group $unwind $lookup $facet.</a:t>
            </a:r>
          </a:p>
          <a:p/>
          <a:p>
            <a:r>
              <a:t>Bullet 3 on the slide: Stage order changes meaning and cost.</a:t>
            </a:r>
          </a:p>
          <a:p/>
          <a:p>
            <a:r>
              <a:t>The figure on this slide is titled: Module 5 concept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Module Knowledge Check.</a:t>
            </a:r>
          </a:p>
          <a:p/>
          <a:p>
            <a:r>
              <a:t>The slide title is: Module Knowledge Check.</a:t>
            </a:r>
          </a:p>
          <a:p/>
          <a:p>
            <a:r>
              <a:t>The slide says: 1. What does a pipeline do?.</a:t>
            </a:r>
          </a:p>
          <a:p/>
          <a:p>
            <a:r>
              <a:t>The slide says: 2. Why does stage order matter?.</a:t>
            </a:r>
          </a:p>
          <a:p/>
          <a:p>
            <a:r>
              <a:t>The slide says: 3. $project versus $set?.</a:t>
            </a:r>
          </a:p>
          <a:p/>
          <a:p>
            <a:r>
              <a:t>The slide says: 4. What is $group._id?.</a:t>
            </a:r>
          </a:p>
          <a:p/>
          <a:p>
            <a:r>
              <a:t>The slide says: 5. How is $sum: 1 used?.</a:t>
            </a:r>
          </a:p>
          <a:p/>
          <a:p>
            <a:r>
              <a:t>The slide says: 6. When is $unwind required?.</a:t>
            </a:r>
          </a:p>
          <a:p/>
          <a:p>
            <a:r>
              <a:t>The slide says: 7. What does $lookup return?.</a:t>
            </a:r>
          </a:p>
          <a:p/>
          <a:p>
            <a:r>
              <a:t>The slide says: 8. Purpose of $facet?.</a:t>
            </a:r>
          </a:p>
          <a:p/>
          <a:p>
            <a:r>
              <a:t>The slide says: 9. How do you handle nulls?.</a:t>
            </a:r>
          </a:p>
          <a:p/>
          <a:p>
            <a:r>
              <a:t>The slide says: 10. Why put selective $match early?.</a:t>
            </a:r>
          </a:p>
          <a:p/>
          <a:p>
            <a:r>
              <a:t>The slide says: 11. Why is $limit before $sort wrong for top-N?.</a:t>
            </a:r>
          </a:p>
          <a:p/>
          <a:p>
            <a:r>
              <a:t>The slide says: 12. What must be true before you optimize?.</a:t>
            </a:r>
          </a:p>
          <a:p/>
          <a:p>
            <a:r>
              <a:t>Number 1 on the slide: What does a pipeline do?.</a:t>
            </a:r>
          </a:p>
          <a:p/>
          <a:p>
            <a:r>
              <a:t>Number 2 on the slide: Why does stage order matter?.</a:t>
            </a:r>
          </a:p>
          <a:p/>
          <a:p>
            <a:r>
              <a:t>Number 3 on the slide: $project versus $set?.</a:t>
            </a:r>
          </a:p>
          <a:p/>
          <a:p>
            <a:r>
              <a:t>Number 4 on the slide: What is $group._id?.</a:t>
            </a:r>
          </a:p>
          <a:p/>
          <a:p>
            <a:r>
              <a:t>Number 5 on the slide: How is $sum: 1 used?.</a:t>
            </a:r>
          </a:p>
          <a:p/>
          <a:p>
            <a:r>
              <a:t>Number 6 on the slide: When is $unwind required?.</a:t>
            </a:r>
          </a:p>
          <a:p/>
          <a:p>
            <a:r>
              <a:t>Number 7 on the slide: What does $lookup return?.</a:t>
            </a:r>
          </a:p>
          <a:p/>
          <a:p>
            <a:r>
              <a:t>Number 8 on the slide: Purpose of $facet?.</a:t>
            </a:r>
          </a:p>
          <a:p/>
          <a:p>
            <a:r>
              <a:t>Number 9 on the slide: How do you handle nulls?.</a:t>
            </a:r>
          </a:p>
          <a:p/>
          <a:p>
            <a:r>
              <a:t>Number 10 on the slide: Why put selective $match early?.</a:t>
            </a:r>
          </a:p>
          <a:p/>
          <a:p>
            <a:r>
              <a:t>Number 11 on the slide: Why is $limit before $sort wrong for top-N?.</a:t>
            </a:r>
          </a:p>
          <a:p/>
          <a:p>
            <a:r>
              <a:t>Number 12 on the slide: What must be true before you optimize?.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5.10 — Integrated Aggregation Challenge.</a:t>
            </a:r>
          </a:p>
          <a:p/>
          <a:p>
            <a:r>
              <a:t>The slide title is: Lab 5.10 — Integrated Aggregation Challenge.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[Lab 5.10](../slide-exercises/module-05/lab-5.10-integrated-aggregation-challenge.md).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40 minutes.</a:t>
            </a:r>
          </a:p>
          <a:p/>
          <a:p>
            <a:r>
              <a:t>Bullet 2 on the slide: Monthly performance report.</a:t>
            </a:r>
          </a:p>
          <a:p/>
          <a:p>
            <a:r>
              <a:t>Bullet 3 on the slide: Required stages listed in the guide.</a:t>
            </a:r>
          </a:p>
          <a:p/>
          <a:p>
            <a:r>
              <a:t>The figure on this slide is titled: Monthly report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5.10 — Steps 1–2.</a:t>
            </a:r>
          </a:p>
          <a:p/>
          <a:p>
            <a:r>
              <a:t>The slide title is: Lab 5.10 — Steps 1–2.</a:t>
            </a:r>
          </a:p>
          <a:p/>
          <a:p>
            <a:r>
              <a:t>The slide says: Lab guide: [Lab 5.10](../slide-exercises/module-05/lab-5.10-integrated-aggregation-challenge.md).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Monthly core metrics.</a:t>
            </a:r>
          </a:p>
          <a:p/>
          <a:p>
            <a:r>
              <a:t>Step 2 — Units, top product, status.</a:t>
            </a:r>
          </a:p>
          <a:p/>
          <a:p>
            <a:r>
              <a:t>Bullet 1 on the slide: Do: Paid, month key, group count/revenue/AOV/$addToSet customers.</a:t>
            </a:r>
          </a:p>
          <a:p/>
          <a:p>
            <a:r>
              <a:t>Bullet 2 on the slide: Expected: Three months; $size unique customers.</a:t>
            </a:r>
          </a:p>
          <a:p/>
          <a:p>
            <a:r>
              <a:t>Bullet 3 on the slide: Do: Other facet branches; sort months; save sample output.</a:t>
            </a:r>
          </a:p>
          <a:p/>
          <a:p>
            <a:r>
              <a:t>Bullet 4 on the slide: Expected: Every required stage used; July validated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5.13 — Executive Sales Summary.</a:t>
            </a:r>
          </a:p>
          <a:p/>
          <a:p>
            <a:r>
              <a:t>The slide title is: Exercise 5.13 — Executive Sales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5.13](../slide-exercises/module-05/exercise-5.13-executive-sales-summary.md).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30–45 minutes.</a:t>
            </a:r>
          </a:p>
          <a:p/>
          <a:p>
            <a:r>
              <a:t>Bullet 2 on the slide: Date-bounded paid report plus catalog bands.</a:t>
            </a:r>
          </a:p>
          <a:p/>
          <a:p>
            <a:r>
              <a:t>The figure on this slide is titled: Executive sales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5.13 — Executive Sales Summary. We have about 30-45 min for this lab.</a:t>
            </a:r>
          </a:p>
          <a:p/>
          <a:p>
            <a:r>
              <a:t>Produce a date-bounded executive report covering revenue, monthly trend, products, customers, categories, and price bands.</a:t>
            </a:r>
          </a:p>
          <a:p/>
          <a:p>
            <a:r>
              <a:t>The full lab guide is in slide-exercises/module-05/exercise-5.13-executive-sales-summary.md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Choose collections and the date filter.</a:t>
            </a:r>
          </a:p>
          <a:p/>
          <a:p>
            <a:r>
              <a:t>Step 2 — Build and structure the output.</a:t>
            </a:r>
          </a:p>
          <a:p/>
          <a:p>
            <a:r>
              <a:t>Step 1 — Choose collections and the date filter.</a:t>
            </a:r>
          </a:p>
          <a:p/>
          <a:p>
            <a:r>
              <a:t>Step 2 — Build and structure the output.</a:t>
            </a:r>
          </a:p>
          <a:p/>
          <a:p>
            <a:r>
              <a:t>Step 1 — Choose collections and the date filter.</a:t>
            </a:r>
          </a:p>
          <a:p/>
          <a:p>
            <a:r>
              <a:t>Step 2 — Build and structure the output.</a:t>
            </a:r>
          </a:p>
          <a:p/>
          <a:p>
            <a:r>
              <a:t>Step 1 — Collections and date filter.</a:t>
            </a:r>
          </a:p>
          <a:p/>
          <a:p>
            <a:r>
              <a:t>Step 2 — Structure the output.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5.13 — Steps 1–2.</a:t>
            </a:r>
          </a:p>
          <a:p/>
          <a:p>
            <a:r>
              <a:t>The slide says: Lab guide: [Exercise 5.13](../slide-exercises/module-05/exercise-5.13-executive-sales-summary.md).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Orders drive items 1–6. Products drive 7–8. Write the $match on createdAt and paymentStatus.</a:t>
            </a:r>
          </a:p>
          <a:p/>
          <a:p>
            <a:r>
              <a:t>Bullet 2 on the slide: Expected: Date range uses ISODate bounds. Pending orders are excluded.</a:t>
            </a:r>
          </a:p>
          <a:p/>
          <a:p>
            <a:r>
              <a:t>Bullet 3 on the slide: Do: Use $facet so one aggregate call returns the metrics. Join customer names only on the top-customer branch. Handle missing shippingFee if you add it into a calculation. Explain stage order in three sentences.</a:t>
            </a:r>
          </a:p>
          <a:p/>
          <a:p>
            <a:r>
              <a:t>Bullet 4 on the slide: Expected: One result document (or a small set of clearly named documents). Top product L110. Top customer C101. You named likely indexes: paymentStatus+createdAt, and p.</a:t>
            </a:r>
          </a:p>
          <a:p/>
          <a:p>
            <a:r>
              <a:t>Bullet 5 on the slide: Do: Orders drive items 1–6. Products drive 7–8. Write the $match on createdAt and paymentStatus.</a:t>
            </a:r>
          </a:p>
          <a:p/>
          <a:p>
            <a:r>
              <a:t>Bullet 6 on the slide: Expected: Date range uses ISODate bounds. Pending orders are excluded.</a:t>
            </a:r>
          </a:p>
          <a:p/>
          <a:p>
            <a:r>
              <a:t>Bullet 7 on the slide: Do: Use $facet so one aggregate call returns the metrics. Join customer names only on the top-customer branch. Handle missing shippingFee if you add it into a calculation. Explain stage order in three sentences.</a:t>
            </a:r>
          </a:p>
          <a:p/>
          <a:p>
            <a:r>
              <a:t>Bullet 8 on the slide: Expected: One result document (or a small set of clearly named documents). Top product L110. Top customer C101. You named likely indexes: paymentStatus+createdAt, and p.</a:t>
            </a:r>
          </a:p>
          <a:p/>
          <a:p>
            <a:r>
              <a:t>Bullet 9 on the slide: Do: Orders drive items 1–6. Products drive 7–8. Write the $match on createdAt and paymentStatus.</a:t>
            </a:r>
          </a:p>
          <a:p/>
          <a:p>
            <a:r>
              <a:t>Bullet 10 on the slide: Expected: Date range uses ISODate bounds. Pending orders are excluded.</a:t>
            </a:r>
          </a:p>
          <a:p/>
          <a:p>
            <a:r>
              <a:t>Bullet 11 on the slide: Do: Use $facet so one aggregate call returns the metrics. Join customer names only on the top-customer branch. Handle missing shippingFee if you add it into a calculation. Explain stage order in three sentences.</a:t>
            </a:r>
          </a:p>
          <a:p/>
          <a:p>
            <a:r>
              <a:t>Bullet 12 on the slide: Expected: One result document (or a small set of clearly named documents). Top product L110. Top customer C101. You named likely indexes: paymentStatus+createdAt, and p.</a:t>
            </a:r>
          </a:p>
          <a:p/>
          <a:p>
            <a:r>
              <a:t>Bullet 13 on the slide: Do: Orders for 1–6; products for 7–8; ISODate range; PAID.</a:t>
            </a:r>
          </a:p>
          <a:p/>
          <a:p>
            <a:r>
              <a:t>Bullet 14 on the slide: Expected: Pending orders excluded.</a:t>
            </a:r>
          </a:p>
          <a:p/>
          <a:p>
            <a:r>
              <a:t>Bullet 15 on the slide: Do: $facet; lookup only on top customers; defend order and one index.</a:t>
            </a:r>
          </a:p>
          <a:p/>
          <a:p>
            <a:r>
              <a:t>Bullet 16 on the slide: Expected: Top product L110; top customer C101.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Completion Checklist.</a:t>
            </a:r>
          </a:p>
          <a:p/>
          <a:p>
            <a:r>
              <a:t>The slide title is: Module Completion Checklist.</a:t>
            </a:r>
          </a:p>
          <a:p/>
          <a:p>
            <a:r>
              <a:t>The slide says: Participants can:.</a:t>
            </a:r>
          </a:p>
          <a:p/>
          <a:p>
            <a:r>
              <a:t>Bullet 1 on the slide: Explain pipeline processing.</a:t>
            </a:r>
          </a:p>
          <a:p/>
          <a:p>
            <a:r>
              <a:t>Bullet 2 on the slide: Build multi-stage aggregations.</a:t>
            </a:r>
          </a:p>
          <a:p/>
          <a:p>
            <a:r>
              <a:t>Bullet 3 on the slide: Filter and reshape documents.</a:t>
            </a:r>
          </a:p>
          <a:p/>
          <a:p>
            <a:r>
              <a:t>Bullet 4 on the slide: Create calculated fields.</a:t>
            </a:r>
          </a:p>
          <a:p/>
          <a:p>
            <a:r>
              <a:t>Bullet 5 on the slide: Group by one or more fields.</a:t>
            </a:r>
          </a:p>
          <a:p/>
          <a:p>
            <a:r>
              <a:t>Bullet 6 on the slide: Use accumulator operators.</a:t>
            </a:r>
          </a:p>
          <a:p/>
          <a:p>
            <a:r>
              <a:t>Bullet 7 on the slide: Process arrays with $unwind.</a:t>
            </a:r>
          </a:p>
          <a:p/>
          <a:p>
            <a:r>
              <a:t>Bullet 8 on the slide: Join with $lookup.</a:t>
            </a:r>
          </a:p>
          <a:p/>
          <a:p>
            <a:r>
              <a:t>Bullet 9 on the slide: Build bucketed and $facet reports.</a:t>
            </a:r>
          </a:p>
          <a:p/>
          <a:p>
            <a:r>
              <a:t>Bullet 10 on the slide: Handle missing values and types.</a:t>
            </a:r>
          </a:p>
          <a:p/>
          <a:p>
            <a:r>
              <a:t>Bullet 11 on the slide: Validate calculations.</a:t>
            </a:r>
          </a:p>
          <a:p/>
          <a:p>
            <a:r>
              <a:t>Bullet 12 on the slide: Identify basic performance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Questions and Answers.</a:t>
            </a:r>
          </a:p>
          <a:p/>
          <a:p>
            <a:r>
              <a:t>The slide title is: Questions and Answers.</a:t>
            </a:r>
          </a:p>
          <a:p/>
          <a:p>
            <a:r>
              <a:t>The slide says: Open questions on:.</a:t>
            </a:r>
          </a:p>
          <a:p/>
          <a:p>
            <a:r>
              <a:t>The slide says: Park replica-set and shard-key questions for Module 7.</a:t>
            </a:r>
          </a:p>
          <a:p/>
          <a:p>
            <a:r>
              <a:t>Bullet 1 on the slide: Stage order in their reports.</a:t>
            </a:r>
          </a:p>
          <a:p/>
          <a:p>
            <a:r>
              <a:t>Bullet 2 on the slide: When to unwind versus $filter.</a:t>
            </a:r>
          </a:p>
          <a:p/>
          <a:p>
            <a:r>
              <a:t>Bullet 3 on the slide: Whether $lookup means they modeled wrong.</a:t>
            </a:r>
          </a:p>
          <a:p/>
          <a:p>
            <a:r>
              <a:t>Bullet 4 on the slide: What they will index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Day 2 path through aggregation.</a:t>
            </a:r>
          </a:p>
          <a:p/>
          <a:p>
            <a:r>
              <a:t>The slide title is: Day 2 path through aggregation.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Filter with $match.</a:t>
            </a:r>
          </a:p>
          <a:p/>
          <a:p>
            <a:r>
              <a:t>Bullet 2 on the slide: Shape with $set / $project.</a:t>
            </a:r>
          </a:p>
          <a:p/>
          <a:p>
            <a:r>
              <a:t>Bullet 3 on the slide: Summarize with $group.</a:t>
            </a:r>
          </a:p>
          <a:p/>
          <a:p>
            <a:r>
              <a:t>Bullet 4 on the slide: Report with $facet.</a:t>
            </a:r>
          </a:p>
          <a:p/>
          <a:p>
            <a:r>
              <a:t>The figure on this slide is titled: Day 2 aggregation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Transition to Module 6: Indexing.</a:t>
            </a:r>
          </a:p>
          <a:p/>
          <a:p>
            <a:r>
              <a:t>The slide title is: Transition to Module 6: Indexing.</a:t>
            </a:r>
          </a:p>
          <a:p/>
          <a:p>
            <a:r>
              <a:t>The slide says: Module 6 connects these pipelines to performance:.</a:t>
            </a:r>
          </a:p>
          <a:p/>
          <a:p>
            <a:r>
              <a:t>The slide says: Bring tomorrow’s laptop on the same connection string. Keep today’s pipelines.</a:t>
            </a:r>
          </a:p>
          <a:p/>
          <a:p>
            <a:r>
              <a:t>Bullet 1 on the slide: Index structures.</a:t>
            </a:r>
          </a:p>
          <a:p/>
          <a:p>
            <a:r>
              <a:t>Bullet 2 on the slide: Single-field and compound indexes.</a:t>
            </a:r>
          </a:p>
          <a:p/>
          <a:p>
            <a:r>
              <a:t>Bullet 3 on the slide: Multikey, unique, text, and specialized indexes.</a:t>
            </a:r>
          </a:p>
          <a:p/>
          <a:p>
            <a:r>
              <a:t>Bullet 4 on the slide: Prefixes and field order.</a:t>
            </a:r>
          </a:p>
          <a:p/>
          <a:p>
            <a:r>
              <a:t>Bullet 5 on the slide: Covered queries.</a:t>
            </a:r>
          </a:p>
          <a:p/>
          <a:p>
            <a:r>
              <a:t>Bullet 6 on the slide: Execution plans.</a:t>
            </a:r>
          </a:p>
          <a:p/>
          <a:p>
            <a:r>
              <a:t>Bullet 7 on the slide: Maintenance and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The Aggregation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Pipelines transform raw MongoDB documents into summaries, calculations, and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Pipeline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$match &amp; $group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$project &amp; $sort Stages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$lookup &amp; $facet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Pipeline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3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3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5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WILL BE ABLE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7716"/>
            <a:ext cx="11247120" cy="350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Construct pipelines one stage at a time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Understand how stage order changes results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Group and summarize documents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Create calculated fields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Analyze embedded arrays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Combine related collections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Produce multiple metrics from one input set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Improve pipeline clarity and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42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42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60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83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MongoDB Aggregation Framework processes documents through a sequence of stages called a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858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Aggregation is useful when an application must: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8824"/>
            <a:ext cx="11247120" cy="216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Filter documents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Group related records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Calculate totals, averages and counts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Reshape output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Sort and rank results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Combine data from multiple collections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Produce reports and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875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central idea 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2778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We will continue using the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database: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pipeline stage receives documents, transforms them and passes its results to the next stage.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7601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760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577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600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Collections: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30196"/>
            <a:ext cx="5550408" cy="12908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21636"/>
            <a:ext cx="5294376" cy="1126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230196"/>
            <a:ext cx="5550408" cy="12908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321636"/>
            <a:ext cx="5294376" cy="1126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├── 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├── customers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├── 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└── reviews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AGGREGATION PIPELINE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25999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2599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07711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0047"/>
            <a:ext cx="384048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An aggregation pipeline is an array of stage documents: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8634"/>
            <a:ext cx="384048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 simple example 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5469"/>
            <a:ext cx="384048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The pipeline operates as follows: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056"/>
            <a:ext cx="1847088" cy="21122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85496"/>
            <a:ext cx="159105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db.collection.aggregate([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stage1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stage2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stage3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3794056"/>
            <a:ext cx="1847088" cy="21122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3885496"/>
            <a:ext cx="159105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1035" y="2706874"/>
            <a:ext cx="7242810" cy="170028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16399"/>
            <a:ext cx="7223760" cy="168123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AGGREGATION PIPELINE STRUCTURE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1247120" cy="47609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91088" cy="459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$match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Keep Electronics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$project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Select name and price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$sort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Order by price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Final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STAGE 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163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163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980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00368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The output from one stage becomes the input to the next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8479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These pipelines do not necessarily mean the same thing: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96590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This takes an initial set of five documents and sorts those five.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01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This finds the five most expensive 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2812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4252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 $limit: 5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 $sort: { price: -1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392812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484252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 $sort: { price: -1 }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 $limit: 5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793528"/>
            <a:ext cx="7242810" cy="352697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03053"/>
            <a:ext cx="7223760" cy="35079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AGGREGATION VERSUS REGULAR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633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63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0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03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regular query is appropriate for straightforward retrieval: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51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Aggregation is more appropriate when the result requires calculations or transformations: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559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aggregation for questions such as: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2605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1749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92605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01749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AGGREGATION VERSUS REGULAR QUERIES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How much revenue did each customer generate?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is the average product price by category?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products have the highest average ratings?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How many orders are in each status?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are the top five products by quantity sold?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FILTER BY EXACT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993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993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10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33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filters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Its syntax is similar to the filter used by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3644"/>
            <a:ext cx="5550408" cy="11399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15084"/>
            <a:ext cx="5294376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field: condition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23644"/>
            <a:ext cx="5550408" cy="11399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15084"/>
            <a:ext cx="5294376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FILTER USING 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00784"/>
            <a:ext cx="3840480" cy="36210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792224"/>
            <a:ext cx="358444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$gte: NumberDecimal("40.00"),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71035" y="1727174"/>
            <a:ext cx="7242810" cy="365968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6699"/>
            <a:ext cx="7223760" cy="36406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COMBINE MULTIPLE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43278"/>
            <a:ext cx="11247120" cy="333603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934718"/>
            <a:ext cx="10991088" cy="3171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$gt: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FILTER BY DATE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$gte: ISODate("2026-09-01T00:00:00Z"),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$lt: ISODate("2026-10-01T00:00:00Z")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PLACE SELECTIVE MATCHING 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76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7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4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8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When possible, place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near the start of the pipeline: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94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reduces the number of documents processed by later stages. An early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may also benefit from an appropriate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92352"/>
            <a:ext cx="11247120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83792"/>
            <a:ext cx="1099108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"$customerId",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totalSpent: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THE $GROUP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1038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combines documents using a grouping key and calculates aggregated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3107"/>
            <a:ext cx="384048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General syntax: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29942"/>
            <a:ext cx="384048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field defines the grouping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58529"/>
            <a:ext cx="384048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49969"/>
            <a:ext cx="35844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_id: &lt;grouping-expression&gt;,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resultField: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&lt;accumulator&gt;: &lt;expression&gt;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946695"/>
            <a:ext cx="7242810" cy="322064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56220"/>
            <a:ext cx="7223760" cy="320159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COUNT PRODUCTS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3286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328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145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69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Possible result: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870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`$sum: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1` adds one for every document in the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172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48612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57172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48612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productCount: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"Books",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productCount: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CALCULATE AVERAGE PRICE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CALCULATE SEVERAL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1247120" cy="47274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91088" cy="4562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productCount: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lowestPrice: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$min: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highestPrice: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$max: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totalInventory: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"$stock"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GROUP ALL DOCUMENTS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Use `_id: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null` when the entire input should form one group: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91106"/>
            <a:ext cx="3840480" cy="28834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82546"/>
            <a:ext cx="3584448" cy="2718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totalRevenue: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averageOrderValue: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$avg: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897136"/>
            <a:ext cx="7242810" cy="331975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06661"/>
            <a:ext cx="7223760" cy="330070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GROUP BY MULTIPLE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83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8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55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886"/>
            <a:ext cx="3840480" cy="1484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Each unique combination of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status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creates a separate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92858"/>
            <a:ext cx="3840480" cy="26151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284298"/>
            <a:ext cx="3584448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_id: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status: "$status",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customerId: "$customerId"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totalValue: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963684"/>
            <a:ext cx="7242809" cy="31866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73209"/>
            <a:ext cx="7223759" cy="316761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COMMON ACCUMULATOR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198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19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3693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6029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Accumulator operators calculate values across documents in a group.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44140"/>
          <a:ext cx="3840480" cy="2734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880360"/>
              </a:tblGrid>
              <a:tr h="303862"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Operator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Purpose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Calculates a total or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$avg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Calculates an average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Returns the lowest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$max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Returns the highest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Returns the first value in 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$last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Returns the last value in a group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Collects values, including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$addToSet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Collects unique values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471035" y="1755372"/>
            <a:ext cx="7242810" cy="36032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64897"/>
            <a:ext cx="7223760" cy="358423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COLLECT PRODUCT NAMES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products: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$push: "$name"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COLLECT UNIQUE CUSTOMER IDS BY ORDER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_id: "$status",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customers: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$addToSet: "$customerId"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$FIRST AFTER SORTING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2437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243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060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84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To find the most expensive product in each category: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85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preceding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determines which document is considered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8690"/>
            <a:ext cx="11247120" cy="30678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840130"/>
            <a:ext cx="10991088" cy="2903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mostExpensiveProduct: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$first: "$name"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highestPrice: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$first: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SELECT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controls the output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711"/>
            <a:ext cx="384048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It can: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6654"/>
            <a:ext cx="3840480" cy="1604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Include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Exclude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Rename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Create calculated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Restructure documents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Apply expressions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62512"/>
            <a:ext cx="3840480" cy="18775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53952"/>
            <a:ext cx="3584448" cy="1712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2049936"/>
            <a:ext cx="7242810" cy="301415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59461"/>
            <a:ext cx="7223760" cy="299510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RENAME A FIELD IN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0827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8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8998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2324"/>
            <a:ext cx="3840480" cy="1484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changes only the pipeline result. It does not rename fields in stored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8296"/>
            <a:ext cx="3840480" cy="24643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59736"/>
            <a:ext cx="3584448" cy="2299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productName: "$name",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unitPrice: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093013"/>
            <a:ext cx="7242810" cy="292800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2538"/>
            <a:ext cx="7223760" cy="290895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CALCULATE A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931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93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10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33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Calculate inventory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53490"/>
            <a:ext cx="11247120" cy="3688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244930"/>
            <a:ext cx="10991088" cy="3523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stock: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inventoryValue: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$multiply: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"$price",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"$stock"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BUILD A FULL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73302"/>
            <a:ext cx="11247120" cy="44759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364742"/>
            <a:ext cx="10991088" cy="4311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email: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fullName: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$concat: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"$firstName",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 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"$lastName"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ROUND A CALCULATED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97864"/>
            <a:ext cx="11247120" cy="46268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89304"/>
            <a:ext cx="10991088" cy="4462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category: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  "$averagePrice",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CREATE A CONDITIONAL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1392"/>
            <a:ext cx="11247120" cy="45598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322832"/>
            <a:ext cx="10991088" cy="439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stock: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stockStatus: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$cond: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if: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$eq: ["$stock", 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then: "Out of stock",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else: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$cond: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  if: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    $lt: ["$stock", 50]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  then: "Low stock",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  else: "Available"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SORT PRODUCTS BY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0019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00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81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4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orders pipeline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437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means ascending.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-1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means descending.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57478"/>
            <a:ext cx="5550408" cy="10226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948918"/>
            <a:ext cx="5294376" cy="858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field: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857478"/>
            <a:ext cx="5550408" cy="10226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948918"/>
            <a:ext cx="5294376" cy="858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SORT USING MULTIPLE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409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09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227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50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MongoDB sorts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51879"/>
            <a:ext cx="11247120" cy="1214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Category in ascending order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Price in descending order within each category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Name in ascending order when prices are equal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5806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For predictable results, include a unique tie-breaker when appropriate: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4899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476339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price: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name: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384899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476339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THE $LIMIT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restricts the number of documents passed to the next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13460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returns the three most expensive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18872"/>
            <a:ext cx="3840480" cy="22128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10312"/>
            <a:ext cx="3584448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$limit: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804211"/>
            <a:ext cx="7242810" cy="350561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13736"/>
            <a:ext cx="7223760" cy="3486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$SKIP WITH $LIMIT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92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92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09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32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simple pagination: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341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Large skip values can become inefficient. Range-based pagination is often preferable for large production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8824"/>
            <a:ext cx="11247120" cy="27828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50264"/>
            <a:ext cx="10991088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_id: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$skip: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$limit: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BUSINESS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509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509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680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913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Management wants a category-level inventory report showing: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2676"/>
            <a:ext cx="11247120" cy="316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Active products only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Number of products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Average product price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Lowest price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Highest price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Total units in stock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Total inventory value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Categories ordered by inventory value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Only the top five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9132"/>
            <a:ext cx="184708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290572"/>
            <a:ext cx="159105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lowestPrice: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$min: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highestPrice: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$max: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0592" y="2199132"/>
            <a:ext cx="184708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8608" y="2290572"/>
            <a:ext cx="159105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totalUnits: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"$stock"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555952"/>
            <a:ext cx="7242810" cy="200212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65477"/>
            <a:ext cx="7223760" cy="19830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PIPELINE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50008"/>
            <a:ext cx="5550408" cy="24140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441448"/>
            <a:ext cx="5294376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totalInventoryValue: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$multiply: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"$price",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"$stock"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"$averagePrice",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lowestPrice: 1,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350008"/>
            <a:ext cx="5550408" cy="24140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441448"/>
            <a:ext cx="5294376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highestPrice: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totalUnits: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totalInventoryValue: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totalInventoryValue: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STAGE-BY-STAGE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#### Stage 1: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Removes inactive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#### Stage 2: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Creates one group for each category and calculates its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STAGE-BY-STAGE EXPLANATION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#### Stage 3: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Reshapes the report and gives the grouping key a business-friendly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#### Stage 4: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Ranks categories from highest to lowest inventory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totalInventoryValue: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STAGE-BY-STAGE EXPLANATION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302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302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119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42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#### Stage 5: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8439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Returns the five highest-ranking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54530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45970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313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31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648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71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Show the number and value of orders in each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7310"/>
            <a:ext cx="11247120" cy="35204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328750"/>
            <a:ext cx="10991088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_id: "$status",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totalValue: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averageOrderValue: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 $avg: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_id: 0,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73302"/>
            <a:ext cx="11247120" cy="44759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364742"/>
            <a:ext cx="10991088" cy="4311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status: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orderCount: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totalValue: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averageOrderValue: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  "$averageOrderValue",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totalValue: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MONTHLY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313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31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648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71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Dates can be grouped by month using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$dateTrunc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7310"/>
            <a:ext cx="11247120" cy="35204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328750"/>
            <a:ext cx="10991088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_id: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$dateTrunc: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date: "$orderedAt",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unit: "month",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timezone: "America/Toronto"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MONTHLY SALES ANALYSIS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092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09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26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497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selected timezone affects how timestamps near month boundaries are classified.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80388"/>
            <a:ext cx="11247120" cy="33695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571828"/>
            <a:ext cx="10991088" cy="3204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revenue: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month: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orderCount: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revenue: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month: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WORKING WITH ORDER-ITEM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Each order contains an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array: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180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To analyze individual products, the array must first be expanded.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18872"/>
            <a:ext cx="3840480" cy="21960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10312"/>
            <a:ext cx="3584448" cy="2031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orderNumber: "ORD-2026-1002",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items: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sku: "ELEC-1002",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productName: "Mechanical Keyboard",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quantity: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lineTotal: NumberDecimal("89.99")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sku: "BOOK-2001",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productName: "MongoDB Fundamentals",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quantity: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lineTotal: NumberDecimal("49.99")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2483748"/>
            <a:ext cx="7242810" cy="214653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93273"/>
            <a:ext cx="7223760" cy="212748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$UNWIND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4523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452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69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92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One order containing two items becomes two pipeline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94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original stored order is not 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69542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560982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the top five products by units sold.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20546"/>
            <a:ext cx="11247120" cy="35539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311986"/>
            <a:ext cx="10991088" cy="3389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_id: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productId: "$items.productId",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sku: "$items.sku",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productName: "$items.productName"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data flow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20546"/>
            <a:ext cx="11247120" cy="35539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311986"/>
            <a:ext cx="10991088" cy="3389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salesValue: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$sum: "$items.lineTotal"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productId: "$_id.productId",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sku: "$_id.sku",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productName: "$_id.productName",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unitsSold: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salesValue: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unitsSold: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salesValue: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1247120" cy="47609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91088" cy="459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Keep completed sales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Expand order items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Group by product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Calculate units and sales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Rank and return top five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Show products with: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6305"/>
            <a:ext cx="11247120" cy="1777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At least one review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Average rating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Total review count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Highest and lowest rating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Highest-rated products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25350"/>
            <a:ext cx="11247120" cy="22128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016790"/>
            <a:ext cx="10991088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reviewCount: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$avg: "$rating"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highestRating: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$max: "$rating"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lowestRating: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$min: "$rating"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report contains product IDs but not product names. To obtain names from 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collection,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55826"/>
            <a:ext cx="11247120" cy="32186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647266"/>
            <a:ext cx="10991088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productId: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reviewCount: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averageRating: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"$averageRating",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highestRating: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lowestRating: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averageRating: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reviewCount: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ADD PRODUCT INFORMATION TO THE REVIEW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3177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317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1348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58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performs a left outer join between collections.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5950"/>
            <a:ext cx="5550408" cy="2514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877390"/>
            <a:ext cx="5294376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reviewCount: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$avg: "$rating"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$lookup: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from: "products",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localField: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foreignField: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as: "product"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785950"/>
            <a:ext cx="5550408" cy="2514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877390"/>
            <a:ext cx="5294376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productId: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productName: "$product.name",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"$product.category",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reviewCount: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averageRating: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"$averageRating",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averageRating: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reviewCount: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$LOOKUP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4779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477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295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18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Before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19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After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7210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Because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produces an array,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commonly used when exactly one matching document is expected.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77518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268958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reviewCount: 3,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product: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name: "Wireless Mouse"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177518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268958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reviewCount: 3,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product: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"Wireless Mouse"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the highest-spending customers and include their names and email addresses.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180"/>
            <a:ext cx="11247120" cy="34198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569620"/>
            <a:ext cx="10991088" cy="3255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_id: "$customerId",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totalSpent: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averageOrderValue: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  $avg: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REQUIREMENT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49424"/>
            <a:ext cx="5550408" cy="26151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340864"/>
            <a:ext cx="5294376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lastOrderAt: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$max: "$orderedAt"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$lookup: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from: "customers",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localField: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foreignField: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as: "customer"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"$customer"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customerId: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customerName: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$concat: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"$customer.firstName",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 ",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249424"/>
            <a:ext cx="5550408" cy="26151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340864"/>
            <a:ext cx="5294376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"$customer.lastName"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email: "$customer.email",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orderCount: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totalSpent: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averageOrderValue: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$round: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"$averageOrderValue",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lastOrderAt: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totalSpent: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$limit: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USING $COUNT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69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6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86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809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counts the documents reaching that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5109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Possible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123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Unlike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countDocuments()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operates on the intermediate results of the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6642"/>
            <a:ext cx="5550408" cy="15087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18082"/>
            <a:ext cx="529437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$gt: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$count: "availableProductCount"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026642"/>
            <a:ext cx="5550408" cy="15087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118082"/>
            <a:ext cx="529437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availableProductCount: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PRODUCT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561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561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732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9662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runs multiple sub-pipelines against the same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0354"/>
            <a:ext cx="1847088" cy="28163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061794"/>
            <a:ext cx="15910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$facet: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categorySummary: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_id: "$category",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productCount: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averagePrice: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$avg: "$price"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productCount: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970354"/>
            <a:ext cx="1847088" cy="28163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3061794"/>
            <a:ext cx="15910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lowStockProducts: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$lt: 50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2347155"/>
            <a:ext cx="7242810" cy="241972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56680"/>
            <a:ext cx="7223760" cy="240067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PRODUCT DASHBOARD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result contains three report sections in one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20546"/>
            <a:ext cx="11247120" cy="35539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311986"/>
            <a:ext cx="10991088" cy="3389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mostExpensiveProducts: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WRITING AGGREGATION RESULTS WITH $MERGE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Aggregation normally returns results without changing the source collection.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$merge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can store or update materialized reporting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13032"/>
            <a:ext cx="11247120" cy="32186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804472"/>
            <a:ext cx="10991088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_id: "$customerId",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  $sum: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WRITING AGGREGATION RESULTS WITH $MERGE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0761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61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932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9166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creates or refreshes documents in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customer_sales_summary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6179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Because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$merge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writes data, it should be tested carefully before being used in a production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7206"/>
            <a:ext cx="11247120" cy="27660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58646"/>
            <a:ext cx="10991088" cy="2601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totalSpent: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calculatedAt: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$max: "$orderedAt"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$merge: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into: "customer_sales_summary",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on: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whenMatched: "replace",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whenNotMatched: "insert"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1: START WITH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4530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453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702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935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Complex pipelines should be built incrementally.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99488"/>
            <a:ext cx="11247120" cy="21960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90928"/>
            <a:ext cx="10991088" cy="2031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status: "Shipped"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ADD ARRAY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status: "Shipped"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3: ADD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1247120" cy="47274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91088" cy="4562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status: "Shipped"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_id: "$items.sku",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4: SHAPE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13254"/>
            <a:ext cx="11247120" cy="21960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504694"/>
            <a:ext cx="10991088" cy="2031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sku: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unitsSold: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5: SORT AND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83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8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55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886"/>
            <a:ext cx="3840480" cy="2155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 each new stage before adding the next one. This makes incorrect filters, field paths and group expressions easier to locate.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63418"/>
            <a:ext cx="3840480" cy="19446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954858"/>
            <a:ext cx="3584448" cy="1780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unitsSold: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911534"/>
            <a:ext cx="7242810" cy="129096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21059"/>
            <a:ext cx="7223760" cy="127191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FILTER 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08907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890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7078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31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 early as logically possible to reduce input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 ONLY WHEN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75379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53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35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37838"/>
            <a:ext cx="1124712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Removing unnecessary large fields early can reduce intermediate document size. However, MongoDB may already optimize straightforward field dependencies, so avoid adding stages that do not improve clarity or behavior.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SORT AFTER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3840480" cy="1484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is generally preferable to sorting the complete collection before filtering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18872"/>
            <a:ext cx="3840480" cy="22128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10312"/>
            <a:ext cx="3584448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2169012"/>
            <a:ext cx="7242810" cy="277600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78537"/>
            <a:ext cx="7223760" cy="27569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INDEX IMPORTANT EARLY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3286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328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145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69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pipeline beginning with: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870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may benefit from: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172"/>
            <a:ext cx="5550408" cy="11399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48612"/>
            <a:ext cx="5294376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status: "Completed",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$gte: ISODate("2026-09-01T00:00:00Z")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57172"/>
            <a:ext cx="5550408" cy="11399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48612"/>
            <a:ext cx="5294376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CONTROL $UNWIND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76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7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4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80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One document with 100 array elements produces 100 intermediate documents after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2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Filter before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when possible: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92352"/>
            <a:ext cx="11247120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83792"/>
            <a:ext cx="1099108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EXPLAIN()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0693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69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6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9098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Inspect execution behavior: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122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Look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71460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Whether an index was used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Documents examined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Documents returned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Expensive sorts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Large intermediate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24020"/>
            <a:ext cx="11247120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215460"/>
            <a:ext cx="10991088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db.orders.explain("executionStats").aggregate([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"$customerId",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totalSpent: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BUSINESS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980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98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15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3854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Create a report of the top-selling product categories for completed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079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The report must: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7740"/>
            <a:ext cx="11247120" cy="2903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Include only shipped, delivered or completed orders.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Expand individual order items.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Join order items to current products.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Group results by product category.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Calculate total units sold.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Calculate total sales.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Count distinct customers.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Calculate sales per customer.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Show only categories with sales of at least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$50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Sort from highest to lowest sales.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Return the top five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97964"/>
            <a:ext cx="5550408" cy="31181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89404"/>
            <a:ext cx="5294376" cy="2953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$lookup: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from: "products",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localField: "items.productId",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foreignField: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as: "product"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"$product.category",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997964"/>
            <a:ext cx="5550408" cy="31181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089404"/>
            <a:ext cx="5294376" cy="2953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totalSales: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"$items.lineTotal"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customers: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$addToSet: "$customerId"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totalUnitsSold: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totalSales: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uniqueCustomerCount: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$size: "$customers"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SOLUTION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97380"/>
            <a:ext cx="5550408" cy="33192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988820"/>
            <a:ext cx="5294376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salesPerCustomer: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$cond: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$gt: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  $size: "$customers"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$divide: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"$totalSales",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  $size: "$customers"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totalSales: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$gte: NumberDecimal("50.00")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897380"/>
            <a:ext cx="5550408" cy="33192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1988820"/>
            <a:ext cx="5294376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totalSales: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$limit: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WHY ARE THERE TWO $MATCH STAGES?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9181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8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735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86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The first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filters stored order documents: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269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The second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filters calculated group results: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9534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totalSales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does not exist in the original order documents. It is created by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so it can only be filtered afterward.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812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# Module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4956"/>
            <a:ext cx="555040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76396"/>
            <a:ext cx="529437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$in: ["Shipped", "Delivered", "Completed"]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84956"/>
            <a:ext cx="555040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76396"/>
            <a:ext cx="529437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totalSales: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NumberDecimal("50.00")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WHY ARE THERE TWO $MATCH STAGES?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849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8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0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25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After completing this module, learners should be able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2784"/>
            <a:ext cx="11247120" cy="337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how documents flow through an aggregation pipeline.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Filter pipeline input with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Group documents and calculate metrics with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Reshape and calculate output fields with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Rank results using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Expand arrays using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Combine collections using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Build category, customer, inventory and sales reports.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Construct complex pipelines incrementally.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why pipeline-stage order affects results and performance.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Apply basic aggregation performance practices.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5.1 — BUILD A PIPELINE ONE STAGE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961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396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13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instructor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Start with paid orders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Add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Inspect after every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5.1 —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4962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496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313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3367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Then append: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0380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Finish with a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that renames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fulfillmentStatus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73936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65376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 $match: { paymentStatus: "PAID"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73936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65376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{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_id: "$fulfillmentStatus",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orderCount: { $sum: 1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revenue: { $sum: "$total"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{ $sort: { revenue: -1 }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 — ARRANGE 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10 minutes · pairs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Top five products by line revenue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Six stages, one correct teaching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0810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81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898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215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215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833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4867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Propose an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902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the six stages in the sequence you would run. Next to each stage, write one sentence on what the documents look like afterwards.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defensible sequence, not a guess. If two orders could work, note the trade-off.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256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Check against the teaching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5291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Compare your list with the instructor’s reveal: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can explain why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cannot come before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why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must come before grouping by SKU.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3644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4679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Sequence the six stages and describe the documents after each.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defensible sequence, not a guess.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3033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Check the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067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can explain why limit cannot precede sort.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5.1 — AGGREGATION DATASET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every laptop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Count collections; inspect types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Record field paths for later labs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582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58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75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987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7987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60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958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1 — Select and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126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use training_store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count customers, products, orders, reviews, paid orders.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6, 12, 17, 6, and 13 paid.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230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2 — Inspect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6577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findOne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on each collection; note Decimal128, Date,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O6201 has no shippingFee. That gap is intentional.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5.2 — FILTER AND RESHAPE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Active products: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sku, name, category, price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Add a price band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$cond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5.3 — ADD CALCULATED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961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396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13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Subtotal + tax + shipping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$ifNull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shippingFee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HIGH_VALUE class and reporting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5.2 — BUILD A $MATCH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Paid, high-value, categories, dates, provinces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Paid and high-value paid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db.orders.aggregate([{ $match: { paymentStatus: "PAID" } }]) db.orders.aggregate([ { $match: { paymentStatus: "PAID", total: { $gte: Decimal128("1000.00") } } } ])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First pipeline: 13 documents. Second: four high-value paid orders (O6101, O6202, O6301, O6304).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Products, reviews, and provinces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db.products.aggregate([ { $match: { active: true, category: { $in: ["LAPTOP", "ACCESSORY"] } } } ]) db.reviews.aggregate([ { $match: { createdAt: { $gte: ISODate("2026-08-01T00:00:00Z"), $lt: ISODate("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Laptops plus accessories that are active; August reviews; customers whose nested address province is Ontario or Quebec (including inactive C515).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Paid and high-value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7186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paymentStatus: PAID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then add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 $gte Decimal128 1000.00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13 paid; four high-value.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540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Products, reviews, provinces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57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Active LAPTOP/ACCESSORY; August reviews; Ontario/Quebec addresses.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Dotted path addresses.province.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5.3 — RESHAPE DOCUMENTS WITH $PROJECT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Rename fields; then nest product and pricing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3338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33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50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74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74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3610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560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Flat renamed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760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Run: javascript db.products.aggregate([ { $project: { _id: 0, productCode: "$sku", productName: "$name", category: 1, sellingPrice: "$price" } } ])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Twelve documents. Fields are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productCode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sellingPrice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 No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5443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Nested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435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Run: javascript db.products.aggregate([ { $match: { sku: "L100" } }, { $project: { _id: 0, product: { code: "$sku", name: "$name" }, pricing: { amount: "$price" } } } ])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One document: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product.code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pricing.amount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Decimal128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1299.99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13269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45266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productCode, productName, category, sellingPrice;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_id: 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Twelve documents, no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72100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Match L100; project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pricing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objects.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product.code is L100.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5.4 — CREATE CALCULATED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Line revenue, shipping-safe total, name, class,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Line revenue and total with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$match: { orderNumber: "O6301" } }, { $unwind: "$items" }, { $set: { lineRevenue: { $multiply: ["$items.quantity", "$items.unitPrice"] }, shippingFeeSafe: { $ifNull: ["$shipping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Two item documents for O6301. Line revenues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1299.99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24.99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totalWithShipping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matches stored total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1512.23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Name, class, and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db.customers.aggregate([ { $project: { _id: 0, customerNumber: 1, customerName: { $concat: ["$name.first", " ", "$name.last"] } } } ]) db.orders.aggregate([ { $match: { orderNumber: { $in: ["O6201", "O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Full names such as Aisha Khan. O6201 is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STANDARD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2026-08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; O6202 is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HIGH_VALUE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2026-08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528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9563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Line revenue and shipping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0598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Unwind O6301 items; multiply;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$ifNull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shippingFee.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Line revenues 1299.99 and 24.99.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951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Name, class,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9986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$concat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names;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$cond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HIGH_VALUE;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$dateToString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month.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O6202 is HIGH_VALUE in 2026-08.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5.4 — GROUP AND SUMMARIZE PRODUCT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Count, average, min, max by category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Sort by average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5.5 — GROUP AND CALCULATE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Active products by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05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0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7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509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509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127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162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Group active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197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db.products.aggregate([ { $match: { active: true } }, { $group: { _id: "$category", productCount: { $sum: 1 }, averagePrice: { $avg: "$price" }, minimumPrice: { $min: "$price" }, maximumPrice: { $max: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Four groups. LAPTOP count 2 (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inactive). ACCESSORY count 4. SHOE 3. BOOK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0961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Sort by average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996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Add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$sort: { averagePrice: -1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as the last stage and rerun.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LAPTOP first (highest average), then ACCESSORY, SHOE, 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350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385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$match active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by category with count/avg/min/max.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Four groups; LAPTOP count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738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Sort by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773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$sort: { averagePrice: -1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LAPTOP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5.6 — GROUP BY MULTIPLE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Payment × fulfillment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05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0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7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509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509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127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162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Compound 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197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$group: { _id: { paymentStatus: "$paymentStatus", fulfillmentStatus: "$fulfillmentStatus" }, orderCount: { $sum: 1 }, revenue: { $sum: "$total" }, averageOrderValue: { $avg: "$t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Several combination documents. PAID + SHIPPED is a high-revenue group. PENDING + NEW includes O5001 and O6499.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0961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Read the grouping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996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Pick one output document and rewrite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 words: “this is all orders that are X and Y.”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do not treat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as the original order ObjectId. It is the grouping key of the summary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350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385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Group by paymentStatus and fulfillmentStatus; sum count and revenue.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Several combination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738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Read the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773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Rewrite one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 words.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the group key, not the order 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5.2 — PRODUCT SUMMARY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Category report with renamed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Filter and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Active products; group by category with four accumulators.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Four categories; LAPTOP count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Sort and rename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Sort averagePrice descending; project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category: $_id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LAPTOP first; field is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5.3 — ORDER REVENUE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Paid revenue by fulfillment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Match, group, sort,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Paid only; group fulfillmentStatus; sort totalRevenue.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SHIPPED highest revenue; PENDING absent.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Spot-check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countDocuments PAID + SHIPPED versus pipeline orderCount.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Both are 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5.5 — ANALYZE ORDER ITEMS WITH $UNWIND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Paid → unwind → line revenue → group SKU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Sort by revenue; top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5.7 — ANALYZE ARRAYS WITH $UNWIND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Units, revenue, order count per SKU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Unwind and compute line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$match: { paymentStatus: "PAID" } }, { $unwind: "$items" }, { $set: { lineRevenue: { $multiply: ["$items.quantity", "$items.unitPrice"] } } }, { $group: { _id: "$items.sku", uni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 is first by revenue (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3799.98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 No order repeats a SKU, so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$sum: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the number of orders containing that SKU.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Name the highest-revenue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the top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its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unitsSold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L110, 2 units. L100 is second by revenue.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Unwind and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7186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Paid, unwind, lineRevenue, group by items.sku.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 first at 3799.98.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540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Name the top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57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unitsSold.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L110, 2 units.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5.8 — BUILD A TOP-N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Customers, products, orders,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Top customers and highest-value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$match: { paymentStatus: "PAID" } }, { $group: { _id: "$customerId", totalSpent: { $sum: "$total" } } }, { $sort: { totalSpent: -1 } }, { $limit: 5 } ]) db.orders.aggregate([ {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Top spender is C101. Three highest paid orders include O6202 and O6304 (both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2146.99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Top products by units and categories by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$match: { paymentStatus: "PAID" } }, { $unwind: "$items" }, { $group: { </a:t>
            </a:r>
            <a:r>
              <a:rPr sz="800" b="0" i="1">
                <a:solidFill>
                  <a:srgbClr val="000000"/>
                </a:solidFill>
                <a:latin typeface="Nirmala UI"/>
              </a:rPr>
              <a:t>id: "$items.sku", unitsSold: { $sum: "$items.quantity" } } }, { $sort: { unitsSold: -1,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id: 1 } }, { $l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A410 is among the unit leaders (4). Category counts: ACCESSORY 4, then SHOE 3, LAPTOP 3, BOOK 2 (including inactive L190).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528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9563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Customers and high-value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0598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Top five spenders; three highest paid orders.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C101 first; O6202 and O6304 in the top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951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Units and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9986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Top three SKUs by units;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$sortByCount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category.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A410 among unit leaders; ACCESSORY has four products.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5.4 — PRODUCT SALES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30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Top five SKUs by line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Full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Match, unwind, set lineRevenue, group, sort, limit 5.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L110, L100, A500 lead.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Explain orderCount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$sum: 1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orders or lines?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Orders, because SKUs are unique per order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5.6 — JOIN CUSTOMERS AND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then unwind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Build customerName; keep O6499 with preserve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5.7 — MULTI-METRIC DASHBOARD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document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Count, revenue, status, top customers, high-value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5.9 — JOIN RELATED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Names, sort by total, unmatched O6499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05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0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7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509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509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127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162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Join and flatten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197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db.orders.aggregate([ { $lookup: { from: "customers", localField: "customerId", foreignField: "_id", as: "customer" } }, { $unwind: { path: "$customer", preserveNullAndEmptyArrays: true } }, { $project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Most rows show a customer number and full name. Totals sort descending.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0961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Find the unmatched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996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Scan for a document whose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customerNumber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missing. Confirm its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O6499 has an empty lookup array. Because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preserveNullAndEmptyArrays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true, it still appears.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350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385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Join and flatten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2419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Lookup customers; unwind with preserve; project name and total; sort.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Most rows have names; totals descending.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773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Look for missing customerNumber.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O6499 still present.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5.10 — BUILD A $FACET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Five product facets in one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22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2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79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27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27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44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679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Build five facets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714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db.products.aggregate([ { $facet: { totals: [{ $count: "totalProducts" }], byCategory: [{ $sortByCount: "$category" }], averagePrice: [ { $group: { _id: null, averagePrice: { $avg: "$price" } } } ], pr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Exactly one document.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an array with 12.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mostExpensive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starts with L110.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647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Read each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51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For each facet key, state whether the array holds one summary or many rows.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averagePrice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one-element arrays.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byCategory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priceBands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mostExpensive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have several.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586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690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totals, byCategory, averagePrice, priceBands, mostExpensive.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One document; 12 products; L110 most expensive.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256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Which facets are one-element arrays?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totals and averagePrice.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5.5 — CUSTOMER ORDER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30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Group paid spend, then lookup names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Group then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Paid group by customerId; lookup; concat name; sort spending.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Aisha Khan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Confirm C101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Sum O6101, O6201, O6301, O6306 totals by hand.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Matches totalSpending.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5.8 — MULTI-METRIC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30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paid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Paid then facet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totals, byFulfillment, topCustomers, topProducts, highValue.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orderCount 13; highValue 4; L110 top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Describe the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Sketch keys; each value is an array.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Structured result, not a 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5.6 — DATE-BASED SALES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Paid orders by calendar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Month key and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$dateToString %Y-%m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; group; sort; rename reportingMonth.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Three rows: 2026-07, 2026-08, 2026-09.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Optional time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Add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timezone: America/Toronto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and compare.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Production reports must name a zone.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5.7 — PRICE-BAND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$bucket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business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Define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boundaries: [0, 50, 100, 500, 2000]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; push names.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Four buckets; under-50 has five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Boundary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Where does price 50 go?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Into the bucket that starts at 50.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5.8 — INSPECT PIPELINE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Late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versus early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Name an index for Module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5.11 — CORRECT A BROKEN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Seven defects in one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22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2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79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27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27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44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679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List the 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714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each defect and the symptom it causes (empty groups, wrong totals, dropped rows).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At least five defects named, including stage order and nested field paths.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068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Rewrite and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1028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correct core is: javascript db.orders.aggregate([ { $match: { paymentStatus: "PAID" } }, { $unwind: "$items" }, { $set: { lineRevenue: { $multiply: ["$items.quantity", "$items.unitPrice"] } } }, { $group: { _id: "$i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 is first. You did not need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for a product-revenue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586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690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Stage order, missing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nested paths, no unwind, lookup as object.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At least five defects named.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256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Paid, unwind, lineRevenue, group sku, sort, limit 5.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L110 first; lookup not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5.12 — OPTIMIZE 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discussion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Lookup later; do not unwind to sum totals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05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0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7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509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509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127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162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Name the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197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Identify early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before the paid filter, grouping by order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after unwind (which repeats the order total per item), and unused large fields.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You can explain that joining every pending order is wasted work, and that unwinding then summing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double-counts multi-item orders.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7550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Write an equivalent cheaper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85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 paid orders first, group by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order document (no unwind),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then filter ACTIVE if still required. javascript db.orders.aggregate([ { $match: { paymentStatus: "PAID" } }, { $group: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Same business question: paid spend by active customer. No item unwind. Lookup runs on one row per customer.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350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385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Early lookup, unwind before match, summing total after unwind.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Multi-item orders would be double-counted.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738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Write the cheaper equivalent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773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 paid, group customerId, lookup, match ACTIVE.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Named index paymentStatus + customerId.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5.9 — PIPELINE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explain("executionStats")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two orderings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Explain a late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Sort createdAt then match PAID; record examined docs.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Likely COLLSCAN of 17 orders.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Match earlier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 then sort; name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paymentStatus: 1, createdAt: -1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Same question, better stage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8553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855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6725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69586"/>
            <a:ext cx="3840480" cy="2685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Pipelines are ordered transformations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$facet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Stage order changes meaning and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396038"/>
            <a:ext cx="7242810" cy="232195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05563"/>
            <a:ext cx="7223760" cy="23029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707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70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87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1124"/>
            <a:ext cx="11247120" cy="368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does a pipeline do?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does stage order matter?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versus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is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$group._id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How is `$sum: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1` used?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When is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required?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does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return?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Purpose of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How do you handle nulls?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put selective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early?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is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$limit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before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wrong for top-N?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must be true before you optimize?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5.10 — INTEGRATED AGGREGATION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40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Monthly performance report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Required stages listed in the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5.10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5.10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Monthly core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Paid, month key, group count/revenue/AOV/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customers.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Three months;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$size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unique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Units, top product,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Other facet branches; sort months; save sample output.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Every required stage used; July validated by hand.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5.13 — EXECUTIVE 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30–45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Date-bounded paid report plus catalog bands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5.13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5.13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Choose collections and the date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Orders drive items 1–6. Products drive 7–8. Write the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paymentStatus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Date range uses ISODate bounds. Pending orders are excluded.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Build and structure the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so one aggregate call returns the metrics. Join customer names only on the top-customer branch. Handle missing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shippingFee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you add it into a calculation. Explain stage order in three sentences.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One result document (or a small set of clearly named documents). Top product L110. Top customer C101. You named likely indexes: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paymentStatus+createdAt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Collections and date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7186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Orders for 1–6; products for 7–8; ISODate range; PAID.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Pending orders excluded.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540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Structure the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57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; lookup only on top customers; defend order and one index.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Top product L110; top customer C101.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4838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483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00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2434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Participants can: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9377"/>
            <a:ext cx="11247120" cy="3163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Explain pipeline processing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Build multi-stage aggregations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Filter and reshape documents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Create calculated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Group by one or more fields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accumulator operators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Process arrays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$unwind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Join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$lookup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Build bucketed and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$facet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reports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Handle missing values and types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Validate calculations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Identify basic performance improvements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6948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694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5119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352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Open questions 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Stage order in *their* reports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When to unwind versus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$filter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Whether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means they modeled wrong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they will index 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927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Park replica-set and shard-key questions for Module 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DAY 2 PATH THROUGH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7197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719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5368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6020"/>
            <a:ext cx="3840480" cy="2112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Filter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Shape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Summarize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Report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$facet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719859"/>
            <a:ext cx="7242810" cy="167431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29384"/>
            <a:ext cx="7223760" cy="16552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TRANSITION TO MODULE 6: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485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48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65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890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Module 6 connects these pipelines to performance: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5741"/>
            <a:ext cx="11247120" cy="27734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Index structures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Single-field and compound indexes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Multikey, unique, text, and specialized indexes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Prefixes and field order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Covered queries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Execution plans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Maintenance and tradeoffs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9062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Bring tomorrow’s laptop on the same connection string. Keep today’s pipelines.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137</Slides>
  <Notes>137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3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